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6" d="100"/>
          <a:sy n="76" d="100"/>
        </p:scale>
        <p:origin x="58"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3266D5-E219-4FEB-AD36-C5464FE04529}" type="datetimeFigureOut">
              <a:rPr lang="en-US" smtClean="0"/>
              <a:t>17-Dec-24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3360D2-7ECE-4243-9FD4-053245B3B3DC}" type="slidenum">
              <a:rPr lang="en-US" smtClean="0"/>
              <a:t>‹#›</a:t>
            </a:fld>
            <a:endParaRPr lang="en-US"/>
          </a:p>
        </p:txBody>
      </p:sp>
    </p:spTree>
    <p:extLst>
      <p:ext uri="{BB962C8B-B14F-4D97-AF65-F5344CB8AC3E}">
        <p14:creationId xmlns:p14="http://schemas.microsoft.com/office/powerpoint/2010/main" val="528949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3360D2-7ECE-4243-9FD4-053245B3B3DC}" type="slidenum">
              <a:rPr lang="en-US" smtClean="0"/>
              <a:t>1</a:t>
            </a:fld>
            <a:endParaRPr lang="en-US"/>
          </a:p>
        </p:txBody>
      </p:sp>
    </p:spTree>
    <p:extLst>
      <p:ext uri="{BB962C8B-B14F-4D97-AF65-F5344CB8AC3E}">
        <p14:creationId xmlns:p14="http://schemas.microsoft.com/office/powerpoint/2010/main" val="3851508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5E50E-FB76-6643-D2C7-DF981B214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32BCC-6096-4AF6-921B-A3D6C2927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66A08B-457A-898D-EC3F-37F36E3130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9156D7-9B15-36F6-692D-0800DFE3BACA}"/>
              </a:ext>
            </a:extLst>
          </p:cNvPr>
          <p:cNvSpPr>
            <a:spLocks noGrp="1"/>
          </p:cNvSpPr>
          <p:nvPr>
            <p:ph type="sldNum" sz="quarter" idx="5"/>
          </p:nvPr>
        </p:nvSpPr>
        <p:spPr/>
        <p:txBody>
          <a:bodyPr/>
          <a:lstStyle/>
          <a:p>
            <a:fld id="{DF3360D2-7ECE-4243-9FD4-053245B3B3DC}" type="slidenum">
              <a:rPr lang="en-US" smtClean="0"/>
              <a:t>2</a:t>
            </a:fld>
            <a:endParaRPr lang="en-US"/>
          </a:p>
        </p:txBody>
      </p:sp>
    </p:spTree>
    <p:extLst>
      <p:ext uri="{BB962C8B-B14F-4D97-AF65-F5344CB8AC3E}">
        <p14:creationId xmlns:p14="http://schemas.microsoft.com/office/powerpoint/2010/main" val="3034080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9733C-A465-3C39-23D2-15A1B0760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885B9-A140-B4DC-4377-FC61C630D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90267-EDB1-681E-E278-44459D6D05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099A48-E236-9688-81B2-886FA701CDA4}"/>
              </a:ext>
            </a:extLst>
          </p:cNvPr>
          <p:cNvSpPr>
            <a:spLocks noGrp="1"/>
          </p:cNvSpPr>
          <p:nvPr>
            <p:ph type="sldNum" sz="quarter" idx="5"/>
          </p:nvPr>
        </p:nvSpPr>
        <p:spPr/>
        <p:txBody>
          <a:bodyPr/>
          <a:lstStyle/>
          <a:p>
            <a:fld id="{DF3360D2-7ECE-4243-9FD4-053245B3B3DC}" type="slidenum">
              <a:rPr lang="en-US" smtClean="0"/>
              <a:t>3</a:t>
            </a:fld>
            <a:endParaRPr lang="en-US"/>
          </a:p>
        </p:txBody>
      </p:sp>
    </p:spTree>
    <p:extLst>
      <p:ext uri="{BB962C8B-B14F-4D97-AF65-F5344CB8AC3E}">
        <p14:creationId xmlns:p14="http://schemas.microsoft.com/office/powerpoint/2010/main" val="3366208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FE64A-43FC-7FA3-F239-FAF0A53908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4A902-0EB3-F3AD-3E77-BCDA03BA9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91F12B-DBDE-C5C4-8782-E30E25C904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94F10D-F1E0-B6AD-9BB9-BCC7EEF2C5A1}"/>
              </a:ext>
            </a:extLst>
          </p:cNvPr>
          <p:cNvSpPr>
            <a:spLocks noGrp="1"/>
          </p:cNvSpPr>
          <p:nvPr>
            <p:ph type="sldNum" sz="quarter" idx="5"/>
          </p:nvPr>
        </p:nvSpPr>
        <p:spPr/>
        <p:txBody>
          <a:bodyPr/>
          <a:lstStyle/>
          <a:p>
            <a:fld id="{DF3360D2-7ECE-4243-9FD4-053245B3B3DC}" type="slidenum">
              <a:rPr lang="en-US" smtClean="0"/>
              <a:t>4</a:t>
            </a:fld>
            <a:endParaRPr lang="en-US"/>
          </a:p>
        </p:txBody>
      </p:sp>
    </p:spTree>
    <p:extLst>
      <p:ext uri="{BB962C8B-B14F-4D97-AF65-F5344CB8AC3E}">
        <p14:creationId xmlns:p14="http://schemas.microsoft.com/office/powerpoint/2010/main" val="953258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8928D-25E9-B335-542D-9EA2C6BC4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C3C05-D8AD-1F6F-1B8F-DA98B9EC5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FC0EC9-149F-4247-B5DF-9DCC48BCD7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C7A99A-B656-32B8-67BC-9EA36E474DA0}"/>
              </a:ext>
            </a:extLst>
          </p:cNvPr>
          <p:cNvSpPr>
            <a:spLocks noGrp="1"/>
          </p:cNvSpPr>
          <p:nvPr>
            <p:ph type="sldNum" sz="quarter" idx="5"/>
          </p:nvPr>
        </p:nvSpPr>
        <p:spPr/>
        <p:txBody>
          <a:bodyPr/>
          <a:lstStyle/>
          <a:p>
            <a:fld id="{DF3360D2-7ECE-4243-9FD4-053245B3B3DC}" type="slidenum">
              <a:rPr lang="en-US" smtClean="0"/>
              <a:t>5</a:t>
            </a:fld>
            <a:endParaRPr lang="en-US"/>
          </a:p>
        </p:txBody>
      </p:sp>
    </p:spTree>
    <p:extLst>
      <p:ext uri="{BB962C8B-B14F-4D97-AF65-F5344CB8AC3E}">
        <p14:creationId xmlns:p14="http://schemas.microsoft.com/office/powerpoint/2010/main" val="143358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041B7-340E-F1FD-976E-20B8B5AAB1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29F63-1CAB-3876-B151-DF725776EA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24CE25-4862-B157-4391-45DB2C5CD4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55EBC6-530B-57D0-3C94-3BF9F3DF437F}"/>
              </a:ext>
            </a:extLst>
          </p:cNvPr>
          <p:cNvSpPr>
            <a:spLocks noGrp="1"/>
          </p:cNvSpPr>
          <p:nvPr>
            <p:ph type="sldNum" sz="quarter" idx="5"/>
          </p:nvPr>
        </p:nvSpPr>
        <p:spPr/>
        <p:txBody>
          <a:bodyPr/>
          <a:lstStyle/>
          <a:p>
            <a:fld id="{DF3360D2-7ECE-4243-9FD4-053245B3B3DC}" type="slidenum">
              <a:rPr lang="en-US" smtClean="0"/>
              <a:t>6</a:t>
            </a:fld>
            <a:endParaRPr lang="en-US"/>
          </a:p>
        </p:txBody>
      </p:sp>
    </p:spTree>
    <p:extLst>
      <p:ext uri="{BB962C8B-B14F-4D97-AF65-F5344CB8AC3E}">
        <p14:creationId xmlns:p14="http://schemas.microsoft.com/office/powerpoint/2010/main" val="3027766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AF892-B70A-4278-B398-CF10D136E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664A4-43B9-3295-A9FE-1401B036C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5CF5E4-4F6D-38A7-02C9-8C714C6C92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EE4CDF-4E6D-F0D4-8BB4-AFAD515BBBF9}"/>
              </a:ext>
            </a:extLst>
          </p:cNvPr>
          <p:cNvSpPr>
            <a:spLocks noGrp="1"/>
          </p:cNvSpPr>
          <p:nvPr>
            <p:ph type="sldNum" sz="quarter" idx="5"/>
          </p:nvPr>
        </p:nvSpPr>
        <p:spPr/>
        <p:txBody>
          <a:bodyPr/>
          <a:lstStyle/>
          <a:p>
            <a:fld id="{DF3360D2-7ECE-4243-9FD4-053245B3B3DC}" type="slidenum">
              <a:rPr lang="en-US" smtClean="0"/>
              <a:t>7</a:t>
            </a:fld>
            <a:endParaRPr lang="en-US"/>
          </a:p>
        </p:txBody>
      </p:sp>
    </p:spTree>
    <p:extLst>
      <p:ext uri="{BB962C8B-B14F-4D97-AF65-F5344CB8AC3E}">
        <p14:creationId xmlns:p14="http://schemas.microsoft.com/office/powerpoint/2010/main" val="1294847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8953-C460-A353-33FF-DBFAB31FD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9BBB28-9178-8357-9E03-9A043ED766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B122FB-20FC-E7B7-470F-ACB25FF454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19F261-9127-C3EE-9008-6971C45DE0A7}"/>
              </a:ext>
            </a:extLst>
          </p:cNvPr>
          <p:cNvSpPr>
            <a:spLocks noGrp="1"/>
          </p:cNvSpPr>
          <p:nvPr>
            <p:ph type="sldNum" sz="quarter" idx="5"/>
          </p:nvPr>
        </p:nvSpPr>
        <p:spPr/>
        <p:txBody>
          <a:bodyPr/>
          <a:lstStyle/>
          <a:p>
            <a:fld id="{DF3360D2-7ECE-4243-9FD4-053245B3B3DC}" type="slidenum">
              <a:rPr lang="en-US" smtClean="0"/>
              <a:t>8</a:t>
            </a:fld>
            <a:endParaRPr lang="en-US"/>
          </a:p>
        </p:txBody>
      </p:sp>
    </p:spTree>
    <p:extLst>
      <p:ext uri="{BB962C8B-B14F-4D97-AF65-F5344CB8AC3E}">
        <p14:creationId xmlns:p14="http://schemas.microsoft.com/office/powerpoint/2010/main" val="811822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530BE-E700-8016-8C9C-26D084DB4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1F0AF-0F97-37AC-13A7-BE2FBDBEB0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1BC407-F986-776F-2F3D-B596CF2AE1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BAE539-6777-15F0-2F5C-8E8C220971EA}"/>
              </a:ext>
            </a:extLst>
          </p:cNvPr>
          <p:cNvSpPr>
            <a:spLocks noGrp="1"/>
          </p:cNvSpPr>
          <p:nvPr>
            <p:ph type="sldNum" sz="quarter" idx="5"/>
          </p:nvPr>
        </p:nvSpPr>
        <p:spPr/>
        <p:txBody>
          <a:bodyPr/>
          <a:lstStyle/>
          <a:p>
            <a:fld id="{DF3360D2-7ECE-4243-9FD4-053245B3B3DC}" type="slidenum">
              <a:rPr lang="en-US" smtClean="0"/>
              <a:t>9</a:t>
            </a:fld>
            <a:endParaRPr lang="en-US"/>
          </a:p>
        </p:txBody>
      </p:sp>
    </p:spTree>
    <p:extLst>
      <p:ext uri="{BB962C8B-B14F-4D97-AF65-F5344CB8AC3E}">
        <p14:creationId xmlns:p14="http://schemas.microsoft.com/office/powerpoint/2010/main" val="446978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D940A-ADA0-ADFB-B5A1-13F89C5E71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84D10-E8AF-66B1-1E10-9A743DE3F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8DC6E0-4D51-D0BF-4096-068C901EDF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23A1F1-FFAA-BC07-A908-DEF11CB81DC9}"/>
              </a:ext>
            </a:extLst>
          </p:cNvPr>
          <p:cNvSpPr>
            <a:spLocks noGrp="1"/>
          </p:cNvSpPr>
          <p:nvPr>
            <p:ph type="sldNum" sz="quarter" idx="5"/>
          </p:nvPr>
        </p:nvSpPr>
        <p:spPr/>
        <p:txBody>
          <a:bodyPr/>
          <a:lstStyle/>
          <a:p>
            <a:fld id="{DF3360D2-7ECE-4243-9FD4-053245B3B3DC}" type="slidenum">
              <a:rPr lang="en-US" smtClean="0"/>
              <a:t>10</a:t>
            </a:fld>
            <a:endParaRPr lang="en-US"/>
          </a:p>
        </p:txBody>
      </p:sp>
    </p:spTree>
    <p:extLst>
      <p:ext uri="{BB962C8B-B14F-4D97-AF65-F5344CB8AC3E}">
        <p14:creationId xmlns:p14="http://schemas.microsoft.com/office/powerpoint/2010/main" val="205944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8D0A0-D3F9-F1C8-CE1B-6491179257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E6F45E-CAE2-DEFB-873B-C74440FB93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4A7499-C51B-DEBC-6ED8-990FEC56F3B4}"/>
              </a:ext>
            </a:extLst>
          </p:cNvPr>
          <p:cNvSpPr>
            <a:spLocks noGrp="1"/>
          </p:cNvSpPr>
          <p:nvPr>
            <p:ph type="dt" sz="half" idx="10"/>
          </p:nvPr>
        </p:nvSpPr>
        <p:spPr/>
        <p:txBody>
          <a:bodyPr/>
          <a:lstStyle/>
          <a:p>
            <a:fld id="{883D4001-99FA-4D76-B8A4-2EBDCD4CA0B4}" type="datetimeFigureOut">
              <a:rPr lang="en-US" smtClean="0"/>
              <a:t>17-Dec-24</a:t>
            </a:fld>
            <a:endParaRPr lang="en-US"/>
          </a:p>
        </p:txBody>
      </p:sp>
      <p:sp>
        <p:nvSpPr>
          <p:cNvPr id="5" name="Footer Placeholder 4">
            <a:extLst>
              <a:ext uri="{FF2B5EF4-FFF2-40B4-BE49-F238E27FC236}">
                <a16:creationId xmlns:a16="http://schemas.microsoft.com/office/drawing/2014/main" id="{FFAB6367-9F55-0651-312A-A48E2B3C52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E2B68-9A4D-D690-4DBC-CBC3A0CAB4FD}"/>
              </a:ext>
            </a:extLst>
          </p:cNvPr>
          <p:cNvSpPr>
            <a:spLocks noGrp="1"/>
          </p:cNvSpPr>
          <p:nvPr>
            <p:ph type="sldNum" sz="quarter" idx="12"/>
          </p:nvPr>
        </p:nvSpPr>
        <p:spPr/>
        <p:txBody>
          <a:bodyPr/>
          <a:lstStyle/>
          <a:p>
            <a:fld id="{6B043AB2-7461-4FAD-AD4B-CFE73C8C462F}" type="slidenum">
              <a:rPr lang="en-US" smtClean="0"/>
              <a:t>‹#›</a:t>
            </a:fld>
            <a:endParaRPr lang="en-US"/>
          </a:p>
        </p:txBody>
      </p:sp>
    </p:spTree>
    <p:extLst>
      <p:ext uri="{BB962C8B-B14F-4D97-AF65-F5344CB8AC3E}">
        <p14:creationId xmlns:p14="http://schemas.microsoft.com/office/powerpoint/2010/main" val="802755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8F555-0B83-75FA-DF91-1E5A6C06AA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43DDFB-F20A-ECBD-60A8-B9851DE570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92EFDE-A3DE-1032-0B06-31E981835476}"/>
              </a:ext>
            </a:extLst>
          </p:cNvPr>
          <p:cNvSpPr>
            <a:spLocks noGrp="1"/>
          </p:cNvSpPr>
          <p:nvPr>
            <p:ph type="dt" sz="half" idx="10"/>
          </p:nvPr>
        </p:nvSpPr>
        <p:spPr/>
        <p:txBody>
          <a:bodyPr/>
          <a:lstStyle/>
          <a:p>
            <a:fld id="{883D4001-99FA-4D76-B8A4-2EBDCD4CA0B4}" type="datetimeFigureOut">
              <a:rPr lang="en-US" smtClean="0"/>
              <a:t>17-Dec-24</a:t>
            </a:fld>
            <a:endParaRPr lang="en-US"/>
          </a:p>
        </p:txBody>
      </p:sp>
      <p:sp>
        <p:nvSpPr>
          <p:cNvPr id="5" name="Footer Placeholder 4">
            <a:extLst>
              <a:ext uri="{FF2B5EF4-FFF2-40B4-BE49-F238E27FC236}">
                <a16:creationId xmlns:a16="http://schemas.microsoft.com/office/drawing/2014/main" id="{7D22AFB2-39F3-46C7-1A9F-77C027BBB2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D4AFCF-8062-74D4-BBF6-A0BB3B97A51B}"/>
              </a:ext>
            </a:extLst>
          </p:cNvPr>
          <p:cNvSpPr>
            <a:spLocks noGrp="1"/>
          </p:cNvSpPr>
          <p:nvPr>
            <p:ph type="sldNum" sz="quarter" idx="12"/>
          </p:nvPr>
        </p:nvSpPr>
        <p:spPr/>
        <p:txBody>
          <a:bodyPr/>
          <a:lstStyle/>
          <a:p>
            <a:fld id="{6B043AB2-7461-4FAD-AD4B-CFE73C8C462F}" type="slidenum">
              <a:rPr lang="en-US" smtClean="0"/>
              <a:t>‹#›</a:t>
            </a:fld>
            <a:endParaRPr lang="en-US"/>
          </a:p>
        </p:txBody>
      </p:sp>
    </p:spTree>
    <p:extLst>
      <p:ext uri="{BB962C8B-B14F-4D97-AF65-F5344CB8AC3E}">
        <p14:creationId xmlns:p14="http://schemas.microsoft.com/office/powerpoint/2010/main" val="2381052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95A66-F040-45D8-4DD6-CD2001DDDD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C4F020-B745-68E2-CC06-94AFE77D7B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4CD151-35F3-D6B2-1EA9-EC8B9C7F05F9}"/>
              </a:ext>
            </a:extLst>
          </p:cNvPr>
          <p:cNvSpPr>
            <a:spLocks noGrp="1"/>
          </p:cNvSpPr>
          <p:nvPr>
            <p:ph type="dt" sz="half" idx="10"/>
          </p:nvPr>
        </p:nvSpPr>
        <p:spPr/>
        <p:txBody>
          <a:bodyPr/>
          <a:lstStyle/>
          <a:p>
            <a:fld id="{883D4001-99FA-4D76-B8A4-2EBDCD4CA0B4}" type="datetimeFigureOut">
              <a:rPr lang="en-US" smtClean="0"/>
              <a:t>17-Dec-24</a:t>
            </a:fld>
            <a:endParaRPr lang="en-US"/>
          </a:p>
        </p:txBody>
      </p:sp>
      <p:sp>
        <p:nvSpPr>
          <p:cNvPr id="5" name="Footer Placeholder 4">
            <a:extLst>
              <a:ext uri="{FF2B5EF4-FFF2-40B4-BE49-F238E27FC236}">
                <a16:creationId xmlns:a16="http://schemas.microsoft.com/office/drawing/2014/main" id="{BE74BC1C-369D-3C70-4835-5020A743EB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BD35E5-2520-0580-8334-35C9ABACD759}"/>
              </a:ext>
            </a:extLst>
          </p:cNvPr>
          <p:cNvSpPr>
            <a:spLocks noGrp="1"/>
          </p:cNvSpPr>
          <p:nvPr>
            <p:ph type="sldNum" sz="quarter" idx="12"/>
          </p:nvPr>
        </p:nvSpPr>
        <p:spPr/>
        <p:txBody>
          <a:bodyPr/>
          <a:lstStyle/>
          <a:p>
            <a:fld id="{6B043AB2-7461-4FAD-AD4B-CFE73C8C462F}" type="slidenum">
              <a:rPr lang="en-US" smtClean="0"/>
              <a:t>‹#›</a:t>
            </a:fld>
            <a:endParaRPr lang="en-US"/>
          </a:p>
        </p:txBody>
      </p:sp>
    </p:spTree>
    <p:extLst>
      <p:ext uri="{BB962C8B-B14F-4D97-AF65-F5344CB8AC3E}">
        <p14:creationId xmlns:p14="http://schemas.microsoft.com/office/powerpoint/2010/main" val="2195044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F98C-5210-3135-575C-5C747C7AB8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5A0E52-60AE-6907-C57F-2DDA630BA5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B97638A-B432-E586-AC3D-D54D9B8D4D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A95D8E-31AA-FE04-0C84-2A368B9F2107}"/>
              </a:ext>
            </a:extLst>
          </p:cNvPr>
          <p:cNvSpPr>
            <a:spLocks noGrp="1"/>
          </p:cNvSpPr>
          <p:nvPr>
            <p:ph type="dt" sz="half" idx="10"/>
          </p:nvPr>
        </p:nvSpPr>
        <p:spPr/>
        <p:txBody>
          <a:bodyPr/>
          <a:lstStyle/>
          <a:p>
            <a:fld id="{883D4001-99FA-4D76-B8A4-2EBDCD4CA0B4}" type="datetimeFigureOut">
              <a:rPr lang="en-US" smtClean="0"/>
              <a:t>17-Dec-24</a:t>
            </a:fld>
            <a:endParaRPr lang="en-US"/>
          </a:p>
        </p:txBody>
      </p:sp>
      <p:sp>
        <p:nvSpPr>
          <p:cNvPr id="6" name="Footer Placeholder 5">
            <a:extLst>
              <a:ext uri="{FF2B5EF4-FFF2-40B4-BE49-F238E27FC236}">
                <a16:creationId xmlns:a16="http://schemas.microsoft.com/office/drawing/2014/main" id="{33C32C0F-1417-D158-C62C-B82472755A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862151-D698-4C35-0896-D00942C6CC9E}"/>
              </a:ext>
            </a:extLst>
          </p:cNvPr>
          <p:cNvSpPr>
            <a:spLocks noGrp="1"/>
          </p:cNvSpPr>
          <p:nvPr>
            <p:ph type="sldNum" sz="quarter" idx="12"/>
          </p:nvPr>
        </p:nvSpPr>
        <p:spPr/>
        <p:txBody>
          <a:bodyPr/>
          <a:lstStyle/>
          <a:p>
            <a:fld id="{6B043AB2-7461-4FAD-AD4B-CFE73C8C462F}" type="slidenum">
              <a:rPr lang="en-US" smtClean="0"/>
              <a:t>‹#›</a:t>
            </a:fld>
            <a:endParaRPr lang="en-US"/>
          </a:p>
        </p:txBody>
      </p:sp>
    </p:spTree>
    <p:extLst>
      <p:ext uri="{BB962C8B-B14F-4D97-AF65-F5344CB8AC3E}">
        <p14:creationId xmlns:p14="http://schemas.microsoft.com/office/powerpoint/2010/main" val="2181213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122FE-D7E2-4C19-D02F-DD5A08B965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40740D-4059-C9B0-31C8-7C71A62139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9FEE82-C8BC-687E-3FFD-98E2CF7153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905704-2D18-8B42-DD1D-B9722834FE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7B31A9-83C4-BE80-5603-C6C45E8F86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F04E4A-465B-7BAF-F9E6-4E218C509C77}"/>
              </a:ext>
            </a:extLst>
          </p:cNvPr>
          <p:cNvSpPr>
            <a:spLocks noGrp="1"/>
          </p:cNvSpPr>
          <p:nvPr>
            <p:ph type="dt" sz="half" idx="10"/>
          </p:nvPr>
        </p:nvSpPr>
        <p:spPr/>
        <p:txBody>
          <a:bodyPr/>
          <a:lstStyle/>
          <a:p>
            <a:fld id="{883D4001-99FA-4D76-B8A4-2EBDCD4CA0B4}" type="datetimeFigureOut">
              <a:rPr lang="en-US" smtClean="0"/>
              <a:t>17-Dec-24</a:t>
            </a:fld>
            <a:endParaRPr lang="en-US"/>
          </a:p>
        </p:txBody>
      </p:sp>
      <p:sp>
        <p:nvSpPr>
          <p:cNvPr id="8" name="Footer Placeholder 7">
            <a:extLst>
              <a:ext uri="{FF2B5EF4-FFF2-40B4-BE49-F238E27FC236}">
                <a16:creationId xmlns:a16="http://schemas.microsoft.com/office/drawing/2014/main" id="{3A26E72B-4548-E858-A3C8-B4DE8A4C721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27B924-94DB-017A-F842-0C9CC520B88A}"/>
              </a:ext>
            </a:extLst>
          </p:cNvPr>
          <p:cNvSpPr>
            <a:spLocks noGrp="1"/>
          </p:cNvSpPr>
          <p:nvPr>
            <p:ph type="sldNum" sz="quarter" idx="12"/>
          </p:nvPr>
        </p:nvSpPr>
        <p:spPr/>
        <p:txBody>
          <a:bodyPr/>
          <a:lstStyle/>
          <a:p>
            <a:fld id="{6B043AB2-7461-4FAD-AD4B-CFE73C8C462F}" type="slidenum">
              <a:rPr lang="en-US" smtClean="0"/>
              <a:t>‹#›</a:t>
            </a:fld>
            <a:endParaRPr lang="en-US"/>
          </a:p>
        </p:txBody>
      </p:sp>
    </p:spTree>
    <p:extLst>
      <p:ext uri="{BB962C8B-B14F-4D97-AF65-F5344CB8AC3E}">
        <p14:creationId xmlns:p14="http://schemas.microsoft.com/office/powerpoint/2010/main" val="3457873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A5374-5E5C-A359-649C-192C08C923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5701E7-2474-BF76-AA3A-3B5F8290208A}"/>
              </a:ext>
            </a:extLst>
          </p:cNvPr>
          <p:cNvSpPr>
            <a:spLocks noGrp="1"/>
          </p:cNvSpPr>
          <p:nvPr>
            <p:ph type="dt" sz="half" idx="10"/>
          </p:nvPr>
        </p:nvSpPr>
        <p:spPr/>
        <p:txBody>
          <a:bodyPr/>
          <a:lstStyle/>
          <a:p>
            <a:fld id="{883D4001-99FA-4D76-B8A4-2EBDCD4CA0B4}" type="datetimeFigureOut">
              <a:rPr lang="en-US" smtClean="0"/>
              <a:t>17-Dec-24</a:t>
            </a:fld>
            <a:endParaRPr lang="en-US"/>
          </a:p>
        </p:txBody>
      </p:sp>
      <p:sp>
        <p:nvSpPr>
          <p:cNvPr id="4" name="Footer Placeholder 3">
            <a:extLst>
              <a:ext uri="{FF2B5EF4-FFF2-40B4-BE49-F238E27FC236}">
                <a16:creationId xmlns:a16="http://schemas.microsoft.com/office/drawing/2014/main" id="{96418FDA-1191-4393-84FC-998BC6925A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341F6C-585D-46B4-B7C0-2E6B60E0F3D5}"/>
              </a:ext>
            </a:extLst>
          </p:cNvPr>
          <p:cNvSpPr>
            <a:spLocks noGrp="1"/>
          </p:cNvSpPr>
          <p:nvPr>
            <p:ph type="sldNum" sz="quarter" idx="12"/>
          </p:nvPr>
        </p:nvSpPr>
        <p:spPr/>
        <p:txBody>
          <a:bodyPr/>
          <a:lstStyle/>
          <a:p>
            <a:fld id="{6B043AB2-7461-4FAD-AD4B-CFE73C8C462F}" type="slidenum">
              <a:rPr lang="en-US" smtClean="0"/>
              <a:t>‹#›</a:t>
            </a:fld>
            <a:endParaRPr lang="en-US"/>
          </a:p>
        </p:txBody>
      </p:sp>
    </p:spTree>
    <p:extLst>
      <p:ext uri="{BB962C8B-B14F-4D97-AF65-F5344CB8AC3E}">
        <p14:creationId xmlns:p14="http://schemas.microsoft.com/office/powerpoint/2010/main" val="1172633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22196D-6BA9-D902-EC31-D434A7398713}"/>
              </a:ext>
            </a:extLst>
          </p:cNvPr>
          <p:cNvSpPr>
            <a:spLocks noGrp="1"/>
          </p:cNvSpPr>
          <p:nvPr>
            <p:ph type="dt" sz="half" idx="10"/>
          </p:nvPr>
        </p:nvSpPr>
        <p:spPr/>
        <p:txBody>
          <a:bodyPr/>
          <a:lstStyle/>
          <a:p>
            <a:fld id="{883D4001-99FA-4D76-B8A4-2EBDCD4CA0B4}" type="datetimeFigureOut">
              <a:rPr lang="en-US" smtClean="0"/>
              <a:t>17-Dec-24</a:t>
            </a:fld>
            <a:endParaRPr lang="en-US"/>
          </a:p>
        </p:txBody>
      </p:sp>
      <p:sp>
        <p:nvSpPr>
          <p:cNvPr id="3" name="Footer Placeholder 2">
            <a:extLst>
              <a:ext uri="{FF2B5EF4-FFF2-40B4-BE49-F238E27FC236}">
                <a16:creationId xmlns:a16="http://schemas.microsoft.com/office/drawing/2014/main" id="{0D385915-A015-15D7-4A4E-991975E2FA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84F51C-4124-E0F9-05E1-4B8D3E1043E6}"/>
              </a:ext>
            </a:extLst>
          </p:cNvPr>
          <p:cNvSpPr>
            <a:spLocks noGrp="1"/>
          </p:cNvSpPr>
          <p:nvPr>
            <p:ph type="sldNum" sz="quarter" idx="12"/>
          </p:nvPr>
        </p:nvSpPr>
        <p:spPr/>
        <p:txBody>
          <a:bodyPr/>
          <a:lstStyle/>
          <a:p>
            <a:fld id="{6B043AB2-7461-4FAD-AD4B-CFE73C8C462F}" type="slidenum">
              <a:rPr lang="en-US" smtClean="0"/>
              <a:t>‹#›</a:t>
            </a:fld>
            <a:endParaRPr lang="en-US"/>
          </a:p>
        </p:txBody>
      </p:sp>
    </p:spTree>
    <p:extLst>
      <p:ext uri="{BB962C8B-B14F-4D97-AF65-F5344CB8AC3E}">
        <p14:creationId xmlns:p14="http://schemas.microsoft.com/office/powerpoint/2010/main" val="1539540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1EB5D-0616-172D-6F06-78C3E34559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5EB5C9-C38E-5C0A-BDA8-1D2B7316C8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91727F-242A-AA31-3A08-0C0D44921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3F026B-714E-B14B-6544-8FAA74127924}"/>
              </a:ext>
            </a:extLst>
          </p:cNvPr>
          <p:cNvSpPr>
            <a:spLocks noGrp="1"/>
          </p:cNvSpPr>
          <p:nvPr>
            <p:ph type="dt" sz="half" idx="10"/>
          </p:nvPr>
        </p:nvSpPr>
        <p:spPr/>
        <p:txBody>
          <a:bodyPr/>
          <a:lstStyle/>
          <a:p>
            <a:fld id="{883D4001-99FA-4D76-B8A4-2EBDCD4CA0B4}" type="datetimeFigureOut">
              <a:rPr lang="en-US" smtClean="0"/>
              <a:t>17-Dec-24</a:t>
            </a:fld>
            <a:endParaRPr lang="en-US"/>
          </a:p>
        </p:txBody>
      </p:sp>
      <p:sp>
        <p:nvSpPr>
          <p:cNvPr id="6" name="Footer Placeholder 5">
            <a:extLst>
              <a:ext uri="{FF2B5EF4-FFF2-40B4-BE49-F238E27FC236}">
                <a16:creationId xmlns:a16="http://schemas.microsoft.com/office/drawing/2014/main" id="{EA44A4CC-4167-1E49-B61A-79E7EDD456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4F2485-473C-EAE1-D591-17922B6E91F6}"/>
              </a:ext>
            </a:extLst>
          </p:cNvPr>
          <p:cNvSpPr>
            <a:spLocks noGrp="1"/>
          </p:cNvSpPr>
          <p:nvPr>
            <p:ph type="sldNum" sz="quarter" idx="12"/>
          </p:nvPr>
        </p:nvSpPr>
        <p:spPr/>
        <p:txBody>
          <a:bodyPr/>
          <a:lstStyle/>
          <a:p>
            <a:fld id="{6B043AB2-7461-4FAD-AD4B-CFE73C8C462F}" type="slidenum">
              <a:rPr lang="en-US" smtClean="0"/>
              <a:t>‹#›</a:t>
            </a:fld>
            <a:endParaRPr lang="en-US"/>
          </a:p>
        </p:txBody>
      </p:sp>
    </p:spTree>
    <p:extLst>
      <p:ext uri="{BB962C8B-B14F-4D97-AF65-F5344CB8AC3E}">
        <p14:creationId xmlns:p14="http://schemas.microsoft.com/office/powerpoint/2010/main" val="2007323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B2CCD-2076-66D6-2521-F1DE0E4B3E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9F9AC4-4D1E-4C05-7B00-546DEF2463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A72CE1-D529-39F7-E653-2044DEBFAB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33A4D2-B07D-682E-B3E0-AB5F5C5E20EA}"/>
              </a:ext>
            </a:extLst>
          </p:cNvPr>
          <p:cNvSpPr>
            <a:spLocks noGrp="1"/>
          </p:cNvSpPr>
          <p:nvPr>
            <p:ph type="dt" sz="half" idx="10"/>
          </p:nvPr>
        </p:nvSpPr>
        <p:spPr/>
        <p:txBody>
          <a:bodyPr/>
          <a:lstStyle/>
          <a:p>
            <a:fld id="{883D4001-99FA-4D76-B8A4-2EBDCD4CA0B4}" type="datetimeFigureOut">
              <a:rPr lang="en-US" smtClean="0"/>
              <a:t>17-Dec-24</a:t>
            </a:fld>
            <a:endParaRPr lang="en-US"/>
          </a:p>
        </p:txBody>
      </p:sp>
      <p:sp>
        <p:nvSpPr>
          <p:cNvPr id="6" name="Footer Placeholder 5">
            <a:extLst>
              <a:ext uri="{FF2B5EF4-FFF2-40B4-BE49-F238E27FC236}">
                <a16:creationId xmlns:a16="http://schemas.microsoft.com/office/drawing/2014/main" id="{56082D81-D02F-4CDF-C8F7-FE9A8BC2FE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B2E4B4-D65B-A17F-A416-A3540843E61C}"/>
              </a:ext>
            </a:extLst>
          </p:cNvPr>
          <p:cNvSpPr>
            <a:spLocks noGrp="1"/>
          </p:cNvSpPr>
          <p:nvPr>
            <p:ph type="sldNum" sz="quarter" idx="12"/>
          </p:nvPr>
        </p:nvSpPr>
        <p:spPr/>
        <p:txBody>
          <a:bodyPr/>
          <a:lstStyle/>
          <a:p>
            <a:fld id="{6B043AB2-7461-4FAD-AD4B-CFE73C8C462F}" type="slidenum">
              <a:rPr lang="en-US" smtClean="0"/>
              <a:t>‹#›</a:t>
            </a:fld>
            <a:endParaRPr lang="en-US"/>
          </a:p>
        </p:txBody>
      </p:sp>
    </p:spTree>
    <p:extLst>
      <p:ext uri="{BB962C8B-B14F-4D97-AF65-F5344CB8AC3E}">
        <p14:creationId xmlns:p14="http://schemas.microsoft.com/office/powerpoint/2010/main" val="553028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9942E-92C5-CEA9-9899-D41504AB513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07934BC-C837-0E9B-2F2E-8B0513CC7E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6FA28C-8E58-F023-6783-9EB4A39409D9}"/>
              </a:ext>
            </a:extLst>
          </p:cNvPr>
          <p:cNvSpPr>
            <a:spLocks noGrp="1"/>
          </p:cNvSpPr>
          <p:nvPr>
            <p:ph type="dt" sz="half" idx="10"/>
          </p:nvPr>
        </p:nvSpPr>
        <p:spPr/>
        <p:txBody>
          <a:bodyPr/>
          <a:lstStyle/>
          <a:p>
            <a:fld id="{883D4001-99FA-4D76-B8A4-2EBDCD4CA0B4}" type="datetimeFigureOut">
              <a:rPr lang="en-US" smtClean="0"/>
              <a:t>17-Dec-24</a:t>
            </a:fld>
            <a:endParaRPr lang="en-US"/>
          </a:p>
        </p:txBody>
      </p:sp>
      <p:sp>
        <p:nvSpPr>
          <p:cNvPr id="5" name="Footer Placeholder 4">
            <a:extLst>
              <a:ext uri="{FF2B5EF4-FFF2-40B4-BE49-F238E27FC236}">
                <a16:creationId xmlns:a16="http://schemas.microsoft.com/office/drawing/2014/main" id="{85BE5547-0BDA-908A-70E9-0022E5A28A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E9C93F-728B-F5A6-5EBE-448D9B9CD953}"/>
              </a:ext>
            </a:extLst>
          </p:cNvPr>
          <p:cNvSpPr>
            <a:spLocks noGrp="1"/>
          </p:cNvSpPr>
          <p:nvPr>
            <p:ph type="sldNum" sz="quarter" idx="12"/>
          </p:nvPr>
        </p:nvSpPr>
        <p:spPr/>
        <p:txBody>
          <a:bodyPr/>
          <a:lstStyle/>
          <a:p>
            <a:fld id="{6B043AB2-7461-4FAD-AD4B-CFE73C8C462F}" type="slidenum">
              <a:rPr lang="en-US" smtClean="0"/>
              <a:t>‹#›</a:t>
            </a:fld>
            <a:endParaRPr lang="en-US"/>
          </a:p>
        </p:txBody>
      </p:sp>
    </p:spTree>
    <p:extLst>
      <p:ext uri="{BB962C8B-B14F-4D97-AF65-F5344CB8AC3E}">
        <p14:creationId xmlns:p14="http://schemas.microsoft.com/office/powerpoint/2010/main" val="1149160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E4FE3B-79C1-E56E-8209-19172DB021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0867B5-0829-1869-29E6-29289FE156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3F4C9C-1C40-C460-49AE-9435FD291FBD}"/>
              </a:ext>
            </a:extLst>
          </p:cNvPr>
          <p:cNvSpPr>
            <a:spLocks noGrp="1"/>
          </p:cNvSpPr>
          <p:nvPr>
            <p:ph type="dt" sz="half" idx="10"/>
          </p:nvPr>
        </p:nvSpPr>
        <p:spPr/>
        <p:txBody>
          <a:bodyPr/>
          <a:lstStyle/>
          <a:p>
            <a:fld id="{883D4001-99FA-4D76-B8A4-2EBDCD4CA0B4}" type="datetimeFigureOut">
              <a:rPr lang="en-US" smtClean="0"/>
              <a:t>17-Dec-24</a:t>
            </a:fld>
            <a:endParaRPr lang="en-US"/>
          </a:p>
        </p:txBody>
      </p:sp>
      <p:sp>
        <p:nvSpPr>
          <p:cNvPr id="5" name="Footer Placeholder 4">
            <a:extLst>
              <a:ext uri="{FF2B5EF4-FFF2-40B4-BE49-F238E27FC236}">
                <a16:creationId xmlns:a16="http://schemas.microsoft.com/office/drawing/2014/main" id="{2C937845-65ED-739E-727F-A7B0F706C7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06A7F7-F541-DAA4-C4B1-5FFDCB31C034}"/>
              </a:ext>
            </a:extLst>
          </p:cNvPr>
          <p:cNvSpPr>
            <a:spLocks noGrp="1"/>
          </p:cNvSpPr>
          <p:nvPr>
            <p:ph type="sldNum" sz="quarter" idx="12"/>
          </p:nvPr>
        </p:nvSpPr>
        <p:spPr/>
        <p:txBody>
          <a:bodyPr/>
          <a:lstStyle/>
          <a:p>
            <a:fld id="{6B043AB2-7461-4FAD-AD4B-CFE73C8C462F}" type="slidenum">
              <a:rPr lang="en-US" smtClean="0"/>
              <a:t>‹#›</a:t>
            </a:fld>
            <a:endParaRPr lang="en-US"/>
          </a:p>
        </p:txBody>
      </p:sp>
    </p:spTree>
    <p:extLst>
      <p:ext uri="{BB962C8B-B14F-4D97-AF65-F5344CB8AC3E}">
        <p14:creationId xmlns:p14="http://schemas.microsoft.com/office/powerpoint/2010/main" val="739285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A832FC-32DE-56E0-1A5F-7894EAEE17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6A45C8-B024-BE19-F4EA-30E5240E8C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537193-97A7-1833-5E95-9350F02F25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3D4001-99FA-4D76-B8A4-2EBDCD4CA0B4}" type="datetimeFigureOut">
              <a:rPr lang="en-US" smtClean="0"/>
              <a:t>17-Dec-24</a:t>
            </a:fld>
            <a:endParaRPr lang="en-US"/>
          </a:p>
        </p:txBody>
      </p:sp>
      <p:sp>
        <p:nvSpPr>
          <p:cNvPr id="5" name="Footer Placeholder 4">
            <a:extLst>
              <a:ext uri="{FF2B5EF4-FFF2-40B4-BE49-F238E27FC236}">
                <a16:creationId xmlns:a16="http://schemas.microsoft.com/office/drawing/2014/main" id="{ED37FDC8-B692-027D-E1A0-ABCBCD43EE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DE495AA-20D4-4138-FE0C-ABEB836925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043AB2-7461-4FAD-AD4B-CFE73C8C462F}" type="slidenum">
              <a:rPr lang="en-US" smtClean="0"/>
              <a:t>‹#›</a:t>
            </a:fld>
            <a:endParaRPr lang="en-US"/>
          </a:p>
        </p:txBody>
      </p:sp>
    </p:spTree>
    <p:extLst>
      <p:ext uri="{BB962C8B-B14F-4D97-AF65-F5344CB8AC3E}">
        <p14:creationId xmlns:p14="http://schemas.microsoft.com/office/powerpoint/2010/main" val="808458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55245">
              <a:srgbClr val="BECEEA"/>
            </a:gs>
            <a:gs pos="15385">
              <a:srgbClr val="E6ECF7"/>
            </a:gs>
            <a:gs pos="29360">
              <a:srgbClr val="D8E2F3"/>
            </a:gs>
            <a:gs pos="38480">
              <a:srgbClr val="CFDBF0"/>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38D9733-C1DC-7C5E-7D55-E4FDCBAD137B}"/>
              </a:ext>
            </a:extLst>
          </p:cNvPr>
          <p:cNvSpPr txBox="1"/>
          <p:nvPr/>
        </p:nvSpPr>
        <p:spPr>
          <a:xfrm>
            <a:off x="2806811" y="747423"/>
            <a:ext cx="6058894" cy="461665"/>
          </a:xfrm>
          <a:prstGeom prst="rect">
            <a:avLst/>
          </a:prstGeom>
          <a:noFill/>
          <a:ln w="38100">
            <a:solidFill>
              <a:schemeClr val="tx1">
                <a:lumMod val="85000"/>
                <a:lumOff val="15000"/>
              </a:schemeClr>
            </a:solidFill>
          </a:ln>
        </p:spPr>
        <p:txBody>
          <a:bodyPr wrap="square" rtlCol="0">
            <a:spAutoFit/>
          </a:bodyPr>
          <a:lstStyle/>
          <a:p>
            <a:pPr algn="ctr"/>
            <a:r>
              <a:rPr lang="en-US" sz="2400" dirty="0">
                <a:solidFill>
                  <a:srgbClr val="002060"/>
                </a:solidFill>
              </a:rPr>
              <a:t>Assignment-01</a:t>
            </a:r>
            <a:endParaRPr lang="en-US" dirty="0">
              <a:solidFill>
                <a:srgbClr val="002060"/>
              </a:solidFill>
            </a:endParaRPr>
          </a:p>
        </p:txBody>
      </p:sp>
      <p:sp>
        <p:nvSpPr>
          <p:cNvPr id="6" name="TextBox 5">
            <a:extLst>
              <a:ext uri="{FF2B5EF4-FFF2-40B4-BE49-F238E27FC236}">
                <a16:creationId xmlns:a16="http://schemas.microsoft.com/office/drawing/2014/main" id="{B20B2B82-AA45-5A59-A6F7-B4CC977CFB6D}"/>
              </a:ext>
            </a:extLst>
          </p:cNvPr>
          <p:cNvSpPr txBox="1"/>
          <p:nvPr/>
        </p:nvSpPr>
        <p:spPr>
          <a:xfrm>
            <a:off x="3745064" y="1264257"/>
            <a:ext cx="4441537" cy="1200329"/>
          </a:xfrm>
          <a:prstGeom prst="rect">
            <a:avLst/>
          </a:prstGeom>
          <a:noFill/>
          <a:ln w="28575">
            <a:solidFill>
              <a:schemeClr val="tx1"/>
            </a:solidFill>
          </a:ln>
        </p:spPr>
        <p:txBody>
          <a:bodyPr wrap="square" rtlCol="0">
            <a:spAutoFit/>
          </a:bodyPr>
          <a:lstStyle/>
          <a:p>
            <a:br>
              <a:rPr lang="en-US" dirty="0"/>
            </a:br>
            <a:r>
              <a:rPr lang="en-US" dirty="0"/>
              <a:t>Course Title: Data Structure and Algorithms-II</a:t>
            </a:r>
            <a:br>
              <a:rPr lang="en-US" dirty="0"/>
            </a:br>
            <a:r>
              <a:rPr lang="en-US" dirty="0"/>
              <a:t>Course Code: CSE 2201</a:t>
            </a:r>
          </a:p>
        </p:txBody>
      </p:sp>
      <p:sp>
        <p:nvSpPr>
          <p:cNvPr id="8" name="TextBox 7">
            <a:extLst>
              <a:ext uri="{FF2B5EF4-FFF2-40B4-BE49-F238E27FC236}">
                <a16:creationId xmlns:a16="http://schemas.microsoft.com/office/drawing/2014/main" id="{C09D8409-E2C1-F408-8DC9-467852039DEE}"/>
              </a:ext>
            </a:extLst>
          </p:cNvPr>
          <p:cNvSpPr txBox="1"/>
          <p:nvPr/>
        </p:nvSpPr>
        <p:spPr>
          <a:xfrm>
            <a:off x="1244025" y="3400833"/>
            <a:ext cx="3466768" cy="1692771"/>
          </a:xfrm>
          <a:prstGeom prst="rect">
            <a:avLst/>
          </a:prstGeom>
          <a:noFill/>
          <a:ln w="38100">
            <a:solidFill>
              <a:schemeClr val="tx1">
                <a:lumMod val="85000"/>
                <a:lumOff val="15000"/>
              </a:schemeClr>
            </a:solidFill>
          </a:ln>
        </p:spPr>
        <p:txBody>
          <a:bodyPr wrap="square" rtlCol="0">
            <a:spAutoFit/>
          </a:bodyPr>
          <a:lstStyle/>
          <a:p>
            <a:pPr algn="ctr"/>
            <a:r>
              <a:rPr lang="en-US" b="1" u="sng" dirty="0"/>
              <a:t>Prepared by:</a:t>
            </a:r>
            <a:br>
              <a:rPr lang="en-US" dirty="0"/>
            </a:br>
            <a:r>
              <a:rPr lang="en-US" dirty="0"/>
              <a:t>Md. Ehasan Mahmud</a:t>
            </a:r>
            <a:br>
              <a:rPr lang="en-US" dirty="0"/>
            </a:br>
            <a:r>
              <a:rPr lang="en-US" dirty="0"/>
              <a:t>Roll: 202122104026</a:t>
            </a:r>
            <a:br>
              <a:rPr lang="en-US" dirty="0"/>
            </a:br>
            <a:r>
              <a:rPr lang="en-US" dirty="0"/>
              <a:t>Department: </a:t>
            </a:r>
            <a:r>
              <a:rPr lang="en-US" sz="1600" dirty="0"/>
              <a:t>Computer Science and                         Engineering</a:t>
            </a:r>
            <a:endParaRPr lang="en-US" dirty="0"/>
          </a:p>
        </p:txBody>
      </p:sp>
      <p:sp>
        <p:nvSpPr>
          <p:cNvPr id="9" name="TextBox 8">
            <a:extLst>
              <a:ext uri="{FF2B5EF4-FFF2-40B4-BE49-F238E27FC236}">
                <a16:creationId xmlns:a16="http://schemas.microsoft.com/office/drawing/2014/main" id="{5C477E50-0FBC-3A43-2520-ACDA175A9E63}"/>
              </a:ext>
            </a:extLst>
          </p:cNvPr>
          <p:cNvSpPr txBox="1"/>
          <p:nvPr/>
        </p:nvSpPr>
        <p:spPr>
          <a:xfrm>
            <a:off x="6333924" y="3108445"/>
            <a:ext cx="4312304" cy="1815882"/>
          </a:xfrm>
          <a:prstGeom prst="rect">
            <a:avLst/>
          </a:prstGeom>
          <a:noFill/>
          <a:ln w="38100">
            <a:solidFill>
              <a:schemeClr val="tx1"/>
            </a:solidFill>
          </a:ln>
        </p:spPr>
        <p:txBody>
          <a:bodyPr wrap="square" rtlCol="0">
            <a:spAutoFit/>
          </a:bodyPr>
          <a:lstStyle/>
          <a:p>
            <a:pPr algn="ctr"/>
            <a:r>
              <a:rPr lang="en-US" sz="1600" b="1" u="sng" dirty="0"/>
              <a:t>Submitted to:</a:t>
            </a:r>
            <a:br>
              <a:rPr lang="en-US" sz="1600" b="1" u="sng" dirty="0"/>
            </a:br>
            <a:r>
              <a:rPr lang="en-US" sz="1600" dirty="0"/>
              <a:t> Dr. Sujan Chandra Roy</a:t>
            </a:r>
            <a:br>
              <a:rPr lang="en-US" sz="1600" dirty="0"/>
            </a:br>
            <a:r>
              <a:rPr lang="en-US" sz="1600" dirty="0"/>
              <a:t>Lecturer</a:t>
            </a:r>
            <a:br>
              <a:rPr lang="en-US" sz="1600" dirty="0"/>
            </a:br>
            <a:r>
              <a:rPr lang="en-US" sz="1600" dirty="0"/>
              <a:t>Department of Computer Science and                         Engineering</a:t>
            </a:r>
            <a:br>
              <a:rPr lang="en-US" sz="1600" dirty="0"/>
            </a:br>
            <a:r>
              <a:rPr lang="en-US" sz="1600" dirty="0"/>
              <a:t>Bangabandhu Sheikh Mujibur Rahman University, Kishoreganj.</a:t>
            </a:r>
          </a:p>
        </p:txBody>
      </p:sp>
      <p:sp>
        <p:nvSpPr>
          <p:cNvPr id="10" name="Rectangle: Rounded Corners 9">
            <a:extLst>
              <a:ext uri="{FF2B5EF4-FFF2-40B4-BE49-F238E27FC236}">
                <a16:creationId xmlns:a16="http://schemas.microsoft.com/office/drawing/2014/main" id="{7DEB8628-27EC-9C04-CD73-72B649A61402}"/>
              </a:ext>
            </a:extLst>
          </p:cNvPr>
          <p:cNvSpPr/>
          <p:nvPr/>
        </p:nvSpPr>
        <p:spPr>
          <a:xfrm>
            <a:off x="-138793" y="6384471"/>
            <a:ext cx="12499522" cy="473529"/>
          </a:xfrm>
          <a:prstGeom prst="roundRect">
            <a:avLst>
              <a:gd name="adj" fmla="val 0"/>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287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55245">
              <a:srgbClr val="BECEEA"/>
            </a:gs>
            <a:gs pos="15385">
              <a:srgbClr val="E6ECF7"/>
            </a:gs>
            <a:gs pos="29360">
              <a:srgbClr val="D8E2F3"/>
            </a:gs>
            <a:gs pos="38480">
              <a:srgbClr val="CFDBF0"/>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830E049-E42F-1EA5-DDED-C888935831F2}"/>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3BB3F2D7-C29A-3C41-5A35-C76442ED93D3}"/>
              </a:ext>
            </a:extLst>
          </p:cNvPr>
          <p:cNvSpPr/>
          <p:nvPr/>
        </p:nvSpPr>
        <p:spPr>
          <a:xfrm>
            <a:off x="-138793" y="6384471"/>
            <a:ext cx="12499522" cy="473529"/>
          </a:xfrm>
          <a:prstGeom prst="roundRect">
            <a:avLst>
              <a:gd name="adj" fmla="val 0"/>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B2E8520-63A0-2398-07BE-B6C577029028}"/>
              </a:ext>
            </a:extLst>
          </p:cNvPr>
          <p:cNvSpPr txBox="1"/>
          <p:nvPr/>
        </p:nvSpPr>
        <p:spPr>
          <a:xfrm>
            <a:off x="783771" y="734785"/>
            <a:ext cx="11021786" cy="289310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Lower bound theory: </a:t>
            </a:r>
          </a:p>
          <a:p>
            <a:r>
              <a:rPr lang="en-US" dirty="0">
                <a:latin typeface="Times New Roman" panose="02020603050405020304" pitchFamily="18" charset="0"/>
                <a:cs typeface="Times New Roman" panose="02020603050405020304" pitchFamily="18" charset="0"/>
              </a:rPr>
              <a:t>	The lower bound theory is a concept that provides a theoretical minimum on the time complexity of an 	algorithm solving a specific problem. The purpose of lower bound theory is to establish that the given 	algorithm is most efficient possible.</a:t>
            </a:r>
          </a:p>
          <a:p>
            <a:br>
              <a:rPr lang="en-US" dirty="0">
                <a:latin typeface="Times New Roman" panose="02020603050405020304" pitchFamily="18" charset="0"/>
                <a:cs typeface="Times New Roman" panose="02020603050405020304" pitchFamily="18" charset="0"/>
              </a:rPr>
            </a:br>
            <a:r>
              <a:rPr lang="en-US" b="0" i="0" dirty="0">
                <a:solidFill>
                  <a:srgbClr val="333333"/>
                </a:solidFill>
                <a:effectLst/>
                <a:latin typeface="Times New Roman" panose="02020603050405020304" pitchFamily="18" charset="0"/>
                <a:cs typeface="Times New Roman" panose="02020603050405020304" pitchFamily="18" charset="0"/>
              </a:rPr>
              <a:t>The techniques which are used by lower Bound Theory are:</a:t>
            </a:r>
          </a:p>
          <a:p>
            <a:pPr marL="342900" indent="-342900">
              <a:buAutoNum type="arabicParenR"/>
            </a:pPr>
            <a:r>
              <a:rPr lang="en-US" dirty="0">
                <a:latin typeface="Times New Roman" panose="02020603050405020304" pitchFamily="18" charset="0"/>
                <a:cs typeface="Times New Roman" panose="02020603050405020304" pitchFamily="18" charset="0"/>
              </a:rPr>
              <a:t>Comparison trees</a:t>
            </a:r>
          </a:p>
          <a:p>
            <a:pPr marL="342900" indent="-342900">
              <a:buAutoNum type="arabicParenR"/>
            </a:pPr>
            <a:r>
              <a:rPr lang="en-US" dirty="0">
                <a:latin typeface="Times New Roman" panose="02020603050405020304" pitchFamily="18" charset="0"/>
                <a:cs typeface="Times New Roman" panose="02020603050405020304" pitchFamily="18" charset="0"/>
              </a:rPr>
              <a:t>Oracle and adversary argument</a:t>
            </a:r>
          </a:p>
          <a:p>
            <a:pPr marL="342900" indent="-342900">
              <a:buAutoNum type="arabicParenR"/>
            </a:pPr>
            <a:r>
              <a:rPr lang="en-US" dirty="0">
                <a:latin typeface="Times New Roman" panose="02020603050405020304" pitchFamily="18" charset="0"/>
                <a:cs typeface="Times New Roman" panose="02020603050405020304" pitchFamily="18" charset="0"/>
              </a:rPr>
              <a:t>Lower bound through reductions</a:t>
            </a:r>
          </a:p>
          <a:p>
            <a:pPr marL="342900" indent="-342900">
              <a:buAutoNum type="arabicParenR"/>
            </a:pPr>
            <a:r>
              <a:rPr lang="en-US" dirty="0">
                <a:latin typeface="Times New Roman" panose="02020603050405020304" pitchFamily="18" charset="0"/>
                <a:cs typeface="Times New Roman" panose="02020603050405020304" pitchFamily="18" charset="0"/>
              </a:rPr>
              <a:t>Techniques for Algebraic Problem</a:t>
            </a:r>
          </a:p>
        </p:txBody>
      </p:sp>
      <p:sp>
        <p:nvSpPr>
          <p:cNvPr id="3" name="TextBox 2">
            <a:extLst>
              <a:ext uri="{FF2B5EF4-FFF2-40B4-BE49-F238E27FC236}">
                <a16:creationId xmlns:a16="http://schemas.microsoft.com/office/drawing/2014/main" id="{2206EAB0-E1D1-8335-BB18-F06DE42E71CF}"/>
              </a:ext>
            </a:extLst>
          </p:cNvPr>
          <p:cNvSpPr txBox="1"/>
          <p:nvPr/>
        </p:nvSpPr>
        <p:spPr>
          <a:xfrm>
            <a:off x="840921" y="4939393"/>
            <a:ext cx="3615157" cy="461665"/>
          </a:xfrm>
          <a:prstGeom prst="rect">
            <a:avLst/>
          </a:prstGeom>
          <a:noFill/>
        </p:spPr>
        <p:txBody>
          <a:bodyPr wrap="none" rtlCol="0">
            <a:spAutoFit/>
          </a:bodyPr>
          <a:lstStyle/>
          <a:p>
            <a:r>
              <a:rPr lang="en-US" sz="2400" b="1" dirty="0"/>
              <a:t>What is Comparison trees?</a:t>
            </a:r>
          </a:p>
        </p:txBody>
      </p:sp>
    </p:spTree>
    <p:extLst>
      <p:ext uri="{BB962C8B-B14F-4D97-AF65-F5344CB8AC3E}">
        <p14:creationId xmlns:p14="http://schemas.microsoft.com/office/powerpoint/2010/main" val="251781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circle(in)">
                                      <p:cBhvr>
                                        <p:cTn id="14"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55245">
              <a:srgbClr val="BECEEA"/>
            </a:gs>
            <a:gs pos="15385">
              <a:srgbClr val="E6ECF7"/>
            </a:gs>
            <a:gs pos="29360">
              <a:srgbClr val="D8E2F3"/>
            </a:gs>
            <a:gs pos="38480">
              <a:srgbClr val="CFDBF0"/>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2BCF3BA-EC36-91E2-42AE-6B301BDC189B}"/>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8E15E5AD-C551-81E0-8C13-5F4953DE82CC}"/>
              </a:ext>
            </a:extLst>
          </p:cNvPr>
          <p:cNvSpPr/>
          <p:nvPr/>
        </p:nvSpPr>
        <p:spPr>
          <a:xfrm>
            <a:off x="-138793" y="6384471"/>
            <a:ext cx="12499522" cy="473529"/>
          </a:xfrm>
          <a:prstGeom prst="roundRect">
            <a:avLst>
              <a:gd name="adj" fmla="val 0"/>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1489E75-6E45-28FB-B174-CCA50C81D421}"/>
              </a:ext>
            </a:extLst>
          </p:cNvPr>
          <p:cNvSpPr txBox="1"/>
          <p:nvPr/>
        </p:nvSpPr>
        <p:spPr>
          <a:xfrm>
            <a:off x="1298121" y="898071"/>
            <a:ext cx="3347358" cy="523220"/>
          </a:xfrm>
          <a:prstGeom prst="rect">
            <a:avLst/>
          </a:prstGeom>
          <a:noFill/>
          <a:ln>
            <a:solidFill>
              <a:schemeClr val="tx1"/>
            </a:solidFill>
          </a:ln>
        </p:spPr>
        <p:txBody>
          <a:bodyPr wrap="square" rtlCol="0">
            <a:spAutoFit/>
          </a:bodyPr>
          <a:lstStyle/>
          <a:p>
            <a:r>
              <a:rPr lang="en-US" sz="2800" b="1" dirty="0"/>
              <a:t>Comparison Trees: </a:t>
            </a:r>
          </a:p>
        </p:txBody>
      </p:sp>
      <p:sp>
        <p:nvSpPr>
          <p:cNvPr id="11" name="TextBox 10">
            <a:extLst>
              <a:ext uri="{FF2B5EF4-FFF2-40B4-BE49-F238E27FC236}">
                <a16:creationId xmlns:a16="http://schemas.microsoft.com/office/drawing/2014/main" id="{2A6F07D9-9B46-30D0-8D99-D2990EB933FC}"/>
              </a:ext>
            </a:extLst>
          </p:cNvPr>
          <p:cNvSpPr txBox="1"/>
          <p:nvPr/>
        </p:nvSpPr>
        <p:spPr>
          <a:xfrm>
            <a:off x="2098222" y="1673676"/>
            <a:ext cx="9642021" cy="1815882"/>
          </a:xfrm>
          <a:prstGeom prst="rect">
            <a:avLst/>
          </a:prstGeom>
          <a:noFill/>
          <a:ln>
            <a:solidFill>
              <a:schemeClr val="tx1"/>
            </a:solidFill>
          </a:ln>
        </p:spPr>
        <p:txBody>
          <a:bodyPr wrap="square" rtlCol="0">
            <a:spAutoFit/>
          </a:bodyPr>
          <a:lstStyle/>
          <a:p>
            <a:r>
              <a:rPr lang="en-US" sz="2800" dirty="0"/>
              <a:t>A </a:t>
            </a:r>
            <a:r>
              <a:rPr lang="en-US" sz="2800" b="1" dirty="0"/>
              <a:t>comparison tree</a:t>
            </a:r>
            <a:r>
              <a:rPr lang="en-US" sz="2800" dirty="0"/>
              <a:t> is a decision structure where each node represents a comparison, and its paths reveal the steps an algorithm takes, with the tree's height determining the minimum comparisons required for a solution.</a:t>
            </a:r>
          </a:p>
        </p:txBody>
      </p:sp>
      <p:sp>
        <p:nvSpPr>
          <p:cNvPr id="12" name="TextBox 11">
            <a:extLst>
              <a:ext uri="{FF2B5EF4-FFF2-40B4-BE49-F238E27FC236}">
                <a16:creationId xmlns:a16="http://schemas.microsoft.com/office/drawing/2014/main" id="{8D55C15A-D45F-A48A-BC0F-C20C823BC89C}"/>
              </a:ext>
            </a:extLst>
          </p:cNvPr>
          <p:cNvSpPr txBox="1"/>
          <p:nvPr/>
        </p:nvSpPr>
        <p:spPr>
          <a:xfrm>
            <a:off x="1219201" y="4229128"/>
            <a:ext cx="4548233" cy="523220"/>
          </a:xfrm>
          <a:prstGeom prst="rect">
            <a:avLst/>
          </a:prstGeom>
          <a:noFill/>
        </p:spPr>
        <p:txBody>
          <a:bodyPr wrap="none" rtlCol="0">
            <a:spAutoFit/>
          </a:bodyPr>
          <a:lstStyle/>
          <a:p>
            <a:r>
              <a:rPr lang="en-US" sz="2800" i="1" dirty="0"/>
              <a:t>Example of Comparison Trees:</a:t>
            </a:r>
          </a:p>
        </p:txBody>
      </p:sp>
    </p:spTree>
    <p:extLst>
      <p:ext uri="{BB962C8B-B14F-4D97-AF65-F5344CB8AC3E}">
        <p14:creationId xmlns:p14="http://schemas.microsoft.com/office/powerpoint/2010/main" val="1551184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ircle(in)">
                                      <p:cBhvr>
                                        <p:cTn id="14"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55245">
              <a:srgbClr val="BECEEA"/>
            </a:gs>
            <a:gs pos="15385">
              <a:srgbClr val="E6ECF7"/>
            </a:gs>
            <a:gs pos="29360">
              <a:srgbClr val="D8E2F3"/>
            </a:gs>
            <a:gs pos="38480">
              <a:srgbClr val="CFDBF0"/>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D9DD06B-48CD-DFBC-8CC4-FAB3D9C78AFA}"/>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E182E874-E5B3-473D-4D7E-96FDD0EE5066}"/>
              </a:ext>
            </a:extLst>
          </p:cNvPr>
          <p:cNvSpPr/>
          <p:nvPr/>
        </p:nvSpPr>
        <p:spPr>
          <a:xfrm>
            <a:off x="-138793" y="6384471"/>
            <a:ext cx="12499522" cy="473529"/>
          </a:xfrm>
          <a:prstGeom prst="roundRect">
            <a:avLst>
              <a:gd name="adj" fmla="val 0"/>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0EF1EB3-1107-15A6-D066-817C5BA9E9F7}"/>
              </a:ext>
            </a:extLst>
          </p:cNvPr>
          <p:cNvSpPr txBox="1"/>
          <p:nvPr/>
        </p:nvSpPr>
        <p:spPr>
          <a:xfrm>
            <a:off x="855407" y="778006"/>
            <a:ext cx="4548233" cy="523220"/>
          </a:xfrm>
          <a:prstGeom prst="rect">
            <a:avLst/>
          </a:prstGeom>
          <a:noFill/>
        </p:spPr>
        <p:txBody>
          <a:bodyPr wrap="none" rtlCol="0">
            <a:spAutoFit/>
          </a:bodyPr>
          <a:lstStyle/>
          <a:p>
            <a:r>
              <a:rPr lang="en-US" sz="2800" i="1" u="sng" dirty="0"/>
              <a:t>Example of Comparison Trees:</a:t>
            </a:r>
          </a:p>
        </p:txBody>
      </p:sp>
      <p:sp>
        <p:nvSpPr>
          <p:cNvPr id="5" name="TextBox 4">
            <a:extLst>
              <a:ext uri="{FF2B5EF4-FFF2-40B4-BE49-F238E27FC236}">
                <a16:creationId xmlns:a16="http://schemas.microsoft.com/office/drawing/2014/main" id="{5B7DFEA9-965B-619E-D8ED-93220369F6EF}"/>
              </a:ext>
            </a:extLst>
          </p:cNvPr>
          <p:cNvSpPr txBox="1"/>
          <p:nvPr/>
        </p:nvSpPr>
        <p:spPr>
          <a:xfrm>
            <a:off x="1445341" y="1408495"/>
            <a:ext cx="10038735" cy="1107996"/>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Sorting two elements a1​,a2​</a:t>
            </a:r>
          </a:p>
          <a:p>
            <a:r>
              <a:rPr lang="en-US" sz="2400" dirty="0">
                <a:latin typeface="Times New Roman" panose="02020603050405020304" pitchFamily="18" charset="0"/>
                <a:cs typeface="Times New Roman" panose="02020603050405020304" pitchFamily="18" charset="0"/>
              </a:rPr>
              <a:t>To sort two elements, there are 2! = 2 possible outcomes:</a:t>
            </a:r>
          </a:p>
          <a:p>
            <a:endParaRPr lang="en-US" dirty="0"/>
          </a:p>
        </p:txBody>
      </p:sp>
      <p:sp>
        <p:nvSpPr>
          <p:cNvPr id="6" name="TextBox 5">
            <a:extLst>
              <a:ext uri="{FF2B5EF4-FFF2-40B4-BE49-F238E27FC236}">
                <a16:creationId xmlns:a16="http://schemas.microsoft.com/office/drawing/2014/main" id="{288EF510-61A7-6AB7-DDAC-355872F4479C}"/>
              </a:ext>
            </a:extLst>
          </p:cNvPr>
          <p:cNvSpPr txBox="1"/>
          <p:nvPr/>
        </p:nvSpPr>
        <p:spPr>
          <a:xfrm>
            <a:off x="2399069" y="2147159"/>
            <a:ext cx="3334567"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1. (a1,a2)              a1 ≤ a2</a:t>
            </a:r>
          </a:p>
        </p:txBody>
      </p:sp>
      <p:cxnSp>
        <p:nvCxnSpPr>
          <p:cNvPr id="13" name="Straight Arrow Connector 12">
            <a:extLst>
              <a:ext uri="{FF2B5EF4-FFF2-40B4-BE49-F238E27FC236}">
                <a16:creationId xmlns:a16="http://schemas.microsoft.com/office/drawing/2014/main" id="{F6113105-4AE8-D0CA-7701-54F9F6A970BE}"/>
              </a:ext>
            </a:extLst>
          </p:cNvPr>
          <p:cNvCxnSpPr>
            <a:cxnSpLocks/>
          </p:cNvCxnSpPr>
          <p:nvPr/>
        </p:nvCxnSpPr>
        <p:spPr>
          <a:xfrm>
            <a:off x="3800592" y="2377991"/>
            <a:ext cx="6603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376A863F-9654-B128-A8CB-9272AF54CBC6}"/>
              </a:ext>
            </a:extLst>
          </p:cNvPr>
          <p:cNvSpPr txBox="1"/>
          <p:nvPr/>
        </p:nvSpPr>
        <p:spPr>
          <a:xfrm>
            <a:off x="2399069" y="2681218"/>
            <a:ext cx="3416320"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2. (a1,a2)              a1 &gt; a2</a:t>
            </a:r>
          </a:p>
        </p:txBody>
      </p:sp>
      <p:cxnSp>
        <p:nvCxnSpPr>
          <p:cNvPr id="15" name="Straight Arrow Connector 14">
            <a:extLst>
              <a:ext uri="{FF2B5EF4-FFF2-40B4-BE49-F238E27FC236}">
                <a16:creationId xmlns:a16="http://schemas.microsoft.com/office/drawing/2014/main" id="{7D493C3B-D75E-2B03-0EE1-64BF05C206E9}"/>
              </a:ext>
            </a:extLst>
          </p:cNvPr>
          <p:cNvCxnSpPr>
            <a:cxnSpLocks/>
          </p:cNvCxnSpPr>
          <p:nvPr/>
        </p:nvCxnSpPr>
        <p:spPr>
          <a:xfrm flipV="1">
            <a:off x="3724392" y="2912905"/>
            <a:ext cx="736570" cy="38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91E83477-30A5-A3A6-5F90-8CEC109E7E86}"/>
              </a:ext>
            </a:extLst>
          </p:cNvPr>
          <p:cNvSpPr txBox="1"/>
          <p:nvPr/>
        </p:nvSpPr>
        <p:spPr>
          <a:xfrm>
            <a:off x="1575574" y="3215277"/>
            <a:ext cx="4824590"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comparison tree</a:t>
            </a:r>
            <a:r>
              <a:rPr lang="en-US" sz="2400" dirty="0">
                <a:latin typeface="Times New Roman" panose="02020603050405020304" pitchFamily="18" charset="0"/>
                <a:cs typeface="Times New Roman" panose="02020603050405020304" pitchFamily="18" charset="0"/>
              </a:rPr>
              <a:t> looks like this :</a:t>
            </a:r>
          </a:p>
        </p:txBody>
      </p:sp>
      <p:sp>
        <p:nvSpPr>
          <p:cNvPr id="21" name="TextBox 20">
            <a:extLst>
              <a:ext uri="{FF2B5EF4-FFF2-40B4-BE49-F238E27FC236}">
                <a16:creationId xmlns:a16="http://schemas.microsoft.com/office/drawing/2014/main" id="{9FDED9ED-9CD6-7580-D138-BDBA1F3B9CDB}"/>
              </a:ext>
            </a:extLst>
          </p:cNvPr>
          <p:cNvSpPr txBox="1"/>
          <p:nvPr/>
        </p:nvSpPr>
        <p:spPr>
          <a:xfrm>
            <a:off x="6110968" y="3779881"/>
            <a:ext cx="1111202" cy="400110"/>
          </a:xfrm>
          <a:prstGeom prst="rect">
            <a:avLst/>
          </a:prstGeom>
          <a:noFill/>
        </p:spPr>
        <p:txBody>
          <a:bodyPr wrap="none" rtlCol="0">
            <a:spAutoFit/>
          </a:bodyPr>
          <a:lstStyle/>
          <a:p>
            <a:r>
              <a:rPr lang="en-US" sz="2000" dirty="0"/>
              <a:t>a1 ≤ a2 ?</a:t>
            </a:r>
          </a:p>
        </p:txBody>
      </p:sp>
      <p:cxnSp>
        <p:nvCxnSpPr>
          <p:cNvPr id="23" name="Straight Connector 22">
            <a:extLst>
              <a:ext uri="{FF2B5EF4-FFF2-40B4-BE49-F238E27FC236}">
                <a16:creationId xmlns:a16="http://schemas.microsoft.com/office/drawing/2014/main" id="{1AF5D8EE-1C19-3826-4308-253B0ED54D0E}"/>
              </a:ext>
            </a:extLst>
          </p:cNvPr>
          <p:cNvCxnSpPr/>
          <p:nvPr/>
        </p:nvCxnSpPr>
        <p:spPr>
          <a:xfrm flipH="1">
            <a:off x="5535561" y="4179991"/>
            <a:ext cx="707923" cy="382177"/>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43DF0EA1-2247-C498-F216-7BFC7110ADD7}"/>
              </a:ext>
            </a:extLst>
          </p:cNvPr>
          <p:cNvCxnSpPr>
            <a:cxnSpLocks/>
          </p:cNvCxnSpPr>
          <p:nvPr/>
        </p:nvCxnSpPr>
        <p:spPr>
          <a:xfrm>
            <a:off x="6818891" y="4179991"/>
            <a:ext cx="663457" cy="382177"/>
          </a:xfrm>
          <a:prstGeom prst="line">
            <a:avLst/>
          </a:prstGeom>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1D20295E-D825-6DF9-0013-A8648A8D34B7}"/>
              </a:ext>
            </a:extLst>
          </p:cNvPr>
          <p:cNvSpPr txBox="1"/>
          <p:nvPr/>
        </p:nvSpPr>
        <p:spPr>
          <a:xfrm>
            <a:off x="5116215" y="4522875"/>
            <a:ext cx="838691" cy="646331"/>
          </a:xfrm>
          <a:prstGeom prst="rect">
            <a:avLst/>
          </a:prstGeom>
          <a:noFill/>
        </p:spPr>
        <p:txBody>
          <a:bodyPr wrap="none" rtlCol="0">
            <a:spAutoFit/>
          </a:bodyPr>
          <a:lstStyle/>
          <a:p>
            <a:pPr algn="ctr"/>
            <a:r>
              <a:rPr lang="en-US" dirty="0"/>
              <a:t>Yes</a:t>
            </a:r>
            <a:br>
              <a:rPr lang="en-US" dirty="0"/>
            </a:br>
            <a:r>
              <a:rPr lang="en-US" dirty="0"/>
              <a:t>(a1,a2)</a:t>
            </a:r>
          </a:p>
        </p:txBody>
      </p:sp>
      <p:sp>
        <p:nvSpPr>
          <p:cNvPr id="30" name="TextBox 29">
            <a:extLst>
              <a:ext uri="{FF2B5EF4-FFF2-40B4-BE49-F238E27FC236}">
                <a16:creationId xmlns:a16="http://schemas.microsoft.com/office/drawing/2014/main" id="{66914CFE-A68B-B9DD-E307-E5BFC738BFF1}"/>
              </a:ext>
            </a:extLst>
          </p:cNvPr>
          <p:cNvSpPr txBox="1"/>
          <p:nvPr/>
        </p:nvSpPr>
        <p:spPr>
          <a:xfrm>
            <a:off x="7150619" y="4532744"/>
            <a:ext cx="838691" cy="646331"/>
          </a:xfrm>
          <a:prstGeom prst="rect">
            <a:avLst/>
          </a:prstGeom>
          <a:noFill/>
        </p:spPr>
        <p:txBody>
          <a:bodyPr wrap="none" rtlCol="0">
            <a:spAutoFit/>
          </a:bodyPr>
          <a:lstStyle/>
          <a:p>
            <a:pPr algn="ctr"/>
            <a:r>
              <a:rPr lang="en-US" dirty="0"/>
              <a:t>No</a:t>
            </a:r>
            <a:br>
              <a:rPr lang="en-US" dirty="0"/>
            </a:br>
            <a:r>
              <a:rPr lang="en-US" dirty="0"/>
              <a:t>(a2,a1)</a:t>
            </a:r>
          </a:p>
        </p:txBody>
      </p:sp>
      <p:sp>
        <p:nvSpPr>
          <p:cNvPr id="31" name="TextBox 30">
            <a:extLst>
              <a:ext uri="{FF2B5EF4-FFF2-40B4-BE49-F238E27FC236}">
                <a16:creationId xmlns:a16="http://schemas.microsoft.com/office/drawing/2014/main" id="{23500B69-DE03-367F-2E98-5026A40DF017}"/>
              </a:ext>
            </a:extLst>
          </p:cNvPr>
          <p:cNvSpPr txBox="1"/>
          <p:nvPr/>
        </p:nvSpPr>
        <p:spPr>
          <a:xfrm>
            <a:off x="8367252" y="3731756"/>
            <a:ext cx="3824748" cy="2031325"/>
          </a:xfrm>
          <a:prstGeom prst="rect">
            <a:avLst/>
          </a:prstGeom>
          <a:noFill/>
          <a:ln>
            <a:solidFill>
              <a:schemeClr val="tx1"/>
            </a:solidFill>
          </a:ln>
        </p:spPr>
        <p:txBody>
          <a:bodyPr wrap="square" rtlCol="0">
            <a:spAutoFit/>
          </a:bodyPr>
          <a:lstStyle/>
          <a:p>
            <a:r>
              <a:rPr lang="en-US" b="1" i="1" u="sng" dirty="0"/>
              <a:t>Note:</a:t>
            </a:r>
          </a:p>
          <a:p>
            <a:pPr marL="342900" indent="-342900" algn="ctr">
              <a:buAutoNum type="arabicPeriod"/>
            </a:pPr>
            <a:r>
              <a:rPr lang="en-US" dirty="0"/>
              <a:t>If a1 ≤ a2 , then go left and result is (a1,a2)</a:t>
            </a:r>
          </a:p>
          <a:p>
            <a:pPr algn="ctr"/>
            <a:br>
              <a:rPr lang="en-US" dirty="0"/>
            </a:br>
            <a:r>
              <a:rPr lang="en-US" dirty="0"/>
              <a:t>2.  If a1 &gt; a2 ,then go right and result is     (a2,a1)</a:t>
            </a:r>
          </a:p>
          <a:p>
            <a:endParaRPr lang="en-US" dirty="0"/>
          </a:p>
        </p:txBody>
      </p:sp>
    </p:spTree>
    <p:extLst>
      <p:ext uri="{BB962C8B-B14F-4D97-AF65-F5344CB8AC3E}">
        <p14:creationId xmlns:p14="http://schemas.microsoft.com/office/powerpoint/2010/main" val="3251667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ppt_x"/>
                                          </p:val>
                                        </p:tav>
                                        <p:tav tm="100000">
                                          <p:val>
                                            <p:strVal val="#ppt_x"/>
                                          </p:val>
                                        </p:tav>
                                      </p:tavLst>
                                    </p:anim>
                                    <p:anim calcmode="lin" valueType="num">
                                      <p:cBhvr additive="base">
                                        <p:cTn id="2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1000"/>
                                        <p:tgtEl>
                                          <p:spTgt spid="31"/>
                                        </p:tgtEl>
                                      </p:cBhvr>
                                    </p:animEffect>
                                    <p:anim calcmode="lin" valueType="num">
                                      <p:cBhvr>
                                        <p:cTn id="34" dur="1000" fill="hold"/>
                                        <p:tgtEl>
                                          <p:spTgt spid="31"/>
                                        </p:tgtEl>
                                        <p:attrNameLst>
                                          <p:attrName>ppt_x</p:attrName>
                                        </p:attrNameLst>
                                      </p:cBhvr>
                                      <p:tavLst>
                                        <p:tav tm="0">
                                          <p:val>
                                            <p:strVal val="#ppt_x"/>
                                          </p:val>
                                        </p:tav>
                                        <p:tav tm="100000">
                                          <p:val>
                                            <p:strVal val="#ppt_x"/>
                                          </p:val>
                                        </p:tav>
                                      </p:tavLst>
                                    </p:anim>
                                    <p:anim calcmode="lin" valueType="num">
                                      <p:cBhvr>
                                        <p:cTn id="35"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additive="base">
                                        <p:cTn id="40" dur="500" fill="hold"/>
                                        <p:tgtEl>
                                          <p:spTgt spid="19"/>
                                        </p:tgtEl>
                                        <p:attrNameLst>
                                          <p:attrName>ppt_x</p:attrName>
                                        </p:attrNameLst>
                                      </p:cBhvr>
                                      <p:tavLst>
                                        <p:tav tm="0">
                                          <p:val>
                                            <p:strVal val="#ppt_x"/>
                                          </p:val>
                                        </p:tav>
                                        <p:tav tm="100000">
                                          <p:val>
                                            <p:strVal val="#ppt_x"/>
                                          </p:val>
                                        </p:tav>
                                      </p:tavLst>
                                    </p:anim>
                                    <p:anim calcmode="lin" valueType="num">
                                      <p:cBhvr additive="base">
                                        <p:cTn id="4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cBhvr additive="base">
                                        <p:cTn id="46" dur="500" fill="hold"/>
                                        <p:tgtEl>
                                          <p:spTgt spid="21"/>
                                        </p:tgtEl>
                                        <p:attrNameLst>
                                          <p:attrName>ppt_x</p:attrName>
                                        </p:attrNameLst>
                                      </p:cBhvr>
                                      <p:tavLst>
                                        <p:tav tm="0">
                                          <p:val>
                                            <p:strVal val="#ppt_x"/>
                                          </p:val>
                                        </p:tav>
                                        <p:tav tm="100000">
                                          <p:val>
                                            <p:strVal val="#ppt_x"/>
                                          </p:val>
                                        </p:tav>
                                      </p:tavLst>
                                    </p:anim>
                                    <p:anim calcmode="lin" valueType="num">
                                      <p:cBhvr additive="base">
                                        <p:cTn id="47" dur="500" fill="hold"/>
                                        <p:tgtEl>
                                          <p:spTgt spid="21"/>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23"/>
                                        </p:tgtEl>
                                        <p:attrNameLst>
                                          <p:attrName>style.visibility</p:attrName>
                                        </p:attrNameLst>
                                      </p:cBhvr>
                                      <p:to>
                                        <p:strVal val="visible"/>
                                      </p:to>
                                    </p:set>
                                    <p:anim calcmode="lin" valueType="num">
                                      <p:cBhvr additive="base">
                                        <p:cTn id="50" dur="500" fill="hold"/>
                                        <p:tgtEl>
                                          <p:spTgt spid="23"/>
                                        </p:tgtEl>
                                        <p:attrNameLst>
                                          <p:attrName>ppt_x</p:attrName>
                                        </p:attrNameLst>
                                      </p:cBhvr>
                                      <p:tavLst>
                                        <p:tav tm="0">
                                          <p:val>
                                            <p:strVal val="#ppt_x"/>
                                          </p:val>
                                        </p:tav>
                                        <p:tav tm="100000">
                                          <p:val>
                                            <p:strVal val="#ppt_x"/>
                                          </p:val>
                                        </p:tav>
                                      </p:tavLst>
                                    </p:anim>
                                    <p:anim calcmode="lin" valueType="num">
                                      <p:cBhvr additive="base">
                                        <p:cTn id="51" dur="500" fill="hold"/>
                                        <p:tgtEl>
                                          <p:spTgt spid="23"/>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30"/>
                                        </p:tgtEl>
                                        <p:attrNameLst>
                                          <p:attrName>style.visibility</p:attrName>
                                        </p:attrNameLst>
                                      </p:cBhvr>
                                      <p:to>
                                        <p:strVal val="visible"/>
                                      </p:to>
                                    </p:set>
                                    <p:anim calcmode="lin" valueType="num">
                                      <p:cBhvr additive="base">
                                        <p:cTn id="54" dur="500" fill="hold"/>
                                        <p:tgtEl>
                                          <p:spTgt spid="30"/>
                                        </p:tgtEl>
                                        <p:attrNameLst>
                                          <p:attrName>ppt_x</p:attrName>
                                        </p:attrNameLst>
                                      </p:cBhvr>
                                      <p:tavLst>
                                        <p:tav tm="0">
                                          <p:val>
                                            <p:strVal val="#ppt_x"/>
                                          </p:val>
                                        </p:tav>
                                        <p:tav tm="100000">
                                          <p:val>
                                            <p:strVal val="#ppt_x"/>
                                          </p:val>
                                        </p:tav>
                                      </p:tavLst>
                                    </p:anim>
                                    <p:anim calcmode="lin" valueType="num">
                                      <p:cBhvr additive="base">
                                        <p:cTn id="55" dur="500" fill="hold"/>
                                        <p:tgtEl>
                                          <p:spTgt spid="30"/>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 calcmode="lin" valueType="num">
                                      <p:cBhvr additive="base">
                                        <p:cTn id="58" dur="500" fill="hold"/>
                                        <p:tgtEl>
                                          <p:spTgt spid="26"/>
                                        </p:tgtEl>
                                        <p:attrNameLst>
                                          <p:attrName>ppt_x</p:attrName>
                                        </p:attrNameLst>
                                      </p:cBhvr>
                                      <p:tavLst>
                                        <p:tav tm="0">
                                          <p:val>
                                            <p:strVal val="#ppt_x"/>
                                          </p:val>
                                        </p:tav>
                                        <p:tav tm="100000">
                                          <p:val>
                                            <p:strVal val="#ppt_x"/>
                                          </p:val>
                                        </p:tav>
                                      </p:tavLst>
                                    </p:anim>
                                    <p:anim calcmode="lin" valueType="num">
                                      <p:cBhvr additive="base">
                                        <p:cTn id="59" dur="500" fill="hold"/>
                                        <p:tgtEl>
                                          <p:spTgt spid="26"/>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anim calcmode="lin" valueType="num">
                                      <p:cBhvr additive="base">
                                        <p:cTn id="62" dur="500" fill="hold"/>
                                        <p:tgtEl>
                                          <p:spTgt spid="29"/>
                                        </p:tgtEl>
                                        <p:attrNameLst>
                                          <p:attrName>ppt_x</p:attrName>
                                        </p:attrNameLst>
                                      </p:cBhvr>
                                      <p:tavLst>
                                        <p:tav tm="0">
                                          <p:val>
                                            <p:strVal val="#ppt_x"/>
                                          </p:val>
                                        </p:tav>
                                        <p:tav tm="100000">
                                          <p:val>
                                            <p:strVal val="#ppt_x"/>
                                          </p:val>
                                        </p:tav>
                                      </p:tavLst>
                                    </p:anim>
                                    <p:anim calcmode="lin" valueType="num">
                                      <p:cBhvr additive="base">
                                        <p:cTn id="63"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4" grpId="0"/>
      <p:bldP spid="19" grpId="0"/>
      <p:bldP spid="21" grpId="0"/>
      <p:bldP spid="29" grpId="0"/>
      <p:bldP spid="30" grpId="0"/>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55245">
              <a:srgbClr val="BECEEA"/>
            </a:gs>
            <a:gs pos="15385">
              <a:srgbClr val="E6ECF7"/>
            </a:gs>
            <a:gs pos="29360">
              <a:srgbClr val="D8E2F3"/>
            </a:gs>
            <a:gs pos="38480">
              <a:srgbClr val="CFDBF0"/>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FAD57CC-425D-0EF3-A297-585F03E39312}"/>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C323346B-4860-AC78-0FD4-116E8F185C8A}"/>
              </a:ext>
            </a:extLst>
          </p:cNvPr>
          <p:cNvSpPr/>
          <p:nvPr/>
        </p:nvSpPr>
        <p:spPr>
          <a:xfrm>
            <a:off x="-138793" y="6384471"/>
            <a:ext cx="12499522" cy="473529"/>
          </a:xfrm>
          <a:prstGeom prst="roundRect">
            <a:avLst>
              <a:gd name="adj" fmla="val 0"/>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550EFBE-0344-8C3B-B49E-5C1A6B21413B}"/>
              </a:ext>
            </a:extLst>
          </p:cNvPr>
          <p:cNvSpPr txBox="1"/>
          <p:nvPr/>
        </p:nvSpPr>
        <p:spPr>
          <a:xfrm>
            <a:off x="676656" y="649224"/>
            <a:ext cx="6656832" cy="738664"/>
          </a:xfrm>
          <a:prstGeom prst="rect">
            <a:avLst/>
          </a:prstGeom>
          <a:noFill/>
        </p:spPr>
        <p:txBody>
          <a:bodyPr wrap="square" rtlCol="0">
            <a:spAutoFit/>
          </a:bodyPr>
          <a:lstStyle/>
          <a:p>
            <a:r>
              <a:rPr lang="en-US" sz="2400" b="1" dirty="0"/>
              <a:t>What is </a:t>
            </a:r>
            <a:r>
              <a:rPr lang="en-US" sz="2400" b="1" dirty="0">
                <a:latin typeface="Times New Roman" panose="02020603050405020304" pitchFamily="18" charset="0"/>
                <a:cs typeface="Times New Roman" panose="02020603050405020304" pitchFamily="18" charset="0"/>
              </a:rPr>
              <a:t>Oracle and adversary argument?</a:t>
            </a:r>
          </a:p>
          <a:p>
            <a:endParaRPr lang="en-US" dirty="0"/>
          </a:p>
        </p:txBody>
      </p:sp>
      <p:sp>
        <p:nvSpPr>
          <p:cNvPr id="4" name="TextBox 3">
            <a:extLst>
              <a:ext uri="{FF2B5EF4-FFF2-40B4-BE49-F238E27FC236}">
                <a16:creationId xmlns:a16="http://schemas.microsoft.com/office/drawing/2014/main" id="{F4443F3C-0D5C-9D97-0266-C56230EFEC65}"/>
              </a:ext>
            </a:extLst>
          </p:cNvPr>
          <p:cNvSpPr txBox="1"/>
          <p:nvPr/>
        </p:nvSpPr>
        <p:spPr>
          <a:xfrm>
            <a:off x="1499617" y="1252728"/>
            <a:ext cx="10351008"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An oracle provides instant answers to queries and is used to abstract and analyze computational processes. It does not intentionally make the algorithm work harder that role is taken by an adversary, which constructs challenging scenarios to prove lower bounds.</a:t>
            </a:r>
          </a:p>
        </p:txBody>
      </p:sp>
      <p:sp>
        <p:nvSpPr>
          <p:cNvPr id="5" name="TextBox 4">
            <a:extLst>
              <a:ext uri="{FF2B5EF4-FFF2-40B4-BE49-F238E27FC236}">
                <a16:creationId xmlns:a16="http://schemas.microsoft.com/office/drawing/2014/main" id="{1061E53B-8894-A2CC-DD3A-766B8CE9CD49}"/>
              </a:ext>
            </a:extLst>
          </p:cNvPr>
          <p:cNvSpPr txBox="1"/>
          <p:nvPr/>
        </p:nvSpPr>
        <p:spPr>
          <a:xfrm>
            <a:off x="1819656" y="2871215"/>
            <a:ext cx="9750303" cy="2831544"/>
          </a:xfrm>
          <a:prstGeom prst="rect">
            <a:avLst/>
          </a:prstGeom>
          <a:noFill/>
          <a:ln>
            <a:solidFill>
              <a:schemeClr val="tx1">
                <a:lumMod val="95000"/>
                <a:lumOff val="5000"/>
              </a:schemeClr>
            </a:solidFill>
          </a:ln>
        </p:spPr>
        <p:txBody>
          <a:bodyPr wrap="square" rtlCol="0">
            <a:spAutoFit/>
          </a:bodyPr>
          <a:lstStyle/>
          <a:p>
            <a:r>
              <a:rPr lang="en-US" sz="2000" b="1" dirty="0">
                <a:latin typeface="Times New Roman" panose="02020603050405020304" pitchFamily="18" charset="0"/>
                <a:cs typeface="Times New Roman" panose="02020603050405020304" pitchFamily="18" charset="0"/>
              </a:rPr>
              <a:t>Example: </a:t>
            </a:r>
            <a:r>
              <a:rPr lang="en-US" sz="2000" i="1" dirty="0">
                <a:latin typeface="Times New Roman" panose="02020603050405020304" pitchFamily="18" charset="0"/>
                <a:cs typeface="Times New Roman" panose="02020603050405020304" pitchFamily="18" charset="0"/>
              </a:rPr>
              <a:t>Oracle and Adversary in Lower Bound Theory for Merging Two Sorted Arrays</a:t>
            </a: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When merging two sorted arrays, the following concepts apply:</a:t>
            </a:r>
          </a:p>
          <a:p>
            <a:r>
              <a:rPr lang="en-US" sz="2000" u="sng" dirty="0">
                <a:latin typeface="Times New Roman" panose="02020603050405020304" pitchFamily="18" charset="0"/>
                <a:cs typeface="Times New Roman" panose="02020603050405020304" pitchFamily="18" charset="0"/>
              </a:rPr>
              <a:t>Oracle</a:t>
            </a:r>
            <a:r>
              <a:rPr lang="en-US" sz="2000" dirty="0">
                <a:latin typeface="Times New Roman" panose="02020603050405020304" pitchFamily="18" charset="0"/>
                <a:cs typeface="Times New Roman" panose="02020603050405020304" pitchFamily="18" charset="0"/>
              </a:rPr>
              <a:t>: Provides answers to comparisons during the merging process.</a:t>
            </a:r>
          </a:p>
          <a:p>
            <a:r>
              <a:rPr lang="en-US" sz="2000" u="sng" dirty="0">
                <a:latin typeface="Times New Roman" panose="02020603050405020304" pitchFamily="18" charset="0"/>
                <a:cs typeface="Times New Roman" panose="02020603050405020304" pitchFamily="18" charset="0"/>
              </a:rPr>
              <a:t>Adversary</a:t>
            </a:r>
            <a:r>
              <a:rPr lang="en-US" sz="2000" dirty="0">
                <a:latin typeface="Times New Roman" panose="02020603050405020304" pitchFamily="18" charset="0"/>
                <a:cs typeface="Times New Roman" panose="02020603050405020304" pitchFamily="18" charset="0"/>
              </a:rPr>
              <a:t>: Aims to maximize the number of comparisons needed to merge the arrays, thus forcing the algorithm to perform more work.</a:t>
            </a:r>
          </a:p>
          <a:p>
            <a:r>
              <a:rPr lang="en-US" sz="2000" u="sng" dirty="0">
                <a:latin typeface="Times New Roman" panose="02020603050405020304" pitchFamily="18" charset="0"/>
                <a:cs typeface="Times New Roman" panose="02020603050405020304" pitchFamily="18" charset="0"/>
              </a:rPr>
              <a:t>Lower Bound: </a:t>
            </a:r>
            <a:r>
              <a:rPr lang="en-US" sz="2000" dirty="0">
                <a:latin typeface="Times New Roman" panose="02020603050405020304" pitchFamily="18" charset="0"/>
                <a:cs typeface="Times New Roman" panose="02020603050405020304" pitchFamily="18" charset="0"/>
              </a:rPr>
              <a:t>The number of comparisons is driven by the number of ways the arrays can be interleaved while preserving their order, leading to the lower bound of Ω(</a:t>
            </a:r>
            <a:r>
              <a:rPr lang="en-US" sz="2000" dirty="0" err="1">
                <a:latin typeface="Times New Roman" panose="02020603050405020304" pitchFamily="18" charset="0"/>
                <a:cs typeface="Times New Roman" panose="02020603050405020304" pitchFamily="18" charset="0"/>
              </a:rPr>
              <a:t>m+n</a:t>
            </a:r>
            <a:r>
              <a:rPr lang="en-US" sz="2000"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3414465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55245">
              <a:srgbClr val="BECEEA"/>
            </a:gs>
            <a:gs pos="15385">
              <a:srgbClr val="E6ECF7"/>
            </a:gs>
            <a:gs pos="29360">
              <a:srgbClr val="D8E2F3"/>
            </a:gs>
            <a:gs pos="38480">
              <a:srgbClr val="CFDBF0"/>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FC661F53-E783-18E3-ED50-F25ECB7AE394}"/>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DFC4CECC-5FF6-A57B-DF60-798F121B512B}"/>
              </a:ext>
            </a:extLst>
          </p:cNvPr>
          <p:cNvSpPr/>
          <p:nvPr/>
        </p:nvSpPr>
        <p:spPr>
          <a:xfrm>
            <a:off x="-138793" y="6384471"/>
            <a:ext cx="12499522" cy="473529"/>
          </a:xfrm>
          <a:prstGeom prst="roundRect">
            <a:avLst>
              <a:gd name="adj" fmla="val 0"/>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C607E5B-1025-698F-EBF4-9F943A78E5A0}"/>
              </a:ext>
            </a:extLst>
          </p:cNvPr>
          <p:cNvSpPr txBox="1"/>
          <p:nvPr/>
        </p:nvSpPr>
        <p:spPr>
          <a:xfrm>
            <a:off x="676656" y="649224"/>
            <a:ext cx="6656832" cy="73866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Topic- Lower bound through reduction: </a:t>
            </a:r>
          </a:p>
          <a:p>
            <a:endParaRPr lang="en-US" dirty="0"/>
          </a:p>
        </p:txBody>
      </p:sp>
      <p:sp>
        <p:nvSpPr>
          <p:cNvPr id="2" name="TextBox 1">
            <a:extLst>
              <a:ext uri="{FF2B5EF4-FFF2-40B4-BE49-F238E27FC236}">
                <a16:creationId xmlns:a16="http://schemas.microsoft.com/office/drawing/2014/main" id="{34CB75EC-0EA8-5271-E9C6-9300D62A8D6E}"/>
              </a:ext>
            </a:extLst>
          </p:cNvPr>
          <p:cNvSpPr txBox="1"/>
          <p:nvPr/>
        </p:nvSpPr>
        <p:spPr>
          <a:xfrm>
            <a:off x="1986116" y="1508091"/>
            <a:ext cx="9743768" cy="193899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Lower bounds through reduction is a technique used to determine the minimum complexity of a problem by demonstrating that a problem with a known lower bound can be transformed into the original problem. This shows that the original problem cannot be solved more efficiently than the reduced problem.</a:t>
            </a:r>
          </a:p>
        </p:txBody>
      </p:sp>
      <p:sp>
        <p:nvSpPr>
          <p:cNvPr id="4" name="TextBox 3">
            <a:extLst>
              <a:ext uri="{FF2B5EF4-FFF2-40B4-BE49-F238E27FC236}">
                <a16:creationId xmlns:a16="http://schemas.microsoft.com/office/drawing/2014/main" id="{60B6CB6E-6762-206B-045B-6018A818EFCF}"/>
              </a:ext>
            </a:extLst>
          </p:cNvPr>
          <p:cNvSpPr txBox="1"/>
          <p:nvPr/>
        </p:nvSpPr>
        <p:spPr>
          <a:xfrm>
            <a:off x="1317521" y="4518545"/>
            <a:ext cx="7334866" cy="461665"/>
          </a:xfrm>
          <a:prstGeom prst="rect">
            <a:avLst/>
          </a:prstGeom>
          <a:noFill/>
          <a:ln>
            <a:solidFill>
              <a:schemeClr val="tx1">
                <a:lumMod val="95000"/>
                <a:lumOff val="5000"/>
              </a:schemeClr>
            </a:solidFill>
          </a:ln>
        </p:spPr>
        <p:txBody>
          <a:bodyPr wrap="square" rtlCol="0">
            <a:spAutoFit/>
          </a:bodyPr>
          <a:lstStyle/>
          <a:p>
            <a:r>
              <a:rPr lang="en-US" sz="2400" i="1" dirty="0"/>
              <a:t>Example of Lower Bound Through Reduction:</a:t>
            </a:r>
            <a:endParaRPr lang="en-US" sz="1600" b="1" i="1" dirty="0"/>
          </a:p>
        </p:txBody>
      </p:sp>
      <p:sp>
        <p:nvSpPr>
          <p:cNvPr id="9" name="TextBox 8">
            <a:extLst>
              <a:ext uri="{FF2B5EF4-FFF2-40B4-BE49-F238E27FC236}">
                <a16:creationId xmlns:a16="http://schemas.microsoft.com/office/drawing/2014/main" id="{7AAEAA5C-4CA4-00C0-0281-CD80DD4B9FB7}"/>
              </a:ext>
            </a:extLst>
          </p:cNvPr>
          <p:cNvSpPr txBox="1"/>
          <p:nvPr/>
        </p:nvSpPr>
        <p:spPr>
          <a:xfrm>
            <a:off x="5112774" y="4149213"/>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051598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55245">
              <a:srgbClr val="BECEEA"/>
            </a:gs>
            <a:gs pos="15385">
              <a:srgbClr val="E6ECF7"/>
            </a:gs>
            <a:gs pos="29360">
              <a:srgbClr val="D8E2F3"/>
            </a:gs>
            <a:gs pos="38480">
              <a:srgbClr val="CFDBF0"/>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CE48D9E-DE89-F64B-B33B-F3E7C7570536}"/>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3B93B1CE-4C66-33A1-BA89-55EC9F53F965}"/>
              </a:ext>
            </a:extLst>
          </p:cNvPr>
          <p:cNvSpPr/>
          <p:nvPr/>
        </p:nvSpPr>
        <p:spPr>
          <a:xfrm>
            <a:off x="-138793" y="6384471"/>
            <a:ext cx="12499522" cy="473529"/>
          </a:xfrm>
          <a:prstGeom prst="roundRect">
            <a:avLst>
              <a:gd name="adj" fmla="val 0"/>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Arrow: Right 1">
            <a:extLst>
              <a:ext uri="{FF2B5EF4-FFF2-40B4-BE49-F238E27FC236}">
                <a16:creationId xmlns:a16="http://schemas.microsoft.com/office/drawing/2014/main" id="{D1F6030F-1FAD-A4F8-FCBB-A19947156942}"/>
              </a:ext>
            </a:extLst>
          </p:cNvPr>
          <p:cNvSpPr/>
          <p:nvPr/>
        </p:nvSpPr>
        <p:spPr>
          <a:xfrm>
            <a:off x="742336" y="1252691"/>
            <a:ext cx="363794" cy="334297"/>
          </a:xfrm>
          <a:prstGeom prst="rightArrow">
            <a:avLst/>
          </a:prstGeom>
          <a:solidFill>
            <a:schemeClr val="accent1">
              <a:lumMod val="75000"/>
            </a:schemeClr>
          </a:solidFill>
          <a:ln w="28575">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9660EC1E-3517-17E6-F3AB-868FD00D02FE}"/>
              </a:ext>
            </a:extLst>
          </p:cNvPr>
          <p:cNvSpPr txBox="1"/>
          <p:nvPr/>
        </p:nvSpPr>
        <p:spPr>
          <a:xfrm>
            <a:off x="4041059" y="2720883"/>
            <a:ext cx="93408" cy="3081738"/>
          </a:xfrm>
          <a:prstGeom prst="rect">
            <a:avLst/>
          </a:prstGeom>
          <a:noFill/>
        </p:spPr>
        <p:txBody>
          <a:bodyPr wrap="square" rtlCol="0">
            <a:spAutoFit/>
          </a:bodyPr>
          <a:lstStyle/>
          <a:p>
            <a:endParaRPr lang="en-US" dirty="0"/>
          </a:p>
        </p:txBody>
      </p:sp>
      <mc:AlternateContent xmlns:mc="http://schemas.openxmlformats.org/markup-compatibility/2006">
        <mc:Choice xmlns:a14="http://schemas.microsoft.com/office/drawing/2010/main" Requires="a14">
          <p:sp>
            <p:nvSpPr>
              <p:cNvPr id="5" name="Rectangle 1">
                <a:extLst>
                  <a:ext uri="{FF2B5EF4-FFF2-40B4-BE49-F238E27FC236}">
                    <a16:creationId xmlns:a16="http://schemas.microsoft.com/office/drawing/2014/main" id="{E32ED075-A4AC-B78F-AF24-22B9AF59973D}"/>
                  </a:ext>
                </a:extLst>
              </p:cNvPr>
              <p:cNvSpPr>
                <a:spLocks noChangeArrowheads="1"/>
              </p:cNvSpPr>
              <p:nvPr/>
            </p:nvSpPr>
            <p:spPr bwMode="auto">
              <a:xfrm>
                <a:off x="1337186" y="1252691"/>
                <a:ext cx="9930581" cy="2308324"/>
              </a:xfrm>
              <a:prstGeom prst="rect">
                <a:avLst/>
              </a:prstGeom>
              <a:noFill/>
              <a:ln w="9525">
                <a:solidFill>
                  <a:schemeClr val="tx1"/>
                </a:solidFill>
                <a:miter lim="800000"/>
                <a:headEnd/>
                <a:tailEnd/>
              </a:ln>
              <a:effectLst/>
              <a:extLst>
                <a:ext uri="{909E8E84-426E-40DD-AFC4-6F175D3DCCD1}">
                  <a14:hiddenFill>
                    <a:solidFill>
                      <a:schemeClr val="accent1"/>
                    </a:solidFill>
                  </a14:hiddenFill>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i="1" dirty="0">
                    <a:latin typeface="Times New Roman" panose="02020603050405020304" pitchFamily="18" charset="0"/>
                    <a:cs typeface="Times New Roman" panose="02020603050405020304" pitchFamily="18" charset="0"/>
                  </a:rPr>
                  <a:t>Suppose there is a reduction from sorting to problem B that takes O(n) time and does not examine the sorting elements. If B uses only comparisons, it must be a comparison-based sorting algorithm. Since sorting has a known lower bound of Ω(</a:t>
                </a:r>
                <a:r>
                  <a:rPr lang="en-US" sz="2400" i="1" dirty="0" err="1">
                    <a:latin typeface="Times New Roman" panose="02020603050405020304" pitchFamily="18" charset="0"/>
                    <a:cs typeface="Times New Roman" panose="02020603050405020304" pitchFamily="18" charset="0"/>
                  </a:rPr>
                  <a:t>nlogn</a:t>
                </a:r>
                <a:r>
                  <a:rPr lang="en-US" sz="2400" i="1" dirty="0">
                    <a:latin typeface="Times New Roman" panose="02020603050405020304" pitchFamily="18" charset="0"/>
                    <a:cs typeface="Times New Roman" panose="02020603050405020304" pitchFamily="18" charset="0"/>
                  </a:rPr>
                  <a:t>), problem B must also have a lower bound of Ω(</a:t>
                </a:r>
                <a:r>
                  <a:rPr lang="en-US" sz="2400" i="1" dirty="0" err="1">
                    <a:latin typeface="Times New Roman" panose="02020603050405020304" pitchFamily="18" charset="0"/>
                    <a:cs typeface="Times New Roman" panose="02020603050405020304" pitchFamily="18" charset="0"/>
                  </a:rPr>
                  <a:t>nlogn</a:t>
                </a:r>
                <a:r>
                  <a:rPr lang="en-US" sz="2400" i="1" dirty="0">
                    <a:latin typeface="Times New Roman" panose="02020603050405020304" pitchFamily="18" charset="0"/>
                    <a:cs typeface="Times New Roman" panose="02020603050405020304" pitchFamily="18" charset="0"/>
                  </a:rPr>
                  <a:t>), as it is at least as hard as sorting. This implies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𝑇</m:t>
                        </m:r>
                      </m:e>
                      <m:sub>
                        <m:r>
                          <a:rPr lang="en-US" sz="2400" b="0" i="1" smtClean="0">
                            <a:latin typeface="Cambria Math" panose="02040503050406030204" pitchFamily="18" charset="0"/>
                            <a:cs typeface="Times New Roman" panose="02020603050405020304" pitchFamily="18" charset="0"/>
                          </a:rPr>
                          <m:t>𝐵</m:t>
                        </m:r>
                      </m:sub>
                    </m:sSub>
                  </m:oMath>
                </a14:m>
                <a:r>
                  <a:rPr lang="en-US" sz="2400" i="1" dirty="0">
                    <a:latin typeface="Times New Roman" panose="02020603050405020304" pitchFamily="18" charset="0"/>
                    <a:cs typeface="Times New Roman" panose="02020603050405020304" pitchFamily="18" charset="0"/>
                  </a:rPr>
                  <a:t>(n)=Ω(</a:t>
                </a:r>
                <a:r>
                  <a:rPr lang="en-US" sz="2400" i="1" dirty="0" err="1">
                    <a:latin typeface="Times New Roman" panose="02020603050405020304" pitchFamily="18" charset="0"/>
                    <a:cs typeface="Times New Roman" panose="02020603050405020304" pitchFamily="18" charset="0"/>
                  </a:rPr>
                  <a:t>nlogn</a:t>
                </a:r>
                <a:r>
                  <a:rPr lang="en-US" sz="2400" i="1" dirty="0">
                    <a:latin typeface="Times New Roman" panose="02020603050405020304" pitchFamily="18" charset="0"/>
                    <a:cs typeface="Times New Roman" panose="02020603050405020304" pitchFamily="18" charset="0"/>
                  </a:rPr>
                  <a:t>), establishing the lower bound for problem B through the reduction from sorting. </a:t>
                </a:r>
              </a:p>
            </p:txBody>
          </p:sp>
        </mc:Choice>
        <mc:Fallback>
          <p:sp>
            <p:nvSpPr>
              <p:cNvPr id="5" name="Rectangle 1">
                <a:extLst>
                  <a:ext uri="{FF2B5EF4-FFF2-40B4-BE49-F238E27FC236}">
                    <a16:creationId xmlns:a16="http://schemas.microsoft.com/office/drawing/2014/main" id="{E32ED075-A4AC-B78F-AF24-22B9AF59973D}"/>
                  </a:ext>
                </a:extLst>
              </p:cNvPr>
              <p:cNvSpPr>
                <a:spLocks noRot="1" noChangeAspect="1" noMove="1" noResize="1" noEditPoints="1" noAdjustHandles="1" noChangeArrowheads="1" noChangeShapeType="1" noTextEdit="1"/>
              </p:cNvSpPr>
              <p:nvPr/>
            </p:nvSpPr>
            <p:spPr bwMode="auto">
              <a:xfrm>
                <a:off x="1337186" y="1252691"/>
                <a:ext cx="9930581" cy="2308324"/>
              </a:xfrm>
              <a:prstGeom prst="rect">
                <a:avLst/>
              </a:prstGeom>
              <a:blipFill>
                <a:blip r:embed="rId3"/>
                <a:stretch>
                  <a:fillRect l="-858" t="-1312" r="-1655" b="-5249"/>
                </a:stretch>
              </a:blip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548041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55245">
              <a:srgbClr val="BECEEA"/>
            </a:gs>
            <a:gs pos="15385">
              <a:srgbClr val="E6ECF7"/>
            </a:gs>
            <a:gs pos="29360">
              <a:srgbClr val="D8E2F3"/>
            </a:gs>
            <a:gs pos="38480">
              <a:srgbClr val="CFDBF0"/>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E0AF709-8242-D98A-4F41-F3113E5E66C4}"/>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4018F16F-6F23-B6FE-30E7-8E58EA9DE98F}"/>
              </a:ext>
            </a:extLst>
          </p:cNvPr>
          <p:cNvSpPr/>
          <p:nvPr/>
        </p:nvSpPr>
        <p:spPr>
          <a:xfrm>
            <a:off x="-138793" y="6384471"/>
            <a:ext cx="12499522" cy="473529"/>
          </a:xfrm>
          <a:prstGeom prst="roundRect">
            <a:avLst>
              <a:gd name="adj" fmla="val 0"/>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C0FF0F-ABF3-B942-BC80-96308D4C0B6F}"/>
              </a:ext>
            </a:extLst>
          </p:cNvPr>
          <p:cNvSpPr txBox="1"/>
          <p:nvPr/>
        </p:nvSpPr>
        <p:spPr>
          <a:xfrm>
            <a:off x="4041059" y="2720883"/>
            <a:ext cx="93408" cy="3081738"/>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813BAFA9-D30B-82FA-C6AF-85ADE25B4142}"/>
              </a:ext>
            </a:extLst>
          </p:cNvPr>
          <p:cNvSpPr txBox="1"/>
          <p:nvPr/>
        </p:nvSpPr>
        <p:spPr>
          <a:xfrm>
            <a:off x="302303" y="600820"/>
            <a:ext cx="7570919"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Topic-</a:t>
            </a:r>
            <a:r>
              <a:rPr lang="en-US" sz="2800" b="1" dirty="0"/>
              <a:t> </a:t>
            </a:r>
            <a:r>
              <a:rPr lang="en-US" sz="2400" b="1" dirty="0">
                <a:latin typeface="Times New Roman" panose="02020603050405020304" pitchFamily="18" charset="0"/>
                <a:cs typeface="Times New Roman" panose="02020603050405020304" pitchFamily="18" charset="0"/>
              </a:rPr>
              <a:t>Lower Bound Techniques in Algebraic Problems</a:t>
            </a:r>
            <a:endParaRPr lang="en-US" sz="28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6843889-F7AC-7FDC-B395-367FF02C6BE4}"/>
              </a:ext>
            </a:extLst>
          </p:cNvPr>
          <p:cNvSpPr txBox="1"/>
          <p:nvPr/>
        </p:nvSpPr>
        <p:spPr>
          <a:xfrm>
            <a:off x="1425677" y="1338079"/>
            <a:ext cx="1494503" cy="400110"/>
          </a:xfrm>
          <a:prstGeom prst="rect">
            <a:avLst/>
          </a:prstGeom>
          <a:noFill/>
        </p:spPr>
        <p:txBody>
          <a:bodyPr wrap="square" rtlCol="0">
            <a:spAutoFit/>
          </a:bodyPr>
          <a:lstStyle/>
          <a:p>
            <a:r>
              <a:rPr lang="en-US" sz="2000" b="1" u="sng" dirty="0">
                <a:latin typeface="Times New Roman" panose="02020603050405020304" pitchFamily="18" charset="0"/>
                <a:cs typeface="Times New Roman" panose="02020603050405020304" pitchFamily="18" charset="0"/>
              </a:rPr>
              <a:t>Definition</a:t>
            </a:r>
            <a:r>
              <a:rPr lang="en-US" dirty="0"/>
              <a:t>:</a:t>
            </a:r>
          </a:p>
        </p:txBody>
      </p:sp>
      <p:sp>
        <p:nvSpPr>
          <p:cNvPr id="7" name="Rectangle 1">
            <a:extLst>
              <a:ext uri="{FF2B5EF4-FFF2-40B4-BE49-F238E27FC236}">
                <a16:creationId xmlns:a16="http://schemas.microsoft.com/office/drawing/2014/main" id="{1588A97C-CD09-613E-D133-64E20EAD7BFC}"/>
              </a:ext>
            </a:extLst>
          </p:cNvPr>
          <p:cNvSpPr>
            <a:spLocks noChangeArrowheads="1"/>
          </p:cNvSpPr>
          <p:nvPr/>
        </p:nvSpPr>
        <p:spPr bwMode="auto">
          <a:xfrm>
            <a:off x="2373287" y="2139033"/>
            <a:ext cx="967122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Lower bound techniques in algebraic problems are employed to determine the minimum height of algebraic computation and decision trees, providing insights into the least number of operations needed to solve algebraic problems efficiently.</a:t>
            </a:r>
          </a:p>
        </p:txBody>
      </p:sp>
      <p:sp>
        <p:nvSpPr>
          <p:cNvPr id="8" name="TextBox 7">
            <a:extLst>
              <a:ext uri="{FF2B5EF4-FFF2-40B4-BE49-F238E27FC236}">
                <a16:creationId xmlns:a16="http://schemas.microsoft.com/office/drawing/2014/main" id="{47C6A2D7-ED76-164D-6B92-0312E3610024}"/>
              </a:ext>
            </a:extLst>
          </p:cNvPr>
          <p:cNvSpPr txBox="1"/>
          <p:nvPr/>
        </p:nvSpPr>
        <p:spPr>
          <a:xfrm>
            <a:off x="1425677" y="4354084"/>
            <a:ext cx="1304396" cy="461665"/>
          </a:xfrm>
          <a:prstGeom prst="rect">
            <a:avLst/>
          </a:prstGeom>
          <a:noFill/>
        </p:spPr>
        <p:txBody>
          <a:bodyPr wrap="none" rtlCol="0">
            <a:spAutoFit/>
          </a:bodyPr>
          <a:lstStyle/>
          <a:p>
            <a:r>
              <a:rPr lang="en-US" sz="2400" u="sng" dirty="0"/>
              <a:t>Example</a:t>
            </a:r>
            <a:r>
              <a:rPr lang="en-US" dirty="0"/>
              <a:t>:</a:t>
            </a:r>
          </a:p>
        </p:txBody>
      </p:sp>
    </p:spTree>
    <p:extLst>
      <p:ext uri="{BB962C8B-B14F-4D97-AF65-F5344CB8AC3E}">
        <p14:creationId xmlns:p14="http://schemas.microsoft.com/office/powerpoint/2010/main" val="794490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55245">
              <a:srgbClr val="BECEEA"/>
            </a:gs>
            <a:gs pos="15385">
              <a:srgbClr val="E6ECF7"/>
            </a:gs>
            <a:gs pos="29360">
              <a:srgbClr val="D8E2F3"/>
            </a:gs>
            <a:gs pos="38480">
              <a:srgbClr val="CFDBF0"/>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E9CF36E-90BF-D5AF-D7B8-6A3DD25804C1}"/>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80264DA0-C86C-603C-FA3F-B4DC7F909A91}"/>
              </a:ext>
            </a:extLst>
          </p:cNvPr>
          <p:cNvSpPr/>
          <p:nvPr/>
        </p:nvSpPr>
        <p:spPr>
          <a:xfrm>
            <a:off x="-138793" y="6384471"/>
            <a:ext cx="12499522" cy="473529"/>
          </a:xfrm>
          <a:prstGeom prst="roundRect">
            <a:avLst>
              <a:gd name="adj" fmla="val 0"/>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835EC1A-6078-A2B1-6730-D7D8E0A0C258}"/>
              </a:ext>
            </a:extLst>
          </p:cNvPr>
          <p:cNvSpPr txBox="1"/>
          <p:nvPr/>
        </p:nvSpPr>
        <p:spPr>
          <a:xfrm>
            <a:off x="4041059" y="2720883"/>
            <a:ext cx="93408" cy="3081738"/>
          </a:xfrm>
          <a:prstGeom prst="rect">
            <a:avLst/>
          </a:prstGeom>
          <a:noFill/>
        </p:spPr>
        <p:txBody>
          <a:bodyPr wrap="square" rtlCol="0">
            <a:spAutoFit/>
          </a:bodyPr>
          <a:lstStyle/>
          <a:p>
            <a:endParaRPr lang="en-US" dirty="0"/>
          </a:p>
        </p:txBody>
      </p:sp>
      <p:sp>
        <p:nvSpPr>
          <p:cNvPr id="2" name="TextBox 1">
            <a:extLst>
              <a:ext uri="{FF2B5EF4-FFF2-40B4-BE49-F238E27FC236}">
                <a16:creationId xmlns:a16="http://schemas.microsoft.com/office/drawing/2014/main" id="{393CEA10-51FA-50C1-285D-6F0AAC1EDE0A}"/>
              </a:ext>
            </a:extLst>
          </p:cNvPr>
          <p:cNvSpPr txBox="1"/>
          <p:nvPr/>
        </p:nvSpPr>
        <p:spPr>
          <a:xfrm>
            <a:off x="1435509" y="1843795"/>
            <a:ext cx="10756491" cy="2585323"/>
          </a:xfrm>
          <a:prstGeom prst="rect">
            <a:avLst/>
          </a:prstGeom>
          <a:noFill/>
        </p:spPr>
        <p:txBody>
          <a:bodyPr wrap="square" rtlCol="0">
            <a:spAutoFit/>
          </a:bodyPr>
          <a:lstStyle/>
          <a:p>
            <a:r>
              <a:rPr lang="en-US" sz="2400" i="1" dirty="0">
                <a:latin typeface="Times New Roman" panose="02020603050405020304" pitchFamily="18" charset="0"/>
                <a:cs typeface="Times New Roman" panose="02020603050405020304" pitchFamily="18" charset="0"/>
              </a:rPr>
              <a:t>Finding the greatest common divisor (GCD) of two polynomials in algebraic fields involves performing algebraic operations such as division and subtraction. Lower bounds on the number of operations required to compute the GCD can be established using algebraic decision trees or algebraic circuits. These techniques show that any algorithm for GCD computation must perform a minimum number of operations, thereby providing a lower bound for the computational complexity of the problem.</a:t>
            </a:r>
          </a:p>
          <a:p>
            <a:endParaRPr lang="en-US" dirty="0"/>
          </a:p>
        </p:txBody>
      </p:sp>
      <p:sp>
        <p:nvSpPr>
          <p:cNvPr id="5" name="TextBox 4">
            <a:extLst>
              <a:ext uri="{FF2B5EF4-FFF2-40B4-BE49-F238E27FC236}">
                <a16:creationId xmlns:a16="http://schemas.microsoft.com/office/drawing/2014/main" id="{82BF2264-6F64-8F7A-4FA9-D1B40ACEE5AA}"/>
              </a:ext>
            </a:extLst>
          </p:cNvPr>
          <p:cNvSpPr txBox="1"/>
          <p:nvPr/>
        </p:nvSpPr>
        <p:spPr>
          <a:xfrm>
            <a:off x="540774" y="814206"/>
            <a:ext cx="5330947" cy="738664"/>
          </a:xfrm>
          <a:prstGeom prst="rect">
            <a:avLst/>
          </a:prstGeom>
          <a:noFill/>
        </p:spPr>
        <p:txBody>
          <a:bodyPr wrap="none" rtlCol="0">
            <a:spAutoFit/>
          </a:bodyPr>
          <a:lstStyle/>
          <a:p>
            <a:r>
              <a:rPr lang="en-US" sz="2400" b="1" i="1" dirty="0">
                <a:latin typeface="Times New Roman" panose="02020603050405020304" pitchFamily="18" charset="0"/>
                <a:cs typeface="Times New Roman" panose="02020603050405020304" pitchFamily="18" charset="0"/>
              </a:rPr>
              <a:t>GCD Computation in Algebraic Fields:</a:t>
            </a:r>
          </a:p>
          <a:p>
            <a:endParaRPr lang="en-US" dirty="0"/>
          </a:p>
        </p:txBody>
      </p:sp>
    </p:spTree>
    <p:extLst>
      <p:ext uri="{BB962C8B-B14F-4D97-AF65-F5344CB8AC3E}">
        <p14:creationId xmlns:p14="http://schemas.microsoft.com/office/powerpoint/2010/main" val="3564392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55245">
              <a:srgbClr val="BECEEA"/>
            </a:gs>
            <a:gs pos="15385">
              <a:srgbClr val="E6ECF7"/>
            </a:gs>
            <a:gs pos="29360">
              <a:srgbClr val="D8E2F3"/>
            </a:gs>
            <a:gs pos="38480">
              <a:srgbClr val="CFDBF0"/>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DBA3684-C876-E804-D5C9-367B34578243}"/>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B6508FB8-7DE5-2447-CEB4-CB446553B2EB}"/>
              </a:ext>
            </a:extLst>
          </p:cNvPr>
          <p:cNvSpPr/>
          <p:nvPr/>
        </p:nvSpPr>
        <p:spPr>
          <a:xfrm>
            <a:off x="-138793" y="6384471"/>
            <a:ext cx="12499522" cy="473529"/>
          </a:xfrm>
          <a:prstGeom prst="roundRect">
            <a:avLst>
              <a:gd name="adj" fmla="val 0"/>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067F0BF-55E5-3D61-EE83-14DB3684FA0A}"/>
              </a:ext>
            </a:extLst>
          </p:cNvPr>
          <p:cNvSpPr txBox="1"/>
          <p:nvPr/>
        </p:nvSpPr>
        <p:spPr>
          <a:xfrm>
            <a:off x="4041059" y="2720883"/>
            <a:ext cx="93408" cy="3081738"/>
          </a:xfrm>
          <a:prstGeom prst="rect">
            <a:avLst/>
          </a:prstGeom>
          <a:noFill/>
        </p:spPr>
        <p:txBody>
          <a:bodyPr wrap="square" rtlCol="0">
            <a:spAutoFit/>
          </a:bodyPr>
          <a:lstStyle/>
          <a:p>
            <a:endParaRPr lang="en-US" dirty="0"/>
          </a:p>
        </p:txBody>
      </p:sp>
      <p:sp>
        <p:nvSpPr>
          <p:cNvPr id="7" name="TextBox 6">
            <a:extLst>
              <a:ext uri="{FF2B5EF4-FFF2-40B4-BE49-F238E27FC236}">
                <a16:creationId xmlns:a16="http://schemas.microsoft.com/office/drawing/2014/main" id="{E627CD31-E8D9-104B-6B67-F3B397A7D6FB}"/>
              </a:ext>
            </a:extLst>
          </p:cNvPr>
          <p:cNvSpPr txBox="1"/>
          <p:nvPr/>
        </p:nvSpPr>
        <p:spPr>
          <a:xfrm>
            <a:off x="3292943" y="2705725"/>
            <a:ext cx="5316455" cy="1446550"/>
          </a:xfrm>
          <a:prstGeom prst="rect">
            <a:avLst/>
          </a:prstGeom>
          <a:noFill/>
        </p:spPr>
        <p:txBody>
          <a:bodyPr wrap="none" rtlCol="0">
            <a:spAutoFit/>
          </a:bodyPr>
          <a:lstStyle/>
          <a:p>
            <a:pPr algn="ctr"/>
            <a:r>
              <a:rPr lang="en-US" sz="8800" i="1" dirty="0">
                <a:solidFill>
                  <a:srgbClr val="00206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4103660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5944</TotalTime>
  <Words>744</Words>
  <Application>Microsoft Office PowerPoint</Application>
  <PresentationFormat>Widescreen</PresentationFormat>
  <Paragraphs>56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Ehasan Mahmud</dc:creator>
  <cp:lastModifiedBy>Ehasan Mahmud</cp:lastModifiedBy>
  <cp:revision>11</cp:revision>
  <dcterms:created xsi:type="dcterms:W3CDTF">2024-12-17T15:17:45Z</dcterms:created>
  <dcterms:modified xsi:type="dcterms:W3CDTF">2024-12-21T18:22:11Z</dcterms:modified>
</cp:coreProperties>
</file>