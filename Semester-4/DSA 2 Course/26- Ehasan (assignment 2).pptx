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56" r:id="rId3"/>
    <p:sldId id="263" r:id="rId4"/>
    <p:sldId id="257" r:id="rId5"/>
    <p:sldId id="261" r:id="rId6"/>
    <p:sldId id="258" r:id="rId7"/>
    <p:sldId id="262" r:id="rId8"/>
    <p:sldId id="259" r:id="rId9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12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D1CEA-2957-4505-8003-C2266655643E}" type="datetimeFigureOut">
              <a:rPr lang="en-US" smtClean="0"/>
              <a:t>05-Feb-25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A20EC-B2BA-4AB9-8B42-46F7D35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195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D1CEA-2957-4505-8003-C2266655643E}" type="datetimeFigureOut">
              <a:rPr lang="en-US" smtClean="0"/>
              <a:t>05-Feb-25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A20EC-B2BA-4AB9-8B42-46F7D35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78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D1CEA-2957-4505-8003-C2266655643E}" type="datetimeFigureOut">
              <a:rPr lang="en-US" smtClean="0"/>
              <a:t>05-Feb-25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A20EC-B2BA-4AB9-8B42-46F7D35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891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D1CEA-2957-4505-8003-C2266655643E}" type="datetimeFigureOut">
              <a:rPr lang="en-US" smtClean="0"/>
              <a:t>05-Feb-25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A20EC-B2BA-4AB9-8B42-46F7D35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977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D1CEA-2957-4505-8003-C2266655643E}" type="datetimeFigureOut">
              <a:rPr lang="en-US" smtClean="0"/>
              <a:t>05-Feb-25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A20EC-B2BA-4AB9-8B42-46F7D35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810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D1CEA-2957-4505-8003-C2266655643E}" type="datetimeFigureOut">
              <a:rPr lang="en-US" smtClean="0"/>
              <a:t>05-Feb-25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A20EC-B2BA-4AB9-8B42-46F7D35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785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D1CEA-2957-4505-8003-C2266655643E}" type="datetimeFigureOut">
              <a:rPr lang="en-US" smtClean="0"/>
              <a:t>05-Feb-25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A20EC-B2BA-4AB9-8B42-46F7D35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135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D1CEA-2957-4505-8003-C2266655643E}" type="datetimeFigureOut">
              <a:rPr lang="en-US" smtClean="0"/>
              <a:t>05-Feb-25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A20EC-B2BA-4AB9-8B42-46F7D35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930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D1CEA-2957-4505-8003-C2266655643E}" type="datetimeFigureOut">
              <a:rPr lang="en-US" smtClean="0"/>
              <a:t>05-Feb-25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A20EC-B2BA-4AB9-8B42-46F7D35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01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D1CEA-2957-4505-8003-C2266655643E}" type="datetimeFigureOut">
              <a:rPr lang="en-US" smtClean="0"/>
              <a:t>05-Feb-25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A20EC-B2BA-4AB9-8B42-46F7D35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516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D1CEA-2957-4505-8003-C2266655643E}" type="datetimeFigureOut">
              <a:rPr lang="en-US" smtClean="0"/>
              <a:t>05-Feb-25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A20EC-B2BA-4AB9-8B42-46F7D35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92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8D1CEA-2957-4505-8003-C2266655643E}" type="datetimeFigureOut">
              <a:rPr lang="en-US" smtClean="0"/>
              <a:t>05-Feb-25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6A20EC-B2BA-4AB9-8B42-46F7D35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742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DF7DB21-C493-DEBE-7323-193DFDBB00D1}"/>
              </a:ext>
            </a:extLst>
          </p:cNvPr>
          <p:cNvSpPr txBox="1"/>
          <p:nvPr/>
        </p:nvSpPr>
        <p:spPr>
          <a:xfrm>
            <a:off x="1746107" y="390807"/>
            <a:ext cx="6058894" cy="523220"/>
          </a:xfrm>
          <a:prstGeom prst="rect">
            <a:avLst/>
          </a:prstGeom>
          <a:noFill/>
          <a:ln w="38100"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Assignment-02</a:t>
            </a:r>
            <a:endParaRPr lang="en-US" b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69D481-04D1-F016-BF8D-3D6398B0A2A1}"/>
              </a:ext>
            </a:extLst>
          </p:cNvPr>
          <p:cNvSpPr txBox="1"/>
          <p:nvPr/>
        </p:nvSpPr>
        <p:spPr>
          <a:xfrm>
            <a:off x="2354199" y="1364842"/>
            <a:ext cx="5043878" cy="10156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Title: Data Structure and Algorithms-II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CSE 2201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627246-225D-6719-04BE-88BD8441DD96}"/>
              </a:ext>
            </a:extLst>
          </p:cNvPr>
          <p:cNvSpPr txBox="1"/>
          <p:nvPr/>
        </p:nvSpPr>
        <p:spPr>
          <a:xfrm>
            <a:off x="5044620" y="3352881"/>
            <a:ext cx="4312304" cy="203132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to:</a:t>
            </a:r>
            <a:b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Dr. Sujan Chandra Roy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Lecturer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                        Engineering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Bangabandhu Sheikh Mujibur Rahman University, Kishoreganj.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24E809-1503-E3D8-C3F6-E92219DD5018}"/>
              </a:ext>
            </a:extLst>
          </p:cNvPr>
          <p:cNvSpPr txBox="1"/>
          <p:nvPr/>
        </p:nvSpPr>
        <p:spPr>
          <a:xfrm>
            <a:off x="923985" y="3552934"/>
            <a:ext cx="3466768" cy="1631216"/>
          </a:xfrm>
          <a:prstGeom prst="rect">
            <a:avLst/>
          </a:prstGeom>
          <a:noFill/>
          <a:ln w="38100"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Md. Ehasan Mahmud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Roll: 202122104026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 and Engineering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46B18E-7A7E-1FA9-A67A-BBB07D9FD93D}"/>
              </a:ext>
            </a:extLst>
          </p:cNvPr>
          <p:cNvSpPr txBox="1"/>
          <p:nvPr/>
        </p:nvSpPr>
        <p:spPr>
          <a:xfrm>
            <a:off x="4487550" y="6488668"/>
            <a:ext cx="301686" cy="36933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7729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86CD6E3-AA37-9ED1-194A-7D735C5C14B0}"/>
              </a:ext>
            </a:extLst>
          </p:cNvPr>
          <p:cNvSpPr txBox="1"/>
          <p:nvPr/>
        </p:nvSpPr>
        <p:spPr>
          <a:xfrm>
            <a:off x="2929375" y="374904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u="sng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N- Queens problem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C64842-EFB0-CAB2-74D8-0D8963013C23}"/>
              </a:ext>
            </a:extLst>
          </p:cNvPr>
          <p:cNvSpPr txBox="1"/>
          <p:nvPr/>
        </p:nvSpPr>
        <p:spPr>
          <a:xfrm>
            <a:off x="4453129" y="898125"/>
            <a:ext cx="306205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[Using Backtracking]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2FB490-F476-9A27-A338-E161877F3368}"/>
              </a:ext>
            </a:extLst>
          </p:cNvPr>
          <p:cNvSpPr txBox="1"/>
          <p:nvPr/>
        </p:nvSpPr>
        <p:spPr>
          <a:xfrm>
            <a:off x="114298" y="1481327"/>
            <a:ext cx="972007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Placing N number of queens on a chessboard where two queens will not attack each other. Size of the chessboard have to N x 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 a queen in the first row, trying different columns one by one.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new queen placed, check if it is safe (no two queens in the same column or diagonal).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to the next row and repeat the process, placing a queen in a valid column.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no valid position is found in a row, backtrack by moving the queen from the previous row to the next column and try again.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 placing queen’s row by row until all N queens are placed on the board. 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If all queens are placed without conflicts, a solution is found.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A5D47E-F3B8-AD9E-5F89-2470A6151EA4}"/>
              </a:ext>
            </a:extLst>
          </p:cNvPr>
          <p:cNvSpPr txBox="1"/>
          <p:nvPr/>
        </p:nvSpPr>
        <p:spPr>
          <a:xfrm>
            <a:off x="4651314" y="6483096"/>
            <a:ext cx="301686" cy="36933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435818-350E-4358-AA4D-7DC1063BC351}"/>
              </a:ext>
            </a:extLst>
          </p:cNvPr>
          <p:cNvSpPr txBox="1"/>
          <p:nvPr/>
        </p:nvSpPr>
        <p:spPr>
          <a:xfrm>
            <a:off x="3182112" y="35570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252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EF293-7890-37D9-1E4B-53FA2B9D9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E300669-A96D-A26E-4BFC-577E358D9D2A}"/>
              </a:ext>
            </a:extLst>
          </p:cNvPr>
          <p:cNvSpPr txBox="1"/>
          <p:nvPr/>
        </p:nvSpPr>
        <p:spPr>
          <a:xfrm>
            <a:off x="2929375" y="374904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u="sng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N- Queens problem 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A1FEA8D-4081-1086-35BB-5C56FF91CD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083647"/>
              </p:ext>
            </p:extLst>
          </p:nvPr>
        </p:nvGraphicFramePr>
        <p:xfrm>
          <a:off x="219456" y="1962400"/>
          <a:ext cx="4544570" cy="22193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08914">
                  <a:extLst>
                    <a:ext uri="{9D8B030D-6E8A-4147-A177-3AD203B41FA5}">
                      <a16:colId xmlns:a16="http://schemas.microsoft.com/office/drawing/2014/main" val="497511495"/>
                    </a:ext>
                  </a:extLst>
                </a:gridCol>
                <a:gridCol w="908914">
                  <a:extLst>
                    <a:ext uri="{9D8B030D-6E8A-4147-A177-3AD203B41FA5}">
                      <a16:colId xmlns:a16="http://schemas.microsoft.com/office/drawing/2014/main" val="1527417883"/>
                    </a:ext>
                  </a:extLst>
                </a:gridCol>
                <a:gridCol w="908914">
                  <a:extLst>
                    <a:ext uri="{9D8B030D-6E8A-4147-A177-3AD203B41FA5}">
                      <a16:colId xmlns:a16="http://schemas.microsoft.com/office/drawing/2014/main" val="488504481"/>
                    </a:ext>
                  </a:extLst>
                </a:gridCol>
                <a:gridCol w="908914">
                  <a:extLst>
                    <a:ext uri="{9D8B030D-6E8A-4147-A177-3AD203B41FA5}">
                      <a16:colId xmlns:a16="http://schemas.microsoft.com/office/drawing/2014/main" val="2600094501"/>
                    </a:ext>
                  </a:extLst>
                </a:gridCol>
                <a:gridCol w="908914">
                  <a:extLst>
                    <a:ext uri="{9D8B030D-6E8A-4147-A177-3AD203B41FA5}">
                      <a16:colId xmlns:a16="http://schemas.microsoft.com/office/drawing/2014/main" val="2807645015"/>
                    </a:ext>
                  </a:extLst>
                </a:gridCol>
              </a:tblGrid>
              <a:tr h="463398">
                <a:tc>
                  <a:txBody>
                    <a:bodyPr/>
                    <a:lstStyle/>
                    <a:p>
                      <a:endParaRPr lang="en-US" b="0" u="sng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4854148"/>
                  </a:ext>
                </a:extLst>
              </a:tr>
              <a:tr h="46339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600395"/>
                  </a:ext>
                </a:extLst>
              </a:tr>
              <a:tr h="46339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812765"/>
                  </a:ext>
                </a:extLst>
              </a:tr>
              <a:tr h="46339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490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132251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D5A7770-3B4D-C3EC-17E1-37C1F50E3BA9}"/>
              </a:ext>
            </a:extLst>
          </p:cNvPr>
          <p:cNvSpPr txBox="1"/>
          <p:nvPr/>
        </p:nvSpPr>
        <p:spPr>
          <a:xfrm>
            <a:off x="446500" y="2448022"/>
            <a:ext cx="30168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8B4449-51E6-4E9F-F3B9-5232EA1D8E7D}"/>
              </a:ext>
            </a:extLst>
          </p:cNvPr>
          <p:cNvSpPr txBox="1"/>
          <p:nvPr/>
        </p:nvSpPr>
        <p:spPr>
          <a:xfrm>
            <a:off x="1353312" y="1962401"/>
            <a:ext cx="35137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D90EE7-AA44-3B65-4E35-F687F5B222E4}"/>
              </a:ext>
            </a:extLst>
          </p:cNvPr>
          <p:cNvSpPr txBox="1"/>
          <p:nvPr/>
        </p:nvSpPr>
        <p:spPr>
          <a:xfrm>
            <a:off x="4156049" y="1962401"/>
            <a:ext cx="35137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952C06-9092-67C8-4B7E-2B215F259E2F}"/>
              </a:ext>
            </a:extLst>
          </p:cNvPr>
          <p:cNvSpPr txBox="1"/>
          <p:nvPr/>
        </p:nvSpPr>
        <p:spPr>
          <a:xfrm>
            <a:off x="2340898" y="1962401"/>
            <a:ext cx="35137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807C28-135F-1442-AB10-841E3601E188}"/>
              </a:ext>
            </a:extLst>
          </p:cNvPr>
          <p:cNvSpPr txBox="1"/>
          <p:nvPr/>
        </p:nvSpPr>
        <p:spPr>
          <a:xfrm>
            <a:off x="3248473" y="1962401"/>
            <a:ext cx="35137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EF0B35-000B-AAA7-9244-ABC6B1F1F6DD}"/>
              </a:ext>
            </a:extLst>
          </p:cNvPr>
          <p:cNvSpPr txBox="1"/>
          <p:nvPr/>
        </p:nvSpPr>
        <p:spPr>
          <a:xfrm>
            <a:off x="446499" y="3451517"/>
            <a:ext cx="35137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DFA0A5-EB5D-AFB8-8A7B-B07D222ADE4B}"/>
              </a:ext>
            </a:extLst>
          </p:cNvPr>
          <p:cNvSpPr txBox="1"/>
          <p:nvPr/>
        </p:nvSpPr>
        <p:spPr>
          <a:xfrm>
            <a:off x="446499" y="2905631"/>
            <a:ext cx="35137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257427-F8ED-B714-FDFB-2B952E09D7BD}"/>
              </a:ext>
            </a:extLst>
          </p:cNvPr>
          <p:cNvSpPr txBox="1"/>
          <p:nvPr/>
        </p:nvSpPr>
        <p:spPr>
          <a:xfrm>
            <a:off x="446499" y="3785687"/>
            <a:ext cx="35137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C4B6F4E-AA1C-682A-DA21-5A12C2611863}"/>
              </a:ext>
            </a:extLst>
          </p:cNvPr>
          <p:cNvCxnSpPr>
            <a:cxnSpLocks/>
          </p:cNvCxnSpPr>
          <p:nvPr/>
        </p:nvCxnSpPr>
        <p:spPr>
          <a:xfrm>
            <a:off x="1143000" y="2454844"/>
            <a:ext cx="3621026" cy="17148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AFA3DF7-5682-A594-C960-DD9E7A053ADC}"/>
              </a:ext>
            </a:extLst>
          </p:cNvPr>
          <p:cNvCxnSpPr>
            <a:cxnSpLocks/>
          </p:cNvCxnSpPr>
          <p:nvPr/>
        </p:nvCxnSpPr>
        <p:spPr>
          <a:xfrm flipV="1">
            <a:off x="2043667" y="2905630"/>
            <a:ext cx="2720359" cy="12761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F2D05D3-7BBA-6FF9-85EA-8F7239D0F6DB}"/>
              </a:ext>
            </a:extLst>
          </p:cNvPr>
          <p:cNvCxnSpPr>
            <a:cxnSpLocks/>
          </p:cNvCxnSpPr>
          <p:nvPr/>
        </p:nvCxnSpPr>
        <p:spPr>
          <a:xfrm>
            <a:off x="3383280" y="2448022"/>
            <a:ext cx="20566" cy="17216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14BD007-8CD5-2DB0-6141-A6FB9F670146}"/>
              </a:ext>
            </a:extLst>
          </p:cNvPr>
          <p:cNvCxnSpPr/>
          <p:nvPr/>
        </p:nvCxnSpPr>
        <p:spPr>
          <a:xfrm>
            <a:off x="1143000" y="3592510"/>
            <a:ext cx="34838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1AE14FB-79B0-26F3-A4EB-87230950AF18}"/>
              </a:ext>
            </a:extLst>
          </p:cNvPr>
          <p:cNvSpPr txBox="1"/>
          <p:nvPr/>
        </p:nvSpPr>
        <p:spPr>
          <a:xfrm>
            <a:off x="3154693" y="3374706"/>
            <a:ext cx="61106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Q1</a:t>
            </a:r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865ABB87-9B44-0E97-36F1-1FC242889EDD}"/>
              </a:ext>
            </a:extLst>
          </p:cNvPr>
          <p:cNvSpPr/>
          <p:nvPr/>
        </p:nvSpPr>
        <p:spPr>
          <a:xfrm>
            <a:off x="2450592" y="4261102"/>
            <a:ext cx="301786" cy="292610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69881A5-708D-D2BA-1F88-F2A82585EC9B}"/>
              </a:ext>
            </a:extLst>
          </p:cNvPr>
          <p:cNvSpPr txBox="1"/>
          <p:nvPr/>
        </p:nvSpPr>
        <p:spPr>
          <a:xfrm>
            <a:off x="1137284" y="4427973"/>
            <a:ext cx="325159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Attacking area of Q1.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24F55A6-264F-B754-127B-DB2BA9148A6F}"/>
              </a:ext>
            </a:extLst>
          </p:cNvPr>
          <p:cNvSpPr txBox="1"/>
          <p:nvPr/>
        </p:nvSpPr>
        <p:spPr>
          <a:xfrm>
            <a:off x="5034406" y="2968240"/>
            <a:ext cx="4722242" cy="2339102"/>
          </a:xfrm>
          <a:prstGeom prst="rect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Condition: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Column: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C1==C2 [not safe]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2.Row: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R1==R2 [not safe]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3.Diagonal: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abs(C1-C2)==abs(R1-R2) [not safe]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087EF0-F6BD-0F46-15F8-5DB363AD7597}"/>
              </a:ext>
            </a:extLst>
          </p:cNvPr>
          <p:cNvSpPr txBox="1"/>
          <p:nvPr/>
        </p:nvSpPr>
        <p:spPr>
          <a:xfrm>
            <a:off x="4651314" y="6483096"/>
            <a:ext cx="301686" cy="36933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788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26" grpId="0"/>
      <p:bldP spid="28" grpId="0" animBg="1"/>
      <p:bldP spid="29" grpId="0"/>
      <p:bldP spid="3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A06840-98E5-42F7-7E32-F821AB6CE457}"/>
              </a:ext>
            </a:extLst>
          </p:cNvPr>
          <p:cNvSpPr txBox="1"/>
          <p:nvPr/>
        </p:nvSpPr>
        <p:spPr>
          <a:xfrm>
            <a:off x="466344" y="676657"/>
            <a:ext cx="76915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Example: 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(Q1,Q2,Q3,Q4) 4 Queens insertion,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FDEB6A6-7008-DE3E-E942-7087682D0A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9027550"/>
              </p:ext>
            </p:extLst>
          </p:nvPr>
        </p:nvGraphicFramePr>
        <p:xfrm>
          <a:off x="932688" y="2639056"/>
          <a:ext cx="3136390" cy="194209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27278">
                  <a:extLst>
                    <a:ext uri="{9D8B030D-6E8A-4147-A177-3AD203B41FA5}">
                      <a16:colId xmlns:a16="http://schemas.microsoft.com/office/drawing/2014/main" val="497511495"/>
                    </a:ext>
                  </a:extLst>
                </a:gridCol>
                <a:gridCol w="627278">
                  <a:extLst>
                    <a:ext uri="{9D8B030D-6E8A-4147-A177-3AD203B41FA5}">
                      <a16:colId xmlns:a16="http://schemas.microsoft.com/office/drawing/2014/main" val="1527417883"/>
                    </a:ext>
                  </a:extLst>
                </a:gridCol>
                <a:gridCol w="627278">
                  <a:extLst>
                    <a:ext uri="{9D8B030D-6E8A-4147-A177-3AD203B41FA5}">
                      <a16:colId xmlns:a16="http://schemas.microsoft.com/office/drawing/2014/main" val="488504481"/>
                    </a:ext>
                  </a:extLst>
                </a:gridCol>
                <a:gridCol w="627278">
                  <a:extLst>
                    <a:ext uri="{9D8B030D-6E8A-4147-A177-3AD203B41FA5}">
                      <a16:colId xmlns:a16="http://schemas.microsoft.com/office/drawing/2014/main" val="2600094501"/>
                    </a:ext>
                  </a:extLst>
                </a:gridCol>
                <a:gridCol w="627278">
                  <a:extLst>
                    <a:ext uri="{9D8B030D-6E8A-4147-A177-3AD203B41FA5}">
                      <a16:colId xmlns:a16="http://schemas.microsoft.com/office/drawing/2014/main" val="2807645015"/>
                    </a:ext>
                  </a:extLst>
                </a:gridCol>
              </a:tblGrid>
              <a:tr h="388418">
                <a:tc>
                  <a:txBody>
                    <a:bodyPr/>
                    <a:lstStyle/>
                    <a:p>
                      <a:endParaRPr lang="en-US" b="0" u="sng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4854148"/>
                  </a:ext>
                </a:extLst>
              </a:tr>
              <a:tr h="38841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2"/>
                          </a:solidFill>
                        </a:rPr>
                        <a:t>Q1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600395"/>
                  </a:ext>
                </a:extLst>
              </a:tr>
              <a:tr h="388418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812765"/>
                  </a:ext>
                </a:extLst>
              </a:tr>
              <a:tr h="388418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490393"/>
                  </a:ext>
                </a:extLst>
              </a:tr>
              <a:tr h="388418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1322514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53E25191-C565-A4B9-83E6-5CA3B6DD1B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6612431"/>
              </p:ext>
            </p:extLst>
          </p:nvPr>
        </p:nvGraphicFramePr>
        <p:xfrm>
          <a:off x="5462022" y="2629912"/>
          <a:ext cx="3136390" cy="194209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27278">
                  <a:extLst>
                    <a:ext uri="{9D8B030D-6E8A-4147-A177-3AD203B41FA5}">
                      <a16:colId xmlns:a16="http://schemas.microsoft.com/office/drawing/2014/main" val="497511495"/>
                    </a:ext>
                  </a:extLst>
                </a:gridCol>
                <a:gridCol w="627278">
                  <a:extLst>
                    <a:ext uri="{9D8B030D-6E8A-4147-A177-3AD203B41FA5}">
                      <a16:colId xmlns:a16="http://schemas.microsoft.com/office/drawing/2014/main" val="1527417883"/>
                    </a:ext>
                  </a:extLst>
                </a:gridCol>
                <a:gridCol w="627278">
                  <a:extLst>
                    <a:ext uri="{9D8B030D-6E8A-4147-A177-3AD203B41FA5}">
                      <a16:colId xmlns:a16="http://schemas.microsoft.com/office/drawing/2014/main" val="488504481"/>
                    </a:ext>
                  </a:extLst>
                </a:gridCol>
                <a:gridCol w="627278">
                  <a:extLst>
                    <a:ext uri="{9D8B030D-6E8A-4147-A177-3AD203B41FA5}">
                      <a16:colId xmlns:a16="http://schemas.microsoft.com/office/drawing/2014/main" val="2600094501"/>
                    </a:ext>
                  </a:extLst>
                </a:gridCol>
                <a:gridCol w="627278">
                  <a:extLst>
                    <a:ext uri="{9D8B030D-6E8A-4147-A177-3AD203B41FA5}">
                      <a16:colId xmlns:a16="http://schemas.microsoft.com/office/drawing/2014/main" val="2807645015"/>
                    </a:ext>
                  </a:extLst>
                </a:gridCol>
              </a:tblGrid>
              <a:tr h="388418">
                <a:tc>
                  <a:txBody>
                    <a:bodyPr/>
                    <a:lstStyle/>
                    <a:p>
                      <a:endParaRPr lang="en-US" b="0" u="sng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4854148"/>
                  </a:ext>
                </a:extLst>
              </a:tr>
              <a:tr h="38841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Q1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600395"/>
                  </a:ext>
                </a:extLst>
              </a:tr>
              <a:tr h="388418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Q2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812765"/>
                  </a:ext>
                </a:extLst>
              </a:tr>
              <a:tr h="388418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490393"/>
                  </a:ext>
                </a:extLst>
              </a:tr>
              <a:tr h="388418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1322514"/>
                  </a:ext>
                </a:extLst>
              </a:tr>
            </a:tbl>
          </a:graphicData>
        </a:graphic>
      </p:graphicFrame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81A2E76-CD5B-9E54-9977-0115DA843A81}"/>
              </a:ext>
            </a:extLst>
          </p:cNvPr>
          <p:cNvCxnSpPr/>
          <p:nvPr/>
        </p:nvCxnSpPr>
        <p:spPr>
          <a:xfrm>
            <a:off x="6592824" y="3337560"/>
            <a:ext cx="2005588" cy="12344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5070B67-0368-3EB9-2CC2-4254E6C4AD72}"/>
              </a:ext>
            </a:extLst>
          </p:cNvPr>
          <p:cNvCxnSpPr>
            <a:cxnSpLocks/>
          </p:cNvCxnSpPr>
          <p:nvPr/>
        </p:nvCxnSpPr>
        <p:spPr>
          <a:xfrm>
            <a:off x="6318504" y="3419856"/>
            <a:ext cx="3044" cy="996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6D8AF04-D926-6840-74F0-3154CC8EBE75}"/>
              </a:ext>
            </a:extLst>
          </p:cNvPr>
          <p:cNvCxnSpPr/>
          <p:nvPr/>
        </p:nvCxnSpPr>
        <p:spPr>
          <a:xfrm>
            <a:off x="6928104" y="3236976"/>
            <a:ext cx="15849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2BECAC3D-024E-BB6C-C769-861AF80BD91D}"/>
              </a:ext>
            </a:extLst>
          </p:cNvPr>
          <p:cNvSpPr txBox="1"/>
          <p:nvPr/>
        </p:nvSpPr>
        <p:spPr>
          <a:xfrm>
            <a:off x="6138667" y="4542784"/>
            <a:ext cx="17299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Q2 inserted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67DE0AB-E7A4-67AF-3973-D6B34C84BC9A}"/>
              </a:ext>
            </a:extLst>
          </p:cNvPr>
          <p:cNvSpPr txBox="1"/>
          <p:nvPr/>
        </p:nvSpPr>
        <p:spPr>
          <a:xfrm>
            <a:off x="1745834" y="4532457"/>
            <a:ext cx="181331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Q1 inserted.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159AB0A-FD34-48F4-5BBA-006ADF9AF2E1}"/>
              </a:ext>
            </a:extLst>
          </p:cNvPr>
          <p:cNvSpPr txBox="1"/>
          <p:nvPr/>
        </p:nvSpPr>
        <p:spPr>
          <a:xfrm>
            <a:off x="722376" y="1939419"/>
            <a:ext cx="112082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C5598F1-5784-4F87-CB41-84B4D8B828EC}"/>
              </a:ext>
            </a:extLst>
          </p:cNvPr>
          <p:cNvSpPr txBox="1"/>
          <p:nvPr/>
        </p:nvSpPr>
        <p:spPr>
          <a:xfrm>
            <a:off x="5197684" y="1970978"/>
            <a:ext cx="112082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7DB71A-2640-3B97-51DF-12E7C95157D9}"/>
              </a:ext>
            </a:extLst>
          </p:cNvPr>
          <p:cNvSpPr txBox="1"/>
          <p:nvPr/>
        </p:nvSpPr>
        <p:spPr>
          <a:xfrm>
            <a:off x="4651314" y="6483096"/>
            <a:ext cx="301686" cy="36933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77925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60" grpId="0"/>
      <p:bldP spid="81" grpId="0"/>
      <p:bldP spid="8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E1A86-7D5B-6158-F825-E6ABE73BB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F4107A8D-7F5A-D565-E146-6EC2055842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1596479"/>
              </p:ext>
            </p:extLst>
          </p:nvPr>
        </p:nvGraphicFramePr>
        <p:xfrm>
          <a:off x="1111035" y="1720924"/>
          <a:ext cx="3136390" cy="194209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27278">
                  <a:extLst>
                    <a:ext uri="{9D8B030D-6E8A-4147-A177-3AD203B41FA5}">
                      <a16:colId xmlns:a16="http://schemas.microsoft.com/office/drawing/2014/main" val="497511495"/>
                    </a:ext>
                  </a:extLst>
                </a:gridCol>
                <a:gridCol w="627278">
                  <a:extLst>
                    <a:ext uri="{9D8B030D-6E8A-4147-A177-3AD203B41FA5}">
                      <a16:colId xmlns:a16="http://schemas.microsoft.com/office/drawing/2014/main" val="1527417883"/>
                    </a:ext>
                  </a:extLst>
                </a:gridCol>
                <a:gridCol w="627278">
                  <a:extLst>
                    <a:ext uri="{9D8B030D-6E8A-4147-A177-3AD203B41FA5}">
                      <a16:colId xmlns:a16="http://schemas.microsoft.com/office/drawing/2014/main" val="488504481"/>
                    </a:ext>
                  </a:extLst>
                </a:gridCol>
                <a:gridCol w="627278">
                  <a:extLst>
                    <a:ext uri="{9D8B030D-6E8A-4147-A177-3AD203B41FA5}">
                      <a16:colId xmlns:a16="http://schemas.microsoft.com/office/drawing/2014/main" val="2600094501"/>
                    </a:ext>
                  </a:extLst>
                </a:gridCol>
                <a:gridCol w="627278">
                  <a:extLst>
                    <a:ext uri="{9D8B030D-6E8A-4147-A177-3AD203B41FA5}">
                      <a16:colId xmlns:a16="http://schemas.microsoft.com/office/drawing/2014/main" val="2807645015"/>
                    </a:ext>
                  </a:extLst>
                </a:gridCol>
              </a:tblGrid>
              <a:tr h="388418">
                <a:tc>
                  <a:txBody>
                    <a:bodyPr/>
                    <a:lstStyle/>
                    <a:p>
                      <a:endParaRPr lang="en-US" b="0" u="sng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4854148"/>
                  </a:ext>
                </a:extLst>
              </a:tr>
              <a:tr h="38841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Q1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600395"/>
                  </a:ext>
                </a:extLst>
              </a:tr>
              <a:tr h="388418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Q2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812765"/>
                  </a:ext>
                </a:extLst>
              </a:tr>
              <a:tr h="388418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490393"/>
                  </a:ext>
                </a:extLst>
              </a:tr>
              <a:tr h="388418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1322514"/>
                  </a:ext>
                </a:extLst>
              </a:tr>
            </a:tbl>
          </a:graphicData>
        </a:graphic>
      </p:graphicFrame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7C868AF-F1E9-2D3D-4967-633528A31A0B}"/>
              </a:ext>
            </a:extLst>
          </p:cNvPr>
          <p:cNvCxnSpPr/>
          <p:nvPr/>
        </p:nvCxnSpPr>
        <p:spPr>
          <a:xfrm>
            <a:off x="2010195" y="2620596"/>
            <a:ext cx="0" cy="8869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8F333A2-69DF-26E3-E667-C32A76988045}"/>
              </a:ext>
            </a:extLst>
          </p:cNvPr>
          <p:cNvCxnSpPr/>
          <p:nvPr/>
        </p:nvCxnSpPr>
        <p:spPr>
          <a:xfrm flipH="1">
            <a:off x="1717587" y="2766900"/>
            <a:ext cx="1371600" cy="8229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ED748D6-79AA-7DA8-7CB6-F77CEBD703F0}"/>
              </a:ext>
            </a:extLst>
          </p:cNvPr>
          <p:cNvCxnSpPr/>
          <p:nvPr/>
        </p:nvCxnSpPr>
        <p:spPr>
          <a:xfrm>
            <a:off x="3198915" y="2922348"/>
            <a:ext cx="0" cy="5852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0E0AA67-5E8B-3875-1039-3E2001BDF4DF}"/>
              </a:ext>
            </a:extLst>
          </p:cNvPr>
          <p:cNvCxnSpPr>
            <a:cxnSpLocks/>
          </p:cNvCxnSpPr>
          <p:nvPr/>
        </p:nvCxnSpPr>
        <p:spPr>
          <a:xfrm>
            <a:off x="3518955" y="2766900"/>
            <a:ext cx="469392" cy="4114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A83391B4-2D39-AAEF-3E46-9AC68E28A6BE}"/>
              </a:ext>
            </a:extLst>
          </p:cNvPr>
          <p:cNvSpPr txBox="1"/>
          <p:nvPr/>
        </p:nvSpPr>
        <p:spPr>
          <a:xfrm>
            <a:off x="382566" y="3794577"/>
            <a:ext cx="3864859" cy="16927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Q3 is not possible in 3</a:t>
            </a:r>
            <a:r>
              <a:rPr lang="en-US" sz="2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row. So return back into 2</a:t>
            </a:r>
            <a:r>
              <a:rPr lang="en-US" sz="2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row for changing the position of Q2.</a:t>
            </a:r>
          </a:p>
        </p:txBody>
      </p:sp>
      <p:sp>
        <p:nvSpPr>
          <p:cNvPr id="56" name="Arrow: Curved Down 55">
            <a:extLst>
              <a:ext uri="{FF2B5EF4-FFF2-40B4-BE49-F238E27FC236}">
                <a16:creationId xmlns:a16="http://schemas.microsoft.com/office/drawing/2014/main" id="{41EF2BDE-2FB0-B93C-16AC-E5ADD51746D3}"/>
              </a:ext>
            </a:extLst>
          </p:cNvPr>
          <p:cNvSpPr/>
          <p:nvPr/>
        </p:nvSpPr>
        <p:spPr>
          <a:xfrm rot="16200000">
            <a:off x="739944" y="2693749"/>
            <a:ext cx="347469" cy="320040"/>
          </a:xfrm>
          <a:prstGeom prst="curved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6E611624-81FA-4A10-C186-7BAA1E3D7F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5938867"/>
              </p:ext>
            </p:extLst>
          </p:nvPr>
        </p:nvGraphicFramePr>
        <p:xfrm>
          <a:off x="5720351" y="1796122"/>
          <a:ext cx="3136390" cy="194209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27278">
                  <a:extLst>
                    <a:ext uri="{9D8B030D-6E8A-4147-A177-3AD203B41FA5}">
                      <a16:colId xmlns:a16="http://schemas.microsoft.com/office/drawing/2014/main" val="497511495"/>
                    </a:ext>
                  </a:extLst>
                </a:gridCol>
                <a:gridCol w="627278">
                  <a:extLst>
                    <a:ext uri="{9D8B030D-6E8A-4147-A177-3AD203B41FA5}">
                      <a16:colId xmlns:a16="http://schemas.microsoft.com/office/drawing/2014/main" val="1527417883"/>
                    </a:ext>
                  </a:extLst>
                </a:gridCol>
                <a:gridCol w="627278">
                  <a:extLst>
                    <a:ext uri="{9D8B030D-6E8A-4147-A177-3AD203B41FA5}">
                      <a16:colId xmlns:a16="http://schemas.microsoft.com/office/drawing/2014/main" val="488504481"/>
                    </a:ext>
                  </a:extLst>
                </a:gridCol>
                <a:gridCol w="627278">
                  <a:extLst>
                    <a:ext uri="{9D8B030D-6E8A-4147-A177-3AD203B41FA5}">
                      <a16:colId xmlns:a16="http://schemas.microsoft.com/office/drawing/2014/main" val="2600094501"/>
                    </a:ext>
                  </a:extLst>
                </a:gridCol>
                <a:gridCol w="627278">
                  <a:extLst>
                    <a:ext uri="{9D8B030D-6E8A-4147-A177-3AD203B41FA5}">
                      <a16:colId xmlns:a16="http://schemas.microsoft.com/office/drawing/2014/main" val="2807645015"/>
                    </a:ext>
                  </a:extLst>
                </a:gridCol>
              </a:tblGrid>
              <a:tr h="388418">
                <a:tc>
                  <a:txBody>
                    <a:bodyPr/>
                    <a:lstStyle/>
                    <a:p>
                      <a:endParaRPr lang="en-US" b="0" u="sng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4854148"/>
                  </a:ext>
                </a:extLst>
              </a:tr>
              <a:tr h="38841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Q1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600395"/>
                  </a:ext>
                </a:extLst>
              </a:tr>
              <a:tr h="388418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Q2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812765"/>
                  </a:ext>
                </a:extLst>
              </a:tr>
              <a:tr h="388418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490393"/>
                  </a:ext>
                </a:extLst>
              </a:tr>
              <a:tr h="388418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1322514"/>
                  </a:ext>
                </a:extLst>
              </a:tr>
            </a:tbl>
          </a:graphicData>
        </a:graphic>
      </p:graphicFrame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FD9D693-3617-AE96-DA02-684AA94EB058}"/>
              </a:ext>
            </a:extLst>
          </p:cNvPr>
          <p:cNvCxnSpPr>
            <a:cxnSpLocks/>
          </p:cNvCxnSpPr>
          <p:nvPr/>
        </p:nvCxnSpPr>
        <p:spPr>
          <a:xfrm>
            <a:off x="7012707" y="2576925"/>
            <a:ext cx="1844034" cy="11125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AC7F06D-9FF7-D1F3-4C4A-25C234F7E41E}"/>
              </a:ext>
            </a:extLst>
          </p:cNvPr>
          <p:cNvCxnSpPr>
            <a:cxnSpLocks/>
          </p:cNvCxnSpPr>
          <p:nvPr/>
        </p:nvCxnSpPr>
        <p:spPr>
          <a:xfrm>
            <a:off x="6738387" y="2640933"/>
            <a:ext cx="0" cy="10972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52199BDE-3A7A-17EA-7672-A5E01E3AFA88}"/>
              </a:ext>
            </a:extLst>
          </p:cNvPr>
          <p:cNvCxnSpPr>
            <a:cxnSpLocks/>
          </p:cNvCxnSpPr>
          <p:nvPr/>
        </p:nvCxnSpPr>
        <p:spPr>
          <a:xfrm>
            <a:off x="7227591" y="2430621"/>
            <a:ext cx="14743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67A0B650-10D0-5A65-68BD-4B0CAEF4EFDF}"/>
              </a:ext>
            </a:extLst>
          </p:cNvPr>
          <p:cNvCxnSpPr>
            <a:cxnSpLocks/>
          </p:cNvCxnSpPr>
          <p:nvPr/>
        </p:nvCxnSpPr>
        <p:spPr>
          <a:xfrm>
            <a:off x="8491619" y="2924397"/>
            <a:ext cx="0" cy="76505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063AE27A-FD41-19B9-ADD9-C62D5A852B0E}"/>
              </a:ext>
            </a:extLst>
          </p:cNvPr>
          <p:cNvCxnSpPr>
            <a:cxnSpLocks/>
          </p:cNvCxnSpPr>
          <p:nvPr/>
        </p:nvCxnSpPr>
        <p:spPr>
          <a:xfrm>
            <a:off x="6893835" y="2837274"/>
            <a:ext cx="16002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339C798-68C9-8C1F-6EF7-08FFA73224AC}"/>
              </a:ext>
            </a:extLst>
          </p:cNvPr>
          <p:cNvCxnSpPr>
            <a:cxnSpLocks/>
          </p:cNvCxnSpPr>
          <p:nvPr/>
        </p:nvCxnSpPr>
        <p:spPr>
          <a:xfrm flipH="1">
            <a:off x="7108147" y="2872579"/>
            <a:ext cx="1264600" cy="76505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0BD6D3DE-D1AD-DB09-F48C-A8A4EEDCF15C}"/>
              </a:ext>
            </a:extLst>
          </p:cNvPr>
          <p:cNvSpPr txBox="1"/>
          <p:nvPr/>
        </p:nvSpPr>
        <p:spPr>
          <a:xfrm>
            <a:off x="4914691" y="4125493"/>
            <a:ext cx="472307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position of Q2 is now changed and the position (3,2) of given table is now safe. So here we can add Q3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E0C0D6C-4A75-DF8C-220C-5CCD467F82A7}"/>
              </a:ext>
            </a:extLst>
          </p:cNvPr>
          <p:cNvSpPr txBox="1"/>
          <p:nvPr/>
        </p:nvSpPr>
        <p:spPr>
          <a:xfrm>
            <a:off x="1717587" y="1320814"/>
            <a:ext cx="31363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Q3 insertion,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4F191F7-DB18-93DA-FDE3-FED9D3A4EADA}"/>
              </a:ext>
            </a:extLst>
          </p:cNvPr>
          <p:cNvSpPr txBox="1"/>
          <p:nvPr/>
        </p:nvSpPr>
        <p:spPr>
          <a:xfrm>
            <a:off x="570778" y="1000804"/>
            <a:ext cx="112082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2AB9056-4A6D-1561-13DC-FB2666C3666C}"/>
              </a:ext>
            </a:extLst>
          </p:cNvPr>
          <p:cNvSpPr txBox="1"/>
          <p:nvPr/>
        </p:nvSpPr>
        <p:spPr>
          <a:xfrm>
            <a:off x="4875309" y="886526"/>
            <a:ext cx="112082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FFDAE8-E58B-2F76-9A76-063E87B0B40D}"/>
              </a:ext>
            </a:extLst>
          </p:cNvPr>
          <p:cNvSpPr txBox="1"/>
          <p:nvPr/>
        </p:nvSpPr>
        <p:spPr>
          <a:xfrm>
            <a:off x="4651314" y="6483096"/>
            <a:ext cx="301686" cy="36933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D84B78A-11B3-3C2C-7F4A-9A055545967E}"/>
              </a:ext>
            </a:extLst>
          </p:cNvPr>
          <p:cNvSpPr/>
          <p:nvPr/>
        </p:nvSpPr>
        <p:spPr>
          <a:xfrm rot="5400000">
            <a:off x="7087789" y="3831161"/>
            <a:ext cx="298716" cy="21183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07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80" grpId="0"/>
      <p:bldP spid="84" grpId="0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DCCD2-4A5A-00B1-0ECF-6FFFE3ECC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A9CB3B1-0456-97F8-4D17-6C3CBF1E16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3489683"/>
              </p:ext>
            </p:extLst>
          </p:nvPr>
        </p:nvGraphicFramePr>
        <p:xfrm>
          <a:off x="694944" y="2090415"/>
          <a:ext cx="3136390" cy="194209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27278">
                  <a:extLst>
                    <a:ext uri="{9D8B030D-6E8A-4147-A177-3AD203B41FA5}">
                      <a16:colId xmlns:a16="http://schemas.microsoft.com/office/drawing/2014/main" val="497511495"/>
                    </a:ext>
                  </a:extLst>
                </a:gridCol>
                <a:gridCol w="627278">
                  <a:extLst>
                    <a:ext uri="{9D8B030D-6E8A-4147-A177-3AD203B41FA5}">
                      <a16:colId xmlns:a16="http://schemas.microsoft.com/office/drawing/2014/main" val="1527417883"/>
                    </a:ext>
                  </a:extLst>
                </a:gridCol>
                <a:gridCol w="627278">
                  <a:extLst>
                    <a:ext uri="{9D8B030D-6E8A-4147-A177-3AD203B41FA5}">
                      <a16:colId xmlns:a16="http://schemas.microsoft.com/office/drawing/2014/main" val="488504481"/>
                    </a:ext>
                  </a:extLst>
                </a:gridCol>
                <a:gridCol w="627278">
                  <a:extLst>
                    <a:ext uri="{9D8B030D-6E8A-4147-A177-3AD203B41FA5}">
                      <a16:colId xmlns:a16="http://schemas.microsoft.com/office/drawing/2014/main" val="2600094501"/>
                    </a:ext>
                  </a:extLst>
                </a:gridCol>
                <a:gridCol w="627278">
                  <a:extLst>
                    <a:ext uri="{9D8B030D-6E8A-4147-A177-3AD203B41FA5}">
                      <a16:colId xmlns:a16="http://schemas.microsoft.com/office/drawing/2014/main" val="2807645015"/>
                    </a:ext>
                  </a:extLst>
                </a:gridCol>
              </a:tblGrid>
              <a:tr h="388418">
                <a:tc>
                  <a:txBody>
                    <a:bodyPr/>
                    <a:lstStyle/>
                    <a:p>
                      <a:endParaRPr lang="en-US" b="0" u="sng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4854148"/>
                  </a:ext>
                </a:extLst>
              </a:tr>
              <a:tr h="38841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2"/>
                          </a:solidFill>
                        </a:rPr>
                        <a:t>Q1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600395"/>
                  </a:ext>
                </a:extLst>
              </a:tr>
              <a:tr h="388418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Q2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812765"/>
                  </a:ext>
                </a:extLst>
              </a:tr>
              <a:tr h="388418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Q3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490393"/>
                  </a:ext>
                </a:extLst>
              </a:tr>
              <a:tr h="388418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1322514"/>
                  </a:ext>
                </a:extLst>
              </a:tr>
            </a:tbl>
          </a:graphicData>
        </a:graphic>
      </p:graphicFrame>
      <p:sp>
        <p:nvSpPr>
          <p:cNvPr id="60" name="TextBox 59">
            <a:extLst>
              <a:ext uri="{FF2B5EF4-FFF2-40B4-BE49-F238E27FC236}">
                <a16:creationId xmlns:a16="http://schemas.microsoft.com/office/drawing/2014/main" id="{94FE927D-E5BC-EE30-7DB8-6884BA2172D9}"/>
              </a:ext>
            </a:extLst>
          </p:cNvPr>
          <p:cNvSpPr txBox="1"/>
          <p:nvPr/>
        </p:nvSpPr>
        <p:spPr>
          <a:xfrm>
            <a:off x="1398362" y="4047825"/>
            <a:ext cx="181331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Q3 inserted.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09E477-C159-B546-CB00-82EAF6CB8002}"/>
              </a:ext>
            </a:extLst>
          </p:cNvPr>
          <p:cNvSpPr txBox="1"/>
          <p:nvPr/>
        </p:nvSpPr>
        <p:spPr>
          <a:xfrm>
            <a:off x="6301632" y="1019777"/>
            <a:ext cx="2472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Q4 insertion,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5729EB4-4DB3-FA4D-E889-7D9379FFCC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542024"/>
              </p:ext>
            </p:extLst>
          </p:nvPr>
        </p:nvGraphicFramePr>
        <p:xfrm>
          <a:off x="5969514" y="1605784"/>
          <a:ext cx="3014255" cy="194209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27278">
                  <a:extLst>
                    <a:ext uri="{9D8B030D-6E8A-4147-A177-3AD203B41FA5}">
                      <a16:colId xmlns:a16="http://schemas.microsoft.com/office/drawing/2014/main" val="497511495"/>
                    </a:ext>
                  </a:extLst>
                </a:gridCol>
                <a:gridCol w="627278">
                  <a:extLst>
                    <a:ext uri="{9D8B030D-6E8A-4147-A177-3AD203B41FA5}">
                      <a16:colId xmlns:a16="http://schemas.microsoft.com/office/drawing/2014/main" val="1527417883"/>
                    </a:ext>
                  </a:extLst>
                </a:gridCol>
                <a:gridCol w="505143">
                  <a:extLst>
                    <a:ext uri="{9D8B030D-6E8A-4147-A177-3AD203B41FA5}">
                      <a16:colId xmlns:a16="http://schemas.microsoft.com/office/drawing/2014/main" val="488504481"/>
                    </a:ext>
                  </a:extLst>
                </a:gridCol>
                <a:gridCol w="627278">
                  <a:extLst>
                    <a:ext uri="{9D8B030D-6E8A-4147-A177-3AD203B41FA5}">
                      <a16:colId xmlns:a16="http://schemas.microsoft.com/office/drawing/2014/main" val="2600094501"/>
                    </a:ext>
                  </a:extLst>
                </a:gridCol>
                <a:gridCol w="627278">
                  <a:extLst>
                    <a:ext uri="{9D8B030D-6E8A-4147-A177-3AD203B41FA5}">
                      <a16:colId xmlns:a16="http://schemas.microsoft.com/office/drawing/2014/main" val="2807645015"/>
                    </a:ext>
                  </a:extLst>
                </a:gridCol>
              </a:tblGrid>
              <a:tr h="388418">
                <a:tc>
                  <a:txBody>
                    <a:bodyPr/>
                    <a:lstStyle/>
                    <a:p>
                      <a:endParaRPr lang="en-US" b="0" u="sng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4854148"/>
                  </a:ext>
                </a:extLst>
              </a:tr>
              <a:tr h="38841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2"/>
                          </a:solidFill>
                        </a:rPr>
                        <a:t>Q1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600395"/>
                  </a:ext>
                </a:extLst>
              </a:tr>
              <a:tr h="388418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Q2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812765"/>
                  </a:ext>
                </a:extLst>
              </a:tr>
              <a:tr h="388418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Q3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490393"/>
                  </a:ext>
                </a:extLst>
              </a:tr>
              <a:tr h="388418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1322514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1A64448-2AEE-7162-B170-D39ADC97AACA}"/>
              </a:ext>
            </a:extLst>
          </p:cNvPr>
          <p:cNvCxnSpPr>
            <a:cxnSpLocks/>
          </p:cNvCxnSpPr>
          <p:nvPr/>
        </p:nvCxnSpPr>
        <p:spPr>
          <a:xfrm>
            <a:off x="7104889" y="2304288"/>
            <a:ext cx="1878880" cy="12435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EB99FD-85B4-C44A-AA44-944E0C401742}"/>
              </a:ext>
            </a:extLst>
          </p:cNvPr>
          <p:cNvCxnSpPr>
            <a:cxnSpLocks/>
          </p:cNvCxnSpPr>
          <p:nvPr/>
        </p:nvCxnSpPr>
        <p:spPr>
          <a:xfrm>
            <a:off x="6850471" y="2386584"/>
            <a:ext cx="0" cy="1112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AFD1FE-88AB-D64B-0173-0F03C4A862A2}"/>
              </a:ext>
            </a:extLst>
          </p:cNvPr>
          <p:cNvCxnSpPr>
            <a:cxnSpLocks/>
          </p:cNvCxnSpPr>
          <p:nvPr/>
        </p:nvCxnSpPr>
        <p:spPr>
          <a:xfrm>
            <a:off x="7214617" y="2148840"/>
            <a:ext cx="17691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53584C0-2E11-13B3-8C3D-D2FC90112439}"/>
              </a:ext>
            </a:extLst>
          </p:cNvPr>
          <p:cNvCxnSpPr>
            <a:cxnSpLocks/>
          </p:cNvCxnSpPr>
          <p:nvPr/>
        </p:nvCxnSpPr>
        <p:spPr>
          <a:xfrm>
            <a:off x="7537707" y="3182112"/>
            <a:ext cx="0" cy="3657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9B1C3F6-28F3-1D84-09D5-718292D74BA9}"/>
              </a:ext>
            </a:extLst>
          </p:cNvPr>
          <p:cNvCxnSpPr>
            <a:cxnSpLocks/>
          </p:cNvCxnSpPr>
          <p:nvPr/>
        </p:nvCxnSpPr>
        <p:spPr>
          <a:xfrm flipH="1">
            <a:off x="7882128" y="2660904"/>
            <a:ext cx="694944" cy="8382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768C415-6AE3-FC58-A0C0-82984619B1F3}"/>
              </a:ext>
            </a:extLst>
          </p:cNvPr>
          <p:cNvSpPr txBox="1"/>
          <p:nvPr/>
        </p:nvSpPr>
        <p:spPr>
          <a:xfrm>
            <a:off x="4526282" y="3846142"/>
            <a:ext cx="5157214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possible to insert Q4 in 4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row. So we have to change the position of Q1. If we change the position of Q1, then the position of Q2 &amp; Q3 would be changed. Return back from 4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row to 3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row, from 3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row to 2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row and 2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row to 1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row.</a:t>
            </a:r>
          </a:p>
        </p:txBody>
      </p:sp>
      <p:sp>
        <p:nvSpPr>
          <p:cNvPr id="16" name="Arrow: Curved Down 15">
            <a:extLst>
              <a:ext uri="{FF2B5EF4-FFF2-40B4-BE49-F238E27FC236}">
                <a16:creationId xmlns:a16="http://schemas.microsoft.com/office/drawing/2014/main" id="{D36D62CB-389F-4BB7-BE7B-C367AC4134D1}"/>
              </a:ext>
            </a:extLst>
          </p:cNvPr>
          <p:cNvSpPr/>
          <p:nvPr/>
        </p:nvSpPr>
        <p:spPr>
          <a:xfrm rot="16200000">
            <a:off x="5536695" y="2995661"/>
            <a:ext cx="432819" cy="369332"/>
          </a:xfrm>
          <a:prstGeom prst="curved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Arrow: Curved Down 17">
            <a:extLst>
              <a:ext uri="{FF2B5EF4-FFF2-40B4-BE49-F238E27FC236}">
                <a16:creationId xmlns:a16="http://schemas.microsoft.com/office/drawing/2014/main" id="{F4ED0480-5BE6-BC59-1E02-45E1D524AF7A}"/>
              </a:ext>
            </a:extLst>
          </p:cNvPr>
          <p:cNvSpPr/>
          <p:nvPr/>
        </p:nvSpPr>
        <p:spPr>
          <a:xfrm rot="16200000">
            <a:off x="5536695" y="2525005"/>
            <a:ext cx="432819" cy="369332"/>
          </a:xfrm>
          <a:prstGeom prst="curved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Arrow: Curved Down 18">
            <a:extLst>
              <a:ext uri="{FF2B5EF4-FFF2-40B4-BE49-F238E27FC236}">
                <a16:creationId xmlns:a16="http://schemas.microsoft.com/office/drawing/2014/main" id="{2E2511CE-0657-B6C0-4EB1-F713463F962D}"/>
              </a:ext>
            </a:extLst>
          </p:cNvPr>
          <p:cNvSpPr/>
          <p:nvPr/>
        </p:nvSpPr>
        <p:spPr>
          <a:xfrm rot="16200000">
            <a:off x="5561338" y="2069802"/>
            <a:ext cx="432819" cy="369332"/>
          </a:xfrm>
          <a:prstGeom prst="curved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FD532A3-0022-788F-685A-EBDA2599D8B4}"/>
              </a:ext>
            </a:extLst>
          </p:cNvPr>
          <p:cNvSpPr txBox="1"/>
          <p:nvPr/>
        </p:nvSpPr>
        <p:spPr>
          <a:xfrm>
            <a:off x="436286" y="1374674"/>
            <a:ext cx="11208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BF87E92-200C-3A69-F6F2-5D03180921B7}"/>
              </a:ext>
            </a:extLst>
          </p:cNvPr>
          <p:cNvSpPr txBox="1"/>
          <p:nvPr/>
        </p:nvSpPr>
        <p:spPr>
          <a:xfrm>
            <a:off x="5288281" y="915196"/>
            <a:ext cx="11208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33F60A-A044-8BB7-35D4-D8A17ACE2CDF}"/>
              </a:ext>
            </a:extLst>
          </p:cNvPr>
          <p:cNvSpPr txBox="1"/>
          <p:nvPr/>
        </p:nvSpPr>
        <p:spPr>
          <a:xfrm>
            <a:off x="4651314" y="6483096"/>
            <a:ext cx="301686" cy="36933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987273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5" grpId="0" animBg="1"/>
      <p:bldP spid="16" grpId="0" animBg="1"/>
      <p:bldP spid="18" grpId="0" animBg="1"/>
      <p:bldP spid="19" grpId="0" animBg="1"/>
      <p:bldP spid="4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5274B-F4E8-2ACD-C5D4-191408FDB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5A41A3E3-E675-8877-CCA9-4715368DB1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7837460"/>
              </p:ext>
            </p:extLst>
          </p:nvPr>
        </p:nvGraphicFramePr>
        <p:xfrm>
          <a:off x="374172" y="1001553"/>
          <a:ext cx="3136390" cy="194209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27278">
                  <a:extLst>
                    <a:ext uri="{9D8B030D-6E8A-4147-A177-3AD203B41FA5}">
                      <a16:colId xmlns:a16="http://schemas.microsoft.com/office/drawing/2014/main" val="497511495"/>
                    </a:ext>
                  </a:extLst>
                </a:gridCol>
                <a:gridCol w="627278">
                  <a:extLst>
                    <a:ext uri="{9D8B030D-6E8A-4147-A177-3AD203B41FA5}">
                      <a16:colId xmlns:a16="http://schemas.microsoft.com/office/drawing/2014/main" val="1527417883"/>
                    </a:ext>
                  </a:extLst>
                </a:gridCol>
                <a:gridCol w="627278">
                  <a:extLst>
                    <a:ext uri="{9D8B030D-6E8A-4147-A177-3AD203B41FA5}">
                      <a16:colId xmlns:a16="http://schemas.microsoft.com/office/drawing/2014/main" val="488504481"/>
                    </a:ext>
                  </a:extLst>
                </a:gridCol>
                <a:gridCol w="627278">
                  <a:extLst>
                    <a:ext uri="{9D8B030D-6E8A-4147-A177-3AD203B41FA5}">
                      <a16:colId xmlns:a16="http://schemas.microsoft.com/office/drawing/2014/main" val="2600094501"/>
                    </a:ext>
                  </a:extLst>
                </a:gridCol>
                <a:gridCol w="627278">
                  <a:extLst>
                    <a:ext uri="{9D8B030D-6E8A-4147-A177-3AD203B41FA5}">
                      <a16:colId xmlns:a16="http://schemas.microsoft.com/office/drawing/2014/main" val="2807645015"/>
                    </a:ext>
                  </a:extLst>
                </a:gridCol>
              </a:tblGrid>
              <a:tr h="388418">
                <a:tc>
                  <a:txBody>
                    <a:bodyPr/>
                    <a:lstStyle/>
                    <a:p>
                      <a:endParaRPr lang="en-US" b="0" u="sng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4854148"/>
                  </a:ext>
                </a:extLst>
              </a:tr>
              <a:tr h="38841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accent2"/>
                          </a:solidFill>
                        </a:rPr>
                        <a:t>Q1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600395"/>
                  </a:ext>
                </a:extLst>
              </a:tr>
              <a:tr h="388418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Q2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812765"/>
                  </a:ext>
                </a:extLst>
              </a:tr>
              <a:tr h="388418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Q3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490393"/>
                  </a:ext>
                </a:extLst>
              </a:tr>
              <a:tr h="388418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1322514"/>
                  </a:ext>
                </a:extLst>
              </a:tr>
            </a:tbl>
          </a:graphicData>
        </a:graphic>
      </p:graphicFrame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94C5C9F-A312-678B-7656-D6AFCDA19297}"/>
              </a:ext>
            </a:extLst>
          </p:cNvPr>
          <p:cNvCxnSpPr/>
          <p:nvPr/>
        </p:nvCxnSpPr>
        <p:spPr>
          <a:xfrm>
            <a:off x="1115568" y="1673352"/>
            <a:ext cx="21031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F49C7E0-66E1-A31D-691A-C86C5A9A75DE}"/>
              </a:ext>
            </a:extLst>
          </p:cNvPr>
          <p:cNvCxnSpPr/>
          <p:nvPr/>
        </p:nvCxnSpPr>
        <p:spPr>
          <a:xfrm>
            <a:off x="1272600" y="1554480"/>
            <a:ext cx="0" cy="1335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0993B53-EB1C-78EB-B27E-D260BD29A87B}"/>
              </a:ext>
            </a:extLst>
          </p:cNvPr>
          <p:cNvCxnSpPr/>
          <p:nvPr/>
        </p:nvCxnSpPr>
        <p:spPr>
          <a:xfrm>
            <a:off x="1115568" y="2091470"/>
            <a:ext cx="21945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82D2117-7A29-E0C4-39EC-AFFE2660E18F}"/>
              </a:ext>
            </a:extLst>
          </p:cNvPr>
          <p:cNvCxnSpPr/>
          <p:nvPr/>
        </p:nvCxnSpPr>
        <p:spPr>
          <a:xfrm>
            <a:off x="1942367" y="1837944"/>
            <a:ext cx="0" cy="10515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0D911C4-E57C-0528-F8E6-50B167E0AC64}"/>
              </a:ext>
            </a:extLst>
          </p:cNvPr>
          <p:cNvCxnSpPr/>
          <p:nvPr/>
        </p:nvCxnSpPr>
        <p:spPr>
          <a:xfrm>
            <a:off x="1746504" y="2496312"/>
            <a:ext cx="14721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11A9C59-0E9C-6803-4DA9-D903E4D36DE1}"/>
              </a:ext>
            </a:extLst>
          </p:cNvPr>
          <p:cNvCxnSpPr/>
          <p:nvPr/>
        </p:nvCxnSpPr>
        <p:spPr>
          <a:xfrm>
            <a:off x="3118104" y="2221992"/>
            <a:ext cx="0" cy="667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E8D3213-FB96-5479-BD50-0FDE618DB21E}"/>
              </a:ext>
            </a:extLst>
          </p:cNvPr>
          <p:cNvSpPr txBox="1"/>
          <p:nvPr/>
        </p:nvSpPr>
        <p:spPr>
          <a:xfrm>
            <a:off x="4308406" y="1081886"/>
            <a:ext cx="5018474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position of Q2 &amp; Q3 after changing Q1’s position. Now here we can add Q4 in (4,3) position of the given table.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D09DE439-A8B0-CFC0-DF5B-87B4BDB81CB3}"/>
              </a:ext>
            </a:extLst>
          </p:cNvPr>
          <p:cNvSpPr/>
          <p:nvPr/>
        </p:nvSpPr>
        <p:spPr>
          <a:xfrm>
            <a:off x="3742267" y="1666274"/>
            <a:ext cx="471649" cy="196596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AAACD6D-88CD-3D4A-A8C8-7472FA90FD3E}"/>
              </a:ext>
            </a:extLst>
          </p:cNvPr>
          <p:cNvSpPr txBox="1"/>
          <p:nvPr/>
        </p:nvSpPr>
        <p:spPr>
          <a:xfrm>
            <a:off x="269068" y="449674"/>
            <a:ext cx="112082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7: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218440-FB96-6FFA-5824-EA5F3B189DE9}"/>
              </a:ext>
            </a:extLst>
          </p:cNvPr>
          <p:cNvSpPr txBox="1"/>
          <p:nvPr/>
        </p:nvSpPr>
        <p:spPr>
          <a:xfrm>
            <a:off x="4651314" y="6483096"/>
            <a:ext cx="301686" cy="36933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0DD4ED8-3D8A-EB79-D16F-369AF38833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0076182"/>
              </p:ext>
            </p:extLst>
          </p:nvPr>
        </p:nvGraphicFramePr>
        <p:xfrm>
          <a:off x="1389888" y="3654038"/>
          <a:ext cx="3136390" cy="194209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27278">
                  <a:extLst>
                    <a:ext uri="{9D8B030D-6E8A-4147-A177-3AD203B41FA5}">
                      <a16:colId xmlns:a16="http://schemas.microsoft.com/office/drawing/2014/main" val="497511495"/>
                    </a:ext>
                  </a:extLst>
                </a:gridCol>
                <a:gridCol w="627278">
                  <a:extLst>
                    <a:ext uri="{9D8B030D-6E8A-4147-A177-3AD203B41FA5}">
                      <a16:colId xmlns:a16="http://schemas.microsoft.com/office/drawing/2014/main" val="1527417883"/>
                    </a:ext>
                  </a:extLst>
                </a:gridCol>
                <a:gridCol w="627278">
                  <a:extLst>
                    <a:ext uri="{9D8B030D-6E8A-4147-A177-3AD203B41FA5}">
                      <a16:colId xmlns:a16="http://schemas.microsoft.com/office/drawing/2014/main" val="488504481"/>
                    </a:ext>
                  </a:extLst>
                </a:gridCol>
                <a:gridCol w="627278">
                  <a:extLst>
                    <a:ext uri="{9D8B030D-6E8A-4147-A177-3AD203B41FA5}">
                      <a16:colId xmlns:a16="http://schemas.microsoft.com/office/drawing/2014/main" val="2600094501"/>
                    </a:ext>
                  </a:extLst>
                </a:gridCol>
                <a:gridCol w="627278">
                  <a:extLst>
                    <a:ext uri="{9D8B030D-6E8A-4147-A177-3AD203B41FA5}">
                      <a16:colId xmlns:a16="http://schemas.microsoft.com/office/drawing/2014/main" val="2807645015"/>
                    </a:ext>
                  </a:extLst>
                </a:gridCol>
              </a:tblGrid>
              <a:tr h="388418">
                <a:tc>
                  <a:txBody>
                    <a:bodyPr/>
                    <a:lstStyle/>
                    <a:p>
                      <a:endParaRPr lang="en-US" b="0" u="sng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4854148"/>
                  </a:ext>
                </a:extLst>
              </a:tr>
              <a:tr h="38841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2"/>
                          </a:solidFill>
                        </a:rPr>
                        <a:t>Q1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600395"/>
                  </a:ext>
                </a:extLst>
              </a:tr>
              <a:tr h="388418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Q2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812765"/>
                  </a:ext>
                </a:extLst>
              </a:tr>
              <a:tr h="388418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Q3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490393"/>
                  </a:ext>
                </a:extLst>
              </a:tr>
              <a:tr h="388418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132251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196FF7A-6F75-87FE-9B7B-203ABA18831C}"/>
              </a:ext>
            </a:extLst>
          </p:cNvPr>
          <p:cNvSpPr txBox="1"/>
          <p:nvPr/>
        </p:nvSpPr>
        <p:spPr>
          <a:xfrm>
            <a:off x="286927" y="3148864"/>
            <a:ext cx="204479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8: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B9A4B4-B390-3D50-2C0B-79005942C167}"/>
              </a:ext>
            </a:extLst>
          </p:cNvPr>
          <p:cNvSpPr txBox="1"/>
          <p:nvPr/>
        </p:nvSpPr>
        <p:spPr>
          <a:xfrm>
            <a:off x="2093977" y="5596128"/>
            <a:ext cx="18133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Q4 inserted.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AAEA77-3988-E891-028F-4840CA86D7CD}"/>
              </a:ext>
            </a:extLst>
          </p:cNvPr>
          <p:cNvSpPr txBox="1"/>
          <p:nvPr/>
        </p:nvSpPr>
        <p:spPr>
          <a:xfrm>
            <a:off x="6432840" y="4956716"/>
            <a:ext cx="286809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 [ 2, 4, 1, 3]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6409D9-C911-7A8A-0A9C-551592261A54}"/>
              </a:ext>
            </a:extLst>
          </p:cNvPr>
          <p:cNvSpPr txBox="1"/>
          <p:nvPr/>
        </p:nvSpPr>
        <p:spPr>
          <a:xfrm>
            <a:off x="5535172" y="5797741"/>
            <a:ext cx="4286751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 of all queen’s location.</a:t>
            </a: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9BD4DFAD-C165-32BC-98B0-19E6BAAD0A79}"/>
              </a:ext>
            </a:extLst>
          </p:cNvPr>
          <p:cNvSpPr/>
          <p:nvPr/>
        </p:nvSpPr>
        <p:spPr>
          <a:xfrm>
            <a:off x="7040880" y="5468118"/>
            <a:ext cx="228600" cy="292603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5067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 animBg="1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82808-A4ED-13C6-39F7-1180E905F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E2C84FB6-8FBC-94A0-FD76-6DFB44D44C75}"/>
              </a:ext>
            </a:extLst>
          </p:cNvPr>
          <p:cNvSpPr txBox="1"/>
          <p:nvPr/>
        </p:nvSpPr>
        <p:spPr>
          <a:xfrm>
            <a:off x="3147698" y="2967335"/>
            <a:ext cx="330891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16A51B-895C-7CB0-E579-EE184B4EEAEC}"/>
              </a:ext>
            </a:extLst>
          </p:cNvPr>
          <p:cNvSpPr txBox="1"/>
          <p:nvPr/>
        </p:nvSpPr>
        <p:spPr>
          <a:xfrm>
            <a:off x="4651314" y="6483096"/>
            <a:ext cx="301686" cy="36933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888549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117</TotalTime>
  <Words>586</Words>
  <Application>Microsoft Office PowerPoint</Application>
  <PresentationFormat>A4 Paper (210x297 mm)</PresentationFormat>
  <Paragraphs>151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Tahoma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Ehasan Mahmud</dc:creator>
  <cp:lastModifiedBy>Ehasan Mahmud</cp:lastModifiedBy>
  <cp:revision>6</cp:revision>
  <dcterms:created xsi:type="dcterms:W3CDTF">2025-02-03T07:58:21Z</dcterms:created>
  <dcterms:modified xsi:type="dcterms:W3CDTF">2025-02-05T07:51:11Z</dcterms:modified>
</cp:coreProperties>
</file>