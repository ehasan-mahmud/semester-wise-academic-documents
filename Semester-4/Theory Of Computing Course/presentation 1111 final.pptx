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1"/>
  </p:sldMasterIdLst>
  <p:sldIdLst>
    <p:sldId id="263" r:id="rId2"/>
    <p:sldId id="276" r:id="rId3"/>
    <p:sldId id="258" r:id="rId4"/>
    <p:sldId id="259" r:id="rId5"/>
    <p:sldId id="260" r:id="rId6"/>
    <p:sldId id="261" r:id="rId7"/>
    <p:sldId id="262" r:id="rId8"/>
    <p:sldId id="256" r:id="rId9"/>
    <p:sldId id="257"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BA885BCD-6C3B-444A-8CFF-6D47BE2231FD}">
          <p14:sldIdLst>
            <p14:sldId id="263"/>
            <p14:sldId id="276"/>
            <p14:sldId id="258"/>
            <p14:sldId id="259"/>
            <p14:sldId id="260"/>
            <p14:sldId id="261"/>
            <p14:sldId id="262"/>
            <p14:sldId id="256"/>
            <p14:sldId id="257"/>
            <p14:sldId id="264"/>
            <p14:sldId id="265"/>
            <p14:sldId id="266"/>
            <p14:sldId id="267"/>
            <p14:sldId id="268"/>
            <p14:sldId id="269"/>
            <p14:sldId id="270"/>
            <p14:sldId id="271"/>
            <p14:sldId id="272"/>
            <p14:sldId id="273"/>
            <p14:sldId id="274"/>
            <p14:sldId id="275"/>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Ehasan Mahmud" initials="" lastIdx="0"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5620"/>
    <p:restoredTop sz="94660"/>
  </p:normalViewPr>
  <p:slideViewPr>
    <p:cSldViewPr>
      <p:cViewPr varScale="1">
        <p:scale>
          <a:sx n="89" d="100"/>
          <a:sy n="89" d="100"/>
        </p:scale>
        <p:origin x="1747"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EB14FA-737C-CBD7-A4B1-17B85C9345EC}"/>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3EB55359-E866-8888-9621-7695E910C0CB}"/>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AB92BEE9-72F7-8D86-7018-67827857D8C4}"/>
              </a:ext>
            </a:extLst>
          </p:cNvPr>
          <p:cNvSpPr>
            <a:spLocks noGrp="1"/>
          </p:cNvSpPr>
          <p:nvPr>
            <p:ph type="dt" sz="half" idx="10"/>
          </p:nvPr>
        </p:nvSpPr>
        <p:spPr/>
        <p:txBody>
          <a:bodyPr/>
          <a:lstStyle/>
          <a:p>
            <a:fld id="{1D8BD707-D9CF-40AE-B4C6-C98DA3205C09}" type="datetimeFigureOut">
              <a:rPr lang="en-US" smtClean="0"/>
              <a:pPr/>
              <a:t>27-Jan-25</a:t>
            </a:fld>
            <a:endParaRPr lang="en-US"/>
          </a:p>
        </p:txBody>
      </p:sp>
      <p:sp>
        <p:nvSpPr>
          <p:cNvPr id="5" name="Footer Placeholder 4">
            <a:extLst>
              <a:ext uri="{FF2B5EF4-FFF2-40B4-BE49-F238E27FC236}">
                <a16:creationId xmlns:a16="http://schemas.microsoft.com/office/drawing/2014/main" id="{0A4F5982-4796-DA1C-D0A8-528CAE6681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44D92C8-A7FC-6F94-1124-5C9D3DFD9F7D}"/>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9986812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0C0F4-F803-684E-3C13-027D01EB817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333B1FA-C062-4BE2-6215-15830277B92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5B1EFAE-70A6-4A8C-8D60-12284E323842}"/>
              </a:ext>
            </a:extLst>
          </p:cNvPr>
          <p:cNvSpPr>
            <a:spLocks noGrp="1"/>
          </p:cNvSpPr>
          <p:nvPr>
            <p:ph type="dt" sz="half" idx="10"/>
          </p:nvPr>
        </p:nvSpPr>
        <p:spPr/>
        <p:txBody>
          <a:bodyPr/>
          <a:lstStyle/>
          <a:p>
            <a:fld id="{1D8BD707-D9CF-40AE-B4C6-C98DA3205C09}" type="datetimeFigureOut">
              <a:rPr lang="en-US" smtClean="0"/>
              <a:pPr/>
              <a:t>27-Jan-25</a:t>
            </a:fld>
            <a:endParaRPr lang="en-US"/>
          </a:p>
        </p:txBody>
      </p:sp>
      <p:sp>
        <p:nvSpPr>
          <p:cNvPr id="5" name="Footer Placeholder 4">
            <a:extLst>
              <a:ext uri="{FF2B5EF4-FFF2-40B4-BE49-F238E27FC236}">
                <a16:creationId xmlns:a16="http://schemas.microsoft.com/office/drawing/2014/main" id="{1DDAAC0F-118C-12BD-EB02-F66330A0EF5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7398D4-A0AD-338A-8AF5-B9BFE21E01A6}"/>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6310259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103193-49A0-CD27-4EAA-B41ADEF45938}"/>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D3A5DC9C-F385-A9BB-E1E5-0837C917B6D1}"/>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8A06C9B-89E7-3480-78CC-3AB3CBD03F08}"/>
              </a:ext>
            </a:extLst>
          </p:cNvPr>
          <p:cNvSpPr>
            <a:spLocks noGrp="1"/>
          </p:cNvSpPr>
          <p:nvPr>
            <p:ph type="dt" sz="half" idx="10"/>
          </p:nvPr>
        </p:nvSpPr>
        <p:spPr/>
        <p:txBody>
          <a:bodyPr/>
          <a:lstStyle/>
          <a:p>
            <a:fld id="{1D8BD707-D9CF-40AE-B4C6-C98DA3205C09}" type="datetimeFigureOut">
              <a:rPr lang="en-US" smtClean="0"/>
              <a:pPr/>
              <a:t>27-Jan-25</a:t>
            </a:fld>
            <a:endParaRPr lang="en-US"/>
          </a:p>
        </p:txBody>
      </p:sp>
      <p:sp>
        <p:nvSpPr>
          <p:cNvPr id="5" name="Footer Placeholder 4">
            <a:extLst>
              <a:ext uri="{FF2B5EF4-FFF2-40B4-BE49-F238E27FC236}">
                <a16:creationId xmlns:a16="http://schemas.microsoft.com/office/drawing/2014/main" id="{5713B98E-5678-A400-CBB3-36C4CFF08F6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BC4C2D-B267-8A81-1693-CF986C8CBFFA}"/>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9694694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CEC27-11A6-1C23-2414-82C7F78CE3D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B05F3E7-BFB6-FB29-3645-1414D2EE7282}"/>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69E0155-1239-C2B9-77DC-A4985EC918B0}"/>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6B77AFA-D8E0-4FEB-4A7F-0F627503D2C2}"/>
              </a:ext>
            </a:extLst>
          </p:cNvPr>
          <p:cNvSpPr>
            <a:spLocks noGrp="1"/>
          </p:cNvSpPr>
          <p:nvPr>
            <p:ph type="dt" sz="half" idx="10"/>
          </p:nvPr>
        </p:nvSpPr>
        <p:spPr/>
        <p:txBody>
          <a:bodyPr/>
          <a:lstStyle/>
          <a:p>
            <a:fld id="{1D8BD707-D9CF-40AE-B4C6-C98DA3205C09}" type="datetimeFigureOut">
              <a:rPr lang="en-US" smtClean="0"/>
              <a:pPr/>
              <a:t>27-Jan-25</a:t>
            </a:fld>
            <a:endParaRPr lang="en-US"/>
          </a:p>
        </p:txBody>
      </p:sp>
      <p:sp>
        <p:nvSpPr>
          <p:cNvPr id="6" name="Footer Placeholder 5">
            <a:extLst>
              <a:ext uri="{FF2B5EF4-FFF2-40B4-BE49-F238E27FC236}">
                <a16:creationId xmlns:a16="http://schemas.microsoft.com/office/drawing/2014/main" id="{121DEF61-299E-262A-E4FF-7F154305013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A0C893C-B410-50E3-09AC-161B6C18B059}"/>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0637674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EA5318-B0E6-7580-5838-7C6340FADBFB}"/>
              </a:ext>
            </a:extLst>
          </p:cNvPr>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00267C3-3A1E-BD3A-1175-A11329AFBEFB}"/>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3E873F68-01FE-A9C6-7030-481937991589}"/>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02B64DD-C51F-6082-5D17-9A79415D6FB8}"/>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70D8CCE6-36EB-F4EC-4C08-EEEED918004A}"/>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79BCC60-2AAE-DF83-9554-F5C5D8B863FD}"/>
              </a:ext>
            </a:extLst>
          </p:cNvPr>
          <p:cNvSpPr>
            <a:spLocks noGrp="1"/>
          </p:cNvSpPr>
          <p:nvPr>
            <p:ph type="dt" sz="half" idx="10"/>
          </p:nvPr>
        </p:nvSpPr>
        <p:spPr/>
        <p:txBody>
          <a:bodyPr/>
          <a:lstStyle/>
          <a:p>
            <a:fld id="{1D8BD707-D9CF-40AE-B4C6-C98DA3205C09}" type="datetimeFigureOut">
              <a:rPr lang="en-US" smtClean="0"/>
              <a:pPr/>
              <a:t>27-Jan-25</a:t>
            </a:fld>
            <a:endParaRPr lang="en-US"/>
          </a:p>
        </p:txBody>
      </p:sp>
      <p:sp>
        <p:nvSpPr>
          <p:cNvPr id="8" name="Footer Placeholder 7">
            <a:extLst>
              <a:ext uri="{FF2B5EF4-FFF2-40B4-BE49-F238E27FC236}">
                <a16:creationId xmlns:a16="http://schemas.microsoft.com/office/drawing/2014/main" id="{B5398630-B489-9018-8F33-381BE8BA522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B9E2F90-0FD8-F382-E99E-F9FEA6B2AED3}"/>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3423828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9BD1CD-1270-D280-2038-50E34E7BCF4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4842807-A0F0-8582-57CA-EDA0D9C5E091}"/>
              </a:ext>
            </a:extLst>
          </p:cNvPr>
          <p:cNvSpPr>
            <a:spLocks noGrp="1"/>
          </p:cNvSpPr>
          <p:nvPr>
            <p:ph type="dt" sz="half" idx="10"/>
          </p:nvPr>
        </p:nvSpPr>
        <p:spPr/>
        <p:txBody>
          <a:bodyPr/>
          <a:lstStyle/>
          <a:p>
            <a:fld id="{1D8BD707-D9CF-40AE-B4C6-C98DA3205C09}" type="datetimeFigureOut">
              <a:rPr lang="en-US" smtClean="0"/>
              <a:pPr/>
              <a:t>27-Jan-25</a:t>
            </a:fld>
            <a:endParaRPr lang="en-US"/>
          </a:p>
        </p:txBody>
      </p:sp>
      <p:sp>
        <p:nvSpPr>
          <p:cNvPr id="4" name="Footer Placeholder 3">
            <a:extLst>
              <a:ext uri="{FF2B5EF4-FFF2-40B4-BE49-F238E27FC236}">
                <a16:creationId xmlns:a16="http://schemas.microsoft.com/office/drawing/2014/main" id="{6F6F4BFB-5C95-C1F7-BF4F-58F73647C9E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A3627DF-88B6-B784-D5E1-F47382CA8A85}"/>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1210521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3E7344F-DF8A-58CE-A69C-AD2ED794ED70}"/>
              </a:ext>
            </a:extLst>
          </p:cNvPr>
          <p:cNvSpPr>
            <a:spLocks noGrp="1"/>
          </p:cNvSpPr>
          <p:nvPr>
            <p:ph type="dt" sz="half" idx="10"/>
          </p:nvPr>
        </p:nvSpPr>
        <p:spPr/>
        <p:txBody>
          <a:bodyPr/>
          <a:lstStyle/>
          <a:p>
            <a:fld id="{1D8BD707-D9CF-40AE-B4C6-C98DA3205C09}" type="datetimeFigureOut">
              <a:rPr lang="en-US" smtClean="0"/>
              <a:pPr/>
              <a:t>27-Jan-25</a:t>
            </a:fld>
            <a:endParaRPr lang="en-US"/>
          </a:p>
        </p:txBody>
      </p:sp>
      <p:sp>
        <p:nvSpPr>
          <p:cNvPr id="3" name="Footer Placeholder 2">
            <a:extLst>
              <a:ext uri="{FF2B5EF4-FFF2-40B4-BE49-F238E27FC236}">
                <a16:creationId xmlns:a16="http://schemas.microsoft.com/office/drawing/2014/main" id="{C86C3A6D-01C6-787E-EE16-F8E62C5346B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9F41B8B-8CE5-9FBD-7224-346B51425DC6}"/>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124404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5C65A0-64E7-5C3E-169F-4474B364FB92}"/>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A0EBF973-24A1-0B1F-4710-A9FFD04F9976}"/>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36404B9-1AF5-4095-AFD6-6C71B4B18AFE}"/>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89D06016-4F31-122C-DD8A-9A8AA126FEC8}"/>
              </a:ext>
            </a:extLst>
          </p:cNvPr>
          <p:cNvSpPr>
            <a:spLocks noGrp="1"/>
          </p:cNvSpPr>
          <p:nvPr>
            <p:ph type="dt" sz="half" idx="10"/>
          </p:nvPr>
        </p:nvSpPr>
        <p:spPr/>
        <p:txBody>
          <a:bodyPr/>
          <a:lstStyle/>
          <a:p>
            <a:fld id="{1D8BD707-D9CF-40AE-B4C6-C98DA3205C09}" type="datetimeFigureOut">
              <a:rPr lang="en-US" smtClean="0"/>
              <a:pPr/>
              <a:t>27-Jan-25</a:t>
            </a:fld>
            <a:endParaRPr lang="en-US"/>
          </a:p>
        </p:txBody>
      </p:sp>
      <p:sp>
        <p:nvSpPr>
          <p:cNvPr id="6" name="Footer Placeholder 5">
            <a:extLst>
              <a:ext uri="{FF2B5EF4-FFF2-40B4-BE49-F238E27FC236}">
                <a16:creationId xmlns:a16="http://schemas.microsoft.com/office/drawing/2014/main" id="{F729AE31-493B-229B-11A6-B94DF1D448F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BE09CE3-E148-134E-6EAF-2FA7F083EC37}"/>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16513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ACA266-3C7C-16DB-427B-466238EB691C}"/>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ADB0ECB6-1F72-3E4A-2003-7CC1BE292DC6}"/>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998AA3EC-EAA2-5CBC-FC29-4A2C7CA61D8E}"/>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22AE1CC9-3759-FED2-3956-7DE844797016}"/>
              </a:ext>
            </a:extLst>
          </p:cNvPr>
          <p:cNvSpPr>
            <a:spLocks noGrp="1"/>
          </p:cNvSpPr>
          <p:nvPr>
            <p:ph type="dt" sz="half" idx="10"/>
          </p:nvPr>
        </p:nvSpPr>
        <p:spPr/>
        <p:txBody>
          <a:bodyPr/>
          <a:lstStyle/>
          <a:p>
            <a:fld id="{1D8BD707-D9CF-40AE-B4C6-C98DA3205C09}" type="datetimeFigureOut">
              <a:rPr lang="en-US" smtClean="0"/>
              <a:pPr/>
              <a:t>27-Jan-25</a:t>
            </a:fld>
            <a:endParaRPr lang="en-US"/>
          </a:p>
        </p:txBody>
      </p:sp>
      <p:sp>
        <p:nvSpPr>
          <p:cNvPr id="6" name="Footer Placeholder 5">
            <a:extLst>
              <a:ext uri="{FF2B5EF4-FFF2-40B4-BE49-F238E27FC236}">
                <a16:creationId xmlns:a16="http://schemas.microsoft.com/office/drawing/2014/main" id="{E2C68944-3A45-94CE-6EFC-BBF2133FBD4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32E3C42-B5EB-9823-C583-C3130BCD454C}"/>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3938677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78D514-75FE-AE1F-3859-2FB654D81F0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7738B9E-DDA5-C0D9-B265-16F768D4F6E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8D0A594-A9A6-5321-19A9-7AB958E2268E}"/>
              </a:ext>
            </a:extLst>
          </p:cNvPr>
          <p:cNvSpPr>
            <a:spLocks noGrp="1"/>
          </p:cNvSpPr>
          <p:nvPr>
            <p:ph type="dt" sz="half" idx="10"/>
          </p:nvPr>
        </p:nvSpPr>
        <p:spPr/>
        <p:txBody>
          <a:bodyPr/>
          <a:lstStyle/>
          <a:p>
            <a:fld id="{1D8BD707-D9CF-40AE-B4C6-C98DA3205C09}" type="datetimeFigureOut">
              <a:rPr lang="en-US" smtClean="0"/>
              <a:pPr/>
              <a:t>27-Jan-25</a:t>
            </a:fld>
            <a:endParaRPr lang="en-US"/>
          </a:p>
        </p:txBody>
      </p:sp>
      <p:sp>
        <p:nvSpPr>
          <p:cNvPr id="5" name="Footer Placeholder 4">
            <a:extLst>
              <a:ext uri="{FF2B5EF4-FFF2-40B4-BE49-F238E27FC236}">
                <a16:creationId xmlns:a16="http://schemas.microsoft.com/office/drawing/2014/main" id="{F3BF8264-1BA2-0FE6-7E9E-B14C90EED6A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686F65E-30F6-F206-D399-91693D7C54D2}"/>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8641653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226B537-FBEA-9291-28C7-55DB93C1BC35}"/>
              </a:ext>
            </a:extLst>
          </p:cNvPr>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711E210-E93A-A493-98E5-9E35365D05F7}"/>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7A9A2EC-74E5-15F8-7F81-40E3B6C95D4A}"/>
              </a:ext>
            </a:extLst>
          </p:cNvPr>
          <p:cNvSpPr>
            <a:spLocks noGrp="1"/>
          </p:cNvSpPr>
          <p:nvPr>
            <p:ph type="dt" sz="half" idx="10"/>
          </p:nvPr>
        </p:nvSpPr>
        <p:spPr/>
        <p:txBody>
          <a:bodyPr/>
          <a:lstStyle/>
          <a:p>
            <a:fld id="{1D8BD707-D9CF-40AE-B4C6-C98DA3205C09}" type="datetimeFigureOut">
              <a:rPr lang="en-US" smtClean="0"/>
              <a:pPr/>
              <a:t>27-Jan-25</a:t>
            </a:fld>
            <a:endParaRPr lang="en-US"/>
          </a:p>
        </p:txBody>
      </p:sp>
      <p:sp>
        <p:nvSpPr>
          <p:cNvPr id="5" name="Footer Placeholder 4">
            <a:extLst>
              <a:ext uri="{FF2B5EF4-FFF2-40B4-BE49-F238E27FC236}">
                <a16:creationId xmlns:a16="http://schemas.microsoft.com/office/drawing/2014/main" id="{388B9706-0E4C-C632-F87E-79E5A8C08AB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CEE2EC-8984-DBEF-7173-0E6ADF2FE438}"/>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452494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D2BB57F-CE1A-C03F-229A-61B44477AA73}"/>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5C2B78D-9492-CB4A-DC2E-9CBA00E1A34E}"/>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B4B251A-A85A-B9E3-08D9-A2F1EF656492}"/>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1D8BD707-D9CF-40AE-B4C6-C98DA3205C09}" type="datetimeFigureOut">
              <a:rPr lang="en-US" smtClean="0"/>
              <a:pPr/>
              <a:t>27-Jan-25</a:t>
            </a:fld>
            <a:endParaRPr lang="en-US"/>
          </a:p>
        </p:txBody>
      </p:sp>
      <p:sp>
        <p:nvSpPr>
          <p:cNvPr id="5" name="Footer Placeholder 4">
            <a:extLst>
              <a:ext uri="{FF2B5EF4-FFF2-40B4-BE49-F238E27FC236}">
                <a16:creationId xmlns:a16="http://schemas.microsoft.com/office/drawing/2014/main" id="{3A5E533A-14A1-7763-DD48-5C0E95B2DFD4}"/>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D4DA98D-0672-672B-7F05-EF4CB44A6632}"/>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2391397898"/>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50467425-4380-44D4-0D6D-16A86E46DC8F}"/>
              </a:ext>
            </a:extLst>
          </p:cNvPr>
          <p:cNvSpPr txBox="1"/>
          <p:nvPr/>
        </p:nvSpPr>
        <p:spPr>
          <a:xfrm>
            <a:off x="3429700" y="762000"/>
            <a:ext cx="2284600" cy="369332"/>
          </a:xfrm>
          <a:prstGeom prst="rect">
            <a:avLst/>
          </a:prstGeom>
          <a:noFill/>
        </p:spPr>
        <p:txBody>
          <a:bodyPr wrap="none" rtlCol="0">
            <a:spAutoFit/>
          </a:bodyPr>
          <a:lstStyle/>
          <a:p>
            <a:pPr algn="ctr"/>
            <a:r>
              <a:rPr lang="en-US" b="1" dirty="0"/>
              <a:t>Presentation-01</a:t>
            </a:r>
          </a:p>
        </p:txBody>
      </p:sp>
      <p:sp>
        <p:nvSpPr>
          <p:cNvPr id="11" name="TextBox 10">
            <a:extLst>
              <a:ext uri="{FF2B5EF4-FFF2-40B4-BE49-F238E27FC236}">
                <a16:creationId xmlns:a16="http://schemas.microsoft.com/office/drawing/2014/main" id="{5A87A0D5-13B3-47B2-7222-8B119C517ACB}"/>
              </a:ext>
            </a:extLst>
          </p:cNvPr>
          <p:cNvSpPr txBox="1"/>
          <p:nvPr/>
        </p:nvSpPr>
        <p:spPr>
          <a:xfrm>
            <a:off x="2384542" y="1371600"/>
            <a:ext cx="5498300" cy="523220"/>
          </a:xfrm>
          <a:prstGeom prst="rect">
            <a:avLst/>
          </a:prstGeom>
          <a:noFill/>
        </p:spPr>
        <p:txBody>
          <a:bodyPr wrap="none" rtlCol="0">
            <a:spAutoFit/>
          </a:bodyPr>
          <a:lstStyle/>
          <a:p>
            <a:pPr algn="ctr"/>
            <a:r>
              <a:rPr lang="en-US" sz="2800" b="1" i="1" u="sng" dirty="0"/>
              <a:t>Course title: Theory of Computation</a:t>
            </a:r>
          </a:p>
        </p:txBody>
      </p:sp>
      <p:sp>
        <p:nvSpPr>
          <p:cNvPr id="12" name="TextBox 11">
            <a:extLst>
              <a:ext uri="{FF2B5EF4-FFF2-40B4-BE49-F238E27FC236}">
                <a16:creationId xmlns:a16="http://schemas.microsoft.com/office/drawing/2014/main" id="{1D297BE8-474E-878D-8DAE-A44FF4AF08B3}"/>
              </a:ext>
            </a:extLst>
          </p:cNvPr>
          <p:cNvSpPr txBox="1"/>
          <p:nvPr/>
        </p:nvSpPr>
        <p:spPr>
          <a:xfrm>
            <a:off x="533400" y="2286000"/>
            <a:ext cx="8229600" cy="3416320"/>
          </a:xfrm>
          <a:prstGeom prst="rect">
            <a:avLst/>
          </a:prstGeom>
          <a:noFill/>
          <a:ln>
            <a:solidFill>
              <a:schemeClr val="tx1"/>
            </a:solidFill>
          </a:ln>
        </p:spPr>
        <p:txBody>
          <a:bodyPr wrap="square" rtlCol="0">
            <a:spAutoFit/>
          </a:bodyPr>
          <a:lstStyle/>
          <a:p>
            <a:r>
              <a:rPr lang="en-US" sz="2400" dirty="0"/>
              <a:t>Group Members:</a:t>
            </a:r>
            <a:br>
              <a:rPr lang="en-US" sz="2400" dirty="0"/>
            </a:br>
            <a:endParaRPr lang="en-US" sz="2400" dirty="0"/>
          </a:p>
          <a:p>
            <a:pPr marL="342900" indent="-342900">
              <a:buAutoNum type="arabicPeriod"/>
            </a:pPr>
            <a:r>
              <a:rPr lang="en-US" sz="2400" dirty="0" err="1"/>
              <a:t>Sazid</a:t>
            </a:r>
            <a:r>
              <a:rPr lang="en-US" sz="2400" dirty="0"/>
              <a:t> Mahmud </a:t>
            </a:r>
            <a:r>
              <a:rPr lang="en-US" sz="2400" dirty="0" err="1"/>
              <a:t>Emon</a:t>
            </a:r>
            <a:r>
              <a:rPr lang="en-US" sz="2400" dirty="0"/>
              <a:t> Khan (202122104005)</a:t>
            </a:r>
          </a:p>
          <a:p>
            <a:pPr marL="342900" indent="-342900">
              <a:buAutoNum type="arabicPeriod"/>
            </a:pPr>
            <a:r>
              <a:rPr lang="en-US" sz="2400" dirty="0" err="1"/>
              <a:t>Debodyan</a:t>
            </a:r>
            <a:r>
              <a:rPr lang="en-US" sz="2400" dirty="0"/>
              <a:t>  Deb (202122104007)</a:t>
            </a:r>
          </a:p>
          <a:p>
            <a:pPr marL="342900" indent="-342900">
              <a:buAutoNum type="arabicPeriod" startAt="3"/>
            </a:pPr>
            <a:r>
              <a:rPr lang="en-US" sz="2400" dirty="0" err="1"/>
              <a:t>Tanima</a:t>
            </a:r>
            <a:r>
              <a:rPr lang="en-US" sz="2400" dirty="0"/>
              <a:t> </a:t>
            </a:r>
            <a:r>
              <a:rPr lang="en-US" sz="2400" dirty="0" err="1"/>
              <a:t>akter</a:t>
            </a:r>
            <a:r>
              <a:rPr lang="en-US" sz="2400" dirty="0"/>
              <a:t> (202122104011)</a:t>
            </a:r>
          </a:p>
          <a:p>
            <a:pPr marL="342900" indent="-342900">
              <a:buAutoNum type="arabicPeriod" startAt="3"/>
            </a:pPr>
            <a:r>
              <a:rPr lang="en-US" sz="2400" dirty="0"/>
              <a:t>Md. Ehasan Mahmud (202122104026)</a:t>
            </a:r>
          </a:p>
          <a:p>
            <a:pPr marL="342900" indent="-342900">
              <a:buAutoNum type="arabicPeriod" startAt="3"/>
            </a:pPr>
            <a:r>
              <a:rPr lang="en-US" sz="2400" dirty="0" err="1"/>
              <a:t>Meherab</a:t>
            </a:r>
            <a:r>
              <a:rPr lang="en-US" sz="2400" dirty="0"/>
              <a:t> </a:t>
            </a:r>
            <a:r>
              <a:rPr lang="en-US" sz="2400" dirty="0" err="1"/>
              <a:t>Hossen</a:t>
            </a:r>
            <a:r>
              <a:rPr lang="en-US" sz="2400" dirty="0"/>
              <a:t> (202122104028)</a:t>
            </a:r>
          </a:p>
          <a:p>
            <a:pPr marL="342900" indent="-342900">
              <a:buAutoNum type="arabicPeriod" startAt="3"/>
            </a:pPr>
            <a:r>
              <a:rPr lang="en-US" sz="2400" dirty="0"/>
              <a:t>Saki Al </a:t>
            </a:r>
            <a:r>
              <a:rPr lang="en-US" sz="2400" dirty="0" err="1"/>
              <a:t>Muiz</a:t>
            </a:r>
            <a:r>
              <a:rPr lang="en-US" sz="2400" dirty="0"/>
              <a:t> </a:t>
            </a:r>
            <a:r>
              <a:rPr lang="en-US" sz="2400" dirty="0" err="1"/>
              <a:t>Drubo</a:t>
            </a:r>
            <a:r>
              <a:rPr lang="en-US" sz="2400" dirty="0"/>
              <a:t>(202122104030) </a:t>
            </a:r>
            <a:br>
              <a:rPr lang="en-US" sz="2400" dirty="0"/>
            </a:br>
            <a:endParaRPr lang="en-US" sz="2400" dirty="0"/>
          </a:p>
        </p:txBody>
      </p:sp>
    </p:spTree>
    <p:extLst>
      <p:ext uri="{BB962C8B-B14F-4D97-AF65-F5344CB8AC3E}">
        <p14:creationId xmlns:p14="http://schemas.microsoft.com/office/powerpoint/2010/main" val="15456911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u="sng" dirty="0"/>
              <a:t>Definition of Automata</a:t>
            </a:r>
          </a:p>
        </p:txBody>
      </p:sp>
      <p:sp>
        <p:nvSpPr>
          <p:cNvPr id="3" name="Rectangle 2"/>
          <p:cNvSpPr/>
          <p:nvPr/>
        </p:nvSpPr>
        <p:spPr>
          <a:xfrm>
            <a:off x="457200" y="1997839"/>
            <a:ext cx="8229600" cy="3046988"/>
          </a:xfrm>
          <a:prstGeom prst="rect">
            <a:avLst/>
          </a:prstGeom>
        </p:spPr>
        <p:txBody>
          <a:bodyPr wrap="square">
            <a:spAutoFit/>
          </a:bodyPr>
          <a:lstStyle/>
          <a:p>
            <a:pPr>
              <a:buFont typeface="Arial" pitchFamily="34" charset="0"/>
              <a:buChar char="•"/>
            </a:pPr>
            <a:r>
              <a:rPr lang="en-US" sz="2400" dirty="0"/>
              <a:t>An "automaton" is essentially a self-operating machine that follows a predetermined sequence of operations. In theory, these machines can represent mathematical models of computation.</a:t>
            </a:r>
          </a:p>
          <a:p>
            <a:endParaRPr lang="en-US" sz="2400" dirty="0"/>
          </a:p>
          <a:p>
            <a:pPr>
              <a:buFont typeface="Arial" pitchFamily="34" charset="0"/>
              <a:buChar char="•"/>
            </a:pPr>
            <a:r>
              <a:rPr lang="en-US" sz="2400" dirty="0"/>
              <a:t>Automata Theory aims to understand and classify different computational models based on their sequential or parallel processing capabilities, symbolic density and many other factors.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609600"/>
            <a:ext cx="8183880" cy="1051560"/>
          </a:xfrm>
        </p:spPr>
        <p:txBody>
          <a:bodyPr>
            <a:normAutofit/>
          </a:bodyPr>
          <a:lstStyle/>
          <a:p>
            <a:r>
              <a:rPr lang="en-US" dirty="0"/>
              <a:t>Key Concepts in Automata Theory</a:t>
            </a:r>
            <a:br>
              <a:rPr lang="en-US" dirty="0"/>
            </a:br>
            <a:endParaRPr lang="en-US" dirty="0"/>
          </a:p>
        </p:txBody>
      </p:sp>
      <p:pic>
        <p:nvPicPr>
          <p:cNvPr id="1026" name="Picture 2"/>
          <p:cNvPicPr>
            <a:picLocks noGrp="1" noChangeAspect="1" noChangeArrowheads="1"/>
          </p:cNvPicPr>
          <p:nvPr>
            <p:ph idx="1"/>
          </p:nvPr>
        </p:nvPicPr>
        <p:blipFill>
          <a:blip r:embed="rId2"/>
          <a:stretch>
            <a:fillRect/>
          </a:stretch>
        </p:blipFill>
        <p:spPr bwMode="auto">
          <a:xfrm>
            <a:off x="2557462" y="2105819"/>
            <a:ext cx="4029075" cy="3790950"/>
          </a:xfrm>
          <a:prstGeom prst="rect">
            <a:avLst/>
          </a:prstGeom>
          <a:noFill/>
          <a:ln w="9525">
            <a:noFill/>
            <a:miter lim="800000"/>
            <a:headEnd/>
            <a:tailEnd/>
          </a:ln>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9600"/>
            <a:ext cx="8183880" cy="1051560"/>
          </a:xfrm>
        </p:spPr>
        <p:txBody>
          <a:bodyPr>
            <a:normAutofit/>
          </a:bodyPr>
          <a:lstStyle/>
          <a:p>
            <a:pPr algn="ctr"/>
            <a:r>
              <a:rPr lang="en-US" sz="5400" dirty="0"/>
              <a:t>(FA)</a:t>
            </a:r>
          </a:p>
        </p:txBody>
      </p:sp>
      <p:pic>
        <p:nvPicPr>
          <p:cNvPr id="2050" name="Picture 2"/>
          <p:cNvPicPr>
            <a:picLocks noGrp="1" noChangeAspect="1" noChangeArrowheads="1"/>
          </p:cNvPicPr>
          <p:nvPr>
            <p:ph idx="1"/>
          </p:nvPr>
        </p:nvPicPr>
        <p:blipFill>
          <a:blip r:embed="rId2"/>
          <a:srcRect/>
          <a:stretch>
            <a:fillRect/>
          </a:stretch>
        </p:blipFill>
        <p:spPr bwMode="auto">
          <a:xfrm>
            <a:off x="609600" y="1981200"/>
            <a:ext cx="7772400" cy="1847850"/>
          </a:xfrm>
          <a:prstGeom prst="rect">
            <a:avLst/>
          </a:prstGeom>
          <a:noFill/>
          <a:ln w="9525">
            <a:noFill/>
            <a:miter lim="800000"/>
            <a:headEnd/>
            <a:tailEnd/>
          </a:ln>
          <a:effectLst/>
        </p:spPr>
      </p:pic>
      <p:sp>
        <p:nvSpPr>
          <p:cNvPr id="5" name="Rectangle 4"/>
          <p:cNvSpPr/>
          <p:nvPr/>
        </p:nvSpPr>
        <p:spPr>
          <a:xfrm>
            <a:off x="685800" y="4114800"/>
            <a:ext cx="7620000" cy="1200329"/>
          </a:xfrm>
          <a:prstGeom prst="rect">
            <a:avLst/>
          </a:prstGeom>
        </p:spPr>
        <p:txBody>
          <a:bodyPr wrap="square">
            <a:spAutoFit/>
          </a:bodyPr>
          <a:lstStyle/>
          <a:p>
            <a:r>
              <a:rPr lang="en-US" sz="2400" dirty="0"/>
              <a:t>There are two types of finite automata:</a:t>
            </a:r>
          </a:p>
          <a:p>
            <a:r>
              <a:rPr lang="en-US" sz="2400" dirty="0"/>
              <a:t>1.DFA(deterministic finite automata)</a:t>
            </a:r>
          </a:p>
          <a:p>
            <a:r>
              <a:rPr lang="en-US" sz="2400" dirty="0"/>
              <a:t>2.NFA(non-deterministic finite automata)</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533400" y="762000"/>
            <a:ext cx="8183880" cy="1051560"/>
          </a:xfrm>
        </p:spPr>
        <p:txBody>
          <a:bodyPr/>
          <a:lstStyle/>
          <a:p>
            <a:r>
              <a:rPr lang="en-US" u="sng" dirty="0"/>
              <a:t>Simple example of FA</a:t>
            </a:r>
          </a:p>
        </p:txBody>
      </p:sp>
      <p:pic>
        <p:nvPicPr>
          <p:cNvPr id="3074" name="Picture 2"/>
          <p:cNvPicPr>
            <a:picLocks noGrp="1" noChangeAspect="1" noChangeArrowheads="1"/>
          </p:cNvPicPr>
          <p:nvPr>
            <p:ph idx="1"/>
          </p:nvPr>
        </p:nvPicPr>
        <p:blipFill>
          <a:blip r:embed="rId2"/>
          <a:stretch>
            <a:fillRect/>
          </a:stretch>
        </p:blipFill>
        <p:spPr bwMode="auto">
          <a:xfrm>
            <a:off x="2062162" y="2048669"/>
            <a:ext cx="5019675" cy="3905250"/>
          </a:xfrm>
          <a:prstGeom prst="rect">
            <a:avLst/>
          </a:prstGeom>
          <a:noFill/>
          <a:ln w="9525">
            <a:noFill/>
            <a:miter lim="800000"/>
            <a:headEnd/>
            <a:tailEnd/>
          </a:ln>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685800"/>
            <a:ext cx="8183880" cy="1051560"/>
          </a:xfrm>
        </p:spPr>
        <p:txBody>
          <a:bodyPr>
            <a:normAutofit/>
          </a:bodyPr>
          <a:lstStyle/>
          <a:p>
            <a:br>
              <a:rPr lang="en-US" dirty="0"/>
            </a:br>
            <a:r>
              <a:rPr lang="en-US" b="0" dirty="0"/>
              <a:t>Deterministic finite automaton</a:t>
            </a:r>
            <a:endParaRPr lang="en-US" dirty="0"/>
          </a:p>
        </p:txBody>
      </p:sp>
      <p:sp>
        <p:nvSpPr>
          <p:cNvPr id="3" name="Content Placeholder 2"/>
          <p:cNvSpPr>
            <a:spLocks noGrp="1"/>
          </p:cNvSpPr>
          <p:nvPr>
            <p:ph idx="1"/>
          </p:nvPr>
        </p:nvSpPr>
        <p:spPr>
          <a:xfrm>
            <a:off x="533400" y="1752600"/>
            <a:ext cx="8183880" cy="4187952"/>
          </a:xfrm>
        </p:spPr>
        <p:txBody>
          <a:bodyPr>
            <a:normAutofit/>
          </a:bodyPr>
          <a:lstStyle/>
          <a:p>
            <a:r>
              <a:rPr lang="en-US" sz="2000" dirty="0"/>
              <a:t>In the theory of computation,</a:t>
            </a:r>
            <a:r>
              <a:rPr lang="it-IT" sz="2000" dirty="0"/>
              <a:t>  a </a:t>
            </a:r>
            <a:r>
              <a:rPr lang="it-IT" sz="2000" b="1" dirty="0"/>
              <a:t>deterministic finite automaton</a:t>
            </a:r>
            <a:r>
              <a:rPr lang="it-IT" sz="2000" dirty="0"/>
              <a:t> (</a:t>
            </a:r>
            <a:r>
              <a:rPr lang="it-IT" sz="2000" b="1" dirty="0"/>
              <a:t>DFA</a:t>
            </a:r>
            <a:r>
              <a:rPr lang="it-IT" sz="2000" dirty="0"/>
              <a:t>) </a:t>
            </a:r>
            <a:r>
              <a:rPr lang="en-US" sz="2000" dirty="0"/>
              <a:t>is a finite-state machine that accepts or rejects a given string of symbols, by running through a state sequence uniquely determined by the string</a:t>
            </a:r>
          </a:p>
        </p:txBody>
      </p:sp>
      <p:sp>
        <p:nvSpPr>
          <p:cNvPr id="4" name="Rectangle 3"/>
          <p:cNvSpPr/>
          <p:nvPr/>
        </p:nvSpPr>
        <p:spPr>
          <a:xfrm>
            <a:off x="990600" y="2971800"/>
            <a:ext cx="7315200" cy="1569660"/>
          </a:xfrm>
          <a:prstGeom prst="rect">
            <a:avLst/>
          </a:prstGeom>
        </p:spPr>
        <p:txBody>
          <a:bodyPr wrap="square">
            <a:spAutoFit/>
          </a:bodyPr>
          <a:lstStyle/>
          <a:p>
            <a:r>
              <a:rPr lang="en-US" sz="2400" dirty="0"/>
              <a:t>DFA uses include protocol analysis, text parsing, security analysis, CPU control units and natural language processing.</a:t>
            </a:r>
          </a:p>
          <a:p>
            <a:r>
              <a:rPr lang="en-US" sz="2400" b="1" u="sng" dirty="0"/>
              <a:t>Example  of DFA:</a:t>
            </a:r>
          </a:p>
        </p:txBody>
      </p:sp>
      <p:pic>
        <p:nvPicPr>
          <p:cNvPr id="5122" name="Picture 2"/>
          <p:cNvPicPr>
            <a:picLocks noChangeAspect="1" noChangeArrowheads="1"/>
          </p:cNvPicPr>
          <p:nvPr/>
        </p:nvPicPr>
        <p:blipFill>
          <a:blip r:embed="rId2"/>
          <a:srcRect/>
          <a:stretch>
            <a:fillRect/>
          </a:stretch>
        </p:blipFill>
        <p:spPr bwMode="auto">
          <a:xfrm>
            <a:off x="1066800" y="4648199"/>
            <a:ext cx="6524625" cy="1143001"/>
          </a:xfrm>
          <a:prstGeom prst="rect">
            <a:avLst/>
          </a:prstGeom>
          <a:noFill/>
          <a:ln w="9525">
            <a:noFill/>
            <a:miter lim="800000"/>
            <a:headEnd/>
            <a:tailEnd/>
          </a:ln>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183880" cy="1051560"/>
          </a:xfrm>
        </p:spPr>
        <p:txBody>
          <a:bodyPr>
            <a:normAutofit/>
          </a:bodyPr>
          <a:lstStyle/>
          <a:p>
            <a:r>
              <a:rPr lang="en-US" u="sng" dirty="0"/>
              <a:t>Non-deterministic Finite Automata</a:t>
            </a:r>
          </a:p>
        </p:txBody>
      </p:sp>
      <p:sp>
        <p:nvSpPr>
          <p:cNvPr id="3" name="Content Placeholder 2"/>
          <p:cNvSpPr>
            <a:spLocks noGrp="1"/>
          </p:cNvSpPr>
          <p:nvPr>
            <p:ph idx="1"/>
          </p:nvPr>
        </p:nvSpPr>
        <p:spPr>
          <a:xfrm>
            <a:off x="457200" y="1676400"/>
            <a:ext cx="8183880" cy="4187952"/>
          </a:xfrm>
        </p:spPr>
        <p:txBody>
          <a:bodyPr>
            <a:normAutofit/>
          </a:bodyPr>
          <a:lstStyle/>
          <a:p>
            <a:r>
              <a:rPr lang="en-US" sz="2400" dirty="0"/>
              <a:t>Non-deterministic finite automata (NFAs) are computational models that simulate systems that can be in multiple states at once. They are used in computer science to understand concepts like regular languages and automata theory.</a:t>
            </a:r>
          </a:p>
          <a:p>
            <a:r>
              <a:rPr lang="en-US" sz="2400" b="1" u="sng" dirty="0"/>
              <a:t>Example of NFA:</a:t>
            </a:r>
          </a:p>
        </p:txBody>
      </p:sp>
      <p:pic>
        <p:nvPicPr>
          <p:cNvPr id="4098" name="Picture 2"/>
          <p:cNvPicPr>
            <a:picLocks noChangeAspect="1" noChangeArrowheads="1"/>
          </p:cNvPicPr>
          <p:nvPr/>
        </p:nvPicPr>
        <p:blipFill>
          <a:blip r:embed="rId2"/>
          <a:srcRect/>
          <a:stretch>
            <a:fillRect/>
          </a:stretch>
        </p:blipFill>
        <p:spPr bwMode="auto">
          <a:xfrm>
            <a:off x="1066800" y="4419600"/>
            <a:ext cx="5829300" cy="1171575"/>
          </a:xfrm>
          <a:prstGeom prst="rect">
            <a:avLst/>
          </a:prstGeom>
          <a:noFill/>
          <a:ln w="9525">
            <a:noFill/>
            <a:miter lim="800000"/>
            <a:headEnd/>
            <a:tailEnd/>
          </a:ln>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4A59BA6-4906-7728-75E7-EAB25E678ECA}"/>
              </a:ext>
            </a:extLst>
          </p:cNvPr>
          <p:cNvSpPr txBox="1"/>
          <p:nvPr/>
        </p:nvSpPr>
        <p:spPr>
          <a:xfrm>
            <a:off x="1172718" y="1515618"/>
            <a:ext cx="2190664" cy="369332"/>
          </a:xfrm>
          <a:prstGeom prst="rect">
            <a:avLst/>
          </a:prstGeom>
          <a:noFill/>
        </p:spPr>
        <p:txBody>
          <a:bodyPr wrap="none" rtlCol="0">
            <a:spAutoFit/>
          </a:bodyPr>
          <a:lstStyle/>
          <a:p>
            <a:r>
              <a:rPr lang="en-US" b="1" u="sng" dirty="0"/>
              <a:t>NFA Transition Table:</a:t>
            </a:r>
          </a:p>
        </p:txBody>
      </p:sp>
      <p:pic>
        <p:nvPicPr>
          <p:cNvPr id="6" name="Picture 5">
            <a:extLst>
              <a:ext uri="{FF2B5EF4-FFF2-40B4-BE49-F238E27FC236}">
                <a16:creationId xmlns:a16="http://schemas.microsoft.com/office/drawing/2014/main" id="{1B5ACF8E-FFB6-68FB-38CF-FFCDBCA033C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4019" y="1861867"/>
            <a:ext cx="6809400" cy="3021029"/>
          </a:xfrm>
          <a:prstGeom prst="rect">
            <a:avLst/>
          </a:prstGeom>
        </p:spPr>
      </p:pic>
      <p:sp>
        <p:nvSpPr>
          <p:cNvPr id="7" name="TextBox 6">
            <a:extLst>
              <a:ext uri="{FF2B5EF4-FFF2-40B4-BE49-F238E27FC236}">
                <a16:creationId xmlns:a16="http://schemas.microsoft.com/office/drawing/2014/main" id="{5469FCC3-69C2-2337-87E9-F6A437D9D2A5}"/>
              </a:ext>
            </a:extLst>
          </p:cNvPr>
          <p:cNvSpPr txBox="1"/>
          <p:nvPr/>
        </p:nvSpPr>
        <p:spPr>
          <a:xfrm>
            <a:off x="514350" y="3051810"/>
            <a:ext cx="2167667" cy="923330"/>
          </a:xfrm>
          <a:prstGeom prst="rect">
            <a:avLst/>
          </a:prstGeom>
          <a:noFill/>
          <a:ln>
            <a:solidFill>
              <a:schemeClr val="tx1"/>
            </a:solidFill>
          </a:ln>
        </p:spPr>
        <p:txBody>
          <a:bodyPr wrap="square" rtlCol="0">
            <a:spAutoFit/>
          </a:bodyPr>
          <a:lstStyle/>
          <a:p>
            <a:r>
              <a:rPr lang="en-US" sz="1350" dirty="0"/>
              <a:t>Q= set of all states</a:t>
            </a:r>
            <a:br>
              <a:rPr lang="en-US" sz="1350" dirty="0"/>
            </a:br>
            <a:r>
              <a:rPr lang="en-US" sz="1350" dirty="0"/>
              <a:t>epsilon= input alphabets</a:t>
            </a:r>
            <a:br>
              <a:rPr lang="en-US" sz="1350" dirty="0"/>
            </a:br>
            <a:r>
              <a:rPr lang="en-US" sz="1350" dirty="0"/>
              <a:t>q0=start states</a:t>
            </a:r>
            <a:br>
              <a:rPr lang="en-US" sz="1350" dirty="0"/>
            </a:br>
            <a:r>
              <a:rPr lang="en-US" sz="1350" dirty="0"/>
              <a:t>F=set of final states</a:t>
            </a:r>
          </a:p>
        </p:txBody>
      </p:sp>
    </p:spTree>
    <p:extLst>
      <p:ext uri="{BB962C8B-B14F-4D97-AF65-F5344CB8AC3E}">
        <p14:creationId xmlns:p14="http://schemas.microsoft.com/office/powerpoint/2010/main" val="29457078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E70DB9-C968-9FF4-F85B-2433A0C56C2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1DCDA9F-A2B9-C2FC-AF5F-6FDAC00CCF23}"/>
              </a:ext>
            </a:extLst>
          </p:cNvPr>
          <p:cNvSpPr txBox="1"/>
          <p:nvPr/>
        </p:nvSpPr>
        <p:spPr>
          <a:xfrm>
            <a:off x="1172718" y="1515618"/>
            <a:ext cx="2120965" cy="369332"/>
          </a:xfrm>
          <a:prstGeom prst="rect">
            <a:avLst/>
          </a:prstGeom>
          <a:noFill/>
        </p:spPr>
        <p:txBody>
          <a:bodyPr wrap="none" rtlCol="0">
            <a:spAutoFit/>
          </a:bodyPr>
          <a:lstStyle/>
          <a:p>
            <a:r>
              <a:rPr lang="en-US" b="1" u="sng" dirty="0"/>
              <a:t>NFA to DFA Convert:</a:t>
            </a:r>
          </a:p>
        </p:txBody>
      </p:sp>
      <p:pic>
        <p:nvPicPr>
          <p:cNvPr id="3" name="Picture 2">
            <a:extLst>
              <a:ext uri="{FF2B5EF4-FFF2-40B4-BE49-F238E27FC236}">
                <a16:creationId xmlns:a16="http://schemas.microsoft.com/office/drawing/2014/main" id="{03FF028A-9AF4-5B97-3B9F-827C3A5A527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6176" y="2006453"/>
            <a:ext cx="7239624" cy="1926122"/>
          </a:xfrm>
          <a:prstGeom prst="rect">
            <a:avLst/>
          </a:prstGeom>
        </p:spPr>
      </p:pic>
      <p:sp>
        <p:nvSpPr>
          <p:cNvPr id="5" name="TextBox 4">
            <a:extLst>
              <a:ext uri="{FF2B5EF4-FFF2-40B4-BE49-F238E27FC236}">
                <a16:creationId xmlns:a16="http://schemas.microsoft.com/office/drawing/2014/main" id="{B97FFCE2-E8FE-19A9-2D3B-503D2C84C175}"/>
              </a:ext>
            </a:extLst>
          </p:cNvPr>
          <p:cNvSpPr txBox="1"/>
          <p:nvPr/>
        </p:nvSpPr>
        <p:spPr>
          <a:xfrm>
            <a:off x="1700785" y="3800161"/>
            <a:ext cx="832279" cy="300082"/>
          </a:xfrm>
          <a:prstGeom prst="rect">
            <a:avLst/>
          </a:prstGeom>
          <a:noFill/>
        </p:spPr>
        <p:txBody>
          <a:bodyPr wrap="none" rtlCol="0">
            <a:spAutoFit/>
          </a:bodyPr>
          <a:lstStyle/>
          <a:p>
            <a:r>
              <a:rPr lang="en-US" sz="1350" b="1" dirty="0"/>
              <a:t>Solution:</a:t>
            </a:r>
          </a:p>
        </p:txBody>
      </p:sp>
      <p:pic>
        <p:nvPicPr>
          <p:cNvPr id="9" name="Picture 8">
            <a:extLst>
              <a:ext uri="{FF2B5EF4-FFF2-40B4-BE49-F238E27FC236}">
                <a16:creationId xmlns:a16="http://schemas.microsoft.com/office/drawing/2014/main" id="{248CA34A-FE88-723D-DB6C-AB69A0196A6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18300" y="3800162"/>
            <a:ext cx="3892100" cy="1840390"/>
          </a:xfrm>
          <a:prstGeom prst="rect">
            <a:avLst/>
          </a:prstGeom>
        </p:spPr>
      </p:pic>
      <p:sp>
        <p:nvSpPr>
          <p:cNvPr id="10" name="TextBox 9">
            <a:extLst>
              <a:ext uri="{FF2B5EF4-FFF2-40B4-BE49-F238E27FC236}">
                <a16:creationId xmlns:a16="http://schemas.microsoft.com/office/drawing/2014/main" id="{D9D14EE0-0251-B5D6-CC34-D71A10934A27}"/>
              </a:ext>
            </a:extLst>
          </p:cNvPr>
          <p:cNvSpPr txBox="1"/>
          <p:nvPr/>
        </p:nvSpPr>
        <p:spPr>
          <a:xfrm>
            <a:off x="3600451" y="5640551"/>
            <a:ext cx="2724149" cy="461665"/>
          </a:xfrm>
          <a:prstGeom prst="rect">
            <a:avLst/>
          </a:prstGeom>
          <a:noFill/>
        </p:spPr>
        <p:txBody>
          <a:bodyPr wrap="square" rtlCol="0">
            <a:spAutoFit/>
          </a:bodyPr>
          <a:lstStyle/>
          <a:p>
            <a:r>
              <a:rPr lang="en-US" sz="2400" dirty="0"/>
              <a:t>NFA table</a:t>
            </a:r>
          </a:p>
        </p:txBody>
      </p:sp>
    </p:spTree>
    <p:extLst>
      <p:ext uri="{BB962C8B-B14F-4D97-AF65-F5344CB8AC3E}">
        <p14:creationId xmlns:p14="http://schemas.microsoft.com/office/powerpoint/2010/main" val="21020076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EAFF6B-57EC-E03F-1983-572FFCF2E620}"/>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E7289460-FF06-13B0-5AC9-2A239F847DC3}"/>
              </a:ext>
            </a:extLst>
          </p:cNvPr>
          <p:cNvSpPr txBox="1"/>
          <p:nvPr/>
        </p:nvSpPr>
        <p:spPr>
          <a:xfrm>
            <a:off x="706375" y="1313153"/>
            <a:ext cx="855683" cy="300082"/>
          </a:xfrm>
          <a:prstGeom prst="rect">
            <a:avLst/>
          </a:prstGeom>
          <a:noFill/>
        </p:spPr>
        <p:txBody>
          <a:bodyPr wrap="none" rtlCol="0">
            <a:spAutoFit/>
          </a:bodyPr>
          <a:lstStyle/>
          <a:p>
            <a:r>
              <a:rPr lang="en-US" sz="1350" dirty="0"/>
              <a:t>DFA table</a:t>
            </a:r>
          </a:p>
        </p:txBody>
      </p:sp>
      <p:pic>
        <p:nvPicPr>
          <p:cNvPr id="6" name="Picture 5">
            <a:extLst>
              <a:ext uri="{FF2B5EF4-FFF2-40B4-BE49-F238E27FC236}">
                <a16:creationId xmlns:a16="http://schemas.microsoft.com/office/drawing/2014/main" id="{9011A71D-A181-11B1-A1A7-6C18C15448E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1150" y="1533236"/>
            <a:ext cx="2744049" cy="3038764"/>
          </a:xfrm>
          <a:prstGeom prst="rect">
            <a:avLst/>
          </a:prstGeom>
        </p:spPr>
      </p:pic>
      <p:sp>
        <p:nvSpPr>
          <p:cNvPr id="7" name="TextBox 6">
            <a:extLst>
              <a:ext uri="{FF2B5EF4-FFF2-40B4-BE49-F238E27FC236}">
                <a16:creationId xmlns:a16="http://schemas.microsoft.com/office/drawing/2014/main" id="{F35A12DA-FF20-65C5-8FF0-EE8B8AA21CDF}"/>
              </a:ext>
            </a:extLst>
          </p:cNvPr>
          <p:cNvSpPr txBox="1"/>
          <p:nvPr/>
        </p:nvSpPr>
        <p:spPr>
          <a:xfrm>
            <a:off x="659049" y="5145477"/>
            <a:ext cx="3928191" cy="461665"/>
          </a:xfrm>
          <a:prstGeom prst="rect">
            <a:avLst/>
          </a:prstGeom>
          <a:noFill/>
          <a:ln>
            <a:solidFill>
              <a:schemeClr val="tx1">
                <a:lumMod val="85000"/>
                <a:lumOff val="15000"/>
              </a:schemeClr>
            </a:solidFill>
          </a:ln>
        </p:spPr>
        <p:txBody>
          <a:bodyPr wrap="none" rtlCol="0">
            <a:spAutoFit/>
          </a:bodyPr>
          <a:lstStyle/>
          <a:p>
            <a:r>
              <a:rPr lang="el-GR" sz="2400" dirty="0">
                <a:solidFill>
                  <a:srgbClr val="001D35"/>
                </a:solidFill>
                <a:latin typeface="Google Sans"/>
              </a:rPr>
              <a:t>δ</a:t>
            </a:r>
            <a:r>
              <a:rPr lang="en-US" sz="2400" dirty="0">
                <a:solidFill>
                  <a:srgbClr val="001D35"/>
                </a:solidFill>
                <a:latin typeface="Google Sans"/>
              </a:rPr>
              <a:t>’([</a:t>
            </a:r>
            <a:r>
              <a:rPr lang="en-US" sz="2400" dirty="0" err="1">
                <a:solidFill>
                  <a:srgbClr val="001D35"/>
                </a:solidFill>
                <a:latin typeface="Google Sans"/>
              </a:rPr>
              <a:t>qx,qy</a:t>
            </a:r>
            <a:r>
              <a:rPr lang="en-US" sz="2400" dirty="0">
                <a:solidFill>
                  <a:srgbClr val="001D35"/>
                </a:solidFill>
                <a:latin typeface="Google Sans"/>
              </a:rPr>
              <a:t>],0)=</a:t>
            </a:r>
            <a:r>
              <a:rPr lang="el-GR" sz="2400" dirty="0">
                <a:solidFill>
                  <a:srgbClr val="001D35"/>
                </a:solidFill>
                <a:latin typeface="Google Sans"/>
              </a:rPr>
              <a:t>δ</a:t>
            </a:r>
            <a:r>
              <a:rPr lang="en-US" sz="2400" dirty="0">
                <a:solidFill>
                  <a:srgbClr val="001D35"/>
                </a:solidFill>
                <a:latin typeface="Google Sans"/>
              </a:rPr>
              <a:t>(qx,0) U </a:t>
            </a:r>
            <a:r>
              <a:rPr lang="el-GR" sz="2400" dirty="0">
                <a:solidFill>
                  <a:srgbClr val="001D35"/>
                </a:solidFill>
                <a:latin typeface="Google Sans"/>
              </a:rPr>
              <a:t>δ</a:t>
            </a:r>
            <a:r>
              <a:rPr lang="en-US" sz="2400" dirty="0">
                <a:solidFill>
                  <a:srgbClr val="001D35"/>
                </a:solidFill>
                <a:latin typeface="Google Sans"/>
              </a:rPr>
              <a:t>(qy,0)</a:t>
            </a:r>
            <a:endParaRPr lang="en-US" sz="2400" dirty="0"/>
          </a:p>
        </p:txBody>
      </p:sp>
      <p:pic>
        <p:nvPicPr>
          <p:cNvPr id="11" name="Picture 10">
            <a:extLst>
              <a:ext uri="{FF2B5EF4-FFF2-40B4-BE49-F238E27FC236}">
                <a16:creationId xmlns:a16="http://schemas.microsoft.com/office/drawing/2014/main" id="{12F0C1CC-C4FA-4052-4836-5C9A47E0F87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36321" y="3030732"/>
            <a:ext cx="3846528" cy="1983277"/>
          </a:xfrm>
          <a:prstGeom prst="rect">
            <a:avLst/>
          </a:prstGeom>
        </p:spPr>
      </p:pic>
      <p:sp>
        <p:nvSpPr>
          <p:cNvPr id="12" name="TextBox 11">
            <a:extLst>
              <a:ext uri="{FF2B5EF4-FFF2-40B4-BE49-F238E27FC236}">
                <a16:creationId xmlns:a16="http://schemas.microsoft.com/office/drawing/2014/main" id="{955BE404-6C2E-F6B9-3443-37AEDD8C9F51}"/>
              </a:ext>
            </a:extLst>
          </p:cNvPr>
          <p:cNvSpPr txBox="1"/>
          <p:nvPr/>
        </p:nvSpPr>
        <p:spPr>
          <a:xfrm>
            <a:off x="4464558" y="2599182"/>
            <a:ext cx="1676613" cy="300082"/>
          </a:xfrm>
          <a:prstGeom prst="rect">
            <a:avLst/>
          </a:prstGeom>
          <a:noFill/>
        </p:spPr>
        <p:txBody>
          <a:bodyPr wrap="none" rtlCol="0">
            <a:spAutoFit/>
          </a:bodyPr>
          <a:lstStyle/>
          <a:p>
            <a:r>
              <a:rPr lang="en-US" sz="1350" u="sng" dirty="0"/>
              <a:t>Final diagram of DFA:</a:t>
            </a:r>
          </a:p>
        </p:txBody>
      </p:sp>
    </p:spTree>
    <p:extLst>
      <p:ext uri="{BB962C8B-B14F-4D97-AF65-F5344CB8AC3E}">
        <p14:creationId xmlns:p14="http://schemas.microsoft.com/office/powerpoint/2010/main" val="24573595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D71A25-78F9-8054-662F-DF20BAF127C9}"/>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280C961C-C9A0-624F-330D-F4D52D544416}"/>
              </a:ext>
            </a:extLst>
          </p:cNvPr>
          <p:cNvSpPr txBox="1"/>
          <p:nvPr/>
        </p:nvSpPr>
        <p:spPr>
          <a:xfrm>
            <a:off x="706374" y="1313153"/>
            <a:ext cx="2634504" cy="300082"/>
          </a:xfrm>
          <a:prstGeom prst="rect">
            <a:avLst/>
          </a:prstGeom>
          <a:noFill/>
        </p:spPr>
        <p:txBody>
          <a:bodyPr wrap="none" rtlCol="0">
            <a:spAutoFit/>
          </a:bodyPr>
          <a:lstStyle/>
          <a:p>
            <a:r>
              <a:rPr lang="en-US" sz="1350" u="sng" dirty="0"/>
              <a:t>Eliminating </a:t>
            </a:r>
            <a:r>
              <a:rPr lang="el-GR" sz="1350" u="sng" dirty="0"/>
              <a:t>ε </a:t>
            </a:r>
            <a:r>
              <a:rPr lang="en-US" sz="1350" u="sng" dirty="0"/>
              <a:t>Transitions from NFA:</a:t>
            </a:r>
          </a:p>
        </p:txBody>
      </p:sp>
      <p:sp>
        <p:nvSpPr>
          <p:cNvPr id="7" name="TextBox 6">
            <a:extLst>
              <a:ext uri="{FF2B5EF4-FFF2-40B4-BE49-F238E27FC236}">
                <a16:creationId xmlns:a16="http://schemas.microsoft.com/office/drawing/2014/main" id="{94735C53-8559-9174-DE6E-D0AF164217FB}"/>
              </a:ext>
            </a:extLst>
          </p:cNvPr>
          <p:cNvSpPr txBox="1"/>
          <p:nvPr/>
        </p:nvSpPr>
        <p:spPr>
          <a:xfrm>
            <a:off x="6897087" y="1092665"/>
            <a:ext cx="2297937" cy="300082"/>
          </a:xfrm>
          <a:prstGeom prst="rect">
            <a:avLst/>
          </a:prstGeom>
          <a:noFill/>
          <a:ln>
            <a:solidFill>
              <a:schemeClr val="tx1">
                <a:lumMod val="85000"/>
                <a:lumOff val="15000"/>
              </a:schemeClr>
            </a:solidFill>
          </a:ln>
        </p:spPr>
        <p:txBody>
          <a:bodyPr wrap="none" rtlCol="0">
            <a:spAutoFit/>
          </a:bodyPr>
          <a:lstStyle/>
          <a:p>
            <a:r>
              <a:rPr lang="el-GR" sz="1350" dirty="0">
                <a:solidFill>
                  <a:srgbClr val="001D35"/>
                </a:solidFill>
                <a:latin typeface="Google Sans"/>
              </a:rPr>
              <a:t>δ</a:t>
            </a:r>
            <a:r>
              <a:rPr lang="en-US" sz="1350" dirty="0">
                <a:solidFill>
                  <a:srgbClr val="001D35"/>
                </a:solidFill>
                <a:latin typeface="Google Sans"/>
              </a:rPr>
              <a:t>’([</a:t>
            </a:r>
            <a:r>
              <a:rPr lang="en-US" sz="1350" dirty="0" err="1">
                <a:solidFill>
                  <a:srgbClr val="001D35"/>
                </a:solidFill>
                <a:latin typeface="Google Sans"/>
              </a:rPr>
              <a:t>qx,qy</a:t>
            </a:r>
            <a:r>
              <a:rPr lang="en-US" sz="1350" dirty="0">
                <a:solidFill>
                  <a:srgbClr val="001D35"/>
                </a:solidFill>
                <a:latin typeface="Google Sans"/>
              </a:rPr>
              <a:t>],0)=</a:t>
            </a:r>
            <a:r>
              <a:rPr lang="el-GR" sz="1350" dirty="0">
                <a:solidFill>
                  <a:srgbClr val="001D35"/>
                </a:solidFill>
                <a:latin typeface="Google Sans"/>
              </a:rPr>
              <a:t>δ</a:t>
            </a:r>
            <a:r>
              <a:rPr lang="en-US" sz="1350" dirty="0">
                <a:solidFill>
                  <a:srgbClr val="001D35"/>
                </a:solidFill>
                <a:latin typeface="Google Sans"/>
              </a:rPr>
              <a:t>(qx,0) U </a:t>
            </a:r>
            <a:r>
              <a:rPr lang="el-GR" sz="1350" dirty="0">
                <a:solidFill>
                  <a:srgbClr val="001D35"/>
                </a:solidFill>
                <a:latin typeface="Google Sans"/>
              </a:rPr>
              <a:t>δ</a:t>
            </a:r>
            <a:r>
              <a:rPr lang="en-US" sz="1350" dirty="0">
                <a:solidFill>
                  <a:srgbClr val="001D35"/>
                </a:solidFill>
                <a:latin typeface="Google Sans"/>
              </a:rPr>
              <a:t>(qy,0)</a:t>
            </a:r>
            <a:endParaRPr lang="en-US" sz="1350" dirty="0"/>
          </a:p>
        </p:txBody>
      </p:sp>
      <p:sp>
        <p:nvSpPr>
          <p:cNvPr id="12" name="TextBox 11">
            <a:extLst>
              <a:ext uri="{FF2B5EF4-FFF2-40B4-BE49-F238E27FC236}">
                <a16:creationId xmlns:a16="http://schemas.microsoft.com/office/drawing/2014/main" id="{1970AF59-0795-0576-7372-A712887256CE}"/>
              </a:ext>
            </a:extLst>
          </p:cNvPr>
          <p:cNvSpPr txBox="1"/>
          <p:nvPr/>
        </p:nvSpPr>
        <p:spPr>
          <a:xfrm>
            <a:off x="1062553" y="3236345"/>
            <a:ext cx="814647" cy="300082"/>
          </a:xfrm>
          <a:prstGeom prst="rect">
            <a:avLst/>
          </a:prstGeom>
          <a:noFill/>
        </p:spPr>
        <p:txBody>
          <a:bodyPr wrap="none" rtlCol="0">
            <a:spAutoFit/>
          </a:bodyPr>
          <a:lstStyle/>
          <a:p>
            <a:r>
              <a:rPr lang="en-US" sz="1350" u="sng" dirty="0"/>
              <a:t>Solution:</a:t>
            </a:r>
          </a:p>
        </p:txBody>
      </p:sp>
      <p:pic>
        <p:nvPicPr>
          <p:cNvPr id="3" name="Picture 2">
            <a:extLst>
              <a:ext uri="{FF2B5EF4-FFF2-40B4-BE49-F238E27FC236}">
                <a16:creationId xmlns:a16="http://schemas.microsoft.com/office/drawing/2014/main" id="{0F727BD2-90D1-B662-D4E4-888E4491CDE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3968" y="1702513"/>
            <a:ext cx="3932261" cy="1440305"/>
          </a:xfrm>
          <a:prstGeom prst="rect">
            <a:avLst/>
          </a:prstGeom>
        </p:spPr>
      </p:pic>
      <p:sp>
        <p:nvSpPr>
          <p:cNvPr id="4" name="TextBox 3">
            <a:extLst>
              <a:ext uri="{FF2B5EF4-FFF2-40B4-BE49-F238E27FC236}">
                <a16:creationId xmlns:a16="http://schemas.microsoft.com/office/drawing/2014/main" id="{D76612D3-E22E-4D11-4347-35650241F1B7}"/>
              </a:ext>
            </a:extLst>
          </p:cNvPr>
          <p:cNvSpPr txBox="1"/>
          <p:nvPr/>
        </p:nvSpPr>
        <p:spPr>
          <a:xfrm>
            <a:off x="1274163" y="4688193"/>
            <a:ext cx="1619289" cy="300082"/>
          </a:xfrm>
          <a:prstGeom prst="rect">
            <a:avLst/>
          </a:prstGeom>
          <a:noFill/>
        </p:spPr>
        <p:txBody>
          <a:bodyPr wrap="none" rtlCol="0">
            <a:spAutoFit/>
          </a:bodyPr>
          <a:lstStyle/>
          <a:p>
            <a:r>
              <a:rPr lang="en-US" sz="1350" dirty="0"/>
              <a:t>Table of Epsilon-NFA</a:t>
            </a:r>
          </a:p>
        </p:txBody>
      </p:sp>
      <p:graphicFrame>
        <p:nvGraphicFramePr>
          <p:cNvPr id="9" name="Table 8">
            <a:extLst>
              <a:ext uri="{FF2B5EF4-FFF2-40B4-BE49-F238E27FC236}">
                <a16:creationId xmlns:a16="http://schemas.microsoft.com/office/drawing/2014/main" id="{412BC704-3176-C3E2-03B6-02B0E32A416B}"/>
              </a:ext>
            </a:extLst>
          </p:cNvPr>
          <p:cNvGraphicFramePr>
            <a:graphicFrameLocks noGrp="1"/>
          </p:cNvGraphicFramePr>
          <p:nvPr/>
        </p:nvGraphicFramePr>
        <p:xfrm>
          <a:off x="1123286" y="3513345"/>
          <a:ext cx="2429160" cy="1127760"/>
        </p:xfrm>
        <a:graphic>
          <a:graphicData uri="http://schemas.openxmlformats.org/drawingml/2006/table">
            <a:tbl>
              <a:tblPr firstRow="1" bandRow="1">
                <a:tableStyleId>{5C22544A-7EE6-4342-B048-85BDC9FD1C3A}</a:tableStyleId>
              </a:tblPr>
              <a:tblGrid>
                <a:gridCol w="809720">
                  <a:extLst>
                    <a:ext uri="{9D8B030D-6E8A-4147-A177-3AD203B41FA5}">
                      <a16:colId xmlns:a16="http://schemas.microsoft.com/office/drawing/2014/main" val="324073078"/>
                    </a:ext>
                  </a:extLst>
                </a:gridCol>
                <a:gridCol w="809720">
                  <a:extLst>
                    <a:ext uri="{9D8B030D-6E8A-4147-A177-3AD203B41FA5}">
                      <a16:colId xmlns:a16="http://schemas.microsoft.com/office/drawing/2014/main" val="3726199545"/>
                    </a:ext>
                  </a:extLst>
                </a:gridCol>
                <a:gridCol w="809720">
                  <a:extLst>
                    <a:ext uri="{9D8B030D-6E8A-4147-A177-3AD203B41FA5}">
                      <a16:colId xmlns:a16="http://schemas.microsoft.com/office/drawing/2014/main" val="2083515573"/>
                    </a:ext>
                  </a:extLst>
                </a:gridCol>
              </a:tblGrid>
              <a:tr h="274320">
                <a:tc>
                  <a:txBody>
                    <a:bodyPr/>
                    <a:lstStyle/>
                    <a:p>
                      <a:r>
                        <a:rPr lang="el-GR" sz="1400" b="0" i="0" kern="1200" dirty="0">
                          <a:solidFill>
                            <a:schemeClr val="lt1"/>
                          </a:solidFill>
                          <a:effectLst/>
                          <a:latin typeface="+mn-lt"/>
                          <a:ea typeface="+mn-ea"/>
                          <a:cs typeface="+mn-cs"/>
                        </a:rPr>
                        <a:t>δ</a:t>
                      </a:r>
                      <a:endParaRPr lang="en-US" sz="1000" dirty="0"/>
                    </a:p>
                  </a:txBody>
                  <a:tcPr marL="68580" marR="68580" marT="34290" marB="34290"/>
                </a:tc>
                <a:tc>
                  <a:txBody>
                    <a:bodyPr/>
                    <a:lstStyle/>
                    <a:p>
                      <a:r>
                        <a:rPr lang="en-US" sz="1000" dirty="0"/>
                        <a:t>a</a:t>
                      </a:r>
                    </a:p>
                  </a:txBody>
                  <a:tcPr marL="68580" marR="68580" marT="34290" marB="34290"/>
                </a:tc>
                <a:tc>
                  <a:txBody>
                    <a:bodyPr/>
                    <a:lstStyle/>
                    <a:p>
                      <a:r>
                        <a:rPr lang="en-US" sz="1000" dirty="0"/>
                        <a:t>b</a:t>
                      </a:r>
                    </a:p>
                  </a:txBody>
                  <a:tcPr marL="68580" marR="68580" marT="34290" marB="34290"/>
                </a:tc>
                <a:extLst>
                  <a:ext uri="{0D108BD9-81ED-4DB2-BD59-A6C34878D82A}">
                    <a16:rowId xmlns:a16="http://schemas.microsoft.com/office/drawing/2014/main" val="615267237"/>
                  </a:ext>
                </a:extLst>
              </a:tr>
              <a:tr h="274320">
                <a:tc>
                  <a:txBody>
                    <a:bodyPr/>
                    <a:lstStyle/>
                    <a:p>
                      <a:r>
                        <a:rPr lang="en-US" sz="1000" dirty="0"/>
                        <a:t>q0</a:t>
                      </a:r>
                    </a:p>
                  </a:txBody>
                  <a:tcPr marL="68580" marR="68580" marT="34290" marB="34290"/>
                </a:tc>
                <a:tc>
                  <a:txBody>
                    <a:bodyPr/>
                    <a:lstStyle/>
                    <a:p>
                      <a:r>
                        <a:rPr lang="en-US" sz="1000" dirty="0"/>
                        <a:t>q1</a:t>
                      </a:r>
                    </a:p>
                  </a:txBody>
                  <a:tcPr marL="68580" marR="68580" marT="34290" marB="34290"/>
                </a:tc>
                <a:tc>
                  <a:txBody>
                    <a:bodyPr/>
                    <a:lstStyle/>
                    <a:p>
                      <a:r>
                        <a:rPr lang="el-GR" sz="1400" b="0" i="0" kern="1200" dirty="0">
                          <a:solidFill>
                            <a:schemeClr val="dk1"/>
                          </a:solidFill>
                          <a:effectLst/>
                          <a:latin typeface="+mn-lt"/>
                          <a:ea typeface="+mn-ea"/>
                          <a:cs typeface="+mn-cs"/>
                        </a:rPr>
                        <a:t>Φ</a:t>
                      </a:r>
                      <a:endParaRPr lang="en-US" sz="1000" dirty="0"/>
                    </a:p>
                  </a:txBody>
                  <a:tcPr marL="68580" marR="68580" marT="34290" marB="34290"/>
                </a:tc>
                <a:extLst>
                  <a:ext uri="{0D108BD9-81ED-4DB2-BD59-A6C34878D82A}">
                    <a16:rowId xmlns:a16="http://schemas.microsoft.com/office/drawing/2014/main" val="4094572557"/>
                  </a:ext>
                </a:extLst>
              </a:tr>
              <a:tr h="274320">
                <a:tc>
                  <a:txBody>
                    <a:bodyPr/>
                    <a:lstStyle/>
                    <a:p>
                      <a:r>
                        <a:rPr lang="en-US" sz="1000" dirty="0"/>
                        <a:t>q1</a:t>
                      </a:r>
                    </a:p>
                  </a:txBody>
                  <a:tcPr marL="68580" marR="68580" marT="34290" marB="34290"/>
                </a:tc>
                <a:tc>
                  <a:txBody>
                    <a:bodyPr/>
                    <a:lstStyle/>
                    <a:p>
                      <a:r>
                        <a:rPr lang="el-GR" sz="1400" b="0" i="0" kern="1200" dirty="0">
                          <a:solidFill>
                            <a:schemeClr val="dk1"/>
                          </a:solidFill>
                          <a:effectLst/>
                          <a:latin typeface="+mn-lt"/>
                          <a:ea typeface="+mn-ea"/>
                          <a:cs typeface="+mn-cs"/>
                        </a:rPr>
                        <a:t>Φ</a:t>
                      </a:r>
                      <a:endParaRPr lang="en-US" sz="1000" dirty="0"/>
                    </a:p>
                  </a:txBody>
                  <a:tcPr marL="68580" marR="68580" marT="34290" marB="34290"/>
                </a:tc>
                <a:tc>
                  <a:txBody>
                    <a:bodyPr/>
                    <a:lstStyle/>
                    <a:p>
                      <a:r>
                        <a:rPr lang="el-GR" sz="1400" b="0" i="0" kern="1200" dirty="0">
                          <a:solidFill>
                            <a:schemeClr val="dk1"/>
                          </a:solidFill>
                          <a:effectLst/>
                          <a:latin typeface="+mn-lt"/>
                          <a:ea typeface="+mn-ea"/>
                          <a:cs typeface="+mn-cs"/>
                        </a:rPr>
                        <a:t>Φ</a:t>
                      </a:r>
                      <a:endParaRPr lang="en-US" sz="1000" dirty="0"/>
                    </a:p>
                  </a:txBody>
                  <a:tcPr marL="68580" marR="68580" marT="34290" marB="34290"/>
                </a:tc>
                <a:extLst>
                  <a:ext uri="{0D108BD9-81ED-4DB2-BD59-A6C34878D82A}">
                    <a16:rowId xmlns:a16="http://schemas.microsoft.com/office/drawing/2014/main" val="2390161439"/>
                  </a:ext>
                </a:extLst>
              </a:tr>
              <a:tr h="274320">
                <a:tc>
                  <a:txBody>
                    <a:bodyPr/>
                    <a:lstStyle/>
                    <a:p>
                      <a:r>
                        <a:rPr lang="en-US" sz="1000" dirty="0"/>
                        <a:t>*q2</a:t>
                      </a:r>
                    </a:p>
                  </a:txBody>
                  <a:tcPr marL="68580" marR="68580" marT="34290" marB="34290"/>
                </a:tc>
                <a:tc>
                  <a:txBody>
                    <a:bodyPr/>
                    <a:lstStyle/>
                    <a:p>
                      <a:r>
                        <a:rPr lang="el-GR" sz="1400" b="0" i="0" kern="1200" dirty="0">
                          <a:solidFill>
                            <a:schemeClr val="dk1"/>
                          </a:solidFill>
                          <a:effectLst/>
                          <a:latin typeface="+mn-lt"/>
                          <a:ea typeface="+mn-ea"/>
                          <a:cs typeface="+mn-cs"/>
                        </a:rPr>
                        <a:t>Φ</a:t>
                      </a:r>
                      <a:endParaRPr lang="en-US" sz="1000" dirty="0"/>
                    </a:p>
                  </a:txBody>
                  <a:tcPr marL="68580" marR="68580" marT="34290" marB="34290"/>
                </a:tc>
                <a:tc>
                  <a:txBody>
                    <a:bodyPr/>
                    <a:lstStyle/>
                    <a:p>
                      <a:r>
                        <a:rPr lang="en-US" sz="1000" dirty="0"/>
                        <a:t>q2</a:t>
                      </a:r>
                    </a:p>
                  </a:txBody>
                  <a:tcPr marL="68580" marR="68580" marT="34290" marB="34290"/>
                </a:tc>
                <a:extLst>
                  <a:ext uri="{0D108BD9-81ED-4DB2-BD59-A6C34878D82A}">
                    <a16:rowId xmlns:a16="http://schemas.microsoft.com/office/drawing/2014/main" val="1692795067"/>
                  </a:ext>
                </a:extLst>
              </a:tr>
            </a:tbl>
          </a:graphicData>
        </a:graphic>
      </p:graphicFrame>
      <p:cxnSp>
        <p:nvCxnSpPr>
          <p:cNvPr id="14" name="Straight Arrow Connector 13">
            <a:extLst>
              <a:ext uri="{FF2B5EF4-FFF2-40B4-BE49-F238E27FC236}">
                <a16:creationId xmlns:a16="http://schemas.microsoft.com/office/drawing/2014/main" id="{C9B67DDD-E3AD-A5B2-F5E2-EE59EDC8BAD0}"/>
              </a:ext>
            </a:extLst>
          </p:cNvPr>
          <p:cNvCxnSpPr>
            <a:cxnSpLocks/>
          </p:cNvCxnSpPr>
          <p:nvPr/>
        </p:nvCxnSpPr>
        <p:spPr>
          <a:xfrm>
            <a:off x="911677" y="3936492"/>
            <a:ext cx="30175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17" name="Picture 16">
            <a:extLst>
              <a:ext uri="{FF2B5EF4-FFF2-40B4-BE49-F238E27FC236}">
                <a16:creationId xmlns:a16="http://schemas.microsoft.com/office/drawing/2014/main" id="{A11F6B46-7B1A-BFF8-CC80-2D0E95E56AD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30974" y="1879065"/>
            <a:ext cx="2390652" cy="967005"/>
          </a:xfrm>
          <a:prstGeom prst="rect">
            <a:avLst/>
          </a:prstGeom>
        </p:spPr>
      </p:pic>
      <p:pic>
        <p:nvPicPr>
          <p:cNvPr id="19" name="Picture 18">
            <a:extLst>
              <a:ext uri="{FF2B5EF4-FFF2-40B4-BE49-F238E27FC236}">
                <a16:creationId xmlns:a16="http://schemas.microsoft.com/office/drawing/2014/main" id="{03B31B83-8BCA-AE3C-F97E-4DAD1C4FC26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82915" y="3894686"/>
            <a:ext cx="3651485" cy="2506114"/>
          </a:xfrm>
          <a:prstGeom prst="rect">
            <a:avLst/>
          </a:prstGeom>
        </p:spPr>
      </p:pic>
      <p:sp>
        <p:nvSpPr>
          <p:cNvPr id="20" name="TextBox 19">
            <a:extLst>
              <a:ext uri="{FF2B5EF4-FFF2-40B4-BE49-F238E27FC236}">
                <a16:creationId xmlns:a16="http://schemas.microsoft.com/office/drawing/2014/main" id="{A16B73E2-E299-27E6-8599-9D7C95283414}"/>
              </a:ext>
            </a:extLst>
          </p:cNvPr>
          <p:cNvSpPr txBox="1"/>
          <p:nvPr/>
        </p:nvSpPr>
        <p:spPr>
          <a:xfrm>
            <a:off x="4696773" y="3617687"/>
            <a:ext cx="2244461" cy="300082"/>
          </a:xfrm>
          <a:prstGeom prst="rect">
            <a:avLst/>
          </a:prstGeom>
          <a:noFill/>
        </p:spPr>
        <p:txBody>
          <a:bodyPr wrap="none" rtlCol="0">
            <a:spAutoFit/>
          </a:bodyPr>
          <a:lstStyle/>
          <a:p>
            <a:r>
              <a:rPr lang="en-US" sz="1350" dirty="0"/>
              <a:t>Table of NFA without epsilon:</a:t>
            </a:r>
          </a:p>
        </p:txBody>
      </p:sp>
    </p:spTree>
    <p:extLst>
      <p:ext uri="{BB962C8B-B14F-4D97-AF65-F5344CB8AC3E}">
        <p14:creationId xmlns:p14="http://schemas.microsoft.com/office/powerpoint/2010/main" val="19486725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8AA2F15-065B-F5B4-E681-8A4F89F960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9335" y="1724037"/>
            <a:ext cx="5294375" cy="2075862"/>
          </a:xfrm>
          <a:prstGeom prst="rect">
            <a:avLst/>
          </a:prstGeom>
        </p:spPr>
      </p:pic>
      <p:sp>
        <p:nvSpPr>
          <p:cNvPr id="6" name="TextBox 5">
            <a:extLst>
              <a:ext uri="{FF2B5EF4-FFF2-40B4-BE49-F238E27FC236}">
                <a16:creationId xmlns:a16="http://schemas.microsoft.com/office/drawing/2014/main" id="{BE054ED3-FA88-0DC0-581D-1C6F2F1451E0}"/>
              </a:ext>
            </a:extLst>
          </p:cNvPr>
          <p:cNvSpPr txBox="1"/>
          <p:nvPr/>
        </p:nvSpPr>
        <p:spPr>
          <a:xfrm>
            <a:off x="830289" y="1447038"/>
            <a:ext cx="2637582" cy="300082"/>
          </a:xfrm>
          <a:prstGeom prst="rect">
            <a:avLst/>
          </a:prstGeom>
          <a:noFill/>
        </p:spPr>
        <p:txBody>
          <a:bodyPr wrap="none" rtlCol="0">
            <a:spAutoFit/>
          </a:bodyPr>
          <a:lstStyle/>
          <a:p>
            <a:r>
              <a:rPr lang="en-US" sz="1350" dirty="0"/>
              <a:t>Final NFA diagram without epsilon:</a:t>
            </a:r>
          </a:p>
        </p:txBody>
      </p:sp>
    </p:spTree>
    <p:extLst>
      <p:ext uri="{BB962C8B-B14F-4D97-AF65-F5344CB8AC3E}">
        <p14:creationId xmlns:p14="http://schemas.microsoft.com/office/powerpoint/2010/main" val="42107708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268C92-4C6C-48CB-01C4-FFC107ED57E7}"/>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ED84C1EB-2EE8-84EC-49C4-F92888BD52D5}"/>
              </a:ext>
            </a:extLst>
          </p:cNvPr>
          <p:cNvSpPr txBox="1"/>
          <p:nvPr/>
        </p:nvSpPr>
        <p:spPr>
          <a:xfrm>
            <a:off x="2890439" y="685800"/>
            <a:ext cx="2468561" cy="584775"/>
          </a:xfrm>
          <a:prstGeom prst="rect">
            <a:avLst/>
          </a:prstGeom>
          <a:noFill/>
        </p:spPr>
        <p:txBody>
          <a:bodyPr wrap="none" rtlCol="0">
            <a:spAutoFit/>
          </a:bodyPr>
          <a:lstStyle/>
          <a:p>
            <a:pPr algn="ctr"/>
            <a:r>
              <a:rPr lang="el-GR" sz="3200" u="sng" dirty="0"/>
              <a:t>ε</a:t>
            </a:r>
            <a:r>
              <a:rPr lang="en-US" sz="3200" u="sng" dirty="0"/>
              <a:t>-NFA to DFA:</a:t>
            </a:r>
          </a:p>
        </p:txBody>
      </p:sp>
      <p:sp>
        <p:nvSpPr>
          <p:cNvPr id="12" name="TextBox 11">
            <a:extLst>
              <a:ext uri="{FF2B5EF4-FFF2-40B4-BE49-F238E27FC236}">
                <a16:creationId xmlns:a16="http://schemas.microsoft.com/office/drawing/2014/main" id="{97365887-BC7F-F515-939C-416885B684E0}"/>
              </a:ext>
            </a:extLst>
          </p:cNvPr>
          <p:cNvSpPr txBox="1"/>
          <p:nvPr/>
        </p:nvSpPr>
        <p:spPr>
          <a:xfrm>
            <a:off x="1048257" y="3470450"/>
            <a:ext cx="814647" cy="300082"/>
          </a:xfrm>
          <a:prstGeom prst="rect">
            <a:avLst/>
          </a:prstGeom>
          <a:noFill/>
        </p:spPr>
        <p:txBody>
          <a:bodyPr wrap="none" rtlCol="0">
            <a:spAutoFit/>
          </a:bodyPr>
          <a:lstStyle/>
          <a:p>
            <a:r>
              <a:rPr lang="en-US" sz="1350" u="sng" dirty="0"/>
              <a:t>Solution:</a:t>
            </a:r>
          </a:p>
        </p:txBody>
      </p:sp>
      <p:sp>
        <p:nvSpPr>
          <p:cNvPr id="4" name="TextBox 3">
            <a:extLst>
              <a:ext uri="{FF2B5EF4-FFF2-40B4-BE49-F238E27FC236}">
                <a16:creationId xmlns:a16="http://schemas.microsoft.com/office/drawing/2014/main" id="{62C5BCF1-7B33-49D2-2913-55BBF7F7C79B}"/>
              </a:ext>
            </a:extLst>
          </p:cNvPr>
          <p:cNvSpPr txBox="1"/>
          <p:nvPr/>
        </p:nvSpPr>
        <p:spPr>
          <a:xfrm>
            <a:off x="1304813" y="5393963"/>
            <a:ext cx="1619289" cy="300082"/>
          </a:xfrm>
          <a:prstGeom prst="rect">
            <a:avLst/>
          </a:prstGeom>
          <a:noFill/>
        </p:spPr>
        <p:txBody>
          <a:bodyPr wrap="none" rtlCol="0">
            <a:spAutoFit/>
          </a:bodyPr>
          <a:lstStyle/>
          <a:p>
            <a:r>
              <a:rPr lang="en-US" sz="1350" dirty="0"/>
              <a:t>Table of Epsilon-NFA</a:t>
            </a:r>
          </a:p>
        </p:txBody>
      </p:sp>
      <p:graphicFrame>
        <p:nvGraphicFramePr>
          <p:cNvPr id="9" name="Table 8">
            <a:extLst>
              <a:ext uri="{FF2B5EF4-FFF2-40B4-BE49-F238E27FC236}">
                <a16:creationId xmlns:a16="http://schemas.microsoft.com/office/drawing/2014/main" id="{B478894A-71D4-8554-BB39-948FA1FAD893}"/>
              </a:ext>
            </a:extLst>
          </p:cNvPr>
          <p:cNvGraphicFramePr>
            <a:graphicFrameLocks noGrp="1"/>
          </p:cNvGraphicFramePr>
          <p:nvPr>
            <p:extLst>
              <p:ext uri="{D42A27DB-BD31-4B8C-83A1-F6EECF244321}">
                <p14:modId xmlns:p14="http://schemas.microsoft.com/office/powerpoint/2010/main" val="880539017"/>
              </p:ext>
            </p:extLst>
          </p:nvPr>
        </p:nvGraphicFramePr>
        <p:xfrm>
          <a:off x="1062552" y="4094830"/>
          <a:ext cx="2976048" cy="1149084"/>
        </p:xfrm>
        <a:graphic>
          <a:graphicData uri="http://schemas.openxmlformats.org/drawingml/2006/table">
            <a:tbl>
              <a:tblPr firstRow="1" bandRow="1">
                <a:tableStyleId>{5C22544A-7EE6-4342-B048-85BDC9FD1C3A}</a:tableStyleId>
              </a:tblPr>
              <a:tblGrid>
                <a:gridCol w="992016">
                  <a:extLst>
                    <a:ext uri="{9D8B030D-6E8A-4147-A177-3AD203B41FA5}">
                      <a16:colId xmlns:a16="http://schemas.microsoft.com/office/drawing/2014/main" val="324073078"/>
                    </a:ext>
                  </a:extLst>
                </a:gridCol>
                <a:gridCol w="992016">
                  <a:extLst>
                    <a:ext uri="{9D8B030D-6E8A-4147-A177-3AD203B41FA5}">
                      <a16:colId xmlns:a16="http://schemas.microsoft.com/office/drawing/2014/main" val="3726199545"/>
                    </a:ext>
                  </a:extLst>
                </a:gridCol>
                <a:gridCol w="992016">
                  <a:extLst>
                    <a:ext uri="{9D8B030D-6E8A-4147-A177-3AD203B41FA5}">
                      <a16:colId xmlns:a16="http://schemas.microsoft.com/office/drawing/2014/main" val="2083515573"/>
                    </a:ext>
                  </a:extLst>
                </a:gridCol>
              </a:tblGrid>
              <a:tr h="287271">
                <a:tc>
                  <a:txBody>
                    <a:bodyPr/>
                    <a:lstStyle/>
                    <a:p>
                      <a:r>
                        <a:rPr lang="el-GR" sz="1400" b="0" i="0" kern="1200" dirty="0">
                          <a:solidFill>
                            <a:schemeClr val="lt1"/>
                          </a:solidFill>
                          <a:effectLst/>
                          <a:latin typeface="+mn-lt"/>
                          <a:ea typeface="+mn-ea"/>
                          <a:cs typeface="+mn-cs"/>
                        </a:rPr>
                        <a:t>δ</a:t>
                      </a:r>
                      <a:endParaRPr lang="en-US" sz="1000" dirty="0"/>
                    </a:p>
                  </a:txBody>
                  <a:tcPr marL="68580" marR="68580" marT="34290" marB="34290"/>
                </a:tc>
                <a:tc>
                  <a:txBody>
                    <a:bodyPr/>
                    <a:lstStyle/>
                    <a:p>
                      <a:r>
                        <a:rPr lang="en-US" sz="1000" dirty="0"/>
                        <a:t>a</a:t>
                      </a:r>
                    </a:p>
                  </a:txBody>
                  <a:tcPr marL="68580" marR="68580" marT="34290" marB="34290"/>
                </a:tc>
                <a:tc>
                  <a:txBody>
                    <a:bodyPr/>
                    <a:lstStyle/>
                    <a:p>
                      <a:r>
                        <a:rPr lang="en-US" sz="1000" dirty="0"/>
                        <a:t>b</a:t>
                      </a:r>
                    </a:p>
                  </a:txBody>
                  <a:tcPr marL="68580" marR="68580" marT="34290" marB="34290"/>
                </a:tc>
                <a:extLst>
                  <a:ext uri="{0D108BD9-81ED-4DB2-BD59-A6C34878D82A}">
                    <a16:rowId xmlns:a16="http://schemas.microsoft.com/office/drawing/2014/main" val="615267237"/>
                  </a:ext>
                </a:extLst>
              </a:tr>
              <a:tr h="287271">
                <a:tc>
                  <a:txBody>
                    <a:bodyPr/>
                    <a:lstStyle/>
                    <a:p>
                      <a:r>
                        <a:rPr lang="en-US" sz="1000" dirty="0"/>
                        <a:t>1</a:t>
                      </a:r>
                    </a:p>
                  </a:txBody>
                  <a:tcPr marL="68580" marR="68580" marT="34290" marB="34290"/>
                </a:tc>
                <a:tc>
                  <a:txBody>
                    <a:bodyPr/>
                    <a:lstStyle/>
                    <a:p>
                      <a:r>
                        <a:rPr lang="el-GR" sz="1400" b="0" i="0" kern="1200" dirty="0">
                          <a:solidFill>
                            <a:schemeClr val="dk1"/>
                          </a:solidFill>
                          <a:effectLst/>
                          <a:latin typeface="+mn-lt"/>
                          <a:ea typeface="+mn-ea"/>
                          <a:cs typeface="+mn-cs"/>
                        </a:rPr>
                        <a:t>Φ</a:t>
                      </a:r>
                      <a:endParaRPr lang="en-US" sz="1000" dirty="0"/>
                    </a:p>
                  </a:txBody>
                  <a:tcPr marL="68580" marR="68580" marT="34290" marB="34290"/>
                </a:tc>
                <a:tc>
                  <a:txBody>
                    <a:bodyPr/>
                    <a:lstStyle/>
                    <a:p>
                      <a:r>
                        <a:rPr lang="en-US" sz="1400" b="0" i="0" kern="1200" dirty="0">
                          <a:solidFill>
                            <a:schemeClr val="dk1"/>
                          </a:solidFill>
                          <a:effectLst/>
                          <a:latin typeface="+mn-lt"/>
                          <a:ea typeface="+mn-ea"/>
                          <a:cs typeface="+mn-cs"/>
                        </a:rPr>
                        <a:t>{2}</a:t>
                      </a:r>
                      <a:endParaRPr lang="en-US" sz="1000" dirty="0"/>
                    </a:p>
                  </a:txBody>
                  <a:tcPr marL="68580" marR="68580" marT="34290" marB="34290"/>
                </a:tc>
                <a:extLst>
                  <a:ext uri="{0D108BD9-81ED-4DB2-BD59-A6C34878D82A}">
                    <a16:rowId xmlns:a16="http://schemas.microsoft.com/office/drawing/2014/main" val="4094572557"/>
                  </a:ext>
                </a:extLst>
              </a:tr>
              <a:tr h="287271">
                <a:tc>
                  <a:txBody>
                    <a:bodyPr/>
                    <a:lstStyle/>
                    <a:p>
                      <a:r>
                        <a:rPr lang="en-US" sz="1000" dirty="0"/>
                        <a:t>2</a:t>
                      </a:r>
                    </a:p>
                  </a:txBody>
                  <a:tcPr marL="68580" marR="68580" marT="34290" marB="34290"/>
                </a:tc>
                <a:tc>
                  <a:txBody>
                    <a:bodyPr/>
                    <a:lstStyle/>
                    <a:p>
                      <a:r>
                        <a:rPr lang="en-US" sz="1400" b="0" i="0" kern="1200" dirty="0">
                          <a:solidFill>
                            <a:schemeClr val="dk1"/>
                          </a:solidFill>
                          <a:effectLst/>
                          <a:latin typeface="+mn-lt"/>
                          <a:ea typeface="+mn-ea"/>
                          <a:cs typeface="+mn-cs"/>
                        </a:rPr>
                        <a:t>{2,3}</a:t>
                      </a:r>
                      <a:endParaRPr lang="en-US" sz="1000" dirty="0"/>
                    </a:p>
                  </a:txBody>
                  <a:tcPr marL="68580" marR="68580" marT="34290" marB="34290"/>
                </a:tc>
                <a:tc>
                  <a:txBody>
                    <a:bodyPr/>
                    <a:lstStyle/>
                    <a:p>
                      <a:r>
                        <a:rPr lang="en-US" sz="1400" b="0" i="0" kern="1200" dirty="0">
                          <a:solidFill>
                            <a:schemeClr val="dk1"/>
                          </a:solidFill>
                          <a:effectLst/>
                          <a:latin typeface="+mn-lt"/>
                          <a:ea typeface="+mn-ea"/>
                          <a:cs typeface="+mn-cs"/>
                        </a:rPr>
                        <a:t>{3}</a:t>
                      </a:r>
                      <a:endParaRPr lang="en-US" sz="1000" dirty="0"/>
                    </a:p>
                  </a:txBody>
                  <a:tcPr marL="68580" marR="68580" marT="34290" marB="34290"/>
                </a:tc>
                <a:extLst>
                  <a:ext uri="{0D108BD9-81ED-4DB2-BD59-A6C34878D82A}">
                    <a16:rowId xmlns:a16="http://schemas.microsoft.com/office/drawing/2014/main" val="2390161439"/>
                  </a:ext>
                </a:extLst>
              </a:tr>
              <a:tr h="287271">
                <a:tc>
                  <a:txBody>
                    <a:bodyPr/>
                    <a:lstStyle/>
                    <a:p>
                      <a:r>
                        <a:rPr lang="en-US" sz="1000" dirty="0"/>
                        <a:t>3</a:t>
                      </a:r>
                    </a:p>
                  </a:txBody>
                  <a:tcPr marL="68580" marR="68580" marT="34290" marB="34290"/>
                </a:tc>
                <a:tc>
                  <a:txBody>
                    <a:bodyPr/>
                    <a:lstStyle/>
                    <a:p>
                      <a:r>
                        <a:rPr lang="en-US" sz="1400" b="0" i="0" kern="1200" dirty="0">
                          <a:solidFill>
                            <a:schemeClr val="dk1"/>
                          </a:solidFill>
                          <a:effectLst/>
                          <a:latin typeface="+mn-lt"/>
                          <a:ea typeface="+mn-ea"/>
                          <a:cs typeface="+mn-cs"/>
                        </a:rPr>
                        <a:t>{1}</a:t>
                      </a:r>
                      <a:endParaRPr lang="en-US" sz="1000" dirty="0"/>
                    </a:p>
                  </a:txBody>
                  <a:tcPr marL="68580" marR="68580" marT="34290" marB="34290"/>
                </a:tc>
                <a:tc>
                  <a:txBody>
                    <a:bodyPr/>
                    <a:lstStyle/>
                    <a:p>
                      <a:r>
                        <a:rPr lang="el-GR" sz="1400" b="0" i="0" kern="1200" dirty="0">
                          <a:solidFill>
                            <a:schemeClr val="dk1"/>
                          </a:solidFill>
                          <a:effectLst/>
                          <a:latin typeface="+mn-lt"/>
                          <a:ea typeface="+mn-ea"/>
                          <a:cs typeface="+mn-cs"/>
                        </a:rPr>
                        <a:t>Φ</a:t>
                      </a:r>
                      <a:endParaRPr lang="en-US" sz="1000" dirty="0"/>
                    </a:p>
                  </a:txBody>
                  <a:tcPr marL="68580" marR="68580" marT="34290" marB="34290"/>
                </a:tc>
                <a:extLst>
                  <a:ext uri="{0D108BD9-81ED-4DB2-BD59-A6C34878D82A}">
                    <a16:rowId xmlns:a16="http://schemas.microsoft.com/office/drawing/2014/main" val="1692795067"/>
                  </a:ext>
                </a:extLst>
              </a:tr>
            </a:tbl>
          </a:graphicData>
        </a:graphic>
      </p:graphicFrame>
      <p:cxnSp>
        <p:nvCxnSpPr>
          <p:cNvPr id="14" name="Straight Arrow Connector 13">
            <a:extLst>
              <a:ext uri="{FF2B5EF4-FFF2-40B4-BE49-F238E27FC236}">
                <a16:creationId xmlns:a16="http://schemas.microsoft.com/office/drawing/2014/main" id="{AE1EA1BB-CC74-EC12-DE98-A18D19A44262}"/>
              </a:ext>
            </a:extLst>
          </p:cNvPr>
          <p:cNvCxnSpPr>
            <a:cxnSpLocks/>
          </p:cNvCxnSpPr>
          <p:nvPr/>
        </p:nvCxnSpPr>
        <p:spPr>
          <a:xfrm>
            <a:off x="760800" y="4495800"/>
            <a:ext cx="30175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0" name="TextBox 19">
            <a:extLst>
              <a:ext uri="{FF2B5EF4-FFF2-40B4-BE49-F238E27FC236}">
                <a16:creationId xmlns:a16="http://schemas.microsoft.com/office/drawing/2014/main" id="{FA4D3F1D-7339-05D9-F7CA-24C63BA92E08}"/>
              </a:ext>
            </a:extLst>
          </p:cNvPr>
          <p:cNvSpPr txBox="1"/>
          <p:nvPr/>
        </p:nvSpPr>
        <p:spPr>
          <a:xfrm>
            <a:off x="6301544" y="3784986"/>
            <a:ext cx="918008" cy="300082"/>
          </a:xfrm>
          <a:prstGeom prst="rect">
            <a:avLst/>
          </a:prstGeom>
          <a:noFill/>
        </p:spPr>
        <p:txBody>
          <a:bodyPr wrap="none" rtlCol="0">
            <a:spAutoFit/>
          </a:bodyPr>
          <a:lstStyle/>
          <a:p>
            <a:r>
              <a:rPr lang="en-US" sz="1350" dirty="0"/>
              <a:t>DFA Table:</a:t>
            </a:r>
          </a:p>
        </p:txBody>
      </p:sp>
      <p:grpSp>
        <p:nvGrpSpPr>
          <p:cNvPr id="3" name="Group 2">
            <a:extLst>
              <a:ext uri="{FF2B5EF4-FFF2-40B4-BE49-F238E27FC236}">
                <a16:creationId xmlns:a16="http://schemas.microsoft.com/office/drawing/2014/main" id="{ACBD4AB7-59B7-83FC-9D69-D5AAB6A45E29}"/>
              </a:ext>
            </a:extLst>
          </p:cNvPr>
          <p:cNvGrpSpPr/>
          <p:nvPr/>
        </p:nvGrpSpPr>
        <p:grpSpPr>
          <a:xfrm>
            <a:off x="1728657" y="1879065"/>
            <a:ext cx="3300543" cy="1344655"/>
            <a:chOff x="1728657" y="1879065"/>
            <a:chExt cx="1870355" cy="1344655"/>
          </a:xfrm>
        </p:grpSpPr>
        <p:sp>
          <p:nvSpPr>
            <p:cNvPr id="2" name="TextBox 1">
              <a:extLst>
                <a:ext uri="{FF2B5EF4-FFF2-40B4-BE49-F238E27FC236}">
                  <a16:creationId xmlns:a16="http://schemas.microsoft.com/office/drawing/2014/main" id="{AD11FA7F-6570-7545-7877-F70B3BB2308B}"/>
                </a:ext>
              </a:extLst>
            </p:cNvPr>
            <p:cNvSpPr txBox="1"/>
            <p:nvPr/>
          </p:nvSpPr>
          <p:spPr>
            <a:xfrm>
              <a:off x="2564892" y="1879065"/>
              <a:ext cx="272832" cy="300082"/>
            </a:xfrm>
            <a:prstGeom prst="rect">
              <a:avLst/>
            </a:prstGeom>
            <a:noFill/>
          </p:spPr>
          <p:txBody>
            <a:bodyPr wrap="none" rtlCol="0">
              <a:spAutoFit/>
            </a:bodyPr>
            <a:lstStyle/>
            <a:p>
              <a:r>
                <a:rPr lang="en-US" sz="1350" dirty="0"/>
                <a:t>1</a:t>
              </a:r>
            </a:p>
          </p:txBody>
        </p:sp>
        <p:sp>
          <p:nvSpPr>
            <p:cNvPr id="5" name="TextBox 4">
              <a:extLst>
                <a:ext uri="{FF2B5EF4-FFF2-40B4-BE49-F238E27FC236}">
                  <a16:creationId xmlns:a16="http://schemas.microsoft.com/office/drawing/2014/main" id="{3EB02EEF-A869-74CB-6579-F48B28FB8DB4}"/>
                </a:ext>
              </a:extLst>
            </p:cNvPr>
            <p:cNvSpPr txBox="1"/>
            <p:nvPr/>
          </p:nvSpPr>
          <p:spPr>
            <a:xfrm>
              <a:off x="2215134" y="2846070"/>
              <a:ext cx="272832" cy="300082"/>
            </a:xfrm>
            <a:prstGeom prst="rect">
              <a:avLst/>
            </a:prstGeom>
            <a:noFill/>
          </p:spPr>
          <p:txBody>
            <a:bodyPr wrap="none" rtlCol="0">
              <a:spAutoFit/>
            </a:bodyPr>
            <a:lstStyle/>
            <a:p>
              <a:r>
                <a:rPr lang="en-US" sz="1350" dirty="0"/>
                <a:t>2</a:t>
              </a:r>
            </a:p>
          </p:txBody>
        </p:sp>
        <p:sp>
          <p:nvSpPr>
            <p:cNvPr id="6" name="TextBox 5">
              <a:extLst>
                <a:ext uri="{FF2B5EF4-FFF2-40B4-BE49-F238E27FC236}">
                  <a16:creationId xmlns:a16="http://schemas.microsoft.com/office/drawing/2014/main" id="{E670BE0A-B904-E840-8B93-EB96819FDD13}"/>
                </a:ext>
              </a:extLst>
            </p:cNvPr>
            <p:cNvSpPr txBox="1"/>
            <p:nvPr/>
          </p:nvSpPr>
          <p:spPr>
            <a:xfrm>
              <a:off x="3326180" y="2846070"/>
              <a:ext cx="272832" cy="300082"/>
            </a:xfrm>
            <a:prstGeom prst="rect">
              <a:avLst/>
            </a:prstGeom>
            <a:noFill/>
          </p:spPr>
          <p:txBody>
            <a:bodyPr wrap="none" rtlCol="0">
              <a:spAutoFit/>
            </a:bodyPr>
            <a:lstStyle/>
            <a:p>
              <a:r>
                <a:rPr lang="en-US" sz="1350" dirty="0"/>
                <a:t>3</a:t>
              </a:r>
            </a:p>
          </p:txBody>
        </p:sp>
        <p:cxnSp>
          <p:nvCxnSpPr>
            <p:cNvPr id="11" name="Straight Arrow Connector 10">
              <a:extLst>
                <a:ext uri="{FF2B5EF4-FFF2-40B4-BE49-F238E27FC236}">
                  <a16:creationId xmlns:a16="http://schemas.microsoft.com/office/drawing/2014/main" id="{B3BD1324-E605-08E4-B399-C204C9EE42DB}"/>
                </a:ext>
              </a:extLst>
            </p:cNvPr>
            <p:cNvCxnSpPr>
              <a:stCxn id="2" idx="2"/>
            </p:cNvCxnSpPr>
            <p:nvPr/>
          </p:nvCxnSpPr>
          <p:spPr>
            <a:xfrm flipH="1">
              <a:off x="2337865" y="2179147"/>
              <a:ext cx="363443" cy="7355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8CA916B2-A3DE-69A8-911F-FA1C92D04360}"/>
                </a:ext>
              </a:extLst>
            </p:cNvPr>
            <p:cNvCxnSpPr>
              <a:stCxn id="5" idx="3"/>
              <a:endCxn id="6" idx="1"/>
            </p:cNvCxnSpPr>
            <p:nvPr/>
          </p:nvCxnSpPr>
          <p:spPr>
            <a:xfrm>
              <a:off x="2487966" y="2996111"/>
              <a:ext cx="83821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8B3E6E37-F06E-3610-B5CD-AFF0787B011F}"/>
                </a:ext>
              </a:extLst>
            </p:cNvPr>
            <p:cNvCxnSpPr>
              <a:cxnSpLocks/>
            </p:cNvCxnSpPr>
            <p:nvPr/>
          </p:nvCxnSpPr>
          <p:spPr>
            <a:xfrm>
              <a:off x="2789861" y="2137945"/>
              <a:ext cx="599387" cy="7677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4EECE940-2E12-94BB-3777-E92730C2EEDC}"/>
                </a:ext>
              </a:extLst>
            </p:cNvPr>
            <p:cNvCxnSpPr>
              <a:stCxn id="6" idx="0"/>
              <a:endCxn id="2" idx="3"/>
            </p:cNvCxnSpPr>
            <p:nvPr/>
          </p:nvCxnSpPr>
          <p:spPr>
            <a:xfrm flipH="1" flipV="1">
              <a:off x="2837724" y="2029106"/>
              <a:ext cx="624872" cy="8169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Arrow: Curved Right 23">
              <a:extLst>
                <a:ext uri="{FF2B5EF4-FFF2-40B4-BE49-F238E27FC236}">
                  <a16:creationId xmlns:a16="http://schemas.microsoft.com/office/drawing/2014/main" id="{79154E7A-5CFA-6FC3-43E2-358D34A78111}"/>
                </a:ext>
              </a:extLst>
            </p:cNvPr>
            <p:cNvSpPr/>
            <p:nvPr/>
          </p:nvSpPr>
          <p:spPr>
            <a:xfrm>
              <a:off x="1804732" y="2902708"/>
              <a:ext cx="437210" cy="276999"/>
            </a:xfrm>
            <a:prstGeom prst="curved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solidFill>
                  <a:schemeClr val="tx1"/>
                </a:solidFill>
              </a:endParaRPr>
            </a:p>
          </p:txBody>
        </p:sp>
        <p:sp>
          <p:nvSpPr>
            <p:cNvPr id="26" name="TextBox 25">
              <a:extLst>
                <a:ext uri="{FF2B5EF4-FFF2-40B4-BE49-F238E27FC236}">
                  <a16:creationId xmlns:a16="http://schemas.microsoft.com/office/drawing/2014/main" id="{575A1AB7-4F32-384A-99A2-80C487C5FC64}"/>
                </a:ext>
              </a:extLst>
            </p:cNvPr>
            <p:cNvSpPr txBox="1"/>
            <p:nvPr/>
          </p:nvSpPr>
          <p:spPr>
            <a:xfrm>
              <a:off x="2306291" y="2360652"/>
              <a:ext cx="276038" cy="300082"/>
            </a:xfrm>
            <a:prstGeom prst="rect">
              <a:avLst/>
            </a:prstGeom>
            <a:noFill/>
          </p:spPr>
          <p:txBody>
            <a:bodyPr wrap="none" rtlCol="0">
              <a:spAutoFit/>
            </a:bodyPr>
            <a:lstStyle/>
            <a:p>
              <a:r>
                <a:rPr lang="en-US" sz="1350" dirty="0"/>
                <a:t>b</a:t>
              </a:r>
            </a:p>
          </p:txBody>
        </p:sp>
        <p:sp>
          <p:nvSpPr>
            <p:cNvPr id="27" name="TextBox 26">
              <a:extLst>
                <a:ext uri="{FF2B5EF4-FFF2-40B4-BE49-F238E27FC236}">
                  <a16:creationId xmlns:a16="http://schemas.microsoft.com/office/drawing/2014/main" id="{8CA5B2A3-8705-6CED-646E-830D2E0A13D2}"/>
                </a:ext>
              </a:extLst>
            </p:cNvPr>
            <p:cNvSpPr txBox="1"/>
            <p:nvPr/>
          </p:nvSpPr>
          <p:spPr>
            <a:xfrm>
              <a:off x="3209544" y="2304288"/>
              <a:ext cx="268022" cy="300082"/>
            </a:xfrm>
            <a:prstGeom prst="rect">
              <a:avLst/>
            </a:prstGeom>
            <a:noFill/>
          </p:spPr>
          <p:txBody>
            <a:bodyPr wrap="none" rtlCol="0">
              <a:spAutoFit/>
            </a:bodyPr>
            <a:lstStyle/>
            <a:p>
              <a:r>
                <a:rPr lang="en-US" sz="1350" dirty="0"/>
                <a:t>a</a:t>
              </a:r>
            </a:p>
          </p:txBody>
        </p:sp>
        <p:sp>
          <p:nvSpPr>
            <p:cNvPr id="28" name="TextBox 27">
              <a:extLst>
                <a:ext uri="{FF2B5EF4-FFF2-40B4-BE49-F238E27FC236}">
                  <a16:creationId xmlns:a16="http://schemas.microsoft.com/office/drawing/2014/main" id="{2DB24144-7486-3181-8503-06E006345CAC}"/>
                </a:ext>
              </a:extLst>
            </p:cNvPr>
            <p:cNvSpPr txBox="1"/>
            <p:nvPr/>
          </p:nvSpPr>
          <p:spPr>
            <a:xfrm>
              <a:off x="2908396" y="2402252"/>
              <a:ext cx="263214" cy="300082"/>
            </a:xfrm>
            <a:prstGeom prst="rect">
              <a:avLst/>
            </a:prstGeom>
            <a:noFill/>
          </p:spPr>
          <p:txBody>
            <a:bodyPr wrap="none" rtlCol="0">
              <a:spAutoFit/>
            </a:bodyPr>
            <a:lstStyle/>
            <a:p>
              <a:r>
                <a:rPr lang="el-GR" sz="1350" dirty="0"/>
                <a:t>ε</a:t>
              </a:r>
              <a:endParaRPr lang="en-US" sz="1350" dirty="0"/>
            </a:p>
          </p:txBody>
        </p:sp>
        <p:sp>
          <p:nvSpPr>
            <p:cNvPr id="29" name="TextBox 28">
              <a:extLst>
                <a:ext uri="{FF2B5EF4-FFF2-40B4-BE49-F238E27FC236}">
                  <a16:creationId xmlns:a16="http://schemas.microsoft.com/office/drawing/2014/main" id="{241CA95A-EB9C-AE22-D09E-15695E206B73}"/>
                </a:ext>
              </a:extLst>
            </p:cNvPr>
            <p:cNvSpPr txBox="1"/>
            <p:nvPr/>
          </p:nvSpPr>
          <p:spPr>
            <a:xfrm>
              <a:off x="2692291" y="2923638"/>
              <a:ext cx="402674" cy="300082"/>
            </a:xfrm>
            <a:prstGeom prst="rect">
              <a:avLst/>
            </a:prstGeom>
            <a:noFill/>
          </p:spPr>
          <p:txBody>
            <a:bodyPr wrap="none" rtlCol="0">
              <a:spAutoFit/>
            </a:bodyPr>
            <a:lstStyle/>
            <a:p>
              <a:r>
                <a:rPr lang="en-US" sz="1350" dirty="0" err="1"/>
                <a:t>a,b</a:t>
              </a:r>
              <a:endParaRPr lang="en-US" sz="1350" dirty="0"/>
            </a:p>
          </p:txBody>
        </p:sp>
        <p:sp>
          <p:nvSpPr>
            <p:cNvPr id="30" name="TextBox 29">
              <a:extLst>
                <a:ext uri="{FF2B5EF4-FFF2-40B4-BE49-F238E27FC236}">
                  <a16:creationId xmlns:a16="http://schemas.microsoft.com/office/drawing/2014/main" id="{C701ADFA-D0F5-310F-C2A0-5F0B09A0D9D2}"/>
                </a:ext>
              </a:extLst>
            </p:cNvPr>
            <p:cNvSpPr txBox="1"/>
            <p:nvPr/>
          </p:nvSpPr>
          <p:spPr>
            <a:xfrm>
              <a:off x="1728657" y="2674698"/>
              <a:ext cx="402674" cy="300082"/>
            </a:xfrm>
            <a:prstGeom prst="rect">
              <a:avLst/>
            </a:prstGeom>
            <a:noFill/>
          </p:spPr>
          <p:txBody>
            <a:bodyPr wrap="none" rtlCol="0">
              <a:spAutoFit/>
            </a:bodyPr>
            <a:lstStyle/>
            <a:p>
              <a:r>
                <a:rPr lang="en-US" sz="1350" dirty="0" err="1"/>
                <a:t>a,b</a:t>
              </a:r>
              <a:endParaRPr lang="en-US" sz="1350" dirty="0"/>
            </a:p>
          </p:txBody>
        </p:sp>
        <p:cxnSp>
          <p:nvCxnSpPr>
            <p:cNvPr id="32" name="Straight Arrow Connector 31">
              <a:extLst>
                <a:ext uri="{FF2B5EF4-FFF2-40B4-BE49-F238E27FC236}">
                  <a16:creationId xmlns:a16="http://schemas.microsoft.com/office/drawing/2014/main" id="{6B64D834-9974-9302-70E0-2EB77934FBAA}"/>
                </a:ext>
              </a:extLst>
            </p:cNvPr>
            <p:cNvCxnSpPr>
              <a:endCxn id="2" idx="1"/>
            </p:cNvCxnSpPr>
            <p:nvPr/>
          </p:nvCxnSpPr>
          <p:spPr>
            <a:xfrm>
              <a:off x="2160270" y="2017565"/>
              <a:ext cx="404622" cy="115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33" name="TextBox 32">
            <a:extLst>
              <a:ext uri="{FF2B5EF4-FFF2-40B4-BE49-F238E27FC236}">
                <a16:creationId xmlns:a16="http://schemas.microsoft.com/office/drawing/2014/main" id="{23A80C3D-AC50-465F-1EDE-BAD72E66F055}"/>
              </a:ext>
            </a:extLst>
          </p:cNvPr>
          <p:cNvSpPr txBox="1"/>
          <p:nvPr/>
        </p:nvSpPr>
        <p:spPr>
          <a:xfrm>
            <a:off x="6051185" y="1717482"/>
            <a:ext cx="1472775" cy="923330"/>
          </a:xfrm>
          <a:prstGeom prst="rect">
            <a:avLst/>
          </a:prstGeom>
          <a:noFill/>
          <a:ln>
            <a:solidFill>
              <a:schemeClr val="tx1"/>
            </a:solidFill>
          </a:ln>
        </p:spPr>
        <p:txBody>
          <a:bodyPr wrap="none" rtlCol="0">
            <a:spAutoFit/>
          </a:bodyPr>
          <a:lstStyle/>
          <a:p>
            <a:r>
              <a:rPr lang="el-GR" sz="1350" dirty="0"/>
              <a:t>ε</a:t>
            </a:r>
            <a:r>
              <a:rPr lang="en-US" sz="1350" dirty="0"/>
              <a:t>- closure(1)={1,3}</a:t>
            </a:r>
            <a:br>
              <a:rPr lang="en-US" sz="1350" dirty="0"/>
            </a:br>
            <a:r>
              <a:rPr lang="el-GR" sz="1350" dirty="0"/>
              <a:t>ε</a:t>
            </a:r>
            <a:r>
              <a:rPr lang="en-US" sz="1350" dirty="0"/>
              <a:t>- closure(2)={2}</a:t>
            </a:r>
          </a:p>
          <a:p>
            <a:r>
              <a:rPr lang="el-GR" sz="1350" dirty="0"/>
              <a:t>ε</a:t>
            </a:r>
            <a:r>
              <a:rPr lang="en-US" sz="1350" dirty="0"/>
              <a:t>- closure(3)={3}</a:t>
            </a:r>
          </a:p>
          <a:p>
            <a:endParaRPr lang="en-US" sz="1350" dirty="0"/>
          </a:p>
        </p:txBody>
      </p:sp>
      <p:graphicFrame>
        <p:nvGraphicFramePr>
          <p:cNvPr id="34" name="Table 33">
            <a:extLst>
              <a:ext uri="{FF2B5EF4-FFF2-40B4-BE49-F238E27FC236}">
                <a16:creationId xmlns:a16="http://schemas.microsoft.com/office/drawing/2014/main" id="{594979CE-7DAC-D654-986B-BACF5EBDBCA8}"/>
              </a:ext>
            </a:extLst>
          </p:cNvPr>
          <p:cNvGraphicFramePr>
            <a:graphicFrameLocks noGrp="1"/>
          </p:cNvGraphicFramePr>
          <p:nvPr>
            <p:extLst>
              <p:ext uri="{D42A27DB-BD31-4B8C-83A1-F6EECF244321}">
                <p14:modId xmlns:p14="http://schemas.microsoft.com/office/powerpoint/2010/main" val="1456452089"/>
              </p:ext>
            </p:extLst>
          </p:nvPr>
        </p:nvGraphicFramePr>
        <p:xfrm>
          <a:off x="5105402" y="4142232"/>
          <a:ext cx="3876519" cy="2029967"/>
        </p:xfrm>
        <a:graphic>
          <a:graphicData uri="http://schemas.openxmlformats.org/drawingml/2006/table">
            <a:tbl>
              <a:tblPr firstRow="1" bandRow="1">
                <a:tableStyleId>{5C22544A-7EE6-4342-B048-85BDC9FD1C3A}</a:tableStyleId>
              </a:tblPr>
              <a:tblGrid>
                <a:gridCol w="1292173">
                  <a:extLst>
                    <a:ext uri="{9D8B030D-6E8A-4147-A177-3AD203B41FA5}">
                      <a16:colId xmlns:a16="http://schemas.microsoft.com/office/drawing/2014/main" val="385347393"/>
                    </a:ext>
                  </a:extLst>
                </a:gridCol>
                <a:gridCol w="1292173">
                  <a:extLst>
                    <a:ext uri="{9D8B030D-6E8A-4147-A177-3AD203B41FA5}">
                      <a16:colId xmlns:a16="http://schemas.microsoft.com/office/drawing/2014/main" val="3810570964"/>
                    </a:ext>
                  </a:extLst>
                </a:gridCol>
                <a:gridCol w="1292173">
                  <a:extLst>
                    <a:ext uri="{9D8B030D-6E8A-4147-A177-3AD203B41FA5}">
                      <a16:colId xmlns:a16="http://schemas.microsoft.com/office/drawing/2014/main" val="1456318617"/>
                    </a:ext>
                  </a:extLst>
                </a:gridCol>
              </a:tblGrid>
              <a:tr h="331351">
                <a:tc>
                  <a:txBody>
                    <a:bodyPr/>
                    <a:lstStyle/>
                    <a:p>
                      <a:r>
                        <a:rPr lang="en-US" sz="1000" dirty="0"/>
                        <a:t>states</a:t>
                      </a:r>
                    </a:p>
                  </a:txBody>
                  <a:tcPr marL="68580" marR="68580" marT="34290" marB="34290"/>
                </a:tc>
                <a:tc>
                  <a:txBody>
                    <a:bodyPr/>
                    <a:lstStyle/>
                    <a:p>
                      <a:r>
                        <a:rPr lang="en-US" sz="1000" dirty="0"/>
                        <a:t>a</a:t>
                      </a:r>
                    </a:p>
                  </a:txBody>
                  <a:tcPr marL="68580" marR="68580" marT="34290" marB="34290"/>
                </a:tc>
                <a:tc>
                  <a:txBody>
                    <a:bodyPr/>
                    <a:lstStyle/>
                    <a:p>
                      <a:r>
                        <a:rPr lang="en-US" sz="1000" dirty="0"/>
                        <a:t>b</a:t>
                      </a:r>
                    </a:p>
                  </a:txBody>
                  <a:tcPr marL="68580" marR="68580" marT="34290" marB="34290"/>
                </a:tc>
                <a:extLst>
                  <a:ext uri="{0D108BD9-81ED-4DB2-BD59-A6C34878D82A}">
                    <a16:rowId xmlns:a16="http://schemas.microsoft.com/office/drawing/2014/main" val="2126923031"/>
                  </a:ext>
                </a:extLst>
              </a:tr>
              <a:tr h="331351">
                <a:tc>
                  <a:txBody>
                    <a:bodyPr/>
                    <a:lstStyle/>
                    <a:p>
                      <a:r>
                        <a:rPr lang="en-US" sz="1000" dirty="0"/>
                        <a:t>{1,3}</a:t>
                      </a:r>
                    </a:p>
                  </a:txBody>
                  <a:tcPr marL="68580" marR="68580" marT="34290" marB="34290"/>
                </a:tc>
                <a:tc>
                  <a:txBody>
                    <a:bodyPr/>
                    <a:lstStyle/>
                    <a:p>
                      <a:r>
                        <a:rPr lang="en-US" sz="1000" dirty="0"/>
                        <a:t>{1,3}</a:t>
                      </a:r>
                    </a:p>
                  </a:txBody>
                  <a:tcPr marL="68580" marR="68580" marT="34290" marB="34290"/>
                </a:tc>
                <a:tc>
                  <a:txBody>
                    <a:bodyPr/>
                    <a:lstStyle/>
                    <a:p>
                      <a:r>
                        <a:rPr lang="en-US" sz="1000" dirty="0"/>
                        <a:t>{2}</a:t>
                      </a:r>
                    </a:p>
                  </a:txBody>
                  <a:tcPr marL="68580" marR="68580" marT="34290" marB="34290"/>
                </a:tc>
                <a:extLst>
                  <a:ext uri="{0D108BD9-81ED-4DB2-BD59-A6C34878D82A}">
                    <a16:rowId xmlns:a16="http://schemas.microsoft.com/office/drawing/2014/main" val="2461224678"/>
                  </a:ext>
                </a:extLst>
              </a:tr>
              <a:tr h="331351">
                <a:tc>
                  <a:txBody>
                    <a:bodyPr/>
                    <a:lstStyle/>
                    <a:p>
                      <a:r>
                        <a:rPr lang="en-US" sz="1000" dirty="0"/>
                        <a:t>{2}</a:t>
                      </a:r>
                    </a:p>
                  </a:txBody>
                  <a:tcPr marL="68580" marR="68580" marT="34290" marB="34290"/>
                </a:tc>
                <a:tc>
                  <a:txBody>
                    <a:bodyPr/>
                    <a:lstStyle/>
                    <a:p>
                      <a:r>
                        <a:rPr lang="en-US" sz="1000" dirty="0"/>
                        <a:t>{2,3}</a:t>
                      </a:r>
                    </a:p>
                  </a:txBody>
                  <a:tcPr marL="68580" marR="68580" marT="34290" marB="34290"/>
                </a:tc>
                <a:tc>
                  <a:txBody>
                    <a:bodyPr/>
                    <a:lstStyle/>
                    <a:p>
                      <a:r>
                        <a:rPr lang="en-US" sz="1000" dirty="0"/>
                        <a:t>{3}</a:t>
                      </a:r>
                    </a:p>
                  </a:txBody>
                  <a:tcPr marL="68580" marR="68580" marT="34290" marB="34290"/>
                </a:tc>
                <a:extLst>
                  <a:ext uri="{0D108BD9-81ED-4DB2-BD59-A6C34878D82A}">
                    <a16:rowId xmlns:a16="http://schemas.microsoft.com/office/drawing/2014/main" val="3355313328"/>
                  </a:ext>
                </a:extLst>
              </a:tr>
              <a:tr h="331351">
                <a:tc>
                  <a:txBody>
                    <a:bodyPr/>
                    <a:lstStyle/>
                    <a:p>
                      <a:r>
                        <a:rPr lang="en-US" sz="1000" dirty="0"/>
                        <a:t>{2,3}</a:t>
                      </a:r>
                    </a:p>
                  </a:txBody>
                  <a:tcPr marL="68580" marR="68580" marT="34290" marB="34290"/>
                </a:tc>
                <a:tc>
                  <a:txBody>
                    <a:bodyPr/>
                    <a:lstStyle/>
                    <a:p>
                      <a:r>
                        <a:rPr lang="en-US" sz="1000" dirty="0"/>
                        <a:t>{1,2,3}</a:t>
                      </a:r>
                    </a:p>
                  </a:txBody>
                  <a:tcPr marL="68580" marR="68580" marT="34290" marB="34290"/>
                </a:tc>
                <a:tc>
                  <a:txBody>
                    <a:bodyPr/>
                    <a:lstStyle/>
                    <a:p>
                      <a:r>
                        <a:rPr lang="en-US" sz="1000" dirty="0"/>
                        <a:t>{3}</a:t>
                      </a:r>
                    </a:p>
                  </a:txBody>
                  <a:tcPr marL="68580" marR="68580" marT="34290" marB="34290"/>
                </a:tc>
                <a:extLst>
                  <a:ext uri="{0D108BD9-81ED-4DB2-BD59-A6C34878D82A}">
                    <a16:rowId xmlns:a16="http://schemas.microsoft.com/office/drawing/2014/main" val="3473039898"/>
                  </a:ext>
                </a:extLst>
              </a:tr>
              <a:tr h="373212">
                <a:tc>
                  <a:txBody>
                    <a:bodyPr/>
                    <a:lstStyle/>
                    <a:p>
                      <a:r>
                        <a:rPr lang="en-US" sz="1000" dirty="0"/>
                        <a:t>{3}</a:t>
                      </a:r>
                    </a:p>
                  </a:txBody>
                  <a:tcPr marL="68580" marR="68580" marT="34290" marB="34290"/>
                </a:tc>
                <a:tc>
                  <a:txBody>
                    <a:bodyPr/>
                    <a:lstStyle/>
                    <a:p>
                      <a:r>
                        <a:rPr lang="en-US" sz="1000" dirty="0"/>
                        <a:t>{1,3}</a:t>
                      </a:r>
                    </a:p>
                  </a:txBody>
                  <a:tcPr marL="68580" marR="68580" marT="34290" marB="34290"/>
                </a:tc>
                <a:tc>
                  <a:txBody>
                    <a:bodyPr/>
                    <a:lstStyle/>
                    <a:p>
                      <a:r>
                        <a:rPr lang="el-GR" sz="1400" b="0" i="0" kern="1200" dirty="0">
                          <a:solidFill>
                            <a:schemeClr val="dk1"/>
                          </a:solidFill>
                          <a:effectLst/>
                          <a:latin typeface="+mn-lt"/>
                          <a:ea typeface="+mn-ea"/>
                          <a:cs typeface="+mn-cs"/>
                        </a:rPr>
                        <a:t>Φ</a:t>
                      </a:r>
                      <a:endParaRPr lang="en-US" sz="1000" dirty="0"/>
                    </a:p>
                  </a:txBody>
                  <a:tcPr marL="68580" marR="68580" marT="34290" marB="34290"/>
                </a:tc>
                <a:extLst>
                  <a:ext uri="{0D108BD9-81ED-4DB2-BD59-A6C34878D82A}">
                    <a16:rowId xmlns:a16="http://schemas.microsoft.com/office/drawing/2014/main" val="1949323076"/>
                  </a:ext>
                </a:extLst>
              </a:tr>
              <a:tr h="331351">
                <a:tc>
                  <a:txBody>
                    <a:bodyPr/>
                    <a:lstStyle/>
                    <a:p>
                      <a:r>
                        <a:rPr lang="en-US" sz="1000" dirty="0"/>
                        <a:t>{1,2,3}</a:t>
                      </a:r>
                    </a:p>
                  </a:txBody>
                  <a:tcPr marL="68580" marR="68580" marT="34290" marB="34290"/>
                </a:tc>
                <a:tc>
                  <a:txBody>
                    <a:bodyPr/>
                    <a:lstStyle/>
                    <a:p>
                      <a:r>
                        <a:rPr lang="en-US" sz="1000" dirty="0"/>
                        <a:t>{1,2,3}</a:t>
                      </a:r>
                    </a:p>
                  </a:txBody>
                  <a:tcPr marL="68580" marR="68580" marT="34290" marB="34290"/>
                </a:tc>
                <a:tc>
                  <a:txBody>
                    <a:bodyPr/>
                    <a:lstStyle/>
                    <a:p>
                      <a:r>
                        <a:rPr lang="en-US" sz="1000" dirty="0"/>
                        <a:t>{2,3}</a:t>
                      </a:r>
                    </a:p>
                  </a:txBody>
                  <a:tcPr marL="68580" marR="68580" marT="34290" marB="34290"/>
                </a:tc>
                <a:extLst>
                  <a:ext uri="{0D108BD9-81ED-4DB2-BD59-A6C34878D82A}">
                    <a16:rowId xmlns:a16="http://schemas.microsoft.com/office/drawing/2014/main" val="2487075520"/>
                  </a:ext>
                </a:extLst>
              </a:tr>
            </a:tbl>
          </a:graphicData>
        </a:graphic>
      </p:graphicFrame>
      <p:sp>
        <p:nvSpPr>
          <p:cNvPr id="37" name="TextBox 36">
            <a:extLst>
              <a:ext uri="{FF2B5EF4-FFF2-40B4-BE49-F238E27FC236}">
                <a16:creationId xmlns:a16="http://schemas.microsoft.com/office/drawing/2014/main" id="{34F359FE-B812-D768-3E3A-B77B350237D4}"/>
              </a:ext>
            </a:extLst>
          </p:cNvPr>
          <p:cNvSpPr txBox="1"/>
          <p:nvPr/>
        </p:nvSpPr>
        <p:spPr>
          <a:xfrm>
            <a:off x="4176046" y="3409135"/>
            <a:ext cx="3683222" cy="338554"/>
          </a:xfrm>
          <a:prstGeom prst="rect">
            <a:avLst/>
          </a:prstGeom>
          <a:noFill/>
        </p:spPr>
        <p:txBody>
          <a:bodyPr wrap="square" rtlCol="0">
            <a:spAutoFit/>
          </a:bodyPr>
          <a:lstStyle/>
          <a:p>
            <a:r>
              <a:rPr lang="en-US" sz="1600" dirty="0"/>
              <a:t>[ Initial state for DFA= </a:t>
            </a:r>
            <a:r>
              <a:rPr lang="el-GR" sz="1600" dirty="0">
                <a:solidFill>
                  <a:srgbClr val="000000"/>
                </a:solidFill>
                <a:latin typeface="Calibri" panose="020F0502020204030204" pitchFamily="34" charset="0"/>
              </a:rPr>
              <a:t>ε</a:t>
            </a:r>
            <a:r>
              <a:rPr lang="en-US" sz="1600" dirty="0">
                <a:solidFill>
                  <a:srgbClr val="000000"/>
                </a:solidFill>
                <a:latin typeface="Calibri" panose="020F0502020204030204" pitchFamily="34" charset="0"/>
              </a:rPr>
              <a:t>- closure(1)={1,3} ]</a:t>
            </a:r>
            <a:endParaRPr lang="en-US" sz="1600" dirty="0"/>
          </a:p>
        </p:txBody>
      </p:sp>
    </p:spTree>
    <p:extLst>
      <p:ext uri="{BB962C8B-B14F-4D97-AF65-F5344CB8AC3E}">
        <p14:creationId xmlns:p14="http://schemas.microsoft.com/office/powerpoint/2010/main" val="28354516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B75F0F-3720-6845-2B3A-10CC7BD2A1FF}"/>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77F15678-92FC-FBEB-AA2A-BBE0C5900320}"/>
              </a:ext>
            </a:extLst>
          </p:cNvPr>
          <p:cNvSpPr txBox="1"/>
          <p:nvPr/>
        </p:nvSpPr>
        <p:spPr>
          <a:xfrm>
            <a:off x="830290" y="1447038"/>
            <a:ext cx="1532343" cy="300082"/>
          </a:xfrm>
          <a:prstGeom prst="rect">
            <a:avLst/>
          </a:prstGeom>
          <a:noFill/>
        </p:spPr>
        <p:txBody>
          <a:bodyPr wrap="none" rtlCol="0">
            <a:spAutoFit/>
          </a:bodyPr>
          <a:lstStyle/>
          <a:p>
            <a:r>
              <a:rPr lang="en-US" sz="1350" dirty="0"/>
              <a:t>Final DFA diagram :</a:t>
            </a:r>
          </a:p>
        </p:txBody>
      </p:sp>
      <p:sp>
        <p:nvSpPr>
          <p:cNvPr id="2" name="TextBox 1">
            <a:extLst>
              <a:ext uri="{FF2B5EF4-FFF2-40B4-BE49-F238E27FC236}">
                <a16:creationId xmlns:a16="http://schemas.microsoft.com/office/drawing/2014/main" id="{B2E88ECB-84CB-966C-A342-B3253CE94937}"/>
              </a:ext>
            </a:extLst>
          </p:cNvPr>
          <p:cNvSpPr txBox="1"/>
          <p:nvPr/>
        </p:nvSpPr>
        <p:spPr>
          <a:xfrm>
            <a:off x="2983230" y="2241226"/>
            <a:ext cx="316112" cy="300082"/>
          </a:xfrm>
          <a:prstGeom prst="rect">
            <a:avLst/>
          </a:prstGeom>
          <a:noFill/>
        </p:spPr>
        <p:txBody>
          <a:bodyPr wrap="none" rtlCol="0">
            <a:spAutoFit/>
          </a:bodyPr>
          <a:lstStyle/>
          <a:p>
            <a:r>
              <a:rPr lang="el-GR" sz="1350" dirty="0">
                <a:solidFill>
                  <a:srgbClr val="040C28"/>
                </a:solidFill>
                <a:latin typeface="Google Sans"/>
              </a:rPr>
              <a:t>Φ</a:t>
            </a:r>
            <a:endParaRPr lang="en-US" sz="1350" dirty="0"/>
          </a:p>
        </p:txBody>
      </p:sp>
      <p:sp>
        <p:nvSpPr>
          <p:cNvPr id="3" name="TextBox 2">
            <a:extLst>
              <a:ext uri="{FF2B5EF4-FFF2-40B4-BE49-F238E27FC236}">
                <a16:creationId xmlns:a16="http://schemas.microsoft.com/office/drawing/2014/main" id="{98F92086-C8BD-1EE2-3987-51A003113DA1}"/>
              </a:ext>
            </a:extLst>
          </p:cNvPr>
          <p:cNvSpPr txBox="1"/>
          <p:nvPr/>
        </p:nvSpPr>
        <p:spPr>
          <a:xfrm>
            <a:off x="4805096" y="2631972"/>
            <a:ext cx="272832" cy="300082"/>
          </a:xfrm>
          <a:prstGeom prst="rect">
            <a:avLst/>
          </a:prstGeom>
          <a:noFill/>
        </p:spPr>
        <p:txBody>
          <a:bodyPr wrap="none" rtlCol="0">
            <a:spAutoFit/>
          </a:bodyPr>
          <a:lstStyle/>
          <a:p>
            <a:r>
              <a:rPr lang="en-US" sz="1350" dirty="0"/>
              <a:t>2</a:t>
            </a:r>
          </a:p>
        </p:txBody>
      </p:sp>
      <p:sp>
        <p:nvSpPr>
          <p:cNvPr id="4" name="TextBox 3">
            <a:extLst>
              <a:ext uri="{FF2B5EF4-FFF2-40B4-BE49-F238E27FC236}">
                <a16:creationId xmlns:a16="http://schemas.microsoft.com/office/drawing/2014/main" id="{9E54884A-2C74-A430-1A36-C4050632EC6F}"/>
              </a:ext>
            </a:extLst>
          </p:cNvPr>
          <p:cNvSpPr txBox="1"/>
          <p:nvPr/>
        </p:nvSpPr>
        <p:spPr>
          <a:xfrm>
            <a:off x="6539792" y="2424598"/>
            <a:ext cx="272832" cy="300082"/>
          </a:xfrm>
          <a:prstGeom prst="rect">
            <a:avLst/>
          </a:prstGeom>
          <a:noFill/>
        </p:spPr>
        <p:txBody>
          <a:bodyPr wrap="none" rtlCol="0">
            <a:spAutoFit/>
          </a:bodyPr>
          <a:lstStyle/>
          <a:p>
            <a:r>
              <a:rPr lang="en-US" sz="1350" dirty="0"/>
              <a:t>3</a:t>
            </a:r>
          </a:p>
        </p:txBody>
      </p:sp>
      <p:sp>
        <p:nvSpPr>
          <p:cNvPr id="7" name="TextBox 6">
            <a:extLst>
              <a:ext uri="{FF2B5EF4-FFF2-40B4-BE49-F238E27FC236}">
                <a16:creationId xmlns:a16="http://schemas.microsoft.com/office/drawing/2014/main" id="{4EEFE23C-E46E-2E23-BB83-D9D4F2847351}"/>
              </a:ext>
            </a:extLst>
          </p:cNvPr>
          <p:cNvSpPr txBox="1"/>
          <p:nvPr/>
        </p:nvSpPr>
        <p:spPr>
          <a:xfrm>
            <a:off x="3888486" y="4207972"/>
            <a:ext cx="404278" cy="300082"/>
          </a:xfrm>
          <a:prstGeom prst="rect">
            <a:avLst/>
          </a:prstGeom>
          <a:noFill/>
        </p:spPr>
        <p:txBody>
          <a:bodyPr wrap="none" rtlCol="0">
            <a:spAutoFit/>
          </a:bodyPr>
          <a:lstStyle/>
          <a:p>
            <a:r>
              <a:rPr lang="en-US" sz="1350" dirty="0"/>
              <a:t>1,3</a:t>
            </a:r>
          </a:p>
        </p:txBody>
      </p:sp>
      <p:sp>
        <p:nvSpPr>
          <p:cNvPr id="8" name="TextBox 7">
            <a:extLst>
              <a:ext uri="{FF2B5EF4-FFF2-40B4-BE49-F238E27FC236}">
                <a16:creationId xmlns:a16="http://schemas.microsoft.com/office/drawing/2014/main" id="{AEE8D9D0-6D4A-8B46-7197-210CDFF4318B}"/>
              </a:ext>
            </a:extLst>
          </p:cNvPr>
          <p:cNvSpPr txBox="1"/>
          <p:nvPr/>
        </p:nvSpPr>
        <p:spPr>
          <a:xfrm>
            <a:off x="5911596" y="4046220"/>
            <a:ext cx="404278" cy="300082"/>
          </a:xfrm>
          <a:prstGeom prst="rect">
            <a:avLst/>
          </a:prstGeom>
          <a:noFill/>
        </p:spPr>
        <p:txBody>
          <a:bodyPr wrap="none" rtlCol="0">
            <a:spAutoFit/>
          </a:bodyPr>
          <a:lstStyle/>
          <a:p>
            <a:r>
              <a:rPr lang="en-US" sz="1350" dirty="0"/>
              <a:t>2,3</a:t>
            </a:r>
          </a:p>
        </p:txBody>
      </p:sp>
      <p:sp>
        <p:nvSpPr>
          <p:cNvPr id="9" name="TextBox 8">
            <a:extLst>
              <a:ext uri="{FF2B5EF4-FFF2-40B4-BE49-F238E27FC236}">
                <a16:creationId xmlns:a16="http://schemas.microsoft.com/office/drawing/2014/main" id="{B540F15C-C4CB-26A4-B3E8-3F5A35739FC8}"/>
              </a:ext>
            </a:extLst>
          </p:cNvPr>
          <p:cNvSpPr txBox="1"/>
          <p:nvPr/>
        </p:nvSpPr>
        <p:spPr>
          <a:xfrm>
            <a:off x="7632954" y="4046220"/>
            <a:ext cx="535724" cy="300082"/>
          </a:xfrm>
          <a:prstGeom prst="rect">
            <a:avLst/>
          </a:prstGeom>
          <a:noFill/>
        </p:spPr>
        <p:txBody>
          <a:bodyPr wrap="none" rtlCol="0">
            <a:spAutoFit/>
          </a:bodyPr>
          <a:lstStyle/>
          <a:p>
            <a:r>
              <a:rPr lang="en-US" sz="1350" dirty="0"/>
              <a:t>1,2,3</a:t>
            </a:r>
          </a:p>
        </p:txBody>
      </p:sp>
      <p:cxnSp>
        <p:nvCxnSpPr>
          <p:cNvPr id="11" name="Straight Arrow Connector 10">
            <a:extLst>
              <a:ext uri="{FF2B5EF4-FFF2-40B4-BE49-F238E27FC236}">
                <a16:creationId xmlns:a16="http://schemas.microsoft.com/office/drawing/2014/main" id="{62D0AFEA-051C-839C-5A21-387F68734920}"/>
              </a:ext>
            </a:extLst>
          </p:cNvPr>
          <p:cNvCxnSpPr>
            <a:cxnSpLocks/>
          </p:cNvCxnSpPr>
          <p:nvPr/>
        </p:nvCxnSpPr>
        <p:spPr>
          <a:xfrm flipH="1" flipV="1">
            <a:off x="3176095" y="2355723"/>
            <a:ext cx="3397097" cy="27699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1304F247-CA3D-CBBD-90B0-C7B82BBBB470}"/>
              </a:ext>
            </a:extLst>
          </p:cNvPr>
          <p:cNvCxnSpPr>
            <a:endCxn id="8" idx="0"/>
          </p:cNvCxnSpPr>
          <p:nvPr/>
        </p:nvCxnSpPr>
        <p:spPr>
          <a:xfrm>
            <a:off x="5031361" y="2908971"/>
            <a:ext cx="1082374" cy="11372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CC4A8CF8-00DB-E8D8-9E69-E0ECA9505FDA}"/>
              </a:ext>
            </a:extLst>
          </p:cNvPr>
          <p:cNvCxnSpPr>
            <a:cxnSpLocks/>
            <a:stCxn id="7" idx="0"/>
          </p:cNvCxnSpPr>
          <p:nvPr/>
        </p:nvCxnSpPr>
        <p:spPr>
          <a:xfrm flipV="1">
            <a:off x="4090625" y="2908971"/>
            <a:ext cx="760217" cy="12990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55100271-57ED-DB76-1A54-9081B9A82DB8}"/>
              </a:ext>
            </a:extLst>
          </p:cNvPr>
          <p:cNvCxnSpPr>
            <a:cxnSpLocks/>
          </p:cNvCxnSpPr>
          <p:nvPr/>
        </p:nvCxnSpPr>
        <p:spPr>
          <a:xfrm flipV="1">
            <a:off x="6293409" y="4137530"/>
            <a:ext cx="1282446" cy="480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337B0D12-1A90-4DC5-B328-ABCB694A9ECD}"/>
              </a:ext>
            </a:extLst>
          </p:cNvPr>
          <p:cNvCxnSpPr>
            <a:endCxn id="4" idx="2"/>
          </p:cNvCxnSpPr>
          <p:nvPr/>
        </p:nvCxnSpPr>
        <p:spPr>
          <a:xfrm flipV="1">
            <a:off x="6238040" y="2724680"/>
            <a:ext cx="438168" cy="14144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1468C345-7A77-D69E-314F-3B3C168961D0}"/>
              </a:ext>
            </a:extLst>
          </p:cNvPr>
          <p:cNvCxnSpPr/>
          <p:nvPr/>
        </p:nvCxnSpPr>
        <p:spPr>
          <a:xfrm flipH="1" flipV="1">
            <a:off x="6741364" y="2656725"/>
            <a:ext cx="987602" cy="13894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35B1DCC4-B86A-00DA-8C0A-F77ADE818556}"/>
              </a:ext>
            </a:extLst>
          </p:cNvPr>
          <p:cNvCxnSpPr>
            <a:endCxn id="7" idx="3"/>
          </p:cNvCxnSpPr>
          <p:nvPr/>
        </p:nvCxnSpPr>
        <p:spPr>
          <a:xfrm flipH="1">
            <a:off x="4292764" y="2745719"/>
            <a:ext cx="2222336" cy="161229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E9BCC836-FB2D-90DD-7D31-86BAB10F992D}"/>
              </a:ext>
            </a:extLst>
          </p:cNvPr>
          <p:cNvCxnSpPr/>
          <p:nvPr/>
        </p:nvCxnSpPr>
        <p:spPr>
          <a:xfrm flipH="1">
            <a:off x="6268905" y="4323219"/>
            <a:ext cx="146006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Arrow: Curved Right 25">
            <a:extLst>
              <a:ext uri="{FF2B5EF4-FFF2-40B4-BE49-F238E27FC236}">
                <a16:creationId xmlns:a16="http://schemas.microsoft.com/office/drawing/2014/main" id="{757044FF-581D-9830-F16C-7733112A3E49}"/>
              </a:ext>
            </a:extLst>
          </p:cNvPr>
          <p:cNvSpPr/>
          <p:nvPr/>
        </p:nvSpPr>
        <p:spPr>
          <a:xfrm>
            <a:off x="2825545" y="2269998"/>
            <a:ext cx="171401" cy="171450"/>
          </a:xfrm>
          <a:prstGeom prst="curved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solidFill>
                <a:schemeClr val="tx1"/>
              </a:solidFill>
            </a:endParaRPr>
          </a:p>
        </p:txBody>
      </p:sp>
      <p:sp>
        <p:nvSpPr>
          <p:cNvPr id="28" name="Arrow: Curved Right 27">
            <a:extLst>
              <a:ext uri="{FF2B5EF4-FFF2-40B4-BE49-F238E27FC236}">
                <a16:creationId xmlns:a16="http://schemas.microsoft.com/office/drawing/2014/main" id="{EED05491-56E7-7078-CA3F-7C8E1F7305F1}"/>
              </a:ext>
            </a:extLst>
          </p:cNvPr>
          <p:cNvSpPr/>
          <p:nvPr/>
        </p:nvSpPr>
        <p:spPr>
          <a:xfrm>
            <a:off x="3655314" y="4232726"/>
            <a:ext cx="233172" cy="276999"/>
          </a:xfrm>
          <a:prstGeom prst="curved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solidFill>
                <a:schemeClr val="tx1"/>
              </a:solidFill>
            </a:endParaRPr>
          </a:p>
        </p:txBody>
      </p:sp>
      <p:sp>
        <p:nvSpPr>
          <p:cNvPr id="30" name="Arrow: Curved Right 29">
            <a:extLst>
              <a:ext uri="{FF2B5EF4-FFF2-40B4-BE49-F238E27FC236}">
                <a16:creationId xmlns:a16="http://schemas.microsoft.com/office/drawing/2014/main" id="{86114D15-12F7-AF99-4E7F-48440280E043}"/>
              </a:ext>
            </a:extLst>
          </p:cNvPr>
          <p:cNvSpPr/>
          <p:nvPr/>
        </p:nvSpPr>
        <p:spPr>
          <a:xfrm rot="15660816">
            <a:off x="7858310" y="4288014"/>
            <a:ext cx="331908" cy="391747"/>
          </a:xfrm>
          <a:prstGeom prst="curved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solidFill>
                <a:schemeClr val="tx1"/>
              </a:solidFill>
            </a:endParaRPr>
          </a:p>
        </p:txBody>
      </p:sp>
      <p:sp>
        <p:nvSpPr>
          <p:cNvPr id="31" name="TextBox 30">
            <a:extLst>
              <a:ext uri="{FF2B5EF4-FFF2-40B4-BE49-F238E27FC236}">
                <a16:creationId xmlns:a16="http://schemas.microsoft.com/office/drawing/2014/main" id="{70FFB2B3-F1A1-B5E4-72FC-F4F40E630F40}"/>
              </a:ext>
            </a:extLst>
          </p:cNvPr>
          <p:cNvSpPr txBox="1"/>
          <p:nvPr/>
        </p:nvSpPr>
        <p:spPr>
          <a:xfrm>
            <a:off x="4245795" y="2119122"/>
            <a:ext cx="276038" cy="300082"/>
          </a:xfrm>
          <a:prstGeom prst="rect">
            <a:avLst/>
          </a:prstGeom>
          <a:noFill/>
        </p:spPr>
        <p:txBody>
          <a:bodyPr wrap="none" rtlCol="0">
            <a:spAutoFit/>
          </a:bodyPr>
          <a:lstStyle/>
          <a:p>
            <a:r>
              <a:rPr lang="en-US" sz="1350" dirty="0"/>
              <a:t>b</a:t>
            </a:r>
          </a:p>
        </p:txBody>
      </p:sp>
      <p:sp>
        <p:nvSpPr>
          <p:cNvPr id="32" name="TextBox 31">
            <a:extLst>
              <a:ext uri="{FF2B5EF4-FFF2-40B4-BE49-F238E27FC236}">
                <a16:creationId xmlns:a16="http://schemas.microsoft.com/office/drawing/2014/main" id="{742711AA-79A6-44F4-E6D7-EC2D9DD2FE4B}"/>
              </a:ext>
            </a:extLst>
          </p:cNvPr>
          <p:cNvSpPr txBox="1"/>
          <p:nvPr/>
        </p:nvSpPr>
        <p:spPr>
          <a:xfrm>
            <a:off x="4245795" y="3429000"/>
            <a:ext cx="276038" cy="300082"/>
          </a:xfrm>
          <a:prstGeom prst="rect">
            <a:avLst/>
          </a:prstGeom>
          <a:noFill/>
        </p:spPr>
        <p:txBody>
          <a:bodyPr wrap="none" rtlCol="0">
            <a:spAutoFit/>
          </a:bodyPr>
          <a:lstStyle/>
          <a:p>
            <a:r>
              <a:rPr lang="en-US" sz="1350" dirty="0"/>
              <a:t>b</a:t>
            </a:r>
          </a:p>
        </p:txBody>
      </p:sp>
      <p:sp>
        <p:nvSpPr>
          <p:cNvPr id="33" name="TextBox 32">
            <a:extLst>
              <a:ext uri="{FF2B5EF4-FFF2-40B4-BE49-F238E27FC236}">
                <a16:creationId xmlns:a16="http://schemas.microsoft.com/office/drawing/2014/main" id="{1D42F1BA-65D6-EF8A-F49E-DE96631DFC2D}"/>
              </a:ext>
            </a:extLst>
          </p:cNvPr>
          <p:cNvSpPr txBox="1"/>
          <p:nvPr/>
        </p:nvSpPr>
        <p:spPr>
          <a:xfrm>
            <a:off x="7010951" y="3954160"/>
            <a:ext cx="268022" cy="300082"/>
          </a:xfrm>
          <a:prstGeom prst="rect">
            <a:avLst/>
          </a:prstGeom>
          <a:noFill/>
        </p:spPr>
        <p:txBody>
          <a:bodyPr wrap="none" rtlCol="0">
            <a:spAutoFit/>
          </a:bodyPr>
          <a:lstStyle/>
          <a:p>
            <a:r>
              <a:rPr lang="en-US" sz="1350" dirty="0"/>
              <a:t>a</a:t>
            </a:r>
          </a:p>
        </p:txBody>
      </p:sp>
      <p:sp>
        <p:nvSpPr>
          <p:cNvPr id="34" name="TextBox 33">
            <a:extLst>
              <a:ext uri="{FF2B5EF4-FFF2-40B4-BE49-F238E27FC236}">
                <a16:creationId xmlns:a16="http://schemas.microsoft.com/office/drawing/2014/main" id="{D54FD93E-4925-0AB5-9B9C-E92625BABBEC}"/>
              </a:ext>
            </a:extLst>
          </p:cNvPr>
          <p:cNvSpPr txBox="1"/>
          <p:nvPr/>
        </p:nvSpPr>
        <p:spPr>
          <a:xfrm>
            <a:off x="6739819" y="4346472"/>
            <a:ext cx="276038" cy="300082"/>
          </a:xfrm>
          <a:prstGeom prst="rect">
            <a:avLst/>
          </a:prstGeom>
          <a:noFill/>
        </p:spPr>
        <p:txBody>
          <a:bodyPr wrap="none" rtlCol="0">
            <a:spAutoFit/>
          </a:bodyPr>
          <a:lstStyle/>
          <a:p>
            <a:r>
              <a:rPr lang="en-US" sz="1350" dirty="0"/>
              <a:t>b</a:t>
            </a:r>
          </a:p>
        </p:txBody>
      </p:sp>
      <p:sp>
        <p:nvSpPr>
          <p:cNvPr id="35" name="TextBox 34">
            <a:extLst>
              <a:ext uri="{FF2B5EF4-FFF2-40B4-BE49-F238E27FC236}">
                <a16:creationId xmlns:a16="http://schemas.microsoft.com/office/drawing/2014/main" id="{03E35716-FA8D-CECB-0217-54462DA74092}"/>
              </a:ext>
            </a:extLst>
          </p:cNvPr>
          <p:cNvSpPr txBox="1"/>
          <p:nvPr/>
        </p:nvSpPr>
        <p:spPr>
          <a:xfrm>
            <a:off x="7913536" y="4623471"/>
            <a:ext cx="268022" cy="300082"/>
          </a:xfrm>
          <a:prstGeom prst="rect">
            <a:avLst/>
          </a:prstGeom>
          <a:noFill/>
        </p:spPr>
        <p:txBody>
          <a:bodyPr wrap="none" rtlCol="0">
            <a:spAutoFit/>
          </a:bodyPr>
          <a:lstStyle/>
          <a:p>
            <a:r>
              <a:rPr lang="en-US" sz="1350" dirty="0"/>
              <a:t>a</a:t>
            </a:r>
          </a:p>
        </p:txBody>
      </p:sp>
      <p:sp>
        <p:nvSpPr>
          <p:cNvPr id="36" name="TextBox 35">
            <a:extLst>
              <a:ext uri="{FF2B5EF4-FFF2-40B4-BE49-F238E27FC236}">
                <a16:creationId xmlns:a16="http://schemas.microsoft.com/office/drawing/2014/main" id="{40BB4A2E-E382-9690-4B46-6BB8C3B136AC}"/>
              </a:ext>
            </a:extLst>
          </p:cNvPr>
          <p:cNvSpPr txBox="1"/>
          <p:nvPr/>
        </p:nvSpPr>
        <p:spPr>
          <a:xfrm>
            <a:off x="7180326" y="3127248"/>
            <a:ext cx="276038" cy="300082"/>
          </a:xfrm>
          <a:prstGeom prst="rect">
            <a:avLst/>
          </a:prstGeom>
          <a:noFill/>
        </p:spPr>
        <p:txBody>
          <a:bodyPr wrap="none" rtlCol="0">
            <a:spAutoFit/>
          </a:bodyPr>
          <a:lstStyle/>
          <a:p>
            <a:r>
              <a:rPr lang="en-US" sz="1350" dirty="0"/>
              <a:t>b</a:t>
            </a:r>
          </a:p>
        </p:txBody>
      </p:sp>
      <p:sp>
        <p:nvSpPr>
          <p:cNvPr id="37" name="TextBox 36">
            <a:extLst>
              <a:ext uri="{FF2B5EF4-FFF2-40B4-BE49-F238E27FC236}">
                <a16:creationId xmlns:a16="http://schemas.microsoft.com/office/drawing/2014/main" id="{A0F3D8F0-D592-31E3-A39A-475B232905C0}"/>
              </a:ext>
            </a:extLst>
          </p:cNvPr>
          <p:cNvSpPr txBox="1"/>
          <p:nvPr/>
        </p:nvSpPr>
        <p:spPr>
          <a:xfrm>
            <a:off x="6409639" y="3339096"/>
            <a:ext cx="276038" cy="300082"/>
          </a:xfrm>
          <a:prstGeom prst="rect">
            <a:avLst/>
          </a:prstGeom>
          <a:noFill/>
        </p:spPr>
        <p:txBody>
          <a:bodyPr wrap="none" rtlCol="0">
            <a:spAutoFit/>
          </a:bodyPr>
          <a:lstStyle/>
          <a:p>
            <a:r>
              <a:rPr lang="en-US" sz="1350" dirty="0"/>
              <a:t>b</a:t>
            </a:r>
          </a:p>
        </p:txBody>
      </p:sp>
      <p:sp>
        <p:nvSpPr>
          <p:cNvPr id="38" name="TextBox 37">
            <a:extLst>
              <a:ext uri="{FF2B5EF4-FFF2-40B4-BE49-F238E27FC236}">
                <a16:creationId xmlns:a16="http://schemas.microsoft.com/office/drawing/2014/main" id="{9292207D-DA25-6D6E-E2A7-3E6160ED187F}"/>
              </a:ext>
            </a:extLst>
          </p:cNvPr>
          <p:cNvSpPr txBox="1"/>
          <p:nvPr/>
        </p:nvSpPr>
        <p:spPr>
          <a:xfrm>
            <a:off x="4979848" y="3769221"/>
            <a:ext cx="268022" cy="300082"/>
          </a:xfrm>
          <a:prstGeom prst="rect">
            <a:avLst/>
          </a:prstGeom>
          <a:noFill/>
        </p:spPr>
        <p:txBody>
          <a:bodyPr wrap="none" rtlCol="0">
            <a:spAutoFit/>
          </a:bodyPr>
          <a:lstStyle/>
          <a:p>
            <a:r>
              <a:rPr lang="en-US" sz="1350" dirty="0"/>
              <a:t>a</a:t>
            </a:r>
          </a:p>
        </p:txBody>
      </p:sp>
      <p:sp>
        <p:nvSpPr>
          <p:cNvPr id="39" name="TextBox 38">
            <a:extLst>
              <a:ext uri="{FF2B5EF4-FFF2-40B4-BE49-F238E27FC236}">
                <a16:creationId xmlns:a16="http://schemas.microsoft.com/office/drawing/2014/main" id="{94D7D945-2CE3-1A98-CA84-3B9BD363FB3F}"/>
              </a:ext>
            </a:extLst>
          </p:cNvPr>
          <p:cNvSpPr txBox="1"/>
          <p:nvPr/>
        </p:nvSpPr>
        <p:spPr>
          <a:xfrm>
            <a:off x="5791866" y="3529191"/>
            <a:ext cx="268022" cy="300082"/>
          </a:xfrm>
          <a:prstGeom prst="rect">
            <a:avLst/>
          </a:prstGeom>
          <a:noFill/>
        </p:spPr>
        <p:txBody>
          <a:bodyPr wrap="none" rtlCol="0">
            <a:spAutoFit/>
          </a:bodyPr>
          <a:lstStyle/>
          <a:p>
            <a:r>
              <a:rPr lang="en-US" sz="1350" dirty="0"/>
              <a:t>a</a:t>
            </a:r>
          </a:p>
        </p:txBody>
      </p:sp>
      <p:sp>
        <p:nvSpPr>
          <p:cNvPr id="40" name="TextBox 39">
            <a:extLst>
              <a:ext uri="{FF2B5EF4-FFF2-40B4-BE49-F238E27FC236}">
                <a16:creationId xmlns:a16="http://schemas.microsoft.com/office/drawing/2014/main" id="{A876398B-6A10-97F6-61E2-8E550B6A125D}"/>
              </a:ext>
            </a:extLst>
          </p:cNvPr>
          <p:cNvSpPr txBox="1"/>
          <p:nvPr/>
        </p:nvSpPr>
        <p:spPr>
          <a:xfrm>
            <a:off x="2688336" y="2355723"/>
            <a:ext cx="402674" cy="300082"/>
          </a:xfrm>
          <a:prstGeom prst="rect">
            <a:avLst/>
          </a:prstGeom>
          <a:noFill/>
        </p:spPr>
        <p:txBody>
          <a:bodyPr wrap="none" rtlCol="0">
            <a:spAutoFit/>
          </a:bodyPr>
          <a:lstStyle/>
          <a:p>
            <a:r>
              <a:rPr lang="en-US" sz="1350" dirty="0" err="1"/>
              <a:t>a,b</a:t>
            </a:r>
            <a:endParaRPr lang="en-US" sz="1350" dirty="0"/>
          </a:p>
        </p:txBody>
      </p:sp>
      <p:sp>
        <p:nvSpPr>
          <p:cNvPr id="41" name="TextBox 40">
            <a:extLst>
              <a:ext uri="{FF2B5EF4-FFF2-40B4-BE49-F238E27FC236}">
                <a16:creationId xmlns:a16="http://schemas.microsoft.com/office/drawing/2014/main" id="{79605FAD-F58B-970A-F327-EA776DB65E7B}"/>
              </a:ext>
            </a:extLst>
          </p:cNvPr>
          <p:cNvSpPr txBox="1"/>
          <p:nvPr/>
        </p:nvSpPr>
        <p:spPr>
          <a:xfrm>
            <a:off x="3624351" y="4457698"/>
            <a:ext cx="268022" cy="300082"/>
          </a:xfrm>
          <a:prstGeom prst="rect">
            <a:avLst/>
          </a:prstGeom>
          <a:noFill/>
        </p:spPr>
        <p:txBody>
          <a:bodyPr wrap="none" rtlCol="0">
            <a:spAutoFit/>
          </a:bodyPr>
          <a:lstStyle/>
          <a:p>
            <a:r>
              <a:rPr lang="en-US" sz="1350" dirty="0"/>
              <a:t>a</a:t>
            </a:r>
          </a:p>
        </p:txBody>
      </p:sp>
    </p:spTree>
    <p:extLst>
      <p:ext uri="{BB962C8B-B14F-4D97-AF65-F5344CB8AC3E}">
        <p14:creationId xmlns:p14="http://schemas.microsoft.com/office/powerpoint/2010/main" val="19195439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D19F0-7D98-E237-A5D2-C7396C57E83F}"/>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B21691AB-5899-4989-9A9E-5F0516B2F488}"/>
              </a:ext>
            </a:extLst>
          </p:cNvPr>
          <p:cNvSpPr txBox="1"/>
          <p:nvPr/>
        </p:nvSpPr>
        <p:spPr>
          <a:xfrm>
            <a:off x="830289" y="1447038"/>
            <a:ext cx="2045881" cy="300082"/>
          </a:xfrm>
          <a:prstGeom prst="rect">
            <a:avLst/>
          </a:prstGeom>
          <a:noFill/>
        </p:spPr>
        <p:txBody>
          <a:bodyPr wrap="none" rtlCol="0">
            <a:spAutoFit/>
          </a:bodyPr>
          <a:lstStyle/>
          <a:p>
            <a:r>
              <a:rPr lang="en-US" sz="1350" b="1" u="sng" dirty="0"/>
              <a:t>Regular Expression o NFA:</a:t>
            </a:r>
          </a:p>
        </p:txBody>
      </p:sp>
      <p:sp>
        <p:nvSpPr>
          <p:cNvPr id="5" name="TextBox 4">
            <a:extLst>
              <a:ext uri="{FF2B5EF4-FFF2-40B4-BE49-F238E27FC236}">
                <a16:creationId xmlns:a16="http://schemas.microsoft.com/office/drawing/2014/main" id="{19F8435E-8DCF-B14E-73C8-46351B5F5C7A}"/>
              </a:ext>
            </a:extLst>
          </p:cNvPr>
          <p:cNvSpPr txBox="1"/>
          <p:nvPr/>
        </p:nvSpPr>
        <p:spPr>
          <a:xfrm>
            <a:off x="3044444" y="1447038"/>
            <a:ext cx="822661" cy="300082"/>
          </a:xfrm>
          <a:prstGeom prst="rect">
            <a:avLst/>
          </a:prstGeom>
          <a:noFill/>
        </p:spPr>
        <p:txBody>
          <a:bodyPr wrap="none" rtlCol="0">
            <a:spAutoFit/>
          </a:bodyPr>
          <a:lstStyle/>
          <a:p>
            <a:r>
              <a:rPr lang="en-US" sz="1350" dirty="0"/>
              <a:t>(ab U a)*</a:t>
            </a:r>
          </a:p>
        </p:txBody>
      </p:sp>
      <p:sp>
        <p:nvSpPr>
          <p:cNvPr id="10" name="TextBox 9">
            <a:extLst>
              <a:ext uri="{FF2B5EF4-FFF2-40B4-BE49-F238E27FC236}">
                <a16:creationId xmlns:a16="http://schemas.microsoft.com/office/drawing/2014/main" id="{98AAEE45-F556-C488-D4A6-6C293E54AFAF}"/>
              </a:ext>
            </a:extLst>
          </p:cNvPr>
          <p:cNvSpPr txBox="1"/>
          <p:nvPr/>
        </p:nvSpPr>
        <p:spPr>
          <a:xfrm>
            <a:off x="925831" y="2029968"/>
            <a:ext cx="814647" cy="300082"/>
          </a:xfrm>
          <a:prstGeom prst="rect">
            <a:avLst/>
          </a:prstGeom>
          <a:noFill/>
        </p:spPr>
        <p:txBody>
          <a:bodyPr wrap="none" rtlCol="0">
            <a:spAutoFit/>
          </a:bodyPr>
          <a:lstStyle/>
          <a:p>
            <a:r>
              <a:rPr lang="en-US" sz="1350" u="sng" dirty="0"/>
              <a:t>Solution:</a:t>
            </a:r>
          </a:p>
        </p:txBody>
      </p:sp>
      <p:sp>
        <p:nvSpPr>
          <p:cNvPr id="12" name="TextBox 11">
            <a:extLst>
              <a:ext uri="{FF2B5EF4-FFF2-40B4-BE49-F238E27FC236}">
                <a16:creationId xmlns:a16="http://schemas.microsoft.com/office/drawing/2014/main" id="{B041A0F8-78E9-C7B7-B851-969870FE28A5}"/>
              </a:ext>
            </a:extLst>
          </p:cNvPr>
          <p:cNvSpPr txBox="1"/>
          <p:nvPr/>
        </p:nvSpPr>
        <p:spPr>
          <a:xfrm>
            <a:off x="1828951" y="2523744"/>
            <a:ext cx="314510" cy="300082"/>
          </a:xfrm>
          <a:prstGeom prst="rect">
            <a:avLst/>
          </a:prstGeom>
          <a:noFill/>
        </p:spPr>
        <p:txBody>
          <a:bodyPr wrap="none" rtlCol="0">
            <a:spAutoFit/>
          </a:bodyPr>
          <a:lstStyle/>
          <a:p>
            <a:r>
              <a:rPr lang="en-US" sz="1350" dirty="0"/>
              <a:t>a:</a:t>
            </a:r>
          </a:p>
        </p:txBody>
      </p:sp>
      <p:sp>
        <p:nvSpPr>
          <p:cNvPr id="48" name="TextBox 47">
            <a:extLst>
              <a:ext uri="{FF2B5EF4-FFF2-40B4-BE49-F238E27FC236}">
                <a16:creationId xmlns:a16="http://schemas.microsoft.com/office/drawing/2014/main" id="{4D424F65-B0D8-C7D8-BAFE-C7146BFE36BD}"/>
              </a:ext>
            </a:extLst>
          </p:cNvPr>
          <p:cNvSpPr txBox="1"/>
          <p:nvPr/>
        </p:nvSpPr>
        <p:spPr>
          <a:xfrm>
            <a:off x="4711446" y="2586805"/>
            <a:ext cx="399468" cy="300082"/>
          </a:xfrm>
          <a:prstGeom prst="rect">
            <a:avLst/>
          </a:prstGeom>
          <a:noFill/>
        </p:spPr>
        <p:txBody>
          <a:bodyPr wrap="none" rtlCol="0">
            <a:spAutoFit/>
          </a:bodyPr>
          <a:lstStyle/>
          <a:p>
            <a:r>
              <a:rPr lang="en-US" sz="1350" dirty="0"/>
              <a:t>b:  </a:t>
            </a:r>
          </a:p>
        </p:txBody>
      </p:sp>
      <p:grpSp>
        <p:nvGrpSpPr>
          <p:cNvPr id="55" name="Group 54">
            <a:extLst>
              <a:ext uri="{FF2B5EF4-FFF2-40B4-BE49-F238E27FC236}">
                <a16:creationId xmlns:a16="http://schemas.microsoft.com/office/drawing/2014/main" id="{9FEBFDDF-D946-9EC4-3BB9-32FB6A81B271}"/>
              </a:ext>
            </a:extLst>
          </p:cNvPr>
          <p:cNvGrpSpPr/>
          <p:nvPr/>
        </p:nvGrpSpPr>
        <p:grpSpPr>
          <a:xfrm>
            <a:off x="5080967" y="2630632"/>
            <a:ext cx="1664468" cy="197543"/>
            <a:chOff x="3200400" y="2367296"/>
            <a:chExt cx="2219291" cy="263390"/>
          </a:xfrm>
        </p:grpSpPr>
        <p:sp>
          <p:nvSpPr>
            <p:cNvPr id="57" name="Oval 56">
              <a:extLst>
                <a:ext uri="{FF2B5EF4-FFF2-40B4-BE49-F238E27FC236}">
                  <a16:creationId xmlns:a16="http://schemas.microsoft.com/office/drawing/2014/main" id="{475BACF8-1EA7-92BB-846B-39C471CD1FDE}"/>
                </a:ext>
              </a:extLst>
            </p:cNvPr>
            <p:cNvSpPr/>
            <p:nvPr/>
          </p:nvSpPr>
          <p:spPr>
            <a:xfrm>
              <a:off x="5096721" y="2406658"/>
              <a:ext cx="270807" cy="184666"/>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noFill/>
              </a:endParaRPr>
            </a:p>
          </p:txBody>
        </p:sp>
        <p:sp>
          <p:nvSpPr>
            <p:cNvPr id="58" name="Oval 57">
              <a:extLst>
                <a:ext uri="{FF2B5EF4-FFF2-40B4-BE49-F238E27FC236}">
                  <a16:creationId xmlns:a16="http://schemas.microsoft.com/office/drawing/2014/main" id="{B8C5C55F-3332-FFAA-5481-350C725D3D83}"/>
                </a:ext>
              </a:extLst>
            </p:cNvPr>
            <p:cNvSpPr/>
            <p:nvPr/>
          </p:nvSpPr>
          <p:spPr>
            <a:xfrm>
              <a:off x="5061901" y="2367296"/>
              <a:ext cx="357790" cy="263390"/>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cxnSp>
          <p:nvCxnSpPr>
            <p:cNvPr id="59" name="Straight Arrow Connector 58">
              <a:extLst>
                <a:ext uri="{FF2B5EF4-FFF2-40B4-BE49-F238E27FC236}">
                  <a16:creationId xmlns:a16="http://schemas.microsoft.com/office/drawing/2014/main" id="{1F5D0AC7-2659-B07B-408C-9173B0B4D2E9}"/>
                </a:ext>
              </a:extLst>
            </p:cNvPr>
            <p:cNvCxnSpPr/>
            <p:nvPr/>
          </p:nvCxnSpPr>
          <p:spPr>
            <a:xfrm>
              <a:off x="3200400" y="2498991"/>
              <a:ext cx="77724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8966F236-A382-AA22-12AB-73C61EB60AA6}"/>
                </a:ext>
              </a:extLst>
            </p:cNvPr>
            <p:cNvCxnSpPr>
              <a:cxnSpLocks/>
            </p:cNvCxnSpPr>
            <p:nvPr/>
          </p:nvCxnSpPr>
          <p:spPr>
            <a:xfrm>
              <a:off x="4307734" y="2490740"/>
              <a:ext cx="657458" cy="82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62" name="TextBox 61">
            <a:extLst>
              <a:ext uri="{FF2B5EF4-FFF2-40B4-BE49-F238E27FC236}">
                <a16:creationId xmlns:a16="http://schemas.microsoft.com/office/drawing/2014/main" id="{F31BC729-9BC6-4F31-4E75-E9CDC227D1C5}"/>
              </a:ext>
            </a:extLst>
          </p:cNvPr>
          <p:cNvSpPr txBox="1"/>
          <p:nvPr/>
        </p:nvSpPr>
        <p:spPr>
          <a:xfrm>
            <a:off x="1769364" y="3730752"/>
            <a:ext cx="405880" cy="300082"/>
          </a:xfrm>
          <a:prstGeom prst="rect">
            <a:avLst/>
          </a:prstGeom>
          <a:noFill/>
        </p:spPr>
        <p:txBody>
          <a:bodyPr wrap="none" rtlCol="0">
            <a:spAutoFit/>
          </a:bodyPr>
          <a:lstStyle/>
          <a:p>
            <a:r>
              <a:rPr lang="en-US" sz="1350" dirty="0"/>
              <a:t>ab:</a:t>
            </a:r>
          </a:p>
        </p:txBody>
      </p:sp>
      <p:sp>
        <p:nvSpPr>
          <p:cNvPr id="80" name="Oval 79">
            <a:extLst>
              <a:ext uri="{FF2B5EF4-FFF2-40B4-BE49-F238E27FC236}">
                <a16:creationId xmlns:a16="http://schemas.microsoft.com/office/drawing/2014/main" id="{A2F762EA-CBFE-C173-1953-58B8774A1E0D}"/>
              </a:ext>
            </a:extLst>
          </p:cNvPr>
          <p:cNvSpPr/>
          <p:nvPr/>
        </p:nvSpPr>
        <p:spPr>
          <a:xfrm>
            <a:off x="5677309" y="2660154"/>
            <a:ext cx="234158" cy="168008"/>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grpSp>
        <p:nvGrpSpPr>
          <p:cNvPr id="118" name="Group 117">
            <a:extLst>
              <a:ext uri="{FF2B5EF4-FFF2-40B4-BE49-F238E27FC236}">
                <a16:creationId xmlns:a16="http://schemas.microsoft.com/office/drawing/2014/main" id="{34437BF9-FFDD-BA10-C712-646DFD6715BD}"/>
              </a:ext>
            </a:extLst>
          </p:cNvPr>
          <p:cNvGrpSpPr/>
          <p:nvPr/>
        </p:nvGrpSpPr>
        <p:grpSpPr>
          <a:xfrm>
            <a:off x="2400301" y="2501495"/>
            <a:ext cx="1664468" cy="385392"/>
            <a:chOff x="3200400" y="2192327"/>
            <a:chExt cx="2219291" cy="513856"/>
          </a:xfrm>
        </p:grpSpPr>
        <p:grpSp>
          <p:nvGrpSpPr>
            <p:cNvPr id="54" name="Group 53">
              <a:extLst>
                <a:ext uri="{FF2B5EF4-FFF2-40B4-BE49-F238E27FC236}">
                  <a16:creationId xmlns:a16="http://schemas.microsoft.com/office/drawing/2014/main" id="{3B61B118-21E7-2611-0529-25B2AFA846D0}"/>
                </a:ext>
              </a:extLst>
            </p:cNvPr>
            <p:cNvGrpSpPr/>
            <p:nvPr/>
          </p:nvGrpSpPr>
          <p:grpSpPr>
            <a:xfrm>
              <a:off x="3200400" y="2306074"/>
              <a:ext cx="2219291" cy="400109"/>
              <a:chOff x="3200400" y="2306074"/>
              <a:chExt cx="2219291" cy="400109"/>
            </a:xfrm>
          </p:grpSpPr>
          <p:sp>
            <p:nvSpPr>
              <p:cNvPr id="14" name="TextBox 13">
                <a:extLst>
                  <a:ext uri="{FF2B5EF4-FFF2-40B4-BE49-F238E27FC236}">
                    <a16:creationId xmlns:a16="http://schemas.microsoft.com/office/drawing/2014/main" id="{B89C1E29-84DD-4D3B-AF58-06DDBA019921}"/>
                  </a:ext>
                </a:extLst>
              </p:cNvPr>
              <p:cNvSpPr txBox="1"/>
              <p:nvPr/>
            </p:nvSpPr>
            <p:spPr>
              <a:xfrm>
                <a:off x="4012460" y="2306074"/>
                <a:ext cx="246308" cy="400109"/>
              </a:xfrm>
              <a:prstGeom prst="rect">
                <a:avLst/>
              </a:prstGeom>
              <a:noFill/>
            </p:spPr>
            <p:txBody>
              <a:bodyPr wrap="none" rtlCol="0">
                <a:spAutoFit/>
              </a:bodyPr>
              <a:lstStyle/>
              <a:p>
                <a:endParaRPr lang="en-US" sz="1350" dirty="0"/>
              </a:p>
            </p:txBody>
          </p:sp>
          <p:sp>
            <p:nvSpPr>
              <p:cNvPr id="16" name="Oval 15">
                <a:extLst>
                  <a:ext uri="{FF2B5EF4-FFF2-40B4-BE49-F238E27FC236}">
                    <a16:creationId xmlns:a16="http://schemas.microsoft.com/office/drawing/2014/main" id="{3FE47ECD-7510-75EB-63AC-2D95C2348087}"/>
                  </a:ext>
                </a:extLst>
              </p:cNvPr>
              <p:cNvSpPr/>
              <p:nvPr/>
            </p:nvSpPr>
            <p:spPr>
              <a:xfrm>
                <a:off x="5096721" y="2406658"/>
                <a:ext cx="270807" cy="184666"/>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noFill/>
                </a:endParaRPr>
              </a:p>
            </p:txBody>
          </p:sp>
          <p:sp>
            <p:nvSpPr>
              <p:cNvPr id="20" name="Oval 19">
                <a:extLst>
                  <a:ext uri="{FF2B5EF4-FFF2-40B4-BE49-F238E27FC236}">
                    <a16:creationId xmlns:a16="http://schemas.microsoft.com/office/drawing/2014/main" id="{257D2EE7-DB5A-51F8-27BD-1B961C710B4A}"/>
                  </a:ext>
                </a:extLst>
              </p:cNvPr>
              <p:cNvSpPr/>
              <p:nvPr/>
            </p:nvSpPr>
            <p:spPr>
              <a:xfrm>
                <a:off x="5061901" y="2367296"/>
                <a:ext cx="357790" cy="263390"/>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cxnSp>
            <p:nvCxnSpPr>
              <p:cNvPr id="24" name="Straight Arrow Connector 23">
                <a:extLst>
                  <a:ext uri="{FF2B5EF4-FFF2-40B4-BE49-F238E27FC236}">
                    <a16:creationId xmlns:a16="http://schemas.microsoft.com/office/drawing/2014/main" id="{CE0C0853-2384-8E70-70A7-D43AF5722EF5}"/>
                  </a:ext>
                </a:extLst>
              </p:cNvPr>
              <p:cNvCxnSpPr/>
              <p:nvPr/>
            </p:nvCxnSpPr>
            <p:spPr>
              <a:xfrm>
                <a:off x="3200400" y="2498991"/>
                <a:ext cx="77724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59343402-78D2-0FB0-5E89-07AA5CE82FFF}"/>
                  </a:ext>
                </a:extLst>
              </p:cNvPr>
              <p:cNvCxnSpPr>
                <a:cxnSpLocks/>
                <a:stCxn id="78" idx="6"/>
              </p:cNvCxnSpPr>
              <p:nvPr/>
            </p:nvCxnSpPr>
            <p:spPr>
              <a:xfrm flipV="1">
                <a:off x="4294859" y="2498991"/>
                <a:ext cx="670333" cy="55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78" name="Oval 77">
              <a:extLst>
                <a:ext uri="{FF2B5EF4-FFF2-40B4-BE49-F238E27FC236}">
                  <a16:creationId xmlns:a16="http://schemas.microsoft.com/office/drawing/2014/main" id="{D52510F4-C69B-E02B-DF1C-50F5CC631EEB}"/>
                </a:ext>
              </a:extLst>
            </p:cNvPr>
            <p:cNvSpPr/>
            <p:nvPr/>
          </p:nvSpPr>
          <p:spPr>
            <a:xfrm>
              <a:off x="3976565" y="2376993"/>
              <a:ext cx="318294" cy="255139"/>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82" name="TextBox 81">
              <a:extLst>
                <a:ext uri="{FF2B5EF4-FFF2-40B4-BE49-F238E27FC236}">
                  <a16:creationId xmlns:a16="http://schemas.microsoft.com/office/drawing/2014/main" id="{A91DE458-7F4B-7D25-030E-DE6BB90EFC00}"/>
                </a:ext>
              </a:extLst>
            </p:cNvPr>
            <p:cNvSpPr txBox="1"/>
            <p:nvPr/>
          </p:nvSpPr>
          <p:spPr>
            <a:xfrm>
              <a:off x="4448579" y="2192327"/>
              <a:ext cx="357363" cy="400109"/>
            </a:xfrm>
            <a:prstGeom prst="rect">
              <a:avLst/>
            </a:prstGeom>
            <a:noFill/>
          </p:spPr>
          <p:txBody>
            <a:bodyPr wrap="none" rtlCol="0">
              <a:spAutoFit/>
            </a:bodyPr>
            <a:lstStyle/>
            <a:p>
              <a:r>
                <a:rPr lang="en-US" sz="1350" dirty="0"/>
                <a:t>a</a:t>
              </a:r>
            </a:p>
          </p:txBody>
        </p:sp>
      </p:grpSp>
      <p:sp>
        <p:nvSpPr>
          <p:cNvPr id="83" name="TextBox 82">
            <a:extLst>
              <a:ext uri="{FF2B5EF4-FFF2-40B4-BE49-F238E27FC236}">
                <a16:creationId xmlns:a16="http://schemas.microsoft.com/office/drawing/2014/main" id="{0B0B9771-9DA5-209D-F97B-B733D31BCA30}"/>
              </a:ext>
            </a:extLst>
          </p:cNvPr>
          <p:cNvSpPr txBox="1"/>
          <p:nvPr/>
        </p:nvSpPr>
        <p:spPr>
          <a:xfrm>
            <a:off x="6077908" y="2487028"/>
            <a:ext cx="276038" cy="300082"/>
          </a:xfrm>
          <a:prstGeom prst="rect">
            <a:avLst/>
          </a:prstGeom>
          <a:noFill/>
        </p:spPr>
        <p:txBody>
          <a:bodyPr wrap="none" rtlCol="0">
            <a:spAutoFit/>
          </a:bodyPr>
          <a:lstStyle/>
          <a:p>
            <a:r>
              <a:rPr lang="en-US" sz="1350" dirty="0"/>
              <a:t>b</a:t>
            </a:r>
          </a:p>
        </p:txBody>
      </p:sp>
      <p:grpSp>
        <p:nvGrpSpPr>
          <p:cNvPr id="101" name="Group 100">
            <a:extLst>
              <a:ext uri="{FF2B5EF4-FFF2-40B4-BE49-F238E27FC236}">
                <a16:creationId xmlns:a16="http://schemas.microsoft.com/office/drawing/2014/main" id="{9FFBCA41-5BD4-3316-1EE1-0BD6C7D9FC24}"/>
              </a:ext>
            </a:extLst>
          </p:cNvPr>
          <p:cNvGrpSpPr/>
          <p:nvPr/>
        </p:nvGrpSpPr>
        <p:grpSpPr>
          <a:xfrm>
            <a:off x="2158073" y="3588074"/>
            <a:ext cx="3422948" cy="415659"/>
            <a:chOff x="2877430" y="3641098"/>
            <a:chExt cx="4563931" cy="554212"/>
          </a:xfrm>
        </p:grpSpPr>
        <p:sp>
          <p:nvSpPr>
            <p:cNvPr id="77" name="Oval 76">
              <a:extLst>
                <a:ext uri="{FF2B5EF4-FFF2-40B4-BE49-F238E27FC236}">
                  <a16:creationId xmlns:a16="http://schemas.microsoft.com/office/drawing/2014/main" id="{63FFE2C4-452D-B663-84A6-D335729E61BA}"/>
                </a:ext>
              </a:extLst>
            </p:cNvPr>
            <p:cNvSpPr/>
            <p:nvPr/>
          </p:nvSpPr>
          <p:spPr>
            <a:xfrm>
              <a:off x="3689491" y="3892558"/>
              <a:ext cx="295274" cy="294497"/>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grpSp>
          <p:nvGrpSpPr>
            <p:cNvPr id="87" name="Group 86">
              <a:extLst>
                <a:ext uri="{FF2B5EF4-FFF2-40B4-BE49-F238E27FC236}">
                  <a16:creationId xmlns:a16="http://schemas.microsoft.com/office/drawing/2014/main" id="{09597BE4-07FE-35AE-95D1-54476457CFDA}"/>
                </a:ext>
              </a:extLst>
            </p:cNvPr>
            <p:cNvGrpSpPr/>
            <p:nvPr/>
          </p:nvGrpSpPr>
          <p:grpSpPr>
            <a:xfrm>
              <a:off x="2877430" y="3686032"/>
              <a:ext cx="4563931" cy="509278"/>
              <a:chOff x="2877430" y="3686032"/>
              <a:chExt cx="4563931" cy="509278"/>
            </a:xfrm>
          </p:grpSpPr>
          <p:grpSp>
            <p:nvGrpSpPr>
              <p:cNvPr id="63" name="Group 62">
                <a:extLst>
                  <a:ext uri="{FF2B5EF4-FFF2-40B4-BE49-F238E27FC236}">
                    <a16:creationId xmlns:a16="http://schemas.microsoft.com/office/drawing/2014/main" id="{13C4F022-CF26-DA0D-3566-B6BE18182008}"/>
                  </a:ext>
                </a:extLst>
              </p:cNvPr>
              <p:cNvGrpSpPr/>
              <p:nvPr/>
            </p:nvGrpSpPr>
            <p:grpSpPr>
              <a:xfrm>
                <a:off x="2877430" y="3892558"/>
                <a:ext cx="2219291" cy="263390"/>
                <a:chOff x="3200400" y="2367296"/>
                <a:chExt cx="2219291" cy="263390"/>
              </a:xfrm>
            </p:grpSpPr>
            <p:sp>
              <p:nvSpPr>
                <p:cNvPr id="66" name="Oval 65">
                  <a:extLst>
                    <a:ext uri="{FF2B5EF4-FFF2-40B4-BE49-F238E27FC236}">
                      <a16:creationId xmlns:a16="http://schemas.microsoft.com/office/drawing/2014/main" id="{CC048F73-CC63-2D63-3F3B-15E81684F16F}"/>
                    </a:ext>
                  </a:extLst>
                </p:cNvPr>
                <p:cNvSpPr/>
                <p:nvPr/>
              </p:nvSpPr>
              <p:spPr>
                <a:xfrm>
                  <a:off x="5061901" y="2367296"/>
                  <a:ext cx="357790" cy="263390"/>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cxnSp>
              <p:nvCxnSpPr>
                <p:cNvPr id="67" name="Straight Arrow Connector 66">
                  <a:extLst>
                    <a:ext uri="{FF2B5EF4-FFF2-40B4-BE49-F238E27FC236}">
                      <a16:creationId xmlns:a16="http://schemas.microsoft.com/office/drawing/2014/main" id="{40A81F2D-5A7A-A08C-18C4-3733D70A08F0}"/>
                    </a:ext>
                  </a:extLst>
                </p:cNvPr>
                <p:cNvCxnSpPr/>
                <p:nvPr/>
              </p:nvCxnSpPr>
              <p:spPr>
                <a:xfrm>
                  <a:off x="3200400" y="2498991"/>
                  <a:ext cx="77724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27710212-ABE5-816C-7FD7-20B9B3D7A946}"/>
                    </a:ext>
                  </a:extLst>
                </p:cNvPr>
                <p:cNvCxnSpPr>
                  <a:cxnSpLocks/>
                </p:cNvCxnSpPr>
                <p:nvPr/>
              </p:nvCxnSpPr>
              <p:spPr>
                <a:xfrm>
                  <a:off x="4307734" y="2490740"/>
                  <a:ext cx="657458" cy="82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69" name="Group 68">
                <a:extLst>
                  <a:ext uri="{FF2B5EF4-FFF2-40B4-BE49-F238E27FC236}">
                    <a16:creationId xmlns:a16="http://schemas.microsoft.com/office/drawing/2014/main" id="{46F91BB0-5E17-83A2-1958-5BBF2649E324}"/>
                  </a:ext>
                </a:extLst>
              </p:cNvPr>
              <p:cNvGrpSpPr/>
              <p:nvPr/>
            </p:nvGrpSpPr>
            <p:grpSpPr>
              <a:xfrm>
                <a:off x="5222070" y="3931920"/>
                <a:ext cx="2219291" cy="263390"/>
                <a:chOff x="3200400" y="2367296"/>
                <a:chExt cx="2219291" cy="263390"/>
              </a:xfrm>
            </p:grpSpPr>
            <p:sp>
              <p:nvSpPr>
                <p:cNvPr id="70" name="Oval 69">
                  <a:extLst>
                    <a:ext uri="{FF2B5EF4-FFF2-40B4-BE49-F238E27FC236}">
                      <a16:creationId xmlns:a16="http://schemas.microsoft.com/office/drawing/2014/main" id="{803F1B70-EFFD-A90A-0A63-5EFFF6F43E3A}"/>
                    </a:ext>
                  </a:extLst>
                </p:cNvPr>
                <p:cNvSpPr/>
                <p:nvPr/>
              </p:nvSpPr>
              <p:spPr>
                <a:xfrm>
                  <a:off x="5096721" y="2406658"/>
                  <a:ext cx="270807" cy="184666"/>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noFill/>
                  </a:endParaRPr>
                </a:p>
              </p:txBody>
            </p:sp>
            <p:sp>
              <p:nvSpPr>
                <p:cNvPr id="71" name="Oval 70">
                  <a:extLst>
                    <a:ext uri="{FF2B5EF4-FFF2-40B4-BE49-F238E27FC236}">
                      <a16:creationId xmlns:a16="http://schemas.microsoft.com/office/drawing/2014/main" id="{E19E21E2-48B7-6133-EBF9-528BE632C837}"/>
                    </a:ext>
                  </a:extLst>
                </p:cNvPr>
                <p:cNvSpPr/>
                <p:nvPr/>
              </p:nvSpPr>
              <p:spPr>
                <a:xfrm>
                  <a:off x="5061901" y="2367296"/>
                  <a:ext cx="357790" cy="263390"/>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cxnSp>
              <p:nvCxnSpPr>
                <p:cNvPr id="72" name="Straight Arrow Connector 71">
                  <a:extLst>
                    <a:ext uri="{FF2B5EF4-FFF2-40B4-BE49-F238E27FC236}">
                      <a16:creationId xmlns:a16="http://schemas.microsoft.com/office/drawing/2014/main" id="{558F1DBD-2343-4114-8EF9-F539ECF21DF7}"/>
                    </a:ext>
                  </a:extLst>
                </p:cNvPr>
                <p:cNvCxnSpPr/>
                <p:nvPr/>
              </p:nvCxnSpPr>
              <p:spPr>
                <a:xfrm>
                  <a:off x="3200400" y="2498991"/>
                  <a:ext cx="77724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BA4D9D7B-B935-DC5A-0F18-61F6D014495C}"/>
                    </a:ext>
                  </a:extLst>
                </p:cNvPr>
                <p:cNvCxnSpPr>
                  <a:cxnSpLocks/>
                </p:cNvCxnSpPr>
                <p:nvPr/>
              </p:nvCxnSpPr>
              <p:spPr>
                <a:xfrm>
                  <a:off x="4307734" y="2490740"/>
                  <a:ext cx="657458" cy="82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75" name="TextBox 74">
                <a:extLst>
                  <a:ext uri="{FF2B5EF4-FFF2-40B4-BE49-F238E27FC236}">
                    <a16:creationId xmlns:a16="http://schemas.microsoft.com/office/drawing/2014/main" id="{79FAFB5B-3323-FF3B-CFEA-726C3DD3E8B9}"/>
                  </a:ext>
                </a:extLst>
              </p:cNvPr>
              <p:cNvSpPr txBox="1"/>
              <p:nvPr/>
            </p:nvSpPr>
            <p:spPr>
              <a:xfrm>
                <a:off x="5476928" y="3747255"/>
                <a:ext cx="350952" cy="400109"/>
              </a:xfrm>
              <a:prstGeom prst="rect">
                <a:avLst/>
              </a:prstGeom>
              <a:noFill/>
            </p:spPr>
            <p:txBody>
              <a:bodyPr wrap="none" rtlCol="0">
                <a:spAutoFit/>
              </a:bodyPr>
              <a:lstStyle/>
              <a:p>
                <a:r>
                  <a:rPr lang="el-GR" sz="1350" dirty="0">
                    <a:solidFill>
                      <a:srgbClr val="000000"/>
                    </a:solidFill>
                    <a:latin typeface="Calibri" panose="020F0502020204030204" pitchFamily="34" charset="0"/>
                  </a:rPr>
                  <a:t>ε</a:t>
                </a:r>
                <a:endParaRPr lang="en-US" sz="1350" dirty="0"/>
              </a:p>
            </p:txBody>
          </p:sp>
          <p:sp>
            <p:nvSpPr>
              <p:cNvPr id="81" name="Oval 80">
                <a:extLst>
                  <a:ext uri="{FF2B5EF4-FFF2-40B4-BE49-F238E27FC236}">
                    <a16:creationId xmlns:a16="http://schemas.microsoft.com/office/drawing/2014/main" id="{8D193B9C-BF3C-C644-0FFB-2D0552D9EEE9}"/>
                  </a:ext>
                </a:extLst>
              </p:cNvPr>
              <p:cNvSpPr/>
              <p:nvPr/>
            </p:nvSpPr>
            <p:spPr>
              <a:xfrm>
                <a:off x="6004624" y="3916368"/>
                <a:ext cx="283517" cy="277992"/>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84" name="TextBox 83">
                <a:extLst>
                  <a:ext uri="{FF2B5EF4-FFF2-40B4-BE49-F238E27FC236}">
                    <a16:creationId xmlns:a16="http://schemas.microsoft.com/office/drawing/2014/main" id="{45C6C380-5541-C1D4-9E0E-0EC452F29C8C}"/>
                  </a:ext>
                </a:extLst>
              </p:cNvPr>
              <p:cNvSpPr txBox="1"/>
              <p:nvPr/>
            </p:nvSpPr>
            <p:spPr>
              <a:xfrm>
                <a:off x="6488246" y="3686032"/>
                <a:ext cx="368051" cy="400109"/>
              </a:xfrm>
              <a:prstGeom prst="rect">
                <a:avLst/>
              </a:prstGeom>
              <a:noFill/>
            </p:spPr>
            <p:txBody>
              <a:bodyPr wrap="none" rtlCol="0">
                <a:spAutoFit/>
              </a:bodyPr>
              <a:lstStyle/>
              <a:p>
                <a:r>
                  <a:rPr lang="en-US" sz="1350" dirty="0"/>
                  <a:t>b</a:t>
                </a:r>
              </a:p>
            </p:txBody>
          </p:sp>
        </p:grpSp>
        <p:sp>
          <p:nvSpPr>
            <p:cNvPr id="85" name="TextBox 84">
              <a:extLst>
                <a:ext uri="{FF2B5EF4-FFF2-40B4-BE49-F238E27FC236}">
                  <a16:creationId xmlns:a16="http://schemas.microsoft.com/office/drawing/2014/main" id="{BA6D7142-B495-6145-702A-7C3531973970}"/>
                </a:ext>
              </a:extLst>
            </p:cNvPr>
            <p:cNvSpPr txBox="1"/>
            <p:nvPr/>
          </p:nvSpPr>
          <p:spPr>
            <a:xfrm>
              <a:off x="4165855" y="3641098"/>
              <a:ext cx="357363" cy="400109"/>
            </a:xfrm>
            <a:prstGeom prst="rect">
              <a:avLst/>
            </a:prstGeom>
            <a:noFill/>
          </p:spPr>
          <p:txBody>
            <a:bodyPr wrap="none" rtlCol="0">
              <a:spAutoFit/>
            </a:bodyPr>
            <a:lstStyle/>
            <a:p>
              <a:r>
                <a:rPr lang="en-US" sz="1350" dirty="0"/>
                <a:t>a</a:t>
              </a:r>
            </a:p>
          </p:txBody>
        </p:sp>
      </p:grpSp>
      <p:sp>
        <p:nvSpPr>
          <p:cNvPr id="86" name="TextBox 85">
            <a:extLst>
              <a:ext uri="{FF2B5EF4-FFF2-40B4-BE49-F238E27FC236}">
                <a16:creationId xmlns:a16="http://schemas.microsoft.com/office/drawing/2014/main" id="{8319CB73-7892-007B-EF3F-C754FA79553D}"/>
              </a:ext>
            </a:extLst>
          </p:cNvPr>
          <p:cNvSpPr txBox="1"/>
          <p:nvPr/>
        </p:nvSpPr>
        <p:spPr>
          <a:xfrm>
            <a:off x="1309469" y="4780026"/>
            <a:ext cx="782587" cy="300082"/>
          </a:xfrm>
          <a:prstGeom prst="rect">
            <a:avLst/>
          </a:prstGeom>
          <a:noFill/>
        </p:spPr>
        <p:txBody>
          <a:bodyPr wrap="none" rtlCol="0">
            <a:spAutoFit/>
          </a:bodyPr>
          <a:lstStyle/>
          <a:p>
            <a:r>
              <a:rPr lang="en-US" sz="1350" dirty="0"/>
              <a:t>(ab U a):</a:t>
            </a:r>
          </a:p>
        </p:txBody>
      </p:sp>
      <p:cxnSp>
        <p:nvCxnSpPr>
          <p:cNvPr id="130" name="Straight Arrow Connector 129">
            <a:extLst>
              <a:ext uri="{FF2B5EF4-FFF2-40B4-BE49-F238E27FC236}">
                <a16:creationId xmlns:a16="http://schemas.microsoft.com/office/drawing/2014/main" id="{3D73B695-9CC9-156C-CA18-401F0EF77F09}"/>
              </a:ext>
            </a:extLst>
          </p:cNvPr>
          <p:cNvCxnSpPr>
            <a:endCxn id="128" idx="2"/>
          </p:cNvCxnSpPr>
          <p:nvPr/>
        </p:nvCxnSpPr>
        <p:spPr>
          <a:xfrm>
            <a:off x="1828951" y="5296398"/>
            <a:ext cx="729083" cy="13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139" name="Group 138">
            <a:extLst>
              <a:ext uri="{FF2B5EF4-FFF2-40B4-BE49-F238E27FC236}">
                <a16:creationId xmlns:a16="http://schemas.microsoft.com/office/drawing/2014/main" id="{17BA1B06-385E-BEAE-1B1B-8EB4DD48E808}"/>
              </a:ext>
            </a:extLst>
          </p:cNvPr>
          <p:cNvGrpSpPr/>
          <p:nvPr/>
        </p:nvGrpSpPr>
        <p:grpSpPr>
          <a:xfrm>
            <a:off x="2558034" y="4641365"/>
            <a:ext cx="4042940" cy="1040424"/>
            <a:chOff x="3410712" y="5045488"/>
            <a:chExt cx="5390586" cy="1387232"/>
          </a:xfrm>
        </p:grpSpPr>
        <p:grpSp>
          <p:nvGrpSpPr>
            <p:cNvPr id="102" name="Group 101">
              <a:extLst>
                <a:ext uri="{FF2B5EF4-FFF2-40B4-BE49-F238E27FC236}">
                  <a16:creationId xmlns:a16="http://schemas.microsoft.com/office/drawing/2014/main" id="{A7139597-DED0-5603-F31D-41B1372F6E4D}"/>
                </a:ext>
              </a:extLst>
            </p:cNvPr>
            <p:cNvGrpSpPr/>
            <p:nvPr/>
          </p:nvGrpSpPr>
          <p:grpSpPr>
            <a:xfrm>
              <a:off x="4237367" y="5045488"/>
              <a:ext cx="4563931" cy="554212"/>
              <a:chOff x="2877430" y="3641098"/>
              <a:chExt cx="4563931" cy="554212"/>
            </a:xfrm>
          </p:grpSpPr>
          <p:sp>
            <p:nvSpPr>
              <p:cNvPr id="103" name="Oval 102">
                <a:extLst>
                  <a:ext uri="{FF2B5EF4-FFF2-40B4-BE49-F238E27FC236}">
                    <a16:creationId xmlns:a16="http://schemas.microsoft.com/office/drawing/2014/main" id="{05FD8716-9DD5-3BC9-BEB5-074D23DA240F}"/>
                  </a:ext>
                </a:extLst>
              </p:cNvPr>
              <p:cNvSpPr/>
              <p:nvPr/>
            </p:nvSpPr>
            <p:spPr>
              <a:xfrm>
                <a:off x="3689491" y="3892558"/>
                <a:ext cx="295274" cy="294497"/>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grpSp>
            <p:nvGrpSpPr>
              <p:cNvPr id="104" name="Group 103">
                <a:extLst>
                  <a:ext uri="{FF2B5EF4-FFF2-40B4-BE49-F238E27FC236}">
                    <a16:creationId xmlns:a16="http://schemas.microsoft.com/office/drawing/2014/main" id="{4E695CB9-BF77-D481-1ED3-460732730F42}"/>
                  </a:ext>
                </a:extLst>
              </p:cNvPr>
              <p:cNvGrpSpPr/>
              <p:nvPr/>
            </p:nvGrpSpPr>
            <p:grpSpPr>
              <a:xfrm>
                <a:off x="2877430" y="3686032"/>
                <a:ext cx="4563931" cy="509278"/>
                <a:chOff x="2877430" y="3686032"/>
                <a:chExt cx="4563931" cy="509278"/>
              </a:xfrm>
            </p:grpSpPr>
            <p:grpSp>
              <p:nvGrpSpPr>
                <p:cNvPr id="106" name="Group 105">
                  <a:extLst>
                    <a:ext uri="{FF2B5EF4-FFF2-40B4-BE49-F238E27FC236}">
                      <a16:creationId xmlns:a16="http://schemas.microsoft.com/office/drawing/2014/main" id="{41A921BE-02D0-9F09-2526-3C6BC9D818F2}"/>
                    </a:ext>
                  </a:extLst>
                </p:cNvPr>
                <p:cNvGrpSpPr/>
                <p:nvPr/>
              </p:nvGrpSpPr>
              <p:grpSpPr>
                <a:xfrm>
                  <a:off x="2877430" y="3892558"/>
                  <a:ext cx="2219291" cy="263390"/>
                  <a:chOff x="3200400" y="2367296"/>
                  <a:chExt cx="2219291" cy="263390"/>
                </a:xfrm>
              </p:grpSpPr>
              <p:sp>
                <p:nvSpPr>
                  <p:cNvPr id="115" name="Oval 114">
                    <a:extLst>
                      <a:ext uri="{FF2B5EF4-FFF2-40B4-BE49-F238E27FC236}">
                        <a16:creationId xmlns:a16="http://schemas.microsoft.com/office/drawing/2014/main" id="{B15BF7D4-992D-2DC7-04E1-34729CF89FE3}"/>
                      </a:ext>
                    </a:extLst>
                  </p:cNvPr>
                  <p:cNvSpPr/>
                  <p:nvPr/>
                </p:nvSpPr>
                <p:spPr>
                  <a:xfrm>
                    <a:off x="5061901" y="2367296"/>
                    <a:ext cx="357790" cy="263390"/>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cxnSp>
                <p:nvCxnSpPr>
                  <p:cNvPr id="116" name="Straight Arrow Connector 115">
                    <a:extLst>
                      <a:ext uri="{FF2B5EF4-FFF2-40B4-BE49-F238E27FC236}">
                        <a16:creationId xmlns:a16="http://schemas.microsoft.com/office/drawing/2014/main" id="{68626FDA-DDFB-3583-0BA4-75010EF4C28B}"/>
                      </a:ext>
                    </a:extLst>
                  </p:cNvPr>
                  <p:cNvCxnSpPr/>
                  <p:nvPr/>
                </p:nvCxnSpPr>
                <p:spPr>
                  <a:xfrm>
                    <a:off x="3200400" y="2498991"/>
                    <a:ext cx="77724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7" name="Straight Arrow Connector 116">
                    <a:extLst>
                      <a:ext uri="{FF2B5EF4-FFF2-40B4-BE49-F238E27FC236}">
                        <a16:creationId xmlns:a16="http://schemas.microsoft.com/office/drawing/2014/main" id="{32C0B0C5-2B78-E4BF-3F13-83DBB597AC4D}"/>
                      </a:ext>
                    </a:extLst>
                  </p:cNvPr>
                  <p:cNvCxnSpPr>
                    <a:cxnSpLocks/>
                  </p:cNvCxnSpPr>
                  <p:nvPr/>
                </p:nvCxnSpPr>
                <p:spPr>
                  <a:xfrm>
                    <a:off x="4307734" y="2490740"/>
                    <a:ext cx="657458" cy="82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107" name="Group 106">
                  <a:extLst>
                    <a:ext uri="{FF2B5EF4-FFF2-40B4-BE49-F238E27FC236}">
                      <a16:creationId xmlns:a16="http://schemas.microsoft.com/office/drawing/2014/main" id="{EF0CDC20-1DA3-195C-377C-7E3E02F83DCE}"/>
                    </a:ext>
                  </a:extLst>
                </p:cNvPr>
                <p:cNvGrpSpPr/>
                <p:nvPr/>
              </p:nvGrpSpPr>
              <p:grpSpPr>
                <a:xfrm>
                  <a:off x="5222070" y="3931920"/>
                  <a:ext cx="2219291" cy="263390"/>
                  <a:chOff x="3200400" y="2367296"/>
                  <a:chExt cx="2219291" cy="263390"/>
                </a:xfrm>
              </p:grpSpPr>
              <p:sp>
                <p:nvSpPr>
                  <p:cNvPr id="111" name="Oval 110">
                    <a:extLst>
                      <a:ext uri="{FF2B5EF4-FFF2-40B4-BE49-F238E27FC236}">
                        <a16:creationId xmlns:a16="http://schemas.microsoft.com/office/drawing/2014/main" id="{40ED8A4D-FC17-AC57-7BFD-3D2A6B8FB303}"/>
                      </a:ext>
                    </a:extLst>
                  </p:cNvPr>
                  <p:cNvSpPr/>
                  <p:nvPr/>
                </p:nvSpPr>
                <p:spPr>
                  <a:xfrm>
                    <a:off x="5096721" y="2406658"/>
                    <a:ext cx="270807" cy="184666"/>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noFill/>
                    </a:endParaRPr>
                  </a:p>
                </p:txBody>
              </p:sp>
              <p:sp>
                <p:nvSpPr>
                  <p:cNvPr id="112" name="Oval 111">
                    <a:extLst>
                      <a:ext uri="{FF2B5EF4-FFF2-40B4-BE49-F238E27FC236}">
                        <a16:creationId xmlns:a16="http://schemas.microsoft.com/office/drawing/2014/main" id="{42B440B1-76E3-753A-4D7D-C7D80DEC9611}"/>
                      </a:ext>
                    </a:extLst>
                  </p:cNvPr>
                  <p:cNvSpPr/>
                  <p:nvPr/>
                </p:nvSpPr>
                <p:spPr>
                  <a:xfrm>
                    <a:off x="5061901" y="2367296"/>
                    <a:ext cx="357790" cy="263390"/>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cxnSp>
                <p:nvCxnSpPr>
                  <p:cNvPr id="113" name="Straight Arrow Connector 112">
                    <a:extLst>
                      <a:ext uri="{FF2B5EF4-FFF2-40B4-BE49-F238E27FC236}">
                        <a16:creationId xmlns:a16="http://schemas.microsoft.com/office/drawing/2014/main" id="{35FF603C-0975-8962-EFA6-52F0D474A73E}"/>
                      </a:ext>
                    </a:extLst>
                  </p:cNvPr>
                  <p:cNvCxnSpPr/>
                  <p:nvPr/>
                </p:nvCxnSpPr>
                <p:spPr>
                  <a:xfrm>
                    <a:off x="3200400" y="2498991"/>
                    <a:ext cx="77724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4" name="Straight Arrow Connector 113">
                    <a:extLst>
                      <a:ext uri="{FF2B5EF4-FFF2-40B4-BE49-F238E27FC236}">
                        <a16:creationId xmlns:a16="http://schemas.microsoft.com/office/drawing/2014/main" id="{4AAF2201-C970-9708-91A9-D104A35E4B00}"/>
                      </a:ext>
                    </a:extLst>
                  </p:cNvPr>
                  <p:cNvCxnSpPr>
                    <a:cxnSpLocks/>
                  </p:cNvCxnSpPr>
                  <p:nvPr/>
                </p:nvCxnSpPr>
                <p:spPr>
                  <a:xfrm>
                    <a:off x="4307734" y="2490740"/>
                    <a:ext cx="657458" cy="82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108" name="TextBox 107">
                  <a:extLst>
                    <a:ext uri="{FF2B5EF4-FFF2-40B4-BE49-F238E27FC236}">
                      <a16:creationId xmlns:a16="http://schemas.microsoft.com/office/drawing/2014/main" id="{E7FF2AB3-0222-F3ED-82EA-4DB4E1479F44}"/>
                    </a:ext>
                  </a:extLst>
                </p:cNvPr>
                <p:cNvSpPr txBox="1"/>
                <p:nvPr/>
              </p:nvSpPr>
              <p:spPr>
                <a:xfrm>
                  <a:off x="5476928" y="3747255"/>
                  <a:ext cx="350952" cy="400109"/>
                </a:xfrm>
                <a:prstGeom prst="rect">
                  <a:avLst/>
                </a:prstGeom>
                <a:noFill/>
              </p:spPr>
              <p:txBody>
                <a:bodyPr wrap="none" rtlCol="0">
                  <a:spAutoFit/>
                </a:bodyPr>
                <a:lstStyle/>
                <a:p>
                  <a:r>
                    <a:rPr lang="el-GR" sz="1350" dirty="0">
                      <a:solidFill>
                        <a:srgbClr val="000000"/>
                      </a:solidFill>
                      <a:latin typeface="Calibri" panose="020F0502020204030204" pitchFamily="34" charset="0"/>
                    </a:rPr>
                    <a:t>ε</a:t>
                  </a:r>
                  <a:endParaRPr lang="en-US" sz="1350" dirty="0"/>
                </a:p>
              </p:txBody>
            </p:sp>
            <p:sp>
              <p:nvSpPr>
                <p:cNvPr id="109" name="Oval 108">
                  <a:extLst>
                    <a:ext uri="{FF2B5EF4-FFF2-40B4-BE49-F238E27FC236}">
                      <a16:creationId xmlns:a16="http://schemas.microsoft.com/office/drawing/2014/main" id="{FCEDAAC3-B28C-62E0-16A7-91B527E19E1F}"/>
                    </a:ext>
                  </a:extLst>
                </p:cNvPr>
                <p:cNvSpPr/>
                <p:nvPr/>
              </p:nvSpPr>
              <p:spPr>
                <a:xfrm>
                  <a:off x="6004624" y="3916368"/>
                  <a:ext cx="283517" cy="277992"/>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10" name="TextBox 109">
                  <a:extLst>
                    <a:ext uri="{FF2B5EF4-FFF2-40B4-BE49-F238E27FC236}">
                      <a16:creationId xmlns:a16="http://schemas.microsoft.com/office/drawing/2014/main" id="{CAC13465-71BC-EA0F-93A8-40A1F3B11B56}"/>
                    </a:ext>
                  </a:extLst>
                </p:cNvPr>
                <p:cNvSpPr txBox="1"/>
                <p:nvPr/>
              </p:nvSpPr>
              <p:spPr>
                <a:xfrm>
                  <a:off x="6488247" y="3686032"/>
                  <a:ext cx="368051" cy="400109"/>
                </a:xfrm>
                <a:prstGeom prst="rect">
                  <a:avLst/>
                </a:prstGeom>
                <a:noFill/>
              </p:spPr>
              <p:txBody>
                <a:bodyPr wrap="none" rtlCol="0">
                  <a:spAutoFit/>
                </a:bodyPr>
                <a:lstStyle/>
                <a:p>
                  <a:r>
                    <a:rPr lang="en-US" sz="1350" dirty="0"/>
                    <a:t>b</a:t>
                  </a:r>
                </a:p>
              </p:txBody>
            </p:sp>
          </p:grpSp>
          <p:sp>
            <p:nvSpPr>
              <p:cNvPr id="105" name="TextBox 104">
                <a:extLst>
                  <a:ext uri="{FF2B5EF4-FFF2-40B4-BE49-F238E27FC236}">
                    <a16:creationId xmlns:a16="http://schemas.microsoft.com/office/drawing/2014/main" id="{BD9B49A6-7877-28C8-C22E-2FB5085DA79B}"/>
                  </a:ext>
                </a:extLst>
              </p:cNvPr>
              <p:cNvSpPr txBox="1"/>
              <p:nvPr/>
            </p:nvSpPr>
            <p:spPr>
              <a:xfrm>
                <a:off x="4165856" y="3641098"/>
                <a:ext cx="357363" cy="400109"/>
              </a:xfrm>
              <a:prstGeom prst="rect">
                <a:avLst/>
              </a:prstGeom>
              <a:noFill/>
            </p:spPr>
            <p:txBody>
              <a:bodyPr wrap="none" rtlCol="0">
                <a:spAutoFit/>
              </a:bodyPr>
              <a:lstStyle/>
              <a:p>
                <a:r>
                  <a:rPr lang="en-US" sz="1350" dirty="0"/>
                  <a:t>a</a:t>
                </a:r>
              </a:p>
            </p:txBody>
          </p:sp>
        </p:grpSp>
        <p:grpSp>
          <p:nvGrpSpPr>
            <p:cNvPr id="119" name="Group 118">
              <a:extLst>
                <a:ext uri="{FF2B5EF4-FFF2-40B4-BE49-F238E27FC236}">
                  <a16:creationId xmlns:a16="http://schemas.microsoft.com/office/drawing/2014/main" id="{89A2FD85-D69D-12FD-5D19-C1D0921990E7}"/>
                </a:ext>
              </a:extLst>
            </p:cNvPr>
            <p:cNvGrpSpPr/>
            <p:nvPr/>
          </p:nvGrpSpPr>
          <p:grpSpPr>
            <a:xfrm>
              <a:off x="4313493" y="5918864"/>
              <a:ext cx="2219291" cy="513856"/>
              <a:chOff x="3200400" y="2192327"/>
              <a:chExt cx="2219291" cy="513856"/>
            </a:xfrm>
          </p:grpSpPr>
          <p:grpSp>
            <p:nvGrpSpPr>
              <p:cNvPr id="120" name="Group 119">
                <a:extLst>
                  <a:ext uri="{FF2B5EF4-FFF2-40B4-BE49-F238E27FC236}">
                    <a16:creationId xmlns:a16="http://schemas.microsoft.com/office/drawing/2014/main" id="{066CF5D6-00E8-9C05-6A6D-4079875CAEA4}"/>
                  </a:ext>
                </a:extLst>
              </p:cNvPr>
              <p:cNvGrpSpPr/>
              <p:nvPr/>
            </p:nvGrpSpPr>
            <p:grpSpPr>
              <a:xfrm>
                <a:off x="3200400" y="2306074"/>
                <a:ext cx="2219291" cy="400109"/>
                <a:chOff x="3200400" y="2306074"/>
                <a:chExt cx="2219291" cy="400109"/>
              </a:xfrm>
            </p:grpSpPr>
            <p:sp>
              <p:nvSpPr>
                <p:cNvPr id="123" name="TextBox 122">
                  <a:extLst>
                    <a:ext uri="{FF2B5EF4-FFF2-40B4-BE49-F238E27FC236}">
                      <a16:creationId xmlns:a16="http://schemas.microsoft.com/office/drawing/2014/main" id="{3141A785-F180-E4CE-88A4-57268EB7434A}"/>
                    </a:ext>
                  </a:extLst>
                </p:cNvPr>
                <p:cNvSpPr txBox="1"/>
                <p:nvPr/>
              </p:nvSpPr>
              <p:spPr>
                <a:xfrm>
                  <a:off x="4012460" y="2306074"/>
                  <a:ext cx="246308" cy="400109"/>
                </a:xfrm>
                <a:prstGeom prst="rect">
                  <a:avLst/>
                </a:prstGeom>
                <a:noFill/>
              </p:spPr>
              <p:txBody>
                <a:bodyPr wrap="none" rtlCol="0">
                  <a:spAutoFit/>
                </a:bodyPr>
                <a:lstStyle/>
                <a:p>
                  <a:endParaRPr lang="en-US" sz="1350" dirty="0"/>
                </a:p>
              </p:txBody>
            </p:sp>
            <p:sp>
              <p:nvSpPr>
                <p:cNvPr id="124" name="Oval 123">
                  <a:extLst>
                    <a:ext uri="{FF2B5EF4-FFF2-40B4-BE49-F238E27FC236}">
                      <a16:creationId xmlns:a16="http://schemas.microsoft.com/office/drawing/2014/main" id="{1BB66AFD-DF92-6EC2-2CA2-5C7404491132}"/>
                    </a:ext>
                  </a:extLst>
                </p:cNvPr>
                <p:cNvSpPr/>
                <p:nvPr/>
              </p:nvSpPr>
              <p:spPr>
                <a:xfrm>
                  <a:off x="5096721" y="2406658"/>
                  <a:ext cx="270807" cy="184666"/>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noFill/>
                  </a:endParaRPr>
                </a:p>
              </p:txBody>
            </p:sp>
            <p:sp>
              <p:nvSpPr>
                <p:cNvPr id="125" name="Oval 124">
                  <a:extLst>
                    <a:ext uri="{FF2B5EF4-FFF2-40B4-BE49-F238E27FC236}">
                      <a16:creationId xmlns:a16="http://schemas.microsoft.com/office/drawing/2014/main" id="{9FADC566-4E5E-884F-6D01-0ACB78C47BD0}"/>
                    </a:ext>
                  </a:extLst>
                </p:cNvPr>
                <p:cNvSpPr/>
                <p:nvPr/>
              </p:nvSpPr>
              <p:spPr>
                <a:xfrm>
                  <a:off x="5061901" y="2367296"/>
                  <a:ext cx="357790" cy="263390"/>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cxnSp>
              <p:nvCxnSpPr>
                <p:cNvPr id="126" name="Straight Arrow Connector 125">
                  <a:extLst>
                    <a:ext uri="{FF2B5EF4-FFF2-40B4-BE49-F238E27FC236}">
                      <a16:creationId xmlns:a16="http://schemas.microsoft.com/office/drawing/2014/main" id="{FCA27655-6950-4232-16D4-67BB2919019C}"/>
                    </a:ext>
                  </a:extLst>
                </p:cNvPr>
                <p:cNvCxnSpPr/>
                <p:nvPr/>
              </p:nvCxnSpPr>
              <p:spPr>
                <a:xfrm>
                  <a:off x="3200400" y="2498991"/>
                  <a:ext cx="77724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7" name="Straight Arrow Connector 126">
                  <a:extLst>
                    <a:ext uri="{FF2B5EF4-FFF2-40B4-BE49-F238E27FC236}">
                      <a16:creationId xmlns:a16="http://schemas.microsoft.com/office/drawing/2014/main" id="{91DEF4CA-F27F-5FBD-FB74-057A5DFA7C3F}"/>
                    </a:ext>
                  </a:extLst>
                </p:cNvPr>
                <p:cNvCxnSpPr>
                  <a:cxnSpLocks/>
                  <a:stCxn id="121" idx="6"/>
                </p:cNvCxnSpPr>
                <p:nvPr/>
              </p:nvCxnSpPr>
              <p:spPr>
                <a:xfrm flipV="1">
                  <a:off x="4294859" y="2498991"/>
                  <a:ext cx="670333" cy="55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121" name="Oval 120">
                <a:extLst>
                  <a:ext uri="{FF2B5EF4-FFF2-40B4-BE49-F238E27FC236}">
                    <a16:creationId xmlns:a16="http://schemas.microsoft.com/office/drawing/2014/main" id="{881C47BD-4D28-C4FE-FF21-3FC22DAECB97}"/>
                  </a:ext>
                </a:extLst>
              </p:cNvPr>
              <p:cNvSpPr/>
              <p:nvPr/>
            </p:nvSpPr>
            <p:spPr>
              <a:xfrm>
                <a:off x="3976565" y="2376993"/>
                <a:ext cx="318294" cy="255139"/>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22" name="TextBox 121">
                <a:extLst>
                  <a:ext uri="{FF2B5EF4-FFF2-40B4-BE49-F238E27FC236}">
                    <a16:creationId xmlns:a16="http://schemas.microsoft.com/office/drawing/2014/main" id="{5AE042FA-4325-A8EA-B06A-D72722DF75BD}"/>
                  </a:ext>
                </a:extLst>
              </p:cNvPr>
              <p:cNvSpPr txBox="1"/>
              <p:nvPr/>
            </p:nvSpPr>
            <p:spPr>
              <a:xfrm>
                <a:off x="4448579" y="2192327"/>
                <a:ext cx="357363" cy="400109"/>
              </a:xfrm>
              <a:prstGeom prst="rect">
                <a:avLst/>
              </a:prstGeom>
              <a:noFill/>
            </p:spPr>
            <p:txBody>
              <a:bodyPr wrap="none" rtlCol="0">
                <a:spAutoFit/>
              </a:bodyPr>
              <a:lstStyle/>
              <a:p>
                <a:r>
                  <a:rPr lang="en-US" sz="1350" dirty="0"/>
                  <a:t>a</a:t>
                </a:r>
              </a:p>
            </p:txBody>
          </p:sp>
        </p:grpSp>
        <p:sp>
          <p:nvSpPr>
            <p:cNvPr id="128" name="Oval 127">
              <a:extLst>
                <a:ext uri="{FF2B5EF4-FFF2-40B4-BE49-F238E27FC236}">
                  <a16:creationId xmlns:a16="http://schemas.microsoft.com/office/drawing/2014/main" id="{E84A2FC8-D892-3D6D-61DC-DC58542660A9}"/>
                </a:ext>
              </a:extLst>
            </p:cNvPr>
            <p:cNvSpPr/>
            <p:nvPr/>
          </p:nvSpPr>
          <p:spPr>
            <a:xfrm>
              <a:off x="3410712" y="5751576"/>
              <a:ext cx="565853" cy="369329"/>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cxnSp>
          <p:nvCxnSpPr>
            <p:cNvPr id="132" name="Straight Connector 131">
              <a:extLst>
                <a:ext uri="{FF2B5EF4-FFF2-40B4-BE49-F238E27FC236}">
                  <a16:creationId xmlns:a16="http://schemas.microsoft.com/office/drawing/2014/main" id="{1975CC4A-7236-BF18-7FAE-61A42C026DD8}"/>
                </a:ext>
              </a:extLst>
            </p:cNvPr>
            <p:cNvCxnSpPr>
              <a:cxnSpLocks/>
              <a:stCxn id="128" idx="7"/>
            </p:cNvCxnSpPr>
            <p:nvPr/>
          </p:nvCxnSpPr>
          <p:spPr>
            <a:xfrm flipV="1">
              <a:off x="3893698" y="5428643"/>
              <a:ext cx="378489" cy="37702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F4573BA7-67F8-47B5-B85D-C5D5A160C56C}"/>
                </a:ext>
              </a:extLst>
            </p:cNvPr>
            <p:cNvCxnSpPr>
              <a:cxnSpLocks/>
              <a:stCxn id="128" idx="5"/>
            </p:cNvCxnSpPr>
            <p:nvPr/>
          </p:nvCxnSpPr>
          <p:spPr>
            <a:xfrm>
              <a:off x="3893698" y="6066818"/>
              <a:ext cx="435981" cy="158709"/>
            </a:xfrm>
            <a:prstGeom prst="line">
              <a:avLst/>
            </a:prstGeom>
          </p:spPr>
          <p:style>
            <a:lnRef idx="1">
              <a:schemeClr val="accent1"/>
            </a:lnRef>
            <a:fillRef idx="0">
              <a:schemeClr val="accent1"/>
            </a:fillRef>
            <a:effectRef idx="0">
              <a:schemeClr val="accent1"/>
            </a:effectRef>
            <a:fontRef idx="minor">
              <a:schemeClr val="tx1"/>
            </a:fontRef>
          </p:style>
        </p:cxnSp>
        <p:sp>
          <p:nvSpPr>
            <p:cNvPr id="137" name="TextBox 136">
              <a:extLst>
                <a:ext uri="{FF2B5EF4-FFF2-40B4-BE49-F238E27FC236}">
                  <a16:creationId xmlns:a16="http://schemas.microsoft.com/office/drawing/2014/main" id="{62D06DD1-EAE5-7071-32A1-FE7DD9B5FC95}"/>
                </a:ext>
              </a:extLst>
            </p:cNvPr>
            <p:cNvSpPr txBox="1"/>
            <p:nvPr/>
          </p:nvSpPr>
          <p:spPr>
            <a:xfrm>
              <a:off x="4642223" y="5336311"/>
              <a:ext cx="350952" cy="400109"/>
            </a:xfrm>
            <a:prstGeom prst="rect">
              <a:avLst/>
            </a:prstGeom>
            <a:noFill/>
          </p:spPr>
          <p:txBody>
            <a:bodyPr wrap="none" rtlCol="0">
              <a:spAutoFit/>
            </a:bodyPr>
            <a:lstStyle/>
            <a:p>
              <a:r>
                <a:rPr lang="el-GR" sz="1350" dirty="0">
                  <a:solidFill>
                    <a:srgbClr val="000000"/>
                  </a:solidFill>
                  <a:latin typeface="Calibri" panose="020F0502020204030204" pitchFamily="34" charset="0"/>
                </a:rPr>
                <a:t>ε</a:t>
              </a:r>
              <a:endParaRPr lang="en-US" sz="1350" dirty="0"/>
            </a:p>
          </p:txBody>
        </p:sp>
      </p:grpSp>
      <p:sp>
        <p:nvSpPr>
          <p:cNvPr id="138" name="TextBox 137">
            <a:extLst>
              <a:ext uri="{FF2B5EF4-FFF2-40B4-BE49-F238E27FC236}">
                <a16:creationId xmlns:a16="http://schemas.microsoft.com/office/drawing/2014/main" id="{CEB9E9DA-1F45-C1A3-663E-A9AFBAF4E838}"/>
              </a:ext>
            </a:extLst>
          </p:cNvPr>
          <p:cNvSpPr txBox="1"/>
          <p:nvPr/>
        </p:nvSpPr>
        <p:spPr>
          <a:xfrm>
            <a:off x="3352625" y="5499969"/>
            <a:ext cx="263214" cy="507831"/>
          </a:xfrm>
          <a:prstGeom prst="rect">
            <a:avLst/>
          </a:prstGeom>
          <a:noFill/>
        </p:spPr>
        <p:txBody>
          <a:bodyPr wrap="none" rtlCol="0">
            <a:spAutoFit/>
          </a:bodyPr>
          <a:lstStyle/>
          <a:p>
            <a:r>
              <a:rPr lang="el-GR" sz="1350" dirty="0">
                <a:solidFill>
                  <a:srgbClr val="000000"/>
                </a:solidFill>
                <a:latin typeface="Calibri" panose="020F0502020204030204" pitchFamily="34" charset="0"/>
              </a:rPr>
              <a:t>ε</a:t>
            </a:r>
            <a:endParaRPr lang="en-US" sz="1350" dirty="0"/>
          </a:p>
          <a:p>
            <a:endParaRPr lang="en-US" sz="1350" dirty="0"/>
          </a:p>
        </p:txBody>
      </p:sp>
    </p:spTree>
    <p:extLst>
      <p:ext uri="{BB962C8B-B14F-4D97-AF65-F5344CB8AC3E}">
        <p14:creationId xmlns:p14="http://schemas.microsoft.com/office/powerpoint/2010/main" val="31598450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238124-4D2F-37A5-0330-F92BD80903B3}"/>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C06D233-E210-E0CD-5BB7-3D7BC64D949A}"/>
              </a:ext>
            </a:extLst>
          </p:cNvPr>
          <p:cNvSpPr txBox="1"/>
          <p:nvPr/>
        </p:nvSpPr>
        <p:spPr>
          <a:xfrm>
            <a:off x="1050855" y="1440340"/>
            <a:ext cx="869149" cy="300082"/>
          </a:xfrm>
          <a:prstGeom prst="rect">
            <a:avLst/>
          </a:prstGeom>
          <a:noFill/>
        </p:spPr>
        <p:txBody>
          <a:bodyPr wrap="none" rtlCol="0">
            <a:spAutoFit/>
          </a:bodyPr>
          <a:lstStyle/>
          <a:p>
            <a:r>
              <a:rPr lang="en-US" sz="1350" dirty="0"/>
              <a:t>(ab U a)*:</a:t>
            </a:r>
          </a:p>
        </p:txBody>
      </p:sp>
      <p:cxnSp>
        <p:nvCxnSpPr>
          <p:cNvPr id="130" name="Straight Arrow Connector 129">
            <a:extLst>
              <a:ext uri="{FF2B5EF4-FFF2-40B4-BE49-F238E27FC236}">
                <a16:creationId xmlns:a16="http://schemas.microsoft.com/office/drawing/2014/main" id="{DAD4E13C-FC7F-D595-46EC-02779F904B39}"/>
              </a:ext>
            </a:extLst>
          </p:cNvPr>
          <p:cNvCxnSpPr>
            <a:endCxn id="128" idx="2"/>
          </p:cNvCxnSpPr>
          <p:nvPr/>
        </p:nvCxnSpPr>
        <p:spPr>
          <a:xfrm>
            <a:off x="2473603" y="2176008"/>
            <a:ext cx="729083" cy="13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139" name="Group 138">
            <a:extLst>
              <a:ext uri="{FF2B5EF4-FFF2-40B4-BE49-F238E27FC236}">
                <a16:creationId xmlns:a16="http://schemas.microsoft.com/office/drawing/2014/main" id="{606CFBCD-12CE-20A5-21AE-585DE308164E}"/>
              </a:ext>
            </a:extLst>
          </p:cNvPr>
          <p:cNvGrpSpPr/>
          <p:nvPr/>
        </p:nvGrpSpPr>
        <p:grpSpPr>
          <a:xfrm>
            <a:off x="3202686" y="1520975"/>
            <a:ext cx="4042940" cy="1040424"/>
            <a:chOff x="3410712" y="5045488"/>
            <a:chExt cx="5390586" cy="1387232"/>
          </a:xfrm>
        </p:grpSpPr>
        <p:grpSp>
          <p:nvGrpSpPr>
            <p:cNvPr id="102" name="Group 101">
              <a:extLst>
                <a:ext uri="{FF2B5EF4-FFF2-40B4-BE49-F238E27FC236}">
                  <a16:creationId xmlns:a16="http://schemas.microsoft.com/office/drawing/2014/main" id="{7EB3BA50-62B6-EA52-7FFA-3C162260E9A6}"/>
                </a:ext>
              </a:extLst>
            </p:cNvPr>
            <p:cNvGrpSpPr/>
            <p:nvPr/>
          </p:nvGrpSpPr>
          <p:grpSpPr>
            <a:xfrm>
              <a:off x="4237367" y="5045488"/>
              <a:ext cx="4563931" cy="554212"/>
              <a:chOff x="2877430" y="3641098"/>
              <a:chExt cx="4563931" cy="554212"/>
            </a:xfrm>
          </p:grpSpPr>
          <p:sp>
            <p:nvSpPr>
              <p:cNvPr id="103" name="Oval 102">
                <a:extLst>
                  <a:ext uri="{FF2B5EF4-FFF2-40B4-BE49-F238E27FC236}">
                    <a16:creationId xmlns:a16="http://schemas.microsoft.com/office/drawing/2014/main" id="{AB3DD1D7-EDE5-186C-6CBD-75557D72D306}"/>
                  </a:ext>
                </a:extLst>
              </p:cNvPr>
              <p:cNvSpPr/>
              <p:nvPr/>
            </p:nvSpPr>
            <p:spPr>
              <a:xfrm>
                <a:off x="3689491" y="3892558"/>
                <a:ext cx="295274" cy="294497"/>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grpSp>
            <p:nvGrpSpPr>
              <p:cNvPr id="104" name="Group 103">
                <a:extLst>
                  <a:ext uri="{FF2B5EF4-FFF2-40B4-BE49-F238E27FC236}">
                    <a16:creationId xmlns:a16="http://schemas.microsoft.com/office/drawing/2014/main" id="{474BD9F1-FAB5-7462-48C6-5815C91AF232}"/>
                  </a:ext>
                </a:extLst>
              </p:cNvPr>
              <p:cNvGrpSpPr/>
              <p:nvPr/>
            </p:nvGrpSpPr>
            <p:grpSpPr>
              <a:xfrm>
                <a:off x="2877430" y="3686032"/>
                <a:ext cx="4563931" cy="509278"/>
                <a:chOff x="2877430" y="3686032"/>
                <a:chExt cx="4563931" cy="509278"/>
              </a:xfrm>
            </p:grpSpPr>
            <p:grpSp>
              <p:nvGrpSpPr>
                <p:cNvPr id="106" name="Group 105">
                  <a:extLst>
                    <a:ext uri="{FF2B5EF4-FFF2-40B4-BE49-F238E27FC236}">
                      <a16:creationId xmlns:a16="http://schemas.microsoft.com/office/drawing/2014/main" id="{BC733D45-78A6-9ABB-3F22-A1F8C6CA9663}"/>
                    </a:ext>
                  </a:extLst>
                </p:cNvPr>
                <p:cNvGrpSpPr/>
                <p:nvPr/>
              </p:nvGrpSpPr>
              <p:grpSpPr>
                <a:xfrm>
                  <a:off x="2877430" y="3892558"/>
                  <a:ext cx="2219291" cy="263390"/>
                  <a:chOff x="3200400" y="2367296"/>
                  <a:chExt cx="2219291" cy="263390"/>
                </a:xfrm>
              </p:grpSpPr>
              <p:sp>
                <p:nvSpPr>
                  <p:cNvPr id="115" name="Oval 114">
                    <a:extLst>
                      <a:ext uri="{FF2B5EF4-FFF2-40B4-BE49-F238E27FC236}">
                        <a16:creationId xmlns:a16="http://schemas.microsoft.com/office/drawing/2014/main" id="{5F298EC4-E01D-6401-5A9F-63EFA825640D}"/>
                      </a:ext>
                    </a:extLst>
                  </p:cNvPr>
                  <p:cNvSpPr/>
                  <p:nvPr/>
                </p:nvSpPr>
                <p:spPr>
                  <a:xfrm>
                    <a:off x="5061901" y="2367296"/>
                    <a:ext cx="357790" cy="263390"/>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cxnSp>
                <p:nvCxnSpPr>
                  <p:cNvPr id="116" name="Straight Arrow Connector 115">
                    <a:extLst>
                      <a:ext uri="{FF2B5EF4-FFF2-40B4-BE49-F238E27FC236}">
                        <a16:creationId xmlns:a16="http://schemas.microsoft.com/office/drawing/2014/main" id="{532BCBC9-9F0B-5E4C-6624-2028A9D295F4}"/>
                      </a:ext>
                    </a:extLst>
                  </p:cNvPr>
                  <p:cNvCxnSpPr/>
                  <p:nvPr/>
                </p:nvCxnSpPr>
                <p:spPr>
                  <a:xfrm>
                    <a:off x="3200400" y="2498991"/>
                    <a:ext cx="77724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7" name="Straight Arrow Connector 116">
                    <a:extLst>
                      <a:ext uri="{FF2B5EF4-FFF2-40B4-BE49-F238E27FC236}">
                        <a16:creationId xmlns:a16="http://schemas.microsoft.com/office/drawing/2014/main" id="{964099F6-919B-2803-09D7-A4754A2DF7B0}"/>
                      </a:ext>
                    </a:extLst>
                  </p:cNvPr>
                  <p:cNvCxnSpPr>
                    <a:cxnSpLocks/>
                  </p:cNvCxnSpPr>
                  <p:nvPr/>
                </p:nvCxnSpPr>
                <p:spPr>
                  <a:xfrm>
                    <a:off x="4307734" y="2490740"/>
                    <a:ext cx="657458" cy="82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107" name="Group 106">
                  <a:extLst>
                    <a:ext uri="{FF2B5EF4-FFF2-40B4-BE49-F238E27FC236}">
                      <a16:creationId xmlns:a16="http://schemas.microsoft.com/office/drawing/2014/main" id="{4F5650B9-CFEC-4C43-5A7C-F8E95C1CC522}"/>
                    </a:ext>
                  </a:extLst>
                </p:cNvPr>
                <p:cNvGrpSpPr/>
                <p:nvPr/>
              </p:nvGrpSpPr>
              <p:grpSpPr>
                <a:xfrm>
                  <a:off x="5222070" y="3931920"/>
                  <a:ext cx="2219291" cy="263390"/>
                  <a:chOff x="3200400" y="2367296"/>
                  <a:chExt cx="2219291" cy="263390"/>
                </a:xfrm>
              </p:grpSpPr>
              <p:sp>
                <p:nvSpPr>
                  <p:cNvPr id="111" name="Oval 110">
                    <a:extLst>
                      <a:ext uri="{FF2B5EF4-FFF2-40B4-BE49-F238E27FC236}">
                        <a16:creationId xmlns:a16="http://schemas.microsoft.com/office/drawing/2014/main" id="{38E97EFF-8FA3-2A42-76FF-B41239ACB3F4}"/>
                      </a:ext>
                    </a:extLst>
                  </p:cNvPr>
                  <p:cNvSpPr/>
                  <p:nvPr/>
                </p:nvSpPr>
                <p:spPr>
                  <a:xfrm>
                    <a:off x="5096721" y="2406658"/>
                    <a:ext cx="270807" cy="184666"/>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noFill/>
                    </a:endParaRPr>
                  </a:p>
                </p:txBody>
              </p:sp>
              <p:sp>
                <p:nvSpPr>
                  <p:cNvPr id="112" name="Oval 111">
                    <a:extLst>
                      <a:ext uri="{FF2B5EF4-FFF2-40B4-BE49-F238E27FC236}">
                        <a16:creationId xmlns:a16="http://schemas.microsoft.com/office/drawing/2014/main" id="{BDBF8FF3-21C1-D86D-D3E0-9B7D4C0C0862}"/>
                      </a:ext>
                    </a:extLst>
                  </p:cNvPr>
                  <p:cNvSpPr/>
                  <p:nvPr/>
                </p:nvSpPr>
                <p:spPr>
                  <a:xfrm>
                    <a:off x="5061901" y="2367296"/>
                    <a:ext cx="357790" cy="263390"/>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cxnSp>
                <p:nvCxnSpPr>
                  <p:cNvPr id="113" name="Straight Arrow Connector 112">
                    <a:extLst>
                      <a:ext uri="{FF2B5EF4-FFF2-40B4-BE49-F238E27FC236}">
                        <a16:creationId xmlns:a16="http://schemas.microsoft.com/office/drawing/2014/main" id="{D874B391-ED49-2788-C9C7-6C81EBD4CADE}"/>
                      </a:ext>
                    </a:extLst>
                  </p:cNvPr>
                  <p:cNvCxnSpPr/>
                  <p:nvPr/>
                </p:nvCxnSpPr>
                <p:spPr>
                  <a:xfrm>
                    <a:off x="3200400" y="2498991"/>
                    <a:ext cx="77724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4" name="Straight Arrow Connector 113">
                    <a:extLst>
                      <a:ext uri="{FF2B5EF4-FFF2-40B4-BE49-F238E27FC236}">
                        <a16:creationId xmlns:a16="http://schemas.microsoft.com/office/drawing/2014/main" id="{8D198BAE-64E0-EA82-80E5-9395A4676AFB}"/>
                      </a:ext>
                    </a:extLst>
                  </p:cNvPr>
                  <p:cNvCxnSpPr>
                    <a:cxnSpLocks/>
                  </p:cNvCxnSpPr>
                  <p:nvPr/>
                </p:nvCxnSpPr>
                <p:spPr>
                  <a:xfrm>
                    <a:off x="4307734" y="2490740"/>
                    <a:ext cx="657458" cy="82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108" name="TextBox 107">
                  <a:extLst>
                    <a:ext uri="{FF2B5EF4-FFF2-40B4-BE49-F238E27FC236}">
                      <a16:creationId xmlns:a16="http://schemas.microsoft.com/office/drawing/2014/main" id="{98D906A2-FD1A-F3DF-7306-8C7D66CF2CF8}"/>
                    </a:ext>
                  </a:extLst>
                </p:cNvPr>
                <p:cNvSpPr txBox="1"/>
                <p:nvPr/>
              </p:nvSpPr>
              <p:spPr>
                <a:xfrm>
                  <a:off x="5476928" y="3747255"/>
                  <a:ext cx="350952" cy="400109"/>
                </a:xfrm>
                <a:prstGeom prst="rect">
                  <a:avLst/>
                </a:prstGeom>
                <a:noFill/>
              </p:spPr>
              <p:txBody>
                <a:bodyPr wrap="none" rtlCol="0">
                  <a:spAutoFit/>
                </a:bodyPr>
                <a:lstStyle/>
                <a:p>
                  <a:r>
                    <a:rPr lang="el-GR" sz="1350" dirty="0">
                      <a:solidFill>
                        <a:srgbClr val="000000"/>
                      </a:solidFill>
                      <a:latin typeface="Calibri" panose="020F0502020204030204" pitchFamily="34" charset="0"/>
                    </a:rPr>
                    <a:t>ε</a:t>
                  </a:r>
                  <a:endParaRPr lang="en-US" sz="1350" dirty="0"/>
                </a:p>
              </p:txBody>
            </p:sp>
            <p:sp>
              <p:nvSpPr>
                <p:cNvPr id="109" name="Oval 108">
                  <a:extLst>
                    <a:ext uri="{FF2B5EF4-FFF2-40B4-BE49-F238E27FC236}">
                      <a16:creationId xmlns:a16="http://schemas.microsoft.com/office/drawing/2014/main" id="{3C433025-40D3-901C-C0C0-AAFB1147E37F}"/>
                    </a:ext>
                  </a:extLst>
                </p:cNvPr>
                <p:cNvSpPr/>
                <p:nvPr/>
              </p:nvSpPr>
              <p:spPr>
                <a:xfrm>
                  <a:off x="6004624" y="3916368"/>
                  <a:ext cx="283517" cy="277992"/>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10" name="TextBox 109">
                  <a:extLst>
                    <a:ext uri="{FF2B5EF4-FFF2-40B4-BE49-F238E27FC236}">
                      <a16:creationId xmlns:a16="http://schemas.microsoft.com/office/drawing/2014/main" id="{8BAFDB93-F3AB-B2AF-E3FF-C1BACE26A2AA}"/>
                    </a:ext>
                  </a:extLst>
                </p:cNvPr>
                <p:cNvSpPr txBox="1"/>
                <p:nvPr/>
              </p:nvSpPr>
              <p:spPr>
                <a:xfrm>
                  <a:off x="6488247" y="3686032"/>
                  <a:ext cx="368051" cy="400109"/>
                </a:xfrm>
                <a:prstGeom prst="rect">
                  <a:avLst/>
                </a:prstGeom>
                <a:noFill/>
              </p:spPr>
              <p:txBody>
                <a:bodyPr wrap="none" rtlCol="0">
                  <a:spAutoFit/>
                </a:bodyPr>
                <a:lstStyle/>
                <a:p>
                  <a:r>
                    <a:rPr lang="en-US" sz="1350" dirty="0"/>
                    <a:t>b</a:t>
                  </a:r>
                </a:p>
              </p:txBody>
            </p:sp>
          </p:grpSp>
          <p:sp>
            <p:nvSpPr>
              <p:cNvPr id="105" name="TextBox 104">
                <a:extLst>
                  <a:ext uri="{FF2B5EF4-FFF2-40B4-BE49-F238E27FC236}">
                    <a16:creationId xmlns:a16="http://schemas.microsoft.com/office/drawing/2014/main" id="{9A650B34-27B4-AB58-448A-C870726269D9}"/>
                  </a:ext>
                </a:extLst>
              </p:cNvPr>
              <p:cNvSpPr txBox="1"/>
              <p:nvPr/>
            </p:nvSpPr>
            <p:spPr>
              <a:xfrm>
                <a:off x="4165856" y="3641098"/>
                <a:ext cx="357363" cy="400109"/>
              </a:xfrm>
              <a:prstGeom prst="rect">
                <a:avLst/>
              </a:prstGeom>
              <a:noFill/>
            </p:spPr>
            <p:txBody>
              <a:bodyPr wrap="none" rtlCol="0">
                <a:spAutoFit/>
              </a:bodyPr>
              <a:lstStyle/>
              <a:p>
                <a:r>
                  <a:rPr lang="en-US" sz="1350" dirty="0"/>
                  <a:t>a</a:t>
                </a:r>
              </a:p>
            </p:txBody>
          </p:sp>
        </p:grpSp>
        <p:grpSp>
          <p:nvGrpSpPr>
            <p:cNvPr id="119" name="Group 118">
              <a:extLst>
                <a:ext uri="{FF2B5EF4-FFF2-40B4-BE49-F238E27FC236}">
                  <a16:creationId xmlns:a16="http://schemas.microsoft.com/office/drawing/2014/main" id="{CC9F6A32-864F-D00F-AA7D-47D4467DB717}"/>
                </a:ext>
              </a:extLst>
            </p:cNvPr>
            <p:cNvGrpSpPr/>
            <p:nvPr/>
          </p:nvGrpSpPr>
          <p:grpSpPr>
            <a:xfrm>
              <a:off x="4313493" y="5918864"/>
              <a:ext cx="2219291" cy="513856"/>
              <a:chOff x="3200400" y="2192327"/>
              <a:chExt cx="2219291" cy="513856"/>
            </a:xfrm>
          </p:grpSpPr>
          <p:grpSp>
            <p:nvGrpSpPr>
              <p:cNvPr id="120" name="Group 119">
                <a:extLst>
                  <a:ext uri="{FF2B5EF4-FFF2-40B4-BE49-F238E27FC236}">
                    <a16:creationId xmlns:a16="http://schemas.microsoft.com/office/drawing/2014/main" id="{99773FC1-1FA9-A99D-2D3E-B3ED7C990357}"/>
                  </a:ext>
                </a:extLst>
              </p:cNvPr>
              <p:cNvGrpSpPr/>
              <p:nvPr/>
            </p:nvGrpSpPr>
            <p:grpSpPr>
              <a:xfrm>
                <a:off x="3200400" y="2306074"/>
                <a:ext cx="2219291" cy="400109"/>
                <a:chOff x="3200400" y="2306074"/>
                <a:chExt cx="2219291" cy="400109"/>
              </a:xfrm>
            </p:grpSpPr>
            <p:sp>
              <p:nvSpPr>
                <p:cNvPr id="123" name="TextBox 122">
                  <a:extLst>
                    <a:ext uri="{FF2B5EF4-FFF2-40B4-BE49-F238E27FC236}">
                      <a16:creationId xmlns:a16="http://schemas.microsoft.com/office/drawing/2014/main" id="{72F95CA4-514D-5B89-173C-4DE2483A310D}"/>
                    </a:ext>
                  </a:extLst>
                </p:cNvPr>
                <p:cNvSpPr txBox="1"/>
                <p:nvPr/>
              </p:nvSpPr>
              <p:spPr>
                <a:xfrm>
                  <a:off x="4012460" y="2306074"/>
                  <a:ext cx="246308" cy="400109"/>
                </a:xfrm>
                <a:prstGeom prst="rect">
                  <a:avLst/>
                </a:prstGeom>
                <a:noFill/>
              </p:spPr>
              <p:txBody>
                <a:bodyPr wrap="none" rtlCol="0">
                  <a:spAutoFit/>
                </a:bodyPr>
                <a:lstStyle/>
                <a:p>
                  <a:endParaRPr lang="en-US" sz="1350" dirty="0"/>
                </a:p>
              </p:txBody>
            </p:sp>
            <p:sp>
              <p:nvSpPr>
                <p:cNvPr id="124" name="Oval 123">
                  <a:extLst>
                    <a:ext uri="{FF2B5EF4-FFF2-40B4-BE49-F238E27FC236}">
                      <a16:creationId xmlns:a16="http://schemas.microsoft.com/office/drawing/2014/main" id="{8A0FB05F-BD26-0A32-B862-2BE78F516D0E}"/>
                    </a:ext>
                  </a:extLst>
                </p:cNvPr>
                <p:cNvSpPr/>
                <p:nvPr/>
              </p:nvSpPr>
              <p:spPr>
                <a:xfrm>
                  <a:off x="5096721" y="2406658"/>
                  <a:ext cx="270807" cy="184666"/>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noFill/>
                  </a:endParaRPr>
                </a:p>
              </p:txBody>
            </p:sp>
            <p:sp>
              <p:nvSpPr>
                <p:cNvPr id="125" name="Oval 124">
                  <a:extLst>
                    <a:ext uri="{FF2B5EF4-FFF2-40B4-BE49-F238E27FC236}">
                      <a16:creationId xmlns:a16="http://schemas.microsoft.com/office/drawing/2014/main" id="{4DFF9C53-78BA-1BAC-ACE4-BB867C52DCB9}"/>
                    </a:ext>
                  </a:extLst>
                </p:cNvPr>
                <p:cNvSpPr/>
                <p:nvPr/>
              </p:nvSpPr>
              <p:spPr>
                <a:xfrm>
                  <a:off x="5061901" y="2367296"/>
                  <a:ext cx="357790" cy="263390"/>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cxnSp>
              <p:nvCxnSpPr>
                <p:cNvPr id="126" name="Straight Arrow Connector 125">
                  <a:extLst>
                    <a:ext uri="{FF2B5EF4-FFF2-40B4-BE49-F238E27FC236}">
                      <a16:creationId xmlns:a16="http://schemas.microsoft.com/office/drawing/2014/main" id="{91953F97-954C-A291-1C37-BA8AB2BBC09D}"/>
                    </a:ext>
                  </a:extLst>
                </p:cNvPr>
                <p:cNvCxnSpPr/>
                <p:nvPr/>
              </p:nvCxnSpPr>
              <p:spPr>
                <a:xfrm>
                  <a:off x="3200400" y="2498991"/>
                  <a:ext cx="77724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7" name="Straight Arrow Connector 126">
                  <a:extLst>
                    <a:ext uri="{FF2B5EF4-FFF2-40B4-BE49-F238E27FC236}">
                      <a16:creationId xmlns:a16="http://schemas.microsoft.com/office/drawing/2014/main" id="{BC2DBDC2-D1F9-52A3-6C56-0CFDEEA60503}"/>
                    </a:ext>
                  </a:extLst>
                </p:cNvPr>
                <p:cNvCxnSpPr>
                  <a:cxnSpLocks/>
                  <a:stCxn id="121" idx="6"/>
                </p:cNvCxnSpPr>
                <p:nvPr/>
              </p:nvCxnSpPr>
              <p:spPr>
                <a:xfrm flipV="1">
                  <a:off x="4294859" y="2498991"/>
                  <a:ext cx="670333" cy="55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121" name="Oval 120">
                <a:extLst>
                  <a:ext uri="{FF2B5EF4-FFF2-40B4-BE49-F238E27FC236}">
                    <a16:creationId xmlns:a16="http://schemas.microsoft.com/office/drawing/2014/main" id="{038BF339-691B-A538-A7B9-79BE1261F530}"/>
                  </a:ext>
                </a:extLst>
              </p:cNvPr>
              <p:cNvSpPr/>
              <p:nvPr/>
            </p:nvSpPr>
            <p:spPr>
              <a:xfrm>
                <a:off x="3976565" y="2376993"/>
                <a:ext cx="318294" cy="255139"/>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22" name="TextBox 121">
                <a:extLst>
                  <a:ext uri="{FF2B5EF4-FFF2-40B4-BE49-F238E27FC236}">
                    <a16:creationId xmlns:a16="http://schemas.microsoft.com/office/drawing/2014/main" id="{50C4F116-9B2C-C299-5677-01E4259FE117}"/>
                  </a:ext>
                </a:extLst>
              </p:cNvPr>
              <p:cNvSpPr txBox="1"/>
              <p:nvPr/>
            </p:nvSpPr>
            <p:spPr>
              <a:xfrm>
                <a:off x="4448579" y="2192327"/>
                <a:ext cx="357363" cy="400109"/>
              </a:xfrm>
              <a:prstGeom prst="rect">
                <a:avLst/>
              </a:prstGeom>
              <a:noFill/>
            </p:spPr>
            <p:txBody>
              <a:bodyPr wrap="none" rtlCol="0">
                <a:spAutoFit/>
              </a:bodyPr>
              <a:lstStyle/>
              <a:p>
                <a:r>
                  <a:rPr lang="en-US" sz="1350" dirty="0"/>
                  <a:t>a</a:t>
                </a:r>
              </a:p>
            </p:txBody>
          </p:sp>
        </p:grpSp>
        <p:sp>
          <p:nvSpPr>
            <p:cNvPr id="128" name="Oval 127">
              <a:extLst>
                <a:ext uri="{FF2B5EF4-FFF2-40B4-BE49-F238E27FC236}">
                  <a16:creationId xmlns:a16="http://schemas.microsoft.com/office/drawing/2014/main" id="{83A6CD53-4F2F-8C2D-47EB-37B7E83001F1}"/>
                </a:ext>
              </a:extLst>
            </p:cNvPr>
            <p:cNvSpPr/>
            <p:nvPr/>
          </p:nvSpPr>
          <p:spPr>
            <a:xfrm>
              <a:off x="3410712" y="5751576"/>
              <a:ext cx="565853" cy="369329"/>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cxnSp>
          <p:nvCxnSpPr>
            <p:cNvPr id="132" name="Straight Connector 131">
              <a:extLst>
                <a:ext uri="{FF2B5EF4-FFF2-40B4-BE49-F238E27FC236}">
                  <a16:creationId xmlns:a16="http://schemas.microsoft.com/office/drawing/2014/main" id="{5A317811-C622-3A71-910E-BE45D2F6423D}"/>
                </a:ext>
              </a:extLst>
            </p:cNvPr>
            <p:cNvCxnSpPr>
              <a:cxnSpLocks/>
              <a:stCxn id="128" idx="7"/>
            </p:cNvCxnSpPr>
            <p:nvPr/>
          </p:nvCxnSpPr>
          <p:spPr>
            <a:xfrm flipV="1">
              <a:off x="3893698" y="5428643"/>
              <a:ext cx="378489" cy="37702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81408A5E-132D-F4B7-7D48-0D1F747CC244}"/>
                </a:ext>
              </a:extLst>
            </p:cNvPr>
            <p:cNvCxnSpPr>
              <a:cxnSpLocks/>
              <a:stCxn id="128" idx="5"/>
            </p:cNvCxnSpPr>
            <p:nvPr/>
          </p:nvCxnSpPr>
          <p:spPr>
            <a:xfrm>
              <a:off x="3893698" y="6066818"/>
              <a:ext cx="435981" cy="158709"/>
            </a:xfrm>
            <a:prstGeom prst="line">
              <a:avLst/>
            </a:prstGeom>
          </p:spPr>
          <p:style>
            <a:lnRef idx="1">
              <a:schemeClr val="accent1"/>
            </a:lnRef>
            <a:fillRef idx="0">
              <a:schemeClr val="accent1"/>
            </a:fillRef>
            <a:effectRef idx="0">
              <a:schemeClr val="accent1"/>
            </a:effectRef>
            <a:fontRef idx="minor">
              <a:schemeClr val="tx1"/>
            </a:fontRef>
          </p:style>
        </p:cxnSp>
        <p:sp>
          <p:nvSpPr>
            <p:cNvPr id="137" name="TextBox 136">
              <a:extLst>
                <a:ext uri="{FF2B5EF4-FFF2-40B4-BE49-F238E27FC236}">
                  <a16:creationId xmlns:a16="http://schemas.microsoft.com/office/drawing/2014/main" id="{89AC5456-A0AF-56FF-6034-1A1F3B47ED46}"/>
                </a:ext>
              </a:extLst>
            </p:cNvPr>
            <p:cNvSpPr txBox="1"/>
            <p:nvPr/>
          </p:nvSpPr>
          <p:spPr>
            <a:xfrm>
              <a:off x="4642223" y="5336311"/>
              <a:ext cx="350952" cy="400109"/>
            </a:xfrm>
            <a:prstGeom prst="rect">
              <a:avLst/>
            </a:prstGeom>
            <a:noFill/>
          </p:spPr>
          <p:txBody>
            <a:bodyPr wrap="none" rtlCol="0">
              <a:spAutoFit/>
            </a:bodyPr>
            <a:lstStyle/>
            <a:p>
              <a:r>
                <a:rPr lang="el-GR" sz="1350" dirty="0">
                  <a:solidFill>
                    <a:srgbClr val="000000"/>
                  </a:solidFill>
                  <a:latin typeface="Calibri" panose="020F0502020204030204" pitchFamily="34" charset="0"/>
                </a:rPr>
                <a:t>ε</a:t>
              </a:r>
              <a:endParaRPr lang="en-US" sz="1350" dirty="0"/>
            </a:p>
          </p:txBody>
        </p:sp>
      </p:grpSp>
      <p:sp>
        <p:nvSpPr>
          <p:cNvPr id="138" name="TextBox 137">
            <a:extLst>
              <a:ext uri="{FF2B5EF4-FFF2-40B4-BE49-F238E27FC236}">
                <a16:creationId xmlns:a16="http://schemas.microsoft.com/office/drawing/2014/main" id="{E50313BE-E35A-7CDA-64A3-9492F24D4491}"/>
              </a:ext>
            </a:extLst>
          </p:cNvPr>
          <p:cNvSpPr txBox="1"/>
          <p:nvPr/>
        </p:nvSpPr>
        <p:spPr>
          <a:xfrm>
            <a:off x="3352625" y="5499969"/>
            <a:ext cx="263214" cy="507831"/>
          </a:xfrm>
          <a:prstGeom prst="rect">
            <a:avLst/>
          </a:prstGeom>
          <a:noFill/>
        </p:spPr>
        <p:txBody>
          <a:bodyPr wrap="none" rtlCol="0">
            <a:spAutoFit/>
          </a:bodyPr>
          <a:lstStyle/>
          <a:p>
            <a:r>
              <a:rPr lang="el-GR" sz="1350" dirty="0">
                <a:solidFill>
                  <a:srgbClr val="000000"/>
                </a:solidFill>
                <a:latin typeface="Calibri" panose="020F0502020204030204" pitchFamily="34" charset="0"/>
              </a:rPr>
              <a:t>ε</a:t>
            </a:r>
            <a:endParaRPr lang="en-US" sz="1350" dirty="0"/>
          </a:p>
          <a:p>
            <a:endParaRPr lang="en-US" sz="1350" dirty="0"/>
          </a:p>
        </p:txBody>
      </p:sp>
      <p:sp>
        <p:nvSpPr>
          <p:cNvPr id="2" name="TextBox 1">
            <a:extLst>
              <a:ext uri="{FF2B5EF4-FFF2-40B4-BE49-F238E27FC236}">
                <a16:creationId xmlns:a16="http://schemas.microsoft.com/office/drawing/2014/main" id="{A5972AA9-59EB-9C4C-9994-370FCF318B12}"/>
              </a:ext>
            </a:extLst>
          </p:cNvPr>
          <p:cNvSpPr txBox="1"/>
          <p:nvPr/>
        </p:nvSpPr>
        <p:spPr>
          <a:xfrm>
            <a:off x="4114435" y="2406005"/>
            <a:ext cx="263214" cy="300082"/>
          </a:xfrm>
          <a:prstGeom prst="rect">
            <a:avLst/>
          </a:prstGeom>
          <a:noFill/>
        </p:spPr>
        <p:txBody>
          <a:bodyPr wrap="none" rtlCol="0">
            <a:spAutoFit/>
          </a:bodyPr>
          <a:lstStyle/>
          <a:p>
            <a:r>
              <a:rPr lang="el-GR" sz="1350" dirty="0">
                <a:solidFill>
                  <a:srgbClr val="000000"/>
                </a:solidFill>
                <a:latin typeface="Calibri" panose="020F0502020204030204" pitchFamily="34" charset="0"/>
              </a:rPr>
              <a:t>ε</a:t>
            </a:r>
            <a:endParaRPr lang="en-US" sz="1350" dirty="0"/>
          </a:p>
        </p:txBody>
      </p:sp>
      <p:sp>
        <p:nvSpPr>
          <p:cNvPr id="3" name="Oval 2">
            <a:extLst>
              <a:ext uri="{FF2B5EF4-FFF2-40B4-BE49-F238E27FC236}">
                <a16:creationId xmlns:a16="http://schemas.microsoft.com/office/drawing/2014/main" id="{C1098252-8DB2-36B9-FCAC-BC07AB31CCAB}"/>
              </a:ext>
            </a:extLst>
          </p:cNvPr>
          <p:cNvSpPr/>
          <p:nvPr/>
        </p:nvSpPr>
        <p:spPr>
          <a:xfrm>
            <a:off x="1975462" y="2006649"/>
            <a:ext cx="473255" cy="351750"/>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cxnSp>
        <p:nvCxnSpPr>
          <p:cNvPr id="7" name="Straight Arrow Connector 6">
            <a:extLst>
              <a:ext uri="{FF2B5EF4-FFF2-40B4-BE49-F238E27FC236}">
                <a16:creationId xmlns:a16="http://schemas.microsoft.com/office/drawing/2014/main" id="{A87F09F7-8022-6726-756A-631FC1A69EA1}"/>
              </a:ext>
            </a:extLst>
          </p:cNvPr>
          <p:cNvCxnSpPr>
            <a:endCxn id="3" idx="2"/>
          </p:cNvCxnSpPr>
          <p:nvPr/>
        </p:nvCxnSpPr>
        <p:spPr>
          <a:xfrm flipV="1">
            <a:off x="1284774" y="2182524"/>
            <a:ext cx="690689" cy="65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Oval 7">
            <a:extLst>
              <a:ext uri="{FF2B5EF4-FFF2-40B4-BE49-F238E27FC236}">
                <a16:creationId xmlns:a16="http://schemas.microsoft.com/office/drawing/2014/main" id="{3AED16F0-777D-E3C9-36F1-7F7064F8A7E3}"/>
              </a:ext>
            </a:extLst>
          </p:cNvPr>
          <p:cNvSpPr/>
          <p:nvPr/>
        </p:nvSpPr>
        <p:spPr>
          <a:xfrm>
            <a:off x="2013856" y="2050542"/>
            <a:ext cx="386497" cy="25669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 name="TextBox 8">
            <a:extLst>
              <a:ext uri="{FF2B5EF4-FFF2-40B4-BE49-F238E27FC236}">
                <a16:creationId xmlns:a16="http://schemas.microsoft.com/office/drawing/2014/main" id="{A9BD4A18-01D2-F261-2094-53BF6E844AF3}"/>
              </a:ext>
            </a:extLst>
          </p:cNvPr>
          <p:cNvSpPr txBox="1"/>
          <p:nvPr/>
        </p:nvSpPr>
        <p:spPr>
          <a:xfrm>
            <a:off x="2721745" y="1903356"/>
            <a:ext cx="263214" cy="507831"/>
          </a:xfrm>
          <a:prstGeom prst="rect">
            <a:avLst/>
          </a:prstGeom>
          <a:noFill/>
        </p:spPr>
        <p:txBody>
          <a:bodyPr wrap="none" rtlCol="0">
            <a:spAutoFit/>
          </a:bodyPr>
          <a:lstStyle/>
          <a:p>
            <a:r>
              <a:rPr lang="el-GR" sz="1350" dirty="0">
                <a:solidFill>
                  <a:srgbClr val="000000"/>
                </a:solidFill>
                <a:latin typeface="Calibri" panose="020F0502020204030204" pitchFamily="34" charset="0"/>
              </a:rPr>
              <a:t>ε</a:t>
            </a:r>
            <a:endParaRPr lang="en-US" sz="1350" dirty="0"/>
          </a:p>
          <a:p>
            <a:endParaRPr lang="en-US" sz="1350" dirty="0"/>
          </a:p>
        </p:txBody>
      </p:sp>
      <p:cxnSp>
        <p:nvCxnSpPr>
          <p:cNvPr id="13" name="Connector: Elbow 12">
            <a:extLst>
              <a:ext uri="{FF2B5EF4-FFF2-40B4-BE49-F238E27FC236}">
                <a16:creationId xmlns:a16="http://schemas.microsoft.com/office/drawing/2014/main" id="{76FE94FF-FCF6-1270-567A-221942CB872D}"/>
              </a:ext>
            </a:extLst>
          </p:cNvPr>
          <p:cNvCxnSpPr>
            <a:stCxn id="112" idx="1"/>
            <a:endCxn id="128" idx="0"/>
          </p:cNvCxnSpPr>
          <p:nvPr/>
        </p:nvCxnSpPr>
        <p:spPr>
          <a:xfrm rot="16200000" flipH="1" flipV="1">
            <a:off x="5074471" y="108432"/>
            <a:ext cx="282520" cy="3601700"/>
          </a:xfrm>
          <a:prstGeom prst="bentConnector3">
            <a:avLst>
              <a:gd name="adj1" fmla="val -70926"/>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Connector: Elbow 16">
            <a:extLst>
              <a:ext uri="{FF2B5EF4-FFF2-40B4-BE49-F238E27FC236}">
                <a16:creationId xmlns:a16="http://schemas.microsoft.com/office/drawing/2014/main" id="{B9C886F9-F91A-F6BD-2430-7B0C7FDC732E}"/>
              </a:ext>
            </a:extLst>
          </p:cNvPr>
          <p:cNvCxnSpPr>
            <a:stCxn id="125" idx="5"/>
            <a:endCxn id="128" idx="4"/>
          </p:cNvCxnSpPr>
          <p:nvPr/>
        </p:nvCxnSpPr>
        <p:spPr>
          <a:xfrm rot="5400000" flipH="1">
            <a:off x="4385757" y="1356663"/>
            <a:ext cx="148309" cy="2090061"/>
          </a:xfrm>
          <a:prstGeom prst="bentConnector3">
            <a:avLst>
              <a:gd name="adj1" fmla="val -135110"/>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8C493148-D3A7-D5F8-50D9-CF00469A0AA3}"/>
              </a:ext>
            </a:extLst>
          </p:cNvPr>
          <p:cNvSpPr txBox="1"/>
          <p:nvPr/>
        </p:nvSpPr>
        <p:spPr>
          <a:xfrm>
            <a:off x="5287094" y="1348858"/>
            <a:ext cx="263214" cy="300082"/>
          </a:xfrm>
          <a:prstGeom prst="rect">
            <a:avLst/>
          </a:prstGeom>
          <a:noFill/>
        </p:spPr>
        <p:txBody>
          <a:bodyPr wrap="none" rtlCol="0">
            <a:spAutoFit/>
          </a:bodyPr>
          <a:lstStyle/>
          <a:p>
            <a:r>
              <a:rPr lang="el-GR" sz="1350" dirty="0">
                <a:solidFill>
                  <a:srgbClr val="000000"/>
                </a:solidFill>
                <a:latin typeface="Calibri" panose="020F0502020204030204" pitchFamily="34" charset="0"/>
              </a:rPr>
              <a:t>ε</a:t>
            </a:r>
            <a:endParaRPr lang="en-US" sz="1350" dirty="0"/>
          </a:p>
        </p:txBody>
      </p:sp>
      <p:sp>
        <p:nvSpPr>
          <p:cNvPr id="19" name="TextBox 18">
            <a:extLst>
              <a:ext uri="{FF2B5EF4-FFF2-40B4-BE49-F238E27FC236}">
                <a16:creationId xmlns:a16="http://schemas.microsoft.com/office/drawing/2014/main" id="{34274517-6C51-B7BF-B896-F47E295E3AC0}"/>
              </a:ext>
            </a:extLst>
          </p:cNvPr>
          <p:cNvSpPr txBox="1"/>
          <p:nvPr/>
        </p:nvSpPr>
        <p:spPr>
          <a:xfrm>
            <a:off x="4379893" y="2689848"/>
            <a:ext cx="263214" cy="300082"/>
          </a:xfrm>
          <a:prstGeom prst="rect">
            <a:avLst/>
          </a:prstGeom>
          <a:noFill/>
        </p:spPr>
        <p:txBody>
          <a:bodyPr wrap="none" rtlCol="0">
            <a:spAutoFit/>
          </a:bodyPr>
          <a:lstStyle/>
          <a:p>
            <a:r>
              <a:rPr lang="el-GR" sz="1350" dirty="0">
                <a:solidFill>
                  <a:srgbClr val="000000"/>
                </a:solidFill>
                <a:latin typeface="Calibri" panose="020F0502020204030204" pitchFamily="34" charset="0"/>
              </a:rPr>
              <a:t>ε</a:t>
            </a:r>
            <a:endParaRPr lang="en-US" sz="1350" dirty="0"/>
          </a:p>
        </p:txBody>
      </p:sp>
    </p:spTree>
    <p:extLst>
      <p:ext uri="{BB962C8B-B14F-4D97-AF65-F5344CB8AC3E}">
        <p14:creationId xmlns:p14="http://schemas.microsoft.com/office/powerpoint/2010/main" val="38976895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DA432E8-1DA5-9F69-BAAB-D0D130F82709}"/>
              </a:ext>
            </a:extLst>
          </p:cNvPr>
          <p:cNvSpPr txBox="1"/>
          <p:nvPr/>
        </p:nvSpPr>
        <p:spPr>
          <a:xfrm>
            <a:off x="3200400" y="1295400"/>
            <a:ext cx="2111284" cy="369332"/>
          </a:xfrm>
          <a:prstGeom prst="rect">
            <a:avLst/>
          </a:prstGeom>
          <a:noFill/>
        </p:spPr>
        <p:txBody>
          <a:bodyPr wrap="none" rtlCol="0">
            <a:spAutoFit/>
          </a:bodyPr>
          <a:lstStyle/>
          <a:p>
            <a:pPr algn="ctr"/>
            <a:r>
              <a:rPr lang="en-US" b="1" u="sng" dirty="0">
                <a:solidFill>
                  <a:srgbClr val="000000"/>
                </a:solidFill>
                <a:latin typeface="Aptos Display" panose="020B0004020202020204" pitchFamily="34" charset="0"/>
              </a:rPr>
              <a:t>Regular Expression ​</a:t>
            </a:r>
            <a:endParaRPr lang="en-US" b="1" u="sng" dirty="0"/>
          </a:p>
        </p:txBody>
      </p:sp>
      <p:sp>
        <p:nvSpPr>
          <p:cNvPr id="5" name="TextBox 4">
            <a:extLst>
              <a:ext uri="{FF2B5EF4-FFF2-40B4-BE49-F238E27FC236}">
                <a16:creationId xmlns:a16="http://schemas.microsoft.com/office/drawing/2014/main" id="{305041E6-D41E-786B-4E06-A6F3A2B11F9E}"/>
              </a:ext>
            </a:extLst>
          </p:cNvPr>
          <p:cNvSpPr txBox="1"/>
          <p:nvPr/>
        </p:nvSpPr>
        <p:spPr>
          <a:xfrm>
            <a:off x="834390" y="1943100"/>
            <a:ext cx="6240781" cy="2557110"/>
          </a:xfrm>
          <a:prstGeom prst="rect">
            <a:avLst/>
          </a:prstGeom>
          <a:noFill/>
        </p:spPr>
        <p:txBody>
          <a:bodyPr wrap="square" rtlCol="0">
            <a:spAutoFit/>
          </a:bodyPr>
          <a:lstStyle/>
          <a:p>
            <a:pPr fontAlgn="base">
              <a:lnSpc>
                <a:spcPts val="1631"/>
              </a:lnSpc>
              <a:buFont typeface="Arial" panose="020B0604020202020204" pitchFamily="34" charset="0"/>
              <a:buChar char="•"/>
            </a:pPr>
            <a:r>
              <a:rPr lang="en-US" sz="1350" b="1" dirty="0">
                <a:solidFill>
                  <a:srgbClr val="000000"/>
                </a:solidFill>
                <a:latin typeface="Aptos" panose="020B0004020202020204" pitchFamily="34" charset="0"/>
              </a:rPr>
              <a:t>What is a Regular Expression?</a:t>
            </a:r>
            <a:r>
              <a:rPr lang="en-US" sz="1350" dirty="0">
                <a:solidFill>
                  <a:srgbClr val="000000"/>
                </a:solidFill>
                <a:latin typeface="Aptos" panose="020B0004020202020204" pitchFamily="34" charset="0"/>
              </a:rPr>
              <a:t>​</a:t>
            </a:r>
            <a:br>
              <a:rPr lang="en-US" sz="1350" dirty="0">
                <a:solidFill>
                  <a:srgbClr val="000000"/>
                </a:solidFill>
                <a:latin typeface="Aptos" panose="020B0004020202020204" pitchFamily="34" charset="0"/>
              </a:rPr>
            </a:br>
            <a:r>
              <a:rPr lang="en-US" sz="1350" dirty="0">
                <a:solidFill>
                  <a:srgbClr val="000000"/>
                </a:solidFill>
                <a:latin typeface="Aptos" panose="020B0004020202020204" pitchFamily="34" charset="0"/>
              </a:rPr>
              <a:t>A regular expression (regex) is a sequence of characters defining a search pattern, mainly used for pattern matching in strings. </a:t>
            </a:r>
            <a:r>
              <a:rPr lang="en-US" sz="1350" b="1" dirty="0">
                <a:solidFill>
                  <a:srgbClr val="000000"/>
                </a:solidFill>
                <a:latin typeface="Aptos" panose="020B0004020202020204" pitchFamily="34" charset="0"/>
              </a:rPr>
              <a:t>Importance in Theory of Computing </a:t>
            </a:r>
            <a:r>
              <a:rPr lang="en-US" sz="1350" dirty="0">
                <a:solidFill>
                  <a:srgbClr val="000000"/>
                </a:solidFill>
                <a:latin typeface="Aptos" panose="020B0004020202020204" pitchFamily="34" charset="0"/>
              </a:rPr>
              <a:t>Represents patterns in formal languages.​</a:t>
            </a:r>
            <a:endParaRPr lang="en-US" sz="1350" dirty="0">
              <a:solidFill>
                <a:srgbClr val="000000"/>
              </a:solidFill>
              <a:latin typeface="Arial" panose="020B0604020202020204" pitchFamily="34" charset="0"/>
            </a:endParaRPr>
          </a:p>
          <a:p>
            <a:pPr fontAlgn="base">
              <a:lnSpc>
                <a:spcPts val="1631"/>
              </a:lnSpc>
              <a:buFont typeface="Arial" panose="020B0604020202020204" pitchFamily="34" charset="0"/>
              <a:buChar char="•"/>
            </a:pPr>
            <a:r>
              <a:rPr lang="en-US" sz="1350" dirty="0">
                <a:solidFill>
                  <a:srgbClr val="000000"/>
                </a:solidFill>
                <a:latin typeface="Aptos" panose="020B0004020202020204" pitchFamily="34" charset="0"/>
              </a:rPr>
              <a:t>Basis for lexical analysis in compilers.</a:t>
            </a:r>
            <a:br>
              <a:rPr lang="en-US" sz="1350" dirty="0">
                <a:solidFill>
                  <a:srgbClr val="000000"/>
                </a:solidFill>
                <a:latin typeface="Aptos" panose="020B0004020202020204" pitchFamily="34" charset="0"/>
              </a:rPr>
            </a:br>
            <a:br>
              <a:rPr lang="en-US" sz="1350" dirty="0">
                <a:solidFill>
                  <a:srgbClr val="000000"/>
                </a:solidFill>
                <a:latin typeface="Aptos" panose="020B0004020202020204" pitchFamily="34" charset="0"/>
              </a:rPr>
            </a:br>
            <a:r>
              <a:rPr lang="en-US" sz="1350" b="1" dirty="0">
                <a:solidFill>
                  <a:srgbClr val="000000"/>
                </a:solidFill>
                <a:latin typeface="Aptos" panose="020B0004020202020204" pitchFamily="34" charset="0"/>
              </a:rPr>
              <a:t>Applications of Regular Expressions</a:t>
            </a:r>
            <a:r>
              <a:rPr lang="en-US" sz="1350" dirty="0">
                <a:solidFill>
                  <a:srgbClr val="000000"/>
                </a:solidFill>
                <a:latin typeface="Aptos" panose="020B0004020202020204" pitchFamily="34" charset="0"/>
              </a:rPr>
              <a:t>​</a:t>
            </a:r>
            <a:endParaRPr lang="en-US" sz="1350" dirty="0">
              <a:solidFill>
                <a:srgbClr val="000000"/>
              </a:solidFill>
              <a:latin typeface="Arial" panose="020B0604020202020204" pitchFamily="34" charset="0"/>
            </a:endParaRPr>
          </a:p>
          <a:p>
            <a:pPr fontAlgn="base">
              <a:lnSpc>
                <a:spcPts val="1631"/>
              </a:lnSpc>
              <a:buFont typeface="Arial" panose="020B0604020202020204" pitchFamily="34" charset="0"/>
              <a:buChar char="•"/>
            </a:pPr>
            <a:r>
              <a:rPr lang="en-US" sz="1350" dirty="0">
                <a:solidFill>
                  <a:srgbClr val="000000"/>
                </a:solidFill>
                <a:latin typeface="Aptos" panose="020B0004020202020204" pitchFamily="34" charset="0"/>
              </a:rPr>
              <a:t>Text Search and Validation (e.g., emails, passwords).​</a:t>
            </a:r>
            <a:endParaRPr lang="en-US" sz="1350" dirty="0">
              <a:solidFill>
                <a:srgbClr val="000000"/>
              </a:solidFill>
              <a:latin typeface="Arial" panose="020B0604020202020204" pitchFamily="34" charset="0"/>
            </a:endParaRPr>
          </a:p>
          <a:p>
            <a:pPr fontAlgn="base">
              <a:lnSpc>
                <a:spcPts val="1631"/>
              </a:lnSpc>
              <a:buFont typeface="Arial" panose="020B0604020202020204" pitchFamily="34" charset="0"/>
              <a:buChar char="•"/>
            </a:pPr>
            <a:r>
              <a:rPr lang="en-US" sz="1350" dirty="0">
                <a:solidFill>
                  <a:srgbClr val="000000"/>
                </a:solidFill>
                <a:latin typeface="Aptos" panose="020B0004020202020204" pitchFamily="34" charset="0"/>
              </a:rPr>
              <a:t>String Manipulation (e.g., find, replace).​</a:t>
            </a:r>
            <a:endParaRPr lang="en-US" sz="1350" dirty="0">
              <a:solidFill>
                <a:srgbClr val="000000"/>
              </a:solidFill>
              <a:latin typeface="Arial" panose="020B0604020202020204" pitchFamily="34" charset="0"/>
            </a:endParaRPr>
          </a:p>
          <a:p>
            <a:pPr fontAlgn="base">
              <a:lnSpc>
                <a:spcPts val="1631"/>
              </a:lnSpc>
              <a:buFont typeface="Arial" panose="020B0604020202020204" pitchFamily="34" charset="0"/>
              <a:buChar char="•"/>
            </a:pPr>
            <a:r>
              <a:rPr lang="en-US" sz="1350" dirty="0">
                <a:solidFill>
                  <a:srgbClr val="000000"/>
                </a:solidFill>
                <a:latin typeface="Aptos" panose="020B0004020202020204" pitchFamily="34" charset="0"/>
              </a:rPr>
              <a:t>Lexical Analysis (e.g., compilers).​</a:t>
            </a:r>
            <a:endParaRPr lang="en-US" sz="1350" dirty="0">
              <a:solidFill>
                <a:srgbClr val="000000"/>
              </a:solidFill>
              <a:latin typeface="Arial" panose="020B0604020202020204" pitchFamily="34" charset="0"/>
            </a:endParaRPr>
          </a:p>
          <a:p>
            <a:pPr fontAlgn="base">
              <a:lnSpc>
                <a:spcPts val="1631"/>
              </a:lnSpc>
              <a:buFont typeface="Arial" panose="020B0604020202020204" pitchFamily="34" charset="0"/>
              <a:buChar char="•"/>
            </a:pPr>
            <a:r>
              <a:rPr lang="en-US" sz="1350" dirty="0">
                <a:solidFill>
                  <a:srgbClr val="000000"/>
                </a:solidFill>
                <a:latin typeface="Aptos" panose="020B0004020202020204" pitchFamily="34" charset="0"/>
              </a:rPr>
              <a:t>Data Extraction from logs, files, etc.​</a:t>
            </a:r>
            <a:endParaRPr lang="en-US" sz="1350" dirty="0">
              <a:solidFill>
                <a:srgbClr val="000000"/>
              </a:solidFill>
              <a:latin typeface="Arial" panose="020B0604020202020204" pitchFamily="34" charset="0"/>
            </a:endParaRPr>
          </a:p>
          <a:p>
            <a:endParaRPr lang="en-US" sz="1350" dirty="0"/>
          </a:p>
        </p:txBody>
      </p:sp>
    </p:spTree>
    <p:extLst>
      <p:ext uri="{BB962C8B-B14F-4D97-AF65-F5344CB8AC3E}">
        <p14:creationId xmlns:p14="http://schemas.microsoft.com/office/powerpoint/2010/main" val="33837937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EE6A747-FDA3-D3D6-AFE2-22877AFD39CA}"/>
              </a:ext>
            </a:extLst>
          </p:cNvPr>
          <p:cNvSpPr txBox="1"/>
          <p:nvPr/>
        </p:nvSpPr>
        <p:spPr>
          <a:xfrm>
            <a:off x="3320000" y="1291591"/>
            <a:ext cx="2848857" cy="507831"/>
          </a:xfrm>
          <a:prstGeom prst="rect">
            <a:avLst/>
          </a:prstGeom>
          <a:noFill/>
        </p:spPr>
        <p:txBody>
          <a:bodyPr wrap="none" rtlCol="0">
            <a:spAutoFit/>
          </a:bodyPr>
          <a:lstStyle/>
          <a:p>
            <a:pPr algn="ctr"/>
            <a:r>
              <a:rPr lang="en-US" sz="1350" b="1" dirty="0">
                <a:solidFill>
                  <a:srgbClr val="000000"/>
                </a:solidFill>
                <a:latin typeface="Aptos Display" panose="020B0004020202020204" pitchFamily="34" charset="0"/>
              </a:rPr>
              <a:t>Components of Regular Expressions</a:t>
            </a:r>
            <a:r>
              <a:rPr lang="en-US" sz="1350" dirty="0">
                <a:solidFill>
                  <a:srgbClr val="000000"/>
                </a:solidFill>
                <a:latin typeface="Aptos Display" panose="020B0004020202020204" pitchFamily="34" charset="0"/>
              </a:rPr>
              <a:t>​</a:t>
            </a:r>
            <a:br>
              <a:rPr lang="en-US" sz="1350" dirty="0">
                <a:solidFill>
                  <a:srgbClr val="000000"/>
                </a:solidFill>
                <a:latin typeface="Aptos Display" panose="020B0004020202020204" pitchFamily="34" charset="0"/>
              </a:rPr>
            </a:br>
            <a:r>
              <a:rPr lang="en-US" sz="1350" dirty="0">
                <a:solidFill>
                  <a:srgbClr val="000000"/>
                </a:solidFill>
                <a:latin typeface="Aptos Display" panose="020B0004020202020204" pitchFamily="34" charset="0"/>
              </a:rPr>
              <a:t>​</a:t>
            </a:r>
            <a:endParaRPr lang="en-US" sz="1350" dirty="0"/>
          </a:p>
        </p:txBody>
      </p:sp>
      <p:sp>
        <p:nvSpPr>
          <p:cNvPr id="5" name="TextBox 4">
            <a:extLst>
              <a:ext uri="{FF2B5EF4-FFF2-40B4-BE49-F238E27FC236}">
                <a16:creationId xmlns:a16="http://schemas.microsoft.com/office/drawing/2014/main" id="{B4B09858-B009-1CF7-83C8-F9747E8D3AE2}"/>
              </a:ext>
            </a:extLst>
          </p:cNvPr>
          <p:cNvSpPr txBox="1"/>
          <p:nvPr/>
        </p:nvSpPr>
        <p:spPr>
          <a:xfrm>
            <a:off x="1159002" y="1776338"/>
            <a:ext cx="3845733" cy="1528624"/>
          </a:xfrm>
          <a:prstGeom prst="rect">
            <a:avLst/>
          </a:prstGeom>
          <a:noFill/>
        </p:spPr>
        <p:txBody>
          <a:bodyPr wrap="none" rtlCol="0">
            <a:spAutoFit/>
          </a:bodyPr>
          <a:lstStyle/>
          <a:p>
            <a:pPr fontAlgn="base">
              <a:lnSpc>
                <a:spcPts val="1631"/>
              </a:lnSpc>
              <a:buFont typeface="Arial" panose="020B0604020202020204" pitchFamily="34" charset="0"/>
              <a:buChar char="•"/>
            </a:pPr>
            <a:r>
              <a:rPr lang="en-US" sz="1350" b="1" dirty="0">
                <a:solidFill>
                  <a:srgbClr val="000000"/>
                </a:solidFill>
                <a:latin typeface="Aptos" panose="020B0004020202020204" pitchFamily="34" charset="0"/>
              </a:rPr>
              <a:t>Basic Constructs-</a:t>
            </a:r>
            <a:r>
              <a:rPr lang="en-US" sz="1350" dirty="0">
                <a:solidFill>
                  <a:srgbClr val="000000"/>
                </a:solidFill>
                <a:latin typeface="Aptos" panose="020B0004020202020204" pitchFamily="34" charset="0"/>
              </a:rPr>
              <a:t>Characters: a, b, c​</a:t>
            </a:r>
            <a:endParaRPr lang="en-US" sz="1350" dirty="0">
              <a:solidFill>
                <a:srgbClr val="000000"/>
              </a:solidFill>
              <a:latin typeface="Arial" panose="020B0604020202020204" pitchFamily="34" charset="0"/>
            </a:endParaRPr>
          </a:p>
          <a:p>
            <a:pPr fontAlgn="base">
              <a:lnSpc>
                <a:spcPts val="1631"/>
              </a:lnSpc>
              <a:buFont typeface="Arial" panose="020B0604020202020204" pitchFamily="34" charset="0"/>
              <a:buChar char="•"/>
            </a:pPr>
            <a:r>
              <a:rPr lang="en-US" sz="1350" dirty="0">
                <a:solidFill>
                  <a:srgbClr val="000000"/>
                </a:solidFill>
                <a:latin typeface="Aptos" panose="020B0004020202020204" pitchFamily="34" charset="0"/>
              </a:rPr>
              <a:t>Concatenation: ab​</a:t>
            </a:r>
            <a:endParaRPr lang="en-US" sz="1350" dirty="0">
              <a:solidFill>
                <a:srgbClr val="000000"/>
              </a:solidFill>
              <a:latin typeface="Arial" panose="020B0604020202020204" pitchFamily="34" charset="0"/>
            </a:endParaRPr>
          </a:p>
          <a:p>
            <a:pPr fontAlgn="base">
              <a:lnSpc>
                <a:spcPts val="1631"/>
              </a:lnSpc>
              <a:buFont typeface="Arial" panose="020B0604020202020204" pitchFamily="34" charset="0"/>
              <a:buChar char="•"/>
            </a:pPr>
            <a:r>
              <a:rPr lang="en-US" sz="1350" dirty="0">
                <a:solidFill>
                  <a:srgbClr val="000000"/>
                </a:solidFill>
                <a:latin typeface="Aptos" panose="020B0004020202020204" pitchFamily="34" charset="0"/>
              </a:rPr>
              <a:t>Union (OR): a U b​</a:t>
            </a:r>
            <a:endParaRPr lang="en-US" sz="1350" dirty="0">
              <a:solidFill>
                <a:srgbClr val="000000"/>
              </a:solidFill>
              <a:latin typeface="Arial" panose="020B0604020202020204" pitchFamily="34" charset="0"/>
            </a:endParaRPr>
          </a:p>
          <a:p>
            <a:pPr fontAlgn="base">
              <a:lnSpc>
                <a:spcPts val="1631"/>
              </a:lnSpc>
              <a:buFont typeface="Arial" panose="020B0604020202020204" pitchFamily="34" charset="0"/>
              <a:buChar char="•"/>
            </a:pPr>
            <a:r>
              <a:rPr lang="en-US" sz="1350" dirty="0">
                <a:solidFill>
                  <a:srgbClr val="000000"/>
                </a:solidFill>
                <a:latin typeface="Aptos" panose="020B0004020202020204" pitchFamily="34" charset="0"/>
              </a:rPr>
              <a:t>Kleene Star: a*​</a:t>
            </a:r>
            <a:endParaRPr lang="en-US" sz="1350" dirty="0">
              <a:solidFill>
                <a:srgbClr val="000000"/>
              </a:solidFill>
              <a:latin typeface="Arial" panose="020B0604020202020204" pitchFamily="34" charset="0"/>
            </a:endParaRPr>
          </a:p>
          <a:p>
            <a:pPr fontAlgn="base">
              <a:lnSpc>
                <a:spcPts val="1631"/>
              </a:lnSpc>
              <a:buFont typeface="Arial" panose="020B0604020202020204" pitchFamily="34" charset="0"/>
              <a:buChar char="•"/>
            </a:pPr>
            <a:r>
              <a:rPr lang="en-US" sz="1350" b="1" dirty="0">
                <a:solidFill>
                  <a:srgbClr val="000000"/>
                </a:solidFill>
                <a:latin typeface="Aptos" panose="020B0004020202020204" pitchFamily="34" charset="0"/>
              </a:rPr>
              <a:t>Special Symbols</a:t>
            </a:r>
            <a:r>
              <a:rPr lang="en-US" sz="1350" dirty="0">
                <a:solidFill>
                  <a:srgbClr val="000000"/>
                </a:solidFill>
                <a:latin typeface="Aptos" panose="020B0004020202020204" pitchFamily="34" charset="0"/>
              </a:rPr>
              <a:t>.: Matches any character.​</a:t>
            </a:r>
            <a:endParaRPr lang="en-US" sz="1350" dirty="0">
              <a:solidFill>
                <a:srgbClr val="000000"/>
              </a:solidFill>
              <a:latin typeface="Arial" panose="020B0604020202020204" pitchFamily="34" charset="0"/>
            </a:endParaRPr>
          </a:p>
          <a:p>
            <a:pPr fontAlgn="base">
              <a:lnSpc>
                <a:spcPts val="1631"/>
              </a:lnSpc>
              <a:buFont typeface="Arial" panose="020B0604020202020204" pitchFamily="34" charset="0"/>
              <a:buChar char="•"/>
            </a:pPr>
            <a:r>
              <a:rPr lang="en-US" sz="1350" dirty="0">
                <a:solidFill>
                  <a:srgbClr val="000000"/>
                </a:solidFill>
                <a:latin typeface="Aptos" panose="020B0004020202020204" pitchFamily="34" charset="0"/>
              </a:rPr>
              <a:t>^ and $: Anchors for the start and end of a string.​</a:t>
            </a:r>
            <a:endParaRPr lang="en-US" sz="1350" dirty="0">
              <a:solidFill>
                <a:srgbClr val="000000"/>
              </a:solidFill>
              <a:latin typeface="Arial" panose="020B0604020202020204" pitchFamily="34" charset="0"/>
            </a:endParaRPr>
          </a:p>
          <a:p>
            <a:pPr fontAlgn="base">
              <a:lnSpc>
                <a:spcPts val="1631"/>
              </a:lnSpc>
              <a:buFont typeface="Arial" panose="020B0604020202020204" pitchFamily="34" charset="0"/>
              <a:buChar char="•"/>
            </a:pPr>
            <a:r>
              <a:rPr lang="en-US" sz="1350" dirty="0">
                <a:solidFill>
                  <a:srgbClr val="000000"/>
                </a:solidFill>
                <a:latin typeface="Aptos" panose="020B0004020202020204" pitchFamily="34" charset="0"/>
              </a:rPr>
              <a:t>[]: Character classes (e.g., [a-z]).</a:t>
            </a:r>
            <a:endParaRPr lang="en-US" sz="1350" dirty="0">
              <a:solidFill>
                <a:srgbClr val="000000"/>
              </a:solidFill>
              <a:latin typeface="Arial" panose="020B0604020202020204" pitchFamily="34" charset="0"/>
            </a:endParaRPr>
          </a:p>
        </p:txBody>
      </p:sp>
      <p:sp>
        <p:nvSpPr>
          <p:cNvPr id="6" name="TextBox 5">
            <a:extLst>
              <a:ext uri="{FF2B5EF4-FFF2-40B4-BE49-F238E27FC236}">
                <a16:creationId xmlns:a16="http://schemas.microsoft.com/office/drawing/2014/main" id="{5B2FC070-8486-81B9-7336-D499D2F9CF2F}"/>
              </a:ext>
            </a:extLst>
          </p:cNvPr>
          <p:cNvSpPr txBox="1"/>
          <p:nvPr/>
        </p:nvSpPr>
        <p:spPr>
          <a:xfrm>
            <a:off x="3264408" y="3527683"/>
            <a:ext cx="2338589" cy="300082"/>
          </a:xfrm>
          <a:prstGeom prst="rect">
            <a:avLst/>
          </a:prstGeom>
          <a:noFill/>
        </p:spPr>
        <p:txBody>
          <a:bodyPr wrap="none" rtlCol="0">
            <a:spAutoFit/>
          </a:bodyPr>
          <a:lstStyle/>
          <a:p>
            <a:r>
              <a:rPr lang="en-US" sz="1350" b="1" dirty="0">
                <a:solidFill>
                  <a:srgbClr val="000000"/>
                </a:solidFill>
                <a:latin typeface="Aptos Display" panose="020B0004020202020204" pitchFamily="34" charset="0"/>
              </a:rPr>
              <a:t>Tools for Regular Expressions​</a:t>
            </a:r>
            <a:endParaRPr lang="en-US" sz="1350" b="1" dirty="0"/>
          </a:p>
        </p:txBody>
      </p:sp>
      <p:sp>
        <p:nvSpPr>
          <p:cNvPr id="7" name="TextBox 6">
            <a:extLst>
              <a:ext uri="{FF2B5EF4-FFF2-40B4-BE49-F238E27FC236}">
                <a16:creationId xmlns:a16="http://schemas.microsoft.com/office/drawing/2014/main" id="{78900A22-DA41-D8D2-6E6E-66FB36799D5C}"/>
              </a:ext>
            </a:extLst>
          </p:cNvPr>
          <p:cNvSpPr txBox="1"/>
          <p:nvPr/>
        </p:nvSpPr>
        <p:spPr>
          <a:xfrm>
            <a:off x="1159002" y="3947475"/>
            <a:ext cx="6096342" cy="715581"/>
          </a:xfrm>
          <a:prstGeom prst="rect">
            <a:avLst/>
          </a:prstGeom>
          <a:noFill/>
        </p:spPr>
        <p:txBody>
          <a:bodyPr wrap="square" rtlCol="0">
            <a:spAutoFit/>
          </a:bodyPr>
          <a:lstStyle/>
          <a:p>
            <a:r>
              <a:rPr lang="en-US" sz="1350" dirty="0">
                <a:solidFill>
                  <a:srgbClr val="000000"/>
                </a:solidFill>
                <a:latin typeface="Aptos" panose="020B0004020202020204" pitchFamily="34" charset="0"/>
              </a:rPr>
              <a:t>Programming Languages: Python, Java, etc. Online Regex Tools: Regex101, Reg Exr. IDE Support: Visual Studio Code, IntelliJ.​</a:t>
            </a:r>
            <a:endParaRPr lang="en-US" sz="1350" dirty="0">
              <a:solidFill>
                <a:srgbClr val="000000"/>
              </a:solidFill>
              <a:latin typeface="Arial" panose="020B0604020202020204" pitchFamily="34" charset="0"/>
            </a:endParaRPr>
          </a:p>
          <a:p>
            <a:endParaRPr lang="en-US" sz="1350" dirty="0"/>
          </a:p>
        </p:txBody>
      </p:sp>
    </p:spTree>
    <p:extLst>
      <p:ext uri="{BB962C8B-B14F-4D97-AF65-F5344CB8AC3E}">
        <p14:creationId xmlns:p14="http://schemas.microsoft.com/office/powerpoint/2010/main" val="94532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C3F9965-E529-7DB9-22B9-FFE388E6E693}"/>
              </a:ext>
            </a:extLst>
          </p:cNvPr>
          <p:cNvSpPr txBox="1"/>
          <p:nvPr/>
        </p:nvSpPr>
        <p:spPr>
          <a:xfrm>
            <a:off x="1728496" y="1424085"/>
            <a:ext cx="2739340" cy="369332"/>
          </a:xfrm>
          <a:prstGeom prst="rect">
            <a:avLst/>
          </a:prstGeom>
          <a:noFill/>
        </p:spPr>
        <p:txBody>
          <a:bodyPr wrap="none" rtlCol="0">
            <a:spAutoFit/>
          </a:bodyPr>
          <a:lstStyle/>
          <a:p>
            <a:r>
              <a:rPr lang="en-US" b="1" dirty="0">
                <a:solidFill>
                  <a:srgbClr val="000000"/>
                </a:solidFill>
                <a:latin typeface="Aptos Display" panose="020B0004020202020204" pitchFamily="34" charset="0"/>
              </a:rPr>
              <a:t>What is Arden’s Theorem?​</a:t>
            </a:r>
            <a:endParaRPr lang="en-US" b="1" dirty="0"/>
          </a:p>
        </p:txBody>
      </p:sp>
      <p:sp>
        <p:nvSpPr>
          <p:cNvPr id="5" name="TextBox 4">
            <a:extLst>
              <a:ext uri="{FF2B5EF4-FFF2-40B4-BE49-F238E27FC236}">
                <a16:creationId xmlns:a16="http://schemas.microsoft.com/office/drawing/2014/main" id="{E6FFCC1E-A32C-7E19-6732-18839F4C2594}"/>
              </a:ext>
            </a:extLst>
          </p:cNvPr>
          <p:cNvSpPr txBox="1"/>
          <p:nvPr/>
        </p:nvSpPr>
        <p:spPr>
          <a:xfrm>
            <a:off x="2602822" y="1771304"/>
            <a:ext cx="5651582" cy="1733808"/>
          </a:xfrm>
          <a:prstGeom prst="rect">
            <a:avLst/>
          </a:prstGeom>
          <a:noFill/>
          <a:ln>
            <a:solidFill>
              <a:schemeClr val="tx1"/>
            </a:solidFill>
          </a:ln>
        </p:spPr>
        <p:txBody>
          <a:bodyPr wrap="square" rtlCol="0">
            <a:spAutoFit/>
          </a:bodyPr>
          <a:lstStyle/>
          <a:p>
            <a:pPr fontAlgn="base">
              <a:lnSpc>
                <a:spcPts val="1631"/>
              </a:lnSpc>
              <a:buFont typeface="Arial" panose="020B0604020202020204" pitchFamily="34" charset="0"/>
              <a:buChar char="•"/>
            </a:pPr>
            <a:r>
              <a:rPr lang="en-US" sz="1350" dirty="0">
                <a:solidFill>
                  <a:srgbClr val="000000"/>
                </a:solidFill>
                <a:latin typeface="Aptos" panose="020B0004020202020204" pitchFamily="34" charset="0"/>
              </a:rPr>
              <a:t>Arden's theorem provides a method to find a regular expression corresponding to the language accepted by a finite automaton. It solves equations of the form:​</a:t>
            </a:r>
            <a:endParaRPr lang="en-US" sz="1350" dirty="0">
              <a:solidFill>
                <a:srgbClr val="000000"/>
              </a:solidFill>
              <a:latin typeface="Arial" panose="020B0604020202020204" pitchFamily="34" charset="0"/>
            </a:endParaRPr>
          </a:p>
          <a:p>
            <a:pPr fontAlgn="base">
              <a:lnSpc>
                <a:spcPts val="1631"/>
              </a:lnSpc>
              <a:buFont typeface="Arial" panose="020B0604020202020204" pitchFamily="34" charset="0"/>
              <a:buChar char="•"/>
            </a:pPr>
            <a:r>
              <a:rPr lang="en-US" sz="1350" dirty="0">
                <a:solidFill>
                  <a:srgbClr val="000000"/>
                </a:solidFill>
                <a:latin typeface="Aptos" panose="020B0004020202020204" pitchFamily="34" charset="0"/>
              </a:rPr>
              <a:t>R=Q+RP​</a:t>
            </a:r>
            <a:endParaRPr lang="en-US" sz="1350" dirty="0">
              <a:solidFill>
                <a:srgbClr val="000000"/>
              </a:solidFill>
              <a:latin typeface="Arial" panose="020B0604020202020204" pitchFamily="34" charset="0"/>
            </a:endParaRPr>
          </a:p>
          <a:p>
            <a:pPr fontAlgn="base">
              <a:lnSpc>
                <a:spcPts val="1631"/>
              </a:lnSpc>
              <a:buFont typeface="Arial" panose="020B0604020202020204" pitchFamily="34" charset="0"/>
              <a:buChar char="•"/>
            </a:pPr>
            <a:r>
              <a:rPr lang="en-US" sz="1350" dirty="0">
                <a:solidFill>
                  <a:srgbClr val="000000"/>
                </a:solidFill>
                <a:latin typeface="Aptos" panose="020B0004020202020204" pitchFamily="34" charset="0"/>
              </a:rPr>
              <a:t>Where:​</a:t>
            </a:r>
            <a:endParaRPr lang="en-US" sz="1350" dirty="0">
              <a:solidFill>
                <a:srgbClr val="000000"/>
              </a:solidFill>
              <a:latin typeface="Arial" panose="020B0604020202020204" pitchFamily="34" charset="0"/>
            </a:endParaRPr>
          </a:p>
          <a:p>
            <a:pPr fontAlgn="base">
              <a:lnSpc>
                <a:spcPts val="1631"/>
              </a:lnSpc>
              <a:buFont typeface="Arial" panose="020B0604020202020204" pitchFamily="34" charset="0"/>
              <a:buChar char="•"/>
            </a:pPr>
            <a:r>
              <a:rPr lang="en-US" sz="1350" dirty="0">
                <a:solidFill>
                  <a:srgbClr val="000000"/>
                </a:solidFill>
                <a:latin typeface="Aptos" panose="020B0004020202020204" pitchFamily="34" charset="0"/>
              </a:rPr>
              <a:t>R: The unknown regular expression.​</a:t>
            </a:r>
            <a:endParaRPr lang="en-US" sz="1350" dirty="0">
              <a:solidFill>
                <a:srgbClr val="000000"/>
              </a:solidFill>
              <a:latin typeface="Arial" panose="020B0604020202020204" pitchFamily="34" charset="0"/>
            </a:endParaRPr>
          </a:p>
          <a:p>
            <a:pPr fontAlgn="base">
              <a:lnSpc>
                <a:spcPts val="1631"/>
              </a:lnSpc>
              <a:buFont typeface="Arial" panose="020B0604020202020204" pitchFamily="34" charset="0"/>
              <a:buChar char="•"/>
            </a:pPr>
            <a:r>
              <a:rPr lang="en-US" sz="1350" dirty="0">
                <a:solidFill>
                  <a:srgbClr val="000000"/>
                </a:solidFill>
                <a:latin typeface="Aptos" panose="020B0004020202020204" pitchFamily="34" charset="0"/>
              </a:rPr>
              <a:t>Q: A regular expression that does not depend on R.​</a:t>
            </a:r>
            <a:endParaRPr lang="en-US" sz="1350" dirty="0">
              <a:solidFill>
                <a:srgbClr val="000000"/>
              </a:solidFill>
              <a:latin typeface="Arial" panose="020B0604020202020204" pitchFamily="34" charset="0"/>
            </a:endParaRPr>
          </a:p>
          <a:p>
            <a:pPr fontAlgn="base">
              <a:lnSpc>
                <a:spcPts val="1631"/>
              </a:lnSpc>
              <a:buFont typeface="Arial" panose="020B0604020202020204" pitchFamily="34" charset="0"/>
              <a:buChar char="•"/>
            </a:pPr>
            <a:r>
              <a:rPr lang="en-US" sz="1350" dirty="0">
                <a:solidFill>
                  <a:srgbClr val="000000"/>
                </a:solidFill>
                <a:latin typeface="Aptos" panose="020B0004020202020204" pitchFamily="34" charset="0"/>
              </a:rPr>
              <a:t>P: A regular expression that depends on R.​</a:t>
            </a:r>
            <a:endParaRPr lang="en-US" sz="1350" dirty="0">
              <a:solidFill>
                <a:srgbClr val="000000"/>
              </a:solidFill>
              <a:latin typeface="Arial" panose="020B0604020202020204" pitchFamily="34" charset="0"/>
            </a:endParaRPr>
          </a:p>
        </p:txBody>
      </p:sp>
    </p:spTree>
    <p:extLst>
      <p:ext uri="{BB962C8B-B14F-4D97-AF65-F5344CB8AC3E}">
        <p14:creationId xmlns:p14="http://schemas.microsoft.com/office/powerpoint/2010/main" val="22187530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7AE4B5D-30D5-98F5-6982-03685A73E033}"/>
              </a:ext>
            </a:extLst>
          </p:cNvPr>
          <p:cNvSpPr txBox="1"/>
          <p:nvPr/>
        </p:nvSpPr>
        <p:spPr>
          <a:xfrm>
            <a:off x="673764" y="1122753"/>
            <a:ext cx="8214204" cy="707886"/>
          </a:xfrm>
          <a:prstGeom prst="rect">
            <a:avLst/>
          </a:prstGeom>
          <a:noFill/>
          <a:ln>
            <a:solidFill>
              <a:schemeClr val="tx1"/>
            </a:solidFill>
          </a:ln>
        </p:spPr>
        <p:txBody>
          <a:bodyPr wrap="square" rtlCol="0">
            <a:spAutoFit/>
          </a:bodyPr>
          <a:lstStyle/>
          <a:p>
            <a:pPr fontAlgn="base">
              <a:lnSpc>
                <a:spcPts val="1631"/>
              </a:lnSpc>
              <a:buFont typeface="Arial" panose="020B0604020202020204" pitchFamily="34" charset="0"/>
              <a:buChar char="•"/>
            </a:pPr>
            <a:r>
              <a:rPr lang="en-US" sz="1350" b="1" dirty="0">
                <a:solidFill>
                  <a:srgbClr val="000000"/>
                </a:solidFill>
                <a:latin typeface="Aptos" panose="020B0004020202020204" pitchFamily="34" charset="0"/>
              </a:rPr>
              <a:t>Theorem Statement</a:t>
            </a:r>
            <a:r>
              <a:rPr lang="en-US" sz="1350" dirty="0">
                <a:solidFill>
                  <a:srgbClr val="000000"/>
                </a:solidFill>
                <a:latin typeface="Aptos" panose="020B0004020202020204" pitchFamily="34" charset="0"/>
              </a:rPr>
              <a:t>​</a:t>
            </a:r>
            <a:endParaRPr lang="en-US" sz="1350" dirty="0">
              <a:solidFill>
                <a:srgbClr val="000000"/>
              </a:solidFill>
              <a:latin typeface="Arial" panose="020B0604020202020204" pitchFamily="34" charset="0"/>
            </a:endParaRPr>
          </a:p>
          <a:p>
            <a:pPr fontAlgn="base">
              <a:lnSpc>
                <a:spcPts val="1631"/>
              </a:lnSpc>
              <a:buFont typeface="Arial" panose="020B0604020202020204" pitchFamily="34" charset="0"/>
              <a:buChar char="•"/>
            </a:pPr>
            <a:r>
              <a:rPr lang="en-US" sz="1350" dirty="0">
                <a:solidFill>
                  <a:srgbClr val="000000"/>
                </a:solidFill>
                <a:latin typeface="Aptos" panose="020B0004020202020204" pitchFamily="34" charset="0"/>
              </a:rPr>
              <a:t>If P does not contain </a:t>
            </a:r>
            <a:r>
              <a:rPr lang="el-GR" sz="1350" dirty="0">
                <a:solidFill>
                  <a:srgbClr val="000000"/>
                </a:solidFill>
                <a:latin typeface="Aptos" panose="020B0004020202020204" pitchFamily="34" charset="0"/>
              </a:rPr>
              <a:t>ε</a:t>
            </a:r>
            <a:r>
              <a:rPr lang="en-US" sz="1350" dirty="0">
                <a:solidFill>
                  <a:srgbClr val="000000"/>
                </a:solidFill>
                <a:latin typeface="Aptos" panose="020B0004020202020204" pitchFamily="34" charset="0"/>
              </a:rPr>
              <a:t> </a:t>
            </a:r>
            <a:r>
              <a:rPr lang="el-GR" sz="1350" dirty="0">
                <a:solidFill>
                  <a:srgbClr val="000000"/>
                </a:solidFill>
                <a:latin typeface="Aptos" panose="020B0004020202020204" pitchFamily="34" charset="0"/>
              </a:rPr>
              <a:t>(</a:t>
            </a:r>
            <a:r>
              <a:rPr lang="en-US" sz="1350" dirty="0">
                <a:solidFill>
                  <a:srgbClr val="000000"/>
                </a:solidFill>
                <a:latin typeface="Aptos" panose="020B0004020202020204" pitchFamily="34" charset="0"/>
              </a:rPr>
              <a:t>empty string), the equation R=Q+RP has the unique solution:​</a:t>
            </a:r>
            <a:br>
              <a:rPr lang="en-US" sz="1350" dirty="0">
                <a:solidFill>
                  <a:srgbClr val="000000"/>
                </a:solidFill>
                <a:latin typeface="Aptos" panose="020B0004020202020204" pitchFamily="34" charset="0"/>
              </a:rPr>
            </a:br>
            <a:r>
              <a:rPr lang="en-US" sz="1350" dirty="0">
                <a:solidFill>
                  <a:srgbClr val="000000"/>
                </a:solidFill>
                <a:latin typeface="Aptos" panose="020B0004020202020204" pitchFamily="34" charset="0"/>
              </a:rPr>
              <a:t>R=QP*​</a:t>
            </a:r>
            <a:endParaRPr lang="en-US" sz="1350" dirty="0">
              <a:solidFill>
                <a:srgbClr val="000000"/>
              </a:solidFill>
              <a:latin typeface="Arial" panose="020B0604020202020204" pitchFamily="34" charset="0"/>
            </a:endParaRPr>
          </a:p>
        </p:txBody>
      </p:sp>
      <p:sp>
        <p:nvSpPr>
          <p:cNvPr id="3" name="TextBox 2">
            <a:extLst>
              <a:ext uri="{FF2B5EF4-FFF2-40B4-BE49-F238E27FC236}">
                <a16:creationId xmlns:a16="http://schemas.microsoft.com/office/drawing/2014/main" id="{4336EFF2-6487-A0AC-BD5C-EC8673667D39}"/>
              </a:ext>
            </a:extLst>
          </p:cNvPr>
          <p:cNvSpPr txBox="1"/>
          <p:nvPr/>
        </p:nvSpPr>
        <p:spPr>
          <a:xfrm>
            <a:off x="964698" y="2819400"/>
            <a:ext cx="7410747" cy="369332"/>
          </a:xfrm>
          <a:prstGeom prst="rect">
            <a:avLst/>
          </a:prstGeom>
          <a:noFill/>
        </p:spPr>
        <p:txBody>
          <a:bodyPr wrap="none" rtlCol="0">
            <a:spAutoFit/>
          </a:bodyPr>
          <a:lstStyle/>
          <a:p>
            <a:r>
              <a:rPr lang="en-US" b="1" i="1" dirty="0"/>
              <a:t>Regular expression is a vital tool for pattern matching and automata theory.</a:t>
            </a:r>
          </a:p>
        </p:txBody>
      </p:sp>
    </p:spTree>
    <p:extLst>
      <p:ext uri="{BB962C8B-B14F-4D97-AF65-F5344CB8AC3E}">
        <p14:creationId xmlns:p14="http://schemas.microsoft.com/office/powerpoint/2010/main" val="41295354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D593D9E-6820-7D00-E933-618DF189C01D}"/>
              </a:ext>
            </a:extLst>
          </p:cNvPr>
          <p:cNvSpPr txBox="1"/>
          <p:nvPr/>
        </p:nvSpPr>
        <p:spPr>
          <a:xfrm>
            <a:off x="2953139" y="2942642"/>
            <a:ext cx="2578719" cy="715581"/>
          </a:xfrm>
          <a:prstGeom prst="rect">
            <a:avLst/>
          </a:prstGeom>
          <a:noFill/>
        </p:spPr>
        <p:txBody>
          <a:bodyPr wrap="none" rtlCol="0">
            <a:spAutoFit/>
          </a:bodyPr>
          <a:lstStyle/>
          <a:p>
            <a:r>
              <a:rPr lang="en-US" sz="4050" b="1" i="1" dirty="0"/>
              <a:t>Thank You!</a:t>
            </a:r>
          </a:p>
        </p:txBody>
      </p:sp>
    </p:spTree>
    <p:extLst>
      <p:ext uri="{BB962C8B-B14F-4D97-AF65-F5344CB8AC3E}">
        <p14:creationId xmlns:p14="http://schemas.microsoft.com/office/powerpoint/2010/main" val="337826196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26</TotalTime>
  <Words>907</Words>
  <Application>Microsoft Office PowerPoint</Application>
  <PresentationFormat>On-screen Show (4:3)</PresentationFormat>
  <Paragraphs>172</Paragraphs>
  <Slides>21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Aptos</vt:lpstr>
      <vt:lpstr>Aptos Display</vt:lpstr>
      <vt:lpstr>Arial</vt:lpstr>
      <vt:lpstr>Calibri</vt:lpstr>
      <vt:lpstr>Calibri Light</vt:lpstr>
      <vt:lpstr>Google Sans</vt:lpstr>
      <vt:lpstr>Office Theme</vt:lpstr>
      <vt:lpstr>PowerPoint Presentation</vt:lpstr>
      <vt:lpstr>Definition of Automata</vt:lpstr>
      <vt:lpstr>Key Concepts in Automata Theory </vt:lpstr>
      <vt:lpstr>(FA)</vt:lpstr>
      <vt:lpstr>Simple example of FA</vt:lpstr>
      <vt:lpstr> Deterministic finite automaton</vt:lpstr>
      <vt:lpstr>Non-deterministic Finite Automata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Automata</dc:title>
  <dc:creator>NEXUS IT</dc:creator>
  <cp:lastModifiedBy>Ehasan Mahmud</cp:lastModifiedBy>
  <cp:revision>7</cp:revision>
  <dcterms:created xsi:type="dcterms:W3CDTF">2006-08-16T00:00:00Z</dcterms:created>
  <dcterms:modified xsi:type="dcterms:W3CDTF">2025-01-27T05:41:58Z</dcterms:modified>
</cp:coreProperties>
</file>