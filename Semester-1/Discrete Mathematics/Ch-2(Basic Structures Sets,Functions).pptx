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6" r:id="rId1"/>
  </p:sldMasterIdLst>
  <p:notesMasterIdLst>
    <p:notesMasterId r:id="rId81"/>
  </p:notesMasterIdLst>
  <p:sldIdLst>
    <p:sldId id="277" r:id="rId2"/>
    <p:sldId id="278" r:id="rId3"/>
    <p:sldId id="276" r:id="rId4"/>
    <p:sldId id="280" r:id="rId5"/>
    <p:sldId id="279" r:id="rId6"/>
    <p:sldId id="281" r:id="rId7"/>
    <p:sldId id="282" r:id="rId8"/>
    <p:sldId id="283" r:id="rId9"/>
    <p:sldId id="284" r:id="rId10"/>
    <p:sldId id="285" r:id="rId11"/>
    <p:sldId id="287" r:id="rId12"/>
    <p:sldId id="286" r:id="rId13"/>
    <p:sldId id="288" r:id="rId14"/>
    <p:sldId id="289" r:id="rId15"/>
    <p:sldId id="290" r:id="rId16"/>
    <p:sldId id="291" r:id="rId17"/>
    <p:sldId id="292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3" r:id="rId27"/>
    <p:sldId id="307" r:id="rId28"/>
    <p:sldId id="304" r:id="rId29"/>
    <p:sldId id="305" r:id="rId30"/>
    <p:sldId id="306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8" r:id="rId44"/>
    <p:sldId id="329" r:id="rId45"/>
    <p:sldId id="330" r:id="rId46"/>
    <p:sldId id="320" r:id="rId47"/>
    <p:sldId id="321" r:id="rId48"/>
    <p:sldId id="322" r:id="rId49"/>
    <p:sldId id="323" r:id="rId50"/>
    <p:sldId id="324" r:id="rId51"/>
    <p:sldId id="326" r:id="rId52"/>
    <p:sldId id="325" r:id="rId53"/>
    <p:sldId id="327" r:id="rId54"/>
    <p:sldId id="331" r:id="rId55"/>
    <p:sldId id="332" r:id="rId56"/>
    <p:sldId id="333" r:id="rId57"/>
    <p:sldId id="334" r:id="rId58"/>
    <p:sldId id="335" r:id="rId59"/>
    <p:sldId id="336" r:id="rId60"/>
    <p:sldId id="337" r:id="rId61"/>
    <p:sldId id="338" r:id="rId62"/>
    <p:sldId id="339" r:id="rId63"/>
    <p:sldId id="340" r:id="rId64"/>
    <p:sldId id="341" r:id="rId65"/>
    <p:sldId id="342" r:id="rId66"/>
    <p:sldId id="343" r:id="rId67"/>
    <p:sldId id="344" r:id="rId68"/>
    <p:sldId id="345" r:id="rId69"/>
    <p:sldId id="346" r:id="rId70"/>
    <p:sldId id="347" r:id="rId71"/>
    <p:sldId id="350" r:id="rId72"/>
    <p:sldId id="348" r:id="rId73"/>
    <p:sldId id="349" r:id="rId74"/>
    <p:sldId id="351" r:id="rId75"/>
    <p:sldId id="352" r:id="rId76"/>
    <p:sldId id="353" r:id="rId77"/>
    <p:sldId id="354" r:id="rId78"/>
    <p:sldId id="355" r:id="rId79"/>
    <p:sldId id="259" r:id="rId8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5256" autoAdjust="0"/>
  </p:normalViewPr>
  <p:slideViewPr>
    <p:cSldViewPr>
      <p:cViewPr varScale="1">
        <p:scale>
          <a:sx n="100" d="100"/>
          <a:sy n="100" d="100"/>
        </p:scale>
        <p:origin x="1042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6A8A6-D823-4184-925C-8478B55CF8C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D753B-3003-4B6B-BCD1-50DEBCA3C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2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1986" y="304800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aseline="0"/>
            </a:lvl1pPr>
          </a:lstStyle>
          <a:p>
            <a:r>
              <a:rPr lang="en-US" dirty="0"/>
              <a:t>PROPOSITIONAL LOGIC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380" y="1295400"/>
            <a:ext cx="1453612" cy="1371600"/>
          </a:xfrm>
          <a:prstGeom prst="rect">
            <a:avLst/>
          </a:prstGeom>
        </p:spPr>
      </p:pic>
      <p:grpSp>
        <p:nvGrpSpPr>
          <p:cNvPr id="14" name="Group 13"/>
          <p:cNvGrpSpPr/>
          <p:nvPr userDrawn="1"/>
        </p:nvGrpSpPr>
        <p:grpSpPr>
          <a:xfrm>
            <a:off x="2882979" y="4859967"/>
            <a:ext cx="3310414" cy="640377"/>
            <a:chOff x="637612" y="4895910"/>
            <a:chExt cx="3310414" cy="640377"/>
          </a:xfrm>
        </p:grpSpPr>
        <p:sp>
          <p:nvSpPr>
            <p:cNvPr id="6" name="TextBox 5"/>
            <p:cNvSpPr txBox="1"/>
            <p:nvPr userDrawn="1"/>
          </p:nvSpPr>
          <p:spPr>
            <a:xfrm>
              <a:off x="1635203" y="4895910"/>
              <a:ext cx="1315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/>
              <a:r>
                <a:rPr lang="en-US" sz="1800" i="1" u="none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Prepared by</a:t>
              </a:r>
            </a:p>
          </p:txBody>
        </p:sp>
        <p:sp>
          <p:nvSpPr>
            <p:cNvPr id="13" name="TextBox 12"/>
            <p:cNvSpPr txBox="1"/>
            <p:nvPr userDrawn="1"/>
          </p:nvSpPr>
          <p:spPr>
            <a:xfrm>
              <a:off x="637612" y="5105400"/>
              <a:ext cx="33104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2200" i="1" u="sng" dirty="0" err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Swapnil</a:t>
              </a:r>
              <a:r>
                <a:rPr lang="en-US" sz="2200" i="1" u="sng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i="1" u="sng" dirty="0" err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Biswas</a:t>
              </a:r>
              <a:endParaRPr lang="en-US" sz="2200" i="1" u="sng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93087"/>
            <a:ext cx="1143000" cy="1078513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-457200"/>
            <a:ext cx="8229600" cy="1600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447800"/>
            <a:ext cx="8229600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THANK 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ANY  QUESTIONS?</a:t>
            </a: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380" y="1752600"/>
            <a:ext cx="1453612" cy="137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Friday, 14 July,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Friday, 14 July,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Friday, 14 July,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Friday, 14 July,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Friday, 14 July,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Friday, 14 July,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Friday, 14 July,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Friday, 14 July,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7200" y="6438662"/>
            <a:ext cx="228600" cy="206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85846" y="6438734"/>
            <a:ext cx="228600" cy="206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80CB818-7379-467D-8E76-EF9D9074A26C}" type="datetime2">
              <a:rPr lang="en-US" smtClean="0"/>
              <a:t>Friday, 14 July, 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</p:sldLayoutIdLst>
  <p:hf sldNum="0"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0" i="0" dirty="0" err="1">
                <a:solidFill>
                  <a:srgbClr val="B8067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hporvrs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CLASSROOM CODE</a:t>
            </a:r>
          </a:p>
        </p:txBody>
      </p:sp>
    </p:spTree>
    <p:extLst>
      <p:ext uri="{BB962C8B-B14F-4D97-AF65-F5344CB8AC3E}">
        <p14:creationId xmlns:p14="http://schemas.microsoft.com/office/powerpoint/2010/main" val="1090700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837F7-64CD-90A8-B99D-C970DE650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 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FC25D-4EC6-6900-4712-FF4CE19244A1}"/>
              </a:ext>
            </a:extLst>
          </p:cNvPr>
          <p:cNvSpPr txBox="1"/>
          <p:nvPr/>
        </p:nvSpPr>
        <p:spPr>
          <a:xfrm>
            <a:off x="457201" y="1676400"/>
            <a:ext cx="8229599" cy="76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Mathematics and its Applications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7th Edition by K. Rosen,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3A3BF-0F72-E11D-88C9-267DF2298BCB}"/>
              </a:ext>
            </a:extLst>
          </p:cNvPr>
          <p:cNvSpPr txBox="1"/>
          <p:nvPr/>
        </p:nvSpPr>
        <p:spPr>
          <a:xfrm>
            <a:off x="457201" y="2638063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Mathematics with Applications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 by Susanna S. Epp Gagne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ECA35-8551-CE88-5EF4-949E6A1B5D92}"/>
              </a:ext>
            </a:extLst>
          </p:cNvPr>
          <p:cNvSpPr txBox="1"/>
          <p:nvPr/>
        </p:nvSpPr>
        <p:spPr>
          <a:xfrm>
            <a:off x="457200" y="3623452"/>
            <a:ext cx="65314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Mathematics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Schaum's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outlines, 4th edition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39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Structures: Sets, Functions</a:t>
            </a:r>
          </a:p>
        </p:txBody>
      </p:sp>
    </p:spTree>
    <p:extLst>
      <p:ext uri="{BB962C8B-B14F-4D97-AF65-F5344CB8AC3E}">
        <p14:creationId xmlns:p14="http://schemas.microsoft.com/office/powerpoint/2010/main" val="29044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986" y="762001"/>
            <a:ext cx="7772400" cy="3352799"/>
          </a:xfrm>
        </p:spPr>
        <p:txBody>
          <a:bodyPr/>
          <a:lstStyle/>
          <a:p>
            <a:r>
              <a:rPr lang="en-US" dirty="0"/>
              <a:t>Sets</a:t>
            </a:r>
          </a:p>
        </p:txBody>
      </p:sp>
    </p:spTree>
    <p:extLst>
      <p:ext uri="{BB962C8B-B14F-4D97-AF65-F5344CB8AC3E}">
        <p14:creationId xmlns:p14="http://schemas.microsoft.com/office/powerpoint/2010/main" val="337625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INTRODUCTION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338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20443"/>
            <a:ext cx="53495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 unordered collection of distinct objects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575028"/>
            <a:ext cx="70006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objects are called the elements or members of the set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B88AD-69E6-1447-AEC6-59D48D8B79E5}"/>
              </a:ext>
            </a:extLst>
          </p:cNvPr>
          <p:cNvSpPr txBox="1"/>
          <p:nvPr/>
        </p:nvSpPr>
        <p:spPr>
          <a:xfrm>
            <a:off x="685800" y="3029613"/>
            <a:ext cx="54916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Example: a set of vowels, V = {a, b, c, d, e}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41F95-BB08-AB0F-7E39-1170EB8ED11D}"/>
              </a:ext>
            </a:extLst>
          </p:cNvPr>
          <p:cNvSpPr txBox="1"/>
          <p:nvPr/>
        </p:nvSpPr>
        <p:spPr>
          <a:xfrm>
            <a:off x="685800" y="3460500"/>
            <a:ext cx="74311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a set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contains an element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does not contain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then: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CA412-01E8-5F9A-EB4D-CC51F7533F1F}"/>
              </a:ext>
            </a:extLst>
          </p:cNvPr>
          <p:cNvSpPr txBox="1"/>
          <p:nvPr/>
        </p:nvSpPr>
        <p:spPr>
          <a:xfrm>
            <a:off x="1030941" y="3917699"/>
            <a:ext cx="3464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is written as: a ∈</a:t>
            </a:r>
            <a:r>
              <a:rPr lang="en-US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A, b ∉ A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E77C0-8B9C-40B7-C12C-73D2B5DF2632}"/>
              </a:ext>
            </a:extLst>
          </p:cNvPr>
          <p:cNvSpPr txBox="1"/>
          <p:nvPr/>
        </p:nvSpPr>
        <p:spPr>
          <a:xfrm>
            <a:off x="457200" y="4579962"/>
            <a:ext cx="28087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Frequency and order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1D3343-B51F-38E5-0163-5AE4AA88D863}"/>
              </a:ext>
            </a:extLst>
          </p:cNvPr>
          <p:cNvSpPr txBox="1"/>
          <p:nvPr/>
        </p:nvSpPr>
        <p:spPr>
          <a:xfrm>
            <a:off x="685800" y="5024005"/>
            <a:ext cx="29995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Order does not matter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4A69F-2B97-D53C-10E5-5772CB1514C8}"/>
              </a:ext>
            </a:extLst>
          </p:cNvPr>
          <p:cNvSpPr txBox="1"/>
          <p:nvPr/>
        </p:nvSpPr>
        <p:spPr>
          <a:xfrm>
            <a:off x="4217035" y="5024004"/>
            <a:ext cx="45448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{1, 2, 3} and {2, 1, 3} are the same set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CBBE0-88CE-A3AD-3E62-37637BE2D972}"/>
              </a:ext>
            </a:extLst>
          </p:cNvPr>
          <p:cNvSpPr txBox="1"/>
          <p:nvPr/>
        </p:nvSpPr>
        <p:spPr>
          <a:xfrm>
            <a:off x="686931" y="5512713"/>
            <a:ext cx="35317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Frequency does not matter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1272A4-BF83-3E1E-DC4F-8F3B95A99185}"/>
              </a:ext>
            </a:extLst>
          </p:cNvPr>
          <p:cNvSpPr txBox="1"/>
          <p:nvPr/>
        </p:nvSpPr>
        <p:spPr>
          <a:xfrm>
            <a:off x="4218166" y="5512712"/>
            <a:ext cx="48269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{1, 1, 2, 3} and {1, 2, 3} are the same set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489A25-EBC5-90F1-4C42-3E62D8E37FE9}"/>
              </a:ext>
            </a:extLst>
          </p:cNvPr>
          <p:cNvSpPr txBox="1"/>
          <p:nvPr/>
        </p:nvSpPr>
        <p:spPr>
          <a:xfrm>
            <a:off x="686931" y="6001420"/>
            <a:ext cx="56364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{1, 2, 1, 3, 3, 2, 1} and {1, 2, 3} are the same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6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4" grpId="0"/>
      <p:bldP spid="5" grpId="0"/>
      <p:bldP spid="8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NOTATIONS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22779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Roster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20443"/>
            <a:ext cx="59763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All the elements of the sets are enclosed with {}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575028"/>
            <a:ext cx="64828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a set S of positive odd integers less than 10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B88AD-69E6-1447-AEC6-59D48D8B79E5}"/>
              </a:ext>
            </a:extLst>
          </p:cNvPr>
          <p:cNvSpPr txBox="1"/>
          <p:nvPr/>
        </p:nvSpPr>
        <p:spPr>
          <a:xfrm>
            <a:off x="685800" y="3029613"/>
            <a:ext cx="60676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Notation using Roster method: S = {1, 3, 5, 7, 9}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E77C0-8B9C-40B7-C12C-73D2B5DF2632}"/>
              </a:ext>
            </a:extLst>
          </p:cNvPr>
          <p:cNvSpPr txBox="1"/>
          <p:nvPr/>
        </p:nvSpPr>
        <p:spPr>
          <a:xfrm>
            <a:off x="457200" y="3636642"/>
            <a:ext cx="29463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Set Builder Notation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1D3343-B51F-38E5-0163-5AE4AA88D863}"/>
              </a:ext>
            </a:extLst>
          </p:cNvPr>
          <p:cNvSpPr txBox="1"/>
          <p:nvPr/>
        </p:nvSpPr>
        <p:spPr>
          <a:xfrm>
            <a:off x="685800" y="4080685"/>
            <a:ext cx="63049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properties of all the elements are characterized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CBBE0-88CE-A3AD-3E62-37637BE2D972}"/>
              </a:ext>
            </a:extLst>
          </p:cNvPr>
          <p:cNvSpPr txBox="1"/>
          <p:nvPr/>
        </p:nvSpPr>
        <p:spPr>
          <a:xfrm>
            <a:off x="686931" y="4569393"/>
            <a:ext cx="32415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= {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| properties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489A25-EBC5-90F1-4C42-3E62D8E37FE9}"/>
              </a:ext>
            </a:extLst>
          </p:cNvPr>
          <p:cNvSpPr txBox="1"/>
          <p:nvPr/>
        </p:nvSpPr>
        <p:spPr>
          <a:xfrm>
            <a:off x="686931" y="5058100"/>
            <a:ext cx="64828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a set S of positive odd integers less than 10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8F7262-94B3-9B48-74E1-7517E050A535}"/>
              </a:ext>
            </a:extLst>
          </p:cNvPr>
          <p:cNvSpPr txBox="1"/>
          <p:nvPr/>
        </p:nvSpPr>
        <p:spPr>
          <a:xfrm>
            <a:off x="685800" y="5514082"/>
            <a:ext cx="80217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Notation using Builder method: S = {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∈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odd 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 10}</a:t>
            </a:r>
          </a:p>
        </p:txBody>
      </p:sp>
    </p:spTree>
    <p:extLst>
      <p:ext uri="{BB962C8B-B14F-4D97-AF65-F5344CB8AC3E}">
        <p14:creationId xmlns:p14="http://schemas.microsoft.com/office/powerpoint/2010/main" val="227208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4" grpId="0"/>
      <p:bldP spid="10" grpId="0"/>
      <p:bldP spid="11" grpId="0"/>
      <p:bldP spid="13" grpId="0"/>
      <p:bldP spid="15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IMPORTANT SETS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36760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{…., -2, -1, 0, 1, 2, ….}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139AA-9B88-7B58-CB4B-21A5457C1E09}"/>
              </a:ext>
            </a:extLst>
          </p:cNvPr>
          <p:cNvSpPr txBox="1"/>
          <p:nvPr/>
        </p:nvSpPr>
        <p:spPr>
          <a:xfrm>
            <a:off x="5174815" y="1676400"/>
            <a:ext cx="22381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 of all integers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1AE5C-7AE0-E08C-EF5F-D4A708876AD1}"/>
              </a:ext>
            </a:extLst>
          </p:cNvPr>
          <p:cNvSpPr txBox="1"/>
          <p:nvPr/>
        </p:nvSpPr>
        <p:spPr>
          <a:xfrm>
            <a:off x="457200" y="2209800"/>
            <a:ext cx="25362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200" b="1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{1, 2, 3, ….}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323D59-4B07-859F-3D44-19FF48B84B65}"/>
              </a:ext>
            </a:extLst>
          </p:cNvPr>
          <p:cNvSpPr txBox="1"/>
          <p:nvPr/>
        </p:nvSpPr>
        <p:spPr>
          <a:xfrm>
            <a:off x="5174815" y="2209800"/>
            <a:ext cx="31309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 of all positive integers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FCFA7C-5813-F66C-86CE-F4C837C4346D}"/>
              </a:ext>
            </a:extLst>
          </p:cNvPr>
          <p:cNvSpPr txBox="1"/>
          <p:nvPr/>
        </p:nvSpPr>
        <p:spPr>
          <a:xfrm>
            <a:off x="455720" y="2770893"/>
            <a:ext cx="24449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{0, 1, 2, ….}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B44786-8245-44AA-BE72-B55A0B47882F}"/>
              </a:ext>
            </a:extLst>
          </p:cNvPr>
          <p:cNvSpPr txBox="1"/>
          <p:nvPr/>
        </p:nvSpPr>
        <p:spPr>
          <a:xfrm>
            <a:off x="5173335" y="2770893"/>
            <a:ext cx="31005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 of all natural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5011DA2-29E2-C8F5-C3A6-899BD3AD376D}"/>
                  </a:ext>
                </a:extLst>
              </p:cNvPr>
              <p:cNvSpPr txBox="1"/>
              <p:nvPr/>
            </p:nvSpPr>
            <p:spPr>
              <a:xfrm>
                <a:off x="455720" y="3331986"/>
                <a:ext cx="4172232" cy="582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Q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{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| </a:t>
                </a:r>
                <a:r>
                  <a:rPr lang="en-US" sz="2200" i="1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∈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Z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200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∈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Z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:r>
                  <a:rPr lang="en-US" sz="2200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≠</a:t>
                </a:r>
                <a:r>
                  <a:rPr lang="en-US" dirty="0"/>
                  <a:t>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0}</a:t>
                </a:r>
                <a:endParaRPr lang="en-US" sz="22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5011DA2-29E2-C8F5-C3A6-899BD3AD3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20" y="3331986"/>
                <a:ext cx="4172232" cy="582595"/>
              </a:xfrm>
              <a:prstGeom prst="rect">
                <a:avLst/>
              </a:prstGeom>
              <a:blipFill>
                <a:blip r:embed="rId2"/>
                <a:stretch>
                  <a:fillRect l="-1608" t="-2105" r="-1754"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DB8DDF3-58AF-1BB3-D681-671A2C570A27}"/>
              </a:ext>
            </a:extLst>
          </p:cNvPr>
          <p:cNvSpPr txBox="1"/>
          <p:nvPr/>
        </p:nvSpPr>
        <p:spPr>
          <a:xfrm>
            <a:off x="5173335" y="3331986"/>
            <a:ext cx="31790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 of all rational numbers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43F70-D6D9-FBA2-1FCC-04126CDC201A}"/>
              </a:ext>
            </a:extLst>
          </p:cNvPr>
          <p:cNvSpPr txBox="1"/>
          <p:nvPr/>
        </p:nvSpPr>
        <p:spPr>
          <a:xfrm>
            <a:off x="455720" y="3944173"/>
            <a:ext cx="6767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A22EC4-D4FB-55DE-D65D-0D4D280ACB3B}"/>
              </a:ext>
            </a:extLst>
          </p:cNvPr>
          <p:cNvSpPr txBox="1"/>
          <p:nvPr/>
        </p:nvSpPr>
        <p:spPr>
          <a:xfrm>
            <a:off x="5173335" y="3944173"/>
            <a:ext cx="27398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 of all real numbers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91208D-5E8C-0F10-5E4C-9E3822D4020B}"/>
              </a:ext>
            </a:extLst>
          </p:cNvPr>
          <p:cNvSpPr txBox="1"/>
          <p:nvPr/>
        </p:nvSpPr>
        <p:spPr>
          <a:xfrm>
            <a:off x="455720" y="4454172"/>
            <a:ext cx="7841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b="1" baseline="30000" dirty="0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7CFCF1-1E9F-508F-8AC5-32BDF1C169B3}"/>
              </a:ext>
            </a:extLst>
          </p:cNvPr>
          <p:cNvSpPr txBox="1"/>
          <p:nvPr/>
        </p:nvSpPr>
        <p:spPr>
          <a:xfrm>
            <a:off x="5173335" y="4454172"/>
            <a:ext cx="37577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 of all positive real numbers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877AF6-2436-BBE6-A734-BAAB201DAA19}"/>
              </a:ext>
            </a:extLst>
          </p:cNvPr>
          <p:cNvSpPr txBox="1"/>
          <p:nvPr/>
        </p:nvSpPr>
        <p:spPr>
          <a:xfrm>
            <a:off x="455720" y="4964171"/>
            <a:ext cx="6767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985555-BE5B-101D-F38D-15D6B52DC860}"/>
              </a:ext>
            </a:extLst>
          </p:cNvPr>
          <p:cNvSpPr txBox="1"/>
          <p:nvPr/>
        </p:nvSpPr>
        <p:spPr>
          <a:xfrm>
            <a:off x="5173335" y="4964171"/>
            <a:ext cx="32880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 of all complex numbers</a:t>
            </a:r>
          </a:p>
        </p:txBody>
      </p:sp>
    </p:spTree>
    <p:extLst>
      <p:ext uri="{BB962C8B-B14F-4D97-AF65-F5344CB8AC3E}">
        <p14:creationId xmlns:p14="http://schemas.microsoft.com/office/powerpoint/2010/main" val="199500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12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INTERVALS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30348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[a, b] = {x | a ≤ x ≤</a:t>
            </a:r>
            <a:r>
              <a:rPr lang="en-US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69867-2A4B-B3EB-E8D8-FFD916BCA6D0}"/>
              </a:ext>
            </a:extLst>
          </p:cNvPr>
          <p:cNvSpPr txBox="1"/>
          <p:nvPr/>
        </p:nvSpPr>
        <p:spPr>
          <a:xfrm>
            <a:off x="762000" y="2209800"/>
            <a:ext cx="29819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[2, 6] = {2, 3, 4, 5, 6}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5D08C5-914C-8BDE-1914-D4CC0B2162AA}"/>
              </a:ext>
            </a:extLst>
          </p:cNvPr>
          <p:cNvSpPr txBox="1"/>
          <p:nvPr/>
        </p:nvSpPr>
        <p:spPr>
          <a:xfrm>
            <a:off x="4200087" y="2209800"/>
            <a:ext cx="30332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Considering x as integer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0ACB2-A824-DECA-DE98-77FA022F386F}"/>
              </a:ext>
            </a:extLst>
          </p:cNvPr>
          <p:cNvSpPr txBox="1"/>
          <p:nvPr/>
        </p:nvSpPr>
        <p:spPr>
          <a:xfrm>
            <a:off x="457200" y="2833775"/>
            <a:ext cx="2964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[a, b) = {x | a ≤ x &lt;</a:t>
            </a:r>
            <a:r>
              <a:rPr lang="en-US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072D4E-102C-75AD-D9B9-4E75EB2A5BCE}"/>
              </a:ext>
            </a:extLst>
          </p:cNvPr>
          <p:cNvSpPr txBox="1"/>
          <p:nvPr/>
        </p:nvSpPr>
        <p:spPr>
          <a:xfrm>
            <a:off x="762000" y="3367175"/>
            <a:ext cx="26997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[2, 6) = {2, 3, 4, 5}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24E9E-A825-B3B1-1415-9B353D9A821C}"/>
              </a:ext>
            </a:extLst>
          </p:cNvPr>
          <p:cNvSpPr txBox="1"/>
          <p:nvPr/>
        </p:nvSpPr>
        <p:spPr>
          <a:xfrm>
            <a:off x="4200087" y="2833775"/>
            <a:ext cx="29674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(a, b] = {x | a &lt; 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x ≤</a:t>
            </a:r>
            <a:r>
              <a:rPr lang="en-US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1E2414-A115-52F9-D9BE-024DE8BEE959}"/>
              </a:ext>
            </a:extLst>
          </p:cNvPr>
          <p:cNvSpPr txBox="1"/>
          <p:nvPr/>
        </p:nvSpPr>
        <p:spPr>
          <a:xfrm>
            <a:off x="4504887" y="3367175"/>
            <a:ext cx="26997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(2, 6] = {3, 4, 5, 6}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D6EFA2-C40E-3B5B-033A-661EA69E5A38}"/>
              </a:ext>
            </a:extLst>
          </p:cNvPr>
          <p:cNvSpPr txBox="1"/>
          <p:nvPr/>
        </p:nvSpPr>
        <p:spPr>
          <a:xfrm>
            <a:off x="457200" y="4022859"/>
            <a:ext cx="2964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(a, b) = {x | a &lt; x &lt;</a:t>
            </a:r>
            <a:r>
              <a:rPr lang="en-US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2CFA29-E050-ECC7-5A0C-F4F5C94DF1D0}"/>
              </a:ext>
            </a:extLst>
          </p:cNvPr>
          <p:cNvSpPr txBox="1"/>
          <p:nvPr/>
        </p:nvSpPr>
        <p:spPr>
          <a:xfrm>
            <a:off x="762000" y="4556259"/>
            <a:ext cx="24176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(2, 6) = {3, 4, 5}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5D8C68-4DFC-D9DD-C9B5-AA6DBC8248E7}"/>
              </a:ext>
            </a:extLst>
          </p:cNvPr>
          <p:cNvSpPr txBox="1"/>
          <p:nvPr/>
        </p:nvSpPr>
        <p:spPr>
          <a:xfrm>
            <a:off x="457200" y="5214151"/>
            <a:ext cx="52068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[a, b] is called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closed interval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from a to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AAB4B8-1550-B8AB-CD02-3033C02DB240}"/>
              </a:ext>
            </a:extLst>
          </p:cNvPr>
          <p:cNvSpPr txBox="1"/>
          <p:nvPr/>
        </p:nvSpPr>
        <p:spPr>
          <a:xfrm>
            <a:off x="457200" y="5747551"/>
            <a:ext cx="50513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(a, b) is called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open interval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from a to b</a:t>
            </a:r>
          </a:p>
        </p:txBody>
      </p:sp>
    </p:spTree>
    <p:extLst>
      <p:ext uri="{BB962C8B-B14F-4D97-AF65-F5344CB8AC3E}">
        <p14:creationId xmlns:p14="http://schemas.microsoft.com/office/powerpoint/2010/main" val="392623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12" grpId="0"/>
      <p:bldP spid="14" grpId="0"/>
      <p:bldP spid="17" grpId="0"/>
      <p:bldP spid="18" grpId="0"/>
      <p:bldP spid="19" grpId="0"/>
      <p:bldP spid="20" grpId="0"/>
      <p:bldP spid="21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VENN DIAGRAM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45853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graphical method to represent 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C8502F-F44D-E195-4EB5-6394F4986314}"/>
              </a:ext>
            </a:extLst>
          </p:cNvPr>
          <p:cNvSpPr txBox="1"/>
          <p:nvPr/>
        </p:nvSpPr>
        <p:spPr>
          <a:xfrm>
            <a:off x="453501" y="2159913"/>
            <a:ext cx="55018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Universal set (U) is represented by rectangle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679839-2F46-BA22-BCAB-9AD5CE938831}"/>
              </a:ext>
            </a:extLst>
          </p:cNvPr>
          <p:cNvSpPr/>
          <p:nvPr/>
        </p:nvSpPr>
        <p:spPr>
          <a:xfrm>
            <a:off x="2705100" y="4505718"/>
            <a:ext cx="3733800" cy="175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C0441-224E-45DA-3B6C-0C7460E15A91}"/>
              </a:ext>
            </a:extLst>
          </p:cNvPr>
          <p:cNvSpPr txBox="1"/>
          <p:nvPr/>
        </p:nvSpPr>
        <p:spPr>
          <a:xfrm>
            <a:off x="5988619" y="4505718"/>
            <a:ext cx="3882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85954B-DC01-7A99-2829-0A100E4298DB}"/>
              </a:ext>
            </a:extLst>
          </p:cNvPr>
          <p:cNvSpPr txBox="1"/>
          <p:nvPr/>
        </p:nvSpPr>
        <p:spPr>
          <a:xfrm>
            <a:off x="460899" y="2643426"/>
            <a:ext cx="68355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Sets are represented as circle or other geometrical figure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DFBA2-3CBD-511A-1A73-B57068DCC073}"/>
              </a:ext>
            </a:extLst>
          </p:cNvPr>
          <p:cNvSpPr txBox="1"/>
          <p:nvPr/>
        </p:nvSpPr>
        <p:spPr>
          <a:xfrm>
            <a:off x="453501" y="3102156"/>
            <a:ext cx="56493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Sometimes elements are represented as points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2A8EE6-D39E-C137-02EC-550039E5420F}"/>
              </a:ext>
            </a:extLst>
          </p:cNvPr>
          <p:cNvSpPr txBox="1"/>
          <p:nvPr/>
        </p:nvSpPr>
        <p:spPr>
          <a:xfrm>
            <a:off x="460899" y="3585669"/>
            <a:ext cx="75119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Represent the set of vowels V = {a, e,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o, u} in Venn diagram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02B06B-336B-DFB1-692E-E1E0952FDF97}"/>
              </a:ext>
            </a:extLst>
          </p:cNvPr>
          <p:cNvSpPr/>
          <p:nvPr/>
        </p:nvSpPr>
        <p:spPr>
          <a:xfrm>
            <a:off x="3848100" y="4658118"/>
            <a:ext cx="1447800" cy="1447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C957C-70E1-63CC-B585-FEC17A3EB740}"/>
              </a:ext>
            </a:extLst>
          </p:cNvPr>
          <p:cNvSpPr txBox="1"/>
          <p:nvPr/>
        </p:nvSpPr>
        <p:spPr>
          <a:xfrm>
            <a:off x="3469625" y="5172197"/>
            <a:ext cx="3882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EFDAE1-0E4A-7F72-0724-F4B5FD72A248}"/>
              </a:ext>
            </a:extLst>
          </p:cNvPr>
          <p:cNvSpPr/>
          <p:nvPr/>
        </p:nvSpPr>
        <p:spPr>
          <a:xfrm>
            <a:off x="4342199" y="4956753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FFF32E-F1FA-FF1B-82D4-CF4B88AA4BD5}"/>
              </a:ext>
            </a:extLst>
          </p:cNvPr>
          <p:cNvSpPr txBox="1"/>
          <p:nvPr/>
        </p:nvSpPr>
        <p:spPr>
          <a:xfrm>
            <a:off x="4262300" y="4598827"/>
            <a:ext cx="3097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6A448B1-6A96-A9A9-A23F-D15E5C08E67A}"/>
              </a:ext>
            </a:extLst>
          </p:cNvPr>
          <p:cNvSpPr/>
          <p:nvPr/>
        </p:nvSpPr>
        <p:spPr>
          <a:xfrm>
            <a:off x="4949950" y="5172197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4F1760-F82A-DD41-6E8B-1A4A10441906}"/>
              </a:ext>
            </a:extLst>
          </p:cNvPr>
          <p:cNvSpPr txBox="1"/>
          <p:nvPr/>
        </p:nvSpPr>
        <p:spPr>
          <a:xfrm>
            <a:off x="4870051" y="4814271"/>
            <a:ext cx="3097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F8AD021-9448-2DFD-CD3E-A7302B120DE5}"/>
              </a:ext>
            </a:extLst>
          </p:cNvPr>
          <p:cNvSpPr/>
          <p:nvPr/>
        </p:nvSpPr>
        <p:spPr>
          <a:xfrm>
            <a:off x="4818343" y="575447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5B4DF7-B8AB-CBE8-6EA2-2224F8E9A59C}"/>
              </a:ext>
            </a:extLst>
          </p:cNvPr>
          <p:cNvSpPr txBox="1"/>
          <p:nvPr/>
        </p:nvSpPr>
        <p:spPr>
          <a:xfrm>
            <a:off x="4738444" y="5396544"/>
            <a:ext cx="2632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40B59C7-578A-A9CA-3800-2666A7120D3D}"/>
              </a:ext>
            </a:extLst>
          </p:cNvPr>
          <p:cNvSpPr/>
          <p:nvPr/>
        </p:nvSpPr>
        <p:spPr>
          <a:xfrm>
            <a:off x="4180762" y="5710298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484749-A029-A32F-A603-E04CFDB5F96B}"/>
              </a:ext>
            </a:extLst>
          </p:cNvPr>
          <p:cNvSpPr txBox="1"/>
          <p:nvPr/>
        </p:nvSpPr>
        <p:spPr>
          <a:xfrm>
            <a:off x="4100863" y="535237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41BD25E-43F0-4883-D4EB-16724D193944}"/>
              </a:ext>
            </a:extLst>
          </p:cNvPr>
          <p:cNvSpPr/>
          <p:nvPr/>
        </p:nvSpPr>
        <p:spPr>
          <a:xfrm>
            <a:off x="3977721" y="5293806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87E773-E62E-FA2A-3A67-C163990C10EF}"/>
              </a:ext>
            </a:extLst>
          </p:cNvPr>
          <p:cNvSpPr txBox="1"/>
          <p:nvPr/>
        </p:nvSpPr>
        <p:spPr>
          <a:xfrm>
            <a:off x="3897822" y="493588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73462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7" grpId="0"/>
      <p:bldP spid="9" grpId="0"/>
      <p:bldP spid="10" grpId="0"/>
      <p:bldP spid="11" grpId="0"/>
      <p:bldP spid="13" grpId="0" animBg="1"/>
      <p:bldP spid="15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SUBSET AND SUPERSET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53504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is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subset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of B, and B is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superset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of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8BB80-C77F-76A0-F6AD-84FA148AE303}"/>
              </a:ext>
            </a:extLst>
          </p:cNvPr>
          <p:cNvSpPr txBox="1"/>
          <p:nvPr/>
        </p:nvSpPr>
        <p:spPr>
          <a:xfrm>
            <a:off x="838200" y="2120443"/>
            <a:ext cx="68700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and only if every element of A is also an element of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B6ACD-7E21-0874-2787-9897F1404F08}"/>
              </a:ext>
            </a:extLst>
          </p:cNvPr>
          <p:cNvSpPr txBox="1"/>
          <p:nvPr/>
        </p:nvSpPr>
        <p:spPr>
          <a:xfrm>
            <a:off x="838200" y="2596938"/>
            <a:ext cx="2378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Notation: A ⊆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4C42F-2C83-6760-8242-B49C289A589B}"/>
              </a:ext>
            </a:extLst>
          </p:cNvPr>
          <p:cNvSpPr txBox="1"/>
          <p:nvPr/>
        </p:nvSpPr>
        <p:spPr>
          <a:xfrm>
            <a:off x="3962400" y="2596938"/>
            <a:ext cx="22129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is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subset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of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98133-25F6-0B42-6B93-EF9A59C8DCC5}"/>
              </a:ext>
            </a:extLst>
          </p:cNvPr>
          <p:cNvSpPr txBox="1"/>
          <p:nvPr/>
        </p:nvSpPr>
        <p:spPr>
          <a:xfrm>
            <a:off x="838200" y="3101445"/>
            <a:ext cx="23940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Notation: B ⊇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26724-CEAA-8286-94C2-502AA0EE95B7}"/>
              </a:ext>
            </a:extLst>
          </p:cNvPr>
          <p:cNvSpPr txBox="1"/>
          <p:nvPr/>
        </p:nvSpPr>
        <p:spPr>
          <a:xfrm>
            <a:off x="3962400" y="3101445"/>
            <a:ext cx="24629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 is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superset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of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F328BA-3ADC-A1D9-CD44-216090573DD2}"/>
              </a:ext>
            </a:extLst>
          </p:cNvPr>
          <p:cNvSpPr txBox="1"/>
          <p:nvPr/>
        </p:nvSpPr>
        <p:spPr>
          <a:xfrm>
            <a:off x="457200" y="3651560"/>
            <a:ext cx="41513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a set B = {1, 2, 3, 4, 5}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E8197A-701A-D410-B1AB-7F240F9ACAEA}"/>
              </a:ext>
            </a:extLst>
          </p:cNvPr>
          <p:cNvSpPr txBox="1"/>
          <p:nvPr/>
        </p:nvSpPr>
        <p:spPr>
          <a:xfrm>
            <a:off x="454981" y="4081447"/>
            <a:ext cx="81524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Identify the subset relationship between A and B from the following: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0EE1C8-B2BB-FFDA-0F28-3EC8FD7D33A6}"/>
              </a:ext>
            </a:extLst>
          </p:cNvPr>
          <p:cNvSpPr txBox="1"/>
          <p:nvPr/>
        </p:nvSpPr>
        <p:spPr>
          <a:xfrm>
            <a:off x="897009" y="4571098"/>
            <a:ext cx="19933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= {2, 4, 5}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7BB02E-FC35-895D-62F2-06E78C136A6A}"/>
              </a:ext>
            </a:extLst>
          </p:cNvPr>
          <p:cNvSpPr txBox="1"/>
          <p:nvPr/>
        </p:nvSpPr>
        <p:spPr>
          <a:xfrm>
            <a:off x="3657600" y="4565180"/>
            <a:ext cx="13697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✅A  ⊂</a:t>
            </a:r>
            <a:r>
              <a:rPr lang="en-US" sz="2200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750A3C-BF69-2166-4FEA-5D9A02072806}"/>
              </a:ext>
            </a:extLst>
          </p:cNvPr>
          <p:cNvSpPr txBox="1"/>
          <p:nvPr/>
        </p:nvSpPr>
        <p:spPr>
          <a:xfrm>
            <a:off x="891551" y="5075605"/>
            <a:ext cx="19933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= {2, 5, 4}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360BDE-4F74-F1DA-3F8A-A7A9CC6B0805}"/>
              </a:ext>
            </a:extLst>
          </p:cNvPr>
          <p:cNvSpPr txBox="1"/>
          <p:nvPr/>
        </p:nvSpPr>
        <p:spPr>
          <a:xfrm>
            <a:off x="3652142" y="5069687"/>
            <a:ext cx="14246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✅ A  ⊂</a:t>
            </a:r>
            <a:r>
              <a:rPr lang="en-US" sz="2200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347081-81DC-E949-AB58-230939F780A3}"/>
              </a:ext>
            </a:extLst>
          </p:cNvPr>
          <p:cNvSpPr txBox="1"/>
          <p:nvPr/>
        </p:nvSpPr>
        <p:spPr>
          <a:xfrm>
            <a:off x="891551" y="5574194"/>
            <a:ext cx="19933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= {2, 5, 6}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A9EFD9-63F4-381C-CCFD-80A80D90446D}"/>
              </a:ext>
            </a:extLst>
          </p:cNvPr>
          <p:cNvSpPr txBox="1"/>
          <p:nvPr/>
        </p:nvSpPr>
        <p:spPr>
          <a:xfrm>
            <a:off x="3652142" y="5568276"/>
            <a:ext cx="14274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r>
              <a:rPr lang="en-US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 ⊄</a:t>
            </a:r>
            <a:r>
              <a:rPr lang="en-US" sz="2200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F64A24-F763-D909-A1BA-7FC5CA14DD71}"/>
              </a:ext>
            </a:extLst>
          </p:cNvPr>
          <p:cNvSpPr txBox="1"/>
          <p:nvPr/>
        </p:nvSpPr>
        <p:spPr>
          <a:xfrm>
            <a:off x="838200" y="6072783"/>
            <a:ext cx="25575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= {1, 2, 3, 4, 5}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7C9DC1-29C2-8C62-CDDD-CFF44D4969DE}"/>
              </a:ext>
            </a:extLst>
          </p:cNvPr>
          <p:cNvSpPr txBox="1"/>
          <p:nvPr/>
        </p:nvSpPr>
        <p:spPr>
          <a:xfrm>
            <a:off x="3630124" y="6066865"/>
            <a:ext cx="14246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✅ A  =</a:t>
            </a:r>
            <a:r>
              <a:rPr lang="en-US" sz="2200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7600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9" grpId="0"/>
      <p:bldP spid="10" grpId="0"/>
      <p:bldP spid="11" grpId="0"/>
      <p:bldP spid="13" grpId="0"/>
      <p:bldP spid="15" grpId="0"/>
      <p:bldP spid="16" grpId="0"/>
      <p:bldP spid="22" grpId="0"/>
      <p:bldP spid="24" grpId="0"/>
      <p:bldP spid="25" grpId="0"/>
      <p:bldP spid="26" grpId="0"/>
      <p:bldP spid="27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SUBSET AND SUPERSET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53504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is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subset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of B, and B is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superset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of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8BB80-C77F-76A0-F6AD-84FA148AE303}"/>
              </a:ext>
            </a:extLst>
          </p:cNvPr>
          <p:cNvSpPr txBox="1"/>
          <p:nvPr/>
        </p:nvSpPr>
        <p:spPr>
          <a:xfrm>
            <a:off x="838200" y="2120443"/>
            <a:ext cx="60035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and only if the following quantification is true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7E158-630B-39E9-D94F-E5F8880FA770}"/>
              </a:ext>
            </a:extLst>
          </p:cNvPr>
          <p:cNvSpPr txBox="1"/>
          <p:nvPr/>
        </p:nvSpPr>
        <p:spPr>
          <a:xfrm>
            <a:off x="838200" y="2564486"/>
            <a:ext cx="28337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(x ∈ A  →  x ∈ B)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D98E58-1360-6093-2F40-9A918FDA2324}"/>
              </a:ext>
            </a:extLst>
          </p:cNvPr>
          <p:cNvSpPr txBox="1"/>
          <p:nvPr/>
        </p:nvSpPr>
        <p:spPr>
          <a:xfrm>
            <a:off x="837460" y="3048000"/>
            <a:ext cx="68471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all x, if x belongs to A, then that x must belong to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875F68-31B2-4665-B0D6-1996677E4B67}"/>
              </a:ext>
            </a:extLst>
          </p:cNvPr>
          <p:cNvSpPr txBox="1"/>
          <p:nvPr/>
        </p:nvSpPr>
        <p:spPr>
          <a:xfrm>
            <a:off x="837459" y="3531514"/>
            <a:ext cx="7555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Mean, every element of the subset must belong to the superset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8CD86C-F024-8F5D-D760-CD2B9CD5E8FE}"/>
              </a:ext>
            </a:extLst>
          </p:cNvPr>
          <p:cNvSpPr txBox="1"/>
          <p:nvPr/>
        </p:nvSpPr>
        <p:spPr>
          <a:xfrm>
            <a:off x="837459" y="4056197"/>
            <a:ext cx="80810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There should be no element in subset that is not present in superset</a:t>
            </a:r>
          </a:p>
        </p:txBody>
      </p:sp>
    </p:spTree>
    <p:extLst>
      <p:ext uri="{BB962C8B-B14F-4D97-AF65-F5344CB8AC3E}">
        <p14:creationId xmlns:p14="http://schemas.microsoft.com/office/powerpoint/2010/main" val="371984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  <p:bldP spid="12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PROPER SUBSET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24969"/>
            <a:ext cx="34678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is a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proper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subset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of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B6ACD-7E21-0874-2787-9897F1404F08}"/>
              </a:ext>
            </a:extLst>
          </p:cNvPr>
          <p:cNvSpPr txBox="1"/>
          <p:nvPr/>
        </p:nvSpPr>
        <p:spPr>
          <a:xfrm>
            <a:off x="838200" y="2042722"/>
            <a:ext cx="2647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A ⊂ B but A ≠</a:t>
            </a:r>
            <a:r>
              <a:rPr lang="en-US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F328BA-3ADC-A1D9-CD44-216090573DD2}"/>
              </a:ext>
            </a:extLst>
          </p:cNvPr>
          <p:cNvSpPr txBox="1"/>
          <p:nvPr/>
        </p:nvSpPr>
        <p:spPr>
          <a:xfrm>
            <a:off x="457200" y="3817718"/>
            <a:ext cx="41513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a set B = {1, 2, 3, 4, 5}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E8197A-701A-D410-B1AB-7F240F9ACAEA}"/>
              </a:ext>
            </a:extLst>
          </p:cNvPr>
          <p:cNvSpPr txBox="1"/>
          <p:nvPr/>
        </p:nvSpPr>
        <p:spPr>
          <a:xfrm>
            <a:off x="457200" y="4250115"/>
            <a:ext cx="6905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Identify the proper subset relationship between A and B: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0EE1C8-B2BB-FFDA-0F28-3EC8FD7D33A6}"/>
              </a:ext>
            </a:extLst>
          </p:cNvPr>
          <p:cNvSpPr txBox="1"/>
          <p:nvPr/>
        </p:nvSpPr>
        <p:spPr>
          <a:xfrm>
            <a:off x="899228" y="4739766"/>
            <a:ext cx="19933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= {2, 4, 5}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7BB02E-FC35-895D-62F2-06E78C136A6A}"/>
              </a:ext>
            </a:extLst>
          </p:cNvPr>
          <p:cNvSpPr txBox="1"/>
          <p:nvPr/>
        </p:nvSpPr>
        <p:spPr>
          <a:xfrm>
            <a:off x="3659819" y="4733848"/>
            <a:ext cx="13697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✅A  ⊂</a:t>
            </a:r>
            <a:r>
              <a:rPr lang="en-US" sz="2200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750A3C-BF69-2166-4FEA-5D9A02072806}"/>
              </a:ext>
            </a:extLst>
          </p:cNvPr>
          <p:cNvSpPr txBox="1"/>
          <p:nvPr/>
        </p:nvSpPr>
        <p:spPr>
          <a:xfrm>
            <a:off x="893770" y="5244273"/>
            <a:ext cx="19933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= {2, 5, 4}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360BDE-4F74-F1DA-3F8A-A7A9CC6B0805}"/>
              </a:ext>
            </a:extLst>
          </p:cNvPr>
          <p:cNvSpPr txBox="1"/>
          <p:nvPr/>
        </p:nvSpPr>
        <p:spPr>
          <a:xfrm>
            <a:off x="3654361" y="5238355"/>
            <a:ext cx="14246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✅ A  ⊂</a:t>
            </a:r>
            <a:r>
              <a:rPr lang="en-US" sz="2200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347081-81DC-E949-AB58-230939F780A3}"/>
              </a:ext>
            </a:extLst>
          </p:cNvPr>
          <p:cNvSpPr txBox="1"/>
          <p:nvPr/>
        </p:nvSpPr>
        <p:spPr>
          <a:xfrm>
            <a:off x="893770" y="5742862"/>
            <a:ext cx="19933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= {2, 5, 6}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A9EFD9-63F4-381C-CCFD-80A80D90446D}"/>
              </a:ext>
            </a:extLst>
          </p:cNvPr>
          <p:cNvSpPr txBox="1"/>
          <p:nvPr/>
        </p:nvSpPr>
        <p:spPr>
          <a:xfrm>
            <a:off x="3654361" y="5736944"/>
            <a:ext cx="14274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r>
              <a:rPr lang="en-US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 ⊄</a:t>
            </a:r>
            <a:r>
              <a:rPr lang="en-US" sz="2200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F64A24-F763-D909-A1BA-7FC5CA14DD71}"/>
              </a:ext>
            </a:extLst>
          </p:cNvPr>
          <p:cNvSpPr txBox="1"/>
          <p:nvPr/>
        </p:nvSpPr>
        <p:spPr>
          <a:xfrm>
            <a:off x="840419" y="6241451"/>
            <a:ext cx="25575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= {1, 2, 3, 4, 5}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7C9DC1-29C2-8C62-CDDD-CFF44D4969DE}"/>
              </a:ext>
            </a:extLst>
          </p:cNvPr>
          <p:cNvSpPr txBox="1"/>
          <p:nvPr/>
        </p:nvSpPr>
        <p:spPr>
          <a:xfrm>
            <a:off x="3641511" y="6235533"/>
            <a:ext cx="14503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❌ A  =</a:t>
            </a:r>
            <a:r>
              <a:rPr lang="en-US" sz="2200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B8A20-E5CE-7094-CE09-2B512B9109E5}"/>
              </a:ext>
            </a:extLst>
          </p:cNvPr>
          <p:cNvSpPr txBox="1"/>
          <p:nvPr/>
        </p:nvSpPr>
        <p:spPr>
          <a:xfrm>
            <a:off x="838199" y="2480140"/>
            <a:ext cx="72748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Quantification: ∀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(x ∈ A  →  x ∈ B)   </a:t>
            </a:r>
            <a:r>
              <a:rPr lang="el-GR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l-GR" dirty="0"/>
              <a:t> </a:t>
            </a:r>
            <a:r>
              <a:rPr lang="en-US" dirty="0"/>
              <a:t> 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Ǝ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(x ∈ B </a:t>
            </a:r>
            <a:r>
              <a:rPr lang="el-GR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x ∉ A)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AF679-4A8F-3A0C-2282-036403C58E12}"/>
              </a:ext>
            </a:extLst>
          </p:cNvPr>
          <p:cNvSpPr txBox="1"/>
          <p:nvPr/>
        </p:nvSpPr>
        <p:spPr>
          <a:xfrm>
            <a:off x="838199" y="2949413"/>
            <a:ext cx="59907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Every element of subset must belong to superset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B3B6F4-1338-F425-1EA6-DB8954C5B6BE}"/>
              </a:ext>
            </a:extLst>
          </p:cNvPr>
          <p:cNvSpPr txBox="1"/>
          <p:nvPr/>
        </p:nvSpPr>
        <p:spPr>
          <a:xfrm>
            <a:off x="838199" y="3365127"/>
            <a:ext cx="80794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But there is at least one element in the superset that is not in subset</a:t>
            </a:r>
          </a:p>
        </p:txBody>
      </p:sp>
    </p:spTree>
    <p:extLst>
      <p:ext uri="{BB962C8B-B14F-4D97-AF65-F5344CB8AC3E}">
        <p14:creationId xmlns:p14="http://schemas.microsoft.com/office/powerpoint/2010/main" val="192347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1" grpId="0"/>
      <p:bldP spid="13" grpId="0"/>
      <p:bldP spid="15" grpId="0"/>
      <p:bldP spid="16" grpId="0"/>
      <p:bldP spid="22" grpId="0"/>
      <p:bldP spid="24" grpId="0"/>
      <p:bldP spid="25" grpId="0"/>
      <p:bldP spid="26" grpId="0"/>
      <p:bldP spid="27" grpId="0"/>
      <p:bldP spid="28" grpId="0"/>
      <p:bldP spid="5" grpId="0"/>
      <p:bldP spid="8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SIZE OF A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79928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number of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distinct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element in a set is called the size of that 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60F9B7-498A-9D97-F300-9BBB38EB2B7C}"/>
              </a:ext>
            </a:extLst>
          </p:cNvPr>
          <p:cNvSpPr txBox="1"/>
          <p:nvPr/>
        </p:nvSpPr>
        <p:spPr>
          <a:xfrm>
            <a:off x="457200" y="2209800"/>
            <a:ext cx="44607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size of a set A is denoted as |A|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9B82D-5FF8-4102-7355-69CFC7673290}"/>
              </a:ext>
            </a:extLst>
          </p:cNvPr>
          <p:cNvSpPr txBox="1"/>
          <p:nvPr/>
        </p:nvSpPr>
        <p:spPr>
          <a:xfrm>
            <a:off x="457200" y="2743200"/>
            <a:ext cx="24377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A = {1, 5, 7}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EE550-B108-7FE9-E770-A2D1D5C614BC}"/>
              </a:ext>
            </a:extLst>
          </p:cNvPr>
          <p:cNvSpPr txBox="1"/>
          <p:nvPr/>
        </p:nvSpPr>
        <p:spPr>
          <a:xfrm>
            <a:off x="781235" y="3276600"/>
            <a:ext cx="25495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Size of A,  |A|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06D076-A8EC-60E9-DECB-7D4CD4C30381}"/>
              </a:ext>
            </a:extLst>
          </p:cNvPr>
          <p:cNvSpPr txBox="1"/>
          <p:nvPr/>
        </p:nvSpPr>
        <p:spPr>
          <a:xfrm>
            <a:off x="457200" y="3829235"/>
            <a:ext cx="33547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A = {1, 1, 3, 7, 5, 7}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1E88AE-9BED-2FA3-2817-D17F785074C2}"/>
              </a:ext>
            </a:extLst>
          </p:cNvPr>
          <p:cNvSpPr txBox="1"/>
          <p:nvPr/>
        </p:nvSpPr>
        <p:spPr>
          <a:xfrm>
            <a:off x="762000" y="4321425"/>
            <a:ext cx="25495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Size of A,  |A| = 4</a:t>
            </a:r>
          </a:p>
        </p:txBody>
      </p:sp>
    </p:spTree>
    <p:extLst>
      <p:ext uri="{BB962C8B-B14F-4D97-AF65-F5344CB8AC3E}">
        <p14:creationId xmlns:p14="http://schemas.microsoft.com/office/powerpoint/2010/main" val="294363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NULL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30416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set with no elements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B6ACD-7E21-0874-2787-9897F1404F08}"/>
              </a:ext>
            </a:extLst>
          </p:cNvPr>
          <p:cNvSpPr txBox="1"/>
          <p:nvPr/>
        </p:nvSpPr>
        <p:spPr>
          <a:xfrm>
            <a:off x="838200" y="2117953"/>
            <a:ext cx="18453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Notation: 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B8A20-E5CE-7094-CE09-2B512B9109E5}"/>
              </a:ext>
            </a:extLst>
          </p:cNvPr>
          <p:cNvSpPr txBox="1"/>
          <p:nvPr/>
        </p:nvSpPr>
        <p:spPr>
          <a:xfrm>
            <a:off x="838199" y="2555371"/>
            <a:ext cx="14029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| ∅ | =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EA631-81A3-DD53-4151-862D44F319F9}"/>
              </a:ext>
            </a:extLst>
          </p:cNvPr>
          <p:cNvSpPr txBox="1"/>
          <p:nvPr/>
        </p:nvSpPr>
        <p:spPr>
          <a:xfrm>
            <a:off x="457200" y="3213556"/>
            <a:ext cx="37529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Null set is a subset of any set</a:t>
            </a:r>
          </a:p>
        </p:txBody>
      </p:sp>
    </p:spTree>
    <p:extLst>
      <p:ext uri="{BB962C8B-B14F-4D97-AF65-F5344CB8AC3E}">
        <p14:creationId xmlns:p14="http://schemas.microsoft.com/office/powerpoint/2010/main" val="107690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5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ALL SUBSET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44655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all the subsets of A = {2, 6, 4}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1F8B9E-CA43-81C0-F4E8-35EF6714534C}"/>
              </a:ext>
            </a:extLst>
          </p:cNvPr>
          <p:cNvSpPr txBox="1"/>
          <p:nvPr/>
        </p:nvSpPr>
        <p:spPr>
          <a:xfrm>
            <a:off x="762000" y="2183487"/>
            <a:ext cx="9412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{2}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69D8C-3405-ADDD-3197-6BB672A5730D}"/>
              </a:ext>
            </a:extLst>
          </p:cNvPr>
          <p:cNvSpPr txBox="1"/>
          <p:nvPr/>
        </p:nvSpPr>
        <p:spPr>
          <a:xfrm>
            <a:off x="761999" y="2614374"/>
            <a:ext cx="9412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{6}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1149CB-7F04-3BDA-5170-707A90019225}"/>
              </a:ext>
            </a:extLst>
          </p:cNvPr>
          <p:cNvSpPr txBox="1"/>
          <p:nvPr/>
        </p:nvSpPr>
        <p:spPr>
          <a:xfrm>
            <a:off x="762000" y="3045261"/>
            <a:ext cx="9412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{4}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36B6F7-12F3-2923-0A5D-495A3343085E}"/>
              </a:ext>
            </a:extLst>
          </p:cNvPr>
          <p:cNvSpPr txBox="1"/>
          <p:nvPr/>
        </p:nvSpPr>
        <p:spPr>
          <a:xfrm>
            <a:off x="761999" y="3476148"/>
            <a:ext cx="12234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{2, 6}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A39745-6988-2FF4-C9CA-54409A383E07}"/>
              </a:ext>
            </a:extLst>
          </p:cNvPr>
          <p:cNvSpPr txBox="1"/>
          <p:nvPr/>
        </p:nvSpPr>
        <p:spPr>
          <a:xfrm>
            <a:off x="762000" y="3911474"/>
            <a:ext cx="12234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{2, 4}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29E868-BDBC-8333-5EDF-47B0FADDA7C5}"/>
              </a:ext>
            </a:extLst>
          </p:cNvPr>
          <p:cNvSpPr txBox="1"/>
          <p:nvPr/>
        </p:nvSpPr>
        <p:spPr>
          <a:xfrm>
            <a:off x="761999" y="4342361"/>
            <a:ext cx="12234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{6, 4}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28ED4B-3FA7-66E0-146D-2FA959DF8975}"/>
              </a:ext>
            </a:extLst>
          </p:cNvPr>
          <p:cNvSpPr txBox="1"/>
          <p:nvPr/>
        </p:nvSpPr>
        <p:spPr>
          <a:xfrm>
            <a:off x="762000" y="4773248"/>
            <a:ext cx="15055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{2, 6, 4}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1BE573-D62C-90D8-E456-47F6E19DB90F}"/>
              </a:ext>
            </a:extLst>
          </p:cNvPr>
          <p:cNvSpPr txBox="1"/>
          <p:nvPr/>
        </p:nvSpPr>
        <p:spPr>
          <a:xfrm>
            <a:off x="761999" y="5204135"/>
            <a:ext cx="7088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79D8FF-2F58-004B-B5A6-0A628706B87A}"/>
              </a:ext>
            </a:extLst>
          </p:cNvPr>
          <p:cNvSpPr txBox="1"/>
          <p:nvPr/>
        </p:nvSpPr>
        <p:spPr>
          <a:xfrm>
            <a:off x="2819400" y="2183486"/>
            <a:ext cx="27270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many subsets?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F3683C-3198-D7FD-6C62-EBEC5F64EAB2}"/>
              </a:ext>
            </a:extLst>
          </p:cNvPr>
          <p:cNvSpPr txBox="1"/>
          <p:nvPr/>
        </p:nvSpPr>
        <p:spPr>
          <a:xfrm>
            <a:off x="3200400" y="2616973"/>
            <a:ext cx="6719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16F685-9ACB-9030-C046-67A97B001877}"/>
              </a:ext>
            </a:extLst>
          </p:cNvPr>
          <p:cNvSpPr txBox="1"/>
          <p:nvPr/>
        </p:nvSpPr>
        <p:spPr>
          <a:xfrm>
            <a:off x="2819400" y="3045261"/>
            <a:ext cx="27334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about |A| = n?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8C72A1-D509-9B03-1A18-73D2E27DABD5}"/>
              </a:ext>
            </a:extLst>
          </p:cNvPr>
          <p:cNvSpPr txBox="1"/>
          <p:nvPr/>
        </p:nvSpPr>
        <p:spPr>
          <a:xfrm>
            <a:off x="3200400" y="3478748"/>
            <a:ext cx="7665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51727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ALL SUBSET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44655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all the subsets of A = {2, 6, 4}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0F01F0-996B-C1EB-B3E8-9A93B53761BB}"/>
              </a:ext>
            </a:extLst>
          </p:cNvPr>
          <p:cNvSpPr txBox="1"/>
          <p:nvPr/>
        </p:nvSpPr>
        <p:spPr>
          <a:xfrm>
            <a:off x="762000" y="2031087"/>
            <a:ext cx="48086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Here the number of elements in A is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A586DE-B44B-8B01-699A-2BE2F246FE0F}"/>
              </a:ext>
            </a:extLst>
          </p:cNvPr>
          <p:cNvSpPr txBox="1"/>
          <p:nvPr/>
        </p:nvSpPr>
        <p:spPr>
          <a:xfrm>
            <a:off x="762000" y="2475191"/>
            <a:ext cx="56776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all the combinations of 0 and 1 of size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A0D897-7A56-BA35-25A2-B192660169CD}"/>
              </a:ext>
            </a:extLst>
          </p:cNvPr>
          <p:cNvSpPr txBox="1"/>
          <p:nvPr/>
        </p:nvSpPr>
        <p:spPr>
          <a:xfrm>
            <a:off x="1143000" y="3002674"/>
            <a:ext cx="10951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0 0 0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63B82A-8007-AE32-4D86-F8E097B2DABE}"/>
              </a:ext>
            </a:extLst>
          </p:cNvPr>
          <p:cNvSpPr txBox="1"/>
          <p:nvPr/>
        </p:nvSpPr>
        <p:spPr>
          <a:xfrm>
            <a:off x="1142999" y="3433561"/>
            <a:ext cx="10951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0 0 1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DD15E0-7A49-524D-2669-57772956B638}"/>
              </a:ext>
            </a:extLst>
          </p:cNvPr>
          <p:cNvSpPr txBox="1"/>
          <p:nvPr/>
        </p:nvSpPr>
        <p:spPr>
          <a:xfrm>
            <a:off x="1143000" y="3864448"/>
            <a:ext cx="10951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0 1 0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6E4536-6688-2558-7B44-49B3F1CE8B05}"/>
              </a:ext>
            </a:extLst>
          </p:cNvPr>
          <p:cNvSpPr txBox="1"/>
          <p:nvPr/>
        </p:nvSpPr>
        <p:spPr>
          <a:xfrm>
            <a:off x="1142999" y="4295335"/>
            <a:ext cx="10951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0 1 1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703A36-99B0-E9D1-4D34-9E5667A515A7}"/>
              </a:ext>
            </a:extLst>
          </p:cNvPr>
          <p:cNvSpPr txBox="1"/>
          <p:nvPr/>
        </p:nvSpPr>
        <p:spPr>
          <a:xfrm>
            <a:off x="1143000" y="4730661"/>
            <a:ext cx="10951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1 0 0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005798-52D5-4002-6015-0D7B22EEA7C8}"/>
              </a:ext>
            </a:extLst>
          </p:cNvPr>
          <p:cNvSpPr txBox="1"/>
          <p:nvPr/>
        </p:nvSpPr>
        <p:spPr>
          <a:xfrm>
            <a:off x="1142999" y="5161548"/>
            <a:ext cx="10951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1 0 1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27D4D3-75A0-63E0-3034-F4EB0DDFC964}"/>
              </a:ext>
            </a:extLst>
          </p:cNvPr>
          <p:cNvSpPr txBox="1"/>
          <p:nvPr/>
        </p:nvSpPr>
        <p:spPr>
          <a:xfrm>
            <a:off x="1143000" y="5592435"/>
            <a:ext cx="10951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1 1 0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2915AF-0D75-3637-C384-886E37A390FE}"/>
              </a:ext>
            </a:extLst>
          </p:cNvPr>
          <p:cNvSpPr txBox="1"/>
          <p:nvPr/>
        </p:nvSpPr>
        <p:spPr>
          <a:xfrm>
            <a:off x="1142999" y="6023322"/>
            <a:ext cx="10951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1 1 1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459C24-2338-917F-6AC5-F41EBF5961DC}"/>
              </a:ext>
            </a:extLst>
          </p:cNvPr>
          <p:cNvSpPr txBox="1"/>
          <p:nvPr/>
        </p:nvSpPr>
        <p:spPr>
          <a:xfrm>
            <a:off x="3048001" y="3002674"/>
            <a:ext cx="7088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∅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F9CF7E-249B-CEDB-5BB9-A53A4B9E8929}"/>
              </a:ext>
            </a:extLst>
          </p:cNvPr>
          <p:cNvSpPr txBox="1"/>
          <p:nvPr/>
        </p:nvSpPr>
        <p:spPr>
          <a:xfrm>
            <a:off x="3048000" y="3433561"/>
            <a:ext cx="9412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{4}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D8EECE-0EF2-DACF-CC52-45EA62949DAD}"/>
              </a:ext>
            </a:extLst>
          </p:cNvPr>
          <p:cNvSpPr txBox="1"/>
          <p:nvPr/>
        </p:nvSpPr>
        <p:spPr>
          <a:xfrm>
            <a:off x="3048001" y="3864448"/>
            <a:ext cx="9412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{6}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D3A115-B008-7D80-7DEC-4092A535302B}"/>
              </a:ext>
            </a:extLst>
          </p:cNvPr>
          <p:cNvSpPr txBox="1"/>
          <p:nvPr/>
        </p:nvSpPr>
        <p:spPr>
          <a:xfrm>
            <a:off x="3048000" y="4295335"/>
            <a:ext cx="12234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{6, 4}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7C3C2A-9CC4-3EC3-BE4D-932F2F823DD2}"/>
              </a:ext>
            </a:extLst>
          </p:cNvPr>
          <p:cNvSpPr txBox="1"/>
          <p:nvPr/>
        </p:nvSpPr>
        <p:spPr>
          <a:xfrm>
            <a:off x="3048001" y="4730661"/>
            <a:ext cx="9412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{2}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855207-0C07-CE9D-B0CE-E65473E97BFC}"/>
              </a:ext>
            </a:extLst>
          </p:cNvPr>
          <p:cNvSpPr txBox="1"/>
          <p:nvPr/>
        </p:nvSpPr>
        <p:spPr>
          <a:xfrm>
            <a:off x="3048000" y="5161548"/>
            <a:ext cx="12234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{2, 4}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66D5C6-A59A-390A-BB81-AEAF4E463B40}"/>
              </a:ext>
            </a:extLst>
          </p:cNvPr>
          <p:cNvSpPr txBox="1"/>
          <p:nvPr/>
        </p:nvSpPr>
        <p:spPr>
          <a:xfrm>
            <a:off x="3048001" y="5592435"/>
            <a:ext cx="12234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{2, 6}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A03EA8-F80D-41C9-0C40-3E0A4F737D84}"/>
              </a:ext>
            </a:extLst>
          </p:cNvPr>
          <p:cNvSpPr txBox="1"/>
          <p:nvPr/>
        </p:nvSpPr>
        <p:spPr>
          <a:xfrm>
            <a:off x="3048000" y="6023322"/>
            <a:ext cx="15055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{2, 6, 4}</a:t>
            </a:r>
          </a:p>
        </p:txBody>
      </p:sp>
    </p:spTree>
    <p:extLst>
      <p:ext uri="{BB962C8B-B14F-4D97-AF65-F5344CB8AC3E}">
        <p14:creationId xmlns:p14="http://schemas.microsoft.com/office/powerpoint/2010/main" val="248891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POWER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58224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Power set of a set S is the set of all subsets of 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A61E06-0FB2-77FB-614E-668FE2459DCC}"/>
              </a:ext>
            </a:extLst>
          </p:cNvPr>
          <p:cNvSpPr txBox="1"/>
          <p:nvPr/>
        </p:nvSpPr>
        <p:spPr>
          <a:xfrm>
            <a:off x="457200" y="2133600"/>
            <a:ext cx="21403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S = {2, 7}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1F2D5-99BF-59D0-2647-2B58504FAD8D}"/>
              </a:ext>
            </a:extLst>
          </p:cNvPr>
          <p:cNvSpPr txBox="1"/>
          <p:nvPr/>
        </p:nvSpPr>
        <p:spPr>
          <a:xfrm>
            <a:off x="457200" y="2658122"/>
            <a:ext cx="54393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Power set of S, P(S) = {∅, {2}, {7}, {2, 7}}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FFE250-49CC-1C21-AFEB-DE12281F7A30}"/>
              </a:ext>
            </a:extLst>
          </p:cNvPr>
          <p:cNvSpPr txBox="1"/>
          <p:nvPr/>
        </p:nvSpPr>
        <p:spPr>
          <a:xfrm>
            <a:off x="457200" y="3191522"/>
            <a:ext cx="17075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|P(S)| = 2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|S|</a:t>
            </a:r>
          </a:p>
        </p:txBody>
      </p:sp>
    </p:spTree>
    <p:extLst>
      <p:ext uri="{BB962C8B-B14F-4D97-AF65-F5344CB8AC3E}">
        <p14:creationId xmlns:p14="http://schemas.microsoft.com/office/powerpoint/2010/main" val="21576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ORDERED TUPLE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68050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set theory many times ordered collection is important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C2AA4-7DD1-EFA3-403F-002F5BBEE643}"/>
              </a:ext>
            </a:extLst>
          </p:cNvPr>
          <p:cNvSpPr txBox="1"/>
          <p:nvPr/>
        </p:nvSpPr>
        <p:spPr>
          <a:xfrm>
            <a:off x="457200" y="2056980"/>
            <a:ext cx="50642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ordered collection is known as tuple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33B60-96B6-863D-75F7-ABBC869322A8}"/>
              </a:ext>
            </a:extLst>
          </p:cNvPr>
          <p:cNvSpPr txBox="1"/>
          <p:nvPr/>
        </p:nvSpPr>
        <p:spPr>
          <a:xfrm>
            <a:off x="457200" y="2471071"/>
            <a:ext cx="3512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tuple is enclosed with (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D3AD5-4C2A-8185-CCF3-0516D9533FF0}"/>
              </a:ext>
            </a:extLst>
          </p:cNvPr>
          <p:cNvSpPr txBox="1"/>
          <p:nvPr/>
        </p:nvSpPr>
        <p:spPr>
          <a:xfrm>
            <a:off x="457200" y="2904917"/>
            <a:ext cx="82044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(a, b, c) is a ordered tuple where a is the first and c is the last element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EF81A0-E301-CCB8-8250-BAAF07FB84AD}"/>
              </a:ext>
            </a:extLst>
          </p:cNvPr>
          <p:cNvSpPr txBox="1"/>
          <p:nvPr/>
        </p:nvSpPr>
        <p:spPr>
          <a:xfrm>
            <a:off x="457200" y="3370895"/>
            <a:ext cx="33986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a ≠ b then (a, b) ≠</a:t>
            </a:r>
            <a:r>
              <a:rPr lang="en-US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(b, 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FC562C-A87E-8248-45C8-A2DB22CF9A1F}"/>
              </a:ext>
            </a:extLst>
          </p:cNvPr>
          <p:cNvSpPr txBox="1"/>
          <p:nvPr/>
        </p:nvSpPr>
        <p:spPr>
          <a:xfrm>
            <a:off x="457200" y="3854767"/>
            <a:ext cx="65208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Two tuples (a, b, c) and (p, q, r) is equal if and only if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AE1EFB-9B6D-E1B6-3922-DA1E446A80D6}"/>
              </a:ext>
            </a:extLst>
          </p:cNvPr>
          <p:cNvSpPr txBox="1"/>
          <p:nvPr/>
        </p:nvSpPr>
        <p:spPr>
          <a:xfrm>
            <a:off x="838200" y="4373730"/>
            <a:ext cx="10967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= 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0C1565-71AD-DB09-A2A7-C36632EEA851}"/>
              </a:ext>
            </a:extLst>
          </p:cNvPr>
          <p:cNvSpPr txBox="1"/>
          <p:nvPr/>
        </p:nvSpPr>
        <p:spPr>
          <a:xfrm>
            <a:off x="2908145" y="4373730"/>
            <a:ext cx="11128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 = q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6B51C0-78D4-1CCA-B4AC-F2114E769CF3}"/>
              </a:ext>
            </a:extLst>
          </p:cNvPr>
          <p:cNvSpPr txBox="1"/>
          <p:nvPr/>
        </p:nvSpPr>
        <p:spPr>
          <a:xfrm>
            <a:off x="5111215" y="4373730"/>
            <a:ext cx="10502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 = 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E9C99-E931-89DD-D8B6-2FABE2C6FC4C}"/>
              </a:ext>
            </a:extLst>
          </p:cNvPr>
          <p:cNvSpPr txBox="1"/>
          <p:nvPr/>
        </p:nvSpPr>
        <p:spPr>
          <a:xfrm>
            <a:off x="457200" y="4892693"/>
            <a:ext cx="68119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ordered tuple with two elements is called ordered pair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4BA9E9-009F-1C15-2C2B-C54C2F88D6B4}"/>
              </a:ext>
            </a:extLst>
          </p:cNvPr>
          <p:cNvSpPr txBox="1"/>
          <p:nvPr/>
        </p:nvSpPr>
        <p:spPr>
          <a:xfrm>
            <a:off x="838200" y="5376481"/>
            <a:ext cx="52180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(a, b) is an ordered pair but (a, b, c) is not</a:t>
            </a:r>
          </a:p>
        </p:txBody>
      </p:sp>
    </p:spTree>
    <p:extLst>
      <p:ext uri="{BB962C8B-B14F-4D97-AF65-F5344CB8AC3E}">
        <p14:creationId xmlns:p14="http://schemas.microsoft.com/office/powerpoint/2010/main" val="408821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0" grpId="0"/>
      <p:bldP spid="11" grpId="0"/>
      <p:bldP spid="12" grpId="0"/>
      <p:bldP spid="13" grpId="0"/>
      <p:bldP spid="1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CARTESIAN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51789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Cartesian products of two sets A and B is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02441-806A-F3DA-E827-D70EEDECEB05}"/>
              </a:ext>
            </a:extLst>
          </p:cNvPr>
          <p:cNvSpPr txBox="1"/>
          <p:nvPr/>
        </p:nvSpPr>
        <p:spPr>
          <a:xfrm>
            <a:off x="838200" y="2064000"/>
            <a:ext cx="6940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set of all ordered pairs (a, b), where a ∈ A and b ∈ 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D67349-AB3C-9914-1D43-F82DA6505654}"/>
              </a:ext>
            </a:extLst>
          </p:cNvPr>
          <p:cNvSpPr txBox="1"/>
          <p:nvPr/>
        </p:nvSpPr>
        <p:spPr>
          <a:xfrm>
            <a:off x="838200" y="2506742"/>
            <a:ext cx="25515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Denoted by A x 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9291ED-083E-B93D-46C1-0F6FE1B5ACE7}"/>
              </a:ext>
            </a:extLst>
          </p:cNvPr>
          <p:cNvSpPr txBox="1"/>
          <p:nvPr/>
        </p:nvSpPr>
        <p:spPr>
          <a:xfrm>
            <a:off x="457200" y="3097627"/>
            <a:ext cx="40688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x B = {(a, b) | a ∈ A </a:t>
            </a:r>
            <a:r>
              <a:rPr lang="el-GR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 ∈ B}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B936D3-6C1B-870A-4A06-214EFB74E892}"/>
              </a:ext>
            </a:extLst>
          </p:cNvPr>
          <p:cNvSpPr txBox="1"/>
          <p:nvPr/>
        </p:nvSpPr>
        <p:spPr>
          <a:xfrm>
            <a:off x="457200" y="3627188"/>
            <a:ext cx="70512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Cartesian product of A = {1, 2} and B = {a, b, c}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CEF91E-08A6-0A93-6254-72A42EE7A01E}"/>
              </a:ext>
            </a:extLst>
          </p:cNvPr>
          <p:cNvSpPr txBox="1"/>
          <p:nvPr/>
        </p:nvSpPr>
        <p:spPr>
          <a:xfrm>
            <a:off x="838200" y="4149912"/>
            <a:ext cx="60729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x B = {(1, a), (1, b), (1, c), (2, a), (2, b), (2, c)}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7BE9A6-3A92-4567-46D0-72A20560C3B5}"/>
              </a:ext>
            </a:extLst>
          </p:cNvPr>
          <p:cNvSpPr txBox="1"/>
          <p:nvPr/>
        </p:nvSpPr>
        <p:spPr>
          <a:xfrm>
            <a:off x="457200" y="4770409"/>
            <a:ext cx="73012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Cartesian product of B = {a, b, c} and A = {1, 2}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CC7AED-6BE6-E1D9-E0D5-4DF6361B8F71}"/>
              </a:ext>
            </a:extLst>
          </p:cNvPr>
          <p:cNvSpPr txBox="1"/>
          <p:nvPr/>
        </p:nvSpPr>
        <p:spPr>
          <a:xfrm>
            <a:off x="838200" y="5293133"/>
            <a:ext cx="60729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 x A = {(a, 1), (a, 2), (b, 1), (b, 2), (c, 1), (c, 2)}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4D70A-23D6-2871-C5C3-DEDED0810477}"/>
              </a:ext>
            </a:extLst>
          </p:cNvPr>
          <p:cNvSpPr txBox="1"/>
          <p:nvPr/>
        </p:nvSpPr>
        <p:spPr>
          <a:xfrm>
            <a:off x="457200" y="5887859"/>
            <a:ext cx="83404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 (1, a) and (a, 1) not equal, means the elements of A x B and B x A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are different, hence A x B ≠ B x A</a:t>
            </a:r>
          </a:p>
        </p:txBody>
      </p:sp>
    </p:spTree>
    <p:extLst>
      <p:ext uri="{BB962C8B-B14F-4D97-AF65-F5344CB8AC3E}">
        <p14:creationId xmlns:p14="http://schemas.microsoft.com/office/powerpoint/2010/main" val="125762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CARTESIAN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64109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A x B x C; A = {0, 1}. B = {3, 2}, C = {5, 6, 7}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02441-806A-F3DA-E827-D70EEDECEB05}"/>
              </a:ext>
            </a:extLst>
          </p:cNvPr>
          <p:cNvSpPr txBox="1"/>
          <p:nvPr/>
        </p:nvSpPr>
        <p:spPr>
          <a:xfrm>
            <a:off x="838200" y="20640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{(0,3,5), (0,3,6), (0,3,7), (0,2,5), (0,2,6), (0,2,7), (1,3,5), (1,3,6), (1,3,7), (1,2,5), (1,2,6), (1,2,7),}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EFC986-9157-2075-5050-2039A79C11DC}"/>
              </a:ext>
            </a:extLst>
          </p:cNvPr>
          <p:cNvSpPr txBox="1"/>
          <p:nvPr/>
        </p:nvSpPr>
        <p:spPr>
          <a:xfrm>
            <a:off x="457200" y="3124200"/>
            <a:ext cx="4381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Note that, A x B x C ≠ (A x B) x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8FE11-5F40-854F-CFD8-4BA971AC5C5A}"/>
              </a:ext>
            </a:extLst>
          </p:cNvPr>
          <p:cNvSpPr txBox="1"/>
          <p:nvPr/>
        </p:nvSpPr>
        <p:spPr>
          <a:xfrm>
            <a:off x="457200" y="3630402"/>
            <a:ext cx="42949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A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A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where A = {0, 1}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F1B06-2FDB-34BE-36E7-69B203556604}"/>
              </a:ext>
            </a:extLst>
          </p:cNvPr>
          <p:cNvSpPr txBox="1"/>
          <p:nvPr/>
        </p:nvSpPr>
        <p:spPr>
          <a:xfrm>
            <a:off x="838200" y="4136604"/>
            <a:ext cx="1771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A x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10136-B782-1A79-77F0-DF6E8443E0EE}"/>
              </a:ext>
            </a:extLst>
          </p:cNvPr>
          <p:cNvSpPr txBox="1"/>
          <p:nvPr/>
        </p:nvSpPr>
        <p:spPr>
          <a:xfrm>
            <a:off x="2647735" y="4136604"/>
            <a:ext cx="20810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{0, 1} x {0, 1}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168B32-E062-CE5F-1813-FEFD61D1E231}"/>
              </a:ext>
            </a:extLst>
          </p:cNvPr>
          <p:cNvSpPr txBox="1"/>
          <p:nvPr/>
        </p:nvSpPr>
        <p:spPr>
          <a:xfrm>
            <a:off x="1143000" y="4567491"/>
            <a:ext cx="33441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{(0,0), (0,1), (1,0), (1,1)}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E211BE-1BC0-2814-911A-12AEC475E834}"/>
              </a:ext>
            </a:extLst>
          </p:cNvPr>
          <p:cNvSpPr txBox="1"/>
          <p:nvPr/>
        </p:nvSpPr>
        <p:spPr>
          <a:xfrm>
            <a:off x="838200" y="5133707"/>
            <a:ext cx="22259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A x A x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24376A-B223-1922-060A-98F2E43CC970}"/>
              </a:ext>
            </a:extLst>
          </p:cNvPr>
          <p:cNvSpPr txBox="1"/>
          <p:nvPr/>
        </p:nvSpPr>
        <p:spPr>
          <a:xfrm>
            <a:off x="3124200" y="5133707"/>
            <a:ext cx="30556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{0, 1} x {0, 1} x {0, 1}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DD72AD-2DBD-F813-DD8B-A5BA43DC5AAE}"/>
              </a:ext>
            </a:extLst>
          </p:cNvPr>
          <p:cNvSpPr txBox="1"/>
          <p:nvPr/>
        </p:nvSpPr>
        <p:spPr>
          <a:xfrm>
            <a:off x="1143000" y="5564594"/>
            <a:ext cx="7839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{(0,0,0), (0,0,1), (0,1,0), (0,1,1), {(1,0,0), (1,0,1), (1,1,0), (1,1,1)}</a:t>
            </a:r>
          </a:p>
        </p:txBody>
      </p:sp>
    </p:spTree>
    <p:extLst>
      <p:ext uri="{BB962C8B-B14F-4D97-AF65-F5344CB8AC3E}">
        <p14:creationId xmlns:p14="http://schemas.microsoft.com/office/powerpoint/2010/main" val="188525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4" grpId="0"/>
      <p:bldP spid="5" grpId="0"/>
      <p:bldP spid="6" grpId="0"/>
      <p:bldP spid="7" grpId="0"/>
      <p:bldP spid="8" grpId="0"/>
      <p:bldP spid="12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200" dirty="0"/>
              <a:t>SET NOTATION WITH QUANTIFIERS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3879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do the statement mean?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2C0072-B610-59EC-06B0-31CE889E98E5}"/>
              </a:ext>
            </a:extLst>
          </p:cNvPr>
          <p:cNvSpPr txBox="1"/>
          <p:nvPr/>
        </p:nvSpPr>
        <p:spPr>
          <a:xfrm>
            <a:off x="838200" y="2031087"/>
            <a:ext cx="20714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∈ 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≥ 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B7FDB3-D563-D33E-1682-8363FD2D60E4}"/>
              </a:ext>
            </a:extLst>
          </p:cNvPr>
          <p:cNvSpPr txBox="1"/>
          <p:nvPr/>
        </p:nvSpPr>
        <p:spPr>
          <a:xfrm>
            <a:off x="838200" y="2590800"/>
            <a:ext cx="51603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statement states that, for all x, 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≥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9B957C-49C4-B3DE-CBD0-595E0AA6404B}"/>
              </a:ext>
            </a:extLst>
          </p:cNvPr>
          <p:cNvSpPr txBox="1"/>
          <p:nvPr/>
        </p:nvSpPr>
        <p:spPr>
          <a:xfrm>
            <a:off x="838200" y="3150513"/>
            <a:ext cx="49263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Where the domain of x is real numbers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99C3C2-4141-2166-CD5F-AFB61258F79A}"/>
              </a:ext>
            </a:extLst>
          </p:cNvPr>
          <p:cNvSpPr txBox="1"/>
          <p:nvPr/>
        </p:nvSpPr>
        <p:spPr>
          <a:xfrm>
            <a:off x="834887" y="3733800"/>
            <a:ext cx="59073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 other words, for every real number x, 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≥ 0</a:t>
            </a:r>
          </a:p>
        </p:txBody>
      </p:sp>
    </p:spTree>
    <p:extLst>
      <p:ext uri="{BB962C8B-B14F-4D97-AF65-F5344CB8AC3E}">
        <p14:creationId xmlns:p14="http://schemas.microsoft.com/office/powerpoint/2010/main" val="186206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TRUTH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53735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a predicate/propositional function P(x)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081BB-E762-88BA-27EF-924935FA27F1}"/>
              </a:ext>
            </a:extLst>
          </p:cNvPr>
          <p:cNvSpPr txBox="1"/>
          <p:nvPr/>
        </p:nvSpPr>
        <p:spPr>
          <a:xfrm>
            <a:off x="762000" y="2057400"/>
            <a:ext cx="73965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truth set of P(x) is the set of the elements of x in domain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A8BA49-50AC-6BDB-04A0-D736C160F9B4}"/>
              </a:ext>
            </a:extLst>
          </p:cNvPr>
          <p:cNvSpPr txBox="1"/>
          <p:nvPr/>
        </p:nvSpPr>
        <p:spPr>
          <a:xfrm>
            <a:off x="762000" y="2502495"/>
            <a:ext cx="30091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which P(x) is true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08B61-2F7B-19BF-95BE-5A1166C3D978}"/>
              </a:ext>
            </a:extLst>
          </p:cNvPr>
          <p:cNvSpPr txBox="1"/>
          <p:nvPr/>
        </p:nvSpPr>
        <p:spPr>
          <a:xfrm>
            <a:off x="457199" y="2994991"/>
            <a:ext cx="81211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truth set of the following predicates where the domain is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16D50B-39DB-44FF-068A-79BAE2A81D65}"/>
              </a:ext>
            </a:extLst>
          </p:cNvPr>
          <p:cNvSpPr txBox="1"/>
          <p:nvPr/>
        </p:nvSpPr>
        <p:spPr>
          <a:xfrm>
            <a:off x="762000" y="3604591"/>
            <a:ext cx="18614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P(x): |x| = 1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B8052-DB37-1F0E-06BD-9FDB5574636D}"/>
              </a:ext>
            </a:extLst>
          </p:cNvPr>
          <p:cNvSpPr txBox="1"/>
          <p:nvPr/>
        </p:nvSpPr>
        <p:spPr>
          <a:xfrm>
            <a:off x="3939810" y="3604590"/>
            <a:ext cx="13179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{-1, 1}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78A227-8587-FF6B-CA95-FE5015295A09}"/>
              </a:ext>
            </a:extLst>
          </p:cNvPr>
          <p:cNvSpPr txBox="1"/>
          <p:nvPr/>
        </p:nvSpPr>
        <p:spPr>
          <a:xfrm>
            <a:off x="762000" y="4174338"/>
            <a:ext cx="18902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Q(x): 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2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99B320-1F01-C0A3-52D9-7A4DA1BC377D}"/>
              </a:ext>
            </a:extLst>
          </p:cNvPr>
          <p:cNvSpPr txBox="1"/>
          <p:nvPr/>
        </p:nvSpPr>
        <p:spPr>
          <a:xfrm>
            <a:off x="3939810" y="4174337"/>
            <a:ext cx="7088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∅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943391-A918-8384-4514-77651F6DFDBB}"/>
              </a:ext>
            </a:extLst>
          </p:cNvPr>
          <p:cNvSpPr txBox="1"/>
          <p:nvPr/>
        </p:nvSpPr>
        <p:spPr>
          <a:xfrm>
            <a:off x="762000" y="4744084"/>
            <a:ext cx="18918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R(x): |x| = x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E65E72-E1DE-0A6A-AE94-D7F2DE5ABDD6}"/>
              </a:ext>
            </a:extLst>
          </p:cNvPr>
          <p:cNvSpPr txBox="1"/>
          <p:nvPr/>
        </p:nvSpPr>
        <p:spPr>
          <a:xfrm>
            <a:off x="3939810" y="4744083"/>
            <a:ext cx="7344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25042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2" grpId="0"/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SET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4985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Operations to combine two or more sets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6F21D8E-ECB4-9F99-6B9A-2C9F66A8D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308541"/>
              </p:ext>
            </p:extLst>
          </p:nvPr>
        </p:nvGraphicFramePr>
        <p:xfrm>
          <a:off x="914400" y="2835775"/>
          <a:ext cx="5257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Notation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9598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6EEA1AD-2E3A-22DA-B212-3ED1C2A8EE3D}"/>
              </a:ext>
            </a:extLst>
          </p:cNvPr>
          <p:cNvSpPr txBox="1"/>
          <p:nvPr/>
        </p:nvSpPr>
        <p:spPr>
          <a:xfrm>
            <a:off x="457200" y="2037044"/>
            <a:ext cx="61423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A and B are two sets and U is the universal set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246038-5601-1F1A-1F28-1B76905AB0A9}"/>
              </a:ext>
            </a:extLst>
          </p:cNvPr>
          <p:cNvSpPr txBox="1"/>
          <p:nvPr/>
        </p:nvSpPr>
        <p:spPr>
          <a:xfrm>
            <a:off x="976310" y="3203618"/>
            <a:ext cx="8899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B71759-AF9D-28AC-D966-B89BC25DBCED}"/>
              </a:ext>
            </a:extLst>
          </p:cNvPr>
          <p:cNvSpPr txBox="1"/>
          <p:nvPr/>
        </p:nvSpPr>
        <p:spPr>
          <a:xfrm>
            <a:off x="3198710" y="3203616"/>
            <a:ext cx="3882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B47D10-0911-A4D6-0553-950A9CDD12CF}"/>
              </a:ext>
            </a:extLst>
          </p:cNvPr>
          <p:cNvSpPr txBox="1"/>
          <p:nvPr/>
        </p:nvSpPr>
        <p:spPr>
          <a:xfrm>
            <a:off x="4685450" y="3203616"/>
            <a:ext cx="9048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U 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69BD2F-6239-3F06-3664-B08138C4DA14}"/>
              </a:ext>
            </a:extLst>
          </p:cNvPr>
          <p:cNvSpPr txBox="1"/>
          <p:nvPr/>
        </p:nvSpPr>
        <p:spPr>
          <a:xfrm>
            <a:off x="986249" y="3579406"/>
            <a:ext cx="15167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Intersection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DA773A-401F-440A-B16A-2F82803111C2}"/>
              </a:ext>
            </a:extLst>
          </p:cNvPr>
          <p:cNvSpPr txBox="1"/>
          <p:nvPr/>
        </p:nvSpPr>
        <p:spPr>
          <a:xfrm>
            <a:off x="3208649" y="3579404"/>
            <a:ext cx="4026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⋂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C5CB68-921D-F465-EB2F-DBB135240AC5}"/>
              </a:ext>
            </a:extLst>
          </p:cNvPr>
          <p:cNvSpPr txBox="1"/>
          <p:nvPr/>
        </p:nvSpPr>
        <p:spPr>
          <a:xfrm>
            <a:off x="4695389" y="3579404"/>
            <a:ext cx="9192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⋂ 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6AEBFC-525F-78CF-E2CC-3FDD85B9531B}"/>
              </a:ext>
            </a:extLst>
          </p:cNvPr>
          <p:cNvSpPr txBox="1"/>
          <p:nvPr/>
        </p:nvSpPr>
        <p:spPr>
          <a:xfrm>
            <a:off x="989562" y="3982743"/>
            <a:ext cx="13866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Difference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0A2EF5-DCB5-4956-C857-89DEA7E98BC5}"/>
              </a:ext>
            </a:extLst>
          </p:cNvPr>
          <p:cNvSpPr txBox="1"/>
          <p:nvPr/>
        </p:nvSpPr>
        <p:spPr>
          <a:xfrm>
            <a:off x="3211962" y="3982741"/>
            <a:ext cx="2792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6F205D-C553-C231-B91D-A701259B63E6}"/>
              </a:ext>
            </a:extLst>
          </p:cNvPr>
          <p:cNvSpPr txBox="1"/>
          <p:nvPr/>
        </p:nvSpPr>
        <p:spPr>
          <a:xfrm>
            <a:off x="4698702" y="3982741"/>
            <a:ext cx="795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- 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1C39C3-26F9-FE52-4559-E02D3A5F181C}"/>
              </a:ext>
            </a:extLst>
          </p:cNvPr>
          <p:cNvSpPr txBox="1"/>
          <p:nvPr/>
        </p:nvSpPr>
        <p:spPr>
          <a:xfrm>
            <a:off x="972997" y="4378132"/>
            <a:ext cx="16417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Complement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AD2A96-56B4-7301-A079-61E8361640D6}"/>
              </a:ext>
            </a:extLst>
          </p:cNvPr>
          <p:cNvSpPr txBox="1"/>
          <p:nvPr/>
        </p:nvSpPr>
        <p:spPr>
          <a:xfrm>
            <a:off x="3195397" y="4378130"/>
            <a:ext cx="2792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53DDE1-6A3C-4D44-E1B0-80B2255EE8C1}"/>
              </a:ext>
            </a:extLst>
          </p:cNvPr>
          <p:cNvSpPr txBox="1"/>
          <p:nvPr/>
        </p:nvSpPr>
        <p:spPr>
          <a:xfrm>
            <a:off x="4682137" y="4378130"/>
            <a:ext cx="3882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Ā</a:t>
            </a:r>
          </a:p>
        </p:txBody>
      </p:sp>
    </p:spTree>
    <p:extLst>
      <p:ext uri="{BB962C8B-B14F-4D97-AF65-F5344CB8AC3E}">
        <p14:creationId xmlns:p14="http://schemas.microsoft.com/office/powerpoint/2010/main" val="352200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UNION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33001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A and B are two 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1D10B-FB51-68AB-813B-6C5700E871C1}"/>
              </a:ext>
            </a:extLst>
          </p:cNvPr>
          <p:cNvSpPr txBox="1"/>
          <p:nvPr/>
        </p:nvSpPr>
        <p:spPr>
          <a:xfrm>
            <a:off x="457200" y="2098546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Union of A and B is the set that contains elements present in either A or B or both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7A0B8-BD1C-8876-DFE2-6A08E1294DF6}"/>
              </a:ext>
            </a:extLst>
          </p:cNvPr>
          <p:cNvSpPr txBox="1"/>
          <p:nvPr/>
        </p:nvSpPr>
        <p:spPr>
          <a:xfrm>
            <a:off x="457200" y="2935446"/>
            <a:ext cx="25564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Denoted by A U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21DB5-4E66-0FC5-5D4B-013B028B2F9A}"/>
              </a:ext>
            </a:extLst>
          </p:cNvPr>
          <p:cNvSpPr txBox="1"/>
          <p:nvPr/>
        </p:nvSpPr>
        <p:spPr>
          <a:xfrm>
            <a:off x="457199" y="3491668"/>
            <a:ext cx="38531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U B = {x | x ∈ A  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x ∈ B}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4BA5F-E756-4F00-4055-D7CA878E8291}"/>
              </a:ext>
            </a:extLst>
          </p:cNvPr>
          <p:cNvSpPr txBox="1"/>
          <p:nvPr/>
        </p:nvSpPr>
        <p:spPr>
          <a:xfrm>
            <a:off x="457199" y="4041175"/>
            <a:ext cx="4447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A = {1, 3, 5} and B = {1, 2, 3}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B3A24-97C2-150E-0174-682AF9798B08}"/>
              </a:ext>
            </a:extLst>
          </p:cNvPr>
          <p:cNvSpPr txBox="1"/>
          <p:nvPr/>
        </p:nvSpPr>
        <p:spPr>
          <a:xfrm>
            <a:off x="457199" y="4546236"/>
            <a:ext cx="35951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Hence, A U B = {1, 2, 3, 5}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6C4F48-279A-CA6A-8235-35774017EEFE}"/>
              </a:ext>
            </a:extLst>
          </p:cNvPr>
          <p:cNvSpPr/>
          <p:nvPr/>
        </p:nvSpPr>
        <p:spPr>
          <a:xfrm>
            <a:off x="5334000" y="2918881"/>
            <a:ext cx="3352800" cy="198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A6CA12-8BA5-1FD6-1AB5-9C9495CCBBB3}"/>
              </a:ext>
            </a:extLst>
          </p:cNvPr>
          <p:cNvGrpSpPr/>
          <p:nvPr/>
        </p:nvGrpSpPr>
        <p:grpSpPr>
          <a:xfrm>
            <a:off x="5791200" y="3179827"/>
            <a:ext cx="2399855" cy="1485456"/>
            <a:chOff x="3505200" y="3047999"/>
            <a:chExt cx="2399855" cy="148545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165761A-0063-747F-5C1C-CA13181E2C58}"/>
                </a:ext>
              </a:extLst>
            </p:cNvPr>
            <p:cNvSpPr/>
            <p:nvPr/>
          </p:nvSpPr>
          <p:spPr>
            <a:xfrm>
              <a:off x="3505200" y="3048000"/>
              <a:ext cx="1485455" cy="14854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393071E-B606-5435-A4CF-4DB13A7827A4}"/>
                </a:ext>
              </a:extLst>
            </p:cNvPr>
            <p:cNvSpPr/>
            <p:nvPr/>
          </p:nvSpPr>
          <p:spPr>
            <a:xfrm>
              <a:off x="4419600" y="3047999"/>
              <a:ext cx="1485455" cy="14854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18637B2-6C13-6CDC-7888-5B2A1C052562}"/>
                </a:ext>
              </a:extLst>
            </p:cNvPr>
            <p:cNvCxnSpPr/>
            <p:nvPr/>
          </p:nvCxnSpPr>
          <p:spPr>
            <a:xfrm>
              <a:off x="3886200" y="3124200"/>
              <a:ext cx="6858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8B3968-279B-4702-7394-2A5550D7C537}"/>
                </a:ext>
              </a:extLst>
            </p:cNvPr>
            <p:cNvCxnSpPr>
              <a:cxnSpLocks/>
              <a:stCxn id="16" idx="1"/>
              <a:endCxn id="17" idx="7"/>
            </p:cNvCxnSpPr>
            <p:nvPr/>
          </p:nvCxnSpPr>
          <p:spPr>
            <a:xfrm flipV="1">
              <a:off x="3722740" y="3265539"/>
              <a:ext cx="1964775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953AD3C-9990-606C-C146-A8AC767812D8}"/>
                </a:ext>
              </a:extLst>
            </p:cNvPr>
            <p:cNvCxnSpPr>
              <a:cxnSpLocks/>
            </p:cNvCxnSpPr>
            <p:nvPr/>
          </p:nvCxnSpPr>
          <p:spPr>
            <a:xfrm>
              <a:off x="3586905" y="3427879"/>
              <a:ext cx="2204295" cy="11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FFABBFD-82EB-DB09-8032-BC7865B734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5200" y="3645420"/>
              <a:ext cx="2399855" cy="39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6512B22-45CB-9787-E186-A24FBD622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5200" y="3876817"/>
              <a:ext cx="2399855" cy="39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BE9ED6B-FF93-F362-B98D-B92E7A038BC8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4267200"/>
              <a:ext cx="20684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83D1737-A6F9-8EC4-29C5-FC2485F9CD24}"/>
                </a:ext>
              </a:extLst>
            </p:cNvPr>
            <p:cNvCxnSpPr>
              <a:cxnSpLocks/>
            </p:cNvCxnSpPr>
            <p:nvPr/>
          </p:nvCxnSpPr>
          <p:spPr>
            <a:xfrm>
              <a:off x="3586905" y="4108214"/>
              <a:ext cx="2204295" cy="11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D44A985-9329-C700-279B-6A2E33F9D6D4}"/>
                </a:ext>
              </a:extLst>
            </p:cNvPr>
            <p:cNvCxnSpPr>
              <a:cxnSpLocks/>
            </p:cNvCxnSpPr>
            <p:nvPr/>
          </p:nvCxnSpPr>
          <p:spPr>
            <a:xfrm>
              <a:off x="3824174" y="4414408"/>
              <a:ext cx="824026" cy="51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809AB16-F828-CD61-262B-7C064A5D0AC7}"/>
                </a:ext>
              </a:extLst>
            </p:cNvPr>
            <p:cNvCxnSpPr>
              <a:cxnSpLocks/>
            </p:cNvCxnSpPr>
            <p:nvPr/>
          </p:nvCxnSpPr>
          <p:spPr>
            <a:xfrm>
              <a:off x="4781327" y="4419600"/>
              <a:ext cx="76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9AE14C3-3991-DF3A-B87C-11BFD675EA6A}"/>
              </a:ext>
            </a:extLst>
          </p:cNvPr>
          <p:cNvSpPr txBox="1"/>
          <p:nvPr/>
        </p:nvSpPr>
        <p:spPr>
          <a:xfrm>
            <a:off x="5611413" y="4306667"/>
            <a:ext cx="3882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F6C97D-2484-2D46-6068-FC2E53031C97}"/>
              </a:ext>
            </a:extLst>
          </p:cNvPr>
          <p:cNvSpPr txBox="1"/>
          <p:nvPr/>
        </p:nvSpPr>
        <p:spPr>
          <a:xfrm>
            <a:off x="8114176" y="4306667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C0DFFE-E0AA-A8C0-631F-3DC2F377493B}"/>
              </a:ext>
            </a:extLst>
          </p:cNvPr>
          <p:cNvSpPr txBox="1"/>
          <p:nvPr/>
        </p:nvSpPr>
        <p:spPr>
          <a:xfrm>
            <a:off x="8098146" y="2969381"/>
            <a:ext cx="3882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370167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14" grpId="0" animBg="1"/>
      <p:bldP spid="27" grpId="0"/>
      <p:bldP spid="28" grpId="0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INTERSECTION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33001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A and B are two 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1D10B-FB51-68AB-813B-6C5700E871C1}"/>
              </a:ext>
            </a:extLst>
          </p:cNvPr>
          <p:cNvSpPr txBox="1"/>
          <p:nvPr/>
        </p:nvSpPr>
        <p:spPr>
          <a:xfrm>
            <a:off x="457200" y="2098546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Intersection of A and B is the set that contains elements present in both A and 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7A0B8-BD1C-8876-DFE2-6A08E1294DF6}"/>
              </a:ext>
            </a:extLst>
          </p:cNvPr>
          <p:cNvSpPr txBox="1"/>
          <p:nvPr/>
        </p:nvSpPr>
        <p:spPr>
          <a:xfrm>
            <a:off x="457200" y="2935446"/>
            <a:ext cx="25708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Denoted by A ⋂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21DB5-4E66-0FC5-5D4B-013B028B2F9A}"/>
              </a:ext>
            </a:extLst>
          </p:cNvPr>
          <p:cNvSpPr txBox="1"/>
          <p:nvPr/>
        </p:nvSpPr>
        <p:spPr>
          <a:xfrm>
            <a:off x="457199" y="3491668"/>
            <a:ext cx="38531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⋂ B = {x | x ∈ A  </a:t>
            </a:r>
            <a:r>
              <a:rPr lang="el-GR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x ∈ B}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4BA5F-E756-4F00-4055-D7CA878E8291}"/>
              </a:ext>
            </a:extLst>
          </p:cNvPr>
          <p:cNvSpPr txBox="1"/>
          <p:nvPr/>
        </p:nvSpPr>
        <p:spPr>
          <a:xfrm>
            <a:off x="457199" y="4041175"/>
            <a:ext cx="4447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A = {1, 3, 5} and B = {1, 2, 3}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B3A24-97C2-150E-0174-682AF9798B08}"/>
              </a:ext>
            </a:extLst>
          </p:cNvPr>
          <p:cNvSpPr txBox="1"/>
          <p:nvPr/>
        </p:nvSpPr>
        <p:spPr>
          <a:xfrm>
            <a:off x="457199" y="4546236"/>
            <a:ext cx="30453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Hence, A ⋂ B = {1, 3}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1FCD75-1EE6-82B7-2079-E33F815F828B}"/>
              </a:ext>
            </a:extLst>
          </p:cNvPr>
          <p:cNvSpPr/>
          <p:nvPr/>
        </p:nvSpPr>
        <p:spPr>
          <a:xfrm>
            <a:off x="5334000" y="2918881"/>
            <a:ext cx="3352800" cy="198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71EA4A-5BA5-F7DF-F3CC-B064650CFB57}"/>
              </a:ext>
            </a:extLst>
          </p:cNvPr>
          <p:cNvSpPr txBox="1"/>
          <p:nvPr/>
        </p:nvSpPr>
        <p:spPr>
          <a:xfrm>
            <a:off x="8098146" y="2969381"/>
            <a:ext cx="3882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4B3DBC-0BD7-9C8A-FA8E-C125E24E8735}"/>
              </a:ext>
            </a:extLst>
          </p:cNvPr>
          <p:cNvGrpSpPr/>
          <p:nvPr/>
        </p:nvGrpSpPr>
        <p:grpSpPr>
          <a:xfrm>
            <a:off x="5510280" y="3150889"/>
            <a:ext cx="3024120" cy="1573888"/>
            <a:chOff x="3193152" y="3047999"/>
            <a:chExt cx="3024120" cy="157388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47A99C8-1849-F3A7-C1F3-E37C801C6062}"/>
                </a:ext>
              </a:extLst>
            </p:cNvPr>
            <p:cNvSpPr/>
            <p:nvPr/>
          </p:nvSpPr>
          <p:spPr>
            <a:xfrm>
              <a:off x="3505200" y="3048000"/>
              <a:ext cx="1485455" cy="14854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C18936E-0247-C74A-F6F2-BA926461EBDF}"/>
                </a:ext>
              </a:extLst>
            </p:cNvPr>
            <p:cNvSpPr/>
            <p:nvPr/>
          </p:nvSpPr>
          <p:spPr>
            <a:xfrm>
              <a:off x="4419600" y="3047999"/>
              <a:ext cx="1485455" cy="14854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499ADB6-6E58-23A3-F541-9B62C68782AF}"/>
                </a:ext>
              </a:extLst>
            </p:cNvPr>
            <p:cNvCxnSpPr>
              <a:cxnSpLocks/>
              <a:stCxn id="13" idx="1"/>
              <a:endCxn id="12" idx="7"/>
            </p:cNvCxnSpPr>
            <p:nvPr/>
          </p:nvCxnSpPr>
          <p:spPr>
            <a:xfrm>
              <a:off x="4637140" y="3265539"/>
              <a:ext cx="135975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1C0D9F4-D5E2-4AC7-8BA4-06F25282799F}"/>
                </a:ext>
              </a:extLst>
            </p:cNvPr>
            <p:cNvCxnSpPr>
              <a:cxnSpLocks/>
            </p:cNvCxnSpPr>
            <p:nvPr/>
          </p:nvCxnSpPr>
          <p:spPr>
            <a:xfrm>
              <a:off x="4515073" y="3370421"/>
              <a:ext cx="36172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92C34F7-BA30-4A3C-F6E0-AD7FA85737C1}"/>
                </a:ext>
              </a:extLst>
            </p:cNvPr>
            <p:cNvCxnSpPr>
              <a:cxnSpLocks/>
            </p:cNvCxnSpPr>
            <p:nvPr/>
          </p:nvCxnSpPr>
          <p:spPr>
            <a:xfrm>
              <a:off x="4419600" y="3581400"/>
              <a:ext cx="5710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CC949FA-1FC4-D768-FD76-8F06101A543E}"/>
                </a:ext>
              </a:extLst>
            </p:cNvPr>
            <p:cNvCxnSpPr>
              <a:cxnSpLocks/>
            </p:cNvCxnSpPr>
            <p:nvPr/>
          </p:nvCxnSpPr>
          <p:spPr>
            <a:xfrm>
              <a:off x="4419600" y="3733800"/>
              <a:ext cx="5710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0C13A04-5245-3AF2-C418-C2B5BD9E7446}"/>
                </a:ext>
              </a:extLst>
            </p:cNvPr>
            <p:cNvCxnSpPr>
              <a:cxnSpLocks/>
            </p:cNvCxnSpPr>
            <p:nvPr/>
          </p:nvCxnSpPr>
          <p:spPr>
            <a:xfrm>
              <a:off x="4464672" y="4034104"/>
              <a:ext cx="510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6C36CBC-1327-0C22-FC75-9E4E9FCDBE13}"/>
                </a:ext>
              </a:extLst>
            </p:cNvPr>
            <p:cNvCxnSpPr>
              <a:cxnSpLocks/>
            </p:cNvCxnSpPr>
            <p:nvPr/>
          </p:nvCxnSpPr>
          <p:spPr>
            <a:xfrm>
              <a:off x="4419600" y="3886200"/>
              <a:ext cx="5710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4FBBD0A-92CA-3A7D-41E8-FDE3CE9AC6F3}"/>
                </a:ext>
              </a:extLst>
            </p:cNvPr>
            <p:cNvCxnSpPr>
              <a:cxnSpLocks/>
            </p:cNvCxnSpPr>
            <p:nvPr/>
          </p:nvCxnSpPr>
          <p:spPr>
            <a:xfrm>
              <a:off x="4515073" y="4191000"/>
              <a:ext cx="36172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DE81A5-E42F-E714-9C6D-4229617A66AC}"/>
                </a:ext>
              </a:extLst>
            </p:cNvPr>
            <p:cNvSpPr txBox="1"/>
            <p:nvPr/>
          </p:nvSpPr>
          <p:spPr>
            <a:xfrm>
              <a:off x="3193152" y="4108071"/>
              <a:ext cx="38824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19310C1-FFB4-ADB7-7621-481B2E6FF80C}"/>
                </a:ext>
              </a:extLst>
            </p:cNvPr>
            <p:cNvSpPr txBox="1"/>
            <p:nvPr/>
          </p:nvSpPr>
          <p:spPr>
            <a:xfrm>
              <a:off x="5845054" y="4191000"/>
              <a:ext cx="37221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726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 animBg="1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33001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A and B are two 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1D10B-FB51-68AB-813B-6C5700E871C1}"/>
              </a:ext>
            </a:extLst>
          </p:cNvPr>
          <p:cNvSpPr txBox="1"/>
          <p:nvPr/>
        </p:nvSpPr>
        <p:spPr>
          <a:xfrm>
            <a:off x="457200" y="2098546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Difference of A and B is the set that contains elements present in either A but not in 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7A0B8-BD1C-8876-DFE2-6A08E1294DF6}"/>
              </a:ext>
            </a:extLst>
          </p:cNvPr>
          <p:cNvSpPr txBox="1"/>
          <p:nvPr/>
        </p:nvSpPr>
        <p:spPr>
          <a:xfrm>
            <a:off x="457200" y="2935446"/>
            <a:ext cx="24474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Denoted by 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A -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21DB5-4E66-0FC5-5D4B-013B028B2F9A}"/>
              </a:ext>
            </a:extLst>
          </p:cNvPr>
          <p:cNvSpPr txBox="1"/>
          <p:nvPr/>
        </p:nvSpPr>
        <p:spPr>
          <a:xfrm>
            <a:off x="457199" y="3491668"/>
            <a:ext cx="36713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- B = {x | x ∈ A  </a:t>
            </a:r>
            <a:r>
              <a:rPr lang="el-GR" sz="2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x ∉ B}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4BA5F-E756-4F00-4055-D7CA878E8291}"/>
              </a:ext>
            </a:extLst>
          </p:cNvPr>
          <p:cNvSpPr txBox="1"/>
          <p:nvPr/>
        </p:nvSpPr>
        <p:spPr>
          <a:xfrm>
            <a:off x="457199" y="4041175"/>
            <a:ext cx="47300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A = {1, 7, 3, 5} and B = {1, 2, 3}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B3A24-97C2-150E-0174-682AF9798B08}"/>
              </a:ext>
            </a:extLst>
          </p:cNvPr>
          <p:cNvSpPr txBox="1"/>
          <p:nvPr/>
        </p:nvSpPr>
        <p:spPr>
          <a:xfrm>
            <a:off x="457199" y="4546236"/>
            <a:ext cx="30308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Hence, A U B = {7, 5}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6C4F48-279A-CA6A-8235-35774017EEFE}"/>
              </a:ext>
            </a:extLst>
          </p:cNvPr>
          <p:cNvSpPr/>
          <p:nvPr/>
        </p:nvSpPr>
        <p:spPr>
          <a:xfrm>
            <a:off x="5334000" y="2918881"/>
            <a:ext cx="3352800" cy="198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A6CA12-8BA5-1FD6-1AB5-9C9495CCBBB3}"/>
              </a:ext>
            </a:extLst>
          </p:cNvPr>
          <p:cNvGrpSpPr/>
          <p:nvPr/>
        </p:nvGrpSpPr>
        <p:grpSpPr>
          <a:xfrm>
            <a:off x="5791200" y="3179827"/>
            <a:ext cx="2399855" cy="1485456"/>
            <a:chOff x="3505200" y="3047999"/>
            <a:chExt cx="2399855" cy="148545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165761A-0063-747F-5C1C-CA13181E2C58}"/>
                </a:ext>
              </a:extLst>
            </p:cNvPr>
            <p:cNvSpPr/>
            <p:nvPr/>
          </p:nvSpPr>
          <p:spPr>
            <a:xfrm>
              <a:off x="3505200" y="3048000"/>
              <a:ext cx="1485455" cy="14854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393071E-B606-5435-A4CF-4DB13A7827A4}"/>
                </a:ext>
              </a:extLst>
            </p:cNvPr>
            <p:cNvSpPr/>
            <p:nvPr/>
          </p:nvSpPr>
          <p:spPr>
            <a:xfrm>
              <a:off x="4419600" y="3047999"/>
              <a:ext cx="1485455" cy="14854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18637B2-6C13-6CDC-7888-5B2A1C052562}"/>
                </a:ext>
              </a:extLst>
            </p:cNvPr>
            <p:cNvCxnSpPr/>
            <p:nvPr/>
          </p:nvCxnSpPr>
          <p:spPr>
            <a:xfrm>
              <a:off x="3886200" y="3124200"/>
              <a:ext cx="6858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8B3968-279B-4702-7394-2A5550D7C537}"/>
                </a:ext>
              </a:extLst>
            </p:cNvPr>
            <p:cNvCxnSpPr>
              <a:cxnSpLocks/>
              <a:stCxn id="16" idx="1"/>
              <a:endCxn id="17" idx="1"/>
            </p:cNvCxnSpPr>
            <p:nvPr/>
          </p:nvCxnSpPr>
          <p:spPr>
            <a:xfrm flipV="1">
              <a:off x="3722740" y="3265539"/>
              <a:ext cx="914400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953AD3C-9990-606C-C146-A8AC767812D8}"/>
                </a:ext>
              </a:extLst>
            </p:cNvPr>
            <p:cNvCxnSpPr>
              <a:cxnSpLocks/>
            </p:cNvCxnSpPr>
            <p:nvPr/>
          </p:nvCxnSpPr>
          <p:spPr>
            <a:xfrm>
              <a:off x="3586905" y="3427879"/>
              <a:ext cx="9088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FFABBFD-82EB-DB09-8032-BC7865B73496}"/>
                </a:ext>
              </a:extLst>
            </p:cNvPr>
            <p:cNvCxnSpPr>
              <a:cxnSpLocks/>
            </p:cNvCxnSpPr>
            <p:nvPr/>
          </p:nvCxnSpPr>
          <p:spPr>
            <a:xfrm>
              <a:off x="3505200" y="3649362"/>
              <a:ext cx="914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6512B22-45CB-9787-E186-A24FBD622E3F}"/>
                </a:ext>
              </a:extLst>
            </p:cNvPr>
            <p:cNvCxnSpPr>
              <a:cxnSpLocks/>
            </p:cNvCxnSpPr>
            <p:nvPr/>
          </p:nvCxnSpPr>
          <p:spPr>
            <a:xfrm>
              <a:off x="3505200" y="3878337"/>
              <a:ext cx="914400" cy="302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BE9ED6B-FF93-F362-B98D-B92E7A038BC8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4267200"/>
              <a:ext cx="914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83D1737-A6F9-8EC4-29C5-FC2485F9CD24}"/>
                </a:ext>
              </a:extLst>
            </p:cNvPr>
            <p:cNvCxnSpPr>
              <a:cxnSpLocks/>
            </p:cNvCxnSpPr>
            <p:nvPr/>
          </p:nvCxnSpPr>
          <p:spPr>
            <a:xfrm>
              <a:off x="3586905" y="4108214"/>
              <a:ext cx="908895" cy="6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D44A985-9329-C700-279B-6A2E33F9D6D4}"/>
                </a:ext>
              </a:extLst>
            </p:cNvPr>
            <p:cNvCxnSpPr>
              <a:cxnSpLocks/>
            </p:cNvCxnSpPr>
            <p:nvPr/>
          </p:nvCxnSpPr>
          <p:spPr>
            <a:xfrm>
              <a:off x="3824174" y="4414408"/>
              <a:ext cx="824026" cy="51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9AE14C3-3991-DF3A-B87C-11BFD675EA6A}"/>
              </a:ext>
            </a:extLst>
          </p:cNvPr>
          <p:cNvSpPr txBox="1"/>
          <p:nvPr/>
        </p:nvSpPr>
        <p:spPr>
          <a:xfrm>
            <a:off x="5611413" y="4306667"/>
            <a:ext cx="3882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F6C97D-2484-2D46-6068-FC2E53031C97}"/>
              </a:ext>
            </a:extLst>
          </p:cNvPr>
          <p:cNvSpPr txBox="1"/>
          <p:nvPr/>
        </p:nvSpPr>
        <p:spPr>
          <a:xfrm>
            <a:off x="8114176" y="4306667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C0DFFE-E0AA-A8C0-631F-3DC2F377493B}"/>
              </a:ext>
            </a:extLst>
          </p:cNvPr>
          <p:cNvSpPr txBox="1"/>
          <p:nvPr/>
        </p:nvSpPr>
        <p:spPr>
          <a:xfrm>
            <a:off x="8098146" y="2969381"/>
            <a:ext cx="3882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243557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14" grpId="0" animBg="1"/>
      <p:bldP spid="27" grpId="0"/>
      <p:bldP spid="28" grpId="0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COMPLEMENT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51324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A is the set and U is the universal 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1D10B-FB51-68AB-813B-6C5700E871C1}"/>
              </a:ext>
            </a:extLst>
          </p:cNvPr>
          <p:cNvSpPr txBox="1"/>
          <p:nvPr/>
        </p:nvSpPr>
        <p:spPr>
          <a:xfrm>
            <a:off x="457200" y="2098546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Complement of A is the set that contains elements present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but not in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F7A0B8-BD1C-8876-DFE2-6A08E1294DF6}"/>
                  </a:ext>
                </a:extLst>
              </p:cNvPr>
              <p:cNvSpPr txBox="1"/>
              <p:nvPr/>
            </p:nvSpPr>
            <p:spPr>
              <a:xfrm>
                <a:off x="457200" y="2935446"/>
                <a:ext cx="2032479" cy="4316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Denoted by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F7A0B8-BD1C-8876-DFE2-6A08E1294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935446"/>
                <a:ext cx="2032479" cy="431657"/>
              </a:xfrm>
              <a:prstGeom prst="rect">
                <a:avLst/>
              </a:prstGeom>
              <a:blipFill>
                <a:blip r:embed="rId2"/>
                <a:stretch>
                  <a:fillRect l="-3303" t="-10000" r="-15916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021DB5-4E66-0FC5-5D4B-013B028B2F9A}"/>
                  </a:ext>
                </a:extLst>
              </p:cNvPr>
              <p:cNvSpPr txBox="1"/>
              <p:nvPr/>
            </p:nvSpPr>
            <p:spPr>
              <a:xfrm>
                <a:off x="457199" y="3491668"/>
                <a:ext cx="4144211" cy="4316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U - A = {x | x ∈ U  </a:t>
                </a:r>
                <a:r>
                  <a:rPr lang="el-GR" sz="2200" baseline="30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x ∉ A}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021DB5-4E66-0FC5-5D4B-013B028B2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3491668"/>
                <a:ext cx="4144211" cy="431657"/>
              </a:xfrm>
              <a:prstGeom prst="rect">
                <a:avLst/>
              </a:prstGeom>
              <a:blipFill>
                <a:blip r:embed="rId3"/>
                <a:stretch>
                  <a:fillRect l="-1618" t="-11268" r="-1618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704BA5F-E756-4F00-4055-D7CA878E8291}"/>
              </a:ext>
            </a:extLst>
          </p:cNvPr>
          <p:cNvSpPr txBox="1"/>
          <p:nvPr/>
        </p:nvSpPr>
        <p:spPr>
          <a:xfrm>
            <a:off x="457199" y="4041175"/>
            <a:ext cx="47300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U = {1, 7, 3, 5} and A = {1, 2, 3}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CB3A24-97C2-150E-0174-682AF9798B08}"/>
                  </a:ext>
                </a:extLst>
              </p:cNvPr>
              <p:cNvSpPr txBox="1"/>
              <p:nvPr/>
            </p:nvSpPr>
            <p:spPr>
              <a:xfrm>
                <a:off x="457199" y="4546236"/>
                <a:ext cx="2498954" cy="4316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Hence,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{7, 5}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CB3A24-97C2-150E-0174-682AF9798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4546236"/>
                <a:ext cx="2498954" cy="431657"/>
              </a:xfrm>
              <a:prstGeom prst="rect">
                <a:avLst/>
              </a:prstGeom>
              <a:blipFill>
                <a:blip r:embed="rId4"/>
                <a:stretch>
                  <a:fillRect l="-2683" t="-9859" r="-243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456C4F48-279A-CA6A-8235-35774017EEFE}"/>
              </a:ext>
            </a:extLst>
          </p:cNvPr>
          <p:cNvSpPr/>
          <p:nvPr/>
        </p:nvSpPr>
        <p:spPr>
          <a:xfrm>
            <a:off x="5334000" y="2918881"/>
            <a:ext cx="3352800" cy="1981200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E14C3-3991-DF3A-B87C-11BFD675EA6A}"/>
              </a:ext>
            </a:extLst>
          </p:cNvPr>
          <p:cNvSpPr txBox="1"/>
          <p:nvPr/>
        </p:nvSpPr>
        <p:spPr>
          <a:xfrm>
            <a:off x="5970291" y="4256618"/>
            <a:ext cx="3882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C0DFFE-E0AA-A8C0-631F-3DC2F377493B}"/>
              </a:ext>
            </a:extLst>
          </p:cNvPr>
          <p:cNvSpPr txBox="1"/>
          <p:nvPr/>
        </p:nvSpPr>
        <p:spPr>
          <a:xfrm>
            <a:off x="8098146" y="2969381"/>
            <a:ext cx="3882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F1A331-CC0B-E10D-FF9E-148736222655}"/>
              </a:ext>
            </a:extLst>
          </p:cNvPr>
          <p:cNvSpPr/>
          <p:nvPr/>
        </p:nvSpPr>
        <p:spPr>
          <a:xfrm>
            <a:off x="6125153" y="3109381"/>
            <a:ext cx="1600200" cy="1600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6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14" grpId="0" animBg="1"/>
      <p:bldP spid="27" grpId="0"/>
      <p:bldP spid="29" grpId="0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SET IDENTITIES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9">
                <a:extLst>
                  <a:ext uri="{FF2B5EF4-FFF2-40B4-BE49-F238E27FC236}">
                    <a16:creationId xmlns:a16="http://schemas.microsoft.com/office/drawing/2014/main" id="{4F0DEAB0-8813-62FF-F86C-F958559E86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3795039"/>
                  </p:ext>
                </p:extLst>
              </p:nvPr>
            </p:nvGraphicFramePr>
            <p:xfrm>
              <a:off x="609600" y="1676400"/>
              <a:ext cx="7239000" cy="47961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81400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Name of Law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Equivalence</a:t>
                          </a: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Identity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A ⋂ U = A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U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∅ = A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4393565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Domination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A U U = U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∅ = ∅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8832727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Idempotent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U A =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861200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=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8969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Complementation law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d>
                                      <m:dPr>
                                        <m:ctrlPr>
                                          <a:rPr lang="en-US" sz="2000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000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0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</m:acc>
                                <m:r>
                                  <a:rPr lang="en-US" sz="2000" b="0" i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3277663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Commutative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U B = B U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35822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B = B ⋂ A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0834198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Associative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U (B U C) = (A U B) U 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182479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(B ⋂ C) = (A ⋂ B) ⋂ C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81108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9">
                <a:extLst>
                  <a:ext uri="{FF2B5EF4-FFF2-40B4-BE49-F238E27FC236}">
                    <a16:creationId xmlns:a16="http://schemas.microsoft.com/office/drawing/2014/main" id="{4F0DEAB0-8813-62FF-F86C-F958559E86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3795039"/>
                  </p:ext>
                </p:extLst>
              </p:nvPr>
            </p:nvGraphicFramePr>
            <p:xfrm>
              <a:off x="609600" y="1676400"/>
              <a:ext cx="7239000" cy="47961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81400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Name of Law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Equivalence</a:t>
                          </a: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962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Identity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A ⋂ U = A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U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∅ = A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4393565"/>
                      </a:ext>
                    </a:extLst>
                  </a:tr>
                  <a:tr h="3962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Domination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A U U = U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∅ = ∅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8832727"/>
                      </a:ext>
                    </a:extLst>
                  </a:tr>
                  <a:tr h="3962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Idempotent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U A =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8612006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=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896986"/>
                      </a:ext>
                    </a:extLst>
                  </a:tr>
                  <a:tr h="4375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Complementation law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8333" t="-638889" r="-333" b="-386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3277663"/>
                      </a:ext>
                    </a:extLst>
                  </a:tr>
                  <a:tr h="3962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Commutative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U B = B U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358221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B = B ⋂ A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0834198"/>
                      </a:ext>
                    </a:extLst>
                  </a:tr>
                  <a:tr h="3962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Associative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U (B U C) = (A U B) U 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1824793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(B ⋂ C) = (A ⋂ B) ⋂ C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81108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1723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SET IDENTITIES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9">
                <a:extLst>
                  <a:ext uri="{FF2B5EF4-FFF2-40B4-BE49-F238E27FC236}">
                    <a16:creationId xmlns:a16="http://schemas.microsoft.com/office/drawing/2014/main" id="{4F0DEAB0-8813-62FF-F86C-F958559E86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4809314"/>
                  </p:ext>
                </p:extLst>
              </p:nvPr>
            </p:nvGraphicFramePr>
            <p:xfrm>
              <a:off x="609600" y="1676400"/>
              <a:ext cx="7924800" cy="35689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81400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4343400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Name of Law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Equivalence</a:t>
                          </a: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Distributive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U (B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C) = (A U B) ⋂ (A U C)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(B U C) = (A ⋂ B) U (A ⋂ C)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4393565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De Morgan’s Law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0" lang="en-US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sz="20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𝐴</m:t>
                                    </m:r>
                                    <m:r>
                                      <a:rPr kumimoji="0" lang="en-US" sz="20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∩</m:t>
                                    </m:r>
                                    <m:r>
                                      <a:rPr kumimoji="0" lang="en-US" sz="20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0" lang="en-US" sz="20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0" lang="en-US" sz="20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sz="20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0" lang="en-US" sz="20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∪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0" lang="en-US" sz="20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sz="20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0" lang="en-US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sz="20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𝐴</m:t>
                                    </m:r>
                                    <m:r>
                                      <a:rPr kumimoji="0" lang="en-US" sz="20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∪</m:t>
                                    </m:r>
                                    <m:r>
                                      <a:rPr kumimoji="0" lang="en-US" sz="20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kumimoji="0" lang="en-US" sz="20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0" lang="en-US" sz="20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sz="20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kumimoji="0" lang="en-US" sz="20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</a:rPr>
                                  <m:t>∩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0" lang="en-US" sz="20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sz="20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8832727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Absorption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U (A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B) = A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861200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(A U B) = A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89698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Complement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sz="2000" b="0" i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327766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sz="2000" b="0" i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=∅</m:t>
                                </m:r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35148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9">
                <a:extLst>
                  <a:ext uri="{FF2B5EF4-FFF2-40B4-BE49-F238E27FC236}">
                    <a16:creationId xmlns:a16="http://schemas.microsoft.com/office/drawing/2014/main" id="{4F0DEAB0-8813-62FF-F86C-F958559E86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4809314"/>
                  </p:ext>
                </p:extLst>
              </p:nvPr>
            </p:nvGraphicFramePr>
            <p:xfrm>
              <a:off x="609600" y="1676400"/>
              <a:ext cx="7924800" cy="35689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81400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4343400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Name of Law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Equivalence</a:t>
                          </a: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962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Distributive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U (B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C) = (A U B) ⋂ (A U C)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(B U C) = (A ⋂ B) U (A ⋂ C)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4393565"/>
                      </a:ext>
                    </a:extLst>
                  </a:tr>
                  <a:tr h="396939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De Morgan’s Law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865" t="-307692" r="-421" b="-5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96939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865" t="-401515" r="-421" b="-3969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8832727"/>
                      </a:ext>
                    </a:extLst>
                  </a:tr>
                  <a:tr h="39624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Absorption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U (A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B) = A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8612006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A </a:t>
                          </a:r>
                          <a:r>
                            <a:rPr lang="en-US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⋂ (A U B) = A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896986"/>
                      </a:ext>
                    </a:extLst>
                  </a:tr>
                  <a:tr h="396939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Complement laws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865" t="-709231" r="-421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3277663"/>
                      </a:ext>
                    </a:extLst>
                  </a:tr>
                  <a:tr h="396939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865" t="-809231" r="-421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35148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175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57200" y="1600200"/>
                <a:ext cx="6103146" cy="4316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Using Set Builder notation prove: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i="0" dirty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200" i="0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200" i="0" dirty="0">
                        <a:latin typeface="Cambria Math" panose="02040503050406030204" pitchFamily="18" charset="0"/>
                      </a:rPr>
                      <m:t>∪</m:t>
                    </m:r>
                    <m:acc>
                      <m:accPr>
                        <m:chr m:val="̅"/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6103146" cy="431657"/>
              </a:xfrm>
              <a:prstGeom prst="rect">
                <a:avLst/>
              </a:prstGeom>
              <a:blipFill>
                <a:blip r:embed="rId2"/>
                <a:stretch>
                  <a:fillRect l="-1099" t="-10000" r="-3596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0037C2-2691-2D72-AB7D-5ADF8FDE95B5}"/>
                  </a:ext>
                </a:extLst>
              </p:cNvPr>
              <p:cNvSpPr txBox="1"/>
              <p:nvPr/>
            </p:nvSpPr>
            <p:spPr>
              <a:xfrm>
                <a:off x="685800" y="2061449"/>
                <a:ext cx="3304494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i="0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= {x | x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B}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0037C2-2691-2D72-AB7D-5ADF8FDE9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061449"/>
                <a:ext cx="3304494" cy="453137"/>
              </a:xfrm>
              <a:prstGeom prst="rect">
                <a:avLst/>
              </a:prstGeom>
              <a:blipFill>
                <a:blip r:embed="rId3"/>
                <a:stretch>
                  <a:fillRect l="-2030" t="-4054" r="-923" b="-28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903A39-40DF-480B-06C5-D0847E2680F3}"/>
                  </a:ext>
                </a:extLst>
              </p:cNvPr>
              <p:cNvSpPr txBox="1"/>
              <p:nvPr/>
            </p:nvSpPr>
            <p:spPr>
              <a:xfrm>
                <a:off x="1752600" y="2544178"/>
                <a:ext cx="2935868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{x | </a:t>
                </a:r>
                <a14:m>
                  <m:oMath xmlns:m="http://schemas.openxmlformats.org/officeDocument/2006/math">
                    <m:r>
                      <a:rPr lang="en-US" sz="2200" dirty="0" smtClean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( x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(A 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B) )}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903A39-40DF-480B-06C5-D0847E268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2544178"/>
                <a:ext cx="2935868" cy="453137"/>
              </a:xfrm>
              <a:prstGeom prst="rect">
                <a:avLst/>
              </a:prstGeom>
              <a:blipFill>
                <a:blip r:embed="rId4"/>
                <a:stretch>
                  <a:fillRect l="-2703" t="-2667" r="-166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1D93670-4858-4418-8EEE-4D38970BC110}"/>
              </a:ext>
            </a:extLst>
          </p:cNvPr>
          <p:cNvSpPr txBox="1"/>
          <p:nvPr/>
        </p:nvSpPr>
        <p:spPr>
          <a:xfrm>
            <a:off x="4820380" y="2566428"/>
            <a:ext cx="43236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[By definition of </a:t>
            </a:r>
            <a:r>
              <a:rPr lang="en-US" sz="2200" u="sng" dirty="0">
                <a:latin typeface="Times New Roman" pitchFamily="18" charset="0"/>
                <a:cs typeface="Times New Roman" pitchFamily="18" charset="0"/>
              </a:rPr>
              <a:t>does not belong 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FB62B7-0F4C-62E9-C07D-D81121214B5C}"/>
                  </a:ext>
                </a:extLst>
              </p:cNvPr>
              <p:cNvSpPr txBox="1"/>
              <p:nvPr/>
            </p:nvSpPr>
            <p:spPr>
              <a:xfrm>
                <a:off x="1752600" y="3078749"/>
                <a:ext cx="323287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{x | </a:t>
                </a:r>
                <a14:m>
                  <m:oMath xmlns:m="http://schemas.openxmlformats.org/officeDocument/2006/math">
                    <m:r>
                      <a:rPr lang="en-US" sz="2200" dirty="0" smtClean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( x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n-US" sz="2200" baseline="3000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B) )}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FB62B7-0F4C-62E9-C07D-D81121214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078749"/>
                <a:ext cx="3232873" cy="430887"/>
              </a:xfrm>
              <a:prstGeom prst="rect">
                <a:avLst/>
              </a:prstGeom>
              <a:blipFill>
                <a:blip r:embed="rId5"/>
                <a:stretch>
                  <a:fillRect l="-2453" t="-9859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0DE58218-FA14-8376-0DFB-877449B618D2}"/>
              </a:ext>
            </a:extLst>
          </p:cNvPr>
          <p:cNvSpPr txBox="1"/>
          <p:nvPr/>
        </p:nvSpPr>
        <p:spPr>
          <a:xfrm>
            <a:off x="4820380" y="3100999"/>
            <a:ext cx="3946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[By definition of </a:t>
            </a:r>
            <a:r>
              <a:rPr lang="en-US" sz="2200" u="sng" dirty="0">
                <a:latin typeface="Times New Roman" pitchFamily="18" charset="0"/>
                <a:cs typeface="Times New Roman" pitchFamily="18" charset="0"/>
              </a:rPr>
              <a:t>set intersection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37AFC3-673C-3373-F893-C7101D100AC0}"/>
                  </a:ext>
                </a:extLst>
              </p:cNvPr>
              <p:cNvSpPr txBox="1"/>
              <p:nvPr/>
            </p:nvSpPr>
            <p:spPr>
              <a:xfrm>
                <a:off x="1752600" y="3613320"/>
                <a:ext cx="35724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{x | </a:t>
                </a:r>
                <a14:m>
                  <m:oMath xmlns:m="http://schemas.openxmlformats.org/officeDocument/2006/math">
                    <m:r>
                      <a:rPr lang="en-US" sz="2200" dirty="0" smtClean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( x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 ) </a:t>
                </a:r>
                <a:r>
                  <a:rPr lang="en-US" sz="2200" baseline="30000" dirty="0">
                    <a:latin typeface="Times New Roman" pitchFamily="18" charset="0"/>
                    <a:cs typeface="Times New Roman" pitchFamily="18" charset="0"/>
                  </a:rPr>
                  <a:t>V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200" dirty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(x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B)}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37AFC3-673C-3373-F893-C7101D100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613320"/>
                <a:ext cx="3572453" cy="430887"/>
              </a:xfrm>
              <a:prstGeom prst="rect">
                <a:avLst/>
              </a:prstGeom>
              <a:blipFill>
                <a:blip r:embed="rId6"/>
                <a:stretch>
                  <a:fillRect l="-2218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9FD1F406-FEE3-CA3C-E364-68BDFBF43D35}"/>
              </a:ext>
            </a:extLst>
          </p:cNvPr>
          <p:cNvSpPr txBox="1"/>
          <p:nvPr/>
        </p:nvSpPr>
        <p:spPr>
          <a:xfrm>
            <a:off x="5482147" y="3613320"/>
            <a:ext cx="23264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[De Morgan’s law]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9113DB9-EB9C-19D0-8062-11BD106034F0}"/>
                  </a:ext>
                </a:extLst>
              </p:cNvPr>
              <p:cNvSpPr txBox="1"/>
              <p:nvPr/>
            </p:nvSpPr>
            <p:spPr>
              <a:xfrm>
                <a:off x="1751860" y="4149315"/>
                <a:ext cx="308353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{x | ( x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 ) </a:t>
                </a:r>
                <a:r>
                  <a:rPr lang="en-US" sz="2200" baseline="30000" dirty="0">
                    <a:latin typeface="Times New Roman" pitchFamily="18" charset="0"/>
                    <a:cs typeface="Times New Roman" pitchFamily="18" charset="0"/>
                  </a:rPr>
                  <a:t>V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(x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B)}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9113DB9-EB9C-19D0-8062-11BD10603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860" y="4149315"/>
                <a:ext cx="3083536" cy="430887"/>
              </a:xfrm>
              <a:prstGeom prst="rect">
                <a:avLst/>
              </a:prstGeom>
              <a:blipFill>
                <a:blip r:embed="rId7"/>
                <a:stretch>
                  <a:fillRect l="-2569" t="-10000" r="-1383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C6627BDF-1A0B-87BE-E1C2-F7F77B1F1DC8}"/>
              </a:ext>
            </a:extLst>
          </p:cNvPr>
          <p:cNvSpPr txBox="1"/>
          <p:nvPr/>
        </p:nvSpPr>
        <p:spPr>
          <a:xfrm>
            <a:off x="4835396" y="4149315"/>
            <a:ext cx="43236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[By definition of </a:t>
            </a:r>
            <a:r>
              <a:rPr lang="en-US" sz="2200" u="sng" dirty="0">
                <a:latin typeface="Times New Roman" pitchFamily="18" charset="0"/>
                <a:cs typeface="Times New Roman" pitchFamily="18" charset="0"/>
              </a:rPr>
              <a:t>does not belong 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108AF14-BA9E-81F4-4D9E-9178D2F878CF}"/>
                  </a:ext>
                </a:extLst>
              </p:cNvPr>
              <p:cNvSpPr txBox="1"/>
              <p:nvPr/>
            </p:nvSpPr>
            <p:spPr>
              <a:xfrm>
                <a:off x="1751860" y="4632044"/>
                <a:ext cx="307071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{x | ( x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) </a:t>
                </a:r>
                <a:r>
                  <a:rPr lang="en-US" sz="2200" baseline="30000" dirty="0">
                    <a:latin typeface="Times New Roman" pitchFamily="18" charset="0"/>
                    <a:cs typeface="Times New Roman" pitchFamily="18" charset="0"/>
                  </a:rPr>
                  <a:t>V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(x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∈</m:t>
                    </m:r>
                    <m:acc>
                      <m:accPr>
                        <m:chr m:val="̅"/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)}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108AF14-BA9E-81F4-4D9E-9178D2F87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860" y="4632044"/>
                <a:ext cx="3070712" cy="430887"/>
              </a:xfrm>
              <a:prstGeom prst="rect">
                <a:avLst/>
              </a:prstGeom>
              <a:blipFill>
                <a:blip r:embed="rId8"/>
                <a:stretch>
                  <a:fillRect l="-2579" t="-9859" r="-2381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7C8F30D8-1987-B38A-5C73-10F8190E07DD}"/>
              </a:ext>
            </a:extLst>
          </p:cNvPr>
          <p:cNvSpPr txBox="1"/>
          <p:nvPr/>
        </p:nvSpPr>
        <p:spPr>
          <a:xfrm>
            <a:off x="4835396" y="4632044"/>
            <a:ext cx="36423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[By definition of </a:t>
            </a:r>
            <a:r>
              <a:rPr lang="en-US" sz="2200" u="sng" dirty="0">
                <a:latin typeface="Times New Roman" pitchFamily="18" charset="0"/>
                <a:cs typeface="Times New Roman" pitchFamily="18" charset="0"/>
              </a:rPr>
              <a:t>complement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FF73A9-9ECD-B961-D863-1EF232EA78FF}"/>
                  </a:ext>
                </a:extLst>
              </p:cNvPr>
              <p:cNvSpPr txBox="1"/>
              <p:nvPr/>
            </p:nvSpPr>
            <p:spPr>
              <a:xfrm>
                <a:off x="1749668" y="5105706"/>
                <a:ext cx="2732543" cy="4316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{x | ( x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U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) )}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FF73A9-9ECD-B961-D863-1EF232EA7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668" y="5105706"/>
                <a:ext cx="2732543" cy="431657"/>
              </a:xfrm>
              <a:prstGeom prst="rect">
                <a:avLst/>
              </a:prstGeom>
              <a:blipFill>
                <a:blip r:embed="rId9"/>
                <a:stretch>
                  <a:fillRect l="-2902" t="-10000" r="-1786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8DF133E7-7A46-C565-830C-9B7AFBA1CD9F}"/>
              </a:ext>
            </a:extLst>
          </p:cNvPr>
          <p:cNvSpPr txBox="1"/>
          <p:nvPr/>
        </p:nvSpPr>
        <p:spPr>
          <a:xfrm>
            <a:off x="4833204" y="5105706"/>
            <a:ext cx="29530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[By definition of </a:t>
            </a:r>
            <a:r>
              <a:rPr lang="en-US" sz="2200" u="sng" dirty="0">
                <a:latin typeface="Times New Roman" pitchFamily="18" charset="0"/>
                <a:cs typeface="Times New Roman" pitchFamily="18" charset="0"/>
              </a:rPr>
              <a:t>Union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5C257A-CCAD-29E7-0D95-4D2065A35661}"/>
                  </a:ext>
                </a:extLst>
              </p:cNvPr>
              <p:cNvSpPr txBox="1"/>
              <p:nvPr/>
            </p:nvSpPr>
            <p:spPr>
              <a:xfrm>
                <a:off x="1749667" y="5580138"/>
                <a:ext cx="1132746" cy="4316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U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5C257A-CCAD-29E7-0D95-4D2065A35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667" y="5580138"/>
                <a:ext cx="1132746" cy="431657"/>
              </a:xfrm>
              <a:prstGeom prst="rect">
                <a:avLst/>
              </a:prstGeom>
              <a:blipFill>
                <a:blip r:embed="rId10"/>
                <a:stretch>
                  <a:fillRect l="-6989" t="-8451" r="-23656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86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  <p:bldP spid="12" grpId="0"/>
      <p:bldP spid="13" grpId="0"/>
      <p:bldP spid="26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986" y="762001"/>
            <a:ext cx="7772400" cy="3352799"/>
          </a:xfrm>
        </p:spPr>
        <p:txBody>
          <a:bodyPr/>
          <a:lstStyle/>
          <a:p>
            <a:r>
              <a:rPr lang="en-US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4115788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1" y="16002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function takes several values as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arguments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parameters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returns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 single element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9B39B-C68E-215F-4A46-2465056748F0}"/>
              </a:ext>
            </a:extLst>
          </p:cNvPr>
          <p:cNvSpPr txBox="1"/>
          <p:nvPr/>
        </p:nvSpPr>
        <p:spPr>
          <a:xfrm>
            <a:off x="457200" y="2522041"/>
            <a:ext cx="42418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a function is: f(x, y) = 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y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B2D64-17F4-43D2-6787-24A3CCC31511}"/>
              </a:ext>
            </a:extLst>
          </p:cNvPr>
          <p:cNvSpPr txBox="1"/>
          <p:nvPr/>
        </p:nvSpPr>
        <p:spPr>
          <a:xfrm>
            <a:off x="914400" y="2998113"/>
            <a:ext cx="18197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f(3, 4) = 25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E7588-ECB8-3CAB-74A6-95C2C9E93A66}"/>
              </a:ext>
            </a:extLst>
          </p:cNvPr>
          <p:cNvSpPr txBox="1"/>
          <p:nvPr/>
        </p:nvSpPr>
        <p:spPr>
          <a:xfrm>
            <a:off x="914400" y="3476404"/>
            <a:ext cx="25328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Arguments: (3, 4)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D72223-FC4B-44CB-246F-6A3111FB7242}"/>
              </a:ext>
            </a:extLst>
          </p:cNvPr>
          <p:cNvSpPr txBox="1"/>
          <p:nvPr/>
        </p:nvSpPr>
        <p:spPr>
          <a:xfrm>
            <a:off x="912920" y="4039063"/>
            <a:ext cx="17299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Return: 25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3DC35E-DFD7-57E0-79F7-FA991A6B125C}"/>
              </a:ext>
            </a:extLst>
          </p:cNvPr>
          <p:cNvSpPr txBox="1"/>
          <p:nvPr/>
        </p:nvSpPr>
        <p:spPr>
          <a:xfrm>
            <a:off x="457200" y="4724400"/>
            <a:ext cx="7957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function may have many arguments but returns a single element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83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10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INTRODUCTION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BA68F-60F8-0E39-388F-163EAC4A6156}"/>
              </a:ext>
            </a:extLst>
          </p:cNvPr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Definition</a:t>
            </a:r>
            <a:endParaRPr lang="en-US" sz="2200" b="1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FAFF9C-0D01-056A-514D-C57FC046D260}"/>
              </a:ext>
            </a:extLst>
          </p:cNvPr>
          <p:cNvSpPr txBox="1"/>
          <p:nvPr/>
        </p:nvSpPr>
        <p:spPr>
          <a:xfrm>
            <a:off x="685799" y="2118384"/>
            <a:ext cx="8001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A, B be nonempty sets.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D0DB85-7E27-F781-077F-D29DE391192F}"/>
              </a:ext>
            </a:extLst>
          </p:cNvPr>
          <p:cNvSpPr txBox="1"/>
          <p:nvPr/>
        </p:nvSpPr>
        <p:spPr>
          <a:xfrm>
            <a:off x="685799" y="2556207"/>
            <a:ext cx="800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function from A to B is assignment of exactly one element of B to each element of A.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6D3A8B-06C4-BA3C-7239-8179459E4330}"/>
              </a:ext>
            </a:extLst>
          </p:cNvPr>
          <p:cNvSpPr txBox="1"/>
          <p:nvPr/>
        </p:nvSpPr>
        <p:spPr>
          <a:xfrm>
            <a:off x="685799" y="3289816"/>
            <a:ext cx="800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f(a) = b is written if b is the unique element of B assigned by f to the element a of A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ACBC6D-3374-FAFC-ECE6-436F4C53016A}"/>
                  </a:ext>
                </a:extLst>
              </p:cNvPr>
              <p:cNvSpPr txBox="1"/>
              <p:nvPr/>
            </p:nvSpPr>
            <p:spPr>
              <a:xfrm>
                <a:off x="685799" y="4059257"/>
                <a:ext cx="8001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If f is a function from A to B, we write f : A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B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ACBC6D-3374-FAFC-ECE6-436F4C530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4059257"/>
                <a:ext cx="8001000" cy="430887"/>
              </a:xfrm>
              <a:prstGeom prst="rect">
                <a:avLst/>
              </a:prstGeom>
              <a:blipFill>
                <a:blip r:embed="rId2"/>
                <a:stretch>
                  <a:fillRect l="-838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8359947-3B42-E099-9FEE-51E6ED73C936}"/>
              </a:ext>
            </a:extLst>
          </p:cNvPr>
          <p:cNvSpPr txBox="1"/>
          <p:nvPr/>
        </p:nvSpPr>
        <p:spPr>
          <a:xfrm>
            <a:off x="685799" y="4504200"/>
            <a:ext cx="8001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is the domain/ input of f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D99F2-1A55-1F9E-E9E7-474E7FCB33F1}"/>
              </a:ext>
            </a:extLst>
          </p:cNvPr>
          <p:cNvSpPr txBox="1"/>
          <p:nvPr/>
        </p:nvSpPr>
        <p:spPr>
          <a:xfrm>
            <a:off x="685799" y="4949143"/>
            <a:ext cx="8001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 is the co-domain/ output of f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4E23B-B862-66D1-0B91-DB7E0D779777}"/>
              </a:ext>
            </a:extLst>
          </p:cNvPr>
          <p:cNvSpPr txBox="1"/>
          <p:nvPr/>
        </p:nvSpPr>
        <p:spPr>
          <a:xfrm>
            <a:off x="685799" y="5408142"/>
            <a:ext cx="8001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function is also called mappings or transformations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73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3" grpId="0"/>
      <p:bldP spid="4" grpId="0"/>
      <p:bldP spid="5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BA68F-60F8-0E39-388F-163EAC4A6156}"/>
              </a:ext>
            </a:extLst>
          </p:cNvPr>
          <p:cNvSpPr txBox="1"/>
          <p:nvPr/>
        </p:nvSpPr>
        <p:spPr>
          <a:xfrm>
            <a:off x="457200" y="16764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mapping of from integer-number to corresponding grades.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5CBA560-1C6B-4293-915A-13C5C4655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156346"/>
              </p:ext>
            </p:extLst>
          </p:nvPr>
        </p:nvGraphicFramePr>
        <p:xfrm>
          <a:off x="838200" y="2590800"/>
          <a:ext cx="3733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54841953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370837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27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80-100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476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60-79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97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40-59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416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6589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B5C0233-7B50-D503-E3A9-1ADE0AD7ABB2}"/>
              </a:ext>
            </a:extLst>
          </p:cNvPr>
          <p:cNvSpPr txBox="1"/>
          <p:nvPr/>
        </p:nvSpPr>
        <p:spPr>
          <a:xfrm>
            <a:off x="4800600" y="2286000"/>
            <a:ext cx="3810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function f is defined such that, it takes a number as  input and returns the corresponding grade.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DA600-964B-BC0E-0D38-3FA14162F93C}"/>
              </a:ext>
            </a:extLst>
          </p:cNvPr>
          <p:cNvSpPr txBox="1"/>
          <p:nvPr/>
        </p:nvSpPr>
        <p:spPr>
          <a:xfrm>
            <a:off x="4800600" y="3844597"/>
            <a:ext cx="2133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Domain=?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C18CC-DE4B-13A1-71E3-B8478AE1F0FD}"/>
              </a:ext>
            </a:extLst>
          </p:cNvPr>
          <p:cNvSpPr txBox="1"/>
          <p:nvPr/>
        </p:nvSpPr>
        <p:spPr>
          <a:xfrm>
            <a:off x="6629400" y="3842247"/>
            <a:ext cx="22449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Co-domain=?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7F059-F77A-1F79-D211-35CD7BC8797D}"/>
              </a:ext>
            </a:extLst>
          </p:cNvPr>
          <p:cNvSpPr txBox="1"/>
          <p:nvPr/>
        </p:nvSpPr>
        <p:spPr>
          <a:xfrm>
            <a:off x="4800600" y="4280294"/>
            <a:ext cx="160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f(75) = 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E8921F-2D6E-51FA-4B02-03A12A20D392}"/>
              </a:ext>
            </a:extLst>
          </p:cNvPr>
          <p:cNvSpPr txBox="1"/>
          <p:nvPr/>
        </p:nvSpPr>
        <p:spPr>
          <a:xfrm>
            <a:off x="6629400" y="4280294"/>
            <a:ext cx="160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f(43) = 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07CCDD-3CEB-93B7-30E3-A8F955865D64}"/>
                  </a:ext>
                </a:extLst>
              </p:cNvPr>
              <p:cNvSpPr txBox="1"/>
              <p:nvPr/>
            </p:nvSpPr>
            <p:spPr>
              <a:xfrm>
                <a:off x="647700" y="4753112"/>
                <a:ext cx="80391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Domain = {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0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0" dirty="0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sz="2200" i="0" baseline="30000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0" dirty="0" smtClean="0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}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07CCDD-3CEB-93B7-30E3-A8F955865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4753112"/>
                <a:ext cx="8039100" cy="430887"/>
              </a:xfrm>
              <a:prstGeom prst="rect">
                <a:avLst/>
              </a:prstGeom>
              <a:blipFill>
                <a:blip r:embed="rId2"/>
                <a:stretch>
                  <a:fillRect l="-834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3AEB81-ABFF-956F-3174-B314A0F3ED32}"/>
                  </a:ext>
                </a:extLst>
              </p:cNvPr>
              <p:cNvSpPr txBox="1"/>
              <p:nvPr/>
            </p:nvSpPr>
            <p:spPr>
              <a:xfrm>
                <a:off x="647700" y="5191159"/>
                <a:ext cx="80391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Co-domain = {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}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3AEB81-ABFF-956F-3174-B314A0F3E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5191159"/>
                <a:ext cx="8039100" cy="430887"/>
              </a:xfrm>
              <a:prstGeom prst="rect">
                <a:avLst/>
              </a:prstGeom>
              <a:blipFill>
                <a:blip r:embed="rId3"/>
                <a:stretch>
                  <a:fillRect l="-834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F3B65B9-155A-86AE-CD4E-AB9A0BD3A480}"/>
              </a:ext>
            </a:extLst>
          </p:cNvPr>
          <p:cNvSpPr txBox="1"/>
          <p:nvPr/>
        </p:nvSpPr>
        <p:spPr>
          <a:xfrm>
            <a:off x="647700" y="5629206"/>
            <a:ext cx="8039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f(75) = 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7E469F-4A65-983A-7F13-8CA5A454540B}"/>
              </a:ext>
            </a:extLst>
          </p:cNvPr>
          <p:cNvSpPr txBox="1"/>
          <p:nvPr/>
        </p:nvSpPr>
        <p:spPr>
          <a:xfrm>
            <a:off x="647700" y="6108311"/>
            <a:ext cx="8039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f(43) = C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96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9" grpId="0"/>
      <p:bldP spid="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BA68F-60F8-0E39-388F-163EAC4A6156}"/>
              </a:ext>
            </a:extLst>
          </p:cNvPr>
          <p:cNvSpPr txBox="1"/>
          <p:nvPr/>
        </p:nvSpPr>
        <p:spPr>
          <a:xfrm>
            <a:off x="457200" y="1676400"/>
            <a:ext cx="822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result system of a University has five different grades {A, B, C, D, F}. Now in the first year-first semester, there are five male students in the University who obtained the grades as follows: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A5D6B7-9B00-2DE5-9844-168FFE56C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014296"/>
              </p:ext>
            </p:extLst>
          </p:nvPr>
        </p:nvGraphicFramePr>
        <p:xfrm>
          <a:off x="861874" y="2895600"/>
          <a:ext cx="3733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54841953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370837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27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Dhrubo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476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97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416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Mehrab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6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Sarafat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88743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9C6A88D-AB49-D0D4-6537-2A50B1839C45}"/>
              </a:ext>
            </a:extLst>
          </p:cNvPr>
          <p:cNvSpPr txBox="1"/>
          <p:nvPr/>
        </p:nvSpPr>
        <p:spPr>
          <a:xfrm>
            <a:off x="4724400" y="2797552"/>
            <a:ext cx="3962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 a function f is defined that takes a student as argument and returns his grade of first year-first semester.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A9F57-698E-5D56-91A6-515A30EDCADA}"/>
              </a:ext>
            </a:extLst>
          </p:cNvPr>
          <p:cNvSpPr txBox="1"/>
          <p:nvPr/>
        </p:nvSpPr>
        <p:spPr>
          <a:xfrm>
            <a:off x="4724400" y="4244102"/>
            <a:ext cx="1828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Domain=?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FB36D-B606-681D-DE1E-2D4926844DAC}"/>
              </a:ext>
            </a:extLst>
          </p:cNvPr>
          <p:cNvSpPr txBox="1"/>
          <p:nvPr/>
        </p:nvSpPr>
        <p:spPr>
          <a:xfrm>
            <a:off x="6858000" y="4243806"/>
            <a:ext cx="251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Co-domain=?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D6A527-7AF6-AF1F-B0BA-997C367D5869}"/>
              </a:ext>
            </a:extLst>
          </p:cNvPr>
          <p:cNvSpPr txBox="1"/>
          <p:nvPr/>
        </p:nvSpPr>
        <p:spPr>
          <a:xfrm>
            <a:off x="4724400" y="4674693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Illustrate a figure of mapping.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7186EE-BB1B-B21F-100D-BED299C40171}"/>
              </a:ext>
            </a:extLst>
          </p:cNvPr>
          <p:cNvSpPr txBox="1"/>
          <p:nvPr/>
        </p:nvSpPr>
        <p:spPr>
          <a:xfrm>
            <a:off x="728708" y="5401703"/>
            <a:ext cx="7958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 = {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Dhrubo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Siam, Deb,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Mehrab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Sarafat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C1CC42-C5CD-A111-4AA5-6BF9DD20E4C7}"/>
              </a:ext>
            </a:extLst>
          </p:cNvPr>
          <p:cNvSpPr txBox="1"/>
          <p:nvPr/>
        </p:nvSpPr>
        <p:spPr>
          <a:xfrm>
            <a:off x="728707" y="5832294"/>
            <a:ext cx="7958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Co-domain = {A, B, C, D, F}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8809C8-36D6-82FA-0777-D726FDFBC73F}"/>
              </a:ext>
            </a:extLst>
          </p:cNvPr>
          <p:cNvSpPr txBox="1"/>
          <p:nvPr/>
        </p:nvSpPr>
        <p:spPr>
          <a:xfrm>
            <a:off x="728707" y="6301563"/>
            <a:ext cx="40718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Range/ Image = {A, B, C, F}</a:t>
            </a:r>
            <a:endParaRPr lang="en-US" sz="2200" b="1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580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5" grpId="0"/>
      <p:bldP spid="6" grpId="0"/>
      <p:bldP spid="16" grpId="0"/>
      <p:bldP spid="17" grpId="0"/>
      <p:bldP spid="18" grpId="0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A5D6B7-9B00-2DE5-9844-168FFE56C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941944"/>
              </p:ext>
            </p:extLst>
          </p:nvPr>
        </p:nvGraphicFramePr>
        <p:xfrm>
          <a:off x="626617" y="1752600"/>
          <a:ext cx="3733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54841953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370837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27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Dhrubo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476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97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416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Mehrab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6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Sarafat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88743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27186EE-BB1B-B21F-100D-BED299C40171}"/>
              </a:ext>
            </a:extLst>
          </p:cNvPr>
          <p:cNvSpPr txBox="1"/>
          <p:nvPr/>
        </p:nvSpPr>
        <p:spPr>
          <a:xfrm>
            <a:off x="626617" y="4219396"/>
            <a:ext cx="7958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 = {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Dhrubo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Siam, Deb,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Mehrab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Sarafat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C1CC42-C5CD-A111-4AA5-6BF9DD20E4C7}"/>
              </a:ext>
            </a:extLst>
          </p:cNvPr>
          <p:cNvSpPr txBox="1"/>
          <p:nvPr/>
        </p:nvSpPr>
        <p:spPr>
          <a:xfrm>
            <a:off x="626616" y="4649987"/>
            <a:ext cx="7958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Co-domain = {A, B, C, D, F}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8809C8-36D6-82FA-0777-D726FDFBC73F}"/>
              </a:ext>
            </a:extLst>
          </p:cNvPr>
          <p:cNvSpPr txBox="1"/>
          <p:nvPr/>
        </p:nvSpPr>
        <p:spPr>
          <a:xfrm>
            <a:off x="626616" y="5119256"/>
            <a:ext cx="40718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Range/ Image = {A, B, C, F}</a:t>
            </a:r>
            <a:endParaRPr lang="en-US" sz="2200" b="1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2F551-CFD9-417B-1793-E0F2F0D85972}"/>
              </a:ext>
            </a:extLst>
          </p:cNvPr>
          <p:cNvSpPr txBox="1"/>
          <p:nvPr/>
        </p:nvSpPr>
        <p:spPr>
          <a:xfrm>
            <a:off x="626616" y="5600821"/>
            <a:ext cx="85173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Co-domain is the set of possible elements that a function can map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719FD-86CD-1DFA-D0B6-AD3D1FB44C50}"/>
              </a:ext>
            </a:extLst>
          </p:cNvPr>
          <p:cNvSpPr txBox="1"/>
          <p:nvPr/>
        </p:nvSpPr>
        <p:spPr>
          <a:xfrm>
            <a:off x="626616" y="6082386"/>
            <a:ext cx="85173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Range is the set of elements that a function exactly maps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724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A5D6B7-9B00-2DE5-9844-168FFE56C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490994"/>
              </p:ext>
            </p:extLst>
          </p:nvPr>
        </p:nvGraphicFramePr>
        <p:xfrm>
          <a:off x="626617" y="1752600"/>
          <a:ext cx="3733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54841953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370837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27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Dhrubo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476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97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416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Mehrab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6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Sarafat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887430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3FC34ECC-41CD-0C77-4B49-A3B764D4F0EB}"/>
              </a:ext>
            </a:extLst>
          </p:cNvPr>
          <p:cNvSpPr/>
          <p:nvPr/>
        </p:nvSpPr>
        <p:spPr>
          <a:xfrm>
            <a:off x="5926585" y="1959462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A885C00-9A6B-97AE-07E8-DF7528CC792B}"/>
              </a:ext>
            </a:extLst>
          </p:cNvPr>
          <p:cNvSpPr/>
          <p:nvPr/>
        </p:nvSpPr>
        <p:spPr>
          <a:xfrm>
            <a:off x="5926585" y="2430718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2B554A-7BA7-4E92-C962-B23268A31674}"/>
              </a:ext>
            </a:extLst>
          </p:cNvPr>
          <p:cNvSpPr/>
          <p:nvPr/>
        </p:nvSpPr>
        <p:spPr>
          <a:xfrm>
            <a:off x="5926585" y="2876081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5318A5-FAA8-32C9-5445-190C7648CDA0}"/>
              </a:ext>
            </a:extLst>
          </p:cNvPr>
          <p:cNvSpPr/>
          <p:nvPr/>
        </p:nvSpPr>
        <p:spPr>
          <a:xfrm>
            <a:off x="5926585" y="3347337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318732-B630-FA2C-055E-60A9FD17F37A}"/>
              </a:ext>
            </a:extLst>
          </p:cNvPr>
          <p:cNvSpPr/>
          <p:nvPr/>
        </p:nvSpPr>
        <p:spPr>
          <a:xfrm>
            <a:off x="5926585" y="3769323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29B5C1-E515-D3B4-D164-90F146729CCA}"/>
              </a:ext>
            </a:extLst>
          </p:cNvPr>
          <p:cNvSpPr txBox="1"/>
          <p:nvPr/>
        </p:nvSpPr>
        <p:spPr>
          <a:xfrm>
            <a:off x="4783585" y="1782932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Dhrubo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1AEE31-D916-3F74-31E2-98529DEB7AAF}"/>
              </a:ext>
            </a:extLst>
          </p:cNvPr>
          <p:cNvSpPr txBox="1"/>
          <p:nvPr/>
        </p:nvSpPr>
        <p:spPr>
          <a:xfrm>
            <a:off x="4783584" y="2259884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Siam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260DB4-C934-96BC-D2D0-0E29E58DE1CC}"/>
              </a:ext>
            </a:extLst>
          </p:cNvPr>
          <p:cNvSpPr txBox="1"/>
          <p:nvPr/>
        </p:nvSpPr>
        <p:spPr>
          <a:xfrm>
            <a:off x="4783585" y="2736837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9D88B7-12C2-55C3-710C-52FE54DC3791}"/>
              </a:ext>
            </a:extLst>
          </p:cNvPr>
          <p:cNvSpPr txBox="1"/>
          <p:nvPr/>
        </p:nvSpPr>
        <p:spPr>
          <a:xfrm>
            <a:off x="4783583" y="3213789"/>
            <a:ext cx="129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Mehrab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A36FB4-C518-570D-47C6-3CDB87E2CB5E}"/>
              </a:ext>
            </a:extLst>
          </p:cNvPr>
          <p:cNvSpPr txBox="1"/>
          <p:nvPr/>
        </p:nvSpPr>
        <p:spPr>
          <a:xfrm>
            <a:off x="4783583" y="3624048"/>
            <a:ext cx="129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Sarafat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D40BF2-90B7-4BAF-F34C-45C9BDEE286C}"/>
              </a:ext>
            </a:extLst>
          </p:cNvPr>
          <p:cNvSpPr/>
          <p:nvPr/>
        </p:nvSpPr>
        <p:spPr>
          <a:xfrm>
            <a:off x="7450583" y="1959462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C552988-F1D7-AFBE-BB56-FF775B98025E}"/>
              </a:ext>
            </a:extLst>
          </p:cNvPr>
          <p:cNvSpPr/>
          <p:nvPr/>
        </p:nvSpPr>
        <p:spPr>
          <a:xfrm>
            <a:off x="7450583" y="2430718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8F65F74-D3C3-A5E3-F3AD-30330D36A078}"/>
              </a:ext>
            </a:extLst>
          </p:cNvPr>
          <p:cNvSpPr/>
          <p:nvPr/>
        </p:nvSpPr>
        <p:spPr>
          <a:xfrm>
            <a:off x="7450583" y="2876081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5C24343-EE43-A833-6C04-FC4BF4F9E1F8}"/>
              </a:ext>
            </a:extLst>
          </p:cNvPr>
          <p:cNvSpPr/>
          <p:nvPr/>
        </p:nvSpPr>
        <p:spPr>
          <a:xfrm>
            <a:off x="7450583" y="3347337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C26CE2-FE94-45D9-9805-10F5A2C129BD}"/>
              </a:ext>
            </a:extLst>
          </p:cNvPr>
          <p:cNvSpPr/>
          <p:nvPr/>
        </p:nvSpPr>
        <p:spPr>
          <a:xfrm>
            <a:off x="7450583" y="3769323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FF4D04-8310-F20C-C734-EA469842FC7F}"/>
              </a:ext>
            </a:extLst>
          </p:cNvPr>
          <p:cNvSpPr txBox="1"/>
          <p:nvPr/>
        </p:nvSpPr>
        <p:spPr>
          <a:xfrm>
            <a:off x="7755385" y="1803560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4342E7-7F55-B710-DF2F-2D7DF5D482F2}"/>
              </a:ext>
            </a:extLst>
          </p:cNvPr>
          <p:cNvSpPr txBox="1"/>
          <p:nvPr/>
        </p:nvSpPr>
        <p:spPr>
          <a:xfrm>
            <a:off x="7755384" y="2280512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EA922D-DEC7-C429-0F6C-D49361BD865F}"/>
              </a:ext>
            </a:extLst>
          </p:cNvPr>
          <p:cNvSpPr txBox="1"/>
          <p:nvPr/>
        </p:nvSpPr>
        <p:spPr>
          <a:xfrm>
            <a:off x="7755385" y="2757465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F8C83E-6401-6E22-4CEA-98AE2D0A1C2E}"/>
              </a:ext>
            </a:extLst>
          </p:cNvPr>
          <p:cNvSpPr txBox="1"/>
          <p:nvPr/>
        </p:nvSpPr>
        <p:spPr>
          <a:xfrm>
            <a:off x="7755383" y="3234417"/>
            <a:ext cx="129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F9F21F-2094-3BC0-945C-01FC4E084202}"/>
              </a:ext>
            </a:extLst>
          </p:cNvPr>
          <p:cNvSpPr txBox="1"/>
          <p:nvPr/>
        </p:nvSpPr>
        <p:spPr>
          <a:xfrm>
            <a:off x="7755383" y="3644676"/>
            <a:ext cx="129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4D31C8C-CABB-399B-02C5-7E6A9D756628}"/>
              </a:ext>
            </a:extLst>
          </p:cNvPr>
          <p:cNvCxnSpPr>
            <a:cxnSpLocks/>
            <a:stCxn id="4" idx="6"/>
            <a:endCxn id="16" idx="2"/>
          </p:cNvCxnSpPr>
          <p:nvPr/>
        </p:nvCxnSpPr>
        <p:spPr>
          <a:xfrm>
            <a:off x="6078985" y="2035662"/>
            <a:ext cx="1371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9F48C9D-78D9-58D6-8B5C-B5BA9C6F24D9}"/>
              </a:ext>
            </a:extLst>
          </p:cNvPr>
          <p:cNvCxnSpPr>
            <a:stCxn id="5" idx="5"/>
            <a:endCxn id="20" idx="2"/>
          </p:cNvCxnSpPr>
          <p:nvPr/>
        </p:nvCxnSpPr>
        <p:spPr>
          <a:xfrm>
            <a:off x="6056667" y="2560800"/>
            <a:ext cx="1393916" cy="391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205849-DD1F-EB6F-4C51-05E1DAC7B039}"/>
              </a:ext>
            </a:extLst>
          </p:cNvPr>
          <p:cNvCxnSpPr>
            <a:stCxn id="6" idx="6"/>
            <a:endCxn id="19" idx="2"/>
          </p:cNvCxnSpPr>
          <p:nvPr/>
        </p:nvCxnSpPr>
        <p:spPr>
          <a:xfrm flipV="1">
            <a:off x="6078985" y="2560800"/>
            <a:ext cx="1393916" cy="391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6406107-E921-FF0B-8D56-686959E2C58A}"/>
              </a:ext>
            </a:extLst>
          </p:cNvPr>
          <p:cNvCxnSpPr>
            <a:stCxn id="9" idx="6"/>
            <a:endCxn id="16" idx="3"/>
          </p:cNvCxnSpPr>
          <p:nvPr/>
        </p:nvCxnSpPr>
        <p:spPr>
          <a:xfrm flipV="1">
            <a:off x="6078985" y="2089544"/>
            <a:ext cx="1393916" cy="1333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95ED26F-BA5B-90E9-7D71-C536EA366678}"/>
              </a:ext>
            </a:extLst>
          </p:cNvPr>
          <p:cNvCxnSpPr>
            <a:stCxn id="15" idx="3"/>
            <a:endCxn id="23" idx="2"/>
          </p:cNvCxnSpPr>
          <p:nvPr/>
        </p:nvCxnSpPr>
        <p:spPr>
          <a:xfrm>
            <a:off x="6078985" y="3839492"/>
            <a:ext cx="1371598" cy="6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31B6430-174A-B3DF-5E37-012340FB03B4}"/>
              </a:ext>
            </a:extLst>
          </p:cNvPr>
          <p:cNvSpPr txBox="1"/>
          <p:nvPr/>
        </p:nvSpPr>
        <p:spPr>
          <a:xfrm>
            <a:off x="4815395" y="4168027"/>
            <a:ext cx="1295402" cy="43088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3A0B37-B097-D4EC-51C2-8F01E78FD1BD}"/>
              </a:ext>
            </a:extLst>
          </p:cNvPr>
          <p:cNvSpPr txBox="1"/>
          <p:nvPr/>
        </p:nvSpPr>
        <p:spPr>
          <a:xfrm>
            <a:off x="7086600" y="4145732"/>
            <a:ext cx="1600200" cy="43088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Co-domain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002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BA68F-60F8-0E39-388F-163EAC4A6156}"/>
              </a:ext>
            </a:extLst>
          </p:cNvPr>
          <p:cNvSpPr txBox="1"/>
          <p:nvPr/>
        </p:nvSpPr>
        <p:spPr>
          <a:xfrm>
            <a:off x="457200" y="16764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f be the function that assigns the last two bits of a bit string of length two or greater to that string. For example f(11010) = 10.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BD8D74-AC06-9979-17C0-32B47B8911D7}"/>
              </a:ext>
            </a:extLst>
          </p:cNvPr>
          <p:cNvSpPr txBox="1"/>
          <p:nvPr/>
        </p:nvSpPr>
        <p:spPr>
          <a:xfrm>
            <a:off x="762000" y="2514600"/>
            <a:ext cx="2209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 = 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B9E527-8A5A-3488-E1CB-983B7B248419}"/>
              </a:ext>
            </a:extLst>
          </p:cNvPr>
          <p:cNvSpPr txBox="1"/>
          <p:nvPr/>
        </p:nvSpPr>
        <p:spPr>
          <a:xfrm>
            <a:off x="3124200" y="2514600"/>
            <a:ext cx="2209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Co-domain=?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40941-8504-55B3-09C9-50472D0E99C9}"/>
              </a:ext>
            </a:extLst>
          </p:cNvPr>
          <p:cNvSpPr txBox="1"/>
          <p:nvPr/>
        </p:nvSpPr>
        <p:spPr>
          <a:xfrm>
            <a:off x="6172200" y="2514600"/>
            <a:ext cx="2209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Range=?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72148F-BE6C-A04B-8F53-9697103BCADE}"/>
              </a:ext>
            </a:extLst>
          </p:cNvPr>
          <p:cNvSpPr txBox="1"/>
          <p:nvPr/>
        </p:nvSpPr>
        <p:spPr>
          <a:xfrm>
            <a:off x="762000" y="3044279"/>
            <a:ext cx="807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 = {x | x is a bit string and length of x is greater than one}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10076A-7DB8-8433-B51F-3B7D4F93F885}"/>
              </a:ext>
            </a:extLst>
          </p:cNvPr>
          <p:cNvSpPr txBox="1"/>
          <p:nvPr/>
        </p:nvSpPr>
        <p:spPr>
          <a:xfrm>
            <a:off x="762000" y="3536527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All bit strings of length 2: 00, 01, 10, 11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D55EA-C61A-FE3A-D0A3-E84E5E29519F}"/>
              </a:ext>
            </a:extLst>
          </p:cNvPr>
          <p:cNvSpPr txBox="1"/>
          <p:nvPr/>
        </p:nvSpPr>
        <p:spPr>
          <a:xfrm>
            <a:off x="762000" y="4002881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when length is two, the co-domain is {00, 01, 10, 11}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FF714-84BB-ABDA-4293-40B0246AF3F2}"/>
              </a:ext>
            </a:extLst>
          </p:cNvPr>
          <p:cNvSpPr txBox="1"/>
          <p:nvPr/>
        </p:nvSpPr>
        <p:spPr>
          <a:xfrm>
            <a:off x="762000" y="4445605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All bit strings of length 3: 000, 001, 010, 011, 100, 101, 110, 111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50E11-491D-9F7B-670C-1F5708CED33F}"/>
              </a:ext>
            </a:extLst>
          </p:cNvPr>
          <p:cNvSpPr txBox="1"/>
          <p:nvPr/>
        </p:nvSpPr>
        <p:spPr>
          <a:xfrm>
            <a:off x="762000" y="4904407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when length is three, the co-domain is {00, 01, 10, 11}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1101DC-7AF3-CD81-C912-5F70661817A1}"/>
              </a:ext>
            </a:extLst>
          </p:cNvPr>
          <p:cNvSpPr txBox="1"/>
          <p:nvPr/>
        </p:nvSpPr>
        <p:spPr>
          <a:xfrm>
            <a:off x="762000" y="536320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is clear that, for any bit string with a length greater than one will have the same co-domain = {00, 01, 10, 11}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AE5279-23BA-A520-DAD4-C3A89A84B53A}"/>
              </a:ext>
            </a:extLst>
          </p:cNvPr>
          <p:cNvSpPr txBox="1"/>
          <p:nvPr/>
        </p:nvSpPr>
        <p:spPr>
          <a:xfrm>
            <a:off x="762000" y="60960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range will equal to the co-domain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95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9" grpId="0"/>
      <p:bldP spid="2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ONE-TO-ONE FUNCTION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BA68F-60F8-0E39-388F-163EAC4A6156}"/>
              </a:ext>
            </a:extLst>
          </p:cNvPr>
          <p:cNvSpPr txBox="1"/>
          <p:nvPr/>
        </p:nvSpPr>
        <p:spPr>
          <a:xfrm>
            <a:off x="457200" y="16764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Consider, a function that takes the salary of an employee as an argument and returns his/ her amount tax (10% of the salary).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7A7ADC-6EC6-F2B5-8E81-215908887133}"/>
              </a:ext>
            </a:extLst>
          </p:cNvPr>
          <p:cNvSpPr txBox="1"/>
          <p:nvPr/>
        </p:nvSpPr>
        <p:spPr>
          <a:xfrm>
            <a:off x="3733800" y="2445841"/>
            <a:ext cx="167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f(x) = 0.1x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EC3209-6F85-C403-E1B4-3966F5BE7CE3}"/>
              </a:ext>
            </a:extLst>
          </p:cNvPr>
          <p:cNvSpPr txBox="1"/>
          <p:nvPr/>
        </p:nvSpPr>
        <p:spPr>
          <a:xfrm>
            <a:off x="457200" y="2991455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Now, f(5000) = 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49D422-9724-E26C-A6AC-F23BAC1F7CAC}"/>
              </a:ext>
            </a:extLst>
          </p:cNvPr>
          <p:cNvSpPr txBox="1"/>
          <p:nvPr/>
        </p:nvSpPr>
        <p:spPr>
          <a:xfrm>
            <a:off x="4419600" y="2991454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Ans: 500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C80A7-24D4-E420-9266-7195A7D933F6}"/>
              </a:ext>
            </a:extLst>
          </p:cNvPr>
          <p:cNvSpPr txBox="1"/>
          <p:nvPr/>
        </p:nvSpPr>
        <p:spPr>
          <a:xfrm>
            <a:off x="457200" y="3540768"/>
            <a:ext cx="807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Which means that, if the salary is 5000, then the tax is 500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16EEBC-56CF-B8DB-B770-DB30332E1880}"/>
              </a:ext>
            </a:extLst>
          </p:cNvPr>
          <p:cNvSpPr txBox="1"/>
          <p:nvPr/>
        </p:nvSpPr>
        <p:spPr>
          <a:xfrm>
            <a:off x="457200" y="4064564"/>
            <a:ext cx="807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Now, if someone asks that, if the tax is 500 then what is the salary?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FE090F-CF09-CB39-ACF2-2366107A5CC7}"/>
              </a:ext>
            </a:extLst>
          </p:cNvPr>
          <p:cNvSpPr txBox="1"/>
          <p:nvPr/>
        </p:nvSpPr>
        <p:spPr>
          <a:xfrm>
            <a:off x="914400" y="4517269"/>
            <a:ext cx="2057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Ans: 5000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E25F8-AFDC-62CF-B6E9-A5AE1C544AAD}"/>
              </a:ext>
            </a:extLst>
          </p:cNvPr>
          <p:cNvSpPr txBox="1"/>
          <p:nvPr/>
        </p:nvSpPr>
        <p:spPr>
          <a:xfrm>
            <a:off x="457200" y="4980403"/>
            <a:ext cx="807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Means, the salary is calculatable from tax and the tax is calculatable from salary as well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3385F6-D825-891E-F250-9534753D7CEE}"/>
              </a:ext>
            </a:extLst>
          </p:cNvPr>
          <p:cNvSpPr txBox="1"/>
          <p:nvPr/>
        </p:nvSpPr>
        <p:spPr>
          <a:xfrm>
            <a:off x="457200" y="5850075"/>
            <a:ext cx="807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this is a One-to-One function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60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4" grpId="0"/>
      <p:bldP spid="5" grpId="0"/>
      <p:bldP spid="6" grpId="0"/>
      <p:bldP spid="16" grpId="0"/>
      <p:bldP spid="17" grpId="0"/>
      <p:bldP spid="18" grpId="0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ONE-TO-ONE FUNCTION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BA68F-60F8-0E39-388F-163EAC4A6156}"/>
              </a:ext>
            </a:extLst>
          </p:cNvPr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function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7A7ADC-6EC6-F2B5-8E81-215908887133}"/>
              </a:ext>
            </a:extLst>
          </p:cNvPr>
          <p:cNvSpPr txBox="1"/>
          <p:nvPr/>
        </p:nvSpPr>
        <p:spPr>
          <a:xfrm>
            <a:off x="3733800" y="2145017"/>
            <a:ext cx="167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f(x) = 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EC3209-6F85-C403-E1B4-3966F5BE7CE3}"/>
              </a:ext>
            </a:extLst>
          </p:cNvPr>
          <p:cNvSpPr txBox="1"/>
          <p:nvPr/>
        </p:nvSpPr>
        <p:spPr>
          <a:xfrm>
            <a:off x="457200" y="2690631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Now, f(5) = 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49D422-9724-E26C-A6AC-F23BAC1F7CAC}"/>
              </a:ext>
            </a:extLst>
          </p:cNvPr>
          <p:cNvSpPr txBox="1"/>
          <p:nvPr/>
        </p:nvSpPr>
        <p:spPr>
          <a:xfrm>
            <a:off x="4419600" y="2690630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Ans: 25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16EEBC-56CF-B8DB-B770-DB30332E1880}"/>
              </a:ext>
            </a:extLst>
          </p:cNvPr>
          <p:cNvSpPr txBox="1"/>
          <p:nvPr/>
        </p:nvSpPr>
        <p:spPr>
          <a:xfrm>
            <a:off x="457200" y="3213556"/>
            <a:ext cx="807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Now, if someone asks that, if 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25 then can it be answered?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FE090F-CF09-CB39-ACF2-2366107A5CC7}"/>
              </a:ext>
            </a:extLst>
          </p:cNvPr>
          <p:cNvSpPr txBox="1"/>
          <p:nvPr/>
        </p:nvSpPr>
        <p:spPr>
          <a:xfrm>
            <a:off x="914400" y="3666261"/>
            <a:ext cx="2057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Ans: No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E25F8-AFDC-62CF-B6E9-A5AE1C544AAD}"/>
              </a:ext>
            </a:extLst>
          </p:cNvPr>
          <p:cNvSpPr txBox="1"/>
          <p:nvPr/>
        </p:nvSpPr>
        <p:spPr>
          <a:xfrm>
            <a:off x="461639" y="4176412"/>
            <a:ext cx="807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Means, 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calculatable from x, but x is not calculatable from 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3385F6-D825-891E-F250-9534753D7CEE}"/>
              </a:ext>
            </a:extLst>
          </p:cNvPr>
          <p:cNvSpPr txBox="1"/>
          <p:nvPr/>
        </p:nvSpPr>
        <p:spPr>
          <a:xfrm>
            <a:off x="457200" y="4615043"/>
            <a:ext cx="807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this is not a One-to-One function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DDEE6-0E8E-7FB0-1EF3-ECE184B22E07}"/>
              </a:ext>
            </a:extLst>
          </p:cNvPr>
          <p:cNvSpPr txBox="1"/>
          <p:nvPr/>
        </p:nvSpPr>
        <p:spPr>
          <a:xfrm>
            <a:off x="4495800" y="3756381"/>
            <a:ext cx="426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Because x can be either 5 or -5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577F2-CA12-2732-AD86-77E8507197F4}"/>
              </a:ext>
            </a:extLst>
          </p:cNvPr>
          <p:cNvSpPr txBox="1"/>
          <p:nvPr/>
        </p:nvSpPr>
        <p:spPr>
          <a:xfrm>
            <a:off x="457200" y="5139268"/>
            <a:ext cx="807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Means, if an element in the Range is associated with multiple elements of the Domain then the function is not One-to-One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6D3116-6039-CF3B-48ED-0F7EEF6920A9}"/>
              </a:ext>
            </a:extLst>
          </p:cNvPr>
          <p:cNvSpPr txBox="1"/>
          <p:nvPr/>
        </p:nvSpPr>
        <p:spPr>
          <a:xfrm>
            <a:off x="457200" y="5978489"/>
            <a:ext cx="807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Here, 25 from Range is associated with both 5 and -5 in Domain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10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4" grpId="0"/>
      <p:bldP spid="5" grpId="0"/>
      <p:bldP spid="16" grpId="0"/>
      <p:bldP spid="17" grpId="0"/>
      <p:bldP spid="18" grpId="0"/>
      <p:bldP spid="21" grpId="0"/>
      <p:bldP spid="7" grpId="0"/>
      <p:bldP spid="8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ONE-TO-ONE FUNCTION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998B20C-F88E-5C19-016F-7E8A53EEC096}"/>
              </a:ext>
            </a:extLst>
          </p:cNvPr>
          <p:cNvSpPr/>
          <p:nvPr/>
        </p:nvSpPr>
        <p:spPr>
          <a:xfrm>
            <a:off x="1600202" y="1916814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3598F06-1E9E-E020-9107-5CE7951A3867}"/>
              </a:ext>
            </a:extLst>
          </p:cNvPr>
          <p:cNvSpPr/>
          <p:nvPr/>
        </p:nvSpPr>
        <p:spPr>
          <a:xfrm>
            <a:off x="1600202" y="238807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CEEEC2-1CCC-BB8F-32C3-D964BC97A1A7}"/>
              </a:ext>
            </a:extLst>
          </p:cNvPr>
          <p:cNvSpPr/>
          <p:nvPr/>
        </p:nvSpPr>
        <p:spPr>
          <a:xfrm>
            <a:off x="1600202" y="2833433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97D738-010F-896F-57C2-E9C38E2431FC}"/>
              </a:ext>
            </a:extLst>
          </p:cNvPr>
          <p:cNvSpPr/>
          <p:nvPr/>
        </p:nvSpPr>
        <p:spPr>
          <a:xfrm>
            <a:off x="1600202" y="3304689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908F0C-AFB2-2A8A-D0AC-5A65B5922F2F}"/>
              </a:ext>
            </a:extLst>
          </p:cNvPr>
          <p:cNvSpPr/>
          <p:nvPr/>
        </p:nvSpPr>
        <p:spPr>
          <a:xfrm>
            <a:off x="1600202" y="3726675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B4247-C843-A5C3-F210-479A625F3E2F}"/>
              </a:ext>
            </a:extLst>
          </p:cNvPr>
          <p:cNvSpPr txBox="1"/>
          <p:nvPr/>
        </p:nvSpPr>
        <p:spPr>
          <a:xfrm>
            <a:off x="457202" y="1740284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Dhrubo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C8F154-4D29-9BCC-B908-D280B35B464A}"/>
              </a:ext>
            </a:extLst>
          </p:cNvPr>
          <p:cNvSpPr txBox="1"/>
          <p:nvPr/>
        </p:nvSpPr>
        <p:spPr>
          <a:xfrm>
            <a:off x="457201" y="2217236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Siam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B08A64-ECB6-5516-C1D2-656132C2044C}"/>
              </a:ext>
            </a:extLst>
          </p:cNvPr>
          <p:cNvSpPr txBox="1"/>
          <p:nvPr/>
        </p:nvSpPr>
        <p:spPr>
          <a:xfrm>
            <a:off x="457202" y="2694189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F6FD74-DBEC-1E04-1EDF-8C27E7B5FCBB}"/>
              </a:ext>
            </a:extLst>
          </p:cNvPr>
          <p:cNvSpPr txBox="1"/>
          <p:nvPr/>
        </p:nvSpPr>
        <p:spPr>
          <a:xfrm>
            <a:off x="457200" y="3171141"/>
            <a:ext cx="129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Mehrab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A9FDE0-D94A-D202-085E-9B8AA1820AD5}"/>
              </a:ext>
            </a:extLst>
          </p:cNvPr>
          <p:cNvSpPr txBox="1"/>
          <p:nvPr/>
        </p:nvSpPr>
        <p:spPr>
          <a:xfrm>
            <a:off x="457200" y="3581400"/>
            <a:ext cx="129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Sarafat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00F3B5-05ED-3F6F-F301-0F7D5D769F47}"/>
              </a:ext>
            </a:extLst>
          </p:cNvPr>
          <p:cNvSpPr/>
          <p:nvPr/>
        </p:nvSpPr>
        <p:spPr>
          <a:xfrm>
            <a:off x="3124200" y="1916814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7934B67-DBBB-ECC2-5016-BE12E390A77D}"/>
              </a:ext>
            </a:extLst>
          </p:cNvPr>
          <p:cNvSpPr/>
          <p:nvPr/>
        </p:nvSpPr>
        <p:spPr>
          <a:xfrm>
            <a:off x="3124200" y="238807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E19B8BE-BDC2-9D5F-5AE0-7F884A0EA552}"/>
              </a:ext>
            </a:extLst>
          </p:cNvPr>
          <p:cNvSpPr/>
          <p:nvPr/>
        </p:nvSpPr>
        <p:spPr>
          <a:xfrm>
            <a:off x="3124200" y="2833433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95841E-8BF2-7D30-54F4-F372E2C0C94C}"/>
              </a:ext>
            </a:extLst>
          </p:cNvPr>
          <p:cNvSpPr/>
          <p:nvPr/>
        </p:nvSpPr>
        <p:spPr>
          <a:xfrm>
            <a:off x="3124200" y="3304689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3DA0C4E-1C36-85AC-A330-80052C5F1FE8}"/>
              </a:ext>
            </a:extLst>
          </p:cNvPr>
          <p:cNvSpPr/>
          <p:nvPr/>
        </p:nvSpPr>
        <p:spPr>
          <a:xfrm>
            <a:off x="3124200" y="3726675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2B1784-C204-F368-976A-6F24AFFB307A}"/>
              </a:ext>
            </a:extLst>
          </p:cNvPr>
          <p:cNvSpPr txBox="1"/>
          <p:nvPr/>
        </p:nvSpPr>
        <p:spPr>
          <a:xfrm>
            <a:off x="3429003" y="1760912"/>
            <a:ext cx="626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A+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951403-83BD-9C6B-C318-DD0199481A3E}"/>
              </a:ext>
            </a:extLst>
          </p:cNvPr>
          <p:cNvSpPr txBox="1"/>
          <p:nvPr/>
        </p:nvSpPr>
        <p:spPr>
          <a:xfrm>
            <a:off x="3429002" y="2237864"/>
            <a:ext cx="533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32977A-1353-4BF5-AEB7-9D04647C468F}"/>
              </a:ext>
            </a:extLst>
          </p:cNvPr>
          <p:cNvSpPr txBox="1"/>
          <p:nvPr/>
        </p:nvSpPr>
        <p:spPr>
          <a:xfrm>
            <a:off x="3429002" y="2714817"/>
            <a:ext cx="533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0C27EF-14C6-5CF4-A16F-60802C4F6C3E}"/>
              </a:ext>
            </a:extLst>
          </p:cNvPr>
          <p:cNvSpPr txBox="1"/>
          <p:nvPr/>
        </p:nvSpPr>
        <p:spPr>
          <a:xfrm>
            <a:off x="3429000" y="3191769"/>
            <a:ext cx="533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FD1844-BEBB-9337-A12C-AEDDF6B69046}"/>
              </a:ext>
            </a:extLst>
          </p:cNvPr>
          <p:cNvSpPr txBox="1"/>
          <p:nvPr/>
        </p:nvSpPr>
        <p:spPr>
          <a:xfrm>
            <a:off x="3429000" y="3602028"/>
            <a:ext cx="533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281377-9159-9E6A-02A6-2C82A7AFE706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1752602" y="1993014"/>
            <a:ext cx="1371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8B9BB2F-F161-60B8-7EC9-ADE7B198C14B}"/>
              </a:ext>
            </a:extLst>
          </p:cNvPr>
          <p:cNvCxnSpPr>
            <a:stCxn id="10" idx="5"/>
            <a:endCxn id="26" idx="2"/>
          </p:cNvCxnSpPr>
          <p:nvPr/>
        </p:nvCxnSpPr>
        <p:spPr>
          <a:xfrm>
            <a:off x="1730284" y="2518152"/>
            <a:ext cx="1393916" cy="391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388343-EA5F-11F1-3658-50DC4D07F81C}"/>
              </a:ext>
            </a:extLst>
          </p:cNvPr>
          <p:cNvCxnSpPr>
            <a:stCxn id="11" idx="6"/>
            <a:endCxn id="25" idx="2"/>
          </p:cNvCxnSpPr>
          <p:nvPr/>
        </p:nvCxnSpPr>
        <p:spPr>
          <a:xfrm flipV="1">
            <a:off x="1752602" y="2518152"/>
            <a:ext cx="1393916" cy="391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0822CA3-75E9-C649-62A6-2E1280312F03}"/>
              </a:ext>
            </a:extLst>
          </p:cNvPr>
          <p:cNvCxnSpPr>
            <a:stCxn id="12" idx="6"/>
            <a:endCxn id="24" idx="3"/>
          </p:cNvCxnSpPr>
          <p:nvPr/>
        </p:nvCxnSpPr>
        <p:spPr>
          <a:xfrm flipV="1">
            <a:off x="1752602" y="2046896"/>
            <a:ext cx="1393916" cy="1333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CCDE3E4-2835-5109-5A02-0E1A2EACA02E}"/>
              </a:ext>
            </a:extLst>
          </p:cNvPr>
          <p:cNvCxnSpPr>
            <a:cxnSpLocks/>
            <a:stCxn id="23" idx="3"/>
            <a:endCxn id="65" idx="2"/>
          </p:cNvCxnSpPr>
          <p:nvPr/>
        </p:nvCxnSpPr>
        <p:spPr>
          <a:xfrm>
            <a:off x="1752602" y="3796844"/>
            <a:ext cx="1371598" cy="507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F437207D-C35C-AF33-BF39-9EFF72CA18F8}"/>
              </a:ext>
            </a:extLst>
          </p:cNvPr>
          <p:cNvSpPr/>
          <p:nvPr/>
        </p:nvSpPr>
        <p:spPr>
          <a:xfrm>
            <a:off x="3124200" y="4228459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076110-1112-4661-2FBA-10322517EAC4}"/>
              </a:ext>
            </a:extLst>
          </p:cNvPr>
          <p:cNvSpPr txBox="1"/>
          <p:nvPr/>
        </p:nvSpPr>
        <p:spPr>
          <a:xfrm>
            <a:off x="3429000" y="4103812"/>
            <a:ext cx="533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E165074-CD15-47E6-2623-90FA0C5F264E}"/>
              </a:ext>
            </a:extLst>
          </p:cNvPr>
          <p:cNvSpPr/>
          <p:nvPr/>
        </p:nvSpPr>
        <p:spPr>
          <a:xfrm>
            <a:off x="6001429" y="1937442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881A5F2-28E2-2FE7-3A34-91D0B62E4453}"/>
              </a:ext>
            </a:extLst>
          </p:cNvPr>
          <p:cNvSpPr/>
          <p:nvPr/>
        </p:nvSpPr>
        <p:spPr>
          <a:xfrm>
            <a:off x="6001429" y="2408698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C3DB9F5-E4ED-005C-80AC-587AFE476332}"/>
              </a:ext>
            </a:extLst>
          </p:cNvPr>
          <p:cNvSpPr/>
          <p:nvPr/>
        </p:nvSpPr>
        <p:spPr>
          <a:xfrm>
            <a:off x="6001429" y="2854061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98CBF27-F49C-54E6-B745-0D8E3F1D0762}"/>
              </a:ext>
            </a:extLst>
          </p:cNvPr>
          <p:cNvSpPr/>
          <p:nvPr/>
        </p:nvSpPr>
        <p:spPr>
          <a:xfrm>
            <a:off x="6001429" y="3325317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B849DC4-917E-321F-5262-2835287CCF1B}"/>
              </a:ext>
            </a:extLst>
          </p:cNvPr>
          <p:cNvSpPr/>
          <p:nvPr/>
        </p:nvSpPr>
        <p:spPr>
          <a:xfrm>
            <a:off x="6001429" y="3747303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6FC692-ABA0-0275-0473-EB26831DBC9F}"/>
              </a:ext>
            </a:extLst>
          </p:cNvPr>
          <p:cNvSpPr txBox="1"/>
          <p:nvPr/>
        </p:nvSpPr>
        <p:spPr>
          <a:xfrm>
            <a:off x="4858429" y="1760912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Dhrubo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E51AC0-84EC-40E4-CA1A-5FA2A70D3015}"/>
              </a:ext>
            </a:extLst>
          </p:cNvPr>
          <p:cNvSpPr txBox="1"/>
          <p:nvPr/>
        </p:nvSpPr>
        <p:spPr>
          <a:xfrm>
            <a:off x="4858428" y="2237864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Siam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237398-BDEC-F994-7255-E1930A94E9F5}"/>
              </a:ext>
            </a:extLst>
          </p:cNvPr>
          <p:cNvSpPr txBox="1"/>
          <p:nvPr/>
        </p:nvSpPr>
        <p:spPr>
          <a:xfrm>
            <a:off x="4858429" y="2714817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F56737-FF19-2E92-F0AA-BB853DB02826}"/>
              </a:ext>
            </a:extLst>
          </p:cNvPr>
          <p:cNvSpPr txBox="1"/>
          <p:nvPr/>
        </p:nvSpPr>
        <p:spPr>
          <a:xfrm>
            <a:off x="4858427" y="3191769"/>
            <a:ext cx="129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Mehrab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F7F34C6-D3D0-0853-DA72-14733F130C28}"/>
              </a:ext>
            </a:extLst>
          </p:cNvPr>
          <p:cNvSpPr txBox="1"/>
          <p:nvPr/>
        </p:nvSpPr>
        <p:spPr>
          <a:xfrm>
            <a:off x="4858427" y="3602028"/>
            <a:ext cx="129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Sarafat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B373D2E-2BFB-2A53-7DBB-7CF7B6CF783C}"/>
              </a:ext>
            </a:extLst>
          </p:cNvPr>
          <p:cNvSpPr/>
          <p:nvPr/>
        </p:nvSpPr>
        <p:spPr>
          <a:xfrm>
            <a:off x="7525427" y="1937442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E32E38B-4250-322A-FD63-E444825E1864}"/>
              </a:ext>
            </a:extLst>
          </p:cNvPr>
          <p:cNvSpPr/>
          <p:nvPr/>
        </p:nvSpPr>
        <p:spPr>
          <a:xfrm>
            <a:off x="7525427" y="2408698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5CC1D6D-59B2-0218-EA10-3575FFD6DB82}"/>
              </a:ext>
            </a:extLst>
          </p:cNvPr>
          <p:cNvSpPr/>
          <p:nvPr/>
        </p:nvSpPr>
        <p:spPr>
          <a:xfrm>
            <a:off x="7525427" y="2854061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37A3D19-4B1E-707B-F14D-D8FA4129DF52}"/>
              </a:ext>
            </a:extLst>
          </p:cNvPr>
          <p:cNvSpPr/>
          <p:nvPr/>
        </p:nvSpPr>
        <p:spPr>
          <a:xfrm>
            <a:off x="7525427" y="3325317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5D5284AD-CA9F-FC4B-3561-D7364F3C5CA0}"/>
              </a:ext>
            </a:extLst>
          </p:cNvPr>
          <p:cNvSpPr/>
          <p:nvPr/>
        </p:nvSpPr>
        <p:spPr>
          <a:xfrm>
            <a:off x="7525427" y="3747303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6196A36-32AF-253E-2F24-5DA4FD0D42BF}"/>
              </a:ext>
            </a:extLst>
          </p:cNvPr>
          <p:cNvSpPr txBox="1"/>
          <p:nvPr/>
        </p:nvSpPr>
        <p:spPr>
          <a:xfrm>
            <a:off x="7830230" y="1781540"/>
            <a:ext cx="626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A+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091AFEA-1DCE-14CD-86DD-05E3E365FF70}"/>
              </a:ext>
            </a:extLst>
          </p:cNvPr>
          <p:cNvSpPr txBox="1"/>
          <p:nvPr/>
        </p:nvSpPr>
        <p:spPr>
          <a:xfrm>
            <a:off x="7830229" y="2258492"/>
            <a:ext cx="533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E2BBD77-930C-7B5C-4A31-1CE98774EEEB}"/>
              </a:ext>
            </a:extLst>
          </p:cNvPr>
          <p:cNvSpPr txBox="1"/>
          <p:nvPr/>
        </p:nvSpPr>
        <p:spPr>
          <a:xfrm>
            <a:off x="7830229" y="2735445"/>
            <a:ext cx="533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5F166A-8CB2-4789-63EF-89B055CBA21B}"/>
              </a:ext>
            </a:extLst>
          </p:cNvPr>
          <p:cNvSpPr txBox="1"/>
          <p:nvPr/>
        </p:nvSpPr>
        <p:spPr>
          <a:xfrm>
            <a:off x="7830227" y="3212397"/>
            <a:ext cx="533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622B082-A90D-613E-1EF3-5E4AE5E99C67}"/>
              </a:ext>
            </a:extLst>
          </p:cNvPr>
          <p:cNvSpPr txBox="1"/>
          <p:nvPr/>
        </p:nvSpPr>
        <p:spPr>
          <a:xfrm>
            <a:off x="7830227" y="3622656"/>
            <a:ext cx="533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A18BCFF-FAFD-90F2-A2FE-4981A0533FE2}"/>
              </a:ext>
            </a:extLst>
          </p:cNvPr>
          <p:cNvCxnSpPr>
            <a:cxnSpLocks/>
            <a:stCxn id="68" idx="6"/>
            <a:endCxn id="78" idx="2"/>
          </p:cNvCxnSpPr>
          <p:nvPr/>
        </p:nvCxnSpPr>
        <p:spPr>
          <a:xfrm>
            <a:off x="6153829" y="2013642"/>
            <a:ext cx="1371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3F4F401-1CB3-97B9-3D8A-A0A7C1040615}"/>
              </a:ext>
            </a:extLst>
          </p:cNvPr>
          <p:cNvCxnSpPr>
            <a:stCxn id="69" idx="5"/>
            <a:endCxn id="80" idx="2"/>
          </p:cNvCxnSpPr>
          <p:nvPr/>
        </p:nvCxnSpPr>
        <p:spPr>
          <a:xfrm>
            <a:off x="6131511" y="2538780"/>
            <a:ext cx="1393916" cy="391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D42543C-395F-2351-1CA7-512918DE96B2}"/>
              </a:ext>
            </a:extLst>
          </p:cNvPr>
          <p:cNvCxnSpPr>
            <a:stCxn id="70" idx="6"/>
            <a:endCxn id="79" idx="2"/>
          </p:cNvCxnSpPr>
          <p:nvPr/>
        </p:nvCxnSpPr>
        <p:spPr>
          <a:xfrm flipV="1">
            <a:off x="6153829" y="2538780"/>
            <a:ext cx="1393916" cy="391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F30D05B-F50E-A65E-6FE3-9778D1231848}"/>
              </a:ext>
            </a:extLst>
          </p:cNvPr>
          <p:cNvCxnSpPr>
            <a:cxnSpLocks/>
            <a:stCxn id="71" idx="6"/>
            <a:endCxn id="81" idx="2"/>
          </p:cNvCxnSpPr>
          <p:nvPr/>
        </p:nvCxnSpPr>
        <p:spPr>
          <a:xfrm>
            <a:off x="6153829" y="3401517"/>
            <a:ext cx="1371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145E39F-61F0-919B-3BC0-878D22C6E796}"/>
              </a:ext>
            </a:extLst>
          </p:cNvPr>
          <p:cNvCxnSpPr>
            <a:cxnSpLocks/>
            <a:stCxn id="77" idx="3"/>
            <a:endCxn id="93" idx="2"/>
          </p:cNvCxnSpPr>
          <p:nvPr/>
        </p:nvCxnSpPr>
        <p:spPr>
          <a:xfrm>
            <a:off x="6153829" y="3817472"/>
            <a:ext cx="1371598" cy="507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BB45C512-DBCD-7C2D-EFBF-4F56C8A61A1B}"/>
              </a:ext>
            </a:extLst>
          </p:cNvPr>
          <p:cNvSpPr/>
          <p:nvPr/>
        </p:nvSpPr>
        <p:spPr>
          <a:xfrm>
            <a:off x="7525427" y="4249087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3C4BCBF-C9C9-0A1A-3E81-96D99DE9744A}"/>
              </a:ext>
            </a:extLst>
          </p:cNvPr>
          <p:cNvSpPr txBox="1"/>
          <p:nvPr/>
        </p:nvSpPr>
        <p:spPr>
          <a:xfrm>
            <a:off x="7830227" y="4124440"/>
            <a:ext cx="533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21200B7-9A14-FB30-3C8E-F6DB0058EB08}"/>
              </a:ext>
            </a:extLst>
          </p:cNvPr>
          <p:cNvSpPr txBox="1"/>
          <p:nvPr/>
        </p:nvSpPr>
        <p:spPr>
          <a:xfrm>
            <a:off x="816993" y="4788787"/>
            <a:ext cx="3265133" cy="4308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 One-to-One function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346982F-2BC8-8357-E486-D3351004DAED}"/>
              </a:ext>
            </a:extLst>
          </p:cNvPr>
          <p:cNvSpPr txBox="1"/>
          <p:nvPr/>
        </p:nvSpPr>
        <p:spPr>
          <a:xfrm>
            <a:off x="5061874" y="4788787"/>
            <a:ext cx="3265133" cy="4308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One-to-One function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8D576CA-F4AE-90DC-099B-45305FFFBD5A}"/>
              </a:ext>
            </a:extLst>
          </p:cNvPr>
          <p:cNvSpPr/>
          <p:nvPr/>
        </p:nvSpPr>
        <p:spPr>
          <a:xfrm>
            <a:off x="2819400" y="1676400"/>
            <a:ext cx="1371598" cy="6206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5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  <p:bldP spid="9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ONE-TO-ONE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7902A-2738-0B2A-15DE-9DB5D8C49BBD}"/>
              </a:ext>
            </a:extLst>
          </p:cNvPr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Again, consider the following function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0B1EC8-C62A-C170-4ECD-5C5A1AA4AD38}"/>
              </a:ext>
            </a:extLst>
          </p:cNvPr>
          <p:cNvSpPr txBox="1"/>
          <p:nvPr/>
        </p:nvSpPr>
        <p:spPr>
          <a:xfrm>
            <a:off x="3733800" y="2145017"/>
            <a:ext cx="167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f(x) = 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A7C05-F5D1-9B8E-D3EC-BDCFC32CF01A}"/>
              </a:ext>
            </a:extLst>
          </p:cNvPr>
          <p:cNvSpPr txBox="1"/>
          <p:nvPr/>
        </p:nvSpPr>
        <p:spPr>
          <a:xfrm>
            <a:off x="457200" y="26670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Why is it not a One-to-One function?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A5061-DFCA-8E55-1E3D-F837AE0A9E50}"/>
              </a:ext>
            </a:extLst>
          </p:cNvPr>
          <p:cNvSpPr txBox="1"/>
          <p:nvPr/>
        </p:nvSpPr>
        <p:spPr>
          <a:xfrm>
            <a:off x="838200" y="3100327"/>
            <a:ext cx="7848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Because there are more than one values in Domain for which the function returns the same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B23B21-F4D8-C4CC-C466-EE02B4BF3B55}"/>
                  </a:ext>
                </a:extLst>
              </p:cNvPr>
              <p:cNvSpPr txBox="1"/>
              <p:nvPr/>
            </p:nvSpPr>
            <p:spPr>
              <a:xfrm>
                <a:off x="838200" y="3869768"/>
                <a:ext cx="7848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f(-5) = f(5) but -5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5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B23B21-F4D8-C4CC-C466-EE02B4BF3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69768"/>
                <a:ext cx="7848600" cy="430887"/>
              </a:xfrm>
              <a:prstGeom prst="rect">
                <a:avLst/>
              </a:prstGeom>
              <a:blipFill>
                <a:blip r:embed="rId2"/>
                <a:stretch>
                  <a:fillRect l="-932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9A835E1-8D87-F38F-8575-90365BD0A4DD}"/>
              </a:ext>
            </a:extLst>
          </p:cNvPr>
          <p:cNvSpPr txBox="1"/>
          <p:nvPr/>
        </p:nvSpPr>
        <p:spPr>
          <a:xfrm>
            <a:off x="838200" y="4412159"/>
            <a:ext cx="7848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Means, a function is not One-to-One if f(a) = f(b) but a and b might not be equal, they can be different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75D3F4-47BD-F260-4D7C-B84C97709AB7}"/>
              </a:ext>
            </a:extLst>
          </p:cNvPr>
          <p:cNvSpPr txBox="1"/>
          <p:nvPr/>
        </p:nvSpPr>
        <p:spPr>
          <a:xfrm>
            <a:off x="838200" y="5293104"/>
            <a:ext cx="8001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But, a function is One-to-One if f(a) = f(b) and a must equal to 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EA52A1-D6C0-B29D-6C33-ADE6897D6EDB}"/>
              </a:ext>
            </a:extLst>
          </p:cNvPr>
          <p:cNvSpPr txBox="1"/>
          <p:nvPr/>
        </p:nvSpPr>
        <p:spPr>
          <a:xfrm>
            <a:off x="838200" y="5778850"/>
            <a:ext cx="800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Means, there are not multiple elements for which the function returns the same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63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15" grpId="0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ONE-TO-ONE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/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Let a function is: f: A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blipFill>
                <a:blip r:embed="rId2"/>
                <a:stretch>
                  <a:fillRect l="-815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88EED4F-8136-8351-825F-9BF8FA62988A}"/>
              </a:ext>
            </a:extLst>
          </p:cNvPr>
          <p:cNvSpPr txBox="1"/>
          <p:nvPr/>
        </p:nvSpPr>
        <p:spPr>
          <a:xfrm>
            <a:off x="457200" y="2146851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any two elements p and q from the domain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EAFC3C-B888-B798-978A-3CDBEECAE809}"/>
              </a:ext>
            </a:extLst>
          </p:cNvPr>
          <p:cNvSpPr txBox="1"/>
          <p:nvPr/>
        </p:nvSpPr>
        <p:spPr>
          <a:xfrm>
            <a:off x="457200" y="2577738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function is One-to-One: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4CF065-1D33-F0A6-1117-FF502F7DA594}"/>
              </a:ext>
            </a:extLst>
          </p:cNvPr>
          <p:cNvSpPr txBox="1"/>
          <p:nvPr/>
        </p:nvSpPr>
        <p:spPr>
          <a:xfrm>
            <a:off x="884583" y="3041755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f(p) = f(q) then p = q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65718-FFF1-92B9-D736-7632B29AF09A}"/>
              </a:ext>
            </a:extLst>
          </p:cNvPr>
          <p:cNvSpPr txBox="1"/>
          <p:nvPr/>
        </p:nvSpPr>
        <p:spPr>
          <a:xfrm>
            <a:off x="457200" y="3633932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 prove a function One-to-one let the function is f(x)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206390-B227-FDD3-09E7-B1172279E5D2}"/>
              </a:ext>
            </a:extLst>
          </p:cNvPr>
          <p:cNvSpPr txBox="1"/>
          <p:nvPr/>
        </p:nvSpPr>
        <p:spPr>
          <a:xfrm>
            <a:off x="685800" y="4149623"/>
            <a:ext cx="167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f(p)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469F99-A243-C739-2134-153B5DC89782}"/>
              </a:ext>
            </a:extLst>
          </p:cNvPr>
          <p:cNvSpPr txBox="1"/>
          <p:nvPr/>
        </p:nvSpPr>
        <p:spPr>
          <a:xfrm>
            <a:off x="3505200" y="4149623"/>
            <a:ext cx="167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f(q)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B1B0BD-8AB0-A677-07C1-9C8EAAD4905B}"/>
              </a:ext>
            </a:extLst>
          </p:cNvPr>
          <p:cNvSpPr txBox="1"/>
          <p:nvPr/>
        </p:nvSpPr>
        <p:spPr>
          <a:xfrm>
            <a:off x="6324599" y="4149622"/>
            <a:ext cx="23323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 f(p) = f(q)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5039D4-1665-EA37-3360-22719BF688CB}"/>
              </a:ext>
            </a:extLst>
          </p:cNvPr>
          <p:cNvSpPr txBox="1"/>
          <p:nvPr/>
        </p:nvSpPr>
        <p:spPr>
          <a:xfrm>
            <a:off x="685800" y="4665314"/>
            <a:ext cx="243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Solve f(p) = f(q)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38BD6D-F0AE-702A-C462-C189A1A12494}"/>
              </a:ext>
            </a:extLst>
          </p:cNvPr>
          <p:cNvSpPr txBox="1"/>
          <p:nvPr/>
        </p:nvSpPr>
        <p:spPr>
          <a:xfrm>
            <a:off x="3505200" y="4664362"/>
            <a:ext cx="487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p = q is found then f is One-to-one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31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0" grpId="0"/>
      <p:bldP spid="11" grpId="0"/>
      <p:bldP spid="12" grpId="0"/>
      <p:bldP spid="13" grpId="0"/>
      <p:bldP spid="14" grpId="0"/>
      <p:bldP spid="17" grpId="0"/>
      <p:bldP spid="18" grpId="0"/>
      <p:bldP spid="1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ONE-TO-ONE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7902A-2738-0B2A-15DE-9DB5D8C49BBD}"/>
              </a:ext>
            </a:extLst>
          </p:cNvPr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Determine whether f(x) = x + 1 is One-to-one or not.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4F28E-05A5-038F-F928-C977B6F38A6A}"/>
              </a:ext>
            </a:extLst>
          </p:cNvPr>
          <p:cNvSpPr txBox="1"/>
          <p:nvPr/>
        </p:nvSpPr>
        <p:spPr>
          <a:xfrm>
            <a:off x="914400" y="2259878"/>
            <a:ext cx="2044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f(p) = p + 1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F586C1-993A-3053-1612-694D27F7DCA4}"/>
              </a:ext>
            </a:extLst>
          </p:cNvPr>
          <p:cNvSpPr txBox="1"/>
          <p:nvPr/>
        </p:nvSpPr>
        <p:spPr>
          <a:xfrm>
            <a:off x="3962400" y="2259877"/>
            <a:ext cx="2044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f(q) = q + 1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29B084-A812-13E4-5B66-68FB45825506}"/>
              </a:ext>
            </a:extLst>
          </p:cNvPr>
          <p:cNvSpPr txBox="1"/>
          <p:nvPr/>
        </p:nvSpPr>
        <p:spPr>
          <a:xfrm>
            <a:off x="914400" y="2843356"/>
            <a:ext cx="2044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f(p) = f(q)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F2BAAD-14CE-FA73-D3B8-3FBAC253FDFF}"/>
              </a:ext>
            </a:extLst>
          </p:cNvPr>
          <p:cNvSpPr txBox="1"/>
          <p:nvPr/>
        </p:nvSpPr>
        <p:spPr>
          <a:xfrm>
            <a:off x="914400" y="3368314"/>
            <a:ext cx="2044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 + 1= q + 1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F689C2-A7E3-D873-B295-0FA1D887A49E}"/>
              </a:ext>
            </a:extLst>
          </p:cNvPr>
          <p:cNvSpPr txBox="1"/>
          <p:nvPr/>
        </p:nvSpPr>
        <p:spPr>
          <a:xfrm>
            <a:off x="914400" y="3893272"/>
            <a:ext cx="2044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 = q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4E5E75-4903-ACD1-AE3B-DAA1F547C273}"/>
              </a:ext>
            </a:extLst>
          </p:cNvPr>
          <p:cNvSpPr txBox="1"/>
          <p:nvPr/>
        </p:nvSpPr>
        <p:spPr>
          <a:xfrm>
            <a:off x="457200" y="453527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function is One-to-one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11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ONE-TO-ONE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7902A-2738-0B2A-15DE-9DB5D8C49BBD}"/>
              </a:ext>
            </a:extLst>
          </p:cNvPr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Determine whether f(x) = 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One-to-one or not.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4F28E-05A5-038F-F928-C977B6F38A6A}"/>
              </a:ext>
            </a:extLst>
          </p:cNvPr>
          <p:cNvSpPr txBox="1"/>
          <p:nvPr/>
        </p:nvSpPr>
        <p:spPr>
          <a:xfrm>
            <a:off x="914400" y="2259878"/>
            <a:ext cx="2044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f(p) = p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F586C1-993A-3053-1612-694D27F7DCA4}"/>
              </a:ext>
            </a:extLst>
          </p:cNvPr>
          <p:cNvSpPr txBox="1"/>
          <p:nvPr/>
        </p:nvSpPr>
        <p:spPr>
          <a:xfrm>
            <a:off x="3962400" y="2259877"/>
            <a:ext cx="2044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f(q) = q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29B084-A812-13E4-5B66-68FB45825506}"/>
              </a:ext>
            </a:extLst>
          </p:cNvPr>
          <p:cNvSpPr txBox="1"/>
          <p:nvPr/>
        </p:nvSpPr>
        <p:spPr>
          <a:xfrm>
            <a:off x="914400" y="2843356"/>
            <a:ext cx="2044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f(p) = f(q)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F2BAAD-14CE-FA73-D3B8-3FBAC253FDFF}"/>
              </a:ext>
            </a:extLst>
          </p:cNvPr>
          <p:cNvSpPr txBox="1"/>
          <p:nvPr/>
        </p:nvSpPr>
        <p:spPr>
          <a:xfrm>
            <a:off x="914400" y="3368314"/>
            <a:ext cx="2044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q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F689C2-A7E3-D873-B295-0FA1D887A49E}"/>
                  </a:ext>
                </a:extLst>
              </p:cNvPr>
              <p:cNvSpPr txBox="1"/>
              <p:nvPr/>
            </p:nvSpPr>
            <p:spPr>
              <a:xfrm>
                <a:off x="914400" y="3893272"/>
                <a:ext cx="204414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p =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q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F689C2-A7E3-D873-B295-0FA1D887A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93272"/>
                <a:ext cx="2044148" cy="430887"/>
              </a:xfrm>
              <a:prstGeom prst="rect">
                <a:avLst/>
              </a:prstGeom>
              <a:blipFill>
                <a:blip r:embed="rId2"/>
                <a:stretch>
                  <a:fillRect l="-3284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0E2B9B-0E3D-11AA-C439-986AE60A9BC2}"/>
                  </a:ext>
                </a:extLst>
              </p:cNvPr>
              <p:cNvSpPr txBox="1"/>
              <p:nvPr/>
            </p:nvSpPr>
            <p:spPr>
              <a:xfrm>
                <a:off x="914400" y="4349644"/>
                <a:ext cx="3962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p =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q does not imply p = q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0E2B9B-0E3D-11AA-C439-986AE60A9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349644"/>
                <a:ext cx="3962400" cy="430887"/>
              </a:xfrm>
              <a:prstGeom prst="rect">
                <a:avLst/>
              </a:prstGeom>
              <a:blipFill>
                <a:blip r:embed="rId3"/>
                <a:stretch>
                  <a:fillRect l="-1692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166B9B4-2924-5A1C-A2E4-6E45BA283709}"/>
              </a:ext>
            </a:extLst>
          </p:cNvPr>
          <p:cNvSpPr txBox="1"/>
          <p:nvPr/>
        </p:nvSpPr>
        <p:spPr>
          <a:xfrm>
            <a:off x="457200" y="500750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function is not One-to-one.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62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6" grpId="0"/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ONTO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7902A-2738-0B2A-15DE-9DB5D8C49BBD}"/>
              </a:ext>
            </a:extLst>
          </p:cNvPr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the Range and Co-domain of a function is equal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15073FA-47E4-2D96-B6A1-4298C5F8F6F4}"/>
              </a:ext>
            </a:extLst>
          </p:cNvPr>
          <p:cNvGrpSpPr/>
          <p:nvPr/>
        </p:nvGrpSpPr>
        <p:grpSpPr>
          <a:xfrm>
            <a:off x="990598" y="2373617"/>
            <a:ext cx="3657603" cy="2292631"/>
            <a:chOff x="990598" y="2373617"/>
            <a:chExt cx="3657603" cy="229263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0F92CBE-C25E-9189-92C5-5A15FCBE6AB9}"/>
                </a:ext>
              </a:extLst>
            </p:cNvPr>
            <p:cNvSpPr/>
            <p:nvPr/>
          </p:nvSpPr>
          <p:spPr>
            <a:xfrm>
              <a:off x="2133600" y="2550147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134812A-B663-5DC3-F800-A2A51A85873F}"/>
                </a:ext>
              </a:extLst>
            </p:cNvPr>
            <p:cNvSpPr/>
            <p:nvPr/>
          </p:nvSpPr>
          <p:spPr>
            <a:xfrm>
              <a:off x="2133600" y="3021403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A277239-18BB-34C3-D55F-0E4BF1DC44DE}"/>
                </a:ext>
              </a:extLst>
            </p:cNvPr>
            <p:cNvSpPr/>
            <p:nvPr/>
          </p:nvSpPr>
          <p:spPr>
            <a:xfrm>
              <a:off x="2133600" y="3466766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CC93070-AB46-7894-A268-B04C90D5218D}"/>
                </a:ext>
              </a:extLst>
            </p:cNvPr>
            <p:cNvSpPr/>
            <p:nvPr/>
          </p:nvSpPr>
          <p:spPr>
            <a:xfrm>
              <a:off x="2133600" y="3938022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279D423-F7CB-828E-478C-7A9C1AFF157A}"/>
                </a:ext>
              </a:extLst>
            </p:cNvPr>
            <p:cNvSpPr/>
            <p:nvPr/>
          </p:nvSpPr>
          <p:spPr>
            <a:xfrm>
              <a:off x="2133600" y="4360008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F4BA1B-36B5-FA0B-4529-8FC1B90A6BE6}"/>
                </a:ext>
              </a:extLst>
            </p:cNvPr>
            <p:cNvSpPr txBox="1"/>
            <p:nvPr/>
          </p:nvSpPr>
          <p:spPr>
            <a:xfrm>
              <a:off x="990600" y="2373617"/>
              <a:ext cx="10497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Dhrubo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5541D1-6F1E-8190-7B91-4F20F1928D28}"/>
                </a:ext>
              </a:extLst>
            </p:cNvPr>
            <p:cNvSpPr txBox="1"/>
            <p:nvPr/>
          </p:nvSpPr>
          <p:spPr>
            <a:xfrm>
              <a:off x="990599" y="2850569"/>
              <a:ext cx="10497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Siam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5D8E89-4176-AEA8-8DDE-9194673BA678}"/>
                </a:ext>
              </a:extLst>
            </p:cNvPr>
            <p:cNvSpPr txBox="1"/>
            <p:nvPr/>
          </p:nvSpPr>
          <p:spPr>
            <a:xfrm>
              <a:off x="990600" y="3327522"/>
              <a:ext cx="10497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Deb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9712DE8-E392-C85A-BA05-9924F22A613F}"/>
                </a:ext>
              </a:extLst>
            </p:cNvPr>
            <p:cNvSpPr txBox="1"/>
            <p:nvPr/>
          </p:nvSpPr>
          <p:spPr>
            <a:xfrm>
              <a:off x="990598" y="3804474"/>
              <a:ext cx="12954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Mehrab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5760E6-5320-59B7-C928-5F085E72A772}"/>
                </a:ext>
              </a:extLst>
            </p:cNvPr>
            <p:cNvSpPr txBox="1"/>
            <p:nvPr/>
          </p:nvSpPr>
          <p:spPr>
            <a:xfrm>
              <a:off x="990598" y="4214733"/>
              <a:ext cx="12954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Sarafat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7E53B04-9E3C-C515-8DA8-6D0D4553D4B8}"/>
                </a:ext>
              </a:extLst>
            </p:cNvPr>
            <p:cNvSpPr/>
            <p:nvPr/>
          </p:nvSpPr>
          <p:spPr>
            <a:xfrm>
              <a:off x="3657598" y="2550147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5B5CFBC-3FD8-910C-FA13-3E188F955692}"/>
                </a:ext>
              </a:extLst>
            </p:cNvPr>
            <p:cNvSpPr/>
            <p:nvPr/>
          </p:nvSpPr>
          <p:spPr>
            <a:xfrm>
              <a:off x="3657598" y="3021403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4005F4D-BD2E-EFAD-F81F-DCA75F1A945D}"/>
                </a:ext>
              </a:extLst>
            </p:cNvPr>
            <p:cNvSpPr/>
            <p:nvPr/>
          </p:nvSpPr>
          <p:spPr>
            <a:xfrm>
              <a:off x="3657598" y="3466766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06F46E1-54FD-8B2B-FE4B-70A1028B4E45}"/>
                </a:ext>
              </a:extLst>
            </p:cNvPr>
            <p:cNvSpPr/>
            <p:nvPr/>
          </p:nvSpPr>
          <p:spPr>
            <a:xfrm>
              <a:off x="3657598" y="3938022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9E6BF94-DBBD-8A9C-1D56-0A89D71A87A9}"/>
                </a:ext>
              </a:extLst>
            </p:cNvPr>
            <p:cNvSpPr/>
            <p:nvPr/>
          </p:nvSpPr>
          <p:spPr>
            <a:xfrm>
              <a:off x="3657598" y="4360008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A70F82-B143-079E-5DC6-BED9B4D54225}"/>
                </a:ext>
              </a:extLst>
            </p:cNvPr>
            <p:cNvSpPr txBox="1"/>
            <p:nvPr/>
          </p:nvSpPr>
          <p:spPr>
            <a:xfrm>
              <a:off x="3962401" y="2394245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4B207E6-D9D9-C8F8-5983-6C621D83F890}"/>
                </a:ext>
              </a:extLst>
            </p:cNvPr>
            <p:cNvSpPr txBox="1"/>
            <p:nvPr/>
          </p:nvSpPr>
          <p:spPr>
            <a:xfrm>
              <a:off x="3962399" y="2871197"/>
              <a:ext cx="5334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22F6DC-1ED0-E932-4C06-CE63B19E0011}"/>
                </a:ext>
              </a:extLst>
            </p:cNvPr>
            <p:cNvSpPr txBox="1"/>
            <p:nvPr/>
          </p:nvSpPr>
          <p:spPr>
            <a:xfrm>
              <a:off x="3962401" y="3348150"/>
              <a:ext cx="533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2651FA9-48D1-4D89-0BFA-95231BD9D98E}"/>
                </a:ext>
              </a:extLst>
            </p:cNvPr>
            <p:cNvSpPr txBox="1"/>
            <p:nvPr/>
          </p:nvSpPr>
          <p:spPr>
            <a:xfrm>
              <a:off x="3962398" y="3825102"/>
              <a:ext cx="533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D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8FEE617-E277-04C9-FA7A-896AE45C8F25}"/>
                </a:ext>
              </a:extLst>
            </p:cNvPr>
            <p:cNvSpPr txBox="1"/>
            <p:nvPr/>
          </p:nvSpPr>
          <p:spPr>
            <a:xfrm>
              <a:off x="3962398" y="4235361"/>
              <a:ext cx="533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ABFABC1-2F0C-0726-3CEE-CC8339C0D770}"/>
                </a:ext>
              </a:extLst>
            </p:cNvPr>
            <p:cNvCxnSpPr>
              <a:cxnSpLocks/>
              <a:stCxn id="6" idx="6"/>
              <a:endCxn id="21" idx="2"/>
            </p:cNvCxnSpPr>
            <p:nvPr/>
          </p:nvCxnSpPr>
          <p:spPr>
            <a:xfrm>
              <a:off x="2286000" y="2626347"/>
              <a:ext cx="13715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ED50814-8218-3898-1894-35F0FD029EB3}"/>
                </a:ext>
              </a:extLst>
            </p:cNvPr>
            <p:cNvCxnSpPr>
              <a:stCxn id="10" idx="5"/>
              <a:endCxn id="23" idx="2"/>
            </p:cNvCxnSpPr>
            <p:nvPr/>
          </p:nvCxnSpPr>
          <p:spPr>
            <a:xfrm>
              <a:off x="2263682" y="3151485"/>
              <a:ext cx="1393916" cy="3914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64992AA-3D1E-CDEC-E25E-C4E3C8837716}"/>
                </a:ext>
              </a:extLst>
            </p:cNvPr>
            <p:cNvCxnSpPr>
              <a:stCxn id="11" idx="6"/>
              <a:endCxn id="22" idx="2"/>
            </p:cNvCxnSpPr>
            <p:nvPr/>
          </p:nvCxnSpPr>
          <p:spPr>
            <a:xfrm flipV="1">
              <a:off x="2286000" y="3151485"/>
              <a:ext cx="1393916" cy="3914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6EEE834-8F42-0CE6-7E27-A2A8F8E973B2}"/>
                </a:ext>
              </a:extLst>
            </p:cNvPr>
            <p:cNvCxnSpPr>
              <a:stCxn id="12" idx="6"/>
              <a:endCxn id="21" idx="3"/>
            </p:cNvCxnSpPr>
            <p:nvPr/>
          </p:nvCxnSpPr>
          <p:spPr>
            <a:xfrm flipV="1">
              <a:off x="2286000" y="2680229"/>
              <a:ext cx="1393916" cy="13339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00666BD-E350-D3F2-A477-1BB370231508}"/>
                </a:ext>
              </a:extLst>
            </p:cNvPr>
            <p:cNvCxnSpPr>
              <a:stCxn id="20" idx="3"/>
              <a:endCxn id="25" idx="2"/>
            </p:cNvCxnSpPr>
            <p:nvPr/>
          </p:nvCxnSpPr>
          <p:spPr>
            <a:xfrm>
              <a:off x="2286000" y="4430177"/>
              <a:ext cx="1371598" cy="6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A15A3AF-1B0B-9B34-2918-C3021DB9942B}"/>
              </a:ext>
            </a:extLst>
          </p:cNvPr>
          <p:cNvSpPr txBox="1"/>
          <p:nvPr/>
        </p:nvSpPr>
        <p:spPr>
          <a:xfrm>
            <a:off x="2260847" y="4906401"/>
            <a:ext cx="1371598" cy="4308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 Onto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ACBC16D-5DBD-DE91-8ED5-93C4EC565049}"/>
              </a:ext>
            </a:extLst>
          </p:cNvPr>
          <p:cNvGrpSpPr/>
          <p:nvPr/>
        </p:nvGrpSpPr>
        <p:grpSpPr>
          <a:xfrm>
            <a:off x="4975318" y="2377650"/>
            <a:ext cx="3657603" cy="2292631"/>
            <a:chOff x="4975318" y="2377650"/>
            <a:chExt cx="3657603" cy="2292631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3C162148-610B-6C41-C731-05E9AF4B7C68}"/>
                </a:ext>
              </a:extLst>
            </p:cNvPr>
            <p:cNvSpPr/>
            <p:nvPr/>
          </p:nvSpPr>
          <p:spPr>
            <a:xfrm>
              <a:off x="6118320" y="2554180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02EE702-87F8-B91A-FE07-2F843ED0A133}"/>
                </a:ext>
              </a:extLst>
            </p:cNvPr>
            <p:cNvSpPr/>
            <p:nvPr/>
          </p:nvSpPr>
          <p:spPr>
            <a:xfrm>
              <a:off x="6118320" y="3025436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5B98163-50DD-F28A-F3C7-6188AD53BABA}"/>
                </a:ext>
              </a:extLst>
            </p:cNvPr>
            <p:cNvSpPr/>
            <p:nvPr/>
          </p:nvSpPr>
          <p:spPr>
            <a:xfrm>
              <a:off x="6118320" y="3470799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30D44E0-E09C-D374-6364-52AC635C9D6F}"/>
                </a:ext>
              </a:extLst>
            </p:cNvPr>
            <p:cNvSpPr/>
            <p:nvPr/>
          </p:nvSpPr>
          <p:spPr>
            <a:xfrm>
              <a:off x="6118320" y="3942055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9D733D9-FABB-E739-FC9B-FE1A6818DA15}"/>
                </a:ext>
              </a:extLst>
            </p:cNvPr>
            <p:cNvSpPr/>
            <p:nvPr/>
          </p:nvSpPr>
          <p:spPr>
            <a:xfrm>
              <a:off x="6118320" y="4364041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A6F77D6-5573-44E5-A737-BC25084E79DF}"/>
                </a:ext>
              </a:extLst>
            </p:cNvPr>
            <p:cNvSpPr txBox="1"/>
            <p:nvPr/>
          </p:nvSpPr>
          <p:spPr>
            <a:xfrm>
              <a:off x="4975320" y="2377650"/>
              <a:ext cx="10497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Dhrubo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077607A-A01A-7372-16E4-97C4448AC9D6}"/>
                </a:ext>
              </a:extLst>
            </p:cNvPr>
            <p:cNvSpPr txBox="1"/>
            <p:nvPr/>
          </p:nvSpPr>
          <p:spPr>
            <a:xfrm>
              <a:off x="4975319" y="2854602"/>
              <a:ext cx="10497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Siam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8A0E428-F605-36AD-4F27-0CBBB8D6D7F8}"/>
                </a:ext>
              </a:extLst>
            </p:cNvPr>
            <p:cNvSpPr txBox="1"/>
            <p:nvPr/>
          </p:nvSpPr>
          <p:spPr>
            <a:xfrm>
              <a:off x="4975320" y="3331555"/>
              <a:ext cx="10497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Deb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6C11A36-F817-0304-1DC8-93441552B7E5}"/>
                </a:ext>
              </a:extLst>
            </p:cNvPr>
            <p:cNvSpPr txBox="1"/>
            <p:nvPr/>
          </p:nvSpPr>
          <p:spPr>
            <a:xfrm>
              <a:off x="4975318" y="3808507"/>
              <a:ext cx="12954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Mehrab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510E897-9D48-B00B-2E66-E1877EAFFC6E}"/>
                </a:ext>
              </a:extLst>
            </p:cNvPr>
            <p:cNvSpPr txBox="1"/>
            <p:nvPr/>
          </p:nvSpPr>
          <p:spPr>
            <a:xfrm>
              <a:off x="4975318" y="4218766"/>
              <a:ext cx="12954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Sarafat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48F4B74-6021-852E-0F1A-F83627FF9911}"/>
                </a:ext>
              </a:extLst>
            </p:cNvPr>
            <p:cNvSpPr/>
            <p:nvPr/>
          </p:nvSpPr>
          <p:spPr>
            <a:xfrm>
              <a:off x="7642318" y="2554180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D722E3B-A6C9-7180-9A2C-272FE3AC22E1}"/>
                </a:ext>
              </a:extLst>
            </p:cNvPr>
            <p:cNvSpPr/>
            <p:nvPr/>
          </p:nvSpPr>
          <p:spPr>
            <a:xfrm>
              <a:off x="7642318" y="3025436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9A7FDDB-75E3-6578-F3B1-1C303AC993A2}"/>
                </a:ext>
              </a:extLst>
            </p:cNvPr>
            <p:cNvSpPr/>
            <p:nvPr/>
          </p:nvSpPr>
          <p:spPr>
            <a:xfrm>
              <a:off x="7642318" y="3470799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4101E31F-58F7-64CD-C1A0-BE8B3B88896F}"/>
                </a:ext>
              </a:extLst>
            </p:cNvPr>
            <p:cNvSpPr/>
            <p:nvPr/>
          </p:nvSpPr>
          <p:spPr>
            <a:xfrm>
              <a:off x="7642318" y="3942055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BA1FDEE-71C7-A691-B866-E8BFDFE9A3FD}"/>
                </a:ext>
              </a:extLst>
            </p:cNvPr>
            <p:cNvSpPr/>
            <p:nvPr/>
          </p:nvSpPr>
          <p:spPr>
            <a:xfrm>
              <a:off x="7642318" y="4364041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5638352-E0BA-40F3-4809-02D6B184FE95}"/>
                </a:ext>
              </a:extLst>
            </p:cNvPr>
            <p:cNvSpPr txBox="1"/>
            <p:nvPr/>
          </p:nvSpPr>
          <p:spPr>
            <a:xfrm>
              <a:off x="7947121" y="2398278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7D939EF-0000-1177-CF1C-7610C50F3AF9}"/>
                </a:ext>
              </a:extLst>
            </p:cNvPr>
            <p:cNvSpPr txBox="1"/>
            <p:nvPr/>
          </p:nvSpPr>
          <p:spPr>
            <a:xfrm>
              <a:off x="7947119" y="2875230"/>
              <a:ext cx="5334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5CF746E-479C-5C6A-C21D-61A9F1E25340}"/>
                </a:ext>
              </a:extLst>
            </p:cNvPr>
            <p:cNvSpPr txBox="1"/>
            <p:nvPr/>
          </p:nvSpPr>
          <p:spPr>
            <a:xfrm>
              <a:off x="7947121" y="3352183"/>
              <a:ext cx="533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E4C7D01-930B-8743-CFAF-6ABD80CF588D}"/>
                </a:ext>
              </a:extLst>
            </p:cNvPr>
            <p:cNvSpPr txBox="1"/>
            <p:nvPr/>
          </p:nvSpPr>
          <p:spPr>
            <a:xfrm>
              <a:off x="7947118" y="3829135"/>
              <a:ext cx="533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D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3036099-82CC-E330-A51B-3FDE5B6CE64B}"/>
                </a:ext>
              </a:extLst>
            </p:cNvPr>
            <p:cNvSpPr txBox="1"/>
            <p:nvPr/>
          </p:nvSpPr>
          <p:spPr>
            <a:xfrm>
              <a:off x="7947118" y="4239394"/>
              <a:ext cx="533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en-US" sz="22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95F1BB10-46E7-3B6F-3D94-709BE71A9BB6}"/>
                </a:ext>
              </a:extLst>
            </p:cNvPr>
            <p:cNvCxnSpPr>
              <a:cxnSpLocks/>
              <a:stCxn id="63" idx="6"/>
              <a:endCxn id="73" idx="2"/>
            </p:cNvCxnSpPr>
            <p:nvPr/>
          </p:nvCxnSpPr>
          <p:spPr>
            <a:xfrm>
              <a:off x="6270720" y="2630380"/>
              <a:ext cx="13715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81471DA-A7BE-E4E9-B0AC-662D04237BC5}"/>
                </a:ext>
              </a:extLst>
            </p:cNvPr>
            <p:cNvCxnSpPr>
              <a:stCxn id="64" idx="5"/>
              <a:endCxn id="75" idx="2"/>
            </p:cNvCxnSpPr>
            <p:nvPr/>
          </p:nvCxnSpPr>
          <p:spPr>
            <a:xfrm>
              <a:off x="6248402" y="3155518"/>
              <a:ext cx="1393916" cy="3914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61DA8900-B9BC-92C5-0A91-FA20B2AF0CA4}"/>
                </a:ext>
              </a:extLst>
            </p:cNvPr>
            <p:cNvCxnSpPr>
              <a:stCxn id="65" idx="6"/>
              <a:endCxn id="74" idx="2"/>
            </p:cNvCxnSpPr>
            <p:nvPr/>
          </p:nvCxnSpPr>
          <p:spPr>
            <a:xfrm flipV="1">
              <a:off x="6270720" y="3155518"/>
              <a:ext cx="1393916" cy="3914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0D3A1CA7-32EB-4C1A-1137-4D7263E0B5EF}"/>
                </a:ext>
              </a:extLst>
            </p:cNvPr>
            <p:cNvCxnSpPr>
              <a:cxnSpLocks/>
              <a:stCxn id="66" idx="6"/>
              <a:endCxn id="76" idx="2"/>
            </p:cNvCxnSpPr>
            <p:nvPr/>
          </p:nvCxnSpPr>
          <p:spPr>
            <a:xfrm>
              <a:off x="6270720" y="4018255"/>
              <a:ext cx="13715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E3179D9C-ABE9-E10D-E606-EF35E2E720E2}"/>
                </a:ext>
              </a:extLst>
            </p:cNvPr>
            <p:cNvCxnSpPr>
              <a:stCxn id="72" idx="3"/>
              <a:endCxn id="77" idx="2"/>
            </p:cNvCxnSpPr>
            <p:nvPr/>
          </p:nvCxnSpPr>
          <p:spPr>
            <a:xfrm>
              <a:off x="6270720" y="4434210"/>
              <a:ext cx="1371598" cy="6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F397C7F4-F13A-DB8C-9366-987D43250265}"/>
              </a:ext>
            </a:extLst>
          </p:cNvPr>
          <p:cNvSpPr txBox="1"/>
          <p:nvPr/>
        </p:nvSpPr>
        <p:spPr>
          <a:xfrm>
            <a:off x="6245567" y="4910434"/>
            <a:ext cx="1371598" cy="4308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Onto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BB33019-3DCA-ED42-8C57-EB0B0AEAF523}"/>
              </a:ext>
            </a:extLst>
          </p:cNvPr>
          <p:cNvSpPr/>
          <p:nvPr/>
        </p:nvSpPr>
        <p:spPr>
          <a:xfrm>
            <a:off x="3352800" y="3758409"/>
            <a:ext cx="1142998" cy="5565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3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6" grpId="0" animBg="1"/>
      <p:bldP spid="88" grpId="0" animBg="1"/>
      <p:bldP spid="9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ONTO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/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Consider a function f : Z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Z where f(x) = x</a:t>
                </a:r>
                <a:r>
                  <a:rPr lang="en-US" sz="2200" baseline="30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blipFill>
                <a:blip r:embed="rId2"/>
                <a:stretch>
                  <a:fillRect l="-815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3C707BA-D2A3-4DCE-B17D-C182AA2C3D43}"/>
              </a:ext>
            </a:extLst>
          </p:cNvPr>
          <p:cNvSpPr txBox="1"/>
          <p:nvPr/>
        </p:nvSpPr>
        <p:spPr>
          <a:xfrm>
            <a:off x="457940" y="22098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Determine whether the function is Onto or not.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F1FA1-841F-292A-EB73-E96BF8D59638}"/>
              </a:ext>
            </a:extLst>
          </p:cNvPr>
          <p:cNvSpPr txBox="1"/>
          <p:nvPr/>
        </p:nvSpPr>
        <p:spPr>
          <a:xfrm>
            <a:off x="915140" y="2626631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Ans: No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9E9EC-EB47-151D-B756-BFF7D03AE3B7}"/>
              </a:ext>
            </a:extLst>
          </p:cNvPr>
          <p:cNvSpPr txBox="1"/>
          <p:nvPr/>
        </p:nvSpPr>
        <p:spPr>
          <a:xfrm>
            <a:off x="915140" y="3057518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Here Domain and co-domain both are Z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27CE4E-55CC-FFC8-1F0A-A6253F3F2F9C}"/>
              </a:ext>
            </a:extLst>
          </p:cNvPr>
          <p:cNvSpPr txBox="1"/>
          <p:nvPr/>
        </p:nvSpPr>
        <p:spPr>
          <a:xfrm>
            <a:off x="915140" y="3560887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Now, as the domain is Z so the range will be {1, 4, 9, 16, ….}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ED734-3669-D9DF-4643-6F1FA1AA93B2}"/>
              </a:ext>
            </a:extLst>
          </p:cNvPr>
          <p:cNvSpPr txBox="1"/>
          <p:nvPr/>
        </p:nvSpPr>
        <p:spPr>
          <a:xfrm>
            <a:off x="915140" y="4070856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But the co-domain includes all integers including the negatives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4EA34D-F680-85A4-2348-FF1C619B9B04}"/>
              </a:ext>
            </a:extLst>
          </p:cNvPr>
          <p:cNvSpPr txBox="1"/>
          <p:nvPr/>
        </p:nvSpPr>
        <p:spPr>
          <a:xfrm>
            <a:off x="915140" y="4624627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this function is not Onto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96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ONTO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/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Consider a function f : R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R where f(x) = x</a:t>
                </a:r>
                <a:r>
                  <a:rPr lang="en-US" sz="2200" baseline="30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blipFill>
                <a:blip r:embed="rId2"/>
                <a:stretch>
                  <a:fillRect l="-815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3C707BA-D2A3-4DCE-B17D-C182AA2C3D43}"/>
              </a:ext>
            </a:extLst>
          </p:cNvPr>
          <p:cNvSpPr txBox="1"/>
          <p:nvPr/>
        </p:nvSpPr>
        <p:spPr>
          <a:xfrm>
            <a:off x="457940" y="22098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Determine whether the function is Onto or not.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F1FA1-841F-292A-EB73-E96BF8D59638}"/>
              </a:ext>
            </a:extLst>
          </p:cNvPr>
          <p:cNvSpPr txBox="1"/>
          <p:nvPr/>
        </p:nvSpPr>
        <p:spPr>
          <a:xfrm>
            <a:off x="915140" y="2626631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Ans: No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9E9EC-EB47-151D-B756-BFF7D03AE3B7}"/>
              </a:ext>
            </a:extLst>
          </p:cNvPr>
          <p:cNvSpPr txBox="1"/>
          <p:nvPr/>
        </p:nvSpPr>
        <p:spPr>
          <a:xfrm>
            <a:off x="915140" y="3057518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Here Domain and co-domain both are R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27CE4E-55CC-FFC8-1F0A-A6253F3F2F9C}"/>
              </a:ext>
            </a:extLst>
          </p:cNvPr>
          <p:cNvSpPr txBox="1"/>
          <p:nvPr/>
        </p:nvSpPr>
        <p:spPr>
          <a:xfrm>
            <a:off x="915140" y="3560887"/>
            <a:ext cx="777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Now, as the domain is R so the range will consist of positive values of R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ED734-3669-D9DF-4643-6F1FA1AA93B2}"/>
              </a:ext>
            </a:extLst>
          </p:cNvPr>
          <p:cNvSpPr txBox="1"/>
          <p:nvPr/>
        </p:nvSpPr>
        <p:spPr>
          <a:xfrm>
            <a:off x="915140" y="4475429"/>
            <a:ext cx="777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But the co-domain includes all real number including the negatives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4EA34D-F680-85A4-2348-FF1C619B9B04}"/>
              </a:ext>
            </a:extLst>
          </p:cNvPr>
          <p:cNvSpPr txBox="1"/>
          <p:nvPr/>
        </p:nvSpPr>
        <p:spPr>
          <a:xfrm>
            <a:off x="915140" y="5244870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this function is not Onto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75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1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ONTO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/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Consider a function f : R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R</a:t>
                </a:r>
                <a:r>
                  <a:rPr lang="en-US" sz="2200" baseline="30000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where f(x) = x</a:t>
                </a:r>
                <a:r>
                  <a:rPr lang="en-US" sz="2200" baseline="30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blipFill>
                <a:blip r:embed="rId2"/>
                <a:stretch>
                  <a:fillRect l="-815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3C707BA-D2A3-4DCE-B17D-C182AA2C3D43}"/>
              </a:ext>
            </a:extLst>
          </p:cNvPr>
          <p:cNvSpPr txBox="1"/>
          <p:nvPr/>
        </p:nvSpPr>
        <p:spPr>
          <a:xfrm>
            <a:off x="457940" y="22098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Determine whether the function is Onto or not.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F1FA1-841F-292A-EB73-E96BF8D59638}"/>
              </a:ext>
            </a:extLst>
          </p:cNvPr>
          <p:cNvSpPr txBox="1"/>
          <p:nvPr/>
        </p:nvSpPr>
        <p:spPr>
          <a:xfrm>
            <a:off x="915140" y="2626631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Ans: Yes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9E9EC-EB47-151D-B756-BFF7D03AE3B7}"/>
              </a:ext>
            </a:extLst>
          </p:cNvPr>
          <p:cNvSpPr txBox="1"/>
          <p:nvPr/>
        </p:nvSpPr>
        <p:spPr>
          <a:xfrm>
            <a:off x="915140" y="3057518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Here Domain is R and co-domain is R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27CE4E-55CC-FFC8-1F0A-A6253F3F2F9C}"/>
              </a:ext>
            </a:extLst>
          </p:cNvPr>
          <p:cNvSpPr txBox="1"/>
          <p:nvPr/>
        </p:nvSpPr>
        <p:spPr>
          <a:xfrm>
            <a:off x="915140" y="3560887"/>
            <a:ext cx="777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Now, as the domain is R so the range will consist of positive values of R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4EA34D-F680-85A4-2348-FF1C619B9B04}"/>
              </a:ext>
            </a:extLst>
          </p:cNvPr>
          <p:cNvSpPr txBox="1"/>
          <p:nvPr/>
        </p:nvSpPr>
        <p:spPr>
          <a:xfrm>
            <a:off x="915140" y="4330328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this function is Onto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82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1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ONTO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/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 function f: A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B is called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Onto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or a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Surjection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: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blipFill>
                <a:blip r:embed="rId2"/>
                <a:stretch>
                  <a:fillRect l="-815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E145E0-31AF-CF60-3602-BB44859FF3F4}"/>
                  </a:ext>
                </a:extLst>
              </p:cNvPr>
              <p:cNvSpPr txBox="1"/>
              <p:nvPr/>
            </p:nvSpPr>
            <p:spPr>
              <a:xfrm>
                <a:off x="762000" y="2209800"/>
                <a:ext cx="7924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If and only if for every element b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B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E145E0-31AF-CF60-3602-BB44859FF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209800"/>
                <a:ext cx="7924800" cy="430887"/>
              </a:xfrm>
              <a:prstGeom prst="rect">
                <a:avLst/>
              </a:prstGeom>
              <a:blipFill>
                <a:blip r:embed="rId3"/>
                <a:stretch>
                  <a:fillRect l="-846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8A4035-1E3B-1FED-05C5-D7FB464AAAFA}"/>
                  </a:ext>
                </a:extLst>
              </p:cNvPr>
              <p:cNvSpPr txBox="1"/>
              <p:nvPr/>
            </p:nvSpPr>
            <p:spPr>
              <a:xfrm>
                <a:off x="762000" y="2640687"/>
                <a:ext cx="7924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there is an element in a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 with f(a) = b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8A4035-1E3B-1FED-05C5-D7FB464AA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640687"/>
                <a:ext cx="7924800" cy="430887"/>
              </a:xfrm>
              <a:prstGeom prst="rect">
                <a:avLst/>
              </a:prstGeom>
              <a:blipFill>
                <a:blip r:embed="rId4"/>
                <a:stretch>
                  <a:fillRect l="-846" t="-9859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920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RELATION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D3A33D-DE77-10A3-5D54-E5B83AAEA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515979"/>
              </p:ext>
            </p:extLst>
          </p:nvPr>
        </p:nvGraphicFramePr>
        <p:xfrm>
          <a:off x="4876800" y="1794256"/>
          <a:ext cx="3733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54841953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370837270"/>
                    </a:ext>
                  </a:extLst>
                </a:gridCol>
              </a:tblGrid>
              <a:tr h="368162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27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Dhrubo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476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97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416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Mehrab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6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Sarafat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887430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46B03993-2C3C-4D0C-883F-8ECDF5B261BE}"/>
              </a:ext>
            </a:extLst>
          </p:cNvPr>
          <p:cNvSpPr/>
          <p:nvPr/>
        </p:nvSpPr>
        <p:spPr>
          <a:xfrm>
            <a:off x="1752600" y="1950158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A2EC458-1C8E-7E74-181B-3455AC4C42BC}"/>
              </a:ext>
            </a:extLst>
          </p:cNvPr>
          <p:cNvSpPr/>
          <p:nvPr/>
        </p:nvSpPr>
        <p:spPr>
          <a:xfrm>
            <a:off x="1752600" y="2421414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6CA8A45-4428-1F9D-BFF3-441DFC39613C}"/>
              </a:ext>
            </a:extLst>
          </p:cNvPr>
          <p:cNvSpPr/>
          <p:nvPr/>
        </p:nvSpPr>
        <p:spPr>
          <a:xfrm>
            <a:off x="1752600" y="2866777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7513290-70D6-8E41-C1E9-BF021A219EDF}"/>
              </a:ext>
            </a:extLst>
          </p:cNvPr>
          <p:cNvSpPr/>
          <p:nvPr/>
        </p:nvSpPr>
        <p:spPr>
          <a:xfrm>
            <a:off x="1752600" y="3338033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C999CA-6F48-F70B-35E0-EA88616A6588}"/>
              </a:ext>
            </a:extLst>
          </p:cNvPr>
          <p:cNvSpPr/>
          <p:nvPr/>
        </p:nvSpPr>
        <p:spPr>
          <a:xfrm>
            <a:off x="1752600" y="3760019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FDF584-1700-319D-21BD-34E2C1553BAC}"/>
              </a:ext>
            </a:extLst>
          </p:cNvPr>
          <p:cNvSpPr txBox="1"/>
          <p:nvPr/>
        </p:nvSpPr>
        <p:spPr>
          <a:xfrm>
            <a:off x="609600" y="1773628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Dhrubo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CAE6C7-6D52-92E8-8CAE-40D8C60267BE}"/>
              </a:ext>
            </a:extLst>
          </p:cNvPr>
          <p:cNvSpPr txBox="1"/>
          <p:nvPr/>
        </p:nvSpPr>
        <p:spPr>
          <a:xfrm>
            <a:off x="609599" y="2250580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Siam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F6E346-9F88-6B0C-D71D-BBB42F2548CA}"/>
              </a:ext>
            </a:extLst>
          </p:cNvPr>
          <p:cNvSpPr txBox="1"/>
          <p:nvPr/>
        </p:nvSpPr>
        <p:spPr>
          <a:xfrm>
            <a:off x="609600" y="2727533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31B2D4-A020-B756-AC58-F8AF76BD268C}"/>
              </a:ext>
            </a:extLst>
          </p:cNvPr>
          <p:cNvSpPr txBox="1"/>
          <p:nvPr/>
        </p:nvSpPr>
        <p:spPr>
          <a:xfrm>
            <a:off x="609598" y="3204485"/>
            <a:ext cx="129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Mehrab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3B4B6D-1185-11E5-CAC0-DFFD63E56ABA}"/>
              </a:ext>
            </a:extLst>
          </p:cNvPr>
          <p:cNvSpPr txBox="1"/>
          <p:nvPr/>
        </p:nvSpPr>
        <p:spPr>
          <a:xfrm>
            <a:off x="609598" y="3614744"/>
            <a:ext cx="129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Sarafat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9753311-29F9-B046-5EF2-ED23865EF432}"/>
              </a:ext>
            </a:extLst>
          </p:cNvPr>
          <p:cNvSpPr/>
          <p:nvPr/>
        </p:nvSpPr>
        <p:spPr>
          <a:xfrm>
            <a:off x="3276598" y="1950158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284368E-A0DE-11AC-EABC-D276A93F5CAD}"/>
              </a:ext>
            </a:extLst>
          </p:cNvPr>
          <p:cNvSpPr/>
          <p:nvPr/>
        </p:nvSpPr>
        <p:spPr>
          <a:xfrm>
            <a:off x="3276598" y="2421414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8A62032-FBBC-EB58-9ADC-F242CD2CFBB9}"/>
              </a:ext>
            </a:extLst>
          </p:cNvPr>
          <p:cNvSpPr/>
          <p:nvPr/>
        </p:nvSpPr>
        <p:spPr>
          <a:xfrm>
            <a:off x="3276598" y="2866777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D8E69ED-31CB-A362-2D9C-2F0F49142D6F}"/>
              </a:ext>
            </a:extLst>
          </p:cNvPr>
          <p:cNvSpPr/>
          <p:nvPr/>
        </p:nvSpPr>
        <p:spPr>
          <a:xfrm>
            <a:off x="3276598" y="3338033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E8B9A2-1C6E-7AB9-24E3-3147BB6F93C4}"/>
              </a:ext>
            </a:extLst>
          </p:cNvPr>
          <p:cNvSpPr/>
          <p:nvPr/>
        </p:nvSpPr>
        <p:spPr>
          <a:xfrm>
            <a:off x="3276598" y="3760019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9C2A2B-EDFC-F08B-1810-43AC9914B8E5}"/>
              </a:ext>
            </a:extLst>
          </p:cNvPr>
          <p:cNvSpPr txBox="1"/>
          <p:nvPr/>
        </p:nvSpPr>
        <p:spPr>
          <a:xfrm>
            <a:off x="3581400" y="1794256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27BF02-020A-2371-07C7-0C9D8C06A3F8}"/>
              </a:ext>
            </a:extLst>
          </p:cNvPr>
          <p:cNvSpPr txBox="1"/>
          <p:nvPr/>
        </p:nvSpPr>
        <p:spPr>
          <a:xfrm>
            <a:off x="3581399" y="2271208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85759A-04B6-EA83-C317-38A1481E8836}"/>
              </a:ext>
            </a:extLst>
          </p:cNvPr>
          <p:cNvSpPr txBox="1"/>
          <p:nvPr/>
        </p:nvSpPr>
        <p:spPr>
          <a:xfrm>
            <a:off x="3581400" y="2748161"/>
            <a:ext cx="10497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274A61-6B7F-8533-C5D1-3133C92E05AF}"/>
              </a:ext>
            </a:extLst>
          </p:cNvPr>
          <p:cNvSpPr txBox="1"/>
          <p:nvPr/>
        </p:nvSpPr>
        <p:spPr>
          <a:xfrm>
            <a:off x="3581398" y="3225113"/>
            <a:ext cx="129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7D8EB6-CCD8-4AC8-9586-CE618B575B4A}"/>
              </a:ext>
            </a:extLst>
          </p:cNvPr>
          <p:cNvSpPr txBox="1"/>
          <p:nvPr/>
        </p:nvSpPr>
        <p:spPr>
          <a:xfrm>
            <a:off x="3581398" y="3635372"/>
            <a:ext cx="129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C6F308-AB8D-ECE0-FCC4-790AFF6873ED}"/>
              </a:ext>
            </a:extLst>
          </p:cNvPr>
          <p:cNvCxnSpPr>
            <a:cxnSpLocks/>
            <a:stCxn id="5" idx="6"/>
            <a:endCxn id="17" idx="2"/>
          </p:cNvCxnSpPr>
          <p:nvPr/>
        </p:nvCxnSpPr>
        <p:spPr>
          <a:xfrm>
            <a:off x="1905000" y="2026358"/>
            <a:ext cx="1371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48ACFE2-E2D3-8372-210F-8BD7B4FD28A6}"/>
              </a:ext>
            </a:extLst>
          </p:cNvPr>
          <p:cNvCxnSpPr>
            <a:stCxn id="7" idx="5"/>
            <a:endCxn id="19" idx="2"/>
          </p:cNvCxnSpPr>
          <p:nvPr/>
        </p:nvCxnSpPr>
        <p:spPr>
          <a:xfrm>
            <a:off x="1882682" y="2551496"/>
            <a:ext cx="1393916" cy="391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E5A5097-5D7A-A9C4-E0FE-657C00624D15}"/>
              </a:ext>
            </a:extLst>
          </p:cNvPr>
          <p:cNvCxnSpPr>
            <a:stCxn id="8" idx="6"/>
            <a:endCxn id="18" idx="2"/>
          </p:cNvCxnSpPr>
          <p:nvPr/>
        </p:nvCxnSpPr>
        <p:spPr>
          <a:xfrm flipV="1">
            <a:off x="1905000" y="2551496"/>
            <a:ext cx="1393916" cy="391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D7E3647-C390-1B99-5295-C9BA9C604ACD}"/>
              </a:ext>
            </a:extLst>
          </p:cNvPr>
          <p:cNvCxnSpPr>
            <a:stCxn id="10" idx="6"/>
            <a:endCxn id="17" idx="3"/>
          </p:cNvCxnSpPr>
          <p:nvPr/>
        </p:nvCxnSpPr>
        <p:spPr>
          <a:xfrm flipV="1">
            <a:off x="1905000" y="2080240"/>
            <a:ext cx="1393916" cy="1333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F177CD2-ECD8-F700-4B80-40A06D6BF61C}"/>
              </a:ext>
            </a:extLst>
          </p:cNvPr>
          <p:cNvCxnSpPr>
            <a:stCxn id="16" idx="3"/>
            <a:endCxn id="21" idx="2"/>
          </p:cNvCxnSpPr>
          <p:nvPr/>
        </p:nvCxnSpPr>
        <p:spPr>
          <a:xfrm>
            <a:off x="1905000" y="3830188"/>
            <a:ext cx="1371598" cy="6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6F9EBF2-6269-C7C0-C513-449B5B1D5D67}"/>
              </a:ext>
            </a:extLst>
          </p:cNvPr>
          <p:cNvCxnSpPr>
            <a:stCxn id="5" idx="5"/>
            <a:endCxn id="20" idx="2"/>
          </p:cNvCxnSpPr>
          <p:nvPr/>
        </p:nvCxnSpPr>
        <p:spPr>
          <a:xfrm>
            <a:off x="1882682" y="2080240"/>
            <a:ext cx="1393916" cy="1333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85D8733-0CD9-B821-19E7-000C0B0AD841}"/>
              </a:ext>
            </a:extLst>
          </p:cNvPr>
          <p:cNvSpPr txBox="1"/>
          <p:nvPr/>
        </p:nvSpPr>
        <p:spPr>
          <a:xfrm>
            <a:off x="609598" y="4387423"/>
            <a:ext cx="45720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the above relation a function?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FF155B-35A1-3F62-7D43-83615AFBBE47}"/>
              </a:ext>
            </a:extLst>
          </p:cNvPr>
          <p:cNvSpPr txBox="1"/>
          <p:nvPr/>
        </p:nvSpPr>
        <p:spPr>
          <a:xfrm>
            <a:off x="5029200" y="4387423"/>
            <a:ext cx="106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B06E13-0CF7-904B-245F-9580DDB62837}"/>
              </a:ext>
            </a:extLst>
          </p:cNvPr>
          <p:cNvSpPr txBox="1"/>
          <p:nvPr/>
        </p:nvSpPr>
        <p:spPr>
          <a:xfrm>
            <a:off x="6629398" y="4387422"/>
            <a:ext cx="25146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Dhrubo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= 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2AD7E0-9708-4368-F265-11C3F18E883E}"/>
              </a:ext>
            </a:extLst>
          </p:cNvPr>
          <p:cNvSpPr txBox="1"/>
          <p:nvPr/>
        </p:nvSpPr>
        <p:spPr>
          <a:xfrm>
            <a:off x="609598" y="4849778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can not be answered certainly from the above relation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BBEA4E-F7B6-AB66-B68B-23CA2EDFFD4D}"/>
              </a:ext>
            </a:extLst>
          </p:cNvPr>
          <p:cNvSpPr txBox="1"/>
          <p:nvPr/>
        </p:nvSpPr>
        <p:spPr>
          <a:xfrm>
            <a:off x="609598" y="5320622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Because answer can be either A or D. But, it is known that, a function always returns a single element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2EF61C-F53C-753C-405B-52824E69057D}"/>
              </a:ext>
            </a:extLst>
          </p:cNvPr>
          <p:cNvSpPr txBox="1"/>
          <p:nvPr/>
        </p:nvSpPr>
        <p:spPr>
          <a:xfrm>
            <a:off x="609598" y="6045334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type relation is not function. A function is always a relation but a relation is not always a function.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61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34" grpId="0"/>
      <p:bldP spid="35" grpId="0"/>
      <p:bldP spid="36" grpId="0"/>
      <p:bldP spid="37" grpId="0"/>
      <p:bldP spid="38" grpId="0"/>
      <p:bldP spid="4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INVERSE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/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Let, f: A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B is an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One-to-One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function: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blipFill>
                <a:blip r:embed="rId2"/>
                <a:stretch>
                  <a:fillRect l="-815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DE145E0-31AF-CF60-3602-BB44859FF3F4}"/>
              </a:ext>
            </a:extLst>
          </p:cNvPr>
          <p:cNvSpPr txBox="1"/>
          <p:nvPr/>
        </p:nvSpPr>
        <p:spPr>
          <a:xfrm>
            <a:off x="457200" y="22098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inverse function of f is denoted as f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that: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E9DAE-A687-2258-593E-57A89453BE2B}"/>
              </a:ext>
            </a:extLst>
          </p:cNvPr>
          <p:cNvSpPr txBox="1"/>
          <p:nvPr/>
        </p:nvSpPr>
        <p:spPr>
          <a:xfrm>
            <a:off x="838200" y="2713383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assigns to an element b belonging to B the unique element a in A such that f(a) = b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23AB3-02BA-E345-48D4-56ADF58F78BB}"/>
              </a:ext>
            </a:extLst>
          </p:cNvPr>
          <p:cNvSpPr txBox="1"/>
          <p:nvPr/>
        </p:nvSpPr>
        <p:spPr>
          <a:xfrm>
            <a:off x="838200" y="355552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Hence, if f(a) = b then f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(b) = a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EB3671-1D31-A06E-0449-1398118F66EF}"/>
              </a:ext>
            </a:extLst>
          </p:cNvPr>
          <p:cNvSpPr txBox="1"/>
          <p:nvPr/>
        </p:nvSpPr>
        <p:spPr>
          <a:xfrm>
            <a:off x="838200" y="4069666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 must be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One-to-One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function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DBE60D-CC4C-6DE0-CBB7-DB613625AAD2}"/>
              </a:ext>
            </a:extLst>
          </p:cNvPr>
          <p:cNvSpPr txBox="1"/>
          <p:nvPr/>
        </p:nvSpPr>
        <p:spPr>
          <a:xfrm>
            <a:off x="838200" y="4583812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Otherwise f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(b) will be mapped to multiple elements in A, that violates the definition of a function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B13301-3A31-8537-C368-287E3B37280D}"/>
                  </a:ext>
                </a:extLst>
              </p:cNvPr>
              <p:cNvSpPr txBox="1"/>
              <p:nvPr/>
            </p:nvSpPr>
            <p:spPr>
              <a:xfrm>
                <a:off x="838200" y="5360120"/>
                <a:ext cx="7924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sz="2200" baseline="30000" dirty="0">
                    <a:latin typeface="Times New Roman" pitchFamily="18" charset="0"/>
                    <a:cs typeface="Times New Roman" pitchFamily="18" charset="0"/>
                  </a:rPr>
                  <a:t>-1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denoted as f</a:t>
                </a:r>
                <a:r>
                  <a:rPr lang="en-US" sz="2200" baseline="30000" dirty="0">
                    <a:latin typeface="Times New Roman" pitchFamily="18" charset="0"/>
                    <a:cs typeface="Times New Roman" pitchFamily="18" charset="0"/>
                  </a:rPr>
                  <a:t>-1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: B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B13301-3A31-8537-C368-287E3B372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60120"/>
                <a:ext cx="7924800" cy="430887"/>
              </a:xfrm>
              <a:prstGeom prst="rect">
                <a:avLst/>
              </a:prstGeom>
              <a:blipFill>
                <a:blip r:embed="rId3"/>
                <a:stretch>
                  <a:fillRect l="-923"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093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4" grpId="0"/>
      <p:bldP spid="5" grpId="0"/>
      <p:bldP spid="7" grpId="0"/>
      <p:bldP spid="8" grpId="0"/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INVERSE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/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Let, f: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Z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Z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be such that, f(x) = x + 1.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A7902A-2738-0B2A-15DE-9DB5D8C49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430887"/>
              </a:xfrm>
              <a:prstGeom prst="rect">
                <a:avLst/>
              </a:prstGeom>
              <a:blipFill>
                <a:blip r:embed="rId2"/>
                <a:stretch>
                  <a:fillRect l="-815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2900F66-DE0D-B37A-5FEE-469BC19490AA}"/>
              </a:ext>
            </a:extLst>
          </p:cNvPr>
          <p:cNvSpPr txBox="1"/>
          <p:nvPr/>
        </p:nvSpPr>
        <p:spPr>
          <a:xfrm>
            <a:off x="914400" y="2120539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f invertible?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CC9AB1-21CA-4C89-4F75-2F77D59CD71D}"/>
              </a:ext>
            </a:extLst>
          </p:cNvPr>
          <p:cNvSpPr txBox="1"/>
          <p:nvPr/>
        </p:nvSpPr>
        <p:spPr>
          <a:xfrm>
            <a:off x="914400" y="2564582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yes, then find the inverse.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6DA401-BA6D-3DA4-0675-183E4421E87F}"/>
              </a:ext>
            </a:extLst>
          </p:cNvPr>
          <p:cNvSpPr txBox="1"/>
          <p:nvPr/>
        </p:nvSpPr>
        <p:spPr>
          <a:xfrm>
            <a:off x="887896" y="3008721"/>
            <a:ext cx="79513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First need to check: it is One-to-one or not. [Done previously]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AF5444-FF8E-4234-3E20-126C56330F17}"/>
              </a:ext>
            </a:extLst>
          </p:cNvPr>
          <p:cNvSpPr txBox="1"/>
          <p:nvPr/>
        </p:nvSpPr>
        <p:spPr>
          <a:xfrm>
            <a:off x="914400" y="3452764"/>
            <a:ext cx="79513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function is One-to-One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189DF-32A6-530E-0011-398275AA4D54}"/>
              </a:ext>
            </a:extLst>
          </p:cNvPr>
          <p:cNvSpPr txBox="1"/>
          <p:nvPr/>
        </p:nvSpPr>
        <p:spPr>
          <a:xfrm>
            <a:off x="914400" y="3933250"/>
            <a:ext cx="79513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Now, find the value of x from the given function that is the inverse function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344CEA-5AF5-B798-8C29-804357C93B5D}"/>
              </a:ext>
            </a:extLst>
          </p:cNvPr>
          <p:cNvSpPr txBox="1"/>
          <p:nvPr/>
        </p:nvSpPr>
        <p:spPr>
          <a:xfrm>
            <a:off x="887896" y="4752290"/>
            <a:ext cx="79513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x = f(x) - 1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C999DC-A33D-D7AD-E1EB-3A32FB0F0E9F}"/>
              </a:ext>
            </a:extLst>
          </p:cNvPr>
          <p:cNvSpPr txBox="1"/>
          <p:nvPr/>
        </p:nvSpPr>
        <p:spPr>
          <a:xfrm>
            <a:off x="887896" y="5232776"/>
            <a:ext cx="79513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3000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(x) = f(x) - 1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50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  <p:bldP spid="12" grpId="0"/>
      <p:bldP spid="13" grpId="0"/>
      <p:bldP spid="14" grpId="0"/>
      <p:bldP spid="26" grpId="0"/>
      <p:bldP spid="2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FLOOR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7902A-2738-0B2A-15DE-9DB5D8C49BBD}"/>
              </a:ext>
            </a:extLst>
          </p:cNvPr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a real number is x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BFD88-F655-C60F-F7FC-7CC0F4D95138}"/>
              </a:ext>
            </a:extLst>
          </p:cNvPr>
          <p:cNvSpPr txBox="1"/>
          <p:nvPr/>
        </p:nvSpPr>
        <p:spPr>
          <a:xfrm>
            <a:off x="457200" y="2120604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Floor function assigns the closest integer that is less than or equal to x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D91A2-9E99-22E4-2A5E-EEB0E42972B6}"/>
              </a:ext>
            </a:extLst>
          </p:cNvPr>
          <p:cNvSpPr txBox="1"/>
          <p:nvPr/>
        </p:nvSpPr>
        <p:spPr>
          <a:xfrm>
            <a:off x="452761" y="290336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Denoted by ⌊x⌋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EAD6E-C9DD-4F4C-2074-E6A6C6FA4809}"/>
              </a:ext>
            </a:extLst>
          </p:cNvPr>
          <p:cNvSpPr txBox="1"/>
          <p:nvPr/>
        </p:nvSpPr>
        <p:spPr>
          <a:xfrm>
            <a:off x="914401" y="3404586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⌊2.1⌋  =   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18EA6B-0BE6-7831-0BA6-8DFE453E8A24}"/>
              </a:ext>
            </a:extLst>
          </p:cNvPr>
          <p:cNvSpPr txBox="1"/>
          <p:nvPr/>
        </p:nvSpPr>
        <p:spPr>
          <a:xfrm>
            <a:off x="2209800" y="3404586"/>
            <a:ext cx="5334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4EE5C-7812-2337-3F24-4019FF0D8B70}"/>
              </a:ext>
            </a:extLst>
          </p:cNvPr>
          <p:cNvSpPr txBox="1"/>
          <p:nvPr/>
        </p:nvSpPr>
        <p:spPr>
          <a:xfrm>
            <a:off x="918840" y="3962400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⌊3.8⌋  =   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063A9-97AB-CA47-B890-068DAEB1B19A}"/>
              </a:ext>
            </a:extLst>
          </p:cNvPr>
          <p:cNvSpPr txBox="1"/>
          <p:nvPr/>
        </p:nvSpPr>
        <p:spPr>
          <a:xfrm>
            <a:off x="2214239" y="3962400"/>
            <a:ext cx="5334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984DAD-EE50-9B1F-8F6C-56E16FC35DBF}"/>
              </a:ext>
            </a:extLst>
          </p:cNvPr>
          <p:cNvSpPr txBox="1"/>
          <p:nvPr/>
        </p:nvSpPr>
        <p:spPr>
          <a:xfrm>
            <a:off x="914401" y="4563918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⌊4⌋  =   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E722C0-1812-9508-D6A8-69558F34BB92}"/>
              </a:ext>
            </a:extLst>
          </p:cNvPr>
          <p:cNvSpPr txBox="1"/>
          <p:nvPr/>
        </p:nvSpPr>
        <p:spPr>
          <a:xfrm>
            <a:off x="2057400" y="4563918"/>
            <a:ext cx="6858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4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340A49-C3BF-3187-969D-599CF3DB6FCB}"/>
                  </a:ext>
                </a:extLst>
              </p:cNvPr>
              <p:cNvSpPr txBox="1"/>
              <p:nvPr/>
            </p:nvSpPr>
            <p:spPr>
              <a:xfrm>
                <a:off x="924018" y="5165436"/>
                <a:ext cx="1905000" cy="570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⌊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⌋  =   ?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340A49-C3BF-3187-969D-599CF3DB6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18" y="5165436"/>
                <a:ext cx="1905000" cy="570413"/>
              </a:xfrm>
              <a:prstGeom prst="rect">
                <a:avLst/>
              </a:prstGeom>
              <a:blipFill>
                <a:blip r:embed="rId2"/>
                <a:stretch>
                  <a:fillRect l="-3846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9FDFE2B-3AFE-7693-26AF-2F3E01E214D5}"/>
              </a:ext>
            </a:extLst>
          </p:cNvPr>
          <p:cNvSpPr txBox="1"/>
          <p:nvPr/>
        </p:nvSpPr>
        <p:spPr>
          <a:xfrm>
            <a:off x="2067017" y="5165436"/>
            <a:ext cx="6858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8DEF0E-664C-9F1E-BE54-B8CF07715B3D}"/>
                  </a:ext>
                </a:extLst>
              </p:cNvPr>
              <p:cNvSpPr txBox="1"/>
              <p:nvPr/>
            </p:nvSpPr>
            <p:spPr>
              <a:xfrm>
                <a:off x="914401" y="5867400"/>
                <a:ext cx="1905000" cy="570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⌊-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⌋  =   ?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8DEF0E-664C-9F1E-BE54-B8CF07715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5867400"/>
                <a:ext cx="1905000" cy="570413"/>
              </a:xfrm>
              <a:prstGeom prst="rect">
                <a:avLst/>
              </a:prstGeom>
              <a:blipFill>
                <a:blip r:embed="rId3"/>
                <a:stretch>
                  <a:fillRect l="-3514" b="-8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E97F397-A674-EDA5-6F69-EA3581115B0E}"/>
              </a:ext>
            </a:extLst>
          </p:cNvPr>
          <p:cNvSpPr txBox="1"/>
          <p:nvPr/>
        </p:nvSpPr>
        <p:spPr>
          <a:xfrm>
            <a:off x="2057400" y="5867400"/>
            <a:ext cx="6858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-1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78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10" grpId="0" animBg="1"/>
      <p:bldP spid="15" grpId="0"/>
      <p:bldP spid="16" grpId="0" animBg="1"/>
      <p:bldP spid="17" grpId="0"/>
      <p:bldP spid="18" grpId="0" animBg="1"/>
      <p:bldP spid="19" grpId="0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CEILING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7902A-2738-0B2A-15DE-9DB5D8C49BBD}"/>
              </a:ext>
            </a:extLst>
          </p:cNvPr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a real number is x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BFD88-F655-C60F-F7FC-7CC0F4D95138}"/>
              </a:ext>
            </a:extLst>
          </p:cNvPr>
          <p:cNvSpPr txBox="1"/>
          <p:nvPr/>
        </p:nvSpPr>
        <p:spPr>
          <a:xfrm>
            <a:off x="457200" y="2120604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Ceiling function assigns the closest integer that is greater than or equal to x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D91A2-9E99-22E4-2A5E-EEB0E42972B6}"/>
              </a:ext>
            </a:extLst>
          </p:cNvPr>
          <p:cNvSpPr txBox="1"/>
          <p:nvPr/>
        </p:nvSpPr>
        <p:spPr>
          <a:xfrm>
            <a:off x="452761" y="290336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Denoted by ⌈x⌉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EAD6E-C9DD-4F4C-2074-E6A6C6FA4809}"/>
              </a:ext>
            </a:extLst>
          </p:cNvPr>
          <p:cNvSpPr txBox="1"/>
          <p:nvPr/>
        </p:nvSpPr>
        <p:spPr>
          <a:xfrm>
            <a:off x="914401" y="3404586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⌈2.1⌉  =   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18EA6B-0BE6-7831-0BA6-8DFE453E8A24}"/>
              </a:ext>
            </a:extLst>
          </p:cNvPr>
          <p:cNvSpPr txBox="1"/>
          <p:nvPr/>
        </p:nvSpPr>
        <p:spPr>
          <a:xfrm>
            <a:off x="2209800" y="3404586"/>
            <a:ext cx="5334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4EE5C-7812-2337-3F24-4019FF0D8B70}"/>
              </a:ext>
            </a:extLst>
          </p:cNvPr>
          <p:cNvSpPr txBox="1"/>
          <p:nvPr/>
        </p:nvSpPr>
        <p:spPr>
          <a:xfrm>
            <a:off x="918840" y="3962400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⌈3.8⌉  =   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063A9-97AB-CA47-B890-068DAEB1B19A}"/>
              </a:ext>
            </a:extLst>
          </p:cNvPr>
          <p:cNvSpPr txBox="1"/>
          <p:nvPr/>
        </p:nvSpPr>
        <p:spPr>
          <a:xfrm>
            <a:off x="2214239" y="3962400"/>
            <a:ext cx="5334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4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984DAD-EE50-9B1F-8F6C-56E16FC35DBF}"/>
              </a:ext>
            </a:extLst>
          </p:cNvPr>
          <p:cNvSpPr txBox="1"/>
          <p:nvPr/>
        </p:nvSpPr>
        <p:spPr>
          <a:xfrm>
            <a:off x="914401" y="4563918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⌈4⌉  =   ?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E722C0-1812-9508-D6A8-69558F34BB92}"/>
              </a:ext>
            </a:extLst>
          </p:cNvPr>
          <p:cNvSpPr txBox="1"/>
          <p:nvPr/>
        </p:nvSpPr>
        <p:spPr>
          <a:xfrm>
            <a:off x="2057400" y="4563918"/>
            <a:ext cx="6858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4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4B7AA5-C333-9A41-795C-A330DCB8E5B2}"/>
                  </a:ext>
                </a:extLst>
              </p:cNvPr>
              <p:cNvSpPr txBox="1"/>
              <p:nvPr/>
            </p:nvSpPr>
            <p:spPr>
              <a:xfrm>
                <a:off x="924018" y="5165436"/>
                <a:ext cx="1905000" cy="570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⌉  =   ?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4B7AA5-C333-9A41-795C-A330DCB8E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18" y="5165436"/>
                <a:ext cx="1905000" cy="570413"/>
              </a:xfrm>
              <a:prstGeom prst="rect">
                <a:avLst/>
              </a:prstGeom>
              <a:blipFill>
                <a:blip r:embed="rId2"/>
                <a:stretch>
                  <a:fillRect l="-3846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ED7E0D2-7219-216E-36BE-CDADC2A17429}"/>
              </a:ext>
            </a:extLst>
          </p:cNvPr>
          <p:cNvSpPr txBox="1"/>
          <p:nvPr/>
        </p:nvSpPr>
        <p:spPr>
          <a:xfrm>
            <a:off x="2067017" y="5165436"/>
            <a:ext cx="6858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81CBABE-1AB0-1C18-37BC-3FAFE3DBB724}"/>
                  </a:ext>
                </a:extLst>
              </p:cNvPr>
              <p:cNvSpPr txBox="1"/>
              <p:nvPr/>
            </p:nvSpPr>
            <p:spPr>
              <a:xfrm>
                <a:off x="914401" y="5867400"/>
                <a:ext cx="1905000" cy="570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⌈-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⌉  =   ?</a:t>
                </a:r>
                <a:endParaRPr lang="en-US" sz="2200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81CBABE-1AB0-1C18-37BC-3FAFE3DBB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5867400"/>
                <a:ext cx="1905000" cy="570413"/>
              </a:xfrm>
              <a:prstGeom prst="rect">
                <a:avLst/>
              </a:prstGeom>
              <a:blipFill>
                <a:blip r:embed="rId3"/>
                <a:stretch>
                  <a:fillRect l="-3514" b="-8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5C6D952-0A9E-1264-C085-C05D0B2736F9}"/>
              </a:ext>
            </a:extLst>
          </p:cNvPr>
          <p:cNvSpPr txBox="1"/>
          <p:nvPr/>
        </p:nvSpPr>
        <p:spPr>
          <a:xfrm>
            <a:off x="2057400" y="5867400"/>
            <a:ext cx="6858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3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10" grpId="0" animBg="1"/>
      <p:bldP spid="15" grpId="0"/>
      <p:bldP spid="16" grpId="0" animBg="1"/>
      <p:bldP spid="9" grpId="0"/>
      <p:bldP spid="11" grpId="0" animBg="1"/>
      <p:bldP spid="12" grpId="0"/>
      <p:bldP spid="1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986" y="762001"/>
            <a:ext cx="7772400" cy="3352799"/>
          </a:xfrm>
        </p:spPr>
        <p:txBody>
          <a:bodyPr/>
          <a:lstStyle/>
          <a:p>
            <a:r>
              <a:rPr lang="en-US" dirty="0"/>
              <a:t>SEQUENCE</a:t>
            </a:r>
          </a:p>
        </p:txBody>
      </p:sp>
    </p:spTree>
    <p:extLst>
      <p:ext uri="{BB962C8B-B14F-4D97-AF65-F5344CB8AC3E}">
        <p14:creationId xmlns:p14="http://schemas.microsoft.com/office/powerpoint/2010/main" val="27334864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INTRODUCTION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16017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20443"/>
            <a:ext cx="54670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discrete structure to represent ordered list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575028"/>
            <a:ext cx="47788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example: 1, 2, 4, 8, 16, …….., 2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n</a:t>
            </a:r>
            <a:endParaRPr lang="en-US" sz="2200" baseline="30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B88AD-69E6-1447-AEC6-59D48D8B79E5}"/>
              </a:ext>
            </a:extLst>
          </p:cNvPr>
          <p:cNvSpPr txBox="1"/>
          <p:nvPr/>
        </p:nvSpPr>
        <p:spPr>
          <a:xfrm>
            <a:off x="685800" y="3029613"/>
            <a:ext cx="22028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Notation: {a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0E77C0-8B9C-40B7-C12C-73D2B5DF2632}"/>
                  </a:ext>
                </a:extLst>
              </p:cNvPr>
              <p:cNvSpPr txBox="1"/>
              <p:nvPr/>
            </p:nvSpPr>
            <p:spPr>
              <a:xfrm>
                <a:off x="457200" y="3545015"/>
                <a:ext cx="7798289" cy="6141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Consider the sequence {a</a:t>
                </a:r>
                <a:r>
                  <a:rPr lang="en-US" sz="2200" baseline="-25000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}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and n = 1, 2, 3, ……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0E77C0-8B9C-40B7-C12C-73D2B5DF2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45015"/>
                <a:ext cx="7798289" cy="614142"/>
              </a:xfrm>
              <a:prstGeom prst="rect">
                <a:avLst/>
              </a:prstGeom>
              <a:blipFill>
                <a:blip r:embed="rId2"/>
                <a:stretch>
                  <a:fillRect l="-860" r="-78" b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21D3343-B51F-38E5-0163-5AE4AA88D863}"/>
              </a:ext>
            </a:extLst>
          </p:cNvPr>
          <p:cNvSpPr txBox="1"/>
          <p:nvPr/>
        </p:nvSpPr>
        <p:spPr>
          <a:xfrm>
            <a:off x="685800" y="4118899"/>
            <a:ext cx="39485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terms are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,…..,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2CBBE0-88CE-A3AD-3E62-37637BE2D972}"/>
                  </a:ext>
                </a:extLst>
              </p:cNvPr>
              <p:cNvSpPr txBox="1"/>
              <p:nvPr/>
            </p:nvSpPr>
            <p:spPr>
              <a:xfrm>
                <a:off x="686931" y="4607607"/>
                <a:ext cx="4468211" cy="572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So the sequence is: 1,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,……,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2CBBE0-88CE-A3AD-3E62-37637BE2D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31" y="4607607"/>
                <a:ext cx="4468211" cy="572273"/>
              </a:xfrm>
              <a:prstGeom prst="rect">
                <a:avLst/>
              </a:prstGeom>
              <a:blipFill>
                <a:blip r:embed="rId3"/>
                <a:stretch>
                  <a:fillRect l="-1637" b="-7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577CE0D-31E1-ED24-5848-02FF382CD6DE}"/>
              </a:ext>
            </a:extLst>
          </p:cNvPr>
          <p:cNvSpPr txBox="1"/>
          <p:nvPr/>
        </p:nvSpPr>
        <p:spPr>
          <a:xfrm>
            <a:off x="2831408" y="3035120"/>
            <a:ext cx="36134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[denotes a sequence, not a set]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C3AF40-5C96-B33F-99F3-538B59E4EF1E}"/>
              </a:ext>
            </a:extLst>
          </p:cNvPr>
          <p:cNvSpPr txBox="1"/>
          <p:nvPr/>
        </p:nvSpPr>
        <p:spPr>
          <a:xfrm>
            <a:off x="6516273" y="3035087"/>
            <a:ext cx="19175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[n is the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index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859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4" grpId="0"/>
      <p:bldP spid="10" grpId="0"/>
      <p:bldP spid="11" grpId="0"/>
      <p:bldP spid="13" grpId="0"/>
      <p:bldP spid="9" grpId="0"/>
      <p:bldP spid="1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2400" b="1" dirty="0"/>
              <a:t>GEOMETRIC AND ARITHMETIC PROGRESSION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32282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Geometric Progression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20443"/>
            <a:ext cx="25859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a, ar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, ar</a:t>
            </a:r>
            <a:r>
              <a:rPr lang="en-US" sz="2200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….. 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ar</a:t>
            </a:r>
            <a:r>
              <a:rPr lang="en-US" sz="2200" baseline="30000" dirty="0" err="1">
                <a:latin typeface="Times New Roman" pitchFamily="18" charset="0"/>
                <a:cs typeface="Times New Roman" pitchFamily="18" charset="0"/>
              </a:rPr>
              <a:t>n</a:t>
            </a:r>
            <a:endParaRPr lang="en-US" sz="2200" baseline="30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575028"/>
            <a:ext cx="53511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Initial term is a and the common ratio is r</a:t>
            </a:r>
            <a:endParaRPr lang="en-US" sz="2200" baseline="30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B88AD-69E6-1447-AEC6-59D48D8B79E5}"/>
              </a:ext>
            </a:extLst>
          </p:cNvPr>
          <p:cNvSpPr txBox="1"/>
          <p:nvPr/>
        </p:nvSpPr>
        <p:spPr>
          <a:xfrm>
            <a:off x="685800" y="3029613"/>
            <a:ext cx="3352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5, 10, 20, 40, 80, ………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E77C0-8B9C-40B7-C12C-73D2B5DF2632}"/>
              </a:ext>
            </a:extLst>
          </p:cNvPr>
          <p:cNvSpPr txBox="1"/>
          <p:nvPr/>
        </p:nvSpPr>
        <p:spPr>
          <a:xfrm>
            <a:off x="452761" y="3649711"/>
            <a:ext cx="32763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Arithmetic Progression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1D3343-B51F-38E5-0163-5AE4AA88D863}"/>
              </a:ext>
            </a:extLst>
          </p:cNvPr>
          <p:cNvSpPr txBox="1"/>
          <p:nvPr/>
        </p:nvSpPr>
        <p:spPr>
          <a:xfrm>
            <a:off x="685800" y="4118899"/>
            <a:ext cx="46362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a+d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a+2d, a+3d, ……,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a+nd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….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CBBE0-88CE-A3AD-3E62-37637BE2D972}"/>
              </a:ext>
            </a:extLst>
          </p:cNvPr>
          <p:cNvSpPr txBox="1"/>
          <p:nvPr/>
        </p:nvSpPr>
        <p:spPr>
          <a:xfrm>
            <a:off x="686931" y="4607607"/>
            <a:ext cx="58317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Initial term is a and the common difference is d</a:t>
            </a:r>
            <a:endParaRPr lang="en-US" sz="2200" baseline="30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489A25-EBC5-90F1-4C42-3E62D8E37FE9}"/>
              </a:ext>
            </a:extLst>
          </p:cNvPr>
          <p:cNvSpPr txBox="1"/>
          <p:nvPr/>
        </p:nvSpPr>
        <p:spPr>
          <a:xfrm>
            <a:off x="685800" y="5115095"/>
            <a:ext cx="4222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Example: 100, 90, 80, 70, ……..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7CE0D-31E1-ED24-5848-02FF382CD6DE}"/>
              </a:ext>
            </a:extLst>
          </p:cNvPr>
          <p:cNvSpPr txBox="1"/>
          <p:nvPr/>
        </p:nvSpPr>
        <p:spPr>
          <a:xfrm>
            <a:off x="4230200" y="3003811"/>
            <a:ext cx="16161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[a = 5, r = 2]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1891D-255E-60B5-A9CF-AD10A5E26E81}"/>
              </a:ext>
            </a:extLst>
          </p:cNvPr>
          <p:cNvSpPr txBox="1"/>
          <p:nvPr/>
        </p:nvSpPr>
        <p:spPr>
          <a:xfrm>
            <a:off x="4902572" y="5036390"/>
            <a:ext cx="21804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[a = 100, d = -10]</a:t>
            </a:r>
          </a:p>
        </p:txBody>
      </p:sp>
    </p:spTree>
    <p:extLst>
      <p:ext uri="{BB962C8B-B14F-4D97-AF65-F5344CB8AC3E}">
        <p14:creationId xmlns:p14="http://schemas.microsoft.com/office/powerpoint/2010/main" val="332274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4" grpId="0"/>
      <p:bldP spid="10" grpId="0"/>
      <p:bldP spid="11" grpId="0"/>
      <p:bldP spid="13" grpId="0"/>
      <p:bldP spid="15" grpId="0"/>
      <p:bldP spid="9" grpId="0"/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RECURRENCE RELATIONS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28921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Recurrence 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20443"/>
            <a:ext cx="68627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 equation to express the n-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term of a sequence {a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575028"/>
            <a:ext cx="59666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By using previous terms like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….. 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B88AD-69E6-1447-AEC6-59D48D8B79E5}"/>
              </a:ext>
            </a:extLst>
          </p:cNvPr>
          <p:cNvSpPr txBox="1"/>
          <p:nvPr/>
        </p:nvSpPr>
        <p:spPr>
          <a:xfrm>
            <a:off x="685800" y="3029613"/>
            <a:ext cx="8001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 generate the n-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term of a sequence from recurrence relation at least one of the previous term must be known which is known as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base case / initial condition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054B5-77A2-6A53-6837-D15FFA7E83D1}"/>
              </a:ext>
            </a:extLst>
          </p:cNvPr>
          <p:cNvSpPr txBox="1"/>
          <p:nvPr/>
        </p:nvSpPr>
        <p:spPr>
          <a:xfrm>
            <a:off x="457200" y="4123766"/>
            <a:ext cx="14766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7B3B0-A446-6B50-C043-BFAA2D9939D1}"/>
              </a:ext>
            </a:extLst>
          </p:cNvPr>
          <p:cNvSpPr txBox="1"/>
          <p:nvPr/>
        </p:nvSpPr>
        <p:spPr>
          <a:xfrm>
            <a:off x="685800" y="4587728"/>
            <a:ext cx="76306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a sequence {a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 satisfies the following recurrence relation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784A6-E73B-E78A-7473-8714F189EC3B}"/>
              </a:ext>
            </a:extLst>
          </p:cNvPr>
          <p:cNvSpPr txBox="1"/>
          <p:nvPr/>
        </p:nvSpPr>
        <p:spPr>
          <a:xfrm>
            <a:off x="976732" y="5004772"/>
            <a:ext cx="42611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+ 3  for n = 1, 2, 3……..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A8F2C9-B9D3-3EEB-3CD5-9628890A52BD}"/>
              </a:ext>
            </a:extLst>
          </p:cNvPr>
          <p:cNvSpPr txBox="1"/>
          <p:nvPr/>
        </p:nvSpPr>
        <p:spPr>
          <a:xfrm>
            <a:off x="976732" y="5468734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2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938ABE-1B24-5A10-290F-82E59E2F4654}"/>
              </a:ext>
            </a:extLst>
          </p:cNvPr>
          <p:cNvSpPr txBox="1"/>
          <p:nvPr/>
        </p:nvSpPr>
        <p:spPr>
          <a:xfrm>
            <a:off x="2438400" y="5468733"/>
            <a:ext cx="14750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[Base case]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01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4" grpId="0"/>
      <p:bldP spid="8" grpId="0"/>
      <p:bldP spid="12" grpId="0"/>
      <p:bldP spid="14" grpId="0"/>
      <p:bldP spid="16" grpId="0"/>
      <p:bldP spid="1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7B3B0-A446-6B50-C043-BFAA2D9939D1}"/>
              </a:ext>
            </a:extLst>
          </p:cNvPr>
          <p:cNvSpPr txBox="1"/>
          <p:nvPr/>
        </p:nvSpPr>
        <p:spPr>
          <a:xfrm>
            <a:off x="457200" y="1600200"/>
            <a:ext cx="76306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a sequence {a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 satisfies the following recurrence relation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784A6-E73B-E78A-7473-8714F189EC3B}"/>
              </a:ext>
            </a:extLst>
          </p:cNvPr>
          <p:cNvSpPr txBox="1"/>
          <p:nvPr/>
        </p:nvSpPr>
        <p:spPr>
          <a:xfrm>
            <a:off x="685800" y="2203038"/>
            <a:ext cx="29915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+ 3  for n &gt; 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A8F2C9-B9D3-3EEB-3CD5-9628890A52BD}"/>
              </a:ext>
            </a:extLst>
          </p:cNvPr>
          <p:cNvSpPr txBox="1"/>
          <p:nvPr/>
        </p:nvSpPr>
        <p:spPr>
          <a:xfrm>
            <a:off x="685800" y="2667000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2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74530C-3701-7999-311A-7FABDAEC5F29}"/>
                  </a:ext>
                </a:extLst>
              </p:cNvPr>
              <p:cNvSpPr txBox="1"/>
              <p:nvPr/>
            </p:nvSpPr>
            <p:spPr>
              <a:xfrm>
                <a:off x="4724400" y="2034903"/>
                <a:ext cx="3269100" cy="847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sz="2200" baseline="-25000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𝑛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+ 3</m:t>
                            </m:r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&amp;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         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74530C-3701-7999-311A-7FABDAEC5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034903"/>
                <a:ext cx="3269100" cy="847540"/>
              </a:xfrm>
              <a:prstGeom prst="rect">
                <a:avLst/>
              </a:prstGeom>
              <a:blipFill>
                <a:blip r:embed="rId2"/>
                <a:stretch>
                  <a:fillRect l="-2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F95211-021E-36C8-C217-6F233B0389EE}"/>
              </a:ext>
            </a:extLst>
          </p:cNvPr>
          <p:cNvCxnSpPr>
            <a:cxnSpLocks/>
          </p:cNvCxnSpPr>
          <p:nvPr/>
        </p:nvCxnSpPr>
        <p:spPr>
          <a:xfrm>
            <a:off x="4272507" y="2203038"/>
            <a:ext cx="0" cy="8948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8718A08-20ED-FE92-3539-494E9F03D65B}"/>
              </a:ext>
            </a:extLst>
          </p:cNvPr>
          <p:cNvSpPr txBox="1"/>
          <p:nvPr/>
        </p:nvSpPr>
        <p:spPr>
          <a:xfrm>
            <a:off x="3207151" y="3097887"/>
            <a:ext cx="21307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C4A9D7-0076-348D-1F2D-DF19514F26D3}"/>
              </a:ext>
            </a:extLst>
          </p:cNvPr>
          <p:cNvSpPr txBox="1"/>
          <p:nvPr/>
        </p:nvSpPr>
        <p:spPr>
          <a:xfrm>
            <a:off x="685800" y="3657600"/>
            <a:ext cx="17107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+ 3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5727A2-014A-019C-B537-9C94E2E2E923}"/>
              </a:ext>
            </a:extLst>
          </p:cNvPr>
          <p:cNvSpPr txBox="1"/>
          <p:nvPr/>
        </p:nvSpPr>
        <p:spPr>
          <a:xfrm>
            <a:off x="2654030" y="3657599"/>
            <a:ext cx="9957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2 + 3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3A2D54-EF18-BF34-6F6E-587A043C8C25}"/>
              </a:ext>
            </a:extLst>
          </p:cNvPr>
          <p:cNvSpPr txBox="1"/>
          <p:nvPr/>
        </p:nvSpPr>
        <p:spPr>
          <a:xfrm>
            <a:off x="4169440" y="3657598"/>
            <a:ext cx="5549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5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6BDA7E-D547-A3B5-BC91-83128D06FCE7}"/>
              </a:ext>
            </a:extLst>
          </p:cNvPr>
          <p:cNvSpPr txBox="1"/>
          <p:nvPr/>
        </p:nvSpPr>
        <p:spPr>
          <a:xfrm>
            <a:off x="685800" y="4224076"/>
            <a:ext cx="17107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+ 3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019E64-CE58-24DC-1273-77F920D88425}"/>
              </a:ext>
            </a:extLst>
          </p:cNvPr>
          <p:cNvSpPr txBox="1"/>
          <p:nvPr/>
        </p:nvSpPr>
        <p:spPr>
          <a:xfrm>
            <a:off x="2654030" y="4224075"/>
            <a:ext cx="9957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5 + 3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99884A-6A64-1545-7DA8-23ABC3883AA6}"/>
              </a:ext>
            </a:extLst>
          </p:cNvPr>
          <p:cNvSpPr txBox="1"/>
          <p:nvPr/>
        </p:nvSpPr>
        <p:spPr>
          <a:xfrm>
            <a:off x="4169440" y="4224074"/>
            <a:ext cx="5549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8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2F79B-978D-DA06-A347-281434A139E2}"/>
              </a:ext>
            </a:extLst>
          </p:cNvPr>
          <p:cNvSpPr txBox="1"/>
          <p:nvPr/>
        </p:nvSpPr>
        <p:spPr>
          <a:xfrm>
            <a:off x="685800" y="4826913"/>
            <a:ext cx="17107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+ 3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A65170-3F6B-43B9-DEFE-36DFD79E8555}"/>
              </a:ext>
            </a:extLst>
          </p:cNvPr>
          <p:cNvSpPr txBox="1"/>
          <p:nvPr/>
        </p:nvSpPr>
        <p:spPr>
          <a:xfrm>
            <a:off x="2654030" y="4826912"/>
            <a:ext cx="9957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8 + 3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CE993C-E5F0-8986-7045-2D4EA8A4AFD2}"/>
              </a:ext>
            </a:extLst>
          </p:cNvPr>
          <p:cNvSpPr txBox="1"/>
          <p:nvPr/>
        </p:nvSpPr>
        <p:spPr>
          <a:xfrm>
            <a:off x="4169440" y="4826911"/>
            <a:ext cx="6855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11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81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5" grpId="0"/>
      <p:bldP spid="15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7B3B0-A446-6B50-C043-BFAA2D9939D1}"/>
              </a:ext>
            </a:extLst>
          </p:cNvPr>
          <p:cNvSpPr txBox="1"/>
          <p:nvPr/>
        </p:nvSpPr>
        <p:spPr>
          <a:xfrm>
            <a:off x="457200" y="1600200"/>
            <a:ext cx="83471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a sequence {a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 where the n-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term denotes n!. n = 0, 1, 2, 3, …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784A6-E73B-E78A-7473-8714F189EC3B}"/>
              </a:ext>
            </a:extLst>
          </p:cNvPr>
          <p:cNvSpPr txBox="1"/>
          <p:nvPr/>
        </p:nvSpPr>
        <p:spPr>
          <a:xfrm>
            <a:off x="762000" y="3507427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n x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for n &gt; 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A8F2C9-B9D3-3EEB-3CD5-9628890A52BD}"/>
              </a:ext>
            </a:extLst>
          </p:cNvPr>
          <p:cNvSpPr txBox="1"/>
          <p:nvPr/>
        </p:nvSpPr>
        <p:spPr>
          <a:xfrm>
            <a:off x="762000" y="3971389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74530C-3701-7999-311A-7FABDAEC5F29}"/>
                  </a:ext>
                </a:extLst>
              </p:cNvPr>
              <p:cNvSpPr txBox="1"/>
              <p:nvPr/>
            </p:nvSpPr>
            <p:spPr>
              <a:xfrm>
                <a:off x="4800600" y="3339292"/>
                <a:ext cx="3229154" cy="847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sz="2200" baseline="-25000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𝑛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 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 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𝑛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&amp;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         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74530C-3701-7999-311A-7FABDAEC5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3339292"/>
                <a:ext cx="3229154" cy="847540"/>
              </a:xfrm>
              <a:prstGeom prst="rect">
                <a:avLst/>
              </a:prstGeom>
              <a:blipFill>
                <a:blip r:embed="rId2"/>
                <a:stretch>
                  <a:fillRect l="-2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F95211-021E-36C8-C217-6F233B0389EE}"/>
              </a:ext>
            </a:extLst>
          </p:cNvPr>
          <p:cNvCxnSpPr>
            <a:cxnSpLocks/>
          </p:cNvCxnSpPr>
          <p:nvPr/>
        </p:nvCxnSpPr>
        <p:spPr>
          <a:xfrm>
            <a:off x="4348707" y="3507427"/>
            <a:ext cx="0" cy="8948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EC4A9D7-0076-348D-1F2D-DF19514F26D3}"/>
              </a:ext>
            </a:extLst>
          </p:cNvPr>
          <p:cNvSpPr txBox="1"/>
          <p:nvPr/>
        </p:nvSpPr>
        <p:spPr>
          <a:xfrm>
            <a:off x="762000" y="4367407"/>
            <a:ext cx="16930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5 x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019E64-CE58-24DC-1273-77F920D88425}"/>
              </a:ext>
            </a:extLst>
          </p:cNvPr>
          <p:cNvSpPr txBox="1"/>
          <p:nvPr/>
        </p:nvSpPr>
        <p:spPr>
          <a:xfrm>
            <a:off x="1439210" y="4752038"/>
            <a:ext cx="15263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5 x 4 x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2F79B-978D-DA06-A347-281434A139E2}"/>
              </a:ext>
            </a:extLst>
          </p:cNvPr>
          <p:cNvSpPr txBox="1"/>
          <p:nvPr/>
        </p:nvSpPr>
        <p:spPr>
          <a:xfrm>
            <a:off x="762000" y="6804927"/>
            <a:ext cx="17107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+ 3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A65170-3F6B-43B9-DEFE-36DFD79E8555}"/>
              </a:ext>
            </a:extLst>
          </p:cNvPr>
          <p:cNvSpPr txBox="1"/>
          <p:nvPr/>
        </p:nvSpPr>
        <p:spPr>
          <a:xfrm>
            <a:off x="2730230" y="6804926"/>
            <a:ext cx="9957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8 + 3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CE993C-E5F0-8986-7045-2D4EA8A4AFD2}"/>
              </a:ext>
            </a:extLst>
          </p:cNvPr>
          <p:cNvSpPr txBox="1"/>
          <p:nvPr/>
        </p:nvSpPr>
        <p:spPr>
          <a:xfrm>
            <a:off x="4245640" y="6804925"/>
            <a:ext cx="6855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11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E3538-7EE3-D9F6-52FE-491E331A98B3}"/>
              </a:ext>
            </a:extLst>
          </p:cNvPr>
          <p:cNvSpPr txBox="1"/>
          <p:nvPr/>
        </p:nvSpPr>
        <p:spPr>
          <a:xfrm>
            <a:off x="457200" y="2039349"/>
            <a:ext cx="74510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example the sequence is {1, 1, 2, 6, 24, 120, 720, ……..}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D9C92A-93E4-F67E-4721-B39FE3A06C75}"/>
              </a:ext>
            </a:extLst>
          </p:cNvPr>
          <p:cNvSpPr txBox="1"/>
          <p:nvPr/>
        </p:nvSpPr>
        <p:spPr>
          <a:xfrm>
            <a:off x="457199" y="2518426"/>
            <a:ext cx="64283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a recurrence relation that satisfies the sequence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79081-E148-45A0-5976-79B25A54545A}"/>
              </a:ext>
            </a:extLst>
          </p:cNvPr>
          <p:cNvSpPr txBox="1"/>
          <p:nvPr/>
        </p:nvSpPr>
        <p:spPr>
          <a:xfrm>
            <a:off x="457199" y="3025513"/>
            <a:ext cx="5170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using the recurrence relation find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55A7B-2093-3D00-A75C-09AA7A789355}"/>
              </a:ext>
            </a:extLst>
          </p:cNvPr>
          <p:cNvSpPr txBox="1"/>
          <p:nvPr/>
        </p:nvSpPr>
        <p:spPr>
          <a:xfrm>
            <a:off x="1439210" y="5143701"/>
            <a:ext cx="19495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5 x 4 x 3 x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087CF-DAE0-DE19-97DF-4B1AB06FEE05}"/>
              </a:ext>
            </a:extLst>
          </p:cNvPr>
          <p:cNvSpPr txBox="1"/>
          <p:nvPr/>
        </p:nvSpPr>
        <p:spPr>
          <a:xfrm>
            <a:off x="1439209" y="5586357"/>
            <a:ext cx="2326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5 x 4 x 3 x 2 x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8E6D4-5650-9140-FAC9-08F8615BE510}"/>
              </a:ext>
            </a:extLst>
          </p:cNvPr>
          <p:cNvSpPr txBox="1"/>
          <p:nvPr/>
        </p:nvSpPr>
        <p:spPr>
          <a:xfrm>
            <a:off x="1439209" y="5978020"/>
            <a:ext cx="27494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5 x 4 x 3 x 2 x 1 x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6AA93F-5920-B20D-AC5A-BCF6852E2947}"/>
              </a:ext>
            </a:extLst>
          </p:cNvPr>
          <p:cNvSpPr txBox="1"/>
          <p:nvPr/>
        </p:nvSpPr>
        <p:spPr>
          <a:xfrm>
            <a:off x="1433268" y="6362271"/>
            <a:ext cx="27494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5 x 4 x 3 x 2 x 1 x 1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5F86CE-7927-7F8E-7DDC-51732FF44607}"/>
              </a:ext>
            </a:extLst>
          </p:cNvPr>
          <p:cNvSpPr txBox="1"/>
          <p:nvPr/>
        </p:nvSpPr>
        <p:spPr>
          <a:xfrm>
            <a:off x="4094123" y="6375941"/>
            <a:ext cx="8370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120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764A46-19FF-7A30-BE18-44A30ED1C469}"/>
              </a:ext>
            </a:extLst>
          </p:cNvPr>
          <p:cNvSpPr txBox="1"/>
          <p:nvPr/>
        </p:nvSpPr>
        <p:spPr>
          <a:xfrm>
            <a:off x="4795294" y="4374362"/>
            <a:ext cx="41120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if,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would not be given?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C4F4FE-C273-38FE-E2EC-C702DF98B39D}"/>
              </a:ext>
            </a:extLst>
          </p:cNvPr>
          <p:cNvSpPr txBox="1"/>
          <p:nvPr/>
        </p:nvSpPr>
        <p:spPr>
          <a:xfrm>
            <a:off x="5053894" y="4813511"/>
            <a:ext cx="27029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would be infinite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9CAEF9-5E75-4648-0BAF-59DFD517679C}"/>
              </a:ext>
            </a:extLst>
          </p:cNvPr>
          <p:cNvSpPr txBox="1"/>
          <p:nvPr/>
        </p:nvSpPr>
        <p:spPr>
          <a:xfrm>
            <a:off x="5053894" y="5261238"/>
            <a:ext cx="32960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would become 0 x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-1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B83780-5C7E-793E-F2BF-3DF14120AFEB}"/>
              </a:ext>
            </a:extLst>
          </p:cNvPr>
          <p:cNvSpPr txBox="1"/>
          <p:nvPr/>
        </p:nvSpPr>
        <p:spPr>
          <a:xfrm>
            <a:off x="5053894" y="5699135"/>
            <a:ext cx="34067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would become -1 x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-2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61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5" grpId="0"/>
      <p:bldP spid="18" grpId="0"/>
      <p:bldP spid="22" grpId="0"/>
      <p:bldP spid="24" grpId="0"/>
      <p:bldP spid="25" grpId="0"/>
      <p:bldP spid="26" grpId="0"/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7" grpId="0"/>
      <p:bldP spid="27" grpId="0"/>
      <p:bldP spid="28" grpId="0"/>
      <p:bldP spid="2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FIBONACCI SERIES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7B3B0-A446-6B50-C043-BFAA2D9939D1}"/>
              </a:ext>
            </a:extLst>
          </p:cNvPr>
          <p:cNvSpPr txBox="1"/>
          <p:nvPr/>
        </p:nvSpPr>
        <p:spPr>
          <a:xfrm>
            <a:off x="457200" y="1600200"/>
            <a:ext cx="7943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Each term in the series is the summation of the previous two term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BAFE1-B369-DF0F-0ED9-514BF182EF95}"/>
              </a:ext>
            </a:extLst>
          </p:cNvPr>
          <p:cNvSpPr txBox="1"/>
          <p:nvPr/>
        </p:nvSpPr>
        <p:spPr>
          <a:xfrm>
            <a:off x="457200" y="2107047"/>
            <a:ext cx="37128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Initial two terms are 0 and 1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2E9D1-2023-503D-39C7-D12F274F98A7}"/>
              </a:ext>
            </a:extLst>
          </p:cNvPr>
          <p:cNvSpPr txBox="1"/>
          <p:nvPr/>
        </p:nvSpPr>
        <p:spPr>
          <a:xfrm>
            <a:off x="457200" y="2640447"/>
            <a:ext cx="26532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series is: 0, 1,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0D0C3E-4F39-BD1D-5E85-0DA7289C9336}"/>
              </a:ext>
            </a:extLst>
          </p:cNvPr>
          <p:cNvSpPr txBox="1"/>
          <p:nvPr/>
        </p:nvSpPr>
        <p:spPr>
          <a:xfrm>
            <a:off x="2912359" y="2640446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1,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D38E3-958E-A9A5-282E-5D29FC3135EB}"/>
              </a:ext>
            </a:extLst>
          </p:cNvPr>
          <p:cNvSpPr txBox="1"/>
          <p:nvPr/>
        </p:nvSpPr>
        <p:spPr>
          <a:xfrm>
            <a:off x="3200400" y="2640446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2,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C8C14-9371-F5DA-EAFA-35361DCFB393}"/>
              </a:ext>
            </a:extLst>
          </p:cNvPr>
          <p:cNvSpPr txBox="1"/>
          <p:nvPr/>
        </p:nvSpPr>
        <p:spPr>
          <a:xfrm>
            <a:off x="3488441" y="2640445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3,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40D0F-9456-CC28-46BC-A4DBB64D16A5}"/>
              </a:ext>
            </a:extLst>
          </p:cNvPr>
          <p:cNvSpPr txBox="1"/>
          <p:nvPr/>
        </p:nvSpPr>
        <p:spPr>
          <a:xfrm>
            <a:off x="3773814" y="2640445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5,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2CAD9E-1D34-5BB3-9D23-DCE5CF4DD2B6}"/>
              </a:ext>
            </a:extLst>
          </p:cNvPr>
          <p:cNvSpPr txBox="1"/>
          <p:nvPr/>
        </p:nvSpPr>
        <p:spPr>
          <a:xfrm>
            <a:off x="4059187" y="2640444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8,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A0852-B5DB-BDA5-AC76-5CB2393F6276}"/>
              </a:ext>
            </a:extLst>
          </p:cNvPr>
          <p:cNvSpPr txBox="1"/>
          <p:nvPr/>
        </p:nvSpPr>
        <p:spPr>
          <a:xfrm>
            <a:off x="4344560" y="2640443"/>
            <a:ext cx="5373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13,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5A3CB8-8F33-75E1-2A1D-8513832ACBDE}"/>
              </a:ext>
            </a:extLst>
          </p:cNvPr>
          <p:cNvSpPr txBox="1"/>
          <p:nvPr/>
        </p:nvSpPr>
        <p:spPr>
          <a:xfrm>
            <a:off x="4775404" y="2644778"/>
            <a:ext cx="13131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21………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B39AF7-91C8-DDC8-A8A4-99444697207B}"/>
              </a:ext>
            </a:extLst>
          </p:cNvPr>
          <p:cNvSpPr txBox="1"/>
          <p:nvPr/>
        </p:nvSpPr>
        <p:spPr>
          <a:xfrm>
            <a:off x="457200" y="3298153"/>
            <a:ext cx="52485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recurrence relation for this series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B4F002-E53B-F8FE-E33D-F1B648FD3E97}"/>
              </a:ext>
            </a:extLst>
          </p:cNvPr>
          <p:cNvSpPr txBox="1"/>
          <p:nvPr/>
        </p:nvSpPr>
        <p:spPr>
          <a:xfrm>
            <a:off x="780088" y="3729040"/>
            <a:ext cx="20120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n-2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91DF90-0076-7C65-FCE6-6F5E8DD81EDA}"/>
              </a:ext>
            </a:extLst>
          </p:cNvPr>
          <p:cNvSpPr txBox="1"/>
          <p:nvPr/>
        </p:nvSpPr>
        <p:spPr>
          <a:xfrm>
            <a:off x="780088" y="4193002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B19D57-2BAD-5857-9979-6E9D012AF483}"/>
              </a:ext>
            </a:extLst>
          </p:cNvPr>
          <p:cNvSpPr txBox="1"/>
          <p:nvPr/>
        </p:nvSpPr>
        <p:spPr>
          <a:xfrm>
            <a:off x="2043819" y="4193002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2F5F64-198E-D5B8-AA25-57414F55CABF}"/>
                  </a:ext>
                </a:extLst>
              </p:cNvPr>
              <p:cNvSpPr txBox="1"/>
              <p:nvPr/>
            </p:nvSpPr>
            <p:spPr>
              <a:xfrm>
                <a:off x="4298200" y="3736157"/>
                <a:ext cx="4054123" cy="847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+ 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𝑛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     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&gt;1</m:t>
                            </m:r>
                          </m:e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&amp;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              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2F5F64-198E-D5B8-AA25-57414F55C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200" y="3736157"/>
                <a:ext cx="4054123" cy="847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F4E3AC-92E0-F8C0-FBCA-4A2E3B7CC56C}"/>
              </a:ext>
            </a:extLst>
          </p:cNvPr>
          <p:cNvCxnSpPr>
            <a:cxnSpLocks/>
          </p:cNvCxnSpPr>
          <p:nvPr/>
        </p:nvCxnSpPr>
        <p:spPr>
          <a:xfrm>
            <a:off x="3922679" y="3755783"/>
            <a:ext cx="0" cy="8948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47DBB54-9B80-98CB-0685-B90400B3BDB4}"/>
              </a:ext>
            </a:extLst>
          </p:cNvPr>
          <p:cNvSpPr txBox="1"/>
          <p:nvPr/>
        </p:nvSpPr>
        <p:spPr>
          <a:xfrm>
            <a:off x="457199" y="5003223"/>
            <a:ext cx="74767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(4-th Fibonacci number) using the recurrence relation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13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7" grpId="0"/>
      <p:bldP spid="27" grpId="0"/>
      <p:bldP spid="28" grpId="0"/>
      <p:bldP spid="29" grpId="0"/>
      <p:bldP spid="30" grpId="0"/>
      <p:bldP spid="31" grpId="0"/>
      <p:bldP spid="3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FIBONACCI SERIES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B4F002-E53B-F8FE-E33D-F1B648FD3E97}"/>
              </a:ext>
            </a:extLst>
          </p:cNvPr>
          <p:cNvSpPr txBox="1"/>
          <p:nvPr/>
        </p:nvSpPr>
        <p:spPr>
          <a:xfrm>
            <a:off x="493241" y="1580760"/>
            <a:ext cx="20120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n-2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91DF90-0076-7C65-FCE6-6F5E8DD81EDA}"/>
              </a:ext>
            </a:extLst>
          </p:cNvPr>
          <p:cNvSpPr txBox="1"/>
          <p:nvPr/>
        </p:nvSpPr>
        <p:spPr>
          <a:xfrm>
            <a:off x="493241" y="2044722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B19D57-2BAD-5857-9979-6E9D012AF483}"/>
              </a:ext>
            </a:extLst>
          </p:cNvPr>
          <p:cNvSpPr txBox="1"/>
          <p:nvPr/>
        </p:nvSpPr>
        <p:spPr>
          <a:xfrm>
            <a:off x="1756972" y="2044722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2F5F64-198E-D5B8-AA25-57414F55CABF}"/>
                  </a:ext>
                </a:extLst>
              </p:cNvPr>
              <p:cNvSpPr txBox="1"/>
              <p:nvPr/>
            </p:nvSpPr>
            <p:spPr>
              <a:xfrm>
                <a:off x="4011353" y="1587877"/>
                <a:ext cx="4054123" cy="847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+ 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𝑛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     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&gt;1</m:t>
                            </m:r>
                          </m:e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&amp;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              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2F5F64-198E-D5B8-AA25-57414F55C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353" y="1587877"/>
                <a:ext cx="4054123" cy="847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F4E3AC-92E0-F8C0-FBCA-4A2E3B7CC56C}"/>
              </a:ext>
            </a:extLst>
          </p:cNvPr>
          <p:cNvCxnSpPr>
            <a:cxnSpLocks/>
          </p:cNvCxnSpPr>
          <p:nvPr/>
        </p:nvCxnSpPr>
        <p:spPr>
          <a:xfrm>
            <a:off x="3635832" y="1607503"/>
            <a:ext cx="0" cy="8948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47DBB54-9B80-98CB-0685-B90400B3BDB4}"/>
              </a:ext>
            </a:extLst>
          </p:cNvPr>
          <p:cNvSpPr txBox="1"/>
          <p:nvPr/>
        </p:nvSpPr>
        <p:spPr>
          <a:xfrm>
            <a:off x="474955" y="2597992"/>
            <a:ext cx="74767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(4-th Fibonacci number) using the recurrence relation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B9D4B-FB5C-9624-A484-9329DF14F77F}"/>
              </a:ext>
            </a:extLst>
          </p:cNvPr>
          <p:cNvSpPr txBox="1"/>
          <p:nvPr/>
        </p:nvSpPr>
        <p:spPr>
          <a:xfrm>
            <a:off x="893351" y="3061954"/>
            <a:ext cx="16979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1FAE1D-ABDD-F547-EAC8-765145C78E05}"/>
              </a:ext>
            </a:extLst>
          </p:cNvPr>
          <p:cNvSpPr txBox="1"/>
          <p:nvPr/>
        </p:nvSpPr>
        <p:spPr>
          <a:xfrm>
            <a:off x="1499286" y="3466098"/>
            <a:ext cx="19287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94FDA8-F7B1-899A-03FD-24DEA99022A9}"/>
              </a:ext>
            </a:extLst>
          </p:cNvPr>
          <p:cNvSpPr txBox="1"/>
          <p:nvPr/>
        </p:nvSpPr>
        <p:spPr>
          <a:xfrm>
            <a:off x="1502245" y="3925947"/>
            <a:ext cx="24625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+ 1 + 1 + 0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C47FF-5733-36FF-3DFF-1C733DD5B866}"/>
              </a:ext>
            </a:extLst>
          </p:cNvPr>
          <p:cNvSpPr txBox="1"/>
          <p:nvPr/>
        </p:nvSpPr>
        <p:spPr>
          <a:xfrm>
            <a:off x="1499286" y="4385796"/>
            <a:ext cx="23663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1 + 0 + 1 + 1 + 0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9C229C-8357-F01A-DC93-54322C1A7098}"/>
              </a:ext>
            </a:extLst>
          </p:cNvPr>
          <p:cNvSpPr txBox="1"/>
          <p:nvPr/>
        </p:nvSpPr>
        <p:spPr>
          <a:xfrm>
            <a:off x="1499286" y="4847440"/>
            <a:ext cx="5549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3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99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" grpId="0"/>
      <p:bldP spid="13" grpId="0"/>
      <p:bldP spid="14" grpId="0"/>
      <p:bldP spid="15" grpId="0"/>
      <p:bldP spid="1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FIBONACCI SERIES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B4F002-E53B-F8FE-E33D-F1B648FD3E97}"/>
              </a:ext>
            </a:extLst>
          </p:cNvPr>
          <p:cNvSpPr txBox="1"/>
          <p:nvPr/>
        </p:nvSpPr>
        <p:spPr>
          <a:xfrm>
            <a:off x="493241" y="1580760"/>
            <a:ext cx="20120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n-2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91DF90-0076-7C65-FCE6-6F5E8DD81EDA}"/>
              </a:ext>
            </a:extLst>
          </p:cNvPr>
          <p:cNvSpPr txBox="1"/>
          <p:nvPr/>
        </p:nvSpPr>
        <p:spPr>
          <a:xfrm>
            <a:off x="493241" y="2044722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B19D57-2BAD-5857-9979-6E9D012AF483}"/>
              </a:ext>
            </a:extLst>
          </p:cNvPr>
          <p:cNvSpPr txBox="1"/>
          <p:nvPr/>
        </p:nvSpPr>
        <p:spPr>
          <a:xfrm>
            <a:off x="1756972" y="2044722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2F5F64-198E-D5B8-AA25-57414F55CABF}"/>
                  </a:ext>
                </a:extLst>
              </p:cNvPr>
              <p:cNvSpPr txBox="1"/>
              <p:nvPr/>
            </p:nvSpPr>
            <p:spPr>
              <a:xfrm>
                <a:off x="4011353" y="1587877"/>
                <a:ext cx="4054123" cy="847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+ 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𝑛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     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&gt;1</m:t>
                            </m:r>
                          </m:e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&amp;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               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2F5F64-198E-D5B8-AA25-57414F55C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353" y="1587877"/>
                <a:ext cx="4054123" cy="847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F4E3AC-92E0-F8C0-FBCA-4A2E3B7CC56C}"/>
              </a:ext>
            </a:extLst>
          </p:cNvPr>
          <p:cNvCxnSpPr>
            <a:cxnSpLocks/>
          </p:cNvCxnSpPr>
          <p:nvPr/>
        </p:nvCxnSpPr>
        <p:spPr>
          <a:xfrm>
            <a:off x="3635832" y="1607503"/>
            <a:ext cx="0" cy="8948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47DBB54-9B80-98CB-0685-B90400B3BDB4}"/>
              </a:ext>
            </a:extLst>
          </p:cNvPr>
          <p:cNvSpPr txBox="1"/>
          <p:nvPr/>
        </p:nvSpPr>
        <p:spPr>
          <a:xfrm>
            <a:off x="493241" y="2487841"/>
            <a:ext cx="6078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Illustrate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using the recurrence relation as a tree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2583F1-9C0C-045A-4597-C59727DBB3A4}"/>
              </a:ext>
            </a:extLst>
          </p:cNvPr>
          <p:cNvSpPr txBox="1"/>
          <p:nvPr/>
        </p:nvSpPr>
        <p:spPr>
          <a:xfrm>
            <a:off x="3824443" y="2873716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7D8A4-7696-03B7-5596-005F9E263FD4}"/>
              </a:ext>
            </a:extLst>
          </p:cNvPr>
          <p:cNvSpPr txBox="1"/>
          <p:nvPr/>
        </p:nvSpPr>
        <p:spPr>
          <a:xfrm>
            <a:off x="2281207" y="3583622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978AE-DC9C-0DEA-896E-0D3FD8E6183B}"/>
              </a:ext>
            </a:extLst>
          </p:cNvPr>
          <p:cNvSpPr txBox="1"/>
          <p:nvPr/>
        </p:nvSpPr>
        <p:spPr>
          <a:xfrm>
            <a:off x="5486400" y="3583622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2DC80-C786-B573-23AE-2576DC9BE150}"/>
              </a:ext>
            </a:extLst>
          </p:cNvPr>
          <p:cNvSpPr txBox="1"/>
          <p:nvPr/>
        </p:nvSpPr>
        <p:spPr>
          <a:xfrm>
            <a:off x="1535503" y="4406480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62000-87ED-27BB-E4EB-2DB2B3F4F223}"/>
              </a:ext>
            </a:extLst>
          </p:cNvPr>
          <p:cNvSpPr txBox="1"/>
          <p:nvPr/>
        </p:nvSpPr>
        <p:spPr>
          <a:xfrm>
            <a:off x="2942147" y="4406480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04A6EF-B83F-29FC-3CA8-B5B43AD4D631}"/>
              </a:ext>
            </a:extLst>
          </p:cNvPr>
          <p:cNvSpPr txBox="1"/>
          <p:nvPr/>
        </p:nvSpPr>
        <p:spPr>
          <a:xfrm>
            <a:off x="1089855" y="5364838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980976-4FF3-7DD6-1EBC-FAC175DD1AE8}"/>
              </a:ext>
            </a:extLst>
          </p:cNvPr>
          <p:cNvSpPr txBox="1"/>
          <p:nvPr/>
        </p:nvSpPr>
        <p:spPr>
          <a:xfrm>
            <a:off x="1889348" y="5370017"/>
            <a:ext cx="3738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8E8767-DA8B-81FA-786C-B2924F05B7B3}"/>
              </a:ext>
            </a:extLst>
          </p:cNvPr>
          <p:cNvSpPr txBox="1"/>
          <p:nvPr/>
        </p:nvSpPr>
        <p:spPr>
          <a:xfrm>
            <a:off x="715097" y="6248400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ABD824-BCDE-995E-0438-0BD047CB977D}"/>
              </a:ext>
            </a:extLst>
          </p:cNvPr>
          <p:cNvSpPr txBox="1"/>
          <p:nvPr/>
        </p:nvSpPr>
        <p:spPr>
          <a:xfrm>
            <a:off x="1523654" y="6248400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24E7ED-D8E2-DC12-A230-CC981B866623}"/>
              </a:ext>
            </a:extLst>
          </p:cNvPr>
          <p:cNvSpPr txBox="1"/>
          <p:nvPr/>
        </p:nvSpPr>
        <p:spPr>
          <a:xfrm>
            <a:off x="2507410" y="5364838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AE8655-44CB-18D0-F14A-8996593C6533}"/>
              </a:ext>
            </a:extLst>
          </p:cNvPr>
          <p:cNvSpPr txBox="1"/>
          <p:nvPr/>
        </p:nvSpPr>
        <p:spPr>
          <a:xfrm>
            <a:off x="3315967" y="5364838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2D57B7-311F-CEC7-B068-742F09B4E474}"/>
              </a:ext>
            </a:extLst>
          </p:cNvPr>
          <p:cNvSpPr txBox="1"/>
          <p:nvPr/>
        </p:nvSpPr>
        <p:spPr>
          <a:xfrm>
            <a:off x="5120268" y="4466800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AC34A6-9E33-BE88-958F-99B81F6562A9}"/>
              </a:ext>
            </a:extLst>
          </p:cNvPr>
          <p:cNvSpPr txBox="1"/>
          <p:nvPr/>
        </p:nvSpPr>
        <p:spPr>
          <a:xfrm>
            <a:off x="5919761" y="4471979"/>
            <a:ext cx="3738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7CF12F-31ED-604E-136D-CC014DBB5C3D}"/>
              </a:ext>
            </a:extLst>
          </p:cNvPr>
          <p:cNvSpPr txBox="1"/>
          <p:nvPr/>
        </p:nvSpPr>
        <p:spPr>
          <a:xfrm>
            <a:off x="4745510" y="5350362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44F99C-D564-660D-9927-E760F0BD8D11}"/>
              </a:ext>
            </a:extLst>
          </p:cNvPr>
          <p:cNvSpPr txBox="1"/>
          <p:nvPr/>
        </p:nvSpPr>
        <p:spPr>
          <a:xfrm>
            <a:off x="5554067" y="5350362"/>
            <a:ext cx="373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C3F84B-65FD-481F-3059-AB5CFFDFF44E}"/>
              </a:ext>
            </a:extLst>
          </p:cNvPr>
          <p:cNvSpPr txBox="1"/>
          <p:nvPr/>
        </p:nvSpPr>
        <p:spPr>
          <a:xfrm>
            <a:off x="3814690" y="3145534"/>
            <a:ext cx="3433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47D6DE-764F-85C6-3793-0B8ABF0D2C91}"/>
              </a:ext>
            </a:extLst>
          </p:cNvPr>
          <p:cNvSpPr txBox="1"/>
          <p:nvPr/>
        </p:nvSpPr>
        <p:spPr>
          <a:xfrm>
            <a:off x="2274549" y="3876571"/>
            <a:ext cx="3433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805513-6A42-5775-1558-510AAD37459F}"/>
              </a:ext>
            </a:extLst>
          </p:cNvPr>
          <p:cNvSpPr txBox="1"/>
          <p:nvPr/>
        </p:nvSpPr>
        <p:spPr>
          <a:xfrm>
            <a:off x="5501628" y="3884809"/>
            <a:ext cx="3433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8E86F6-33FF-7A37-EBAB-840E313105DC}"/>
              </a:ext>
            </a:extLst>
          </p:cNvPr>
          <p:cNvSpPr txBox="1"/>
          <p:nvPr/>
        </p:nvSpPr>
        <p:spPr>
          <a:xfrm>
            <a:off x="1535503" y="4682243"/>
            <a:ext cx="3433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A75774-B77A-987B-86FA-2573455CB842}"/>
              </a:ext>
            </a:extLst>
          </p:cNvPr>
          <p:cNvSpPr txBox="1"/>
          <p:nvPr/>
        </p:nvSpPr>
        <p:spPr>
          <a:xfrm>
            <a:off x="2942257" y="4682243"/>
            <a:ext cx="3433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B4E99D-3CB0-4400-8AEF-5CD9A59F0BC8}"/>
              </a:ext>
            </a:extLst>
          </p:cNvPr>
          <p:cNvSpPr txBox="1"/>
          <p:nvPr/>
        </p:nvSpPr>
        <p:spPr>
          <a:xfrm>
            <a:off x="5089922" y="4693137"/>
            <a:ext cx="3433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695F2E-7128-AD96-5A9D-12FFBFF8087F}"/>
              </a:ext>
            </a:extLst>
          </p:cNvPr>
          <p:cNvSpPr txBox="1"/>
          <p:nvPr/>
        </p:nvSpPr>
        <p:spPr>
          <a:xfrm>
            <a:off x="1060224" y="5638800"/>
            <a:ext cx="3433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8CF1A71-C25C-816D-15C0-78D728AF5AC9}"/>
              </a:ext>
            </a:extLst>
          </p:cNvPr>
          <p:cNvCxnSpPr>
            <a:stCxn id="34" idx="1"/>
            <a:endCxn id="4" idx="0"/>
          </p:cNvCxnSpPr>
          <p:nvPr/>
        </p:nvCxnSpPr>
        <p:spPr>
          <a:xfrm flipH="1">
            <a:off x="2468117" y="3360978"/>
            <a:ext cx="1346573" cy="2226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1777B86-519E-400B-2C8E-9D0DACE90E11}"/>
              </a:ext>
            </a:extLst>
          </p:cNvPr>
          <p:cNvCxnSpPr>
            <a:stCxn id="34" idx="3"/>
            <a:endCxn id="6" idx="0"/>
          </p:cNvCxnSpPr>
          <p:nvPr/>
        </p:nvCxnSpPr>
        <p:spPr>
          <a:xfrm>
            <a:off x="4158054" y="3360978"/>
            <a:ext cx="1515256" cy="2226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B2DC386-9653-1348-8C79-DF1BA3C79A8D}"/>
              </a:ext>
            </a:extLst>
          </p:cNvPr>
          <p:cNvCxnSpPr>
            <a:stCxn id="35" idx="1"/>
            <a:endCxn id="7" idx="0"/>
          </p:cNvCxnSpPr>
          <p:nvPr/>
        </p:nvCxnSpPr>
        <p:spPr>
          <a:xfrm flipH="1">
            <a:off x="1722413" y="4092015"/>
            <a:ext cx="552136" cy="3144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F26B26-7655-EF0E-6DAE-390C08DA7F5B}"/>
              </a:ext>
            </a:extLst>
          </p:cNvPr>
          <p:cNvCxnSpPr>
            <a:stCxn id="35" idx="3"/>
            <a:endCxn id="8" idx="0"/>
          </p:cNvCxnSpPr>
          <p:nvPr/>
        </p:nvCxnSpPr>
        <p:spPr>
          <a:xfrm>
            <a:off x="2617913" y="4092015"/>
            <a:ext cx="511144" cy="3144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7873B2-0A51-3BD8-47F5-B697740B5917}"/>
              </a:ext>
            </a:extLst>
          </p:cNvPr>
          <p:cNvCxnSpPr>
            <a:stCxn id="37" idx="1"/>
            <a:endCxn id="9" idx="0"/>
          </p:cNvCxnSpPr>
          <p:nvPr/>
        </p:nvCxnSpPr>
        <p:spPr>
          <a:xfrm flipH="1">
            <a:off x="1276765" y="4897687"/>
            <a:ext cx="258738" cy="4671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D67CAF9-C4BF-2EE1-AB78-41E0F40CA39D}"/>
              </a:ext>
            </a:extLst>
          </p:cNvPr>
          <p:cNvCxnSpPr>
            <a:stCxn id="37" idx="3"/>
            <a:endCxn id="10" idx="0"/>
          </p:cNvCxnSpPr>
          <p:nvPr/>
        </p:nvCxnSpPr>
        <p:spPr>
          <a:xfrm>
            <a:off x="1878867" y="4897687"/>
            <a:ext cx="197391" cy="4723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815D460-10D0-2F77-DF8D-365615DECA74}"/>
              </a:ext>
            </a:extLst>
          </p:cNvPr>
          <p:cNvCxnSpPr>
            <a:stCxn id="38" idx="1"/>
            <a:endCxn id="21" idx="0"/>
          </p:cNvCxnSpPr>
          <p:nvPr/>
        </p:nvCxnSpPr>
        <p:spPr>
          <a:xfrm flipH="1">
            <a:off x="2694320" y="4897687"/>
            <a:ext cx="247937" cy="4671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F09F0E5-F4E8-944E-66FC-172D075F83D9}"/>
              </a:ext>
            </a:extLst>
          </p:cNvPr>
          <p:cNvCxnSpPr>
            <a:stCxn id="38" idx="3"/>
          </p:cNvCxnSpPr>
          <p:nvPr/>
        </p:nvCxnSpPr>
        <p:spPr>
          <a:xfrm>
            <a:off x="3285621" y="4897687"/>
            <a:ext cx="247074" cy="5887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45A844-784C-A06A-72A9-03FD6EDAF361}"/>
              </a:ext>
            </a:extLst>
          </p:cNvPr>
          <p:cNvCxnSpPr>
            <a:stCxn id="42" idx="1"/>
            <a:endCxn id="11" idx="0"/>
          </p:cNvCxnSpPr>
          <p:nvPr/>
        </p:nvCxnSpPr>
        <p:spPr>
          <a:xfrm flipH="1">
            <a:off x="902007" y="5854244"/>
            <a:ext cx="158217" cy="3941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88B53A0-07B4-AE8A-0544-423B6D4E828F}"/>
              </a:ext>
            </a:extLst>
          </p:cNvPr>
          <p:cNvCxnSpPr>
            <a:stCxn id="42" idx="3"/>
            <a:endCxn id="12" idx="0"/>
          </p:cNvCxnSpPr>
          <p:nvPr/>
        </p:nvCxnSpPr>
        <p:spPr>
          <a:xfrm>
            <a:off x="1403588" y="5854244"/>
            <a:ext cx="306976" cy="3941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B4EDB10-7758-D566-9A02-4EC0FFEA8D3B}"/>
              </a:ext>
            </a:extLst>
          </p:cNvPr>
          <p:cNvCxnSpPr>
            <a:stCxn id="36" idx="1"/>
            <a:endCxn id="23" idx="0"/>
          </p:cNvCxnSpPr>
          <p:nvPr/>
        </p:nvCxnSpPr>
        <p:spPr>
          <a:xfrm flipH="1">
            <a:off x="5307178" y="4100253"/>
            <a:ext cx="194450" cy="3665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9E53DE2-50D6-B815-E8BC-0926AD0456AD}"/>
              </a:ext>
            </a:extLst>
          </p:cNvPr>
          <p:cNvCxnSpPr>
            <a:stCxn id="36" idx="3"/>
            <a:endCxn id="24" idx="0"/>
          </p:cNvCxnSpPr>
          <p:nvPr/>
        </p:nvCxnSpPr>
        <p:spPr>
          <a:xfrm>
            <a:off x="5844992" y="4100253"/>
            <a:ext cx="261679" cy="3717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9EA617C-54C1-96A8-A0A3-8A173EA0CD10}"/>
              </a:ext>
            </a:extLst>
          </p:cNvPr>
          <p:cNvCxnSpPr>
            <a:stCxn id="39" idx="1"/>
            <a:endCxn id="25" idx="0"/>
          </p:cNvCxnSpPr>
          <p:nvPr/>
        </p:nvCxnSpPr>
        <p:spPr>
          <a:xfrm flipH="1">
            <a:off x="4932420" y="4908581"/>
            <a:ext cx="157502" cy="441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26CC4A3-64C2-2A33-3B35-9A6D77E4EF6A}"/>
              </a:ext>
            </a:extLst>
          </p:cNvPr>
          <p:cNvCxnSpPr>
            <a:stCxn id="39" idx="3"/>
            <a:endCxn id="26" idx="0"/>
          </p:cNvCxnSpPr>
          <p:nvPr/>
        </p:nvCxnSpPr>
        <p:spPr>
          <a:xfrm>
            <a:off x="5433286" y="4908581"/>
            <a:ext cx="307691" cy="441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1FFA2B9-4F31-44B3-09CE-F42CC0DAAD5B}"/>
              </a:ext>
            </a:extLst>
          </p:cNvPr>
          <p:cNvSpPr txBox="1"/>
          <p:nvPr/>
        </p:nvSpPr>
        <p:spPr>
          <a:xfrm>
            <a:off x="418059" y="6248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9E351C7-429B-C7D2-E460-F8615E27CA49}"/>
              </a:ext>
            </a:extLst>
          </p:cNvPr>
          <p:cNvSpPr txBox="1"/>
          <p:nvPr/>
        </p:nvSpPr>
        <p:spPr>
          <a:xfrm>
            <a:off x="1848263" y="6248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9A08725-73C9-B570-D92C-86EAEB8B1E43}"/>
              </a:ext>
            </a:extLst>
          </p:cNvPr>
          <p:cNvSpPr txBox="1"/>
          <p:nvPr/>
        </p:nvSpPr>
        <p:spPr>
          <a:xfrm>
            <a:off x="893352" y="51340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76AB303-FB0B-7CED-2785-2FEDDB499931}"/>
              </a:ext>
            </a:extLst>
          </p:cNvPr>
          <p:cNvSpPr txBox="1"/>
          <p:nvPr/>
        </p:nvSpPr>
        <p:spPr>
          <a:xfrm>
            <a:off x="2017540" y="512402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0C792B8-D95B-10DE-B216-9B8704B8579C}"/>
              </a:ext>
            </a:extLst>
          </p:cNvPr>
          <p:cNvSpPr txBox="1"/>
          <p:nvPr/>
        </p:nvSpPr>
        <p:spPr>
          <a:xfrm>
            <a:off x="2505330" y="562341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7E97E90-1160-4D86-DF21-81CD43CDA7E9}"/>
              </a:ext>
            </a:extLst>
          </p:cNvPr>
          <p:cNvSpPr txBox="1"/>
          <p:nvPr/>
        </p:nvSpPr>
        <p:spPr>
          <a:xfrm>
            <a:off x="3315967" y="559913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2E0CAA7-711E-771B-45B3-1C213DFEEE83}"/>
              </a:ext>
            </a:extLst>
          </p:cNvPr>
          <p:cNvSpPr txBox="1"/>
          <p:nvPr/>
        </p:nvSpPr>
        <p:spPr>
          <a:xfrm>
            <a:off x="3164323" y="423147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DADC101-9EB5-D150-4A80-8B10BB7C6B0B}"/>
              </a:ext>
            </a:extLst>
          </p:cNvPr>
          <p:cNvSpPr txBox="1"/>
          <p:nvPr/>
        </p:nvSpPr>
        <p:spPr>
          <a:xfrm>
            <a:off x="1309899" y="420670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379479D-63E4-3353-74D3-101B43C893E9}"/>
              </a:ext>
            </a:extLst>
          </p:cNvPr>
          <p:cNvSpPr txBox="1"/>
          <p:nvPr/>
        </p:nvSpPr>
        <p:spPr>
          <a:xfrm>
            <a:off x="2060450" y="339345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464B4-5843-D9B6-2B23-C490DD876F95}"/>
              </a:ext>
            </a:extLst>
          </p:cNvPr>
          <p:cNvSpPr txBox="1"/>
          <p:nvPr/>
        </p:nvSpPr>
        <p:spPr>
          <a:xfrm>
            <a:off x="4456902" y="53161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8C25BB-1EF4-395A-51C6-1C6F7C890D4A}"/>
              </a:ext>
            </a:extLst>
          </p:cNvPr>
          <p:cNvSpPr txBox="1"/>
          <p:nvPr/>
        </p:nvSpPr>
        <p:spPr>
          <a:xfrm>
            <a:off x="5887106" y="53161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0AAFE74-B4A4-04B2-C2C8-A90E59AFDE20}"/>
              </a:ext>
            </a:extLst>
          </p:cNvPr>
          <p:cNvSpPr txBox="1"/>
          <p:nvPr/>
        </p:nvSpPr>
        <p:spPr>
          <a:xfrm>
            <a:off x="4932195" y="420179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665E569-2120-0FC0-4A46-C8E8A6A031D1}"/>
              </a:ext>
            </a:extLst>
          </p:cNvPr>
          <p:cNvSpPr txBox="1"/>
          <p:nvPr/>
        </p:nvSpPr>
        <p:spPr>
          <a:xfrm>
            <a:off x="5673310" y="346452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24ACEA4-2D75-2DB2-A8A9-40916A5A01D1}"/>
              </a:ext>
            </a:extLst>
          </p:cNvPr>
          <p:cNvSpPr txBox="1"/>
          <p:nvPr/>
        </p:nvSpPr>
        <p:spPr>
          <a:xfrm>
            <a:off x="6124304" y="416025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71FEF42-2F98-E128-4279-F5DBA8C3752D}"/>
              </a:ext>
            </a:extLst>
          </p:cNvPr>
          <p:cNvSpPr txBox="1"/>
          <p:nvPr/>
        </p:nvSpPr>
        <p:spPr>
          <a:xfrm>
            <a:off x="4028986" y="278147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404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21" grpId="0"/>
      <p:bldP spid="22" grpId="0"/>
      <p:bldP spid="23" grpId="0"/>
      <p:bldP spid="24" grpId="0"/>
      <p:bldP spid="25" grpId="0"/>
      <p:bldP spid="26" grpId="0"/>
      <p:bldP spid="34" grpId="0"/>
      <p:bldP spid="35" grpId="0"/>
      <p:bldP spid="36" grpId="0"/>
      <p:bldP spid="37" grpId="0"/>
      <p:bldP spid="38" grpId="0"/>
      <p:bldP spid="39" grpId="0"/>
      <p:bldP spid="4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7B3B0-A446-6B50-C043-BFAA2D9939D1}"/>
              </a:ext>
            </a:extLst>
          </p:cNvPr>
          <p:cNvSpPr txBox="1"/>
          <p:nvPr/>
        </p:nvSpPr>
        <p:spPr>
          <a:xfrm>
            <a:off x="457200" y="1600200"/>
            <a:ext cx="58004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person deposits $10000 in a savings account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E3538-7EE3-D9F6-52FE-491E331A98B3}"/>
              </a:ext>
            </a:extLst>
          </p:cNvPr>
          <p:cNvSpPr txBox="1"/>
          <p:nvPr/>
        </p:nvSpPr>
        <p:spPr>
          <a:xfrm>
            <a:off x="457200" y="2039349"/>
            <a:ext cx="70543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annual rate of interest over the annual savings is 11%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E5708-FCAC-EF95-1F79-5A6F9288E4CA}"/>
              </a:ext>
            </a:extLst>
          </p:cNvPr>
          <p:cNvSpPr txBox="1"/>
          <p:nvPr/>
        </p:nvSpPr>
        <p:spPr>
          <a:xfrm>
            <a:off x="457200" y="2485896"/>
            <a:ext cx="74414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Determine the amount of money in his account after 30 years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E6966F-5FD9-80A3-D406-E4FA0731B9AD}"/>
              </a:ext>
            </a:extLst>
          </p:cNvPr>
          <p:cNvSpPr txBox="1"/>
          <p:nvPr/>
        </p:nvSpPr>
        <p:spPr>
          <a:xfrm>
            <a:off x="762000" y="2932443"/>
            <a:ext cx="440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the amount after n years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04D3F7-0B43-927C-D21F-F066F0EA66C3}"/>
              </a:ext>
            </a:extLst>
          </p:cNvPr>
          <p:cNvSpPr txBox="1"/>
          <p:nvPr/>
        </p:nvSpPr>
        <p:spPr>
          <a:xfrm>
            <a:off x="770138" y="3378990"/>
            <a:ext cx="45929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the initial amount, 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10000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98C5FC-867C-6D5A-4429-A235D3B958E0}"/>
              </a:ext>
            </a:extLst>
          </p:cNvPr>
          <p:cNvSpPr txBox="1"/>
          <p:nvPr/>
        </p:nvSpPr>
        <p:spPr>
          <a:xfrm>
            <a:off x="770138" y="3840730"/>
            <a:ext cx="23687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+ 0.11P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3178CD-14D0-5D5B-955D-051E65638103}"/>
              </a:ext>
            </a:extLst>
          </p:cNvPr>
          <p:cNvSpPr txBox="1"/>
          <p:nvPr/>
        </p:nvSpPr>
        <p:spPr>
          <a:xfrm>
            <a:off x="3684245" y="3839417"/>
            <a:ext cx="18172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1.11P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3692D9-7E3B-3D74-07D3-14976BB8E038}"/>
              </a:ext>
            </a:extLst>
          </p:cNvPr>
          <p:cNvSpPr txBox="1"/>
          <p:nvPr/>
        </p:nvSpPr>
        <p:spPr>
          <a:xfrm>
            <a:off x="5229314" y="2932442"/>
            <a:ext cx="31245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Need to determine 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30</a:t>
            </a:r>
            <a:endParaRPr lang="en-US" sz="22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973BB9-A3DB-E00F-8CEA-94E1B9DB484A}"/>
              </a:ext>
            </a:extLst>
          </p:cNvPr>
          <p:cNvSpPr txBox="1"/>
          <p:nvPr/>
        </p:nvSpPr>
        <p:spPr>
          <a:xfrm>
            <a:off x="770138" y="4348952"/>
            <a:ext cx="23687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+ 0.11P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485868-3BCD-8450-B71A-71792AE64FD3}"/>
              </a:ext>
            </a:extLst>
          </p:cNvPr>
          <p:cNvSpPr txBox="1"/>
          <p:nvPr/>
        </p:nvSpPr>
        <p:spPr>
          <a:xfrm>
            <a:off x="3726015" y="4348951"/>
            <a:ext cx="18172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1.11P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54641D-0FF1-A011-E456-7D97D4D0C1F4}"/>
              </a:ext>
            </a:extLst>
          </p:cNvPr>
          <p:cNvSpPr txBox="1"/>
          <p:nvPr/>
        </p:nvSpPr>
        <p:spPr>
          <a:xfrm>
            <a:off x="6247277" y="4348950"/>
            <a:ext cx="21475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(1.11)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E69A95-7059-A8CC-1E9C-C038F38AAA3F}"/>
              </a:ext>
            </a:extLst>
          </p:cNvPr>
          <p:cNvSpPr txBox="1"/>
          <p:nvPr/>
        </p:nvSpPr>
        <p:spPr>
          <a:xfrm>
            <a:off x="770138" y="4825038"/>
            <a:ext cx="23687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+ 0.11P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D40313-0CC5-6BBD-3D63-CBF7BE5958F0}"/>
              </a:ext>
            </a:extLst>
          </p:cNvPr>
          <p:cNvSpPr txBox="1"/>
          <p:nvPr/>
        </p:nvSpPr>
        <p:spPr>
          <a:xfrm>
            <a:off x="3726015" y="4825037"/>
            <a:ext cx="18172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1.11P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F41507-8874-CF20-2DFE-5A873F731949}"/>
              </a:ext>
            </a:extLst>
          </p:cNvPr>
          <p:cNvSpPr txBox="1"/>
          <p:nvPr/>
        </p:nvSpPr>
        <p:spPr>
          <a:xfrm>
            <a:off x="6247277" y="4825036"/>
            <a:ext cx="21475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(1.11)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663439-E83A-70B5-E65C-71216DB05D26}"/>
              </a:ext>
            </a:extLst>
          </p:cNvPr>
          <p:cNvSpPr txBox="1"/>
          <p:nvPr/>
        </p:nvSpPr>
        <p:spPr>
          <a:xfrm>
            <a:off x="759781" y="5322170"/>
            <a:ext cx="23687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+ 0.11P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AEAAE8-36D4-0EFE-A4FD-CBEB90D7235B}"/>
              </a:ext>
            </a:extLst>
          </p:cNvPr>
          <p:cNvSpPr txBox="1"/>
          <p:nvPr/>
        </p:nvSpPr>
        <p:spPr>
          <a:xfrm>
            <a:off x="3715658" y="5322169"/>
            <a:ext cx="18172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1.11P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EF2EA0-B9B2-6059-0D36-AA77799195FE}"/>
              </a:ext>
            </a:extLst>
          </p:cNvPr>
          <p:cNvSpPr txBox="1"/>
          <p:nvPr/>
        </p:nvSpPr>
        <p:spPr>
          <a:xfrm>
            <a:off x="6236920" y="5322168"/>
            <a:ext cx="21475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(1.11)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4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FA8A0E-F51F-5724-3C5D-C629A0021AF6}"/>
              </a:ext>
            </a:extLst>
          </p:cNvPr>
          <p:cNvSpPr txBox="1"/>
          <p:nvPr/>
        </p:nvSpPr>
        <p:spPr>
          <a:xfrm>
            <a:off x="759781" y="6063545"/>
            <a:ext cx="23366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(1.11)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30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A23DAD-21D7-67F5-CDD2-26B4091862C9}"/>
              </a:ext>
            </a:extLst>
          </p:cNvPr>
          <p:cNvSpPr txBox="1"/>
          <p:nvPr/>
        </p:nvSpPr>
        <p:spPr>
          <a:xfrm>
            <a:off x="3726755" y="6063545"/>
            <a:ext cx="26581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$2,28,922,97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4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15" grpId="0"/>
      <p:bldP spid="19" grpId="0"/>
      <p:bldP spid="20" grpId="0"/>
      <p:bldP spid="21" grpId="0"/>
      <p:bldP spid="23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986" y="762001"/>
            <a:ext cx="7772400" cy="3352799"/>
          </a:xfrm>
        </p:spPr>
        <p:txBody>
          <a:bodyPr/>
          <a:lstStyle/>
          <a:p>
            <a:r>
              <a:rPr lang="en-US" dirty="0"/>
              <a:t>SEQUENCE</a:t>
            </a:r>
          </a:p>
        </p:txBody>
      </p:sp>
    </p:spTree>
    <p:extLst>
      <p:ext uri="{BB962C8B-B14F-4D97-AF65-F5344CB8AC3E}">
        <p14:creationId xmlns:p14="http://schemas.microsoft.com/office/powerpoint/2010/main" val="12201404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7B3B0-A446-6B50-C043-BFAA2D9939D1}"/>
              </a:ext>
            </a:extLst>
          </p:cNvPr>
          <p:cNvSpPr txBox="1"/>
          <p:nvPr/>
        </p:nvSpPr>
        <p:spPr>
          <a:xfrm>
            <a:off x="457200" y="1600200"/>
            <a:ext cx="35317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a sequence: {a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BE880-C49D-7DD4-B65A-73CDFE2A1FED}"/>
              </a:ext>
            </a:extLst>
          </p:cNvPr>
          <p:cNvSpPr txBox="1"/>
          <p:nvPr/>
        </p:nvSpPr>
        <p:spPr>
          <a:xfrm>
            <a:off x="4419600" y="1600200"/>
            <a:ext cx="21916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…..,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A68FFB-D1D2-BFED-A285-D768177866DF}"/>
                  </a:ext>
                </a:extLst>
              </p:cNvPr>
              <p:cNvSpPr txBox="1"/>
              <p:nvPr/>
            </p:nvSpPr>
            <p:spPr>
              <a:xfrm>
                <a:off x="457200" y="2031087"/>
                <a:ext cx="6737357" cy="574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symbol of summation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20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used to determine: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A68FFB-D1D2-BFED-A285-D76817786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031087"/>
                <a:ext cx="6737357" cy="574516"/>
              </a:xfrm>
              <a:prstGeom prst="rect">
                <a:avLst/>
              </a:prstGeom>
              <a:blipFill>
                <a:blip r:embed="rId2"/>
                <a:stretch>
                  <a:fillRect l="-995" b="-5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FDCA1AF-E591-F40B-0F7C-435A9D829876}"/>
              </a:ext>
            </a:extLst>
          </p:cNvPr>
          <p:cNvSpPr txBox="1"/>
          <p:nvPr/>
        </p:nvSpPr>
        <p:spPr>
          <a:xfrm>
            <a:off x="762000" y="2614374"/>
            <a:ext cx="79335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sum of the elements from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30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term to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baseline="30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term of the sequence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8AB3A-C285-7634-782E-9715ACCFE124}"/>
              </a:ext>
            </a:extLst>
          </p:cNvPr>
          <p:cNvSpPr txBox="1"/>
          <p:nvPr/>
        </p:nvSpPr>
        <p:spPr>
          <a:xfrm>
            <a:off x="762000" y="3043299"/>
            <a:ext cx="51924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That implies: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p+1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p+2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…..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8C84A-7272-AF89-9F12-EF61F5634853}"/>
              </a:ext>
            </a:extLst>
          </p:cNvPr>
          <p:cNvSpPr txBox="1"/>
          <p:nvPr/>
        </p:nvSpPr>
        <p:spPr>
          <a:xfrm>
            <a:off x="762000" y="3536870"/>
            <a:ext cx="36166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the summation-variable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1CE119-83A5-877F-2BCF-7462EE416417}"/>
              </a:ext>
            </a:extLst>
          </p:cNvPr>
          <p:cNvSpPr/>
          <p:nvPr/>
        </p:nvSpPr>
        <p:spPr>
          <a:xfrm>
            <a:off x="4124229" y="2331668"/>
            <a:ext cx="285538" cy="2855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8BEDA5-FF48-77A1-5C26-163B96B611CF}"/>
              </a:ext>
            </a:extLst>
          </p:cNvPr>
          <p:cNvSpPr/>
          <p:nvPr/>
        </p:nvSpPr>
        <p:spPr>
          <a:xfrm>
            <a:off x="4734235" y="2286335"/>
            <a:ext cx="238323" cy="2383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47B35-9605-032A-A8D2-C786EB96950E}"/>
              </a:ext>
            </a:extLst>
          </p:cNvPr>
          <p:cNvSpPr txBox="1"/>
          <p:nvPr/>
        </p:nvSpPr>
        <p:spPr>
          <a:xfrm>
            <a:off x="762000" y="4030441"/>
            <a:ext cx="52950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implies that j starts from p and ends at q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1BC318-1E57-6A3F-0BCA-7AACAAC629A2}"/>
              </a:ext>
            </a:extLst>
          </p:cNvPr>
          <p:cNvSpPr txBox="1"/>
          <p:nvPr/>
        </p:nvSpPr>
        <p:spPr>
          <a:xfrm>
            <a:off x="1183537" y="4515241"/>
            <a:ext cx="10502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j = p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35D082-651D-A348-ED33-46C7B47AC4B9}"/>
              </a:ext>
            </a:extLst>
          </p:cNvPr>
          <p:cNvSpPr txBox="1"/>
          <p:nvPr/>
        </p:nvSpPr>
        <p:spPr>
          <a:xfrm>
            <a:off x="3526891" y="4515240"/>
            <a:ext cx="7505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3AEA0E-44B7-F084-933D-F81AD365A213}"/>
              </a:ext>
            </a:extLst>
          </p:cNvPr>
          <p:cNvSpPr txBox="1"/>
          <p:nvPr/>
        </p:nvSpPr>
        <p:spPr>
          <a:xfrm>
            <a:off x="1183537" y="4946127"/>
            <a:ext cx="13500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j = p+1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566A74-ED2F-BC37-A9D9-310D53427F31}"/>
              </a:ext>
            </a:extLst>
          </p:cNvPr>
          <p:cNvSpPr txBox="1"/>
          <p:nvPr/>
        </p:nvSpPr>
        <p:spPr>
          <a:xfrm>
            <a:off x="3526891" y="4946126"/>
            <a:ext cx="9509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p+1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D02EA6-6404-CDA8-1BAD-13E1F1DBD620}"/>
              </a:ext>
            </a:extLst>
          </p:cNvPr>
          <p:cNvSpPr txBox="1"/>
          <p:nvPr/>
        </p:nvSpPr>
        <p:spPr>
          <a:xfrm>
            <a:off x="1183537" y="5646367"/>
            <a:ext cx="10502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j = q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647E65-9729-29CD-2DE7-F31C10EFC13E}"/>
              </a:ext>
            </a:extLst>
          </p:cNvPr>
          <p:cNvSpPr txBox="1"/>
          <p:nvPr/>
        </p:nvSpPr>
        <p:spPr>
          <a:xfrm>
            <a:off x="3526891" y="5646366"/>
            <a:ext cx="7505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B0B9B1E-2B5D-F008-3A5B-AC560C5A2391}"/>
              </a:ext>
            </a:extLst>
          </p:cNvPr>
          <p:cNvCxnSpPr>
            <a:cxnSpLocks/>
          </p:cNvCxnSpPr>
          <p:nvPr/>
        </p:nvCxnSpPr>
        <p:spPr>
          <a:xfrm flipV="1">
            <a:off x="1107337" y="6192468"/>
            <a:ext cx="454374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3EF8AD8-39D3-B262-1C23-863D877B93F0}"/>
                  </a:ext>
                </a:extLst>
              </p:cNvPr>
              <p:cNvSpPr txBox="1"/>
              <p:nvPr/>
            </p:nvSpPr>
            <p:spPr>
              <a:xfrm>
                <a:off x="1641939" y="6150502"/>
                <a:ext cx="452816" cy="483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dirty="0" smtClean="0">
                          <a:latin typeface="Cambria Math" panose="02040503050406030204" pitchFamily="18" charset="0"/>
                        </a:rPr>
                        <m:t>𝛴</m:t>
                      </m:r>
                    </m:oMath>
                  </m:oMathPara>
                </a14:m>
                <a:endParaRPr lang="en-US" sz="26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3EF8AD8-39D3-B262-1C23-863D877B9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939" y="6150502"/>
                <a:ext cx="452816" cy="4832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1E7190A4-18B7-D5E7-AE6E-3DD1D43308E9}"/>
              </a:ext>
            </a:extLst>
          </p:cNvPr>
          <p:cNvSpPr txBox="1"/>
          <p:nvPr/>
        </p:nvSpPr>
        <p:spPr>
          <a:xfrm>
            <a:off x="3124200" y="6172200"/>
            <a:ext cx="22252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p+1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…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BA06516-DFAC-FE68-2324-5358E281E98B}"/>
              </a:ext>
            </a:extLst>
          </p:cNvPr>
          <p:cNvCxnSpPr>
            <a:cxnSpLocks/>
          </p:cNvCxnSpPr>
          <p:nvPr/>
        </p:nvCxnSpPr>
        <p:spPr>
          <a:xfrm flipV="1">
            <a:off x="2170955" y="6392106"/>
            <a:ext cx="87704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46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/>
      <p:bldP spid="5" grpId="0"/>
      <p:bldP spid="6" grpId="0"/>
      <p:bldP spid="8" grpId="0"/>
      <p:bldP spid="9" grpId="0"/>
      <p:bldP spid="13" grpId="0" animBg="1"/>
      <p:bldP spid="16" grpId="0" animBg="1"/>
      <p:bldP spid="17" grpId="0"/>
      <p:bldP spid="18" grpId="0"/>
      <p:bldP spid="22" grpId="0"/>
      <p:bldP spid="24" grpId="0"/>
      <p:bldP spid="25" grpId="0"/>
      <p:bldP spid="26" grpId="0"/>
      <p:bldP spid="27" grpId="0"/>
      <p:bldP spid="44" grpId="0"/>
      <p:bldP spid="4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7B3B0-A446-6B50-C043-BFAA2D9939D1}"/>
              </a:ext>
            </a:extLst>
          </p:cNvPr>
          <p:cNvSpPr txBox="1"/>
          <p:nvPr/>
        </p:nvSpPr>
        <p:spPr>
          <a:xfrm>
            <a:off x="457200" y="1600200"/>
            <a:ext cx="73917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a sequence: {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 that denotes a Fibonacci sequence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FA88F-384C-C76E-1704-74A7524B8C33}"/>
              </a:ext>
            </a:extLst>
          </p:cNvPr>
          <p:cNvSpPr txBox="1"/>
          <p:nvPr/>
        </p:nvSpPr>
        <p:spPr>
          <a:xfrm>
            <a:off x="457199" y="2030347"/>
            <a:ext cx="41264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sequence is indexed from 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/>
              <p:nvPr/>
            </p:nvSpPr>
            <p:spPr>
              <a:xfrm>
                <a:off x="457199" y="2461234"/>
                <a:ext cx="2751394" cy="599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Now find: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</m:e>
                    </m:nary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2461234"/>
                <a:ext cx="2751394" cy="599651"/>
              </a:xfrm>
              <a:prstGeom prst="rect">
                <a:avLst/>
              </a:prstGeom>
              <a:blipFill>
                <a:blip r:embed="rId2"/>
                <a:stretch>
                  <a:fillRect l="-2439" b="-5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12606B4C-A446-B47A-F3A6-FE136CF517F4}"/>
              </a:ext>
            </a:extLst>
          </p:cNvPr>
          <p:cNvSpPr/>
          <p:nvPr/>
        </p:nvSpPr>
        <p:spPr>
          <a:xfrm>
            <a:off x="1371600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9E784A-5C89-63D6-990E-C769BEE23987}"/>
              </a:ext>
            </a:extLst>
          </p:cNvPr>
          <p:cNvSpPr/>
          <p:nvPr/>
        </p:nvSpPr>
        <p:spPr>
          <a:xfrm>
            <a:off x="1892116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DB0CF8-0C18-2589-CC23-91B182E44D62}"/>
              </a:ext>
            </a:extLst>
          </p:cNvPr>
          <p:cNvSpPr/>
          <p:nvPr/>
        </p:nvSpPr>
        <p:spPr>
          <a:xfrm>
            <a:off x="2412632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188BC0-C72E-A9DB-BAF8-1CE0C0E7EEE6}"/>
              </a:ext>
            </a:extLst>
          </p:cNvPr>
          <p:cNvSpPr/>
          <p:nvPr/>
        </p:nvSpPr>
        <p:spPr>
          <a:xfrm>
            <a:off x="2933148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01DF1D-078A-11CA-FDE4-D95F37E15FAC}"/>
              </a:ext>
            </a:extLst>
          </p:cNvPr>
          <p:cNvSpPr/>
          <p:nvPr/>
        </p:nvSpPr>
        <p:spPr>
          <a:xfrm>
            <a:off x="3453664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B1AF70-83F0-B527-E00A-CFFFEB68EB2F}"/>
              </a:ext>
            </a:extLst>
          </p:cNvPr>
          <p:cNvSpPr/>
          <p:nvPr/>
        </p:nvSpPr>
        <p:spPr>
          <a:xfrm>
            <a:off x="3974180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52981A-89B6-D2DB-B9C4-38EC4ABF07C3}"/>
              </a:ext>
            </a:extLst>
          </p:cNvPr>
          <p:cNvSpPr/>
          <p:nvPr/>
        </p:nvSpPr>
        <p:spPr>
          <a:xfrm>
            <a:off x="4494696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A23B9D-3A7E-94FE-79C8-E024F7649411}"/>
              </a:ext>
            </a:extLst>
          </p:cNvPr>
          <p:cNvSpPr/>
          <p:nvPr/>
        </p:nvSpPr>
        <p:spPr>
          <a:xfrm>
            <a:off x="5015212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CC45F5-EE1C-044E-BC67-9B8AA67F3A9D}"/>
              </a:ext>
            </a:extLst>
          </p:cNvPr>
          <p:cNvSpPr/>
          <p:nvPr/>
        </p:nvSpPr>
        <p:spPr>
          <a:xfrm>
            <a:off x="5535480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D3015D-671A-1D79-0C34-561257C8B556}"/>
              </a:ext>
            </a:extLst>
          </p:cNvPr>
          <p:cNvSpPr/>
          <p:nvPr/>
        </p:nvSpPr>
        <p:spPr>
          <a:xfrm>
            <a:off x="6055996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7DE0191-22BC-BC38-FE9B-A7622C8369E0}"/>
              </a:ext>
            </a:extLst>
          </p:cNvPr>
          <p:cNvGrpSpPr/>
          <p:nvPr/>
        </p:nvGrpSpPr>
        <p:grpSpPr>
          <a:xfrm>
            <a:off x="1444948" y="3773437"/>
            <a:ext cx="5494489" cy="430892"/>
            <a:chOff x="1444948" y="3773437"/>
            <a:chExt cx="5494489" cy="43089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6CDE21F-B812-2977-B890-E83AEB2649C7}"/>
                </a:ext>
              </a:extLst>
            </p:cNvPr>
            <p:cNvSpPr txBox="1"/>
            <p:nvPr/>
          </p:nvSpPr>
          <p:spPr>
            <a:xfrm>
              <a:off x="1444948" y="3773442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8226ECF-C656-43BD-58C7-9AFC524E4934}"/>
                </a:ext>
              </a:extLst>
            </p:cNvPr>
            <p:cNvSpPr txBox="1"/>
            <p:nvPr/>
          </p:nvSpPr>
          <p:spPr>
            <a:xfrm>
              <a:off x="1965464" y="3773441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8E76C9-3639-2EC7-42CD-193CED6B2078}"/>
                </a:ext>
              </a:extLst>
            </p:cNvPr>
            <p:cNvSpPr txBox="1"/>
            <p:nvPr/>
          </p:nvSpPr>
          <p:spPr>
            <a:xfrm>
              <a:off x="2485732" y="3773441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087CD02-405E-04F5-A12D-3BE72879F88E}"/>
                </a:ext>
              </a:extLst>
            </p:cNvPr>
            <p:cNvSpPr txBox="1"/>
            <p:nvPr/>
          </p:nvSpPr>
          <p:spPr>
            <a:xfrm>
              <a:off x="3006248" y="3773440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6248C38-971B-AAF1-ADE0-21A70992F81F}"/>
                </a:ext>
              </a:extLst>
            </p:cNvPr>
            <p:cNvSpPr txBox="1"/>
            <p:nvPr/>
          </p:nvSpPr>
          <p:spPr>
            <a:xfrm>
              <a:off x="3526764" y="3773440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873D0EB-4FAE-EDCF-96F6-39A4697F6AAC}"/>
                </a:ext>
              </a:extLst>
            </p:cNvPr>
            <p:cNvSpPr txBox="1"/>
            <p:nvPr/>
          </p:nvSpPr>
          <p:spPr>
            <a:xfrm>
              <a:off x="4047280" y="3773439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D8292D2-8FD3-4266-78EF-9492818015ED}"/>
                </a:ext>
              </a:extLst>
            </p:cNvPr>
            <p:cNvSpPr txBox="1"/>
            <p:nvPr/>
          </p:nvSpPr>
          <p:spPr>
            <a:xfrm>
              <a:off x="4567548" y="3773439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B412930-AD58-E1E2-8D2A-03C236DCF77C}"/>
                </a:ext>
              </a:extLst>
            </p:cNvPr>
            <p:cNvSpPr txBox="1"/>
            <p:nvPr/>
          </p:nvSpPr>
          <p:spPr>
            <a:xfrm>
              <a:off x="5088064" y="3773438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7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6F0104F-F112-8C5A-E30A-88F9D84075DB}"/>
                </a:ext>
              </a:extLst>
            </p:cNvPr>
            <p:cNvSpPr txBox="1"/>
            <p:nvPr/>
          </p:nvSpPr>
          <p:spPr>
            <a:xfrm>
              <a:off x="5577024" y="3773438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A705FE2-DB5B-F4D1-6E10-4C19E7EC83F0}"/>
                </a:ext>
              </a:extLst>
            </p:cNvPr>
            <p:cNvSpPr txBox="1"/>
            <p:nvPr/>
          </p:nvSpPr>
          <p:spPr>
            <a:xfrm>
              <a:off x="6097540" y="3773437"/>
              <a:ext cx="8418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9 …….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632CAB7-1A2D-888C-2F5D-C1CE1BF51794}"/>
              </a:ext>
            </a:extLst>
          </p:cNvPr>
          <p:cNvGrpSpPr/>
          <p:nvPr/>
        </p:nvGrpSpPr>
        <p:grpSpPr>
          <a:xfrm>
            <a:off x="1456045" y="3342545"/>
            <a:ext cx="5119386" cy="430892"/>
            <a:chOff x="1965464" y="5042624"/>
            <a:chExt cx="5119386" cy="43089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2B12EFF-5D9E-2BC3-B90B-0E9AF3247A07}"/>
                </a:ext>
              </a:extLst>
            </p:cNvPr>
            <p:cNvSpPr txBox="1"/>
            <p:nvPr/>
          </p:nvSpPr>
          <p:spPr>
            <a:xfrm>
              <a:off x="1965464" y="5042629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0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FB0AF2C-CA0C-C345-B1C4-1B43E59EB7A4}"/>
                </a:ext>
              </a:extLst>
            </p:cNvPr>
            <p:cNvSpPr txBox="1"/>
            <p:nvPr/>
          </p:nvSpPr>
          <p:spPr>
            <a:xfrm>
              <a:off x="2485980" y="5042628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0BBD67B-195E-FCBD-FA33-3502B7164600}"/>
                </a:ext>
              </a:extLst>
            </p:cNvPr>
            <p:cNvSpPr txBox="1"/>
            <p:nvPr/>
          </p:nvSpPr>
          <p:spPr>
            <a:xfrm>
              <a:off x="3006248" y="5042628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FA7E99A-E2C2-9473-C46D-3A12945ABBA4}"/>
                </a:ext>
              </a:extLst>
            </p:cNvPr>
            <p:cNvSpPr txBox="1"/>
            <p:nvPr/>
          </p:nvSpPr>
          <p:spPr>
            <a:xfrm>
              <a:off x="3526764" y="5042627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E630C20-2A0B-0AFB-39F0-BED814FC693D}"/>
                </a:ext>
              </a:extLst>
            </p:cNvPr>
            <p:cNvSpPr txBox="1"/>
            <p:nvPr/>
          </p:nvSpPr>
          <p:spPr>
            <a:xfrm>
              <a:off x="4047280" y="5042627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B11CB04-4A59-5D77-E558-7472F4156162}"/>
                </a:ext>
              </a:extLst>
            </p:cNvPr>
            <p:cNvSpPr txBox="1"/>
            <p:nvPr/>
          </p:nvSpPr>
          <p:spPr>
            <a:xfrm>
              <a:off x="4567796" y="5042626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0FF5286-BAF4-1A18-3874-321B2F48604F}"/>
                </a:ext>
              </a:extLst>
            </p:cNvPr>
            <p:cNvSpPr txBox="1"/>
            <p:nvPr/>
          </p:nvSpPr>
          <p:spPr>
            <a:xfrm>
              <a:off x="5088064" y="5042626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4E01EDA-46C0-A7E9-E891-5AC926EA8BE6}"/>
                </a:ext>
              </a:extLst>
            </p:cNvPr>
            <p:cNvSpPr txBox="1"/>
            <p:nvPr/>
          </p:nvSpPr>
          <p:spPr>
            <a:xfrm>
              <a:off x="5608580" y="5042625"/>
              <a:ext cx="4667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13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3B65A9C-A906-C376-298C-A1897905FFA3}"/>
                </a:ext>
              </a:extLst>
            </p:cNvPr>
            <p:cNvSpPr txBox="1"/>
            <p:nvPr/>
          </p:nvSpPr>
          <p:spPr>
            <a:xfrm>
              <a:off x="6097540" y="5042625"/>
              <a:ext cx="4667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21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CBBD7B2-7284-E0A0-A4B8-5F35DE71DD7E}"/>
                </a:ext>
              </a:extLst>
            </p:cNvPr>
            <p:cNvSpPr txBox="1"/>
            <p:nvPr/>
          </p:nvSpPr>
          <p:spPr>
            <a:xfrm>
              <a:off x="6618056" y="5042624"/>
              <a:ext cx="4667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34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9AB7D267-B95C-FEB8-2EAF-C38611E626E5}"/>
              </a:ext>
            </a:extLst>
          </p:cNvPr>
          <p:cNvSpPr/>
          <p:nvPr/>
        </p:nvSpPr>
        <p:spPr>
          <a:xfrm>
            <a:off x="3006000" y="3124199"/>
            <a:ext cx="1935368" cy="1143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5A8DC5-EC61-61F3-579E-A42792DF449F}"/>
              </a:ext>
            </a:extLst>
          </p:cNvPr>
          <p:cNvSpPr txBox="1"/>
          <p:nvPr/>
        </p:nvSpPr>
        <p:spPr>
          <a:xfrm>
            <a:off x="457199" y="4356087"/>
            <a:ext cx="33425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are the values of j?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C7F6B3-56E3-C5B9-557F-9EB119E34D4C}"/>
              </a:ext>
            </a:extLst>
          </p:cNvPr>
          <p:cNvSpPr txBox="1"/>
          <p:nvPr/>
        </p:nvSpPr>
        <p:spPr>
          <a:xfrm>
            <a:off x="878660" y="4745333"/>
            <a:ext cx="24849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first step: j = 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F9DBD6-BC75-C295-B469-C93C27FF9CAF}"/>
              </a:ext>
            </a:extLst>
          </p:cNvPr>
          <p:cNvSpPr txBox="1"/>
          <p:nvPr/>
        </p:nvSpPr>
        <p:spPr>
          <a:xfrm>
            <a:off x="4862514" y="4745332"/>
            <a:ext cx="27574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F8CD4D-C1D3-63EF-B11C-1015CE8656D4}"/>
              </a:ext>
            </a:extLst>
          </p:cNvPr>
          <p:cNvSpPr txBox="1"/>
          <p:nvPr/>
        </p:nvSpPr>
        <p:spPr>
          <a:xfrm>
            <a:off x="878660" y="5127712"/>
            <a:ext cx="28119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second step: j = 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FF292F-BCF5-6E97-E1F3-58F55A4A4215}"/>
              </a:ext>
            </a:extLst>
          </p:cNvPr>
          <p:cNvSpPr txBox="1"/>
          <p:nvPr/>
        </p:nvSpPr>
        <p:spPr>
          <a:xfrm>
            <a:off x="4862514" y="5127711"/>
            <a:ext cx="27574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1C65CC-D87B-C52F-4377-EFEEC5E14728}"/>
              </a:ext>
            </a:extLst>
          </p:cNvPr>
          <p:cNvSpPr txBox="1"/>
          <p:nvPr/>
        </p:nvSpPr>
        <p:spPr>
          <a:xfrm>
            <a:off x="878660" y="5510090"/>
            <a:ext cx="25635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third step: j = 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535E58-CD05-899B-E513-3437A095EEBC}"/>
              </a:ext>
            </a:extLst>
          </p:cNvPr>
          <p:cNvSpPr txBox="1"/>
          <p:nvPr/>
        </p:nvSpPr>
        <p:spPr>
          <a:xfrm>
            <a:off x="4862514" y="5510089"/>
            <a:ext cx="27574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CEA0C7-9DD5-FD0C-BFD1-7916EEC58E57}"/>
              </a:ext>
            </a:extLst>
          </p:cNvPr>
          <p:cNvSpPr txBox="1"/>
          <p:nvPr/>
        </p:nvSpPr>
        <p:spPr>
          <a:xfrm>
            <a:off x="878660" y="5940976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forth step: j = 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EDA80E-3622-C463-34C7-43626070E081}"/>
              </a:ext>
            </a:extLst>
          </p:cNvPr>
          <p:cNvSpPr txBox="1"/>
          <p:nvPr/>
        </p:nvSpPr>
        <p:spPr>
          <a:xfrm>
            <a:off x="4862514" y="5940975"/>
            <a:ext cx="27574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3D4B40-BF36-5A92-75BF-E786E4A810EB}"/>
              </a:ext>
            </a:extLst>
          </p:cNvPr>
          <p:cNvSpPr txBox="1"/>
          <p:nvPr/>
        </p:nvSpPr>
        <p:spPr>
          <a:xfrm>
            <a:off x="878660" y="6371862"/>
            <a:ext cx="60051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result is: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2 + 3 + 5 + 8 = 18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3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7" grpId="0"/>
      <p:bldP spid="11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3" grpId="0" animBg="1"/>
      <p:bldP spid="28" grpId="0" animBg="1"/>
      <p:bldP spid="33" grpId="0" animBg="1"/>
      <p:bldP spid="34" grpId="0" animBg="1"/>
      <p:bldP spid="65" grpId="0" animBg="1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7B3B0-A446-6B50-C043-BFAA2D9939D1}"/>
              </a:ext>
            </a:extLst>
          </p:cNvPr>
          <p:cNvSpPr txBox="1"/>
          <p:nvPr/>
        </p:nvSpPr>
        <p:spPr>
          <a:xfrm>
            <a:off x="457200" y="1600200"/>
            <a:ext cx="73917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a sequence: {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 that denotes a Fibonacci sequence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FA88F-384C-C76E-1704-74A7524B8C33}"/>
              </a:ext>
            </a:extLst>
          </p:cNvPr>
          <p:cNvSpPr txBox="1"/>
          <p:nvPr/>
        </p:nvSpPr>
        <p:spPr>
          <a:xfrm>
            <a:off x="457199" y="2030347"/>
            <a:ext cx="41264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sequence is indexed from 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/>
              <p:nvPr/>
            </p:nvSpPr>
            <p:spPr>
              <a:xfrm>
                <a:off x="457199" y="2461234"/>
                <a:ext cx="3098797" cy="599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Now find: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</m:e>
                    </m:nary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2461234"/>
                <a:ext cx="3098797" cy="599651"/>
              </a:xfrm>
              <a:prstGeom prst="rect">
                <a:avLst/>
              </a:prstGeom>
              <a:blipFill>
                <a:blip r:embed="rId2"/>
                <a:stretch>
                  <a:fillRect l="-2165" b="-5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12606B4C-A446-B47A-F3A6-FE136CF517F4}"/>
              </a:ext>
            </a:extLst>
          </p:cNvPr>
          <p:cNvSpPr/>
          <p:nvPr/>
        </p:nvSpPr>
        <p:spPr>
          <a:xfrm>
            <a:off x="1371600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9E784A-5C89-63D6-990E-C769BEE23987}"/>
              </a:ext>
            </a:extLst>
          </p:cNvPr>
          <p:cNvSpPr/>
          <p:nvPr/>
        </p:nvSpPr>
        <p:spPr>
          <a:xfrm>
            <a:off x="1892116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DB0CF8-0C18-2589-CC23-91B182E44D62}"/>
              </a:ext>
            </a:extLst>
          </p:cNvPr>
          <p:cNvSpPr/>
          <p:nvPr/>
        </p:nvSpPr>
        <p:spPr>
          <a:xfrm>
            <a:off x="2412632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188BC0-C72E-A9DB-BAF8-1CE0C0E7EEE6}"/>
              </a:ext>
            </a:extLst>
          </p:cNvPr>
          <p:cNvSpPr/>
          <p:nvPr/>
        </p:nvSpPr>
        <p:spPr>
          <a:xfrm>
            <a:off x="2933148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01DF1D-078A-11CA-FDE4-D95F37E15FAC}"/>
              </a:ext>
            </a:extLst>
          </p:cNvPr>
          <p:cNvSpPr/>
          <p:nvPr/>
        </p:nvSpPr>
        <p:spPr>
          <a:xfrm>
            <a:off x="3453664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B1AF70-83F0-B527-E00A-CFFFEB68EB2F}"/>
              </a:ext>
            </a:extLst>
          </p:cNvPr>
          <p:cNvSpPr/>
          <p:nvPr/>
        </p:nvSpPr>
        <p:spPr>
          <a:xfrm>
            <a:off x="3974180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52981A-89B6-D2DB-B9C4-38EC4ABF07C3}"/>
              </a:ext>
            </a:extLst>
          </p:cNvPr>
          <p:cNvSpPr/>
          <p:nvPr/>
        </p:nvSpPr>
        <p:spPr>
          <a:xfrm>
            <a:off x="4494696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A23B9D-3A7E-94FE-79C8-E024F7649411}"/>
              </a:ext>
            </a:extLst>
          </p:cNvPr>
          <p:cNvSpPr/>
          <p:nvPr/>
        </p:nvSpPr>
        <p:spPr>
          <a:xfrm>
            <a:off x="5015212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CC45F5-EE1C-044E-BC67-9B8AA67F3A9D}"/>
              </a:ext>
            </a:extLst>
          </p:cNvPr>
          <p:cNvSpPr/>
          <p:nvPr/>
        </p:nvSpPr>
        <p:spPr>
          <a:xfrm>
            <a:off x="5535480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D3015D-671A-1D79-0C34-561257C8B556}"/>
              </a:ext>
            </a:extLst>
          </p:cNvPr>
          <p:cNvSpPr/>
          <p:nvPr/>
        </p:nvSpPr>
        <p:spPr>
          <a:xfrm>
            <a:off x="6055996" y="3276600"/>
            <a:ext cx="520516" cy="520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7DE0191-22BC-BC38-FE9B-A7622C8369E0}"/>
              </a:ext>
            </a:extLst>
          </p:cNvPr>
          <p:cNvGrpSpPr/>
          <p:nvPr/>
        </p:nvGrpSpPr>
        <p:grpSpPr>
          <a:xfrm>
            <a:off x="1444948" y="3773437"/>
            <a:ext cx="5494489" cy="430892"/>
            <a:chOff x="1444948" y="3773437"/>
            <a:chExt cx="5494489" cy="43089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6CDE21F-B812-2977-B890-E83AEB2649C7}"/>
                </a:ext>
              </a:extLst>
            </p:cNvPr>
            <p:cNvSpPr txBox="1"/>
            <p:nvPr/>
          </p:nvSpPr>
          <p:spPr>
            <a:xfrm>
              <a:off x="1444948" y="3773442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8226ECF-C656-43BD-58C7-9AFC524E4934}"/>
                </a:ext>
              </a:extLst>
            </p:cNvPr>
            <p:cNvSpPr txBox="1"/>
            <p:nvPr/>
          </p:nvSpPr>
          <p:spPr>
            <a:xfrm>
              <a:off x="1965464" y="3773441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8E76C9-3639-2EC7-42CD-193CED6B2078}"/>
                </a:ext>
              </a:extLst>
            </p:cNvPr>
            <p:cNvSpPr txBox="1"/>
            <p:nvPr/>
          </p:nvSpPr>
          <p:spPr>
            <a:xfrm>
              <a:off x="2485732" y="3773441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087CD02-405E-04F5-A12D-3BE72879F88E}"/>
                </a:ext>
              </a:extLst>
            </p:cNvPr>
            <p:cNvSpPr txBox="1"/>
            <p:nvPr/>
          </p:nvSpPr>
          <p:spPr>
            <a:xfrm>
              <a:off x="3006248" y="3773440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6248C38-971B-AAF1-ADE0-21A70992F81F}"/>
                </a:ext>
              </a:extLst>
            </p:cNvPr>
            <p:cNvSpPr txBox="1"/>
            <p:nvPr/>
          </p:nvSpPr>
          <p:spPr>
            <a:xfrm>
              <a:off x="3526764" y="3773440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873D0EB-4FAE-EDCF-96F6-39A4697F6AAC}"/>
                </a:ext>
              </a:extLst>
            </p:cNvPr>
            <p:cNvSpPr txBox="1"/>
            <p:nvPr/>
          </p:nvSpPr>
          <p:spPr>
            <a:xfrm>
              <a:off x="4047280" y="3773439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D8292D2-8FD3-4266-78EF-9492818015ED}"/>
                </a:ext>
              </a:extLst>
            </p:cNvPr>
            <p:cNvSpPr txBox="1"/>
            <p:nvPr/>
          </p:nvSpPr>
          <p:spPr>
            <a:xfrm>
              <a:off x="4567548" y="3773439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B412930-AD58-E1E2-8D2A-03C236DCF77C}"/>
                </a:ext>
              </a:extLst>
            </p:cNvPr>
            <p:cNvSpPr txBox="1"/>
            <p:nvPr/>
          </p:nvSpPr>
          <p:spPr>
            <a:xfrm>
              <a:off x="5088064" y="3773438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7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6F0104F-F112-8C5A-E30A-88F9D84075DB}"/>
                </a:ext>
              </a:extLst>
            </p:cNvPr>
            <p:cNvSpPr txBox="1"/>
            <p:nvPr/>
          </p:nvSpPr>
          <p:spPr>
            <a:xfrm>
              <a:off x="5577024" y="3773438"/>
              <a:ext cx="3738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A705FE2-DB5B-F4D1-6E10-4C19E7EC83F0}"/>
                </a:ext>
              </a:extLst>
            </p:cNvPr>
            <p:cNvSpPr txBox="1"/>
            <p:nvPr/>
          </p:nvSpPr>
          <p:spPr>
            <a:xfrm>
              <a:off x="6097540" y="3773437"/>
              <a:ext cx="8418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200" baseline="-25000" dirty="0">
                  <a:latin typeface="Times New Roman" pitchFamily="18" charset="0"/>
                  <a:cs typeface="Times New Roman" pitchFamily="18" charset="0"/>
                </a:rPr>
                <a:t>9 …….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632CAB7-1A2D-888C-2F5D-C1CE1BF51794}"/>
              </a:ext>
            </a:extLst>
          </p:cNvPr>
          <p:cNvGrpSpPr/>
          <p:nvPr/>
        </p:nvGrpSpPr>
        <p:grpSpPr>
          <a:xfrm>
            <a:off x="1456045" y="3342545"/>
            <a:ext cx="5119386" cy="430892"/>
            <a:chOff x="1965464" y="5042624"/>
            <a:chExt cx="5119386" cy="43089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2B12EFF-5D9E-2BC3-B90B-0E9AF3247A07}"/>
                </a:ext>
              </a:extLst>
            </p:cNvPr>
            <p:cNvSpPr txBox="1"/>
            <p:nvPr/>
          </p:nvSpPr>
          <p:spPr>
            <a:xfrm>
              <a:off x="1965464" y="5042629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0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FB0AF2C-CA0C-C345-B1C4-1B43E59EB7A4}"/>
                </a:ext>
              </a:extLst>
            </p:cNvPr>
            <p:cNvSpPr txBox="1"/>
            <p:nvPr/>
          </p:nvSpPr>
          <p:spPr>
            <a:xfrm>
              <a:off x="2485980" y="5042628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0BBD67B-195E-FCBD-FA33-3502B7164600}"/>
                </a:ext>
              </a:extLst>
            </p:cNvPr>
            <p:cNvSpPr txBox="1"/>
            <p:nvPr/>
          </p:nvSpPr>
          <p:spPr>
            <a:xfrm>
              <a:off x="3006248" y="5042628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FA7E99A-E2C2-9473-C46D-3A12945ABBA4}"/>
                </a:ext>
              </a:extLst>
            </p:cNvPr>
            <p:cNvSpPr txBox="1"/>
            <p:nvPr/>
          </p:nvSpPr>
          <p:spPr>
            <a:xfrm>
              <a:off x="3526764" y="5042627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E630C20-2A0B-0AFB-39F0-BED814FC693D}"/>
                </a:ext>
              </a:extLst>
            </p:cNvPr>
            <p:cNvSpPr txBox="1"/>
            <p:nvPr/>
          </p:nvSpPr>
          <p:spPr>
            <a:xfrm>
              <a:off x="4047280" y="5042627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B11CB04-4A59-5D77-E558-7472F4156162}"/>
                </a:ext>
              </a:extLst>
            </p:cNvPr>
            <p:cNvSpPr txBox="1"/>
            <p:nvPr/>
          </p:nvSpPr>
          <p:spPr>
            <a:xfrm>
              <a:off x="4567796" y="5042626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0FF5286-BAF4-1A18-3874-321B2F48604F}"/>
                </a:ext>
              </a:extLst>
            </p:cNvPr>
            <p:cNvSpPr txBox="1"/>
            <p:nvPr/>
          </p:nvSpPr>
          <p:spPr>
            <a:xfrm>
              <a:off x="5088064" y="5042626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4E01EDA-46C0-A7E9-E891-5AC926EA8BE6}"/>
                </a:ext>
              </a:extLst>
            </p:cNvPr>
            <p:cNvSpPr txBox="1"/>
            <p:nvPr/>
          </p:nvSpPr>
          <p:spPr>
            <a:xfrm>
              <a:off x="5608580" y="5042625"/>
              <a:ext cx="4667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13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3B65A9C-A906-C376-298C-A1897905FFA3}"/>
                </a:ext>
              </a:extLst>
            </p:cNvPr>
            <p:cNvSpPr txBox="1"/>
            <p:nvPr/>
          </p:nvSpPr>
          <p:spPr>
            <a:xfrm>
              <a:off x="6097540" y="5042625"/>
              <a:ext cx="4667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21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CBBD7B2-7284-E0A0-A4B8-5F35DE71DD7E}"/>
                </a:ext>
              </a:extLst>
            </p:cNvPr>
            <p:cNvSpPr txBox="1"/>
            <p:nvPr/>
          </p:nvSpPr>
          <p:spPr>
            <a:xfrm>
              <a:off x="6618056" y="5042624"/>
              <a:ext cx="4667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34</a:t>
              </a:r>
              <a:endParaRPr lang="en-US" sz="22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9AB7D267-B95C-FEB8-2EAF-C38611E626E5}"/>
              </a:ext>
            </a:extLst>
          </p:cNvPr>
          <p:cNvSpPr/>
          <p:nvPr/>
        </p:nvSpPr>
        <p:spPr>
          <a:xfrm>
            <a:off x="3006000" y="3124199"/>
            <a:ext cx="1935368" cy="1143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5A8DC5-EC61-61F3-579E-A42792DF449F}"/>
              </a:ext>
            </a:extLst>
          </p:cNvPr>
          <p:cNvSpPr txBox="1"/>
          <p:nvPr/>
        </p:nvSpPr>
        <p:spPr>
          <a:xfrm>
            <a:off x="457199" y="4356087"/>
            <a:ext cx="33425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are the values of j?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C7F6B3-56E3-C5B9-557F-9EB119E34D4C}"/>
              </a:ext>
            </a:extLst>
          </p:cNvPr>
          <p:cNvSpPr txBox="1"/>
          <p:nvPr/>
        </p:nvSpPr>
        <p:spPr>
          <a:xfrm>
            <a:off x="878660" y="4745333"/>
            <a:ext cx="24849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first step: j = 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F9DBD6-BC75-C295-B469-C93C27FF9CAF}"/>
              </a:ext>
            </a:extLst>
          </p:cNvPr>
          <p:cNvSpPr txBox="1"/>
          <p:nvPr/>
        </p:nvSpPr>
        <p:spPr>
          <a:xfrm>
            <a:off x="4862514" y="4745332"/>
            <a:ext cx="31341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3 x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F8CD4D-C1D3-63EF-B11C-1015CE8656D4}"/>
              </a:ext>
            </a:extLst>
          </p:cNvPr>
          <p:cNvSpPr txBox="1"/>
          <p:nvPr/>
        </p:nvSpPr>
        <p:spPr>
          <a:xfrm>
            <a:off x="878660" y="5127712"/>
            <a:ext cx="28119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second step: j = 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FF292F-BCF5-6E97-E1F3-58F55A4A4215}"/>
              </a:ext>
            </a:extLst>
          </p:cNvPr>
          <p:cNvSpPr txBox="1"/>
          <p:nvPr/>
        </p:nvSpPr>
        <p:spPr>
          <a:xfrm>
            <a:off x="4862514" y="5127711"/>
            <a:ext cx="31341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4 x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1C65CC-D87B-C52F-4377-EFEEC5E14728}"/>
              </a:ext>
            </a:extLst>
          </p:cNvPr>
          <p:cNvSpPr txBox="1"/>
          <p:nvPr/>
        </p:nvSpPr>
        <p:spPr>
          <a:xfrm>
            <a:off x="878660" y="5510090"/>
            <a:ext cx="25635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third step: j = 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535E58-CD05-899B-E513-3437A095EEBC}"/>
              </a:ext>
            </a:extLst>
          </p:cNvPr>
          <p:cNvSpPr txBox="1"/>
          <p:nvPr/>
        </p:nvSpPr>
        <p:spPr>
          <a:xfrm>
            <a:off x="4862514" y="5510089"/>
            <a:ext cx="31341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5 x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CEA0C7-9DD5-FD0C-BFD1-7916EEC58E57}"/>
              </a:ext>
            </a:extLst>
          </p:cNvPr>
          <p:cNvSpPr txBox="1"/>
          <p:nvPr/>
        </p:nvSpPr>
        <p:spPr>
          <a:xfrm>
            <a:off x="878660" y="5940976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forth step: j = 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EDA80E-3622-C463-34C7-43626070E081}"/>
              </a:ext>
            </a:extLst>
          </p:cNvPr>
          <p:cNvSpPr txBox="1"/>
          <p:nvPr/>
        </p:nvSpPr>
        <p:spPr>
          <a:xfrm>
            <a:off x="4862514" y="5940975"/>
            <a:ext cx="31341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6 x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3D4B40-BF36-5A92-75BF-E786E4A810EB}"/>
              </a:ext>
            </a:extLst>
          </p:cNvPr>
          <p:cNvSpPr txBox="1"/>
          <p:nvPr/>
        </p:nvSpPr>
        <p:spPr>
          <a:xfrm>
            <a:off x="878660" y="6371862"/>
            <a:ext cx="82621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result is: 3xf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+ 4xf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+ 5xf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+ 6xf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3x2 + 4x3 + 5x5 + 6x8 = 91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12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7" grpId="0"/>
      <p:bldP spid="11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3" grpId="0" animBg="1"/>
      <p:bldP spid="28" grpId="0" animBg="1"/>
      <p:bldP spid="33" grpId="0" animBg="1"/>
      <p:bldP spid="34" grpId="0" animBg="1"/>
      <p:bldP spid="65" grpId="0" animBg="1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/>
              <p:nvPr/>
            </p:nvSpPr>
            <p:spPr>
              <a:xfrm>
                <a:off x="457199" y="1524000"/>
                <a:ext cx="2242217" cy="6044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Find: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524000"/>
                <a:ext cx="2242217" cy="604461"/>
              </a:xfrm>
              <a:prstGeom prst="rect">
                <a:avLst/>
              </a:prstGeom>
              <a:blipFill>
                <a:blip r:embed="rId2"/>
                <a:stretch>
                  <a:fillRect l="-2989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015A8DC5-EC61-61F3-579E-A42792DF449F}"/>
              </a:ext>
            </a:extLst>
          </p:cNvPr>
          <p:cNvSpPr txBox="1"/>
          <p:nvPr/>
        </p:nvSpPr>
        <p:spPr>
          <a:xfrm>
            <a:off x="457199" y="2003234"/>
            <a:ext cx="33425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are the values of j?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C7F6B3-56E3-C5B9-557F-9EB119E34D4C}"/>
              </a:ext>
            </a:extLst>
          </p:cNvPr>
          <p:cNvSpPr txBox="1"/>
          <p:nvPr/>
        </p:nvSpPr>
        <p:spPr>
          <a:xfrm>
            <a:off x="878660" y="2392480"/>
            <a:ext cx="24849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first step: j =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F9DBD6-BC75-C295-B469-C93C27FF9CAF}"/>
              </a:ext>
            </a:extLst>
          </p:cNvPr>
          <p:cNvSpPr txBox="1"/>
          <p:nvPr/>
        </p:nvSpPr>
        <p:spPr>
          <a:xfrm>
            <a:off x="4862514" y="2392479"/>
            <a:ext cx="2662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F8CD4D-C1D3-63EF-B11C-1015CE8656D4}"/>
              </a:ext>
            </a:extLst>
          </p:cNvPr>
          <p:cNvSpPr txBox="1"/>
          <p:nvPr/>
        </p:nvSpPr>
        <p:spPr>
          <a:xfrm>
            <a:off x="878660" y="2774859"/>
            <a:ext cx="28119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second step: j = 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FF292F-BCF5-6E97-E1F3-58F55A4A4215}"/>
              </a:ext>
            </a:extLst>
          </p:cNvPr>
          <p:cNvSpPr txBox="1"/>
          <p:nvPr/>
        </p:nvSpPr>
        <p:spPr>
          <a:xfrm>
            <a:off x="4862514" y="2774858"/>
            <a:ext cx="2662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4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1C65CC-D87B-C52F-4377-EFEEC5E14728}"/>
              </a:ext>
            </a:extLst>
          </p:cNvPr>
          <p:cNvSpPr txBox="1"/>
          <p:nvPr/>
        </p:nvSpPr>
        <p:spPr>
          <a:xfrm>
            <a:off x="878660" y="3157237"/>
            <a:ext cx="25635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third step: j = 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535E58-CD05-899B-E513-3437A095EEBC}"/>
              </a:ext>
            </a:extLst>
          </p:cNvPr>
          <p:cNvSpPr txBox="1"/>
          <p:nvPr/>
        </p:nvSpPr>
        <p:spPr>
          <a:xfrm>
            <a:off x="4862514" y="3157236"/>
            <a:ext cx="2662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9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CEA0C7-9DD5-FD0C-BFD1-7916EEC58E57}"/>
              </a:ext>
            </a:extLst>
          </p:cNvPr>
          <p:cNvSpPr txBox="1"/>
          <p:nvPr/>
        </p:nvSpPr>
        <p:spPr>
          <a:xfrm>
            <a:off x="878660" y="3546483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forth step: j = 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EDA80E-3622-C463-34C7-43626070E081}"/>
              </a:ext>
            </a:extLst>
          </p:cNvPr>
          <p:cNvSpPr txBox="1"/>
          <p:nvPr/>
        </p:nvSpPr>
        <p:spPr>
          <a:xfrm>
            <a:off x="4862514" y="3546482"/>
            <a:ext cx="28039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16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6B1D7-48AA-A053-A47D-9FBB51EF030C}"/>
              </a:ext>
            </a:extLst>
          </p:cNvPr>
          <p:cNvSpPr txBox="1"/>
          <p:nvPr/>
        </p:nvSpPr>
        <p:spPr>
          <a:xfrm>
            <a:off x="878660" y="3928860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fifth step: j =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67594-47B7-E29A-C760-CE940DD83775}"/>
              </a:ext>
            </a:extLst>
          </p:cNvPr>
          <p:cNvSpPr txBox="1"/>
          <p:nvPr/>
        </p:nvSpPr>
        <p:spPr>
          <a:xfrm>
            <a:off x="4862514" y="3928859"/>
            <a:ext cx="28039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25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5C56E-7F9A-0A34-8170-9E7FD3C25B9E}"/>
              </a:ext>
            </a:extLst>
          </p:cNvPr>
          <p:cNvSpPr txBox="1"/>
          <p:nvPr/>
        </p:nvSpPr>
        <p:spPr>
          <a:xfrm>
            <a:off x="878660" y="4382970"/>
            <a:ext cx="51090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the result is 1 + 4 + 9 + 16 + 25 = 55</a:t>
            </a:r>
          </a:p>
        </p:txBody>
      </p:sp>
    </p:spTree>
    <p:extLst>
      <p:ext uri="{BB962C8B-B14F-4D97-AF65-F5344CB8AC3E}">
        <p14:creationId xmlns:p14="http://schemas.microsoft.com/office/powerpoint/2010/main" val="4240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4" grpId="0"/>
      <p:bldP spid="5" grpId="0"/>
      <p:bldP spid="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/>
              <p:nvPr/>
            </p:nvSpPr>
            <p:spPr>
              <a:xfrm>
                <a:off x="457199" y="1524000"/>
                <a:ext cx="3058786" cy="567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Find: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/>
                            <m:aln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(−1)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524000"/>
                <a:ext cx="3058786" cy="567848"/>
              </a:xfrm>
              <a:prstGeom prst="rect">
                <a:avLst/>
              </a:prstGeom>
              <a:blipFill>
                <a:blip r:embed="rId2"/>
                <a:stretch>
                  <a:fillRect l="-2191" b="-10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015A8DC5-EC61-61F3-579E-A42792DF449F}"/>
              </a:ext>
            </a:extLst>
          </p:cNvPr>
          <p:cNvSpPr txBox="1"/>
          <p:nvPr/>
        </p:nvSpPr>
        <p:spPr>
          <a:xfrm>
            <a:off x="457199" y="2294777"/>
            <a:ext cx="34050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are the values of k?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C7F6B3-56E3-C5B9-557F-9EB119E34D4C}"/>
              </a:ext>
            </a:extLst>
          </p:cNvPr>
          <p:cNvSpPr txBox="1"/>
          <p:nvPr/>
        </p:nvSpPr>
        <p:spPr>
          <a:xfrm>
            <a:off x="878660" y="2684023"/>
            <a:ext cx="25474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first step: k =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F9DBD6-BC75-C295-B469-C93C27FF9CAF}"/>
              </a:ext>
            </a:extLst>
          </p:cNvPr>
          <p:cNvSpPr txBox="1"/>
          <p:nvPr/>
        </p:nvSpPr>
        <p:spPr>
          <a:xfrm>
            <a:off x="4572000" y="2684022"/>
            <a:ext cx="40703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(-1)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x 1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-1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F8CD4D-C1D3-63EF-B11C-1015CE8656D4}"/>
              </a:ext>
            </a:extLst>
          </p:cNvPr>
          <p:cNvSpPr txBox="1"/>
          <p:nvPr/>
        </p:nvSpPr>
        <p:spPr>
          <a:xfrm>
            <a:off x="878660" y="3066402"/>
            <a:ext cx="2874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second step: k = 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FF292F-BCF5-6E97-E1F3-58F55A4A4215}"/>
              </a:ext>
            </a:extLst>
          </p:cNvPr>
          <p:cNvSpPr txBox="1"/>
          <p:nvPr/>
        </p:nvSpPr>
        <p:spPr>
          <a:xfrm>
            <a:off x="4572000" y="3066401"/>
            <a:ext cx="39998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(-1)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x 2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4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1C65CC-D87B-C52F-4377-EFEEC5E14728}"/>
              </a:ext>
            </a:extLst>
          </p:cNvPr>
          <p:cNvSpPr txBox="1"/>
          <p:nvPr/>
        </p:nvSpPr>
        <p:spPr>
          <a:xfrm>
            <a:off x="878660" y="3448780"/>
            <a:ext cx="26260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third step: k = 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535E58-CD05-899B-E513-3437A095EEBC}"/>
              </a:ext>
            </a:extLst>
          </p:cNvPr>
          <p:cNvSpPr txBox="1"/>
          <p:nvPr/>
        </p:nvSpPr>
        <p:spPr>
          <a:xfrm>
            <a:off x="4572000" y="3448779"/>
            <a:ext cx="40943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(-1)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x 3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-9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CEA0C7-9DD5-FD0C-BFD1-7916EEC58E57}"/>
              </a:ext>
            </a:extLst>
          </p:cNvPr>
          <p:cNvSpPr txBox="1"/>
          <p:nvPr/>
        </p:nvSpPr>
        <p:spPr>
          <a:xfrm>
            <a:off x="878660" y="3838026"/>
            <a:ext cx="26420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forth step: k = 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EDA80E-3622-C463-34C7-43626070E081}"/>
              </a:ext>
            </a:extLst>
          </p:cNvPr>
          <p:cNvSpPr txBox="1"/>
          <p:nvPr/>
        </p:nvSpPr>
        <p:spPr>
          <a:xfrm>
            <a:off x="4572000" y="3838025"/>
            <a:ext cx="41408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(-1)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x 4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16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6B1D7-48AA-A053-A47D-9FBB51EF030C}"/>
              </a:ext>
            </a:extLst>
          </p:cNvPr>
          <p:cNvSpPr txBox="1"/>
          <p:nvPr/>
        </p:nvSpPr>
        <p:spPr>
          <a:xfrm>
            <a:off x="878660" y="4220403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fifth step: k =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67594-47B7-E29A-C760-CE940DD83775}"/>
              </a:ext>
            </a:extLst>
          </p:cNvPr>
          <p:cNvSpPr txBox="1"/>
          <p:nvPr/>
        </p:nvSpPr>
        <p:spPr>
          <a:xfrm>
            <a:off x="4572000" y="4220402"/>
            <a:ext cx="42354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(-1)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x 5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-25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5C56E-7F9A-0A34-8170-9E7FD3C25B9E}"/>
              </a:ext>
            </a:extLst>
          </p:cNvPr>
          <p:cNvSpPr txBox="1"/>
          <p:nvPr/>
        </p:nvSpPr>
        <p:spPr>
          <a:xfrm>
            <a:off x="878660" y="4648200"/>
            <a:ext cx="5170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the result is -1 + 4 - 9 + 16 - 25 = -15</a:t>
            </a:r>
          </a:p>
        </p:txBody>
      </p:sp>
    </p:spTree>
    <p:extLst>
      <p:ext uri="{BB962C8B-B14F-4D97-AF65-F5344CB8AC3E}">
        <p14:creationId xmlns:p14="http://schemas.microsoft.com/office/powerpoint/2010/main" val="125411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4" grpId="0"/>
      <p:bldP spid="5" grpId="0"/>
      <p:bldP spid="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/>
              <p:nvPr/>
            </p:nvSpPr>
            <p:spPr>
              <a:xfrm>
                <a:off x="457199" y="1524000"/>
                <a:ext cx="2397708" cy="6044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Find: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524000"/>
                <a:ext cx="2397708" cy="604461"/>
              </a:xfrm>
              <a:prstGeom prst="rect">
                <a:avLst/>
              </a:prstGeom>
              <a:blipFill>
                <a:blip r:embed="rId2"/>
                <a:stretch>
                  <a:fillRect l="-2799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015A8DC5-EC61-61F3-579E-A42792DF449F}"/>
              </a:ext>
            </a:extLst>
          </p:cNvPr>
          <p:cNvSpPr txBox="1"/>
          <p:nvPr/>
        </p:nvSpPr>
        <p:spPr>
          <a:xfrm>
            <a:off x="457199" y="2066177"/>
            <a:ext cx="33425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are the values of j?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C7F6B3-56E3-C5B9-557F-9EB119E34D4C}"/>
              </a:ext>
            </a:extLst>
          </p:cNvPr>
          <p:cNvSpPr txBox="1"/>
          <p:nvPr/>
        </p:nvSpPr>
        <p:spPr>
          <a:xfrm>
            <a:off x="878660" y="2455423"/>
            <a:ext cx="24849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first step: j =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F9DBD6-BC75-C295-B469-C93C27FF9CAF}"/>
              </a:ext>
            </a:extLst>
          </p:cNvPr>
          <p:cNvSpPr txBox="1"/>
          <p:nvPr/>
        </p:nvSpPr>
        <p:spPr>
          <a:xfrm>
            <a:off x="4862514" y="2455422"/>
            <a:ext cx="2662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3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F8CD4D-C1D3-63EF-B11C-1015CE8656D4}"/>
              </a:ext>
            </a:extLst>
          </p:cNvPr>
          <p:cNvSpPr txBox="1"/>
          <p:nvPr/>
        </p:nvSpPr>
        <p:spPr>
          <a:xfrm>
            <a:off x="878660" y="2837802"/>
            <a:ext cx="28119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second step: j = 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FF292F-BCF5-6E97-E1F3-58F55A4A4215}"/>
              </a:ext>
            </a:extLst>
          </p:cNvPr>
          <p:cNvSpPr txBox="1"/>
          <p:nvPr/>
        </p:nvSpPr>
        <p:spPr>
          <a:xfrm>
            <a:off x="4862514" y="2837801"/>
            <a:ext cx="28039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12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1C65CC-D87B-C52F-4377-EFEEC5E14728}"/>
              </a:ext>
            </a:extLst>
          </p:cNvPr>
          <p:cNvSpPr txBox="1"/>
          <p:nvPr/>
        </p:nvSpPr>
        <p:spPr>
          <a:xfrm>
            <a:off x="878660" y="3220180"/>
            <a:ext cx="25635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third step: j = 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535E58-CD05-899B-E513-3437A095EEBC}"/>
              </a:ext>
            </a:extLst>
          </p:cNvPr>
          <p:cNvSpPr txBox="1"/>
          <p:nvPr/>
        </p:nvSpPr>
        <p:spPr>
          <a:xfrm>
            <a:off x="4862514" y="3220179"/>
            <a:ext cx="28039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27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CEA0C7-9DD5-FD0C-BFD1-7916EEC58E57}"/>
              </a:ext>
            </a:extLst>
          </p:cNvPr>
          <p:cNvSpPr txBox="1"/>
          <p:nvPr/>
        </p:nvSpPr>
        <p:spPr>
          <a:xfrm>
            <a:off x="878660" y="3609426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forth step: j = 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EDA80E-3622-C463-34C7-43626070E081}"/>
              </a:ext>
            </a:extLst>
          </p:cNvPr>
          <p:cNvSpPr txBox="1"/>
          <p:nvPr/>
        </p:nvSpPr>
        <p:spPr>
          <a:xfrm>
            <a:off x="4862514" y="3609425"/>
            <a:ext cx="28039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48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6B1D7-48AA-A053-A47D-9FBB51EF030C}"/>
              </a:ext>
            </a:extLst>
          </p:cNvPr>
          <p:cNvSpPr txBox="1"/>
          <p:nvPr/>
        </p:nvSpPr>
        <p:spPr>
          <a:xfrm>
            <a:off x="878660" y="3991803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fifth step: j =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67594-47B7-E29A-C760-CE940DD83775}"/>
              </a:ext>
            </a:extLst>
          </p:cNvPr>
          <p:cNvSpPr txBox="1"/>
          <p:nvPr/>
        </p:nvSpPr>
        <p:spPr>
          <a:xfrm>
            <a:off x="4862514" y="3991802"/>
            <a:ext cx="28039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75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CB7B59-ABA0-627C-CBAE-740C420C4B14}"/>
              </a:ext>
            </a:extLst>
          </p:cNvPr>
          <p:cNvSpPr txBox="1"/>
          <p:nvPr/>
        </p:nvSpPr>
        <p:spPr>
          <a:xfrm>
            <a:off x="878660" y="4445913"/>
            <a:ext cx="55322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the result is 3 + 12 + 27 + 48 + 75 = 165</a:t>
            </a:r>
          </a:p>
        </p:txBody>
      </p:sp>
    </p:spTree>
    <p:extLst>
      <p:ext uri="{BB962C8B-B14F-4D97-AF65-F5344CB8AC3E}">
        <p14:creationId xmlns:p14="http://schemas.microsoft.com/office/powerpoint/2010/main" val="376946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4" grpId="0"/>
      <p:bldP spid="5" grpId="0"/>
      <p:bldP spid="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/>
              <p:nvPr/>
            </p:nvSpPr>
            <p:spPr>
              <a:xfrm>
                <a:off x="457199" y="1524000"/>
                <a:ext cx="4958152" cy="794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Prove that,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𝑛𝑎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524000"/>
                <a:ext cx="4958152" cy="794769"/>
              </a:xfrm>
              <a:prstGeom prst="rect">
                <a:avLst/>
              </a:prstGeom>
              <a:blipFill>
                <a:blip r:embed="rId2"/>
                <a:stretch>
                  <a:fillRect l="-1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82CB104-5D18-B222-EE85-511AC20C5675}"/>
              </a:ext>
            </a:extLst>
          </p:cNvPr>
          <p:cNvSpPr txBox="1"/>
          <p:nvPr/>
        </p:nvSpPr>
        <p:spPr>
          <a:xfrm>
            <a:off x="457199" y="2209800"/>
            <a:ext cx="33425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are the values of j?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781B0-20E7-14E4-86B1-BC8F321F5F6D}"/>
              </a:ext>
            </a:extLst>
          </p:cNvPr>
          <p:cNvSpPr txBox="1"/>
          <p:nvPr/>
        </p:nvSpPr>
        <p:spPr>
          <a:xfrm>
            <a:off x="914400" y="2604641"/>
            <a:ext cx="10502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j = 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6CE9A-C04F-C4BD-0C4E-5FF322EEA9D8}"/>
              </a:ext>
            </a:extLst>
          </p:cNvPr>
          <p:cNvSpPr txBox="1"/>
          <p:nvPr/>
        </p:nvSpPr>
        <p:spPr>
          <a:xfrm>
            <a:off x="4898254" y="2604640"/>
            <a:ext cx="25298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L.H.S term is na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3473C-329A-BDA6-037B-449D202D7F99}"/>
              </a:ext>
            </a:extLst>
          </p:cNvPr>
          <p:cNvSpPr txBox="1"/>
          <p:nvPr/>
        </p:nvSpPr>
        <p:spPr>
          <a:xfrm>
            <a:off x="914400" y="2987020"/>
            <a:ext cx="13500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j = p+1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B713E-B6EA-990D-1A48-26B587D1A3E4}"/>
              </a:ext>
            </a:extLst>
          </p:cNvPr>
          <p:cNvSpPr txBox="1"/>
          <p:nvPr/>
        </p:nvSpPr>
        <p:spPr>
          <a:xfrm>
            <a:off x="4898254" y="2987019"/>
            <a:ext cx="26837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L.H.S term is na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p+1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049E4C-00A1-86D7-571A-379F4875B687}"/>
              </a:ext>
            </a:extLst>
          </p:cNvPr>
          <p:cNvSpPr txBox="1"/>
          <p:nvPr/>
        </p:nvSpPr>
        <p:spPr>
          <a:xfrm>
            <a:off x="914400" y="3369398"/>
            <a:ext cx="13500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j = p+2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003AAB-8DD0-785F-8BCA-8F5584E4F54A}"/>
              </a:ext>
            </a:extLst>
          </p:cNvPr>
          <p:cNvSpPr txBox="1"/>
          <p:nvPr/>
        </p:nvSpPr>
        <p:spPr>
          <a:xfrm>
            <a:off x="4898254" y="3369397"/>
            <a:ext cx="26837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L.H.S term is na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p+2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F4B7CE-7B42-0C2C-7F51-E2557A6E3390}"/>
              </a:ext>
            </a:extLst>
          </p:cNvPr>
          <p:cNvSpPr txBox="1"/>
          <p:nvPr/>
        </p:nvSpPr>
        <p:spPr>
          <a:xfrm>
            <a:off x="914400" y="4217313"/>
            <a:ext cx="10502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j = 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F445A1-048C-4316-0717-C89D8A195862}"/>
              </a:ext>
            </a:extLst>
          </p:cNvPr>
          <p:cNvSpPr txBox="1"/>
          <p:nvPr/>
        </p:nvSpPr>
        <p:spPr>
          <a:xfrm>
            <a:off x="4898254" y="4217312"/>
            <a:ext cx="24833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L.H.S term is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BE42FD-D8CA-555D-BDA9-BA9563DBBE0F}"/>
              </a:ext>
            </a:extLst>
          </p:cNvPr>
          <p:cNvCxnSpPr>
            <a:cxnSpLocks/>
          </p:cNvCxnSpPr>
          <p:nvPr/>
        </p:nvCxnSpPr>
        <p:spPr>
          <a:xfrm flipV="1">
            <a:off x="3124200" y="4724400"/>
            <a:ext cx="454374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7A30D23-8711-25EF-EE47-BF8F1743AF9C}"/>
              </a:ext>
            </a:extLst>
          </p:cNvPr>
          <p:cNvSpPr txBox="1"/>
          <p:nvPr/>
        </p:nvSpPr>
        <p:spPr>
          <a:xfrm>
            <a:off x="918995" y="4849784"/>
            <a:ext cx="58609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the result is: na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na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p+1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na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p+2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….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FAD073-5319-CEFF-2584-0FAD7BB5E311}"/>
              </a:ext>
            </a:extLst>
          </p:cNvPr>
          <p:cNvSpPr txBox="1"/>
          <p:nvPr/>
        </p:nvSpPr>
        <p:spPr>
          <a:xfrm>
            <a:off x="2911003" y="5298213"/>
            <a:ext cx="37160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n(a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p+1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p+2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….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6DF614-9248-6103-C846-DD03A0E87430}"/>
                  </a:ext>
                </a:extLst>
              </p:cNvPr>
              <p:cNvSpPr txBox="1"/>
              <p:nvPr/>
            </p:nvSpPr>
            <p:spPr>
              <a:xfrm>
                <a:off x="2936275" y="5793937"/>
                <a:ext cx="1696426" cy="794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22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6DF614-9248-6103-C846-DD03A0E87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275" y="5793937"/>
                <a:ext cx="1696426" cy="794769"/>
              </a:xfrm>
              <a:prstGeom prst="rect">
                <a:avLst/>
              </a:prstGeom>
              <a:blipFill>
                <a:blip r:embed="rId3"/>
                <a:stretch>
                  <a:fillRect l="-4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883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/>
              <p:nvPr/>
            </p:nvSpPr>
            <p:spPr>
              <a:xfrm>
                <a:off x="457199" y="1524000"/>
                <a:ext cx="2318263" cy="4713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Find,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/>
                            <m:aln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524000"/>
                <a:ext cx="2318263" cy="471347"/>
              </a:xfrm>
              <a:prstGeom prst="rect">
                <a:avLst/>
              </a:prstGeom>
              <a:blipFill>
                <a:blip r:embed="rId2"/>
                <a:stretch>
                  <a:fillRect l="-2895" t="-110390" r="-9474" b="-17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A451725-0927-E682-BFEB-A0132EE7746B}"/>
              </a:ext>
            </a:extLst>
          </p:cNvPr>
          <p:cNvSpPr txBox="1"/>
          <p:nvPr/>
        </p:nvSpPr>
        <p:spPr>
          <a:xfrm>
            <a:off x="457199" y="2066177"/>
            <a:ext cx="34050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are the values of k?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641B14-B858-461A-2B5F-6E29DBE6ED07}"/>
              </a:ext>
            </a:extLst>
          </p:cNvPr>
          <p:cNvSpPr txBox="1"/>
          <p:nvPr/>
        </p:nvSpPr>
        <p:spPr>
          <a:xfrm>
            <a:off x="878660" y="2455423"/>
            <a:ext cx="25474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first step: k =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C10000-AC22-7FF4-366F-D54922B25042}"/>
              </a:ext>
            </a:extLst>
          </p:cNvPr>
          <p:cNvSpPr txBox="1"/>
          <p:nvPr/>
        </p:nvSpPr>
        <p:spPr>
          <a:xfrm>
            <a:off x="4862514" y="2455422"/>
            <a:ext cx="2662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DC5898-AECE-9B11-0734-C1A35F10A6D6}"/>
              </a:ext>
            </a:extLst>
          </p:cNvPr>
          <p:cNvSpPr txBox="1"/>
          <p:nvPr/>
        </p:nvSpPr>
        <p:spPr>
          <a:xfrm>
            <a:off x="878660" y="2837802"/>
            <a:ext cx="2874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second step: k =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D0A644-0D35-7845-30EC-354656F8931D}"/>
              </a:ext>
            </a:extLst>
          </p:cNvPr>
          <p:cNvSpPr txBox="1"/>
          <p:nvPr/>
        </p:nvSpPr>
        <p:spPr>
          <a:xfrm>
            <a:off x="4862514" y="2837801"/>
            <a:ext cx="2662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8D2EBC-DC00-E825-DC4C-E31A0555C746}"/>
              </a:ext>
            </a:extLst>
          </p:cNvPr>
          <p:cNvSpPr txBox="1"/>
          <p:nvPr/>
        </p:nvSpPr>
        <p:spPr>
          <a:xfrm>
            <a:off x="878660" y="3220180"/>
            <a:ext cx="26260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third step: k = 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E294C8-73C4-C8A2-57D0-62C804F27B59}"/>
              </a:ext>
            </a:extLst>
          </p:cNvPr>
          <p:cNvSpPr txBox="1"/>
          <p:nvPr/>
        </p:nvSpPr>
        <p:spPr>
          <a:xfrm>
            <a:off x="4862514" y="3220179"/>
            <a:ext cx="2662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89422E-F5FB-6705-BA88-D386BFCC1CAE}"/>
              </a:ext>
            </a:extLst>
          </p:cNvPr>
          <p:cNvSpPr txBox="1"/>
          <p:nvPr/>
        </p:nvSpPr>
        <p:spPr>
          <a:xfrm>
            <a:off x="878660" y="3609426"/>
            <a:ext cx="26420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forth step: k = 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DB941D-204A-DEDF-0855-BDBF57DCD799}"/>
              </a:ext>
            </a:extLst>
          </p:cNvPr>
          <p:cNvSpPr txBox="1"/>
          <p:nvPr/>
        </p:nvSpPr>
        <p:spPr>
          <a:xfrm>
            <a:off x="4862514" y="3609425"/>
            <a:ext cx="2662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499610-44DA-57D9-9C59-4E7E445C68A9}"/>
              </a:ext>
            </a:extLst>
          </p:cNvPr>
          <p:cNvSpPr txBox="1"/>
          <p:nvPr/>
        </p:nvSpPr>
        <p:spPr>
          <a:xfrm>
            <a:off x="878660" y="3991803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fifth step: k = 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5319BD-4A8B-369A-8C45-6EAA89E6DAE5}"/>
              </a:ext>
            </a:extLst>
          </p:cNvPr>
          <p:cNvSpPr txBox="1"/>
          <p:nvPr/>
        </p:nvSpPr>
        <p:spPr>
          <a:xfrm>
            <a:off x="4862514" y="3991802"/>
            <a:ext cx="2662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38C1D0D-4EAE-DE73-81EE-2BB94B6C9F0D}"/>
              </a:ext>
            </a:extLst>
          </p:cNvPr>
          <p:cNvCxnSpPr>
            <a:cxnSpLocks/>
          </p:cNvCxnSpPr>
          <p:nvPr/>
        </p:nvCxnSpPr>
        <p:spPr>
          <a:xfrm flipV="1">
            <a:off x="3124200" y="4419600"/>
            <a:ext cx="454374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DE6FD61-494E-74A6-E837-3D53065EB979}"/>
              </a:ext>
            </a:extLst>
          </p:cNvPr>
          <p:cNvSpPr txBox="1"/>
          <p:nvPr/>
        </p:nvSpPr>
        <p:spPr>
          <a:xfrm>
            <a:off x="2903496" y="4445853"/>
            <a:ext cx="47644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the result is: 1 + 1 + 1 + 1 + 1 = 5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03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/>
              <p:nvPr/>
            </p:nvSpPr>
            <p:spPr>
              <a:xfrm>
                <a:off x="457199" y="1524000"/>
                <a:ext cx="6063839" cy="510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Prove that,   p</a:t>
                </a:r>
                <a:r>
                  <a:rPr lang="en-US" sz="2200" baseline="30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– q</a:t>
                </a:r>
                <a:r>
                  <a:rPr lang="en-US" sz="2200" baseline="30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/>
                            <m:aln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= 2p - 1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524000"/>
                <a:ext cx="6063839" cy="510396"/>
              </a:xfrm>
              <a:prstGeom prst="rect">
                <a:avLst/>
              </a:prstGeom>
              <a:blipFill>
                <a:blip r:embed="rId2"/>
                <a:stretch>
                  <a:fillRect l="-1106" t="-102381" r="-302" b="-148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A451725-0927-E682-BFEB-A0132EE7746B}"/>
              </a:ext>
            </a:extLst>
          </p:cNvPr>
          <p:cNvSpPr txBox="1"/>
          <p:nvPr/>
        </p:nvSpPr>
        <p:spPr>
          <a:xfrm>
            <a:off x="457199" y="1981200"/>
            <a:ext cx="34050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are the values of k?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641B14-B858-461A-2B5F-6E29DBE6ED07}"/>
              </a:ext>
            </a:extLst>
          </p:cNvPr>
          <p:cNvSpPr txBox="1"/>
          <p:nvPr/>
        </p:nvSpPr>
        <p:spPr>
          <a:xfrm>
            <a:off x="878660" y="2370446"/>
            <a:ext cx="25474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first step: k = 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C10000-AC22-7FF4-366F-D54922B25042}"/>
              </a:ext>
            </a:extLst>
          </p:cNvPr>
          <p:cNvSpPr txBox="1"/>
          <p:nvPr/>
        </p:nvSpPr>
        <p:spPr>
          <a:xfrm>
            <a:off x="4862514" y="2370445"/>
            <a:ext cx="34804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p + q - 1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DC5898-AECE-9B11-0734-C1A35F10A6D6}"/>
              </a:ext>
            </a:extLst>
          </p:cNvPr>
          <p:cNvSpPr txBox="1"/>
          <p:nvPr/>
        </p:nvSpPr>
        <p:spPr>
          <a:xfrm>
            <a:off x="878660" y="2752825"/>
            <a:ext cx="33153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second step: k = p + 1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D0A644-0D35-7845-30EC-354656F8931D}"/>
              </a:ext>
            </a:extLst>
          </p:cNvPr>
          <p:cNvSpPr txBox="1"/>
          <p:nvPr/>
        </p:nvSpPr>
        <p:spPr>
          <a:xfrm>
            <a:off x="4862514" y="2752824"/>
            <a:ext cx="34804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p + q - 1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499610-44DA-57D9-9C59-4E7E445C68A9}"/>
              </a:ext>
            </a:extLst>
          </p:cNvPr>
          <p:cNvSpPr txBox="1"/>
          <p:nvPr/>
        </p:nvSpPr>
        <p:spPr>
          <a:xfrm>
            <a:off x="878660" y="3276601"/>
            <a:ext cx="24833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last step: k = 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5319BD-4A8B-369A-8C45-6EAA89E6DAE5}"/>
              </a:ext>
            </a:extLst>
          </p:cNvPr>
          <p:cNvSpPr txBox="1"/>
          <p:nvPr/>
        </p:nvSpPr>
        <p:spPr>
          <a:xfrm>
            <a:off x="4862514" y="3276600"/>
            <a:ext cx="34804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the term is: p + q - 1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E6FD61-494E-74A6-E837-3D53065EB979}"/>
              </a:ext>
            </a:extLst>
          </p:cNvPr>
          <p:cNvSpPr txBox="1"/>
          <p:nvPr/>
        </p:nvSpPr>
        <p:spPr>
          <a:xfrm>
            <a:off x="878660" y="3832779"/>
            <a:ext cx="4584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many p + q - 1 will be added?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CC893-4274-8F70-C422-F5CB1324733D}"/>
              </a:ext>
            </a:extLst>
          </p:cNvPr>
          <p:cNvSpPr txBox="1"/>
          <p:nvPr/>
        </p:nvSpPr>
        <p:spPr>
          <a:xfrm>
            <a:off x="6019800" y="3832778"/>
            <a:ext cx="15359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 – p + 1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B305B8-2A87-5CB6-49CA-02AB22B83D14}"/>
              </a:ext>
            </a:extLst>
          </p:cNvPr>
          <p:cNvSpPr txBox="1"/>
          <p:nvPr/>
        </p:nvSpPr>
        <p:spPr>
          <a:xfrm>
            <a:off x="878660" y="4263665"/>
            <a:ext cx="73019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Because in a range [a, b] there are total (b – a + 1) numbers 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05D1C8-118E-1A91-3BB6-A73D9E8C4474}"/>
              </a:ext>
            </a:extLst>
          </p:cNvPr>
          <p:cNvSpPr txBox="1"/>
          <p:nvPr/>
        </p:nvSpPr>
        <p:spPr>
          <a:xfrm>
            <a:off x="878660" y="4702692"/>
            <a:ext cx="65261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the result of summation is: (p + 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q -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1) (q – p + 1)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D3A630-5D61-C18E-F216-5B2522A07215}"/>
              </a:ext>
            </a:extLst>
          </p:cNvPr>
          <p:cNvSpPr txBox="1"/>
          <p:nvPr/>
        </p:nvSpPr>
        <p:spPr>
          <a:xfrm>
            <a:off x="1050367" y="5140239"/>
            <a:ext cx="29514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(q + p - 1) (q – (p - 1))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26CBB2-1AA0-8686-334F-54AC447035E1}"/>
              </a:ext>
            </a:extLst>
          </p:cNvPr>
          <p:cNvSpPr txBox="1"/>
          <p:nvPr/>
        </p:nvSpPr>
        <p:spPr>
          <a:xfrm>
            <a:off x="4222104" y="5140239"/>
            <a:ext cx="17796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q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– (p – 1)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089DEE-8678-DA4B-AD6A-912E104BCBFB}"/>
              </a:ext>
            </a:extLst>
          </p:cNvPr>
          <p:cNvSpPr txBox="1"/>
          <p:nvPr/>
        </p:nvSpPr>
        <p:spPr>
          <a:xfrm>
            <a:off x="6353877" y="5142458"/>
            <a:ext cx="212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q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– p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+ 2p - 1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56AABD-EED0-0D34-74CA-1E99087FB632}"/>
              </a:ext>
            </a:extLst>
          </p:cNvPr>
          <p:cNvSpPr txBox="1"/>
          <p:nvPr/>
        </p:nvSpPr>
        <p:spPr>
          <a:xfrm>
            <a:off x="878659" y="5638800"/>
            <a:ext cx="50570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Now, L.H.S = p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– q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(q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– p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+ 2p -1)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F68339-B2C7-EA95-2B48-32195515FB01}"/>
              </a:ext>
            </a:extLst>
          </p:cNvPr>
          <p:cNvSpPr txBox="1"/>
          <p:nvPr/>
        </p:nvSpPr>
        <p:spPr>
          <a:xfrm>
            <a:off x="2589591" y="6084487"/>
            <a:ext cx="10021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2p -1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40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19" grpId="0"/>
      <p:bldP spid="20" grpId="0"/>
      <p:bldP spid="21" grpId="0"/>
      <p:bldP spid="22" grpId="0"/>
      <p:bldP spid="27" grpId="0"/>
      <p:bldP spid="28" grpId="0"/>
      <p:bldP spid="30" grpId="0"/>
      <p:bldP spid="4" grpId="0"/>
      <p:bldP spid="6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MULTIPLE  SUMMATION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7B3B0-A446-6B50-C043-BFAA2D9939D1}"/>
              </a:ext>
            </a:extLst>
          </p:cNvPr>
          <p:cNvSpPr txBox="1"/>
          <p:nvPr/>
        </p:nvSpPr>
        <p:spPr>
          <a:xfrm>
            <a:off x="457200" y="1600200"/>
            <a:ext cx="85683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Multiple summation operator with corresponding variables can be used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61C28-6E5C-0104-C086-465CB2027547}"/>
              </a:ext>
            </a:extLst>
          </p:cNvPr>
          <p:cNvSpPr txBox="1"/>
          <p:nvPr/>
        </p:nvSpPr>
        <p:spPr>
          <a:xfrm>
            <a:off x="457200" y="2031087"/>
            <a:ext cx="85395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inner most operator to be solved first, then the next inner and so 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6DB136-C29F-6FF7-4847-81FE2CAB47E0}"/>
                  </a:ext>
                </a:extLst>
              </p:cNvPr>
              <p:cNvSpPr txBox="1"/>
              <p:nvPr/>
            </p:nvSpPr>
            <p:spPr>
              <a:xfrm>
                <a:off x="3092973" y="2461974"/>
                <a:ext cx="2958053" cy="11122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=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𝑏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𝑗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𝑞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𝑘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=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𝑧</m:t>
                                  </m:r>
                                </m:sup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𝑒𝑥𝑝𝑟𝑒𝑠𝑠𝑖𝑜𝑛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6DB136-C29F-6FF7-4847-81FE2CAB4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973" y="2461974"/>
                <a:ext cx="2958053" cy="11122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8DFE746-17A6-2CAF-7D9F-F1D9EE81642F}"/>
              </a:ext>
            </a:extLst>
          </p:cNvPr>
          <p:cNvSpPr txBox="1"/>
          <p:nvPr/>
        </p:nvSpPr>
        <p:spPr>
          <a:xfrm>
            <a:off x="457199" y="3789709"/>
            <a:ext cx="76626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operator with variable k to be solved first, then j and then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244947-06AE-0278-2D3C-25CEA05DB1D6}"/>
              </a:ext>
            </a:extLst>
          </p:cNvPr>
          <p:cNvSpPr/>
          <p:nvPr/>
        </p:nvSpPr>
        <p:spPr>
          <a:xfrm>
            <a:off x="4030343" y="2512145"/>
            <a:ext cx="516385" cy="11122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A10BC1-858C-B90D-D4B9-F43FDF862D33}"/>
              </a:ext>
            </a:extLst>
          </p:cNvPr>
          <p:cNvSpPr/>
          <p:nvPr/>
        </p:nvSpPr>
        <p:spPr>
          <a:xfrm>
            <a:off x="3581400" y="2526465"/>
            <a:ext cx="516385" cy="11122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041889-4A6C-E2C3-B449-9E6A606024B4}"/>
              </a:ext>
            </a:extLst>
          </p:cNvPr>
          <p:cNvSpPr/>
          <p:nvPr/>
        </p:nvSpPr>
        <p:spPr>
          <a:xfrm>
            <a:off x="3132457" y="2526465"/>
            <a:ext cx="516385" cy="11122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8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/>
      <p:bldP spid="5" grpId="0"/>
      <p:bldP spid="6" grpId="0"/>
      <p:bldP spid="8" grpId="0" animBg="1"/>
      <p:bldP spid="9" grpId="0" animBg="1"/>
      <p:bldP spid="1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/>
              <p:nvPr/>
            </p:nvSpPr>
            <p:spPr>
              <a:xfrm>
                <a:off x="457199" y="1524000"/>
                <a:ext cx="4149406" cy="4966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cs typeface="Times New Roman" pitchFamily="18" charset="0"/>
                  </a:rPr>
                  <a:t>Find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5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2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𝑘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3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e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 (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+1)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524000"/>
                <a:ext cx="4149406" cy="496611"/>
              </a:xfrm>
              <a:prstGeom prst="rect">
                <a:avLst/>
              </a:prstGeom>
              <a:blipFill>
                <a:blip r:embed="rId2"/>
                <a:stretch>
                  <a:fillRect l="-1615" t="-106173" b="-158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4D2FBC-B06B-12DD-A38E-E0F4C490A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742386"/>
              </p:ext>
            </p:extLst>
          </p:nvPr>
        </p:nvGraphicFramePr>
        <p:xfrm>
          <a:off x="762000" y="2058152"/>
          <a:ext cx="3733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9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3066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1F97DB1-0ABE-558D-CFA8-C043A83BA5D1}"/>
              </a:ext>
            </a:extLst>
          </p:cNvPr>
          <p:cNvSpPr txBox="1"/>
          <p:nvPr/>
        </p:nvSpPr>
        <p:spPr>
          <a:xfrm>
            <a:off x="1122070" y="240483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B0C6CF-F7AE-F656-97C1-E3E48AB808CA}"/>
              </a:ext>
            </a:extLst>
          </p:cNvPr>
          <p:cNvSpPr txBox="1"/>
          <p:nvPr/>
        </p:nvSpPr>
        <p:spPr>
          <a:xfrm>
            <a:off x="1122070" y="2835724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27A05-3B85-36C0-0F42-D293798B9DC5}"/>
              </a:ext>
            </a:extLst>
          </p:cNvPr>
          <p:cNvSpPr txBox="1"/>
          <p:nvPr/>
        </p:nvSpPr>
        <p:spPr>
          <a:xfrm>
            <a:off x="1122070" y="325055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102906-218B-7A6D-AAFE-46FFB261A051}"/>
              </a:ext>
            </a:extLst>
          </p:cNvPr>
          <p:cNvSpPr txBox="1"/>
          <p:nvPr/>
        </p:nvSpPr>
        <p:spPr>
          <a:xfrm>
            <a:off x="1122070" y="368144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8CA157-8CB3-31B0-1E3F-E0400DB95779}"/>
              </a:ext>
            </a:extLst>
          </p:cNvPr>
          <p:cNvSpPr txBox="1"/>
          <p:nvPr/>
        </p:nvSpPr>
        <p:spPr>
          <a:xfrm>
            <a:off x="2971800" y="2400398"/>
            <a:ext cx="3577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B25422-6A0B-304C-9C4A-32329BD4F3FB}"/>
              </a:ext>
            </a:extLst>
          </p:cNvPr>
          <p:cNvSpPr txBox="1"/>
          <p:nvPr/>
        </p:nvSpPr>
        <p:spPr>
          <a:xfrm>
            <a:off x="2971800" y="2831285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BA7401-3367-B46A-7AF1-5532D91F0F88}"/>
              </a:ext>
            </a:extLst>
          </p:cNvPr>
          <p:cNvSpPr txBox="1"/>
          <p:nvPr/>
        </p:nvSpPr>
        <p:spPr>
          <a:xfrm>
            <a:off x="2971800" y="3246120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3i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8E48DE-EEB7-2C94-7E33-6CAFAB786CC6}"/>
              </a:ext>
            </a:extLst>
          </p:cNvPr>
          <p:cNvSpPr txBox="1"/>
          <p:nvPr/>
        </p:nvSpPr>
        <p:spPr>
          <a:xfrm>
            <a:off x="2971800" y="3677007"/>
            <a:ext cx="4988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4i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5759DD-75F4-A861-1712-5CD17276722C}"/>
              </a:ext>
            </a:extLst>
          </p:cNvPr>
          <p:cNvSpPr txBox="1"/>
          <p:nvPr/>
        </p:nvSpPr>
        <p:spPr>
          <a:xfrm>
            <a:off x="867019" y="4030866"/>
            <a:ext cx="9044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Result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3ECB97-691E-0F86-86B4-1D08BCEA7B51}"/>
              </a:ext>
            </a:extLst>
          </p:cNvPr>
          <p:cNvSpPr txBox="1"/>
          <p:nvPr/>
        </p:nvSpPr>
        <p:spPr>
          <a:xfrm>
            <a:off x="2901267" y="4030866"/>
            <a:ext cx="6399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10i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B23ACBA-4BFA-5902-B92C-7A14013DF2D5}"/>
                  </a:ext>
                </a:extLst>
              </p:cNvPr>
              <p:cNvSpPr txBox="1"/>
              <p:nvPr/>
            </p:nvSpPr>
            <p:spPr>
              <a:xfrm>
                <a:off x="457199" y="4522729"/>
                <a:ext cx="4368760" cy="493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cs typeface="Times New Roman" pitchFamily="18" charset="0"/>
                  </a:rPr>
                  <a:t>Now it becomes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5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10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B23ACBA-4BFA-5902-B92C-7A14013DF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4522729"/>
                <a:ext cx="4368760" cy="493405"/>
              </a:xfrm>
              <a:prstGeom prst="rect">
                <a:avLst/>
              </a:prstGeom>
              <a:blipFill>
                <a:blip r:embed="rId3"/>
                <a:stretch>
                  <a:fillRect l="-1534" t="-106173" b="-158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B473F5F6-4A5D-4E29-C90E-04EA2D7E9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570613"/>
              </p:ext>
            </p:extLst>
          </p:nvPr>
        </p:nvGraphicFramePr>
        <p:xfrm>
          <a:off x="5070367" y="2057400"/>
          <a:ext cx="37338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306690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A48AB58E-969C-5C9B-5AA0-F655D4D2EEA1}"/>
              </a:ext>
            </a:extLst>
          </p:cNvPr>
          <p:cNvSpPr txBox="1"/>
          <p:nvPr/>
        </p:nvSpPr>
        <p:spPr>
          <a:xfrm>
            <a:off x="5430437" y="2404085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160752-0B22-F1A3-725B-F70181D0329F}"/>
              </a:ext>
            </a:extLst>
          </p:cNvPr>
          <p:cNvSpPr txBox="1"/>
          <p:nvPr/>
        </p:nvSpPr>
        <p:spPr>
          <a:xfrm>
            <a:off x="5430437" y="283497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402E77-089D-9C70-0A5A-890F0345641A}"/>
              </a:ext>
            </a:extLst>
          </p:cNvPr>
          <p:cNvSpPr txBox="1"/>
          <p:nvPr/>
        </p:nvSpPr>
        <p:spPr>
          <a:xfrm>
            <a:off x="7239000" y="2399646"/>
            <a:ext cx="6399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10i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401F5A-FD51-B988-DA5B-9EA52B5460D8}"/>
              </a:ext>
            </a:extLst>
          </p:cNvPr>
          <p:cNvSpPr txBox="1"/>
          <p:nvPr/>
        </p:nvSpPr>
        <p:spPr>
          <a:xfrm>
            <a:off x="7239000" y="2830533"/>
            <a:ext cx="6399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10i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01042E-8955-CE0D-7D29-453F61E410C5}"/>
              </a:ext>
            </a:extLst>
          </p:cNvPr>
          <p:cNvSpPr txBox="1"/>
          <p:nvPr/>
        </p:nvSpPr>
        <p:spPr>
          <a:xfrm>
            <a:off x="5175386" y="3246872"/>
            <a:ext cx="9044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Result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7F59C0-CFEE-B440-52A4-2A9F2B647BFC}"/>
              </a:ext>
            </a:extLst>
          </p:cNvPr>
          <p:cNvSpPr txBox="1"/>
          <p:nvPr/>
        </p:nvSpPr>
        <p:spPr>
          <a:xfrm>
            <a:off x="7284881" y="3246872"/>
            <a:ext cx="6399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20i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E078B17-22F1-3B11-BD03-BEBAA6EF5FCB}"/>
                  </a:ext>
                </a:extLst>
              </p:cNvPr>
              <p:cNvSpPr txBox="1"/>
              <p:nvPr/>
            </p:nvSpPr>
            <p:spPr>
              <a:xfrm>
                <a:off x="4789845" y="3773302"/>
                <a:ext cx="3750963" cy="4562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cs typeface="Times New Roman" pitchFamily="18" charset="0"/>
                  </a:rPr>
                  <a:t>Now it becomes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5</m:t>
                        </m:r>
                      </m:sup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E078B17-22F1-3B11-BD03-BEBAA6EF5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845" y="3773302"/>
                <a:ext cx="3750963" cy="456215"/>
              </a:xfrm>
              <a:prstGeom prst="rect">
                <a:avLst/>
              </a:prstGeom>
              <a:blipFill>
                <a:blip r:embed="rId4"/>
                <a:stretch>
                  <a:fillRect l="-1789" t="-114667" b="-17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895EE860-2BAA-E671-0609-A04F3C14F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494643"/>
              </p:ext>
            </p:extLst>
          </p:nvPr>
        </p:nvGraphicFramePr>
        <p:xfrm>
          <a:off x="5070367" y="4297439"/>
          <a:ext cx="3733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0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9598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41581476-8223-B36B-3DA1-FB06500962B2}"/>
              </a:ext>
            </a:extLst>
          </p:cNvPr>
          <p:cNvSpPr txBox="1"/>
          <p:nvPr/>
        </p:nvSpPr>
        <p:spPr>
          <a:xfrm>
            <a:off x="5430437" y="4644124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A3496B-FCEB-7D98-54F3-43656DB1AF9B}"/>
              </a:ext>
            </a:extLst>
          </p:cNvPr>
          <p:cNvSpPr txBox="1"/>
          <p:nvPr/>
        </p:nvSpPr>
        <p:spPr>
          <a:xfrm>
            <a:off x="5430437" y="507501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254123-DDD6-35CE-4A4E-A49A70D91ED5}"/>
              </a:ext>
            </a:extLst>
          </p:cNvPr>
          <p:cNvSpPr txBox="1"/>
          <p:nvPr/>
        </p:nvSpPr>
        <p:spPr>
          <a:xfrm>
            <a:off x="5430437" y="548984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4C3884-B732-4482-DCB6-3F1B2B85FC9B}"/>
              </a:ext>
            </a:extLst>
          </p:cNvPr>
          <p:cNvSpPr txBox="1"/>
          <p:nvPr/>
        </p:nvSpPr>
        <p:spPr>
          <a:xfrm>
            <a:off x="6723123" y="4648253"/>
            <a:ext cx="17540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20 x 3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180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40E488-ABA8-E12B-7554-B9FDBDBC6845}"/>
              </a:ext>
            </a:extLst>
          </p:cNvPr>
          <p:cNvSpPr txBox="1"/>
          <p:nvPr/>
        </p:nvSpPr>
        <p:spPr>
          <a:xfrm>
            <a:off x="6723123" y="5075011"/>
            <a:ext cx="17075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20 x 4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320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FC1034-1625-5619-7497-626B0E9E4CA0}"/>
              </a:ext>
            </a:extLst>
          </p:cNvPr>
          <p:cNvSpPr txBox="1"/>
          <p:nvPr/>
        </p:nvSpPr>
        <p:spPr>
          <a:xfrm>
            <a:off x="6723122" y="5475516"/>
            <a:ext cx="17075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20 x 5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500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668AE9-A894-409C-4181-536C3ED22A2C}"/>
              </a:ext>
            </a:extLst>
          </p:cNvPr>
          <p:cNvSpPr txBox="1"/>
          <p:nvPr/>
        </p:nvSpPr>
        <p:spPr>
          <a:xfrm>
            <a:off x="4925747" y="6310409"/>
            <a:ext cx="17395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cs typeface="Times New Roman" pitchFamily="18" charset="0"/>
              </a:rPr>
              <a:t>Ans: 1000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7C9BD1-FCED-0DE0-CD74-1F5E3C48C184}"/>
              </a:ext>
            </a:extLst>
          </p:cNvPr>
          <p:cNvSpPr txBox="1"/>
          <p:nvPr/>
        </p:nvSpPr>
        <p:spPr>
          <a:xfrm>
            <a:off x="5152780" y="5873997"/>
            <a:ext cx="9044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Result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ADEA88-FCD0-FC6A-018F-EDEF40075035}"/>
              </a:ext>
            </a:extLst>
          </p:cNvPr>
          <p:cNvSpPr txBox="1"/>
          <p:nvPr/>
        </p:nvSpPr>
        <p:spPr>
          <a:xfrm>
            <a:off x="7225664" y="5873997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1000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33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8" grpId="0"/>
      <p:bldP spid="11" grpId="0"/>
      <p:bldP spid="14" grpId="0"/>
      <p:bldP spid="17" grpId="0"/>
      <p:bldP spid="31" grpId="0"/>
      <p:bldP spid="32" grpId="0"/>
      <p:bldP spid="33" grpId="0"/>
      <p:bldP spid="34" grpId="0"/>
      <p:bldP spid="35" grpId="0"/>
      <p:bldP spid="37" grpId="0"/>
      <p:bldP spid="39" grpId="0"/>
      <p:bldP spid="40" grpId="0"/>
      <p:bldP spid="43" grpId="0"/>
      <p:bldP spid="44" grpId="0"/>
      <p:bldP spid="47" grpId="0"/>
      <p:bldP spid="48" grpId="0"/>
      <p:bldP spid="49" grpId="0"/>
      <p:bldP spid="51" grpId="0"/>
      <p:bldP spid="52" grpId="0"/>
      <p:bldP spid="53" grpId="0"/>
      <p:bldP spid="55" grpId="0"/>
      <p:bldP spid="56" grpId="0"/>
      <p:bldP spid="57" grpId="0"/>
      <p:bldP spid="61" grpId="0"/>
      <p:bldP spid="62" grpId="0"/>
      <p:bldP spid="6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7B3B0-A446-6B50-C043-BFAA2D9939D1}"/>
              </a:ext>
            </a:extLst>
          </p:cNvPr>
          <p:cNvSpPr txBox="1"/>
          <p:nvPr/>
        </p:nvSpPr>
        <p:spPr>
          <a:xfrm>
            <a:off x="457200" y="1600200"/>
            <a:ext cx="73917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a sequence: {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 that denotes a Fibonacci sequence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FA88F-384C-C76E-1704-74A7524B8C33}"/>
              </a:ext>
            </a:extLst>
          </p:cNvPr>
          <p:cNvSpPr txBox="1"/>
          <p:nvPr/>
        </p:nvSpPr>
        <p:spPr>
          <a:xfrm>
            <a:off x="457199" y="2030347"/>
            <a:ext cx="41264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sequence is indexed from 0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/>
              <p:nvPr/>
            </p:nvSpPr>
            <p:spPr>
              <a:xfrm>
                <a:off x="457199" y="2461234"/>
                <a:ext cx="3776483" cy="4513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Now find: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6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+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4A2CD8-E037-CC37-775A-C1C9DEE5D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2461234"/>
                <a:ext cx="3776483" cy="451342"/>
              </a:xfrm>
              <a:prstGeom prst="rect">
                <a:avLst/>
              </a:prstGeom>
              <a:blipFill>
                <a:blip r:embed="rId2"/>
                <a:stretch>
                  <a:fillRect l="-1774" t="-116216" b="-18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BA8D9F-9C12-9F60-4299-5E4279720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049660"/>
              </p:ext>
            </p:extLst>
          </p:nvPr>
        </p:nvGraphicFramePr>
        <p:xfrm>
          <a:off x="914400" y="3043781"/>
          <a:ext cx="3733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0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3066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3B6189-B6DB-4105-367E-5B2376CA9FF1}"/>
              </a:ext>
            </a:extLst>
          </p:cNvPr>
          <p:cNvSpPr txBox="1"/>
          <p:nvPr/>
        </p:nvSpPr>
        <p:spPr>
          <a:xfrm>
            <a:off x="1274470" y="339046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076B0-71B9-E374-DFC9-CDC39079F789}"/>
              </a:ext>
            </a:extLst>
          </p:cNvPr>
          <p:cNvSpPr txBox="1"/>
          <p:nvPr/>
        </p:nvSpPr>
        <p:spPr>
          <a:xfrm>
            <a:off x="1274470" y="382135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23979-6DA9-EBAE-DCCD-A52CFFEF856A}"/>
              </a:ext>
            </a:extLst>
          </p:cNvPr>
          <p:cNvSpPr txBox="1"/>
          <p:nvPr/>
        </p:nvSpPr>
        <p:spPr>
          <a:xfrm>
            <a:off x="1274470" y="423618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ACA5FC-3AF9-B8F4-5A14-8BB93714A4C0}"/>
              </a:ext>
            </a:extLst>
          </p:cNvPr>
          <p:cNvSpPr txBox="1"/>
          <p:nvPr/>
        </p:nvSpPr>
        <p:spPr>
          <a:xfrm>
            <a:off x="2133600" y="3386027"/>
            <a:ext cx="8627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43093-665E-8216-926C-50D62F31EEE1}"/>
              </a:ext>
            </a:extLst>
          </p:cNvPr>
          <p:cNvSpPr txBox="1"/>
          <p:nvPr/>
        </p:nvSpPr>
        <p:spPr>
          <a:xfrm>
            <a:off x="2133600" y="3816914"/>
            <a:ext cx="8627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EA3DAB-C376-3C49-3AB8-66AEB7CF2432}"/>
              </a:ext>
            </a:extLst>
          </p:cNvPr>
          <p:cNvSpPr txBox="1"/>
          <p:nvPr/>
        </p:nvSpPr>
        <p:spPr>
          <a:xfrm>
            <a:off x="2133600" y="4231749"/>
            <a:ext cx="8627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89EC05-5DDE-98DC-3A79-A3EAA896B6AE}"/>
              </a:ext>
            </a:extLst>
          </p:cNvPr>
          <p:cNvSpPr txBox="1"/>
          <p:nvPr/>
        </p:nvSpPr>
        <p:spPr>
          <a:xfrm>
            <a:off x="1019419" y="4598313"/>
            <a:ext cx="9044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Result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469C49-1873-FE80-4B87-CEF2F0D87E7E}"/>
              </a:ext>
            </a:extLst>
          </p:cNvPr>
          <p:cNvSpPr txBox="1"/>
          <p:nvPr/>
        </p:nvSpPr>
        <p:spPr>
          <a:xfrm>
            <a:off x="2686691" y="4611961"/>
            <a:ext cx="10967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+ 16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490C94-C718-D915-EBDD-F55CC057AAA2}"/>
              </a:ext>
            </a:extLst>
          </p:cNvPr>
          <p:cNvSpPr txBox="1"/>
          <p:nvPr/>
        </p:nvSpPr>
        <p:spPr>
          <a:xfrm>
            <a:off x="3235079" y="3386027"/>
            <a:ext cx="10438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+ 3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012888-FD71-4CE8-E0EF-FC74F0B9AF2E}"/>
              </a:ext>
            </a:extLst>
          </p:cNvPr>
          <p:cNvSpPr txBox="1"/>
          <p:nvPr/>
        </p:nvSpPr>
        <p:spPr>
          <a:xfrm>
            <a:off x="3235079" y="3816914"/>
            <a:ext cx="10438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+ 5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07B03B-BFCF-D902-B047-D21643A1D627}"/>
              </a:ext>
            </a:extLst>
          </p:cNvPr>
          <p:cNvSpPr txBox="1"/>
          <p:nvPr/>
        </p:nvSpPr>
        <p:spPr>
          <a:xfrm>
            <a:off x="3235079" y="4231749"/>
            <a:ext cx="10438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+ 8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9CFE1C6-3E55-BF81-3DBB-FA37C1A6ADCC}"/>
                  </a:ext>
                </a:extLst>
              </p:cNvPr>
              <p:cNvSpPr txBox="1"/>
              <p:nvPr/>
            </p:nvSpPr>
            <p:spPr>
              <a:xfrm>
                <a:off x="457199" y="5128570"/>
                <a:ext cx="4500399" cy="451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cs typeface="Times New Roman" pitchFamily="18" charset="0"/>
                  </a:rPr>
                  <a:t>Now it becomes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sup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(3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+16)</m:t>
                        </m:r>
                      </m:e>
                    </m:nary>
                  </m:oMath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9CFE1C6-3E55-BF81-3DBB-FA37C1A6A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5128570"/>
                <a:ext cx="4500399" cy="451277"/>
              </a:xfrm>
              <a:prstGeom prst="rect">
                <a:avLst/>
              </a:prstGeom>
              <a:blipFill>
                <a:blip r:embed="rId3"/>
                <a:stretch>
                  <a:fillRect l="-1491" t="-118919" b="-17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99105DF-3380-5D36-AE6D-1C7B74645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614688"/>
              </p:ext>
            </p:extLst>
          </p:nvPr>
        </p:nvGraphicFramePr>
        <p:xfrm>
          <a:off x="5094304" y="3043781"/>
          <a:ext cx="3733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30669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D6B2B966-C3DB-28C9-98D8-CC212A057762}"/>
              </a:ext>
            </a:extLst>
          </p:cNvPr>
          <p:cNvSpPr txBox="1"/>
          <p:nvPr/>
        </p:nvSpPr>
        <p:spPr>
          <a:xfrm>
            <a:off x="5454374" y="339046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819E4E-910E-27D4-01BF-B85D0395A77F}"/>
              </a:ext>
            </a:extLst>
          </p:cNvPr>
          <p:cNvSpPr txBox="1"/>
          <p:nvPr/>
        </p:nvSpPr>
        <p:spPr>
          <a:xfrm>
            <a:off x="5454374" y="382135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F28C14-84EA-6960-A3D8-E7D69FB5F4EB}"/>
              </a:ext>
            </a:extLst>
          </p:cNvPr>
          <p:cNvSpPr txBox="1"/>
          <p:nvPr/>
        </p:nvSpPr>
        <p:spPr>
          <a:xfrm>
            <a:off x="5454374" y="423618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676648-7140-56CA-0CAA-E513BE928CEB}"/>
              </a:ext>
            </a:extLst>
          </p:cNvPr>
          <p:cNvSpPr txBox="1"/>
          <p:nvPr/>
        </p:nvSpPr>
        <p:spPr>
          <a:xfrm>
            <a:off x="6313504" y="3386027"/>
            <a:ext cx="10967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+ 16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337A11-D3CC-71D5-CCE0-2E2B7C3CF973}"/>
              </a:ext>
            </a:extLst>
          </p:cNvPr>
          <p:cNvSpPr txBox="1"/>
          <p:nvPr/>
        </p:nvSpPr>
        <p:spPr>
          <a:xfrm>
            <a:off x="6313504" y="3816914"/>
            <a:ext cx="10967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+ 16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6356AE-B66E-FCAA-41A4-B04604F8B3B0}"/>
              </a:ext>
            </a:extLst>
          </p:cNvPr>
          <p:cNvSpPr txBox="1"/>
          <p:nvPr/>
        </p:nvSpPr>
        <p:spPr>
          <a:xfrm>
            <a:off x="6313504" y="4231749"/>
            <a:ext cx="10967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3f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+ 16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9F5404-760E-8EB4-6C15-5C0AC3B28268}"/>
              </a:ext>
            </a:extLst>
          </p:cNvPr>
          <p:cNvSpPr txBox="1"/>
          <p:nvPr/>
        </p:nvSpPr>
        <p:spPr>
          <a:xfrm>
            <a:off x="5199323" y="4598313"/>
            <a:ext cx="9044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Result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2FBE89-3ED5-D32E-40F1-FECAB40DBC60}"/>
              </a:ext>
            </a:extLst>
          </p:cNvPr>
          <p:cNvSpPr txBox="1"/>
          <p:nvPr/>
        </p:nvSpPr>
        <p:spPr>
          <a:xfrm>
            <a:off x="7620045" y="4600888"/>
            <a:ext cx="4667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60</a:t>
            </a:r>
            <a:endParaRPr lang="en-US" sz="22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7B1EDA-9515-3498-24BB-7D69E8D1C75B}"/>
              </a:ext>
            </a:extLst>
          </p:cNvPr>
          <p:cNvSpPr txBox="1"/>
          <p:nvPr/>
        </p:nvSpPr>
        <p:spPr>
          <a:xfrm>
            <a:off x="7414983" y="3386027"/>
            <a:ext cx="7665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 19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FF3307-E50E-9831-3139-D09159C65A1D}"/>
              </a:ext>
            </a:extLst>
          </p:cNvPr>
          <p:cNvSpPr txBox="1"/>
          <p:nvPr/>
        </p:nvSpPr>
        <p:spPr>
          <a:xfrm>
            <a:off x="7414983" y="3816914"/>
            <a:ext cx="6960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19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C10E17-C88D-0F3D-82FC-E3893F42EDDB}"/>
              </a:ext>
            </a:extLst>
          </p:cNvPr>
          <p:cNvSpPr txBox="1"/>
          <p:nvPr/>
        </p:nvSpPr>
        <p:spPr>
          <a:xfrm>
            <a:off x="7414983" y="4231749"/>
            <a:ext cx="6960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22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1A8A70-D620-42F7-EC0F-B6EDC0FF8959}"/>
              </a:ext>
            </a:extLst>
          </p:cNvPr>
          <p:cNvSpPr txBox="1"/>
          <p:nvPr/>
        </p:nvSpPr>
        <p:spPr>
          <a:xfrm>
            <a:off x="4957598" y="5110703"/>
            <a:ext cx="14574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cs typeface="Times New Roman" pitchFamily="18" charset="0"/>
              </a:rPr>
              <a:t>Ans: 60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7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7" grpId="0"/>
      <p:bldP spid="5" grpId="0"/>
      <p:bldP spid="6" grpId="0"/>
      <p:bldP spid="8" grpId="0"/>
      <p:bldP spid="10" grpId="0"/>
      <p:bldP spid="13" grpId="0"/>
      <p:bldP spid="16" grpId="0"/>
      <p:bldP spid="18" grpId="0"/>
      <p:bldP spid="22" grpId="0"/>
      <p:bldP spid="24" grpId="0"/>
      <p:bldP spid="25" grpId="0"/>
      <p:bldP spid="26" grpId="0"/>
      <p:bldP spid="27" grpId="0"/>
      <p:bldP spid="30" grpId="0"/>
      <p:bldP spid="31" grpId="0"/>
      <p:bldP spid="32" grpId="0"/>
      <p:bldP spid="35" grpId="0"/>
      <p:bldP spid="42" grpId="0"/>
      <p:bldP spid="44" grpId="0"/>
      <p:bldP spid="45" grpId="0"/>
      <p:bldP spid="48" grpId="0"/>
      <p:bldP spid="50" grpId="0"/>
      <p:bldP spid="51" grpId="0"/>
      <p:bldP spid="52" grpId="0"/>
      <p:bldP spid="7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881287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SMRU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BSMRU</Template>
  <TotalTime>6008</TotalTime>
  <Words>6597</Words>
  <Application>Microsoft Office PowerPoint</Application>
  <PresentationFormat>On-screen Show (4:3)</PresentationFormat>
  <Paragraphs>1051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9" baseType="lpstr">
      <vt:lpstr>Arial</vt:lpstr>
      <vt:lpstr>Calibri</vt:lpstr>
      <vt:lpstr>Cambria</vt:lpstr>
      <vt:lpstr>Cambria Math</vt:lpstr>
      <vt:lpstr>Century Gothic</vt:lpstr>
      <vt:lpstr>Courier New</vt:lpstr>
      <vt:lpstr>Palatino Linotype</vt:lpstr>
      <vt:lpstr>Times New Roman</vt:lpstr>
      <vt:lpstr>Wingdings</vt:lpstr>
      <vt:lpstr>BSMRU</vt:lpstr>
      <vt:lpstr>hporvrs</vt:lpstr>
      <vt:lpstr>TEXT  BOOKS</vt:lpstr>
      <vt:lpstr>Basic Structures: Sets, Functions</vt:lpstr>
      <vt:lpstr>Sets</vt:lpstr>
      <vt:lpstr>INTRODUCTION </vt:lpstr>
      <vt:lpstr>NOTATIONS </vt:lpstr>
      <vt:lpstr>IMPORTANT SETS </vt:lpstr>
      <vt:lpstr>INTERVALS </vt:lpstr>
      <vt:lpstr>VENN DIAGRAM </vt:lpstr>
      <vt:lpstr>SUBSET AND SUPERSET </vt:lpstr>
      <vt:lpstr>SUBSET AND SUPERSET </vt:lpstr>
      <vt:lpstr>PROPER SUBSET</vt:lpstr>
      <vt:lpstr>SIZE OF A SET</vt:lpstr>
      <vt:lpstr>NULL SET</vt:lpstr>
      <vt:lpstr>ALL SUBSET</vt:lpstr>
      <vt:lpstr>ALL SUBSET</vt:lpstr>
      <vt:lpstr>POWER SET</vt:lpstr>
      <vt:lpstr>ORDERED TUPLE</vt:lpstr>
      <vt:lpstr>CARTESIAN PRODUCTS</vt:lpstr>
      <vt:lpstr>CARTESIAN PRODUCTS</vt:lpstr>
      <vt:lpstr>SET NOTATION WITH QUANTIFIERS</vt:lpstr>
      <vt:lpstr>TRUTH SETS</vt:lpstr>
      <vt:lpstr>SET OPERATIONS</vt:lpstr>
      <vt:lpstr>UNION</vt:lpstr>
      <vt:lpstr>INTERSECTION</vt:lpstr>
      <vt:lpstr>DIFFERENCE</vt:lpstr>
      <vt:lpstr>COMPLEMENT</vt:lpstr>
      <vt:lpstr>SET IDENTITIES</vt:lpstr>
      <vt:lpstr>SET IDENTITIES</vt:lpstr>
      <vt:lpstr>EXERCISE</vt:lpstr>
      <vt:lpstr>Functions</vt:lpstr>
      <vt:lpstr>INTRODUCTION</vt:lpstr>
      <vt:lpstr>INTRODUCTION</vt:lpstr>
      <vt:lpstr>EXAMPLE</vt:lpstr>
      <vt:lpstr>EXAMPLE</vt:lpstr>
      <vt:lpstr>EXAMPLE</vt:lpstr>
      <vt:lpstr>EXAMPLE</vt:lpstr>
      <vt:lpstr>EXAMPLE</vt:lpstr>
      <vt:lpstr>ONE-TO-ONE FUNCTION</vt:lpstr>
      <vt:lpstr>ONE-TO-ONE FUNCTION</vt:lpstr>
      <vt:lpstr>ONE-TO-ONE FUNCTION</vt:lpstr>
      <vt:lpstr>ONE-TO-ONE FUNCTION</vt:lpstr>
      <vt:lpstr>ONE-TO-ONE FUNCTION</vt:lpstr>
      <vt:lpstr>ONE-TO-ONE FUNCTION</vt:lpstr>
      <vt:lpstr>ONE-TO-ONE FUNCTION</vt:lpstr>
      <vt:lpstr>ONTO FUNCTION</vt:lpstr>
      <vt:lpstr>ONTO FUNCTION</vt:lpstr>
      <vt:lpstr>ONTO FUNCTION</vt:lpstr>
      <vt:lpstr>ONTO FUNCTION</vt:lpstr>
      <vt:lpstr>ONTO FUNCTION</vt:lpstr>
      <vt:lpstr>RELATION</vt:lpstr>
      <vt:lpstr>INVERSE FUNCTION</vt:lpstr>
      <vt:lpstr>INVERSE FUNCTION</vt:lpstr>
      <vt:lpstr>FLOOR FUNCTION</vt:lpstr>
      <vt:lpstr>CEILING FUNCTION</vt:lpstr>
      <vt:lpstr>SEQUENCE</vt:lpstr>
      <vt:lpstr>INTRODUCTION </vt:lpstr>
      <vt:lpstr>GEOMETRIC AND ARITHMETIC PROGRESSION </vt:lpstr>
      <vt:lpstr>RECURRENCE RELATIONS </vt:lpstr>
      <vt:lpstr>EXAMPLE</vt:lpstr>
      <vt:lpstr>EXAMPLE</vt:lpstr>
      <vt:lpstr>FIBONACCI SERIES</vt:lpstr>
      <vt:lpstr>FIBONACCI SERIES</vt:lpstr>
      <vt:lpstr>FIBONACCI SERIES</vt:lpstr>
      <vt:lpstr>EXAMPLE</vt:lpstr>
      <vt:lpstr>SEQUENCE</vt:lpstr>
      <vt:lpstr>INTRODUCTION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MULTIPLE  SUMMATION</vt:lpstr>
      <vt:lpstr>EXAMPLE</vt:lpstr>
      <vt:lpstr>EXAMPLE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Foundations: Logic and Proofs</dc:title>
  <dc:creator>CSE Dept</dc:creator>
  <cp:lastModifiedBy>Ehasan Mahmud</cp:lastModifiedBy>
  <cp:revision>1429</cp:revision>
  <dcterms:created xsi:type="dcterms:W3CDTF">2023-02-25T03:10:45Z</dcterms:created>
  <dcterms:modified xsi:type="dcterms:W3CDTF">2023-07-14T14:29:21Z</dcterms:modified>
</cp:coreProperties>
</file>