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6" r:id="rId1"/>
  </p:sldMasterIdLst>
  <p:notesMasterIdLst>
    <p:notesMasterId r:id="rId127"/>
  </p:notesMasterIdLst>
  <p:sldIdLst>
    <p:sldId id="277" r:id="rId2"/>
    <p:sldId id="278" r:id="rId3"/>
    <p:sldId id="276" r:id="rId4"/>
    <p:sldId id="279" r:id="rId5"/>
    <p:sldId id="280" r:id="rId6"/>
    <p:sldId id="281" r:id="rId7"/>
    <p:sldId id="282" r:id="rId8"/>
    <p:sldId id="283" r:id="rId9"/>
    <p:sldId id="284" r:id="rId10"/>
    <p:sldId id="260" r:id="rId11"/>
    <p:sldId id="261" r:id="rId12"/>
    <p:sldId id="258" r:id="rId13"/>
    <p:sldId id="263" r:id="rId14"/>
    <p:sldId id="264" r:id="rId15"/>
    <p:sldId id="265" r:id="rId16"/>
    <p:sldId id="267" r:id="rId17"/>
    <p:sldId id="266" r:id="rId18"/>
    <p:sldId id="268" r:id="rId19"/>
    <p:sldId id="269" r:id="rId20"/>
    <p:sldId id="270" r:id="rId21"/>
    <p:sldId id="271" r:id="rId22"/>
    <p:sldId id="273" r:id="rId23"/>
    <p:sldId id="274" r:id="rId24"/>
    <p:sldId id="275" r:id="rId25"/>
    <p:sldId id="285" r:id="rId26"/>
    <p:sldId id="287" r:id="rId27"/>
    <p:sldId id="286" r:id="rId28"/>
    <p:sldId id="290" r:id="rId29"/>
    <p:sldId id="291" r:id="rId30"/>
    <p:sldId id="292" r:id="rId31"/>
    <p:sldId id="293" r:id="rId32"/>
    <p:sldId id="296" r:id="rId33"/>
    <p:sldId id="288" r:id="rId34"/>
    <p:sldId id="294" r:id="rId35"/>
    <p:sldId id="295" r:id="rId36"/>
    <p:sldId id="289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8" r:id="rId45"/>
    <p:sldId id="304" r:id="rId46"/>
    <p:sldId id="305" r:id="rId47"/>
    <p:sldId id="307" r:id="rId48"/>
    <p:sldId id="306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6" r:id="rId57"/>
    <p:sldId id="317" r:id="rId58"/>
    <p:sldId id="318" r:id="rId59"/>
    <p:sldId id="319" r:id="rId60"/>
    <p:sldId id="320" r:id="rId61"/>
    <p:sldId id="322" r:id="rId62"/>
    <p:sldId id="323" r:id="rId63"/>
    <p:sldId id="324" r:id="rId64"/>
    <p:sldId id="325" r:id="rId65"/>
    <p:sldId id="327" r:id="rId66"/>
    <p:sldId id="328" r:id="rId67"/>
    <p:sldId id="331" r:id="rId68"/>
    <p:sldId id="330" r:id="rId69"/>
    <p:sldId id="332" r:id="rId70"/>
    <p:sldId id="336" r:id="rId71"/>
    <p:sldId id="337" r:id="rId72"/>
    <p:sldId id="338" r:id="rId73"/>
    <p:sldId id="333" r:id="rId74"/>
    <p:sldId id="334" r:id="rId75"/>
    <p:sldId id="329" r:id="rId76"/>
    <p:sldId id="339" r:id="rId77"/>
    <p:sldId id="340" r:id="rId78"/>
    <p:sldId id="341" r:id="rId79"/>
    <p:sldId id="342" r:id="rId80"/>
    <p:sldId id="343" r:id="rId81"/>
    <p:sldId id="344" r:id="rId82"/>
    <p:sldId id="345" r:id="rId83"/>
    <p:sldId id="346" r:id="rId84"/>
    <p:sldId id="347" r:id="rId85"/>
    <p:sldId id="351" r:id="rId86"/>
    <p:sldId id="348" r:id="rId87"/>
    <p:sldId id="349" r:id="rId88"/>
    <p:sldId id="350" r:id="rId89"/>
    <p:sldId id="352" r:id="rId90"/>
    <p:sldId id="353" r:id="rId91"/>
    <p:sldId id="354" r:id="rId92"/>
    <p:sldId id="355" r:id="rId93"/>
    <p:sldId id="356" r:id="rId94"/>
    <p:sldId id="357" r:id="rId95"/>
    <p:sldId id="358" r:id="rId96"/>
    <p:sldId id="359" r:id="rId97"/>
    <p:sldId id="360" r:id="rId98"/>
    <p:sldId id="361" r:id="rId99"/>
    <p:sldId id="362" r:id="rId100"/>
    <p:sldId id="363" r:id="rId101"/>
    <p:sldId id="364" r:id="rId102"/>
    <p:sldId id="365" r:id="rId103"/>
    <p:sldId id="366" r:id="rId104"/>
    <p:sldId id="367" r:id="rId105"/>
    <p:sldId id="368" r:id="rId106"/>
    <p:sldId id="369" r:id="rId107"/>
    <p:sldId id="370" r:id="rId108"/>
    <p:sldId id="371" r:id="rId109"/>
    <p:sldId id="372" r:id="rId110"/>
    <p:sldId id="373" r:id="rId111"/>
    <p:sldId id="374" r:id="rId112"/>
    <p:sldId id="375" r:id="rId113"/>
    <p:sldId id="376" r:id="rId114"/>
    <p:sldId id="377" r:id="rId115"/>
    <p:sldId id="378" r:id="rId116"/>
    <p:sldId id="379" r:id="rId117"/>
    <p:sldId id="380" r:id="rId118"/>
    <p:sldId id="381" r:id="rId119"/>
    <p:sldId id="383" r:id="rId120"/>
    <p:sldId id="382" r:id="rId121"/>
    <p:sldId id="384" r:id="rId122"/>
    <p:sldId id="385" r:id="rId123"/>
    <p:sldId id="386" r:id="rId124"/>
    <p:sldId id="387" r:id="rId125"/>
    <p:sldId id="259" r:id="rId1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774" autoAdjust="0"/>
    <p:restoredTop sz="95256" autoAdjust="0"/>
  </p:normalViewPr>
  <p:slideViewPr>
    <p:cSldViewPr>
      <p:cViewPr varScale="1">
        <p:scale>
          <a:sx n="90" d="100"/>
          <a:sy n="90" d="100"/>
        </p:scale>
        <p:origin x="1302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6A8A6-D823-4184-925C-8478B55CF8C3}" type="datetimeFigureOut">
              <a:rPr lang="en-US" smtClean="0"/>
              <a:t>01-Apr-23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9D753B-3003-4B6B-BCD1-50DEBCA3C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721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2199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5644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931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06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8174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0651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4261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0026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3210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2303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9983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9635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8258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2873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3821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827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5071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4902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2332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8763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8953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4826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4366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3590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9364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4012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3757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3164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4356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9479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8403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5485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3031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9861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95550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52891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80005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03408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07296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63902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47260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73597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83345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22333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6806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15492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95172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07823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221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04144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58065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9285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10658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01362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32983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66323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94873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3907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44671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D753B-3003-4B6B-BCD1-50DEBCA3C578}" type="slidenum">
              <a:rPr lang="en-US" smtClean="0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29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1986" y="304800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6000" baseline="0"/>
            </a:lvl1pPr>
          </a:lstStyle>
          <a:p>
            <a:r>
              <a:rPr lang="en-US" dirty="0"/>
              <a:t>PROPOSITIONAL LOGIC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1380" y="1295400"/>
            <a:ext cx="1453612" cy="1371600"/>
          </a:xfrm>
          <a:prstGeom prst="rect">
            <a:avLst/>
          </a:prstGeom>
        </p:spPr>
      </p:pic>
      <p:grpSp>
        <p:nvGrpSpPr>
          <p:cNvPr id="14" name="Group 13"/>
          <p:cNvGrpSpPr/>
          <p:nvPr userDrawn="1"/>
        </p:nvGrpSpPr>
        <p:grpSpPr>
          <a:xfrm>
            <a:off x="2882979" y="4859967"/>
            <a:ext cx="3310414" cy="640377"/>
            <a:chOff x="637612" y="4895910"/>
            <a:chExt cx="3310414" cy="640377"/>
          </a:xfrm>
        </p:grpSpPr>
        <p:sp>
          <p:nvSpPr>
            <p:cNvPr id="6" name="TextBox 5"/>
            <p:cNvSpPr txBox="1"/>
            <p:nvPr userDrawn="1"/>
          </p:nvSpPr>
          <p:spPr>
            <a:xfrm>
              <a:off x="1635203" y="4895910"/>
              <a:ext cx="13152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ctr"/>
              <a:r>
                <a:rPr lang="en-US" sz="1800" i="1" u="none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Prepared by</a:t>
              </a:r>
            </a:p>
          </p:txBody>
        </p:sp>
        <p:sp>
          <p:nvSpPr>
            <p:cNvPr id="13" name="TextBox 12"/>
            <p:cNvSpPr txBox="1"/>
            <p:nvPr userDrawn="1"/>
          </p:nvSpPr>
          <p:spPr>
            <a:xfrm>
              <a:off x="637612" y="5105400"/>
              <a:ext cx="331041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US" sz="2200" i="1" u="sng" dirty="0" err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Swapnil</a:t>
              </a:r>
              <a:r>
                <a:rPr lang="en-US" sz="2200" i="1" u="sng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200" i="1" u="sng" dirty="0" err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Biswas</a:t>
              </a:r>
              <a:endParaRPr lang="en-US" sz="2200" i="1" u="sng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93087"/>
            <a:ext cx="1143000" cy="1078513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-457200"/>
            <a:ext cx="8229600" cy="1600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57200" y="1447800"/>
            <a:ext cx="8229600" cy="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hank you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THANK 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ANY  QUESTIONS?</a:t>
            </a:r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1380" y="1752600"/>
            <a:ext cx="1453612" cy="1371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A98F-560C-4997-81C4-81D4D9187EAB}" type="datetime2">
              <a:rPr lang="en-US" smtClean="0"/>
              <a:t>Saturday, 1 April,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972B2-CA5C-437D-87D0-8081271A9E4B}" type="datetime2">
              <a:rPr lang="en-US" smtClean="0"/>
              <a:t>Saturday, 1 April, 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D4847-11EF-4466-A8AD-85CDB7B49118}" type="datetime2">
              <a:rPr lang="en-US" smtClean="0"/>
              <a:t>Saturday, 1 April, 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457A-3AB9-4880-8A0C-9F8524491207}" type="datetime2">
              <a:rPr lang="en-US" smtClean="0"/>
              <a:t>Saturday, 1 April, 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76D3-5B7F-4300-ABED-C91F1B2AE209}" type="datetime2">
              <a:rPr lang="en-US" smtClean="0"/>
              <a:t>Saturday, 1 April,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C1E59-17DD-41CE-97CA-624A472382D4}" type="datetime2">
              <a:rPr lang="en-US" smtClean="0"/>
              <a:t>Saturday, 1 April,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57FC-95B6-4D89-AFDA-ABA33EE921E5}" type="datetime2">
              <a:rPr lang="en-US" smtClean="0"/>
              <a:t>Saturday, 1 April,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49AC-EB31-477F-92A9-B1988E232878}" type="datetime2">
              <a:rPr lang="en-US" smtClean="0"/>
              <a:t>Saturday, 1 April,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7200" y="6438662"/>
            <a:ext cx="228600" cy="2062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8385846" y="6438734"/>
            <a:ext cx="228600" cy="2062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A80CB818-7379-467D-8E76-EF9D9074A26C}" type="datetime2">
              <a:rPr lang="en-US" smtClean="0"/>
              <a:t>Saturday, 1 April, 2023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0CFEC368-1D7A-4F81-ABF6-AE0E36BAF64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77" r:id="rId1"/>
    <p:sldLayoutId id="2147484178" r:id="rId2"/>
    <p:sldLayoutId id="2147484179" r:id="rId3"/>
    <p:sldLayoutId id="2147484180" r:id="rId4"/>
    <p:sldLayoutId id="2147484181" r:id="rId5"/>
    <p:sldLayoutId id="2147484182" r:id="rId6"/>
    <p:sldLayoutId id="2147484183" r:id="rId7"/>
    <p:sldLayoutId id="2147484184" r:id="rId8"/>
    <p:sldLayoutId id="2147484185" r:id="rId9"/>
    <p:sldLayoutId id="2147484186" r:id="rId10"/>
    <p:sldLayoutId id="2147484187" r:id="rId11"/>
  </p:sldLayoutIdLst>
  <p:hf sldNum="0" hdr="0" ftr="0" dt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b="0" i="0" dirty="0" err="1">
                <a:solidFill>
                  <a:srgbClr val="B8067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hporvrs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CLASSROOM CODE</a:t>
            </a:r>
          </a:p>
        </p:txBody>
      </p:sp>
    </p:spTree>
    <p:extLst>
      <p:ext uri="{BB962C8B-B14F-4D97-AF65-F5344CB8AC3E}">
        <p14:creationId xmlns:p14="http://schemas.microsoft.com/office/powerpoint/2010/main" val="1090700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F837F7-64CD-90A8-B99D-C970DE650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 BOOKS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7FC25D-4EC6-6900-4712-FF4CE19244A1}"/>
              </a:ext>
            </a:extLst>
          </p:cNvPr>
          <p:cNvSpPr txBox="1"/>
          <p:nvPr/>
        </p:nvSpPr>
        <p:spPr>
          <a:xfrm>
            <a:off x="457201" y="1676400"/>
            <a:ext cx="8229599" cy="7694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Mathematics and its Applications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7th Edition by K. Rosen, McGraw Hill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C3A3BF-0F72-E11D-88C9-267DF2298BCB}"/>
              </a:ext>
            </a:extLst>
          </p:cNvPr>
          <p:cNvSpPr txBox="1"/>
          <p:nvPr/>
        </p:nvSpPr>
        <p:spPr>
          <a:xfrm>
            <a:off x="457201" y="2638063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Mathematics with Applications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5th Edition by Susanna S. Epp Gagne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AECA35-8551-CE88-5EF4-949E6A1B5D92}"/>
              </a:ext>
            </a:extLst>
          </p:cNvPr>
          <p:cNvSpPr txBox="1"/>
          <p:nvPr/>
        </p:nvSpPr>
        <p:spPr>
          <a:xfrm>
            <a:off x="457200" y="3623452"/>
            <a:ext cx="65314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Mathematics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Schaum's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outlines, 4th edition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390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Foundations: Logic and Proofs</a:t>
            </a:r>
          </a:p>
        </p:txBody>
      </p:sp>
    </p:spTree>
    <p:extLst>
      <p:ext uri="{BB962C8B-B14F-4D97-AF65-F5344CB8AC3E}">
        <p14:creationId xmlns:p14="http://schemas.microsoft.com/office/powerpoint/2010/main" val="290445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BASIC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76400"/>
            <a:ext cx="68659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computer every data is stored as binary representation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30985"/>
            <a:ext cx="537999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Starting from a number to English sentence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585570"/>
            <a:ext cx="520046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Convert (23)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in to Binary representation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6975ED51-8881-FEBE-9726-A9272872EC92}"/>
              </a:ext>
            </a:extLst>
          </p:cNvPr>
          <p:cNvCxnSpPr>
            <a:cxnSpLocks/>
          </p:cNvCxnSpPr>
          <p:nvPr/>
        </p:nvCxnSpPr>
        <p:spPr>
          <a:xfrm>
            <a:off x="1905000" y="3420111"/>
            <a:ext cx="1828800" cy="457200"/>
          </a:xfrm>
          <a:prstGeom prst="bentConnector3">
            <a:avLst>
              <a:gd name="adj1" fmla="val 26531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4FD688E-2CAF-84C4-D238-77AAD40C3899}"/>
              </a:ext>
            </a:extLst>
          </p:cNvPr>
          <p:cNvSpPr txBox="1"/>
          <p:nvPr/>
        </p:nvSpPr>
        <p:spPr>
          <a:xfrm>
            <a:off x="2438400" y="3429000"/>
            <a:ext cx="4667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DF1F89D-15B7-7E22-A69D-4323E759B9DB}"/>
              </a:ext>
            </a:extLst>
          </p:cNvPr>
          <p:cNvSpPr txBox="1"/>
          <p:nvPr/>
        </p:nvSpPr>
        <p:spPr>
          <a:xfrm>
            <a:off x="2008835" y="3433693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F98C0DA5-D580-270C-A608-22146451B9FB}"/>
              </a:ext>
            </a:extLst>
          </p:cNvPr>
          <p:cNvCxnSpPr>
            <a:cxnSpLocks/>
          </p:cNvCxnSpPr>
          <p:nvPr/>
        </p:nvCxnSpPr>
        <p:spPr>
          <a:xfrm>
            <a:off x="1905000" y="3877311"/>
            <a:ext cx="1828800" cy="457200"/>
          </a:xfrm>
          <a:prstGeom prst="bentConnector3">
            <a:avLst>
              <a:gd name="adj1" fmla="val 26531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23E9392-7537-DDE8-EB98-A944C2A2C7D4}"/>
              </a:ext>
            </a:extLst>
          </p:cNvPr>
          <p:cNvSpPr txBox="1"/>
          <p:nvPr/>
        </p:nvSpPr>
        <p:spPr>
          <a:xfrm>
            <a:off x="2438400" y="3875314"/>
            <a:ext cx="45634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488F36-5EC3-9951-07E7-1285FCD59BB1}"/>
              </a:ext>
            </a:extLst>
          </p:cNvPr>
          <p:cNvSpPr txBox="1"/>
          <p:nvPr/>
        </p:nvSpPr>
        <p:spPr>
          <a:xfrm>
            <a:off x="3265278" y="3875313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2E6F72-43DD-87F5-2F65-31D33EC50E0A}"/>
              </a:ext>
            </a:extLst>
          </p:cNvPr>
          <p:cNvSpPr txBox="1"/>
          <p:nvPr/>
        </p:nvSpPr>
        <p:spPr>
          <a:xfrm>
            <a:off x="2008835" y="3890893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DB6E36EA-C74E-31DF-B7AB-BE240FFD7CF2}"/>
              </a:ext>
            </a:extLst>
          </p:cNvPr>
          <p:cNvCxnSpPr>
            <a:cxnSpLocks/>
          </p:cNvCxnSpPr>
          <p:nvPr/>
        </p:nvCxnSpPr>
        <p:spPr>
          <a:xfrm>
            <a:off x="1905000" y="4336356"/>
            <a:ext cx="1828800" cy="457200"/>
          </a:xfrm>
          <a:prstGeom prst="bentConnector3">
            <a:avLst>
              <a:gd name="adj1" fmla="val 26531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1F6ACD7-29DF-5D4F-2DE6-A8DF3E206CA7}"/>
              </a:ext>
            </a:extLst>
          </p:cNvPr>
          <p:cNvSpPr txBox="1"/>
          <p:nvPr/>
        </p:nvSpPr>
        <p:spPr>
          <a:xfrm>
            <a:off x="2438400" y="4316430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EF9B9B-FDAA-D7A4-119D-1AC9350572A2}"/>
              </a:ext>
            </a:extLst>
          </p:cNvPr>
          <p:cNvSpPr txBox="1"/>
          <p:nvPr/>
        </p:nvSpPr>
        <p:spPr>
          <a:xfrm>
            <a:off x="3265278" y="4316429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D5C513A-6432-68BF-DB51-7839549C3EF0}"/>
              </a:ext>
            </a:extLst>
          </p:cNvPr>
          <p:cNvSpPr txBox="1"/>
          <p:nvPr/>
        </p:nvSpPr>
        <p:spPr>
          <a:xfrm>
            <a:off x="2008835" y="4332009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2EEC064E-CBD2-1799-D453-ECA0C5FA3FE5}"/>
              </a:ext>
            </a:extLst>
          </p:cNvPr>
          <p:cNvCxnSpPr>
            <a:cxnSpLocks/>
          </p:cNvCxnSpPr>
          <p:nvPr/>
        </p:nvCxnSpPr>
        <p:spPr>
          <a:xfrm>
            <a:off x="1905000" y="4792733"/>
            <a:ext cx="1828800" cy="457200"/>
          </a:xfrm>
          <a:prstGeom prst="bentConnector3">
            <a:avLst>
              <a:gd name="adj1" fmla="val 26531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663C457-0CD9-87C2-8843-1B965E7F28F5}"/>
              </a:ext>
            </a:extLst>
          </p:cNvPr>
          <p:cNvSpPr txBox="1"/>
          <p:nvPr/>
        </p:nvSpPr>
        <p:spPr>
          <a:xfrm>
            <a:off x="2442149" y="4775309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3471BC6-CD7C-7CC2-D84F-112C6C3BEBDB}"/>
              </a:ext>
            </a:extLst>
          </p:cNvPr>
          <p:cNvSpPr txBox="1"/>
          <p:nvPr/>
        </p:nvSpPr>
        <p:spPr>
          <a:xfrm>
            <a:off x="3269027" y="4775308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06FBBD4-91FE-4363-287F-71E80FA5B61C}"/>
              </a:ext>
            </a:extLst>
          </p:cNvPr>
          <p:cNvSpPr txBox="1"/>
          <p:nvPr/>
        </p:nvSpPr>
        <p:spPr>
          <a:xfrm>
            <a:off x="2012584" y="4790888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26D9BFF9-EDF1-8EFA-3BC0-291C8901F639}"/>
              </a:ext>
            </a:extLst>
          </p:cNvPr>
          <p:cNvCxnSpPr>
            <a:cxnSpLocks/>
          </p:cNvCxnSpPr>
          <p:nvPr/>
        </p:nvCxnSpPr>
        <p:spPr>
          <a:xfrm>
            <a:off x="1905000" y="5249110"/>
            <a:ext cx="1828800" cy="457200"/>
          </a:xfrm>
          <a:prstGeom prst="bentConnector3">
            <a:avLst>
              <a:gd name="adj1" fmla="val 26531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D2690E7-120A-89C1-9683-E4154FF45EBD}"/>
              </a:ext>
            </a:extLst>
          </p:cNvPr>
          <p:cNvSpPr txBox="1"/>
          <p:nvPr/>
        </p:nvSpPr>
        <p:spPr>
          <a:xfrm>
            <a:off x="2434693" y="5234507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699EE1-54BA-A4DD-3FAD-3423C0789CF4}"/>
              </a:ext>
            </a:extLst>
          </p:cNvPr>
          <p:cNvSpPr txBox="1"/>
          <p:nvPr/>
        </p:nvSpPr>
        <p:spPr>
          <a:xfrm>
            <a:off x="3261571" y="5234506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FF58474-2411-892E-CBBD-903B87428C12}"/>
              </a:ext>
            </a:extLst>
          </p:cNvPr>
          <p:cNvSpPr txBox="1"/>
          <p:nvPr/>
        </p:nvSpPr>
        <p:spPr>
          <a:xfrm>
            <a:off x="2005128" y="5250086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22DC7DA-C41E-0061-EF3A-AEF40D67568C}"/>
              </a:ext>
            </a:extLst>
          </p:cNvPr>
          <p:cNvSpPr txBox="1"/>
          <p:nvPr/>
        </p:nvSpPr>
        <p:spPr>
          <a:xfrm>
            <a:off x="2426917" y="5710137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54F168A-1212-FAAC-5E36-DE6DAA019687}"/>
              </a:ext>
            </a:extLst>
          </p:cNvPr>
          <p:cNvSpPr txBox="1"/>
          <p:nvPr/>
        </p:nvSpPr>
        <p:spPr>
          <a:xfrm>
            <a:off x="3253795" y="5710136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63F23CA-BB1C-12D1-CD23-9000F0393332}"/>
              </a:ext>
            </a:extLst>
          </p:cNvPr>
          <p:cNvCxnSpPr/>
          <p:nvPr/>
        </p:nvCxnSpPr>
        <p:spPr>
          <a:xfrm flipV="1">
            <a:off x="4114800" y="3587276"/>
            <a:ext cx="0" cy="2407223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6DA879FE-F647-96D3-4CD5-E8A94E06096E}"/>
              </a:ext>
            </a:extLst>
          </p:cNvPr>
          <p:cNvSpPr txBox="1"/>
          <p:nvPr/>
        </p:nvSpPr>
        <p:spPr>
          <a:xfrm>
            <a:off x="4343400" y="4524005"/>
            <a:ext cx="20440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Binary is: 10111</a:t>
            </a:r>
          </a:p>
        </p:txBody>
      </p:sp>
    </p:spTree>
    <p:extLst>
      <p:ext uri="{BB962C8B-B14F-4D97-AF65-F5344CB8AC3E}">
        <p14:creationId xmlns:p14="http://schemas.microsoft.com/office/powerpoint/2010/main" val="3353060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31" grpId="0"/>
      <p:bldP spid="32" grpId="0"/>
      <p:bldP spid="34" grpId="0"/>
      <p:bldP spid="35" grpId="0"/>
      <p:bldP spid="36" grpId="0"/>
      <p:bldP spid="38" grpId="0"/>
      <p:bldP spid="39" grpId="0"/>
      <p:bldP spid="40" grpId="0"/>
      <p:bldP spid="42" grpId="0"/>
      <p:bldP spid="43" grpId="0"/>
      <p:bldP spid="44" grpId="0"/>
      <p:bldP spid="46" grpId="0"/>
      <p:bldP spid="47" grpId="0"/>
      <p:bldP spid="48" grpId="0"/>
      <p:bldP spid="49" grpId="0"/>
      <p:bldP spid="50" grpId="0"/>
      <p:bldP spid="5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BASIC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76400"/>
            <a:ext cx="520046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Convert (23)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in to Binary representation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B3234E-E725-4645-B652-048097869243}"/>
              </a:ext>
            </a:extLst>
          </p:cNvPr>
          <p:cNvSpPr txBox="1"/>
          <p:nvPr/>
        </p:nvSpPr>
        <p:spPr>
          <a:xfrm>
            <a:off x="6795422" y="2073781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51ECFF-246D-769A-C62C-BDEFD37EB683}"/>
              </a:ext>
            </a:extLst>
          </p:cNvPr>
          <p:cNvSpPr txBox="1"/>
          <p:nvPr/>
        </p:nvSpPr>
        <p:spPr>
          <a:xfrm>
            <a:off x="6090418" y="2073781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B94630-3F0E-B3BC-5D0A-296DCEF8853A}"/>
              </a:ext>
            </a:extLst>
          </p:cNvPr>
          <p:cNvSpPr txBox="1"/>
          <p:nvPr/>
        </p:nvSpPr>
        <p:spPr>
          <a:xfrm>
            <a:off x="5371418" y="2073781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7F0032-E61F-2F06-7CE8-6BFC142F8237}"/>
              </a:ext>
            </a:extLst>
          </p:cNvPr>
          <p:cNvSpPr txBox="1"/>
          <p:nvPr/>
        </p:nvSpPr>
        <p:spPr>
          <a:xfrm>
            <a:off x="4666414" y="2073781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8DB827-8069-2CAE-A92D-054AF6FECDFE}"/>
              </a:ext>
            </a:extLst>
          </p:cNvPr>
          <p:cNvSpPr txBox="1"/>
          <p:nvPr/>
        </p:nvSpPr>
        <p:spPr>
          <a:xfrm>
            <a:off x="3799621" y="2073781"/>
            <a:ext cx="4667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4DF200-BB67-1C68-4457-2EF88FD8E585}"/>
              </a:ext>
            </a:extLst>
          </p:cNvPr>
          <p:cNvSpPr txBox="1"/>
          <p:nvPr/>
        </p:nvSpPr>
        <p:spPr>
          <a:xfrm>
            <a:off x="3094617" y="2073781"/>
            <a:ext cx="4667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32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BD5165-4142-A6C5-D697-A27E46E3655A}"/>
              </a:ext>
            </a:extLst>
          </p:cNvPr>
          <p:cNvSpPr/>
          <p:nvPr/>
        </p:nvSpPr>
        <p:spPr>
          <a:xfrm>
            <a:off x="2942217" y="2073781"/>
            <a:ext cx="771200" cy="4308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rgbClr val="0070C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2990DD-F3DB-7C50-6419-3E2704313ACF}"/>
              </a:ext>
            </a:extLst>
          </p:cNvPr>
          <p:cNvSpPr txBox="1"/>
          <p:nvPr/>
        </p:nvSpPr>
        <p:spPr>
          <a:xfrm>
            <a:off x="3870153" y="2504668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B3CE7E-B070-F803-E17D-0D6861AF1182}"/>
              </a:ext>
            </a:extLst>
          </p:cNvPr>
          <p:cNvSpPr txBox="1"/>
          <p:nvPr/>
        </p:nvSpPr>
        <p:spPr>
          <a:xfrm>
            <a:off x="4666414" y="2504664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892914-73F5-1B80-3D8B-3388C4C5D5E2}"/>
              </a:ext>
            </a:extLst>
          </p:cNvPr>
          <p:cNvSpPr txBox="1"/>
          <p:nvPr/>
        </p:nvSpPr>
        <p:spPr>
          <a:xfrm>
            <a:off x="4670637" y="2504663"/>
            <a:ext cx="325730" cy="43088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82FAAF-95F4-897E-C0A9-637C193F2E08}"/>
              </a:ext>
            </a:extLst>
          </p:cNvPr>
          <p:cNvSpPr txBox="1"/>
          <p:nvPr/>
        </p:nvSpPr>
        <p:spPr>
          <a:xfrm>
            <a:off x="5375641" y="2504662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DBA446-93E2-CAF1-6572-B0BC5C1A2C5A}"/>
              </a:ext>
            </a:extLst>
          </p:cNvPr>
          <p:cNvSpPr txBox="1"/>
          <p:nvPr/>
        </p:nvSpPr>
        <p:spPr>
          <a:xfrm>
            <a:off x="6127740" y="2504661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2D9D30-2B9E-E34B-8B44-0AB052B6BCEB}"/>
              </a:ext>
            </a:extLst>
          </p:cNvPr>
          <p:cNvSpPr txBox="1"/>
          <p:nvPr/>
        </p:nvSpPr>
        <p:spPr>
          <a:xfrm>
            <a:off x="6795422" y="2504661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6B1C95-154A-EA06-4544-9AD70D89C91C}"/>
              </a:ext>
            </a:extLst>
          </p:cNvPr>
          <p:cNvSpPr txBox="1"/>
          <p:nvPr/>
        </p:nvSpPr>
        <p:spPr>
          <a:xfrm>
            <a:off x="467827" y="3091240"/>
            <a:ext cx="520046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Convert (38)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in to Binary representation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492C9D-D2C0-E3FB-2FA2-69655D33166F}"/>
              </a:ext>
            </a:extLst>
          </p:cNvPr>
          <p:cNvSpPr txBox="1"/>
          <p:nvPr/>
        </p:nvSpPr>
        <p:spPr>
          <a:xfrm>
            <a:off x="6806049" y="3539712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5701FD-59BA-51D3-D570-62A025105B36}"/>
              </a:ext>
            </a:extLst>
          </p:cNvPr>
          <p:cNvSpPr txBox="1"/>
          <p:nvPr/>
        </p:nvSpPr>
        <p:spPr>
          <a:xfrm>
            <a:off x="6101045" y="3539712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8042EA-0D34-0573-41A9-094FBF22EAA9}"/>
              </a:ext>
            </a:extLst>
          </p:cNvPr>
          <p:cNvSpPr txBox="1"/>
          <p:nvPr/>
        </p:nvSpPr>
        <p:spPr>
          <a:xfrm>
            <a:off x="5382045" y="3539712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02B6FDA-7406-33BB-B138-C7202B6A8371}"/>
              </a:ext>
            </a:extLst>
          </p:cNvPr>
          <p:cNvSpPr txBox="1"/>
          <p:nvPr/>
        </p:nvSpPr>
        <p:spPr>
          <a:xfrm>
            <a:off x="4677041" y="3539712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E91284-9FC5-D42B-4816-FC5E6B1B70FD}"/>
              </a:ext>
            </a:extLst>
          </p:cNvPr>
          <p:cNvSpPr txBox="1"/>
          <p:nvPr/>
        </p:nvSpPr>
        <p:spPr>
          <a:xfrm>
            <a:off x="3810248" y="3539712"/>
            <a:ext cx="4667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5CD2AF-D07C-1D78-D854-3BCC651E54FA}"/>
              </a:ext>
            </a:extLst>
          </p:cNvPr>
          <p:cNvSpPr txBox="1"/>
          <p:nvPr/>
        </p:nvSpPr>
        <p:spPr>
          <a:xfrm>
            <a:off x="3105244" y="3539712"/>
            <a:ext cx="4667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32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FC3F291-E30E-5C18-4A74-CB7AA23B363F}"/>
              </a:ext>
            </a:extLst>
          </p:cNvPr>
          <p:cNvSpPr txBox="1"/>
          <p:nvPr/>
        </p:nvSpPr>
        <p:spPr>
          <a:xfrm>
            <a:off x="3156378" y="3943204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7E07732-D722-609B-442C-E08854E5E3C2}"/>
              </a:ext>
            </a:extLst>
          </p:cNvPr>
          <p:cNvSpPr txBox="1"/>
          <p:nvPr/>
        </p:nvSpPr>
        <p:spPr>
          <a:xfrm>
            <a:off x="3952639" y="3943200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E422586-2282-3A79-A169-B120AF1C4BE2}"/>
              </a:ext>
            </a:extLst>
          </p:cNvPr>
          <p:cNvSpPr txBox="1"/>
          <p:nvPr/>
        </p:nvSpPr>
        <p:spPr>
          <a:xfrm>
            <a:off x="4661866" y="3943198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93E95DA-8E2A-E419-1DFA-3B1F76406B8E}"/>
              </a:ext>
            </a:extLst>
          </p:cNvPr>
          <p:cNvSpPr txBox="1"/>
          <p:nvPr/>
        </p:nvSpPr>
        <p:spPr>
          <a:xfrm>
            <a:off x="5413965" y="3943197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6DF0AFF-BF85-DB7B-5266-62893F94656C}"/>
              </a:ext>
            </a:extLst>
          </p:cNvPr>
          <p:cNvSpPr txBox="1"/>
          <p:nvPr/>
        </p:nvSpPr>
        <p:spPr>
          <a:xfrm>
            <a:off x="6081647" y="3943197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EABB5AE-B738-CCB6-05EF-742F0F6B33D6}"/>
              </a:ext>
            </a:extLst>
          </p:cNvPr>
          <p:cNvSpPr txBox="1"/>
          <p:nvPr/>
        </p:nvSpPr>
        <p:spPr>
          <a:xfrm>
            <a:off x="6800647" y="3943197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97F7C8A-F573-E9D2-646E-8692429715BA}"/>
              </a:ext>
            </a:extLst>
          </p:cNvPr>
          <p:cNvSpPr txBox="1"/>
          <p:nvPr/>
        </p:nvSpPr>
        <p:spPr>
          <a:xfrm>
            <a:off x="467827" y="4506080"/>
            <a:ext cx="584724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Convert (110010)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in to Decimal representation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3CE6E46-6297-06A2-EA66-4866F8DACD36}"/>
              </a:ext>
            </a:extLst>
          </p:cNvPr>
          <p:cNvSpPr txBox="1"/>
          <p:nvPr/>
        </p:nvSpPr>
        <p:spPr>
          <a:xfrm>
            <a:off x="6806049" y="5000058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BD8D500-0826-78C5-8CE7-5A5E6CC97638}"/>
              </a:ext>
            </a:extLst>
          </p:cNvPr>
          <p:cNvSpPr txBox="1"/>
          <p:nvPr/>
        </p:nvSpPr>
        <p:spPr>
          <a:xfrm>
            <a:off x="6101045" y="5000058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0BA936F-B47F-94F0-ACD7-EE790D5B0EDE}"/>
              </a:ext>
            </a:extLst>
          </p:cNvPr>
          <p:cNvSpPr txBox="1"/>
          <p:nvPr/>
        </p:nvSpPr>
        <p:spPr>
          <a:xfrm>
            <a:off x="5382045" y="5000058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6199F1D-C26E-8FD1-A3F0-44B6FE729387}"/>
              </a:ext>
            </a:extLst>
          </p:cNvPr>
          <p:cNvSpPr txBox="1"/>
          <p:nvPr/>
        </p:nvSpPr>
        <p:spPr>
          <a:xfrm>
            <a:off x="4677041" y="5000058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FBC49F7-722F-9678-9B4E-808DE6B5667B}"/>
              </a:ext>
            </a:extLst>
          </p:cNvPr>
          <p:cNvSpPr txBox="1"/>
          <p:nvPr/>
        </p:nvSpPr>
        <p:spPr>
          <a:xfrm>
            <a:off x="3810248" y="5000058"/>
            <a:ext cx="4667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818BD2E-7CFC-3A19-86E9-59209C4CB370}"/>
              </a:ext>
            </a:extLst>
          </p:cNvPr>
          <p:cNvSpPr txBox="1"/>
          <p:nvPr/>
        </p:nvSpPr>
        <p:spPr>
          <a:xfrm>
            <a:off x="3105244" y="5000058"/>
            <a:ext cx="4667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32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E416C82-5D3C-EEE6-8EEC-60BC645BB2D2}"/>
              </a:ext>
            </a:extLst>
          </p:cNvPr>
          <p:cNvSpPr txBox="1"/>
          <p:nvPr/>
        </p:nvSpPr>
        <p:spPr>
          <a:xfrm>
            <a:off x="3156378" y="5403550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1275BA3-F319-6FB4-9640-A602D203DAC5}"/>
              </a:ext>
            </a:extLst>
          </p:cNvPr>
          <p:cNvSpPr txBox="1"/>
          <p:nvPr/>
        </p:nvSpPr>
        <p:spPr>
          <a:xfrm>
            <a:off x="3952639" y="5403546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F3F6A04-03A2-90CE-975B-C62BCA881E79}"/>
              </a:ext>
            </a:extLst>
          </p:cNvPr>
          <p:cNvSpPr txBox="1"/>
          <p:nvPr/>
        </p:nvSpPr>
        <p:spPr>
          <a:xfrm>
            <a:off x="4661866" y="5403544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3BB7BBE-3FD0-7AC9-7F29-58855C709A7B}"/>
              </a:ext>
            </a:extLst>
          </p:cNvPr>
          <p:cNvSpPr txBox="1"/>
          <p:nvPr/>
        </p:nvSpPr>
        <p:spPr>
          <a:xfrm>
            <a:off x="5413965" y="5403543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B03888-90E9-3367-533C-684B4713FBB2}"/>
              </a:ext>
            </a:extLst>
          </p:cNvPr>
          <p:cNvSpPr txBox="1"/>
          <p:nvPr/>
        </p:nvSpPr>
        <p:spPr>
          <a:xfrm>
            <a:off x="6081647" y="5403543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7D9D187-517E-149F-46F3-C111949377A8}"/>
              </a:ext>
            </a:extLst>
          </p:cNvPr>
          <p:cNvSpPr txBox="1"/>
          <p:nvPr/>
        </p:nvSpPr>
        <p:spPr>
          <a:xfrm>
            <a:off x="6800647" y="5403543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DE1825E-AAA2-BB63-3DC0-9ADCB481251E}"/>
              </a:ext>
            </a:extLst>
          </p:cNvPr>
          <p:cNvSpPr txBox="1"/>
          <p:nvPr/>
        </p:nvSpPr>
        <p:spPr>
          <a:xfrm>
            <a:off x="3160182" y="5993830"/>
            <a:ext cx="207140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32 + 16 + 2 = 50</a:t>
            </a:r>
          </a:p>
        </p:txBody>
      </p:sp>
    </p:spTree>
    <p:extLst>
      <p:ext uri="{BB962C8B-B14F-4D97-AF65-F5344CB8AC3E}">
        <p14:creationId xmlns:p14="http://schemas.microsoft.com/office/powerpoint/2010/main" val="2477443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  <p:bldP spid="5" grpId="0"/>
      <p:bldP spid="8" grpId="0"/>
      <p:bldP spid="9" grpId="0"/>
      <p:bldP spid="10" grpId="0"/>
      <p:bldP spid="11" grpId="0"/>
      <p:bldP spid="12" grpId="0" animBg="1"/>
      <p:bldP spid="13" grpId="0"/>
      <p:bldP spid="14" grpId="0"/>
      <p:bldP spid="18" grpId="0" animBg="1"/>
      <p:bldP spid="19" grpId="0"/>
      <p:bldP spid="20" grpId="0"/>
      <p:bldP spid="21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51" grpId="0"/>
      <p:bldP spid="54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BASIC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76400"/>
            <a:ext cx="704000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Find the minimum and maximum numbers of 3 bit binary.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B3234E-E725-4645-B652-048097869243}"/>
              </a:ext>
            </a:extLst>
          </p:cNvPr>
          <p:cNvSpPr txBox="1"/>
          <p:nvPr/>
        </p:nvSpPr>
        <p:spPr>
          <a:xfrm>
            <a:off x="5029200" y="2209800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51ECFF-246D-769A-C62C-BDEFD37EB683}"/>
              </a:ext>
            </a:extLst>
          </p:cNvPr>
          <p:cNvSpPr txBox="1"/>
          <p:nvPr/>
        </p:nvSpPr>
        <p:spPr>
          <a:xfrm>
            <a:off x="4324196" y="2209800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B94630-3F0E-B3BC-5D0A-296DCEF8853A}"/>
              </a:ext>
            </a:extLst>
          </p:cNvPr>
          <p:cNvSpPr txBox="1"/>
          <p:nvPr/>
        </p:nvSpPr>
        <p:spPr>
          <a:xfrm>
            <a:off x="3605196" y="2209800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82FAAF-95F4-897E-C0A9-637C193F2E08}"/>
              </a:ext>
            </a:extLst>
          </p:cNvPr>
          <p:cNvSpPr txBox="1"/>
          <p:nvPr/>
        </p:nvSpPr>
        <p:spPr>
          <a:xfrm>
            <a:off x="2057400" y="2640679"/>
            <a:ext cx="13917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Minimum: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DBA446-93E2-CAF1-6572-B0BC5C1A2C5A}"/>
              </a:ext>
            </a:extLst>
          </p:cNvPr>
          <p:cNvSpPr txBox="1"/>
          <p:nvPr/>
        </p:nvSpPr>
        <p:spPr>
          <a:xfrm>
            <a:off x="3656514" y="2640679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2D9D30-2B9E-E34B-8B44-0AB052B6BCEB}"/>
              </a:ext>
            </a:extLst>
          </p:cNvPr>
          <p:cNvSpPr txBox="1"/>
          <p:nvPr/>
        </p:nvSpPr>
        <p:spPr>
          <a:xfrm>
            <a:off x="4324196" y="2640679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4DE9E5-1790-39C3-4393-245F9714BB1C}"/>
              </a:ext>
            </a:extLst>
          </p:cNvPr>
          <p:cNvSpPr txBox="1"/>
          <p:nvPr/>
        </p:nvSpPr>
        <p:spPr>
          <a:xfrm>
            <a:off x="5029200" y="2640679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8371A8-8B5C-01F0-4E81-00D77BA78305}"/>
              </a:ext>
            </a:extLst>
          </p:cNvPr>
          <p:cNvSpPr txBox="1"/>
          <p:nvPr/>
        </p:nvSpPr>
        <p:spPr>
          <a:xfrm>
            <a:off x="5631518" y="2609577"/>
            <a:ext cx="14302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Decimal: 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BECD06-4C73-C2FC-A141-F19DB260B08C}"/>
              </a:ext>
            </a:extLst>
          </p:cNvPr>
          <p:cNvSpPr txBox="1"/>
          <p:nvPr/>
        </p:nvSpPr>
        <p:spPr>
          <a:xfrm>
            <a:off x="2057400" y="3142977"/>
            <a:ext cx="14382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Maximum: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5C61A3-08CF-6C07-A372-ED5E291D78B6}"/>
              </a:ext>
            </a:extLst>
          </p:cNvPr>
          <p:cNvSpPr txBox="1"/>
          <p:nvPr/>
        </p:nvSpPr>
        <p:spPr>
          <a:xfrm>
            <a:off x="3656514" y="3142977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10AF15-E533-EF3C-0933-4557115C75F5}"/>
              </a:ext>
            </a:extLst>
          </p:cNvPr>
          <p:cNvSpPr txBox="1"/>
          <p:nvPr/>
        </p:nvSpPr>
        <p:spPr>
          <a:xfrm>
            <a:off x="4324196" y="3142977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63F0881-2FCA-1FFF-42F1-0596152D9A84}"/>
              </a:ext>
            </a:extLst>
          </p:cNvPr>
          <p:cNvSpPr txBox="1"/>
          <p:nvPr/>
        </p:nvSpPr>
        <p:spPr>
          <a:xfrm>
            <a:off x="5029200" y="3142977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62A3193-776D-A51C-48B7-CC790C24085B}"/>
              </a:ext>
            </a:extLst>
          </p:cNvPr>
          <p:cNvSpPr txBox="1"/>
          <p:nvPr/>
        </p:nvSpPr>
        <p:spPr>
          <a:xfrm>
            <a:off x="5631518" y="3111875"/>
            <a:ext cx="14302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Decimal: 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E0AB725-E16E-5BD0-795E-CEA41A88D1BB}"/>
              </a:ext>
            </a:extLst>
          </p:cNvPr>
          <p:cNvSpPr txBox="1"/>
          <p:nvPr/>
        </p:nvSpPr>
        <p:spPr>
          <a:xfrm>
            <a:off x="462242" y="4001870"/>
            <a:ext cx="704000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Find the minimum and maximum numbers of 4 bit binary.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7955748-B289-63F6-0049-45B69B8080C6}"/>
              </a:ext>
            </a:extLst>
          </p:cNvPr>
          <p:cNvSpPr txBox="1"/>
          <p:nvPr/>
        </p:nvSpPr>
        <p:spPr>
          <a:xfrm>
            <a:off x="5080518" y="4523422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825B43-B5BD-153F-D8EE-B7F6159FEC10}"/>
              </a:ext>
            </a:extLst>
          </p:cNvPr>
          <p:cNvSpPr txBox="1"/>
          <p:nvPr/>
        </p:nvSpPr>
        <p:spPr>
          <a:xfrm>
            <a:off x="4375514" y="4523422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2BB98C-94AE-B6F9-6FB9-0F33FF51619E}"/>
              </a:ext>
            </a:extLst>
          </p:cNvPr>
          <p:cNvSpPr txBox="1"/>
          <p:nvPr/>
        </p:nvSpPr>
        <p:spPr>
          <a:xfrm>
            <a:off x="3656514" y="4523422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A64CA03-605A-4D13-CD0B-20596D2A830D}"/>
              </a:ext>
            </a:extLst>
          </p:cNvPr>
          <p:cNvSpPr txBox="1"/>
          <p:nvPr/>
        </p:nvSpPr>
        <p:spPr>
          <a:xfrm>
            <a:off x="1219200" y="4954171"/>
            <a:ext cx="13917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Minimum: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B940355-9C18-5E6F-F59B-665C2C515E9C}"/>
              </a:ext>
            </a:extLst>
          </p:cNvPr>
          <p:cNvSpPr txBox="1"/>
          <p:nvPr/>
        </p:nvSpPr>
        <p:spPr>
          <a:xfrm>
            <a:off x="3707832" y="4954301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738D490-6A03-01D9-6872-7BC472FF3266}"/>
              </a:ext>
            </a:extLst>
          </p:cNvPr>
          <p:cNvSpPr txBox="1"/>
          <p:nvPr/>
        </p:nvSpPr>
        <p:spPr>
          <a:xfrm>
            <a:off x="4375514" y="4954301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D282FC6-0301-36A5-E2F8-41F2A892899A}"/>
              </a:ext>
            </a:extLst>
          </p:cNvPr>
          <p:cNvSpPr txBox="1"/>
          <p:nvPr/>
        </p:nvSpPr>
        <p:spPr>
          <a:xfrm>
            <a:off x="5080518" y="4954301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FA7F556-6AA8-68ED-57F1-8A0D5FDF39E4}"/>
              </a:ext>
            </a:extLst>
          </p:cNvPr>
          <p:cNvSpPr txBox="1"/>
          <p:nvPr/>
        </p:nvSpPr>
        <p:spPr>
          <a:xfrm>
            <a:off x="5682836" y="4923199"/>
            <a:ext cx="14302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Decimal: 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77B4B5C-4B85-2568-673A-1EDDEA147420}"/>
              </a:ext>
            </a:extLst>
          </p:cNvPr>
          <p:cNvSpPr txBox="1"/>
          <p:nvPr/>
        </p:nvSpPr>
        <p:spPr>
          <a:xfrm>
            <a:off x="1219200" y="5456469"/>
            <a:ext cx="14382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Maximum: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E547CB2-E559-85E3-DBA0-2FCB0F01A85C}"/>
              </a:ext>
            </a:extLst>
          </p:cNvPr>
          <p:cNvSpPr txBox="1"/>
          <p:nvPr/>
        </p:nvSpPr>
        <p:spPr>
          <a:xfrm>
            <a:off x="3707832" y="5456599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0F39F11-031E-155B-EB6E-2D76CE3F45C7}"/>
              </a:ext>
            </a:extLst>
          </p:cNvPr>
          <p:cNvSpPr txBox="1"/>
          <p:nvPr/>
        </p:nvSpPr>
        <p:spPr>
          <a:xfrm>
            <a:off x="4375514" y="5456599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23CCB78-F064-F402-C402-643D76CC3539}"/>
              </a:ext>
            </a:extLst>
          </p:cNvPr>
          <p:cNvSpPr txBox="1"/>
          <p:nvPr/>
        </p:nvSpPr>
        <p:spPr>
          <a:xfrm>
            <a:off x="5080518" y="5456599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2786A13-DE91-F188-3CC6-5EA17DE7243D}"/>
              </a:ext>
            </a:extLst>
          </p:cNvPr>
          <p:cNvSpPr txBox="1"/>
          <p:nvPr/>
        </p:nvSpPr>
        <p:spPr>
          <a:xfrm>
            <a:off x="5682836" y="5425497"/>
            <a:ext cx="15712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Decimal: 15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AD0C90A-970B-DCB5-1828-EA3A4AF1AD40}"/>
              </a:ext>
            </a:extLst>
          </p:cNvPr>
          <p:cNvSpPr txBox="1"/>
          <p:nvPr/>
        </p:nvSpPr>
        <p:spPr>
          <a:xfrm>
            <a:off x="2977194" y="4523292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E04D04F-2D36-80DA-230F-D146CCFAEEB3}"/>
              </a:ext>
            </a:extLst>
          </p:cNvPr>
          <p:cNvSpPr txBox="1"/>
          <p:nvPr/>
        </p:nvSpPr>
        <p:spPr>
          <a:xfrm>
            <a:off x="3028512" y="4954171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E905748-BCC3-348D-05F3-59896EA7B856}"/>
              </a:ext>
            </a:extLst>
          </p:cNvPr>
          <p:cNvSpPr txBox="1"/>
          <p:nvPr/>
        </p:nvSpPr>
        <p:spPr>
          <a:xfrm>
            <a:off x="3028512" y="5456469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85787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  <p:bldP spid="5" grpId="0"/>
      <p:bldP spid="8" grpId="0"/>
      <p:bldP spid="19" grpId="0"/>
      <p:bldP spid="20" grpId="0"/>
      <p:bldP spid="21" grpId="0"/>
      <p:bldP spid="6" grpId="0"/>
      <p:bldP spid="15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2" grpId="0"/>
      <p:bldP spid="5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BASIC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764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Find the total binary numbers that can be represented by 3 bits.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5B4936-3E20-CD2F-221A-C620ED122135}"/>
              </a:ext>
            </a:extLst>
          </p:cNvPr>
          <p:cNvSpPr/>
          <p:nvPr/>
        </p:nvSpPr>
        <p:spPr>
          <a:xfrm>
            <a:off x="1928327" y="254761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6A2474-85C4-6808-E810-8B0F67D5B54B}"/>
              </a:ext>
            </a:extLst>
          </p:cNvPr>
          <p:cNvSpPr txBox="1"/>
          <p:nvPr/>
        </p:nvSpPr>
        <p:spPr>
          <a:xfrm>
            <a:off x="2032162" y="2116723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38C5AC-2404-DD55-B2F5-184E603CD935}"/>
              </a:ext>
            </a:extLst>
          </p:cNvPr>
          <p:cNvSpPr/>
          <p:nvPr/>
        </p:nvSpPr>
        <p:spPr>
          <a:xfrm>
            <a:off x="1394927" y="254761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8BD0BE-49E4-9EC5-4B2D-0534AE8184D7}"/>
              </a:ext>
            </a:extLst>
          </p:cNvPr>
          <p:cNvSpPr txBox="1"/>
          <p:nvPr/>
        </p:nvSpPr>
        <p:spPr>
          <a:xfrm>
            <a:off x="1491650" y="2111007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8F031C-4C28-35A4-CCC9-B8813DA60F26}"/>
              </a:ext>
            </a:extLst>
          </p:cNvPr>
          <p:cNvSpPr/>
          <p:nvPr/>
        </p:nvSpPr>
        <p:spPr>
          <a:xfrm>
            <a:off x="861527" y="254761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7C1F75-4274-6093-AD66-1A0FF0C0726F}"/>
              </a:ext>
            </a:extLst>
          </p:cNvPr>
          <p:cNvSpPr txBox="1"/>
          <p:nvPr/>
        </p:nvSpPr>
        <p:spPr>
          <a:xfrm>
            <a:off x="933596" y="2107287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2AF7E782-E34B-078A-B927-50BB195B0C53}"/>
              </a:ext>
            </a:extLst>
          </p:cNvPr>
          <p:cNvCxnSpPr>
            <a:stCxn id="3" idx="2"/>
          </p:cNvCxnSpPr>
          <p:nvPr/>
        </p:nvCxnSpPr>
        <p:spPr>
          <a:xfrm rot="16200000" flipH="1">
            <a:off x="2518877" y="2757160"/>
            <a:ext cx="381000" cy="1028700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F90CB28-AEF5-3ACE-7439-1846B0806A2F}"/>
              </a:ext>
            </a:extLst>
          </p:cNvPr>
          <p:cNvSpPr txBox="1"/>
          <p:nvPr/>
        </p:nvSpPr>
        <p:spPr>
          <a:xfrm>
            <a:off x="3242387" y="3004810"/>
            <a:ext cx="53112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How many numbers can be placed in this position?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6F7E68-1EF8-48FF-D9F2-24202D6C45C0}"/>
              </a:ext>
            </a:extLst>
          </p:cNvPr>
          <p:cNvSpPr txBox="1"/>
          <p:nvPr/>
        </p:nvSpPr>
        <p:spPr>
          <a:xfrm>
            <a:off x="4514996" y="3323148"/>
            <a:ext cx="194796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2 numbers : 0/1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B441AA-05F9-43BF-9046-C94A66C05912}"/>
              </a:ext>
            </a:extLst>
          </p:cNvPr>
          <p:cNvSpPr txBox="1"/>
          <p:nvPr/>
        </p:nvSpPr>
        <p:spPr>
          <a:xfrm>
            <a:off x="1980244" y="2577474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39B2E569-DAE1-54A1-FEA4-06E9BAB7481B}"/>
              </a:ext>
            </a:extLst>
          </p:cNvPr>
          <p:cNvCxnSpPr>
            <a:cxnSpLocks/>
            <a:stCxn id="10" idx="2"/>
            <a:endCxn id="24" idx="1"/>
          </p:cNvCxnSpPr>
          <p:nvPr/>
        </p:nvCxnSpPr>
        <p:spPr>
          <a:xfrm rot="16200000" flipH="1">
            <a:off x="1951429" y="2791207"/>
            <a:ext cx="1011579" cy="1591183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C52A11C-316E-8ABC-E6B9-207A16B51EFD}"/>
              </a:ext>
            </a:extLst>
          </p:cNvPr>
          <p:cNvSpPr txBox="1"/>
          <p:nvPr/>
        </p:nvSpPr>
        <p:spPr>
          <a:xfrm>
            <a:off x="3252810" y="3707868"/>
            <a:ext cx="53112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How many numbers can be placed in this position?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5B9AC5-BE51-5B62-54D9-2C39278F541B}"/>
              </a:ext>
            </a:extLst>
          </p:cNvPr>
          <p:cNvSpPr txBox="1"/>
          <p:nvPr/>
        </p:nvSpPr>
        <p:spPr>
          <a:xfrm>
            <a:off x="4525419" y="4026206"/>
            <a:ext cx="194796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2 numbers : 0/1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D4BDBBC-D0AD-DA2F-37BD-F9717260409E}"/>
              </a:ext>
            </a:extLst>
          </p:cNvPr>
          <p:cNvSpPr txBox="1"/>
          <p:nvPr/>
        </p:nvSpPr>
        <p:spPr>
          <a:xfrm>
            <a:off x="1488548" y="2578693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457625A6-584C-3AE1-AEE4-3A0AACADF014}"/>
              </a:ext>
            </a:extLst>
          </p:cNvPr>
          <p:cNvCxnSpPr>
            <a:cxnSpLocks/>
            <a:stCxn id="12" idx="2"/>
            <a:endCxn id="56" idx="1"/>
          </p:cNvCxnSpPr>
          <p:nvPr/>
        </p:nvCxnSpPr>
        <p:spPr>
          <a:xfrm rot="16200000" flipH="1">
            <a:off x="1305682" y="2903554"/>
            <a:ext cx="1781020" cy="2135931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4EB71BC8-9CC4-25CD-F87E-7474A9644C0A}"/>
              </a:ext>
            </a:extLst>
          </p:cNvPr>
          <p:cNvSpPr txBox="1"/>
          <p:nvPr/>
        </p:nvSpPr>
        <p:spPr>
          <a:xfrm>
            <a:off x="3264158" y="4477309"/>
            <a:ext cx="53112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How many numbers can be placed in this position?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C272AB7-402C-08B8-C52E-7F363116FDF0}"/>
              </a:ext>
            </a:extLst>
          </p:cNvPr>
          <p:cNvSpPr txBox="1"/>
          <p:nvPr/>
        </p:nvSpPr>
        <p:spPr>
          <a:xfrm>
            <a:off x="4536767" y="4795647"/>
            <a:ext cx="194796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2 numbers : 0/1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4BF8C9-88EF-03B8-AC07-A16BCCB3A2CA}"/>
              </a:ext>
            </a:extLst>
          </p:cNvPr>
          <p:cNvSpPr txBox="1"/>
          <p:nvPr/>
        </p:nvSpPr>
        <p:spPr>
          <a:xfrm>
            <a:off x="958828" y="2595146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D1B0305-894C-33FE-2A8F-B8F3433FC9CE}"/>
              </a:ext>
            </a:extLst>
          </p:cNvPr>
          <p:cNvSpPr txBox="1"/>
          <p:nvPr/>
        </p:nvSpPr>
        <p:spPr>
          <a:xfrm>
            <a:off x="3200400" y="2390726"/>
            <a:ext cx="46955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So total combination: 2 x 2 x 2 = 2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BDC0D16-1D5C-C509-1EE7-A4032D4C64FF}"/>
              </a:ext>
            </a:extLst>
          </p:cNvPr>
          <p:cNvSpPr txBox="1"/>
          <p:nvPr/>
        </p:nvSpPr>
        <p:spPr>
          <a:xfrm>
            <a:off x="457200" y="5354616"/>
            <a:ext cx="3200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What are the numbers?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202E2C4-12AD-67BD-9141-E101360DF4FD}"/>
              </a:ext>
            </a:extLst>
          </p:cNvPr>
          <p:cNvSpPr txBox="1"/>
          <p:nvPr/>
        </p:nvSpPr>
        <p:spPr>
          <a:xfrm>
            <a:off x="3581400" y="5374832"/>
            <a:ext cx="12759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0 to 7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D2FCFA3-6B08-B1FF-4689-2C344891D125}"/>
              </a:ext>
            </a:extLst>
          </p:cNvPr>
          <p:cNvSpPr txBox="1"/>
          <p:nvPr/>
        </p:nvSpPr>
        <p:spPr>
          <a:xfrm>
            <a:off x="457200" y="5832413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Find the total binary numbers that can represented by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bits.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D0FBE49-4C60-22E6-ADE4-725AAD1E9308}"/>
              </a:ext>
            </a:extLst>
          </p:cNvPr>
          <p:cNvSpPr txBox="1"/>
          <p:nvPr/>
        </p:nvSpPr>
        <p:spPr>
          <a:xfrm>
            <a:off x="841310" y="6254916"/>
            <a:ext cx="28924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Total numbers: 2</a:t>
            </a:r>
            <a:r>
              <a:rPr lang="en-US" sz="2200" b="1" i="1" baseline="30000" dirty="0">
                <a:latin typeface="Times New Roman" pitchFamily="18" charset="0"/>
                <a:cs typeface="Times New Roman" pitchFamily="18" charset="0"/>
              </a:rPr>
              <a:t>n</a:t>
            </a:r>
            <a:endParaRPr lang="en-US" sz="2200" b="1" i="1" baseline="30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A645E4E-66EA-C5A1-9386-2336F1D6C411}"/>
              </a:ext>
            </a:extLst>
          </p:cNvPr>
          <p:cNvSpPr txBox="1"/>
          <p:nvPr/>
        </p:nvSpPr>
        <p:spPr>
          <a:xfrm>
            <a:off x="4572000" y="6254916"/>
            <a:ext cx="4343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Numbers are from 0 to 2</a:t>
            </a:r>
            <a:r>
              <a:rPr lang="en-US" sz="2200" b="1" i="1" baseline="30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- 1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9584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 animBg="1"/>
      <p:bldP spid="9" grpId="0"/>
      <p:bldP spid="10" grpId="0" animBg="1"/>
      <p:bldP spid="11" grpId="0"/>
      <p:bldP spid="12" grpId="0" animBg="1"/>
      <p:bldP spid="13" grpId="0"/>
      <p:bldP spid="17" grpId="0"/>
      <p:bldP spid="18" grpId="0"/>
      <p:bldP spid="22" grpId="0"/>
      <p:bldP spid="24" grpId="0"/>
      <p:bldP spid="25" grpId="0"/>
      <p:bldP spid="29" grpId="0"/>
      <p:bldP spid="56" grpId="0"/>
      <p:bldP spid="57" grpId="0"/>
      <p:bldP spid="59" grpId="0"/>
      <p:bldP spid="63" grpId="0"/>
      <p:bldP spid="68" grpId="0"/>
      <p:bldP spid="69" grpId="0"/>
      <p:bldP spid="70" grpId="0"/>
      <p:bldP spid="71" grpId="0"/>
      <p:bldP spid="7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BASIC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764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Write down all the binary numbers consisted of 3 bits.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CA2EA1-AD74-9950-FD82-6E6282DC349E}"/>
              </a:ext>
            </a:extLst>
          </p:cNvPr>
          <p:cNvSpPr txBox="1"/>
          <p:nvPr/>
        </p:nvSpPr>
        <p:spPr>
          <a:xfrm>
            <a:off x="5029200" y="2209800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00EA0F-373F-D6EB-E640-B43115C3F5D9}"/>
              </a:ext>
            </a:extLst>
          </p:cNvPr>
          <p:cNvSpPr txBox="1"/>
          <p:nvPr/>
        </p:nvSpPr>
        <p:spPr>
          <a:xfrm>
            <a:off x="4324196" y="2209800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488A40-C3FA-7356-B6BD-257EE703B098}"/>
              </a:ext>
            </a:extLst>
          </p:cNvPr>
          <p:cNvSpPr txBox="1"/>
          <p:nvPr/>
        </p:nvSpPr>
        <p:spPr>
          <a:xfrm>
            <a:off x="3605196" y="2209800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ADF8E8-06B1-48E4-61EE-B81EB0CB269D}"/>
              </a:ext>
            </a:extLst>
          </p:cNvPr>
          <p:cNvSpPr txBox="1"/>
          <p:nvPr/>
        </p:nvSpPr>
        <p:spPr>
          <a:xfrm>
            <a:off x="2007920" y="2640679"/>
            <a:ext cx="14302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Decimal 0: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AF9075-33A7-2FBD-C996-F69F032D8BE9}"/>
              </a:ext>
            </a:extLst>
          </p:cNvPr>
          <p:cNvSpPr txBox="1"/>
          <p:nvPr/>
        </p:nvSpPr>
        <p:spPr>
          <a:xfrm>
            <a:off x="3656514" y="2640679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B26AF-6677-3865-628F-167547A26942}"/>
              </a:ext>
            </a:extLst>
          </p:cNvPr>
          <p:cNvSpPr txBox="1"/>
          <p:nvPr/>
        </p:nvSpPr>
        <p:spPr>
          <a:xfrm>
            <a:off x="4324196" y="2640679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F482A2-0556-59E7-107E-A81FBCA0DECE}"/>
              </a:ext>
            </a:extLst>
          </p:cNvPr>
          <p:cNvSpPr txBox="1"/>
          <p:nvPr/>
        </p:nvSpPr>
        <p:spPr>
          <a:xfrm>
            <a:off x="5029200" y="2640679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B49B8C-9CB9-6A09-22B0-F82BF4A9A0E8}"/>
              </a:ext>
            </a:extLst>
          </p:cNvPr>
          <p:cNvSpPr txBox="1"/>
          <p:nvPr/>
        </p:nvSpPr>
        <p:spPr>
          <a:xfrm>
            <a:off x="2007920" y="3082452"/>
            <a:ext cx="14302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Decimal 1: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BDB7D9-4067-54B8-6C09-4AD5BA600A5E}"/>
              </a:ext>
            </a:extLst>
          </p:cNvPr>
          <p:cNvSpPr txBox="1"/>
          <p:nvPr/>
        </p:nvSpPr>
        <p:spPr>
          <a:xfrm>
            <a:off x="3656514" y="3082452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EF0ABE-B7DD-43BF-25D9-9120B1094E46}"/>
              </a:ext>
            </a:extLst>
          </p:cNvPr>
          <p:cNvSpPr txBox="1"/>
          <p:nvPr/>
        </p:nvSpPr>
        <p:spPr>
          <a:xfrm>
            <a:off x="4324196" y="3082452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8CC6BC-2D5C-3D72-D3EA-3F82505F19F8}"/>
              </a:ext>
            </a:extLst>
          </p:cNvPr>
          <p:cNvSpPr txBox="1"/>
          <p:nvPr/>
        </p:nvSpPr>
        <p:spPr>
          <a:xfrm>
            <a:off x="5029200" y="3082452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5C0E0D-10EE-31EA-46FC-ACF51784CB91}"/>
              </a:ext>
            </a:extLst>
          </p:cNvPr>
          <p:cNvSpPr txBox="1"/>
          <p:nvPr/>
        </p:nvSpPr>
        <p:spPr>
          <a:xfrm>
            <a:off x="2007920" y="3570991"/>
            <a:ext cx="14302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Decimal 2: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D3501B9-4A23-68DD-24A7-0A03A9CCDD43}"/>
              </a:ext>
            </a:extLst>
          </p:cNvPr>
          <p:cNvSpPr txBox="1"/>
          <p:nvPr/>
        </p:nvSpPr>
        <p:spPr>
          <a:xfrm>
            <a:off x="3656514" y="3570991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54C6C3A-7C53-A71D-D139-1081ABF82DD2}"/>
              </a:ext>
            </a:extLst>
          </p:cNvPr>
          <p:cNvSpPr txBox="1"/>
          <p:nvPr/>
        </p:nvSpPr>
        <p:spPr>
          <a:xfrm>
            <a:off x="4324196" y="3570991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63F8594-ADED-9B41-B9DA-ECF510D7972A}"/>
              </a:ext>
            </a:extLst>
          </p:cNvPr>
          <p:cNvSpPr txBox="1"/>
          <p:nvPr/>
        </p:nvSpPr>
        <p:spPr>
          <a:xfrm>
            <a:off x="5029200" y="3570991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DDEA13-B6DB-A444-6D84-FE8697EDC741}"/>
              </a:ext>
            </a:extLst>
          </p:cNvPr>
          <p:cNvSpPr txBox="1"/>
          <p:nvPr/>
        </p:nvSpPr>
        <p:spPr>
          <a:xfrm>
            <a:off x="2009475" y="4059530"/>
            <a:ext cx="14302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Decimal 3: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0E14E4-936F-A991-FF0D-210A93DB2ECC}"/>
              </a:ext>
            </a:extLst>
          </p:cNvPr>
          <p:cNvSpPr txBox="1"/>
          <p:nvPr/>
        </p:nvSpPr>
        <p:spPr>
          <a:xfrm>
            <a:off x="3658069" y="4059530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63E7715-D1CE-2A92-C66F-A8E3DA34253E}"/>
              </a:ext>
            </a:extLst>
          </p:cNvPr>
          <p:cNvSpPr txBox="1"/>
          <p:nvPr/>
        </p:nvSpPr>
        <p:spPr>
          <a:xfrm>
            <a:off x="4325751" y="4059530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293D168-F5A4-44DC-8A61-B853C1253317}"/>
              </a:ext>
            </a:extLst>
          </p:cNvPr>
          <p:cNvSpPr txBox="1"/>
          <p:nvPr/>
        </p:nvSpPr>
        <p:spPr>
          <a:xfrm>
            <a:off x="5030755" y="4059530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FA7DDF7-20F4-1D95-0E4D-F6542BB7770B}"/>
              </a:ext>
            </a:extLst>
          </p:cNvPr>
          <p:cNvSpPr txBox="1"/>
          <p:nvPr/>
        </p:nvSpPr>
        <p:spPr>
          <a:xfrm>
            <a:off x="2007920" y="4547825"/>
            <a:ext cx="14302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Decimal 4: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A80BF0E-C2F6-EE31-4C99-7E222C8A60B3}"/>
              </a:ext>
            </a:extLst>
          </p:cNvPr>
          <p:cNvSpPr txBox="1"/>
          <p:nvPr/>
        </p:nvSpPr>
        <p:spPr>
          <a:xfrm>
            <a:off x="3656514" y="4547825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C6882B-B53D-52C0-3EA4-9C29F7505839}"/>
              </a:ext>
            </a:extLst>
          </p:cNvPr>
          <p:cNvSpPr txBox="1"/>
          <p:nvPr/>
        </p:nvSpPr>
        <p:spPr>
          <a:xfrm>
            <a:off x="4324196" y="4547825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B9F3EAF-9B63-0D84-59B0-AE5A4FE54809}"/>
              </a:ext>
            </a:extLst>
          </p:cNvPr>
          <p:cNvSpPr txBox="1"/>
          <p:nvPr/>
        </p:nvSpPr>
        <p:spPr>
          <a:xfrm>
            <a:off x="5029200" y="4547825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431DD5D-8CD3-E350-1308-FBCBB392F77C}"/>
              </a:ext>
            </a:extLst>
          </p:cNvPr>
          <p:cNvSpPr txBox="1"/>
          <p:nvPr/>
        </p:nvSpPr>
        <p:spPr>
          <a:xfrm>
            <a:off x="2007920" y="5023809"/>
            <a:ext cx="14302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Decimal 5: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E76149-C62E-4D14-1951-67EC08F2055A}"/>
              </a:ext>
            </a:extLst>
          </p:cNvPr>
          <p:cNvSpPr txBox="1"/>
          <p:nvPr/>
        </p:nvSpPr>
        <p:spPr>
          <a:xfrm>
            <a:off x="3656514" y="5023809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0E565E8-4B85-E446-7B25-078868787055}"/>
              </a:ext>
            </a:extLst>
          </p:cNvPr>
          <p:cNvSpPr txBox="1"/>
          <p:nvPr/>
        </p:nvSpPr>
        <p:spPr>
          <a:xfrm>
            <a:off x="4324196" y="5023809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8D29B80-4088-32C7-69D0-48726E0DA317}"/>
              </a:ext>
            </a:extLst>
          </p:cNvPr>
          <p:cNvSpPr txBox="1"/>
          <p:nvPr/>
        </p:nvSpPr>
        <p:spPr>
          <a:xfrm>
            <a:off x="5029200" y="5023809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C213C66-1A85-459E-006E-5855137BBC6D}"/>
              </a:ext>
            </a:extLst>
          </p:cNvPr>
          <p:cNvSpPr txBox="1"/>
          <p:nvPr/>
        </p:nvSpPr>
        <p:spPr>
          <a:xfrm>
            <a:off x="2009475" y="5493573"/>
            <a:ext cx="14302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Decimal 6: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87613A3-8344-16DA-109B-2D2A2B904234}"/>
              </a:ext>
            </a:extLst>
          </p:cNvPr>
          <p:cNvSpPr txBox="1"/>
          <p:nvPr/>
        </p:nvSpPr>
        <p:spPr>
          <a:xfrm>
            <a:off x="3658069" y="5493573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1EE168F-88E9-34E6-48BA-7D78C26C7A30}"/>
              </a:ext>
            </a:extLst>
          </p:cNvPr>
          <p:cNvSpPr txBox="1"/>
          <p:nvPr/>
        </p:nvSpPr>
        <p:spPr>
          <a:xfrm>
            <a:off x="4325751" y="5493573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CD0D886-2E01-19BB-C843-8E0D757AE846}"/>
              </a:ext>
            </a:extLst>
          </p:cNvPr>
          <p:cNvSpPr txBox="1"/>
          <p:nvPr/>
        </p:nvSpPr>
        <p:spPr>
          <a:xfrm>
            <a:off x="5030755" y="5493573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E012B92-7A63-E6D4-3D47-35B39C12FB6A}"/>
              </a:ext>
            </a:extLst>
          </p:cNvPr>
          <p:cNvSpPr txBox="1"/>
          <p:nvPr/>
        </p:nvSpPr>
        <p:spPr>
          <a:xfrm>
            <a:off x="2007920" y="5963337"/>
            <a:ext cx="14302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Decimal 7: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31E6E66-F9EA-A08C-FDF5-B22F68220615}"/>
              </a:ext>
            </a:extLst>
          </p:cNvPr>
          <p:cNvSpPr txBox="1"/>
          <p:nvPr/>
        </p:nvSpPr>
        <p:spPr>
          <a:xfrm>
            <a:off x="3656514" y="5963337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CCFE9E2-0094-19DE-1675-FAAF54C0E4DF}"/>
              </a:ext>
            </a:extLst>
          </p:cNvPr>
          <p:cNvSpPr txBox="1"/>
          <p:nvPr/>
        </p:nvSpPr>
        <p:spPr>
          <a:xfrm>
            <a:off x="4324196" y="5963337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A921B19-5B43-9F23-31A9-7A39F9D6B787}"/>
              </a:ext>
            </a:extLst>
          </p:cNvPr>
          <p:cNvSpPr txBox="1"/>
          <p:nvPr/>
        </p:nvSpPr>
        <p:spPr>
          <a:xfrm>
            <a:off x="5029200" y="5963337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05509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  <p:bldP spid="5" grpId="0"/>
      <p:bldP spid="6" grpId="0"/>
      <p:bldP spid="8" grpId="0"/>
      <p:bldP spid="14" grpId="0"/>
      <p:bldP spid="15" grpId="0"/>
      <p:bldP spid="19" grpId="0"/>
      <p:bldP spid="20" grpId="0"/>
      <p:bldP spid="21" grpId="0"/>
      <p:bldP spid="26" grpId="0"/>
      <p:bldP spid="27" grpId="0"/>
      <p:bldP spid="28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BASIC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764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Write down all the binary numbers consisted of 3 bits.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5CEC064-D8FD-879A-A86E-07198E1D1B10}"/>
              </a:ext>
            </a:extLst>
          </p:cNvPr>
          <p:cNvSpPr/>
          <p:nvPr/>
        </p:nvSpPr>
        <p:spPr>
          <a:xfrm>
            <a:off x="3886200" y="2438400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6D86A9C-CCBB-3738-F709-FE0745D575A0}"/>
              </a:ext>
            </a:extLst>
          </p:cNvPr>
          <p:cNvSpPr/>
          <p:nvPr/>
        </p:nvSpPr>
        <p:spPr>
          <a:xfrm>
            <a:off x="2256453" y="3282698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E274E08-ED85-E404-712E-AAFEC2994F1B}"/>
              </a:ext>
            </a:extLst>
          </p:cNvPr>
          <p:cNvSpPr/>
          <p:nvPr/>
        </p:nvSpPr>
        <p:spPr>
          <a:xfrm>
            <a:off x="5867400" y="3276600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0F5E54D-D934-08D1-65DB-6C84C26AFA64}"/>
              </a:ext>
            </a:extLst>
          </p:cNvPr>
          <p:cNvSpPr/>
          <p:nvPr/>
        </p:nvSpPr>
        <p:spPr>
          <a:xfrm>
            <a:off x="1265853" y="4273298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F231C06-B194-E2B4-3DAB-61F2377BEB45}"/>
              </a:ext>
            </a:extLst>
          </p:cNvPr>
          <p:cNvSpPr/>
          <p:nvPr/>
        </p:nvSpPr>
        <p:spPr>
          <a:xfrm>
            <a:off x="3094653" y="4273298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0E058E3-FAB1-2490-1DC9-65FBB0807B44}"/>
              </a:ext>
            </a:extLst>
          </p:cNvPr>
          <p:cNvSpPr/>
          <p:nvPr/>
        </p:nvSpPr>
        <p:spPr>
          <a:xfrm>
            <a:off x="5119396" y="4267200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CFC95EC-390C-88C9-A76F-71BB25E29323}"/>
              </a:ext>
            </a:extLst>
          </p:cNvPr>
          <p:cNvSpPr/>
          <p:nvPr/>
        </p:nvSpPr>
        <p:spPr>
          <a:xfrm>
            <a:off x="7162800" y="4267200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33AAEB7-23B1-00AF-6021-F4F3CFF20574}"/>
              </a:ext>
            </a:extLst>
          </p:cNvPr>
          <p:cNvSpPr/>
          <p:nvPr/>
        </p:nvSpPr>
        <p:spPr>
          <a:xfrm>
            <a:off x="760446" y="5416298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913265D-A64A-9E81-6A6F-EEA7DACA4DBA}"/>
              </a:ext>
            </a:extLst>
          </p:cNvPr>
          <p:cNvSpPr/>
          <p:nvPr/>
        </p:nvSpPr>
        <p:spPr>
          <a:xfrm>
            <a:off x="1646853" y="5416298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9D2E905-1813-3957-7371-AF220DA1F624}"/>
              </a:ext>
            </a:extLst>
          </p:cNvPr>
          <p:cNvSpPr/>
          <p:nvPr/>
        </p:nvSpPr>
        <p:spPr>
          <a:xfrm>
            <a:off x="2645229" y="5397513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C44B62B-B079-0D38-CCB8-2E6C2E6D77C7}"/>
              </a:ext>
            </a:extLst>
          </p:cNvPr>
          <p:cNvSpPr/>
          <p:nvPr/>
        </p:nvSpPr>
        <p:spPr>
          <a:xfrm>
            <a:off x="3531636" y="5397513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B864FFB-65A1-964B-6CD2-520F870F40CF}"/>
              </a:ext>
            </a:extLst>
          </p:cNvPr>
          <p:cNvSpPr/>
          <p:nvPr/>
        </p:nvSpPr>
        <p:spPr>
          <a:xfrm>
            <a:off x="4724400" y="5410200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DC1339A-2519-34EE-760C-291FE47E8E13}"/>
              </a:ext>
            </a:extLst>
          </p:cNvPr>
          <p:cNvSpPr/>
          <p:nvPr/>
        </p:nvSpPr>
        <p:spPr>
          <a:xfrm>
            <a:off x="5610807" y="5410200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A178D73-AF47-4E34-1F09-DE8558F9DC10}"/>
              </a:ext>
            </a:extLst>
          </p:cNvPr>
          <p:cNvSpPr/>
          <p:nvPr/>
        </p:nvSpPr>
        <p:spPr>
          <a:xfrm>
            <a:off x="6769361" y="5357203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29D7199A-94C8-03EE-1FAF-FC69C36BC5D9}"/>
              </a:ext>
            </a:extLst>
          </p:cNvPr>
          <p:cNvSpPr/>
          <p:nvPr/>
        </p:nvSpPr>
        <p:spPr>
          <a:xfrm>
            <a:off x="7655768" y="5357203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3767AEA-B437-1EE8-703E-56733ECB6A6E}"/>
              </a:ext>
            </a:extLst>
          </p:cNvPr>
          <p:cNvCxnSpPr>
            <a:stCxn id="3" idx="2"/>
            <a:endCxn id="9" idx="0"/>
          </p:cNvCxnSpPr>
          <p:nvPr/>
        </p:nvCxnSpPr>
        <p:spPr>
          <a:xfrm flipH="1">
            <a:off x="2561253" y="2743200"/>
            <a:ext cx="1324947" cy="5394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75473D4-4FC8-5E72-3B06-E60B9A302E8B}"/>
              </a:ext>
            </a:extLst>
          </p:cNvPr>
          <p:cNvCxnSpPr>
            <a:stCxn id="3" idx="6"/>
            <a:endCxn id="10" idx="0"/>
          </p:cNvCxnSpPr>
          <p:nvPr/>
        </p:nvCxnSpPr>
        <p:spPr>
          <a:xfrm>
            <a:off x="4495800" y="2743200"/>
            <a:ext cx="1676400" cy="5334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FDFACB1-9401-049B-F730-B640976E4CFC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1570653" y="3587498"/>
            <a:ext cx="6858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C804A66-9E1A-00A1-89D6-A063F70BFC4B}"/>
              </a:ext>
            </a:extLst>
          </p:cNvPr>
          <p:cNvCxnSpPr>
            <a:stCxn id="9" idx="6"/>
            <a:endCxn id="12" idx="0"/>
          </p:cNvCxnSpPr>
          <p:nvPr/>
        </p:nvCxnSpPr>
        <p:spPr>
          <a:xfrm>
            <a:off x="2866053" y="3587498"/>
            <a:ext cx="5334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35F8993-FD7C-0686-1918-F63D747732A6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5424196" y="3581400"/>
            <a:ext cx="443204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3C4ED89-AD28-7736-FD80-8FDB7DB6F72C}"/>
              </a:ext>
            </a:extLst>
          </p:cNvPr>
          <p:cNvCxnSpPr>
            <a:stCxn id="10" idx="6"/>
            <a:endCxn id="16" idx="0"/>
          </p:cNvCxnSpPr>
          <p:nvPr/>
        </p:nvCxnSpPr>
        <p:spPr>
          <a:xfrm>
            <a:off x="6477000" y="3581400"/>
            <a:ext cx="9906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96D8EC9-D2F5-9E64-43C9-878917F0FBC3}"/>
              </a:ext>
            </a:extLst>
          </p:cNvPr>
          <p:cNvCxnSpPr>
            <a:stCxn id="11" idx="2"/>
            <a:endCxn id="17" idx="0"/>
          </p:cNvCxnSpPr>
          <p:nvPr/>
        </p:nvCxnSpPr>
        <p:spPr>
          <a:xfrm flipH="1">
            <a:off x="1065246" y="4578098"/>
            <a:ext cx="200607" cy="8382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02FBB4DE-8F61-5AE5-559C-3D288C05B93E}"/>
              </a:ext>
            </a:extLst>
          </p:cNvPr>
          <p:cNvCxnSpPr>
            <a:stCxn id="11" idx="6"/>
            <a:endCxn id="18" idx="0"/>
          </p:cNvCxnSpPr>
          <p:nvPr/>
        </p:nvCxnSpPr>
        <p:spPr>
          <a:xfrm>
            <a:off x="1875453" y="4578098"/>
            <a:ext cx="76200" cy="8382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A0FE7DB-3160-6574-E2F1-97CE96DDAF8A}"/>
              </a:ext>
            </a:extLst>
          </p:cNvPr>
          <p:cNvCxnSpPr>
            <a:stCxn id="12" idx="2"/>
            <a:endCxn id="24" idx="0"/>
          </p:cNvCxnSpPr>
          <p:nvPr/>
        </p:nvCxnSpPr>
        <p:spPr>
          <a:xfrm flipH="1">
            <a:off x="2950029" y="4578098"/>
            <a:ext cx="144624" cy="81941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E79A3B6-FC7C-9EA4-DBC2-8707CAAD6524}"/>
              </a:ext>
            </a:extLst>
          </p:cNvPr>
          <p:cNvCxnSpPr>
            <a:stCxn id="12" idx="6"/>
            <a:endCxn id="25" idx="0"/>
          </p:cNvCxnSpPr>
          <p:nvPr/>
        </p:nvCxnSpPr>
        <p:spPr>
          <a:xfrm>
            <a:off x="3704253" y="4578098"/>
            <a:ext cx="132183" cy="81941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A20B1608-9400-6914-A737-BC25D48BBD54}"/>
              </a:ext>
            </a:extLst>
          </p:cNvPr>
          <p:cNvCxnSpPr>
            <a:stCxn id="13" idx="2"/>
            <a:endCxn id="29" idx="0"/>
          </p:cNvCxnSpPr>
          <p:nvPr/>
        </p:nvCxnSpPr>
        <p:spPr>
          <a:xfrm flipH="1">
            <a:off x="5029200" y="4572000"/>
            <a:ext cx="90196" cy="8382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C19BB72-66DC-A911-B054-106B7764F85C}"/>
              </a:ext>
            </a:extLst>
          </p:cNvPr>
          <p:cNvCxnSpPr>
            <a:stCxn id="13" idx="6"/>
            <a:endCxn id="30" idx="0"/>
          </p:cNvCxnSpPr>
          <p:nvPr/>
        </p:nvCxnSpPr>
        <p:spPr>
          <a:xfrm>
            <a:off x="5728996" y="4572000"/>
            <a:ext cx="186611" cy="8382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53516605-0614-462E-38CE-F1F4AE80F9BB}"/>
              </a:ext>
            </a:extLst>
          </p:cNvPr>
          <p:cNvCxnSpPr>
            <a:stCxn id="16" idx="2"/>
            <a:endCxn id="54" idx="0"/>
          </p:cNvCxnSpPr>
          <p:nvPr/>
        </p:nvCxnSpPr>
        <p:spPr>
          <a:xfrm flipH="1">
            <a:off x="7074161" y="4572000"/>
            <a:ext cx="88639" cy="78520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9245F6D-2FC2-E3FE-0DED-D55063C3F330}"/>
              </a:ext>
            </a:extLst>
          </p:cNvPr>
          <p:cNvCxnSpPr>
            <a:stCxn id="16" idx="6"/>
            <a:endCxn id="55" idx="0"/>
          </p:cNvCxnSpPr>
          <p:nvPr/>
        </p:nvCxnSpPr>
        <p:spPr>
          <a:xfrm>
            <a:off x="7772400" y="4572000"/>
            <a:ext cx="188168" cy="78520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73020E60-EE98-4259-BE2D-8D4ABE9440FF}"/>
              </a:ext>
            </a:extLst>
          </p:cNvPr>
          <p:cNvSpPr txBox="1"/>
          <p:nvPr/>
        </p:nvSpPr>
        <p:spPr>
          <a:xfrm>
            <a:off x="3056389" y="2627675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2B792E7-DF64-F190-D51A-2A0C1A80A761}"/>
              </a:ext>
            </a:extLst>
          </p:cNvPr>
          <p:cNvSpPr txBox="1"/>
          <p:nvPr/>
        </p:nvSpPr>
        <p:spPr>
          <a:xfrm>
            <a:off x="5157138" y="2601624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D79B437-D5C1-BB4A-A26B-1DF416D2C982}"/>
              </a:ext>
            </a:extLst>
          </p:cNvPr>
          <p:cNvSpPr txBox="1"/>
          <p:nvPr/>
        </p:nvSpPr>
        <p:spPr>
          <a:xfrm>
            <a:off x="2387923" y="3359859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A576355-B7DB-1843-A5BD-9F456C6EB9D9}"/>
              </a:ext>
            </a:extLst>
          </p:cNvPr>
          <p:cNvSpPr txBox="1"/>
          <p:nvPr/>
        </p:nvSpPr>
        <p:spPr>
          <a:xfrm>
            <a:off x="5987983" y="3359859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546BE94-2652-A89C-F6E6-B54B9018F2E9}"/>
              </a:ext>
            </a:extLst>
          </p:cNvPr>
          <p:cNvSpPr txBox="1"/>
          <p:nvPr/>
        </p:nvSpPr>
        <p:spPr>
          <a:xfrm>
            <a:off x="6923735" y="3581461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6D4B56C-F1FF-F1B7-C3AB-720B82F8C18C}"/>
              </a:ext>
            </a:extLst>
          </p:cNvPr>
          <p:cNvSpPr txBox="1"/>
          <p:nvPr/>
        </p:nvSpPr>
        <p:spPr>
          <a:xfrm>
            <a:off x="7889032" y="4697716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ED81705-AB9F-4344-2954-8F70D163C20D}"/>
              </a:ext>
            </a:extLst>
          </p:cNvPr>
          <p:cNvSpPr txBox="1"/>
          <p:nvPr/>
        </p:nvSpPr>
        <p:spPr>
          <a:xfrm>
            <a:off x="1723053" y="3489341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B8C965E-C19D-D149-7B24-E4793975B6E1}"/>
              </a:ext>
            </a:extLst>
          </p:cNvPr>
          <p:cNvSpPr txBox="1"/>
          <p:nvPr/>
        </p:nvSpPr>
        <p:spPr>
          <a:xfrm>
            <a:off x="828870" y="4699926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C4F960F-8F4B-C79C-754A-0334D5BD0E08}"/>
              </a:ext>
            </a:extLst>
          </p:cNvPr>
          <p:cNvSpPr txBox="1"/>
          <p:nvPr/>
        </p:nvSpPr>
        <p:spPr>
          <a:xfrm>
            <a:off x="3016478" y="3545355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619CF73-5825-368F-634E-E530551B3D55}"/>
              </a:ext>
            </a:extLst>
          </p:cNvPr>
          <p:cNvSpPr txBox="1"/>
          <p:nvPr/>
        </p:nvSpPr>
        <p:spPr>
          <a:xfrm>
            <a:off x="3794449" y="4772362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3BFA66B-F818-F45C-B8E0-9565A70E3DBB}"/>
              </a:ext>
            </a:extLst>
          </p:cNvPr>
          <p:cNvSpPr txBox="1"/>
          <p:nvPr/>
        </p:nvSpPr>
        <p:spPr>
          <a:xfrm>
            <a:off x="1903088" y="4746703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76421DD-EE04-BBE7-41D3-ED1157824843}"/>
              </a:ext>
            </a:extLst>
          </p:cNvPr>
          <p:cNvSpPr txBox="1"/>
          <p:nvPr/>
        </p:nvSpPr>
        <p:spPr>
          <a:xfrm>
            <a:off x="5440164" y="3561777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D7659D6-E889-250B-6C91-A2ACCF4F342A}"/>
              </a:ext>
            </a:extLst>
          </p:cNvPr>
          <p:cNvSpPr txBox="1"/>
          <p:nvPr/>
        </p:nvSpPr>
        <p:spPr>
          <a:xfrm>
            <a:off x="4693716" y="4787789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EF7B85E-3BB8-D64F-1248-A2C18BD0BFFB}"/>
              </a:ext>
            </a:extLst>
          </p:cNvPr>
          <p:cNvSpPr txBox="1"/>
          <p:nvPr/>
        </p:nvSpPr>
        <p:spPr>
          <a:xfrm>
            <a:off x="2680996" y="4801069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6DE0895-A346-57CC-726E-260853F7C32B}"/>
              </a:ext>
            </a:extLst>
          </p:cNvPr>
          <p:cNvSpPr txBox="1"/>
          <p:nvPr/>
        </p:nvSpPr>
        <p:spPr>
          <a:xfrm>
            <a:off x="6769361" y="4699518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87B36A8-4821-C8DD-0E96-366A4543F5F7}"/>
              </a:ext>
            </a:extLst>
          </p:cNvPr>
          <p:cNvSpPr txBox="1"/>
          <p:nvPr/>
        </p:nvSpPr>
        <p:spPr>
          <a:xfrm>
            <a:off x="5841381" y="4787789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260ACC05-3BF8-FFEE-2D57-56F75B546AD1}"/>
              </a:ext>
            </a:extLst>
          </p:cNvPr>
          <p:cNvSpPr txBox="1"/>
          <p:nvPr/>
        </p:nvSpPr>
        <p:spPr>
          <a:xfrm>
            <a:off x="1314642" y="4325924"/>
            <a:ext cx="4667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B5DAE19-F85C-6084-C577-097A4587C5A1}"/>
              </a:ext>
            </a:extLst>
          </p:cNvPr>
          <p:cNvSpPr txBox="1"/>
          <p:nvPr/>
        </p:nvSpPr>
        <p:spPr>
          <a:xfrm>
            <a:off x="3165345" y="4348333"/>
            <a:ext cx="4667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CAFACAD-7E12-8FED-D188-7863DEC088C1}"/>
              </a:ext>
            </a:extLst>
          </p:cNvPr>
          <p:cNvSpPr txBox="1"/>
          <p:nvPr/>
        </p:nvSpPr>
        <p:spPr>
          <a:xfrm>
            <a:off x="5211729" y="4361814"/>
            <a:ext cx="4667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E244E50-8511-5F4A-EB8F-EAB9ED668A67}"/>
              </a:ext>
            </a:extLst>
          </p:cNvPr>
          <p:cNvSpPr txBox="1"/>
          <p:nvPr/>
        </p:nvSpPr>
        <p:spPr>
          <a:xfrm>
            <a:off x="7224609" y="4346778"/>
            <a:ext cx="4667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63E52D2D-EDC1-6718-F31A-F8C09089B779}"/>
              </a:ext>
            </a:extLst>
          </p:cNvPr>
          <p:cNvSpPr txBox="1"/>
          <p:nvPr/>
        </p:nvSpPr>
        <p:spPr>
          <a:xfrm>
            <a:off x="742158" y="5518811"/>
            <a:ext cx="6078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3303720B-A57E-F826-B00B-9BB3DECD657F}"/>
              </a:ext>
            </a:extLst>
          </p:cNvPr>
          <p:cNvSpPr txBox="1"/>
          <p:nvPr/>
        </p:nvSpPr>
        <p:spPr>
          <a:xfrm>
            <a:off x="1629251" y="5499311"/>
            <a:ext cx="6078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001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9C12521-7960-0E27-80FC-63A6372DF4E3}"/>
              </a:ext>
            </a:extLst>
          </p:cNvPr>
          <p:cNvSpPr txBox="1"/>
          <p:nvPr/>
        </p:nvSpPr>
        <p:spPr>
          <a:xfrm>
            <a:off x="2670204" y="5494397"/>
            <a:ext cx="6078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010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30A0FB4-19ED-C733-0214-8B6C8745B7CC}"/>
              </a:ext>
            </a:extLst>
          </p:cNvPr>
          <p:cNvSpPr txBox="1"/>
          <p:nvPr/>
        </p:nvSpPr>
        <p:spPr>
          <a:xfrm>
            <a:off x="3528313" y="5502420"/>
            <a:ext cx="5974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011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3A4997F-9751-B0D8-AA9E-9A03992EBECF}"/>
              </a:ext>
            </a:extLst>
          </p:cNvPr>
          <p:cNvSpPr txBox="1"/>
          <p:nvPr/>
        </p:nvSpPr>
        <p:spPr>
          <a:xfrm>
            <a:off x="4705057" y="5494396"/>
            <a:ext cx="6078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65C09D9-7423-2A27-2C53-7BAD1B07F5CA}"/>
              </a:ext>
            </a:extLst>
          </p:cNvPr>
          <p:cNvSpPr txBox="1"/>
          <p:nvPr/>
        </p:nvSpPr>
        <p:spPr>
          <a:xfrm>
            <a:off x="5592150" y="5500519"/>
            <a:ext cx="6078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AEA048D-92BB-56FE-1436-A96D033F1943}"/>
              </a:ext>
            </a:extLst>
          </p:cNvPr>
          <p:cNvSpPr txBox="1"/>
          <p:nvPr/>
        </p:nvSpPr>
        <p:spPr>
          <a:xfrm>
            <a:off x="6769000" y="5446559"/>
            <a:ext cx="5974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895A78F-EE36-30EA-56C0-B32E67AAA60E}"/>
              </a:ext>
            </a:extLst>
          </p:cNvPr>
          <p:cNvSpPr txBox="1"/>
          <p:nvPr/>
        </p:nvSpPr>
        <p:spPr>
          <a:xfrm>
            <a:off x="7689980" y="5446559"/>
            <a:ext cx="5869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111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79CAABD7-7841-4666-F827-2F618970FD21}"/>
              </a:ext>
            </a:extLst>
          </p:cNvPr>
          <p:cNvSpPr txBox="1"/>
          <p:nvPr/>
        </p:nvSpPr>
        <p:spPr>
          <a:xfrm>
            <a:off x="883222" y="6052211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361D346-7AD7-8DD8-9C44-2D4955A36234}"/>
              </a:ext>
            </a:extLst>
          </p:cNvPr>
          <p:cNvSpPr txBox="1"/>
          <p:nvPr/>
        </p:nvSpPr>
        <p:spPr>
          <a:xfrm>
            <a:off x="1770315" y="6052211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9FE4718-D2E1-14D0-9FBD-C757C3E4212E}"/>
              </a:ext>
            </a:extLst>
          </p:cNvPr>
          <p:cNvSpPr txBox="1"/>
          <p:nvPr/>
        </p:nvSpPr>
        <p:spPr>
          <a:xfrm>
            <a:off x="2730659" y="6051371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B6B0BBD-7CC8-5686-3F75-4224325F738A}"/>
              </a:ext>
            </a:extLst>
          </p:cNvPr>
          <p:cNvSpPr txBox="1"/>
          <p:nvPr/>
        </p:nvSpPr>
        <p:spPr>
          <a:xfrm>
            <a:off x="3617752" y="6051371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0FF7C52C-D6FB-E801-CB25-C9D102D750E2}"/>
              </a:ext>
            </a:extLst>
          </p:cNvPr>
          <p:cNvSpPr txBox="1"/>
          <p:nvPr/>
        </p:nvSpPr>
        <p:spPr>
          <a:xfrm>
            <a:off x="4856581" y="6046113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4C1FB619-CA73-D377-25B0-73817F91E3F4}"/>
              </a:ext>
            </a:extLst>
          </p:cNvPr>
          <p:cNvSpPr txBox="1"/>
          <p:nvPr/>
        </p:nvSpPr>
        <p:spPr>
          <a:xfrm>
            <a:off x="5743674" y="6046113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D719069-B738-23FE-FB0A-2BE7AAD7AA1F}"/>
              </a:ext>
            </a:extLst>
          </p:cNvPr>
          <p:cNvSpPr txBox="1"/>
          <p:nvPr/>
        </p:nvSpPr>
        <p:spPr>
          <a:xfrm>
            <a:off x="6885307" y="6046113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F123344-3505-4393-911D-07921CC85F72}"/>
              </a:ext>
            </a:extLst>
          </p:cNvPr>
          <p:cNvSpPr txBox="1"/>
          <p:nvPr/>
        </p:nvSpPr>
        <p:spPr>
          <a:xfrm>
            <a:off x="7772400" y="6046113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186897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7" dur="500" fill="hold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8" dur="500" fill="hold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500" fill="hold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500" fill="hold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9" dur="500" fill="hold"/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0" dur="500" fill="hold"/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5" dur="500" fill="hold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6" dur="500" fill="hold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1" dur="500" fill="hold"/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2" dur="500" fill="hold"/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7" dur="500" fill="hold"/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8" dur="500" fill="hold"/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3" dur="500" fill="hold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4" dur="500" fill="hold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9" dur="500" fill="hold"/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0" dur="500" fill="hold"/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24" grpId="0" animBg="1"/>
      <p:bldP spid="25" grpId="0" animBg="1"/>
      <p:bldP spid="29" grpId="0" animBg="1"/>
      <p:bldP spid="30" grpId="0" animBg="1"/>
      <p:bldP spid="54" grpId="0" animBg="1"/>
      <p:bldP spid="55" grpId="0" animBg="1"/>
      <p:bldP spid="89" grpId="0"/>
      <p:bldP spid="90" grpId="0"/>
      <p:bldP spid="91" grpId="0"/>
      <p:bldP spid="92" grpId="0"/>
      <p:bldP spid="97" grpId="0"/>
      <p:bldP spid="98" grpId="0"/>
      <p:bldP spid="99" grpId="0"/>
      <p:bldP spid="100" grpId="0"/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08" grpId="0"/>
      <p:bldP spid="110" grpId="0"/>
      <p:bldP spid="111" grpId="0"/>
      <p:bldP spid="112" grpId="0"/>
      <p:bldP spid="113" grpId="0"/>
      <p:bldP spid="115" grpId="0"/>
      <p:bldP spid="116" grpId="0"/>
      <p:bldP spid="117" grpId="0"/>
      <p:bldP spid="118" grpId="0"/>
      <p:bldP spid="119" grpId="0"/>
      <p:bldP spid="120" grpId="0"/>
      <p:bldP spid="1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0" y="1524000"/>
            <a:ext cx="7772400" cy="2505075"/>
          </a:xfrm>
        </p:spPr>
        <p:txBody>
          <a:bodyPr/>
          <a:lstStyle/>
          <a:p>
            <a:r>
              <a:rPr lang="en-US" dirty="0"/>
              <a:t>PROPOSITIONAL LOGIC</a:t>
            </a:r>
          </a:p>
        </p:txBody>
      </p:sp>
    </p:spTree>
    <p:extLst>
      <p:ext uri="{BB962C8B-B14F-4D97-AF65-F5344CB8AC3E}">
        <p14:creationId xmlns:p14="http://schemas.microsoft.com/office/powerpoint/2010/main" val="3169400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76400"/>
            <a:ext cx="300960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declarative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66806" y="1676400"/>
            <a:ext cx="20489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(Declares a fact)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30985"/>
            <a:ext cx="393832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fact is either </a:t>
            </a:r>
            <a:r>
              <a:rPr lang="en-US" sz="2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True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False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199" y="2777315"/>
            <a:ext cx="321754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Example of proposition: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399" y="3223214"/>
            <a:ext cx="445346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Dhaka is the capital of Bangladesh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83413" y="3223214"/>
            <a:ext cx="8976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True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950" y="3654101"/>
            <a:ext cx="15536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 + 1 = 3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21597" y="3654101"/>
            <a:ext cx="96853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False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088" y="4267200"/>
            <a:ext cx="57070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Example of sentences that are not proposition: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1289" y="4743901"/>
            <a:ext cx="288893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What is your hobby?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39948" y="4743901"/>
            <a:ext cx="314541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(Not declarative sentence)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840" y="5174788"/>
            <a:ext cx="329609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Read this book carefully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200950" y="5174788"/>
            <a:ext cx="314541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(Not declarative sentence)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840" y="5605675"/>
            <a:ext cx="15536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x + 1 = 5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732342" y="5605675"/>
            <a:ext cx="33201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(Neither true, Neither false)</a:t>
            </a:r>
          </a:p>
        </p:txBody>
      </p:sp>
    </p:spTree>
    <p:extLst>
      <p:ext uri="{BB962C8B-B14F-4D97-AF65-F5344CB8AC3E}">
        <p14:creationId xmlns:p14="http://schemas.microsoft.com/office/powerpoint/2010/main" val="4162149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6" grpId="0"/>
      <p:bldP spid="17" grpId="0"/>
      <p:bldP spid="18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600" dirty="0"/>
              <a:t>PROPOSITION REPRESENTATION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676400"/>
            <a:ext cx="419537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Proposition is denoted by a letter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1289" y="2133901"/>
            <a:ext cx="474360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Dhaka is the capital of Bangladesh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3213556"/>
            <a:ext cx="383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Representation of Truth value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1289" y="3671057"/>
            <a:ext cx="138634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True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83092" y="3644443"/>
            <a:ext cx="144783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False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CB36FE-98CF-6A72-8637-664EA9551532}"/>
              </a:ext>
            </a:extLst>
          </p:cNvPr>
          <p:cNvSpPr txBox="1"/>
          <p:nvPr/>
        </p:nvSpPr>
        <p:spPr>
          <a:xfrm>
            <a:off x="911289" y="2594918"/>
            <a:ext cx="61718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Here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 p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is a proposition or a propositional variable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6D4EC3-5EAE-F6C6-7299-5785A4342471}"/>
              </a:ext>
            </a:extLst>
          </p:cNvPr>
          <p:cNvSpPr txBox="1"/>
          <p:nvPr/>
        </p:nvSpPr>
        <p:spPr>
          <a:xfrm>
            <a:off x="457200" y="4257877"/>
            <a:ext cx="36006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the above example: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dirty="0"/>
              <a:t>≡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301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4" grpId="0"/>
      <p:bldP spid="3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4A5D57-D0C1-318E-72CF-1E01F913B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LOGICAL OPERATIONS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FA878C-C0E4-C211-AD1A-45D0CFAB9478}"/>
              </a:ext>
            </a:extLst>
          </p:cNvPr>
          <p:cNvSpPr txBox="1"/>
          <p:nvPr/>
        </p:nvSpPr>
        <p:spPr>
          <a:xfrm>
            <a:off x="457200" y="1676400"/>
            <a:ext cx="411173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To form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compound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proposition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4741B6-789D-84F2-57D2-15A6AA8E4E04}"/>
              </a:ext>
            </a:extLst>
          </p:cNvPr>
          <p:cNvSpPr txBox="1"/>
          <p:nvPr/>
        </p:nvSpPr>
        <p:spPr>
          <a:xfrm>
            <a:off x="973907" y="2107287"/>
            <a:ext cx="26926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Today is Sunday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213A13-748B-674B-18F9-AC7F343E01D0}"/>
              </a:ext>
            </a:extLst>
          </p:cNvPr>
          <p:cNvSpPr txBox="1"/>
          <p:nvPr/>
        </p:nvSpPr>
        <p:spPr>
          <a:xfrm>
            <a:off x="973907" y="2568304"/>
            <a:ext cx="21226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It is raining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164A0B-741A-CC7C-ED5A-8F241D45A42F}"/>
              </a:ext>
            </a:extLst>
          </p:cNvPr>
          <p:cNvSpPr txBox="1"/>
          <p:nvPr/>
        </p:nvSpPr>
        <p:spPr>
          <a:xfrm>
            <a:off x="973907" y="3055935"/>
            <a:ext cx="36545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Today is Sunday and it is raining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416990-F4E1-4ACE-C2A2-A88C5A3625C5}"/>
              </a:ext>
            </a:extLst>
          </p:cNvPr>
          <p:cNvSpPr txBox="1"/>
          <p:nvPr/>
        </p:nvSpPr>
        <p:spPr>
          <a:xfrm>
            <a:off x="521323" y="3825376"/>
            <a:ext cx="411480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Lets say, Today is Monday. Then which of the propositions are false?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8859E5-AF6A-0999-5094-67BCB89AF627}"/>
              </a:ext>
            </a:extLst>
          </p:cNvPr>
          <p:cNvSpPr txBox="1"/>
          <p:nvPr/>
        </p:nvSpPr>
        <p:spPr>
          <a:xfrm>
            <a:off x="2575662" y="4504935"/>
            <a:ext cx="7681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3C3988-BC1E-9E5F-A3FF-DE929A36BA8E}"/>
              </a:ext>
            </a:extLst>
          </p:cNvPr>
          <p:cNvSpPr txBox="1"/>
          <p:nvPr/>
        </p:nvSpPr>
        <p:spPr>
          <a:xfrm>
            <a:off x="3794863" y="4503909"/>
            <a:ext cx="7681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r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4D33F2-FEBF-FA8D-2CC7-C44E4E7B159A}"/>
              </a:ext>
            </a:extLst>
          </p:cNvPr>
          <p:cNvSpPr txBox="1"/>
          <p:nvPr/>
        </p:nvSpPr>
        <p:spPr>
          <a:xfrm>
            <a:off x="518261" y="5097439"/>
            <a:ext cx="411480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Lets say, It is not raining. Then which of the propositions are false?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DF343B-5DE5-CD51-D1CF-EF9B64BDD75B}"/>
              </a:ext>
            </a:extLst>
          </p:cNvPr>
          <p:cNvSpPr txBox="1"/>
          <p:nvPr/>
        </p:nvSpPr>
        <p:spPr>
          <a:xfrm>
            <a:off x="2572600" y="5776998"/>
            <a:ext cx="7681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819493-20BC-7546-3795-97C539C51508}"/>
              </a:ext>
            </a:extLst>
          </p:cNvPr>
          <p:cNvSpPr txBox="1"/>
          <p:nvPr/>
        </p:nvSpPr>
        <p:spPr>
          <a:xfrm>
            <a:off x="3791801" y="5775972"/>
            <a:ext cx="7681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r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D30C37-B31D-7AD0-CA61-8F1FA86AC133}"/>
              </a:ext>
            </a:extLst>
          </p:cNvPr>
          <p:cNvSpPr txBox="1"/>
          <p:nvPr/>
        </p:nvSpPr>
        <p:spPr>
          <a:xfrm>
            <a:off x="4959220" y="1649963"/>
            <a:ext cx="3733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Lets say, Today is Sunday. Then which of the propositions are true?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A24002-3562-821F-1959-6434A006370F}"/>
              </a:ext>
            </a:extLst>
          </p:cNvPr>
          <p:cNvSpPr txBox="1"/>
          <p:nvPr/>
        </p:nvSpPr>
        <p:spPr>
          <a:xfrm>
            <a:off x="7924894" y="2313737"/>
            <a:ext cx="7681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EA35C9-3FFF-E80F-7500-5B08D2A4E671}"/>
              </a:ext>
            </a:extLst>
          </p:cNvPr>
          <p:cNvSpPr txBox="1"/>
          <p:nvPr/>
        </p:nvSpPr>
        <p:spPr>
          <a:xfrm>
            <a:off x="4948383" y="2903748"/>
            <a:ext cx="3733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Lets say, It is raining. Then which of the propositions are true?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6312C1-0B29-4EBE-112B-6A3E2813A010}"/>
              </a:ext>
            </a:extLst>
          </p:cNvPr>
          <p:cNvSpPr txBox="1"/>
          <p:nvPr/>
        </p:nvSpPr>
        <p:spPr>
          <a:xfrm>
            <a:off x="6012168" y="3580857"/>
            <a:ext cx="7681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A00ED4-CF97-9332-737D-BA862E206BCF}"/>
              </a:ext>
            </a:extLst>
          </p:cNvPr>
          <p:cNvSpPr txBox="1"/>
          <p:nvPr/>
        </p:nvSpPr>
        <p:spPr>
          <a:xfrm>
            <a:off x="4948383" y="4136115"/>
            <a:ext cx="3733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Lets say, Today is Sunday and also it is raining. Then which of the propositions are true?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163C04-A55A-61B2-FFF7-677DA5459833}"/>
              </a:ext>
            </a:extLst>
          </p:cNvPr>
          <p:cNvSpPr txBox="1"/>
          <p:nvPr/>
        </p:nvSpPr>
        <p:spPr>
          <a:xfrm>
            <a:off x="6012168" y="5125107"/>
            <a:ext cx="7681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C314A0-E189-6E23-D712-C0199CF32F7A}"/>
              </a:ext>
            </a:extLst>
          </p:cNvPr>
          <p:cNvSpPr txBox="1"/>
          <p:nvPr/>
        </p:nvSpPr>
        <p:spPr>
          <a:xfrm>
            <a:off x="6965446" y="5159415"/>
            <a:ext cx="7681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251151-0EE9-4451-A45D-7D571BCB8F73}"/>
              </a:ext>
            </a:extLst>
          </p:cNvPr>
          <p:cNvSpPr txBox="1"/>
          <p:nvPr/>
        </p:nvSpPr>
        <p:spPr>
          <a:xfrm>
            <a:off x="7918724" y="5155596"/>
            <a:ext cx="7681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r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0A5F09-3E62-6F12-6958-D4DADC7256E2}"/>
              </a:ext>
            </a:extLst>
          </p:cNvPr>
          <p:cNvSpPr txBox="1"/>
          <p:nvPr/>
        </p:nvSpPr>
        <p:spPr>
          <a:xfrm>
            <a:off x="4948383" y="5605892"/>
            <a:ext cx="3733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It implies that,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r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is true when both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are true. So,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r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is a combination of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41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10" grpId="0"/>
      <p:bldP spid="11" grpId="0"/>
      <p:bldP spid="12" grpId="0"/>
      <p:bldP spid="16" grpId="0"/>
      <p:bldP spid="17" grpId="0"/>
      <p:bldP spid="18" grpId="0"/>
      <p:bldP spid="22" grpId="0"/>
      <p:bldP spid="23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4A5D57-D0C1-318E-72CF-1E01F913B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LOGICAL OPERATIONS</a:t>
            </a:r>
          </a:p>
        </p:txBody>
      </p:sp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5853C627-6738-FBA7-F77D-399B0295D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07656"/>
              </p:ext>
            </p:extLst>
          </p:nvPr>
        </p:nvGraphicFramePr>
        <p:xfrm>
          <a:off x="609600" y="2362200"/>
          <a:ext cx="8001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>
                  <a:extLst>
                    <a:ext uri="{9D8B030D-6E8A-4147-A177-3AD203B41FA5}">
                      <a16:colId xmlns:a16="http://schemas.microsoft.com/office/drawing/2014/main" val="2844917359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517947635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8305564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781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478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6650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743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81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1725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76062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3475200-1DF8-6703-D028-42973D587669}"/>
              </a:ext>
            </a:extLst>
          </p:cNvPr>
          <p:cNvSpPr txBox="1"/>
          <p:nvPr/>
        </p:nvSpPr>
        <p:spPr>
          <a:xfrm>
            <a:off x="457200" y="1676400"/>
            <a:ext cx="412484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are two propositions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E072D5-E721-8A7E-F62E-DBC75E5DFB80}"/>
              </a:ext>
            </a:extLst>
          </p:cNvPr>
          <p:cNvSpPr txBox="1"/>
          <p:nvPr/>
        </p:nvSpPr>
        <p:spPr>
          <a:xfrm>
            <a:off x="609600" y="2357534"/>
            <a:ext cx="135966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Operation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996CD1-7984-8F7B-BE5D-45A6A9A2C56C}"/>
              </a:ext>
            </a:extLst>
          </p:cNvPr>
          <p:cNvSpPr txBox="1"/>
          <p:nvPr/>
        </p:nvSpPr>
        <p:spPr>
          <a:xfrm>
            <a:off x="4615121" y="2357534"/>
            <a:ext cx="12330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Operator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ECFE25-AB87-6405-6ACF-5E23189F407D}"/>
              </a:ext>
            </a:extLst>
          </p:cNvPr>
          <p:cNvSpPr txBox="1"/>
          <p:nvPr/>
        </p:nvSpPr>
        <p:spPr>
          <a:xfrm>
            <a:off x="6711920" y="2357534"/>
            <a:ext cx="125066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DFF9D1-7793-1B40-F35D-B32491E2611F}"/>
              </a:ext>
            </a:extLst>
          </p:cNvPr>
          <p:cNvSpPr txBox="1"/>
          <p:nvPr/>
        </p:nvSpPr>
        <p:spPr>
          <a:xfrm>
            <a:off x="628261" y="2823224"/>
            <a:ext cx="12186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Negation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001D00-AA07-2661-31F8-67FD1946630F}"/>
              </a:ext>
            </a:extLst>
          </p:cNvPr>
          <p:cNvSpPr txBox="1"/>
          <p:nvPr/>
        </p:nvSpPr>
        <p:spPr>
          <a:xfrm>
            <a:off x="4645678" y="2823538"/>
            <a:ext cx="51809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AF7157-C6A8-59B2-119B-2129C2C30D36}"/>
              </a:ext>
            </a:extLst>
          </p:cNvPr>
          <p:cNvSpPr txBox="1"/>
          <p:nvPr/>
        </p:nvSpPr>
        <p:spPr>
          <a:xfrm>
            <a:off x="5529359" y="2603754"/>
            <a:ext cx="351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53DB20-A301-6033-967D-BE196A7F5F47}"/>
              </a:ext>
            </a:extLst>
          </p:cNvPr>
          <p:cNvSpPr txBox="1"/>
          <p:nvPr/>
        </p:nvSpPr>
        <p:spPr>
          <a:xfrm>
            <a:off x="5061176" y="2837860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or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1F2E17-45C8-3632-C841-6DB20D35A96C}"/>
              </a:ext>
            </a:extLst>
          </p:cNvPr>
          <p:cNvSpPr txBox="1"/>
          <p:nvPr/>
        </p:nvSpPr>
        <p:spPr>
          <a:xfrm>
            <a:off x="6711920" y="2840007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b="1" i="1" dirty="0"/>
              <a:t>p</a:t>
            </a:r>
            <a:endParaRPr lang="en-US" sz="22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9D5CA5-117B-DA32-3419-423AD0176DEC}"/>
              </a:ext>
            </a:extLst>
          </p:cNvPr>
          <p:cNvSpPr txBox="1"/>
          <p:nvPr/>
        </p:nvSpPr>
        <p:spPr>
          <a:xfrm>
            <a:off x="7282415" y="2827891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or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827C3A6-DED4-12FC-35E5-EA2C1D154740}"/>
                  </a:ext>
                </a:extLst>
              </p:cNvPr>
              <p:cNvSpPr txBox="1"/>
              <p:nvPr/>
            </p:nvSpPr>
            <p:spPr>
              <a:xfrm>
                <a:off x="7649549" y="2778452"/>
                <a:ext cx="41575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200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827C3A6-DED4-12FC-35E5-EA2C1D154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9549" y="2778452"/>
                <a:ext cx="415755" cy="430887"/>
              </a:xfrm>
              <a:prstGeom prst="rect">
                <a:avLst/>
              </a:prstGeom>
              <a:blipFill>
                <a:blip r:embed="rId2"/>
                <a:stretch>
                  <a:fillRect r="-27941"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2E4C5853-7ECD-E8C7-7E7D-410345205D24}"/>
              </a:ext>
            </a:extLst>
          </p:cNvPr>
          <p:cNvSpPr txBox="1"/>
          <p:nvPr/>
        </p:nvSpPr>
        <p:spPr>
          <a:xfrm>
            <a:off x="623596" y="3268748"/>
            <a:ext cx="25768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Conjunction (AND)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E135A4-C2AF-194A-8AD8-3B919E079B5F}"/>
              </a:ext>
            </a:extLst>
          </p:cNvPr>
          <p:cNvSpPr txBox="1"/>
          <p:nvPr/>
        </p:nvSpPr>
        <p:spPr>
          <a:xfrm>
            <a:off x="4725393" y="3325012"/>
            <a:ext cx="37542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US" sz="26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A9EBAC-1540-4F6F-8EFE-E86107AD80F0}"/>
              </a:ext>
            </a:extLst>
          </p:cNvPr>
          <p:cNvSpPr txBox="1"/>
          <p:nvPr/>
        </p:nvSpPr>
        <p:spPr>
          <a:xfrm>
            <a:off x="6824964" y="3320334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i="1" dirty="0"/>
              <a:t>p ^ q</a:t>
            </a:r>
            <a:endParaRPr lang="en-US" sz="22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5A69ACC-7B2D-18F3-E008-8132C5467BC9}"/>
              </a:ext>
            </a:extLst>
          </p:cNvPr>
          <p:cNvSpPr txBox="1"/>
          <p:nvPr/>
        </p:nvSpPr>
        <p:spPr>
          <a:xfrm>
            <a:off x="623595" y="3722445"/>
            <a:ext cx="33443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Disjunction (Inclusive OR)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ADCB07-23AA-3504-7404-7677C9643B0F}"/>
              </a:ext>
            </a:extLst>
          </p:cNvPr>
          <p:cNvSpPr txBox="1"/>
          <p:nvPr/>
        </p:nvSpPr>
        <p:spPr>
          <a:xfrm>
            <a:off x="4741858" y="3662034"/>
            <a:ext cx="325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en-US" sz="22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62138B-CE32-0ECB-2A17-AC1A315409BB}"/>
              </a:ext>
            </a:extLst>
          </p:cNvPr>
          <p:cNvSpPr txBox="1"/>
          <p:nvPr/>
        </p:nvSpPr>
        <p:spPr>
          <a:xfrm>
            <a:off x="6816582" y="3713620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i="1" dirty="0"/>
              <a:t>p </a:t>
            </a: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ko-KR" b="1" i="1" dirty="0"/>
              <a:t> q</a:t>
            </a:r>
            <a:endParaRPr lang="en-US" sz="22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4ECB42-6034-AA2C-050A-BDE3C0208F96}"/>
              </a:ext>
            </a:extLst>
          </p:cNvPr>
          <p:cNvSpPr txBox="1"/>
          <p:nvPr/>
        </p:nvSpPr>
        <p:spPr>
          <a:xfrm>
            <a:off x="623596" y="4176197"/>
            <a:ext cx="2743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Exclusive OR (XOR)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FE95BF3-3C46-64DB-2710-F74BCD0C4B42}"/>
                  </a:ext>
                </a:extLst>
              </p:cNvPr>
              <p:cNvSpPr txBox="1"/>
              <p:nvPr/>
            </p:nvSpPr>
            <p:spPr>
              <a:xfrm>
                <a:off x="4725393" y="4176196"/>
                <a:ext cx="53572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dirty="0" smtClean="0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en-US" sz="2200" b="1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FE95BF3-3C46-64DB-2710-F74BCD0C4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5393" y="4176196"/>
                <a:ext cx="535724" cy="430887"/>
              </a:xfrm>
              <a:prstGeom prst="rect">
                <a:avLst/>
              </a:prstGeom>
              <a:blipFill>
                <a:blip r:embed="rId3"/>
                <a:stretch>
                  <a:fillRect b="-8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166AF63-13DC-4150-7A23-5C2A0C4B2D7E}"/>
                  </a:ext>
                </a:extLst>
              </p:cNvPr>
              <p:cNvSpPr txBox="1"/>
              <p:nvPr/>
            </p:nvSpPr>
            <p:spPr>
              <a:xfrm>
                <a:off x="6811773" y="4172639"/>
                <a:ext cx="7809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b="1" i="1" dirty="0"/>
                  <a:t>p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⊕</m:t>
                    </m:r>
                  </m:oMath>
                </a14:m>
                <a:r>
                  <a:rPr lang="en-US" altLang="ko-KR" b="1" i="1" dirty="0"/>
                  <a:t> q</a:t>
                </a:r>
                <a:endParaRPr lang="en-US" sz="2200" b="1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166AF63-13DC-4150-7A23-5C2A0C4B2D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1773" y="4172639"/>
                <a:ext cx="780983" cy="369332"/>
              </a:xfrm>
              <a:prstGeom prst="rect">
                <a:avLst/>
              </a:prstGeom>
              <a:blipFill>
                <a:blip r:embed="rId4"/>
                <a:stretch>
                  <a:fillRect l="-6202" t="-8197" r="-542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9F6803C0-90EB-451F-1F80-672A1EC861CA}"/>
              </a:ext>
            </a:extLst>
          </p:cNvPr>
          <p:cNvSpPr txBox="1"/>
          <p:nvPr/>
        </p:nvSpPr>
        <p:spPr>
          <a:xfrm>
            <a:off x="623596" y="4667111"/>
            <a:ext cx="17386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Implication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F433952-69CE-98B0-2CD7-B191B70CE1A2}"/>
                  </a:ext>
                </a:extLst>
              </p:cNvPr>
              <p:cNvSpPr txBox="1"/>
              <p:nvPr/>
            </p:nvSpPr>
            <p:spPr>
              <a:xfrm>
                <a:off x="4736195" y="4583836"/>
                <a:ext cx="490840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dirty="0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sz="2200" b="1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F433952-69CE-98B0-2CD7-B191B70CE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6195" y="4583836"/>
                <a:ext cx="490840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22A478E-FBAF-16BF-904B-BB4EFBB1BA37}"/>
                  </a:ext>
                </a:extLst>
              </p:cNvPr>
              <p:cNvSpPr txBox="1"/>
              <p:nvPr/>
            </p:nvSpPr>
            <p:spPr>
              <a:xfrm>
                <a:off x="6811772" y="4631658"/>
                <a:ext cx="7457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b="1" i="1" dirty="0"/>
                  <a:t>p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b="1" i="1" dirty="0"/>
                  <a:t> q</a:t>
                </a:r>
                <a:endParaRPr lang="en-US" sz="2200" b="1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22A478E-FBAF-16BF-904B-BB4EFBB1B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1772" y="4631658"/>
                <a:ext cx="745717" cy="369332"/>
              </a:xfrm>
              <a:prstGeom prst="rect">
                <a:avLst/>
              </a:prstGeom>
              <a:blipFill>
                <a:blip r:embed="rId6"/>
                <a:stretch>
                  <a:fillRect l="-6504" t="-10000" r="-650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AA4225E1-C24E-11B0-1571-37894E4A4670}"/>
              </a:ext>
            </a:extLst>
          </p:cNvPr>
          <p:cNvSpPr txBox="1"/>
          <p:nvPr/>
        </p:nvSpPr>
        <p:spPr>
          <a:xfrm>
            <a:off x="623596" y="5097998"/>
            <a:ext cx="2743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Biconditional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DE09F86-44B6-2F58-AC10-A71D0B099913}"/>
              </a:ext>
            </a:extLst>
          </p:cNvPr>
          <p:cNvSpPr txBox="1"/>
          <p:nvPr/>
        </p:nvSpPr>
        <p:spPr>
          <a:xfrm>
            <a:off x="4725393" y="5097998"/>
            <a:ext cx="4667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↔</a:t>
            </a:r>
            <a:endParaRPr lang="en-US" sz="22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4480049-BB8A-C9F2-90F6-BDD082970B69}"/>
              </a:ext>
            </a:extLst>
          </p:cNvPr>
          <p:cNvSpPr txBox="1"/>
          <p:nvPr/>
        </p:nvSpPr>
        <p:spPr>
          <a:xfrm>
            <a:off x="6824964" y="5090677"/>
            <a:ext cx="782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i="1" dirty="0"/>
              <a:t>p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↔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b="1" i="1" dirty="0"/>
              <a:t>q</a:t>
            </a:r>
            <a:endParaRPr lang="en-US" sz="22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AC6D664-6D2E-14B9-FDC3-BC8836877CD4}"/>
              </a:ext>
            </a:extLst>
          </p:cNvPr>
          <p:cNvSpPr txBox="1"/>
          <p:nvPr/>
        </p:nvSpPr>
        <p:spPr>
          <a:xfrm>
            <a:off x="481048" y="5744328"/>
            <a:ext cx="748153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Implication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2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Biconditional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indicate conditional statements</a:t>
            </a:r>
          </a:p>
        </p:txBody>
      </p:sp>
    </p:spTree>
    <p:extLst>
      <p:ext uri="{BB962C8B-B14F-4D97-AF65-F5344CB8AC3E}">
        <p14:creationId xmlns:p14="http://schemas.microsoft.com/office/powerpoint/2010/main" val="3733678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3" grpId="0"/>
      <p:bldP spid="14" grpId="0"/>
      <p:bldP spid="15" grpId="0"/>
      <p:bldP spid="19" grpId="0"/>
      <p:bldP spid="20" grpId="0"/>
      <p:bldP spid="21" grpId="0"/>
      <p:bldP spid="24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600" dirty="0"/>
              <a:t>NEGATION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676400"/>
            <a:ext cx="422583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Consider the following statement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1289" y="2133901"/>
            <a:ext cx="26926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Today is Sunday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3213556"/>
            <a:ext cx="19573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b="1" i="1" u="sng" dirty="0">
                <a:latin typeface="Times New Roman" pitchFamily="18" charset="0"/>
                <a:cs typeface="Times New Roman" pitchFamily="18" charset="0"/>
              </a:rPr>
              <a:t>How to read</a:t>
            </a:r>
            <a:endParaRPr lang="en-US" sz="2200" b="1" i="1" u="sng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1289" y="3644443"/>
            <a:ext cx="306846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It is not the case that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CB36FE-98CF-6A72-8637-664EA9551532}"/>
              </a:ext>
            </a:extLst>
          </p:cNvPr>
          <p:cNvSpPr txBox="1"/>
          <p:nvPr/>
        </p:nvSpPr>
        <p:spPr>
          <a:xfrm>
            <a:off x="911289" y="2594918"/>
            <a:ext cx="44441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is True if Today is not Sunday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52CD90-2B04-993A-0E04-AC6CF146D3FA}"/>
              </a:ext>
            </a:extLst>
          </p:cNvPr>
          <p:cNvSpPr txBox="1"/>
          <p:nvPr/>
        </p:nvSpPr>
        <p:spPr>
          <a:xfrm>
            <a:off x="911289" y="4077767"/>
            <a:ext cx="260680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Simple expression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894887-C5E8-7DDC-5398-CAAD15DD2364}"/>
              </a:ext>
            </a:extLst>
          </p:cNvPr>
          <p:cNvSpPr txBox="1"/>
          <p:nvPr/>
        </p:nvSpPr>
        <p:spPr>
          <a:xfrm>
            <a:off x="457200" y="4663190"/>
            <a:ext cx="29658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Find the negation of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25EC66-29BA-9E6F-4E8F-6D619B3DEB8D}"/>
              </a:ext>
            </a:extLst>
          </p:cNvPr>
          <p:cNvSpPr txBox="1"/>
          <p:nvPr/>
        </p:nvSpPr>
        <p:spPr>
          <a:xfrm>
            <a:off x="898848" y="5094077"/>
            <a:ext cx="53270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It is not the case that today is Sunday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609715-0056-6096-787C-2E7054EF29AF}"/>
              </a:ext>
            </a:extLst>
          </p:cNvPr>
          <p:cNvSpPr txBox="1"/>
          <p:nvPr/>
        </p:nvSpPr>
        <p:spPr>
          <a:xfrm>
            <a:off x="911289" y="5561649"/>
            <a:ext cx="3431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Today is not Sunday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489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3" grpId="0"/>
      <p:bldP spid="5" grpId="0"/>
      <p:bldP spid="6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600" dirty="0"/>
              <a:t>NEGATION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676400"/>
            <a:ext cx="36260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 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The Sun rises in the East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894887-C5E8-7DDC-5398-CAAD15DD2364}"/>
              </a:ext>
            </a:extLst>
          </p:cNvPr>
          <p:cNvSpPr txBox="1"/>
          <p:nvPr/>
        </p:nvSpPr>
        <p:spPr>
          <a:xfrm>
            <a:off x="457200" y="2138065"/>
            <a:ext cx="29658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Find the negation of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25EC66-29BA-9E6F-4E8F-6D619B3DEB8D}"/>
              </a:ext>
            </a:extLst>
          </p:cNvPr>
          <p:cNvSpPr txBox="1"/>
          <p:nvPr/>
        </p:nvSpPr>
        <p:spPr>
          <a:xfrm>
            <a:off x="898848" y="2568952"/>
            <a:ext cx="48299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The Sun does not rise in the East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609715-0056-6096-787C-2E7054EF29AF}"/>
              </a:ext>
            </a:extLst>
          </p:cNvPr>
          <p:cNvSpPr txBox="1"/>
          <p:nvPr/>
        </p:nvSpPr>
        <p:spPr>
          <a:xfrm>
            <a:off x="911289" y="3036524"/>
            <a:ext cx="62279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It is not the case that the Sun rises in the East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8B28F5-006B-9A0B-FDB8-7347D6BC7AC4}"/>
              </a:ext>
            </a:extLst>
          </p:cNvPr>
          <p:cNvSpPr txBox="1"/>
          <p:nvPr/>
        </p:nvSpPr>
        <p:spPr>
          <a:xfrm>
            <a:off x="457200" y="3798524"/>
            <a:ext cx="68002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 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Rizu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has at least two thousand taka in his money bag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E16677-66F7-3B58-D1CD-B58143045F9F}"/>
              </a:ext>
            </a:extLst>
          </p:cNvPr>
          <p:cNvSpPr txBox="1"/>
          <p:nvPr/>
        </p:nvSpPr>
        <p:spPr>
          <a:xfrm>
            <a:off x="457200" y="4260189"/>
            <a:ext cx="29658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Find the negation of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ED61DB-0357-EA69-034D-9F58C20DAB32}"/>
              </a:ext>
            </a:extLst>
          </p:cNvPr>
          <p:cNvSpPr txBox="1"/>
          <p:nvPr/>
        </p:nvSpPr>
        <p:spPr>
          <a:xfrm>
            <a:off x="898848" y="4691076"/>
            <a:ext cx="8229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Rizu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does not have at least two thousand taka in his money bag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82D66A-A2D8-DE7B-49A8-CB709CD233E7}"/>
              </a:ext>
            </a:extLst>
          </p:cNvPr>
          <p:cNvSpPr txBox="1"/>
          <p:nvPr/>
        </p:nvSpPr>
        <p:spPr>
          <a:xfrm>
            <a:off x="911289" y="5158648"/>
            <a:ext cx="74707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Rizu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has less than two thousand taka in his money bag 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26F48A-50E4-E0C8-B7DD-9197D074C181}"/>
              </a:ext>
            </a:extLst>
          </p:cNvPr>
          <p:cNvSpPr txBox="1"/>
          <p:nvPr/>
        </p:nvSpPr>
        <p:spPr>
          <a:xfrm>
            <a:off x="911288" y="5614406"/>
            <a:ext cx="808031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It is not the case that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Rizu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has at least two thousand taka in his money bag 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999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6" grpId="0"/>
      <p:bldP spid="7" grpId="0"/>
      <p:bldP spid="8" grpId="0"/>
      <p:bldP spid="4" grpId="0"/>
      <p:bldP spid="9" grpId="0"/>
      <p:bldP spid="10" grpId="0"/>
      <p:bldP spid="11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600" dirty="0"/>
              <a:t>NEGATION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676400"/>
            <a:ext cx="17802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Truth Table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2839CD76-1A8C-AAE3-E776-1EAD825829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875097"/>
              </p:ext>
            </p:extLst>
          </p:nvPr>
        </p:nvGraphicFramePr>
        <p:xfrm>
          <a:off x="3657600" y="2240280"/>
          <a:ext cx="16764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82306008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164586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ㄱ</a:t>
                      </a:r>
                      <a:r>
                        <a:rPr kumimoji="0" lang="en-US" altLang="ko-KR" sz="1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endParaRPr kumimoji="0" lang="en-US" sz="22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683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429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221198"/>
                  </a:ext>
                </a:extLst>
              </a:tr>
            </a:tbl>
          </a:graphicData>
        </a:graphic>
      </p:graphicFrame>
      <p:graphicFrame>
        <p:nvGraphicFramePr>
          <p:cNvPr id="11" name="Table 9">
            <a:extLst>
              <a:ext uri="{FF2B5EF4-FFF2-40B4-BE49-F238E27FC236}">
                <a16:creationId xmlns:a16="http://schemas.microsoft.com/office/drawing/2014/main" id="{95DE751E-8CDD-2744-0940-C9EB324589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428224"/>
              </p:ext>
            </p:extLst>
          </p:nvPr>
        </p:nvGraphicFramePr>
        <p:xfrm>
          <a:off x="914400" y="2240280"/>
          <a:ext cx="16764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82306008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164586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ㄱ</a:t>
                      </a:r>
                      <a:r>
                        <a:rPr kumimoji="0" lang="en-US" altLang="ko-KR" sz="1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endParaRPr kumimoji="0" lang="en-US" sz="22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683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429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2211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4859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600" dirty="0"/>
              <a:t>CONJUNCTION (AND)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676400"/>
            <a:ext cx="43348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Consider the following statements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1289" y="2133901"/>
            <a:ext cx="26926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Today is Sunday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3711906"/>
            <a:ext cx="19573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b="1" i="1" u="sng" dirty="0">
                <a:latin typeface="Times New Roman" pitchFamily="18" charset="0"/>
                <a:cs typeface="Times New Roman" pitchFamily="18" charset="0"/>
              </a:rPr>
              <a:t>How to read</a:t>
            </a:r>
            <a:endParaRPr lang="en-US" sz="2200" b="1" i="1" u="sng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1289" y="4142793"/>
            <a:ext cx="13612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CB36FE-98CF-6A72-8637-664EA9551532}"/>
              </a:ext>
            </a:extLst>
          </p:cNvPr>
          <p:cNvSpPr txBox="1"/>
          <p:nvPr/>
        </p:nvSpPr>
        <p:spPr>
          <a:xfrm>
            <a:off x="911289" y="2594918"/>
            <a:ext cx="2845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altLang="ko-K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It is raining today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52CD90-2B04-993A-0E04-AC6CF146D3FA}"/>
              </a:ext>
            </a:extLst>
          </p:cNvPr>
          <p:cNvSpPr txBox="1"/>
          <p:nvPr/>
        </p:nvSpPr>
        <p:spPr>
          <a:xfrm>
            <a:off x="911289" y="4576117"/>
            <a:ext cx="812594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but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(If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implies the contradictory meaning to each other)</a:t>
            </a:r>
            <a:endParaRPr lang="en-US" sz="2200" b="1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894887-C5E8-7DDC-5398-CAAD15DD2364}"/>
              </a:ext>
            </a:extLst>
          </p:cNvPr>
          <p:cNvSpPr txBox="1"/>
          <p:nvPr/>
        </p:nvSpPr>
        <p:spPr>
          <a:xfrm>
            <a:off x="457200" y="5161540"/>
            <a:ext cx="401584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Find the conjunction of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25EC66-29BA-9E6F-4E8F-6D619B3DEB8D}"/>
              </a:ext>
            </a:extLst>
          </p:cNvPr>
          <p:cNvSpPr txBox="1"/>
          <p:nvPr/>
        </p:nvSpPr>
        <p:spPr>
          <a:xfrm>
            <a:off x="898848" y="5592427"/>
            <a:ext cx="53344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 is Sunday and it is raining today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6D1402-A7DB-858B-30A5-6D6BC3B4C825}"/>
              </a:ext>
            </a:extLst>
          </p:cNvPr>
          <p:cNvSpPr txBox="1"/>
          <p:nvPr/>
        </p:nvSpPr>
        <p:spPr>
          <a:xfrm>
            <a:off x="911289" y="3146094"/>
            <a:ext cx="46602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altLang="ko-K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^ q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true </a:t>
            </a:r>
            <a:r>
              <a:rPr lang="en-US" altLang="ko-KR" sz="2200" dirty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both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are true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536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3" grpId="0"/>
      <p:bldP spid="5" grpId="0"/>
      <p:bldP spid="6" grpId="0"/>
      <p:bldP spid="7" grpId="0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600" dirty="0"/>
              <a:t>CONJUNCTION (AND)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676400"/>
            <a:ext cx="34092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 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Today the sky is sunny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894887-C5E8-7DDC-5398-CAAD15DD2364}"/>
              </a:ext>
            </a:extLst>
          </p:cNvPr>
          <p:cNvSpPr txBox="1"/>
          <p:nvPr/>
        </p:nvSpPr>
        <p:spPr>
          <a:xfrm>
            <a:off x="457200" y="2895600"/>
            <a:ext cx="339708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Find the conjunction of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25EC66-29BA-9E6F-4E8F-6D619B3DEB8D}"/>
              </a:ext>
            </a:extLst>
          </p:cNvPr>
          <p:cNvSpPr txBox="1"/>
          <p:nvPr/>
        </p:nvSpPr>
        <p:spPr>
          <a:xfrm>
            <a:off x="898848" y="3326487"/>
            <a:ext cx="64997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altLang="ko-K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^ q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Today the sky is sunny and it is raining today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609715-0056-6096-787C-2E7054EF29AF}"/>
              </a:ext>
            </a:extLst>
          </p:cNvPr>
          <p:cNvSpPr txBox="1"/>
          <p:nvPr/>
        </p:nvSpPr>
        <p:spPr>
          <a:xfrm>
            <a:off x="911289" y="3794059"/>
            <a:ext cx="64533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altLang="ko-K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^ q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Today the sky is sunny but it is raining today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3E6676-5287-D4D0-B2F1-631BD954D327}"/>
              </a:ext>
            </a:extLst>
          </p:cNvPr>
          <p:cNvSpPr txBox="1"/>
          <p:nvPr/>
        </p:nvSpPr>
        <p:spPr>
          <a:xfrm>
            <a:off x="457316" y="2181031"/>
            <a:ext cx="28328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 q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It is raining today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798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6" grpId="0"/>
      <p:bldP spid="7" grpId="0"/>
      <p:bldP spid="8" grpId="0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600" dirty="0"/>
              <a:t>CONJUNCTION (AND)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676400"/>
            <a:ext cx="17802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Truth Table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2839CD76-1A8C-AAE3-E776-1EAD825829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9733925"/>
              </p:ext>
            </p:extLst>
          </p:nvPr>
        </p:nvGraphicFramePr>
        <p:xfrm>
          <a:off x="914400" y="2240280"/>
          <a:ext cx="19050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194">
                  <a:extLst>
                    <a:ext uri="{9D8B030D-6E8A-4147-A177-3AD203B41FA5}">
                      <a16:colId xmlns:a16="http://schemas.microsoft.com/office/drawing/2014/main" val="1823060088"/>
                    </a:ext>
                  </a:extLst>
                </a:gridCol>
                <a:gridCol w="516194">
                  <a:extLst>
                    <a:ext uri="{9D8B030D-6E8A-4147-A177-3AD203B41FA5}">
                      <a16:colId xmlns:a16="http://schemas.microsoft.com/office/drawing/2014/main" val="1715107724"/>
                    </a:ext>
                  </a:extLst>
                </a:gridCol>
                <a:gridCol w="872612">
                  <a:extLst>
                    <a:ext uri="{9D8B030D-6E8A-4147-A177-3AD203B41FA5}">
                      <a16:colId xmlns:a16="http://schemas.microsoft.com/office/drawing/2014/main" val="32164586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 ^ q</a:t>
                      </a:r>
                      <a:r>
                        <a:rPr kumimoji="0" lang="en-US" altLang="ko-KR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kumimoji="0" lang="en-US" sz="20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683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429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221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51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49598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3C349B7-65E0-36C4-41DC-A64EB4BD00F0}"/>
              </a:ext>
            </a:extLst>
          </p:cNvPr>
          <p:cNvSpPr txBox="1"/>
          <p:nvPr/>
        </p:nvSpPr>
        <p:spPr>
          <a:xfrm>
            <a:off x="945502" y="263458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5B7A4A-F13B-41EE-6AE8-782953AB704B}"/>
              </a:ext>
            </a:extLst>
          </p:cNvPr>
          <p:cNvSpPr txBox="1"/>
          <p:nvPr/>
        </p:nvSpPr>
        <p:spPr>
          <a:xfrm>
            <a:off x="1515894" y="263458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B11A06-7757-D92F-8A6A-F1B83C888370}"/>
              </a:ext>
            </a:extLst>
          </p:cNvPr>
          <p:cNvSpPr txBox="1"/>
          <p:nvPr/>
        </p:nvSpPr>
        <p:spPr>
          <a:xfrm>
            <a:off x="2131102" y="263303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B9FF2D-D2DF-D1BC-C123-CF981CA874EC}"/>
              </a:ext>
            </a:extLst>
          </p:cNvPr>
          <p:cNvSpPr txBox="1"/>
          <p:nvPr/>
        </p:nvSpPr>
        <p:spPr>
          <a:xfrm>
            <a:off x="945502" y="301159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643D6F-F217-4276-3DB5-FF43768F7412}"/>
              </a:ext>
            </a:extLst>
          </p:cNvPr>
          <p:cNvSpPr txBox="1"/>
          <p:nvPr/>
        </p:nvSpPr>
        <p:spPr>
          <a:xfrm>
            <a:off x="1515894" y="301159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82F9FD-136E-15E2-117D-055BB2DBA731}"/>
              </a:ext>
            </a:extLst>
          </p:cNvPr>
          <p:cNvSpPr txBox="1"/>
          <p:nvPr/>
        </p:nvSpPr>
        <p:spPr>
          <a:xfrm>
            <a:off x="2131102" y="301003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335C6C-DCBC-7B53-FC76-4A75FE191829}"/>
              </a:ext>
            </a:extLst>
          </p:cNvPr>
          <p:cNvSpPr txBox="1"/>
          <p:nvPr/>
        </p:nvSpPr>
        <p:spPr>
          <a:xfrm>
            <a:off x="945502" y="338860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515381-F114-38DA-0E54-116A175A0C33}"/>
              </a:ext>
            </a:extLst>
          </p:cNvPr>
          <p:cNvSpPr txBox="1"/>
          <p:nvPr/>
        </p:nvSpPr>
        <p:spPr>
          <a:xfrm>
            <a:off x="1515894" y="338860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197F9A-AB4B-81C5-0741-5AD157D94641}"/>
              </a:ext>
            </a:extLst>
          </p:cNvPr>
          <p:cNvSpPr txBox="1"/>
          <p:nvPr/>
        </p:nvSpPr>
        <p:spPr>
          <a:xfrm>
            <a:off x="2131102" y="338704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844E28-A7FD-33D5-8C92-88D05C291C75}"/>
              </a:ext>
            </a:extLst>
          </p:cNvPr>
          <p:cNvSpPr txBox="1"/>
          <p:nvPr/>
        </p:nvSpPr>
        <p:spPr>
          <a:xfrm>
            <a:off x="945502" y="382292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1203BB-B779-7D06-D8B9-EE58BE5B8BE0}"/>
              </a:ext>
            </a:extLst>
          </p:cNvPr>
          <p:cNvSpPr txBox="1"/>
          <p:nvPr/>
        </p:nvSpPr>
        <p:spPr>
          <a:xfrm>
            <a:off x="1515894" y="382292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98CAEA-4381-D893-D35D-B76C3B6BEAF0}"/>
              </a:ext>
            </a:extLst>
          </p:cNvPr>
          <p:cNvSpPr txBox="1"/>
          <p:nvPr/>
        </p:nvSpPr>
        <p:spPr>
          <a:xfrm>
            <a:off x="2131102" y="382137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24" name="Table 9">
            <a:extLst>
              <a:ext uri="{FF2B5EF4-FFF2-40B4-BE49-F238E27FC236}">
                <a16:creationId xmlns:a16="http://schemas.microsoft.com/office/drawing/2014/main" id="{034E87C3-AF25-0395-113F-E56A831B2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109498"/>
              </p:ext>
            </p:extLst>
          </p:nvPr>
        </p:nvGraphicFramePr>
        <p:xfrm>
          <a:off x="3959902" y="2240280"/>
          <a:ext cx="1907498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194">
                  <a:extLst>
                    <a:ext uri="{9D8B030D-6E8A-4147-A177-3AD203B41FA5}">
                      <a16:colId xmlns:a16="http://schemas.microsoft.com/office/drawing/2014/main" val="1823060088"/>
                    </a:ext>
                  </a:extLst>
                </a:gridCol>
                <a:gridCol w="516194">
                  <a:extLst>
                    <a:ext uri="{9D8B030D-6E8A-4147-A177-3AD203B41FA5}">
                      <a16:colId xmlns:a16="http://schemas.microsoft.com/office/drawing/2014/main" val="1715107724"/>
                    </a:ext>
                  </a:extLst>
                </a:gridCol>
                <a:gridCol w="875110">
                  <a:extLst>
                    <a:ext uri="{9D8B030D-6E8A-4147-A177-3AD203B41FA5}">
                      <a16:colId xmlns:a16="http://schemas.microsoft.com/office/drawing/2014/main" val="32164586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 ^ q</a:t>
                      </a:r>
                      <a:r>
                        <a:rPr kumimoji="0" lang="en-US" altLang="ko-KR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kumimoji="0" lang="en-US" sz="20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683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429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221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51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495988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052B530A-E7B8-71DE-FDED-817481947571}"/>
              </a:ext>
            </a:extLst>
          </p:cNvPr>
          <p:cNvSpPr txBox="1"/>
          <p:nvPr/>
        </p:nvSpPr>
        <p:spPr>
          <a:xfrm>
            <a:off x="3991004" y="263458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759B15-7F9B-162F-1BB8-E20CA1449B07}"/>
              </a:ext>
            </a:extLst>
          </p:cNvPr>
          <p:cNvSpPr txBox="1"/>
          <p:nvPr/>
        </p:nvSpPr>
        <p:spPr>
          <a:xfrm>
            <a:off x="4561396" y="263458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3E4C54-4009-6E28-1DB9-F8C83914DC7D}"/>
              </a:ext>
            </a:extLst>
          </p:cNvPr>
          <p:cNvSpPr txBox="1"/>
          <p:nvPr/>
        </p:nvSpPr>
        <p:spPr>
          <a:xfrm>
            <a:off x="5176604" y="2633030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ED39AE-3BA6-2073-21B0-2D0997E0DCE0}"/>
              </a:ext>
            </a:extLst>
          </p:cNvPr>
          <p:cNvSpPr txBox="1"/>
          <p:nvPr/>
        </p:nvSpPr>
        <p:spPr>
          <a:xfrm>
            <a:off x="3991004" y="301159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ED9923-4ED5-0569-0AC4-C60B48B97474}"/>
              </a:ext>
            </a:extLst>
          </p:cNvPr>
          <p:cNvSpPr txBox="1"/>
          <p:nvPr/>
        </p:nvSpPr>
        <p:spPr>
          <a:xfrm>
            <a:off x="4561396" y="3011594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9D640D-2AD9-9A5C-2ACF-F9A662D12621}"/>
              </a:ext>
            </a:extLst>
          </p:cNvPr>
          <p:cNvSpPr txBox="1"/>
          <p:nvPr/>
        </p:nvSpPr>
        <p:spPr>
          <a:xfrm>
            <a:off x="5176604" y="3010039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4BD728-95F3-422B-0CD5-A6E8DE41E391}"/>
              </a:ext>
            </a:extLst>
          </p:cNvPr>
          <p:cNvSpPr txBox="1"/>
          <p:nvPr/>
        </p:nvSpPr>
        <p:spPr>
          <a:xfrm>
            <a:off x="3991004" y="3388603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5C0AD6-1E8E-0B9F-129D-8A638589B06B}"/>
              </a:ext>
            </a:extLst>
          </p:cNvPr>
          <p:cNvSpPr txBox="1"/>
          <p:nvPr/>
        </p:nvSpPr>
        <p:spPr>
          <a:xfrm>
            <a:off x="4561396" y="3388603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2E3B8B-7C79-01D4-20C8-931EFA61BDB0}"/>
              </a:ext>
            </a:extLst>
          </p:cNvPr>
          <p:cNvSpPr txBox="1"/>
          <p:nvPr/>
        </p:nvSpPr>
        <p:spPr>
          <a:xfrm>
            <a:off x="5176604" y="3387048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D0F36E-4862-4D9E-88E8-4F3479808A66}"/>
              </a:ext>
            </a:extLst>
          </p:cNvPr>
          <p:cNvSpPr txBox="1"/>
          <p:nvPr/>
        </p:nvSpPr>
        <p:spPr>
          <a:xfrm>
            <a:off x="3991004" y="3822925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7E2177-3863-AA71-DBBA-4B224EEDDAF3}"/>
              </a:ext>
            </a:extLst>
          </p:cNvPr>
          <p:cNvSpPr txBox="1"/>
          <p:nvPr/>
        </p:nvSpPr>
        <p:spPr>
          <a:xfrm>
            <a:off x="4561396" y="3822925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7725EDC-6189-FC21-B3B1-60B08ED0AE6B}"/>
              </a:ext>
            </a:extLst>
          </p:cNvPr>
          <p:cNvSpPr txBox="1"/>
          <p:nvPr/>
        </p:nvSpPr>
        <p:spPr>
          <a:xfrm>
            <a:off x="5176604" y="3821370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1473283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" grpId="0"/>
      <p:bldP spid="4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1" grpId="0"/>
      <p:bldP spid="22" grpId="0"/>
      <p:bldP spid="23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600" dirty="0"/>
              <a:t>DISJUNCTION (OR)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676400"/>
            <a:ext cx="43348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Consider the following statements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1289" y="2133901"/>
            <a:ext cx="503990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The light turns on by the main switch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3711906"/>
            <a:ext cx="19573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b="1" i="1" u="sng" dirty="0">
                <a:latin typeface="Times New Roman" pitchFamily="18" charset="0"/>
                <a:cs typeface="Times New Roman" pitchFamily="18" charset="0"/>
              </a:rPr>
              <a:t>How to read</a:t>
            </a:r>
            <a:endParaRPr lang="en-US" sz="2200" b="1" i="1" u="sng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1289" y="4142793"/>
            <a:ext cx="11897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or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CB36FE-98CF-6A72-8637-664EA9551532}"/>
              </a:ext>
            </a:extLst>
          </p:cNvPr>
          <p:cNvSpPr txBox="1"/>
          <p:nvPr/>
        </p:nvSpPr>
        <p:spPr>
          <a:xfrm>
            <a:off x="911289" y="2594918"/>
            <a:ext cx="49135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altLang="ko-K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light turns on by the bed switch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894887-C5E8-7DDC-5398-CAAD15DD2364}"/>
              </a:ext>
            </a:extLst>
          </p:cNvPr>
          <p:cNvSpPr txBox="1"/>
          <p:nvPr/>
        </p:nvSpPr>
        <p:spPr>
          <a:xfrm>
            <a:off x="457200" y="4750713"/>
            <a:ext cx="393729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Find the disjunction of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25EC66-29BA-9E6F-4E8F-6D619B3DEB8D}"/>
              </a:ext>
            </a:extLst>
          </p:cNvPr>
          <p:cNvSpPr txBox="1"/>
          <p:nvPr/>
        </p:nvSpPr>
        <p:spPr>
          <a:xfrm>
            <a:off x="898848" y="5181600"/>
            <a:ext cx="77879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light turns on by the main switch or the light turns on by the bed switch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6D1402-A7DB-858B-30A5-6D6BC3B4C825}"/>
              </a:ext>
            </a:extLst>
          </p:cNvPr>
          <p:cNvSpPr txBox="1"/>
          <p:nvPr/>
        </p:nvSpPr>
        <p:spPr>
          <a:xfrm>
            <a:off x="911289" y="3146094"/>
            <a:ext cx="58160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altLang="ko-K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ko-K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true </a:t>
            </a:r>
            <a:r>
              <a:rPr lang="en-US" altLang="ko-KR" sz="2200" dirty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any one between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is true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755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3" grpId="0"/>
      <p:bldP spid="6" grpId="0"/>
      <p:bldP spid="7" grpId="0"/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600" dirty="0"/>
              <a:t>DISJUNCTION (OR)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676400"/>
            <a:ext cx="17802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Truth Table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2839CD76-1A8C-AAE3-E776-1EAD825829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960831"/>
              </p:ext>
            </p:extLst>
          </p:nvPr>
        </p:nvGraphicFramePr>
        <p:xfrm>
          <a:off x="914400" y="2240280"/>
          <a:ext cx="19050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194">
                  <a:extLst>
                    <a:ext uri="{9D8B030D-6E8A-4147-A177-3AD203B41FA5}">
                      <a16:colId xmlns:a16="http://schemas.microsoft.com/office/drawing/2014/main" val="1823060088"/>
                    </a:ext>
                  </a:extLst>
                </a:gridCol>
                <a:gridCol w="516194">
                  <a:extLst>
                    <a:ext uri="{9D8B030D-6E8A-4147-A177-3AD203B41FA5}">
                      <a16:colId xmlns:a16="http://schemas.microsoft.com/office/drawing/2014/main" val="1715107724"/>
                    </a:ext>
                  </a:extLst>
                </a:gridCol>
                <a:gridCol w="872612">
                  <a:extLst>
                    <a:ext uri="{9D8B030D-6E8A-4147-A177-3AD203B41FA5}">
                      <a16:colId xmlns:a16="http://schemas.microsoft.com/office/drawing/2014/main" val="32164586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 </a:t>
                      </a:r>
                      <a:r>
                        <a:rPr kumimoji="0" lang="en-US" sz="22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ko-KR" sz="1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q</a:t>
                      </a:r>
                      <a:endParaRPr kumimoji="0" lang="en-US" sz="22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683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429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221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51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49598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3C349B7-65E0-36C4-41DC-A64EB4BD00F0}"/>
              </a:ext>
            </a:extLst>
          </p:cNvPr>
          <p:cNvSpPr txBox="1"/>
          <p:nvPr/>
        </p:nvSpPr>
        <p:spPr>
          <a:xfrm>
            <a:off x="945502" y="263458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5B7A4A-F13B-41EE-6AE8-782953AB704B}"/>
              </a:ext>
            </a:extLst>
          </p:cNvPr>
          <p:cNvSpPr txBox="1"/>
          <p:nvPr/>
        </p:nvSpPr>
        <p:spPr>
          <a:xfrm>
            <a:off x="1515894" y="263458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B11A06-7757-D92F-8A6A-F1B83C888370}"/>
              </a:ext>
            </a:extLst>
          </p:cNvPr>
          <p:cNvSpPr txBox="1"/>
          <p:nvPr/>
        </p:nvSpPr>
        <p:spPr>
          <a:xfrm>
            <a:off x="2131102" y="263303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B9FF2D-D2DF-D1BC-C123-CF981CA874EC}"/>
              </a:ext>
            </a:extLst>
          </p:cNvPr>
          <p:cNvSpPr txBox="1"/>
          <p:nvPr/>
        </p:nvSpPr>
        <p:spPr>
          <a:xfrm>
            <a:off x="945502" y="301159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643D6F-F217-4276-3DB5-FF43768F7412}"/>
              </a:ext>
            </a:extLst>
          </p:cNvPr>
          <p:cNvSpPr txBox="1"/>
          <p:nvPr/>
        </p:nvSpPr>
        <p:spPr>
          <a:xfrm>
            <a:off x="1515894" y="301159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82F9FD-136E-15E2-117D-055BB2DBA731}"/>
              </a:ext>
            </a:extLst>
          </p:cNvPr>
          <p:cNvSpPr txBox="1"/>
          <p:nvPr/>
        </p:nvSpPr>
        <p:spPr>
          <a:xfrm>
            <a:off x="2131102" y="301003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335C6C-DCBC-7B53-FC76-4A75FE191829}"/>
              </a:ext>
            </a:extLst>
          </p:cNvPr>
          <p:cNvSpPr txBox="1"/>
          <p:nvPr/>
        </p:nvSpPr>
        <p:spPr>
          <a:xfrm>
            <a:off x="945502" y="338860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515381-F114-38DA-0E54-116A175A0C33}"/>
              </a:ext>
            </a:extLst>
          </p:cNvPr>
          <p:cNvSpPr txBox="1"/>
          <p:nvPr/>
        </p:nvSpPr>
        <p:spPr>
          <a:xfrm>
            <a:off x="1515894" y="338860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197F9A-AB4B-81C5-0741-5AD157D94641}"/>
              </a:ext>
            </a:extLst>
          </p:cNvPr>
          <p:cNvSpPr txBox="1"/>
          <p:nvPr/>
        </p:nvSpPr>
        <p:spPr>
          <a:xfrm>
            <a:off x="2131102" y="338704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844E28-A7FD-33D5-8C92-88D05C291C75}"/>
              </a:ext>
            </a:extLst>
          </p:cNvPr>
          <p:cNvSpPr txBox="1"/>
          <p:nvPr/>
        </p:nvSpPr>
        <p:spPr>
          <a:xfrm>
            <a:off x="945502" y="382292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1203BB-B779-7D06-D8B9-EE58BE5B8BE0}"/>
              </a:ext>
            </a:extLst>
          </p:cNvPr>
          <p:cNvSpPr txBox="1"/>
          <p:nvPr/>
        </p:nvSpPr>
        <p:spPr>
          <a:xfrm>
            <a:off x="1515894" y="382292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98CAEA-4381-D893-D35D-B76C3B6BEAF0}"/>
              </a:ext>
            </a:extLst>
          </p:cNvPr>
          <p:cNvSpPr txBox="1"/>
          <p:nvPr/>
        </p:nvSpPr>
        <p:spPr>
          <a:xfrm>
            <a:off x="2131102" y="382137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24" name="Table 9">
            <a:extLst>
              <a:ext uri="{FF2B5EF4-FFF2-40B4-BE49-F238E27FC236}">
                <a16:creationId xmlns:a16="http://schemas.microsoft.com/office/drawing/2014/main" id="{034E87C3-AF25-0395-113F-E56A831B2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220816"/>
              </p:ext>
            </p:extLst>
          </p:nvPr>
        </p:nvGraphicFramePr>
        <p:xfrm>
          <a:off x="3959902" y="2240280"/>
          <a:ext cx="1907498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194">
                  <a:extLst>
                    <a:ext uri="{9D8B030D-6E8A-4147-A177-3AD203B41FA5}">
                      <a16:colId xmlns:a16="http://schemas.microsoft.com/office/drawing/2014/main" val="1823060088"/>
                    </a:ext>
                  </a:extLst>
                </a:gridCol>
                <a:gridCol w="516194">
                  <a:extLst>
                    <a:ext uri="{9D8B030D-6E8A-4147-A177-3AD203B41FA5}">
                      <a16:colId xmlns:a16="http://schemas.microsoft.com/office/drawing/2014/main" val="1715107724"/>
                    </a:ext>
                  </a:extLst>
                </a:gridCol>
                <a:gridCol w="875110">
                  <a:extLst>
                    <a:ext uri="{9D8B030D-6E8A-4147-A177-3AD203B41FA5}">
                      <a16:colId xmlns:a16="http://schemas.microsoft.com/office/drawing/2014/main" val="32164586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 </a:t>
                      </a:r>
                      <a:r>
                        <a:rPr kumimoji="0" lang="en-US" sz="22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ko-KR" sz="1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q</a:t>
                      </a:r>
                      <a:endParaRPr kumimoji="0" lang="en-US" sz="22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683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429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221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51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495988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052B530A-E7B8-71DE-FDED-817481947571}"/>
              </a:ext>
            </a:extLst>
          </p:cNvPr>
          <p:cNvSpPr txBox="1"/>
          <p:nvPr/>
        </p:nvSpPr>
        <p:spPr>
          <a:xfrm>
            <a:off x="3991004" y="263458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759B15-7F9B-162F-1BB8-E20CA1449B07}"/>
              </a:ext>
            </a:extLst>
          </p:cNvPr>
          <p:cNvSpPr txBox="1"/>
          <p:nvPr/>
        </p:nvSpPr>
        <p:spPr>
          <a:xfrm>
            <a:off x="4561396" y="263458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3E4C54-4009-6E28-1DB9-F8C83914DC7D}"/>
              </a:ext>
            </a:extLst>
          </p:cNvPr>
          <p:cNvSpPr txBox="1"/>
          <p:nvPr/>
        </p:nvSpPr>
        <p:spPr>
          <a:xfrm>
            <a:off x="5176604" y="2633030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ED39AE-3BA6-2073-21B0-2D0997E0DCE0}"/>
              </a:ext>
            </a:extLst>
          </p:cNvPr>
          <p:cNvSpPr txBox="1"/>
          <p:nvPr/>
        </p:nvSpPr>
        <p:spPr>
          <a:xfrm>
            <a:off x="3991004" y="301159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ED9923-4ED5-0569-0AC4-C60B48B97474}"/>
              </a:ext>
            </a:extLst>
          </p:cNvPr>
          <p:cNvSpPr txBox="1"/>
          <p:nvPr/>
        </p:nvSpPr>
        <p:spPr>
          <a:xfrm>
            <a:off x="4561396" y="3011594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9D640D-2AD9-9A5C-2ACF-F9A662D12621}"/>
              </a:ext>
            </a:extLst>
          </p:cNvPr>
          <p:cNvSpPr txBox="1"/>
          <p:nvPr/>
        </p:nvSpPr>
        <p:spPr>
          <a:xfrm>
            <a:off x="5176604" y="3010039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4BD728-95F3-422B-0CD5-A6E8DE41E391}"/>
              </a:ext>
            </a:extLst>
          </p:cNvPr>
          <p:cNvSpPr txBox="1"/>
          <p:nvPr/>
        </p:nvSpPr>
        <p:spPr>
          <a:xfrm>
            <a:off x="3991004" y="3388603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5C0AD6-1E8E-0B9F-129D-8A638589B06B}"/>
              </a:ext>
            </a:extLst>
          </p:cNvPr>
          <p:cNvSpPr txBox="1"/>
          <p:nvPr/>
        </p:nvSpPr>
        <p:spPr>
          <a:xfrm>
            <a:off x="4561396" y="3388603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2E3B8B-7C79-01D4-20C8-931EFA61BDB0}"/>
              </a:ext>
            </a:extLst>
          </p:cNvPr>
          <p:cNvSpPr txBox="1"/>
          <p:nvPr/>
        </p:nvSpPr>
        <p:spPr>
          <a:xfrm>
            <a:off x="5176604" y="3387048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D0F36E-4862-4D9E-88E8-4F3479808A66}"/>
              </a:ext>
            </a:extLst>
          </p:cNvPr>
          <p:cNvSpPr txBox="1"/>
          <p:nvPr/>
        </p:nvSpPr>
        <p:spPr>
          <a:xfrm>
            <a:off x="3991004" y="3822925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7E2177-3863-AA71-DBBA-4B224EEDDAF3}"/>
              </a:ext>
            </a:extLst>
          </p:cNvPr>
          <p:cNvSpPr txBox="1"/>
          <p:nvPr/>
        </p:nvSpPr>
        <p:spPr>
          <a:xfrm>
            <a:off x="4561396" y="3822925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7725EDC-6189-FC21-B3B1-60B08ED0AE6B}"/>
              </a:ext>
            </a:extLst>
          </p:cNvPr>
          <p:cNvSpPr txBox="1"/>
          <p:nvPr/>
        </p:nvSpPr>
        <p:spPr>
          <a:xfrm>
            <a:off x="5176604" y="3821370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3493832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" grpId="0"/>
      <p:bldP spid="4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1" grpId="0"/>
      <p:bldP spid="22" grpId="0"/>
      <p:bldP spid="23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600" dirty="0"/>
              <a:t>EXCLUSIVE OR (XOR)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676400"/>
            <a:ext cx="43348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Consider the following statements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1289" y="2133901"/>
            <a:ext cx="52998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Sheikh Hasina is the PM of Bangladesh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3711906"/>
            <a:ext cx="19573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b="1" i="1" u="sng" dirty="0">
                <a:latin typeface="Times New Roman" pitchFamily="18" charset="0"/>
                <a:cs typeface="Times New Roman" pitchFamily="18" charset="0"/>
              </a:rPr>
              <a:t>How to read</a:t>
            </a:r>
            <a:endParaRPr lang="en-US" sz="2200" b="1" i="1" u="sng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1289" y="4142793"/>
            <a:ext cx="19960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Either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 p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or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CB36FE-98CF-6A72-8637-664EA9551532}"/>
              </a:ext>
            </a:extLst>
          </p:cNvPr>
          <p:cNvSpPr txBox="1"/>
          <p:nvPr/>
        </p:nvSpPr>
        <p:spPr>
          <a:xfrm>
            <a:off x="911289" y="2594918"/>
            <a:ext cx="5075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altLang="ko-K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Khaleda Zia is the PM of Bangladesh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894887-C5E8-7DDC-5398-CAAD15DD2364}"/>
              </a:ext>
            </a:extLst>
          </p:cNvPr>
          <p:cNvSpPr txBox="1"/>
          <p:nvPr/>
        </p:nvSpPr>
        <p:spPr>
          <a:xfrm>
            <a:off x="457200" y="5135475"/>
            <a:ext cx="393729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Find the disjunction of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25EC66-29BA-9E6F-4E8F-6D619B3DEB8D}"/>
              </a:ext>
            </a:extLst>
          </p:cNvPr>
          <p:cNvSpPr txBox="1"/>
          <p:nvPr/>
        </p:nvSpPr>
        <p:spPr>
          <a:xfrm>
            <a:off x="898848" y="5505354"/>
            <a:ext cx="8092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Either Sheikh Hasina or Khaleda Zia is the PM of Bangladesh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26D1402-A7DB-858B-30A5-6D6BC3B4C825}"/>
                  </a:ext>
                </a:extLst>
              </p:cNvPr>
              <p:cNvSpPr txBox="1"/>
              <p:nvPr/>
            </p:nvSpPr>
            <p:spPr>
              <a:xfrm>
                <a:off x="911289" y="3146094"/>
                <a:ext cx="459613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itchFamily="34" charset="0"/>
                  <a:buChar char="•"/>
                </a:pPr>
                <a:r>
                  <a:rPr lang="en-US" altLang="ko-KR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 </a:t>
                </a:r>
                <a14:m>
                  <m:oMath xmlns:m="http://schemas.openxmlformats.org/officeDocument/2006/math">
                    <m:r>
                      <a:rPr lang="en-US" altLang="ko-KR" sz="2400" b="1" i="1">
                        <a:latin typeface="Cambria Math" panose="02040503050406030204" pitchFamily="18" charset="0"/>
                      </a:rPr>
                      <m:t>⊕</m:t>
                    </m:r>
                  </m:oMath>
                </a14:m>
                <a:r>
                  <a:rPr lang="en-US" altLang="ko-KR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</a:t>
                </a:r>
                <a:r>
                  <a:rPr lang="en-US" altLang="ko-K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true </a:t>
                </a:r>
                <a:r>
                  <a:rPr lang="en-US" altLang="ko-KR" sz="2200" dirty="0">
                    <a:latin typeface="Times New Roman" pitchFamily="18" charset="0"/>
                    <a:cs typeface="Times New Roman" pitchFamily="18" charset="0"/>
                  </a:rPr>
                  <a:t>if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either </a:t>
                </a:r>
                <a:r>
                  <a:rPr lang="en-US" sz="2200" b="1" i="1" dirty="0">
                    <a:latin typeface="Times New Roman" pitchFamily="18" charset="0"/>
                    <a:cs typeface="Times New Roman" pitchFamily="18" charset="0"/>
                  </a:rPr>
                  <a:t>p 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or </a:t>
                </a:r>
                <a:r>
                  <a:rPr lang="en-US" sz="2200" b="1" i="1" dirty="0">
                    <a:latin typeface="Times New Roman" pitchFamily="18" charset="0"/>
                    <a:cs typeface="Times New Roman" pitchFamily="18" charset="0"/>
                  </a:rPr>
                  <a:t>q 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is true</a:t>
                </a:r>
                <a:endParaRPr lang="en-US" sz="2200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26D1402-A7DB-858B-30A5-6D6BC3B4C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289" y="3146094"/>
                <a:ext cx="4596130" cy="461665"/>
              </a:xfrm>
              <a:prstGeom prst="rect">
                <a:avLst/>
              </a:prstGeom>
              <a:blipFill>
                <a:blip r:embed="rId2"/>
                <a:stretch>
                  <a:fillRect l="-1724" t="-10526" r="-663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31A11D3-79DF-E66E-6F30-1D99CC6CE7F7}"/>
              </a:ext>
            </a:extLst>
          </p:cNvPr>
          <p:cNvSpPr txBox="1"/>
          <p:nvPr/>
        </p:nvSpPr>
        <p:spPr>
          <a:xfrm>
            <a:off x="915954" y="4566047"/>
            <a:ext cx="26244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or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but not both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A849C4-C34F-82AE-1DB5-B31D9D7FEA06}"/>
              </a:ext>
            </a:extLst>
          </p:cNvPr>
          <p:cNvSpPr txBox="1"/>
          <p:nvPr/>
        </p:nvSpPr>
        <p:spPr>
          <a:xfrm>
            <a:off x="911289" y="5955137"/>
            <a:ext cx="80927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Sheikh Hasina or Khaleda Zia but not both is the PM of Bangladesh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7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3" grpId="0"/>
      <p:bldP spid="6" grpId="0"/>
      <p:bldP spid="7" grpId="0"/>
      <p:bldP spid="4" grpId="0"/>
      <p:bldP spid="5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600" dirty="0"/>
              <a:t>EXCLUSIVE OR (XOR)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676400"/>
            <a:ext cx="185076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Truth Table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9">
                <a:extLst>
                  <a:ext uri="{FF2B5EF4-FFF2-40B4-BE49-F238E27FC236}">
                    <a16:creationId xmlns:a16="http://schemas.microsoft.com/office/drawing/2014/main" id="{2839CD76-1A8C-AAE3-E776-1EAD825829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0701535"/>
                  </p:ext>
                </p:extLst>
              </p:nvPr>
            </p:nvGraphicFramePr>
            <p:xfrm>
              <a:off x="914400" y="2240280"/>
              <a:ext cx="1905000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6194">
                      <a:extLst>
                        <a:ext uri="{9D8B030D-6E8A-4147-A177-3AD203B41FA5}">
                          <a16:colId xmlns:a16="http://schemas.microsoft.com/office/drawing/2014/main" val="1823060088"/>
                        </a:ext>
                      </a:extLst>
                    </a:gridCol>
                    <a:gridCol w="516194">
                      <a:extLst>
                        <a:ext uri="{9D8B030D-6E8A-4147-A177-3AD203B41FA5}">
                          <a16:colId xmlns:a16="http://schemas.microsoft.com/office/drawing/2014/main" val="1715107724"/>
                        </a:ext>
                      </a:extLst>
                    </a:gridCol>
                    <a:gridCol w="872612">
                      <a:extLst>
                        <a:ext uri="{9D8B030D-6E8A-4147-A177-3AD203B41FA5}">
                          <a16:colId xmlns:a16="http://schemas.microsoft.com/office/drawing/2014/main" val="32164586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ko-KR" sz="18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p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altLang="ko-KR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⊕</m:t>
                              </m:r>
                            </m:oMath>
                          </a14:m>
                          <a:r>
                            <a:rPr kumimoji="0" lang="en-US" altLang="ko-KR" sz="18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q</a:t>
                          </a:r>
                          <a:endParaRPr kumimoji="0" lang="en-US" sz="22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16838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74291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62211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2514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44959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9">
                <a:extLst>
                  <a:ext uri="{FF2B5EF4-FFF2-40B4-BE49-F238E27FC236}">
                    <a16:creationId xmlns:a16="http://schemas.microsoft.com/office/drawing/2014/main" id="{2839CD76-1A8C-AAE3-E776-1EAD825829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0701535"/>
                  </p:ext>
                </p:extLst>
              </p:nvPr>
            </p:nvGraphicFramePr>
            <p:xfrm>
              <a:off x="914400" y="2240280"/>
              <a:ext cx="1905000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6194">
                      <a:extLst>
                        <a:ext uri="{9D8B030D-6E8A-4147-A177-3AD203B41FA5}">
                          <a16:colId xmlns:a16="http://schemas.microsoft.com/office/drawing/2014/main" val="1823060088"/>
                        </a:ext>
                      </a:extLst>
                    </a:gridCol>
                    <a:gridCol w="516194">
                      <a:extLst>
                        <a:ext uri="{9D8B030D-6E8A-4147-A177-3AD203B41FA5}">
                          <a16:colId xmlns:a16="http://schemas.microsoft.com/office/drawing/2014/main" val="1715107724"/>
                        </a:ext>
                      </a:extLst>
                    </a:gridCol>
                    <a:gridCol w="872612">
                      <a:extLst>
                        <a:ext uri="{9D8B030D-6E8A-4147-A177-3AD203B41FA5}">
                          <a16:colId xmlns:a16="http://schemas.microsoft.com/office/drawing/2014/main" val="321645861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20280" t="-7692" r="-1399" b="-4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168384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742913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622119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25146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449598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3C349B7-65E0-36C4-41DC-A64EB4BD00F0}"/>
              </a:ext>
            </a:extLst>
          </p:cNvPr>
          <p:cNvSpPr txBox="1"/>
          <p:nvPr/>
        </p:nvSpPr>
        <p:spPr>
          <a:xfrm>
            <a:off x="945502" y="263458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5B7A4A-F13B-41EE-6AE8-782953AB704B}"/>
              </a:ext>
            </a:extLst>
          </p:cNvPr>
          <p:cNvSpPr txBox="1"/>
          <p:nvPr/>
        </p:nvSpPr>
        <p:spPr>
          <a:xfrm>
            <a:off x="1515894" y="263458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B11A06-7757-D92F-8A6A-F1B83C888370}"/>
              </a:ext>
            </a:extLst>
          </p:cNvPr>
          <p:cNvSpPr txBox="1"/>
          <p:nvPr/>
        </p:nvSpPr>
        <p:spPr>
          <a:xfrm>
            <a:off x="2131102" y="263303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B9FF2D-D2DF-D1BC-C123-CF981CA874EC}"/>
              </a:ext>
            </a:extLst>
          </p:cNvPr>
          <p:cNvSpPr txBox="1"/>
          <p:nvPr/>
        </p:nvSpPr>
        <p:spPr>
          <a:xfrm>
            <a:off x="945502" y="301159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643D6F-F217-4276-3DB5-FF43768F7412}"/>
              </a:ext>
            </a:extLst>
          </p:cNvPr>
          <p:cNvSpPr txBox="1"/>
          <p:nvPr/>
        </p:nvSpPr>
        <p:spPr>
          <a:xfrm>
            <a:off x="1515894" y="301159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82F9FD-136E-15E2-117D-055BB2DBA731}"/>
              </a:ext>
            </a:extLst>
          </p:cNvPr>
          <p:cNvSpPr txBox="1"/>
          <p:nvPr/>
        </p:nvSpPr>
        <p:spPr>
          <a:xfrm>
            <a:off x="2131102" y="301003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335C6C-DCBC-7B53-FC76-4A75FE191829}"/>
              </a:ext>
            </a:extLst>
          </p:cNvPr>
          <p:cNvSpPr txBox="1"/>
          <p:nvPr/>
        </p:nvSpPr>
        <p:spPr>
          <a:xfrm>
            <a:off x="945502" y="338860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515381-F114-38DA-0E54-116A175A0C33}"/>
              </a:ext>
            </a:extLst>
          </p:cNvPr>
          <p:cNvSpPr txBox="1"/>
          <p:nvPr/>
        </p:nvSpPr>
        <p:spPr>
          <a:xfrm>
            <a:off x="1515894" y="338860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197F9A-AB4B-81C5-0741-5AD157D94641}"/>
              </a:ext>
            </a:extLst>
          </p:cNvPr>
          <p:cNvSpPr txBox="1"/>
          <p:nvPr/>
        </p:nvSpPr>
        <p:spPr>
          <a:xfrm>
            <a:off x="2131102" y="338704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844E28-A7FD-33D5-8C92-88D05C291C75}"/>
              </a:ext>
            </a:extLst>
          </p:cNvPr>
          <p:cNvSpPr txBox="1"/>
          <p:nvPr/>
        </p:nvSpPr>
        <p:spPr>
          <a:xfrm>
            <a:off x="945502" y="382292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1203BB-B779-7D06-D8B9-EE58BE5B8BE0}"/>
              </a:ext>
            </a:extLst>
          </p:cNvPr>
          <p:cNvSpPr txBox="1"/>
          <p:nvPr/>
        </p:nvSpPr>
        <p:spPr>
          <a:xfrm>
            <a:off x="1515894" y="382292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98CAEA-4381-D893-D35D-B76C3B6BEAF0}"/>
              </a:ext>
            </a:extLst>
          </p:cNvPr>
          <p:cNvSpPr txBox="1"/>
          <p:nvPr/>
        </p:nvSpPr>
        <p:spPr>
          <a:xfrm>
            <a:off x="2131102" y="382137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Table 9">
                <a:extLst>
                  <a:ext uri="{FF2B5EF4-FFF2-40B4-BE49-F238E27FC236}">
                    <a16:creationId xmlns:a16="http://schemas.microsoft.com/office/drawing/2014/main" id="{034E87C3-AF25-0395-113F-E56A831B2C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3416213"/>
                  </p:ext>
                </p:extLst>
              </p:nvPr>
            </p:nvGraphicFramePr>
            <p:xfrm>
              <a:off x="3959902" y="2240280"/>
              <a:ext cx="1907498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6194">
                      <a:extLst>
                        <a:ext uri="{9D8B030D-6E8A-4147-A177-3AD203B41FA5}">
                          <a16:colId xmlns:a16="http://schemas.microsoft.com/office/drawing/2014/main" val="1823060088"/>
                        </a:ext>
                      </a:extLst>
                    </a:gridCol>
                    <a:gridCol w="516194">
                      <a:extLst>
                        <a:ext uri="{9D8B030D-6E8A-4147-A177-3AD203B41FA5}">
                          <a16:colId xmlns:a16="http://schemas.microsoft.com/office/drawing/2014/main" val="1715107724"/>
                        </a:ext>
                      </a:extLst>
                    </a:gridCol>
                    <a:gridCol w="875110">
                      <a:extLst>
                        <a:ext uri="{9D8B030D-6E8A-4147-A177-3AD203B41FA5}">
                          <a16:colId xmlns:a16="http://schemas.microsoft.com/office/drawing/2014/main" val="32164586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ko-KR" sz="18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p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altLang="ko-KR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⊕</m:t>
                              </m:r>
                            </m:oMath>
                          </a14:m>
                          <a:r>
                            <a:rPr kumimoji="0" lang="en-US" altLang="ko-KR" sz="18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q</a:t>
                          </a:r>
                          <a:endParaRPr kumimoji="0" lang="en-US" sz="22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16838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74291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62211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2514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44959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Table 9">
                <a:extLst>
                  <a:ext uri="{FF2B5EF4-FFF2-40B4-BE49-F238E27FC236}">
                    <a16:creationId xmlns:a16="http://schemas.microsoft.com/office/drawing/2014/main" id="{034E87C3-AF25-0395-113F-E56A831B2C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3416213"/>
                  </p:ext>
                </p:extLst>
              </p:nvPr>
            </p:nvGraphicFramePr>
            <p:xfrm>
              <a:off x="3959902" y="2240280"/>
              <a:ext cx="1907498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6194">
                      <a:extLst>
                        <a:ext uri="{9D8B030D-6E8A-4147-A177-3AD203B41FA5}">
                          <a16:colId xmlns:a16="http://schemas.microsoft.com/office/drawing/2014/main" val="1823060088"/>
                        </a:ext>
                      </a:extLst>
                    </a:gridCol>
                    <a:gridCol w="516194">
                      <a:extLst>
                        <a:ext uri="{9D8B030D-6E8A-4147-A177-3AD203B41FA5}">
                          <a16:colId xmlns:a16="http://schemas.microsoft.com/office/drawing/2014/main" val="1715107724"/>
                        </a:ext>
                      </a:extLst>
                    </a:gridCol>
                    <a:gridCol w="875110">
                      <a:extLst>
                        <a:ext uri="{9D8B030D-6E8A-4147-A177-3AD203B41FA5}">
                          <a16:colId xmlns:a16="http://schemas.microsoft.com/office/drawing/2014/main" val="321645861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8750" t="-7692" r="-1389" b="-4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168384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742913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622119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25146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449598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052B530A-E7B8-71DE-FDED-817481947571}"/>
              </a:ext>
            </a:extLst>
          </p:cNvPr>
          <p:cNvSpPr txBox="1"/>
          <p:nvPr/>
        </p:nvSpPr>
        <p:spPr>
          <a:xfrm>
            <a:off x="3991004" y="263458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759B15-7F9B-162F-1BB8-E20CA1449B07}"/>
              </a:ext>
            </a:extLst>
          </p:cNvPr>
          <p:cNvSpPr txBox="1"/>
          <p:nvPr/>
        </p:nvSpPr>
        <p:spPr>
          <a:xfrm>
            <a:off x="4561396" y="263458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3E4C54-4009-6E28-1DB9-F8C83914DC7D}"/>
              </a:ext>
            </a:extLst>
          </p:cNvPr>
          <p:cNvSpPr txBox="1"/>
          <p:nvPr/>
        </p:nvSpPr>
        <p:spPr>
          <a:xfrm>
            <a:off x="5176604" y="2633030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ED39AE-3BA6-2073-21B0-2D0997E0DCE0}"/>
              </a:ext>
            </a:extLst>
          </p:cNvPr>
          <p:cNvSpPr txBox="1"/>
          <p:nvPr/>
        </p:nvSpPr>
        <p:spPr>
          <a:xfrm>
            <a:off x="3991004" y="301159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ED9923-4ED5-0569-0AC4-C60B48B97474}"/>
              </a:ext>
            </a:extLst>
          </p:cNvPr>
          <p:cNvSpPr txBox="1"/>
          <p:nvPr/>
        </p:nvSpPr>
        <p:spPr>
          <a:xfrm>
            <a:off x="4561396" y="3011594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9D640D-2AD9-9A5C-2ACF-F9A662D12621}"/>
              </a:ext>
            </a:extLst>
          </p:cNvPr>
          <p:cNvSpPr txBox="1"/>
          <p:nvPr/>
        </p:nvSpPr>
        <p:spPr>
          <a:xfrm>
            <a:off x="5176604" y="3010039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4BD728-95F3-422B-0CD5-A6E8DE41E391}"/>
              </a:ext>
            </a:extLst>
          </p:cNvPr>
          <p:cNvSpPr txBox="1"/>
          <p:nvPr/>
        </p:nvSpPr>
        <p:spPr>
          <a:xfrm>
            <a:off x="3991004" y="3388603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5C0AD6-1E8E-0B9F-129D-8A638589B06B}"/>
              </a:ext>
            </a:extLst>
          </p:cNvPr>
          <p:cNvSpPr txBox="1"/>
          <p:nvPr/>
        </p:nvSpPr>
        <p:spPr>
          <a:xfrm>
            <a:off x="4561396" y="3388603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2E3B8B-7C79-01D4-20C8-931EFA61BDB0}"/>
              </a:ext>
            </a:extLst>
          </p:cNvPr>
          <p:cNvSpPr txBox="1"/>
          <p:nvPr/>
        </p:nvSpPr>
        <p:spPr>
          <a:xfrm>
            <a:off x="5176604" y="3387048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D0F36E-4862-4D9E-88E8-4F3479808A66}"/>
              </a:ext>
            </a:extLst>
          </p:cNvPr>
          <p:cNvSpPr txBox="1"/>
          <p:nvPr/>
        </p:nvSpPr>
        <p:spPr>
          <a:xfrm>
            <a:off x="3991004" y="3822925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7E2177-3863-AA71-DBBA-4B224EEDDAF3}"/>
              </a:ext>
            </a:extLst>
          </p:cNvPr>
          <p:cNvSpPr txBox="1"/>
          <p:nvPr/>
        </p:nvSpPr>
        <p:spPr>
          <a:xfrm>
            <a:off x="4561396" y="3822925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7725EDC-6189-FC21-B3B1-60B08ED0AE6B}"/>
              </a:ext>
            </a:extLst>
          </p:cNvPr>
          <p:cNvSpPr txBox="1"/>
          <p:nvPr/>
        </p:nvSpPr>
        <p:spPr>
          <a:xfrm>
            <a:off x="5176604" y="3821370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875579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" grpId="0"/>
      <p:bldP spid="4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1" grpId="0"/>
      <p:bldP spid="22" grpId="0"/>
      <p:bldP spid="23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600" dirty="0"/>
              <a:t>IMPLICATION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A3D642-101F-1BA2-6A20-35CFAEEA02AC}"/>
              </a:ext>
            </a:extLst>
          </p:cNvPr>
          <p:cNvSpPr txBox="1"/>
          <p:nvPr/>
        </p:nvSpPr>
        <p:spPr>
          <a:xfrm>
            <a:off x="914400" y="2142778"/>
            <a:ext cx="394531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Bangladesh plays at Mirpur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4586CD-794F-CDF7-21F6-14EC7AFF1397}"/>
              </a:ext>
            </a:extLst>
          </p:cNvPr>
          <p:cNvSpPr txBox="1"/>
          <p:nvPr/>
        </p:nvSpPr>
        <p:spPr>
          <a:xfrm>
            <a:off x="914400" y="2557504"/>
            <a:ext cx="27638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altLang="ko-K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Bangladesh wins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8F97A6-3253-DA4C-9839-FBDCE1BDBAAE}"/>
              </a:ext>
            </a:extLst>
          </p:cNvPr>
          <p:cNvSpPr txBox="1"/>
          <p:nvPr/>
        </p:nvSpPr>
        <p:spPr>
          <a:xfrm>
            <a:off x="457200" y="1676400"/>
            <a:ext cx="503375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Consider the following two propositions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AEABFEC-BC50-FFDE-D879-0EAC7149172A}"/>
                  </a:ext>
                </a:extLst>
              </p:cNvPr>
              <p:cNvSpPr txBox="1"/>
              <p:nvPr/>
            </p:nvSpPr>
            <p:spPr>
              <a:xfrm>
                <a:off x="914400" y="3001023"/>
                <a:ext cx="65085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itchFamily="34" charset="0"/>
                  <a:buChar char="•"/>
                </a:pPr>
                <a:r>
                  <a:rPr lang="en-US" altLang="ko-KR" sz="2400" b="1" i="1" dirty="0"/>
                  <a:t>p </a:t>
                </a:r>
                <a14:m>
                  <m:oMath xmlns:m="http://schemas.openxmlformats.org/officeDocument/2006/math">
                    <m:r>
                      <a:rPr lang="en-US" altLang="ko-KR" sz="2400" b="1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sz="2400" b="1" i="1" dirty="0"/>
                  <a:t> q </a:t>
                </a:r>
                <a:r>
                  <a:rPr lang="en-US" altLang="ko-KR" sz="2200" dirty="0">
                    <a:latin typeface="Times New Roman" pitchFamily="18" charset="0"/>
                    <a:cs typeface="Times New Roman" pitchFamily="18" charset="0"/>
                  </a:rPr>
                  <a:t>implies a </a:t>
                </a:r>
                <a:r>
                  <a:rPr lang="en-US" altLang="ko-KR" sz="2200" b="1" dirty="0">
                    <a:solidFill>
                      <a:srgbClr val="00B0F0"/>
                    </a:solidFill>
                    <a:latin typeface="Times New Roman" pitchFamily="18" charset="0"/>
                    <a:cs typeface="Times New Roman" pitchFamily="18" charset="0"/>
                  </a:rPr>
                  <a:t>conditional statement</a:t>
                </a:r>
                <a:r>
                  <a:rPr lang="en-US" altLang="ko-KR" sz="2200" dirty="0">
                    <a:latin typeface="Times New Roman" pitchFamily="18" charset="0"/>
                    <a:cs typeface="Times New Roman" pitchFamily="18" charset="0"/>
                  </a:rPr>
                  <a:t>: If </a:t>
                </a:r>
                <a:r>
                  <a:rPr lang="en-US" altLang="ko-KR" sz="2200" b="1" i="1" dirty="0"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altLang="ko-KR" sz="2200" i="1" dirty="0">
                    <a:latin typeface="Times New Roman" pitchFamily="18" charset="0"/>
                    <a:cs typeface="Times New Roman" pitchFamily="18" charset="0"/>
                  </a:rPr>
                  <a:t>,</a:t>
                </a:r>
                <a:r>
                  <a:rPr lang="en-US" altLang="ko-KR" sz="2200" b="1" i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ko-KR" sz="2200" dirty="0">
                    <a:latin typeface="Times New Roman" pitchFamily="18" charset="0"/>
                    <a:cs typeface="Times New Roman" pitchFamily="18" charset="0"/>
                  </a:rPr>
                  <a:t>then </a:t>
                </a:r>
                <a:r>
                  <a:rPr lang="en-US" altLang="ko-KR" sz="2200" b="1" i="1" dirty="0">
                    <a:latin typeface="Times New Roman" pitchFamily="18" charset="0"/>
                    <a:cs typeface="Times New Roman" pitchFamily="18" charset="0"/>
                  </a:rPr>
                  <a:t>q</a:t>
                </a:r>
                <a:r>
                  <a:rPr lang="en-US" altLang="ko-KR" sz="2200" dirty="0">
                    <a:latin typeface="Times New Roman" pitchFamily="18" charset="0"/>
                    <a:cs typeface="Times New Roman" pitchFamily="18" charset="0"/>
                  </a:rPr>
                  <a:t>.</a:t>
                </a:r>
                <a:endParaRPr lang="en-US" sz="2200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AEABFEC-BC50-FFDE-D879-0EAC71491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001023"/>
                <a:ext cx="6508513" cy="461665"/>
              </a:xfrm>
              <a:prstGeom prst="rect">
                <a:avLst/>
              </a:prstGeom>
              <a:blipFill>
                <a:blip r:embed="rId2"/>
                <a:stretch>
                  <a:fillRect l="-1217" t="-10526" r="-281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27D3A289-F7BA-ED2F-AA05-05955AA3F3EE}"/>
              </a:ext>
            </a:extLst>
          </p:cNvPr>
          <p:cNvSpPr txBox="1"/>
          <p:nvPr/>
        </p:nvSpPr>
        <p:spPr>
          <a:xfrm>
            <a:off x="938502" y="3462688"/>
            <a:ext cx="659988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altLang="ko-KR" sz="2200" dirty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Bangladesh plays at Mirpur</a:t>
            </a:r>
            <a:r>
              <a:rPr lang="en-US" altLang="ko-KR" sz="2200" i="1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ko-KR" sz="22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200" dirty="0">
                <a:latin typeface="Times New Roman" pitchFamily="18" charset="0"/>
                <a:cs typeface="Times New Roman" pitchFamily="18" charset="0"/>
              </a:rPr>
              <a:t>then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Bangladesh wins</a:t>
            </a:r>
            <a:r>
              <a:rPr lang="en-US" altLang="ko-KR" sz="22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D74FB11-4EE3-85A3-DAB1-916FD2FA41BA}"/>
                  </a:ext>
                </a:extLst>
              </p:cNvPr>
              <p:cNvSpPr txBox="1"/>
              <p:nvPr/>
            </p:nvSpPr>
            <p:spPr>
              <a:xfrm>
                <a:off x="457200" y="3943014"/>
                <a:ext cx="751013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q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The following terminologies are used for the statement:  </a:t>
                </a:r>
                <a:r>
                  <a:rPr lang="en-US" altLang="ko-KR" sz="2000" b="1" i="1" dirty="0"/>
                  <a:t>p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sz="2000" b="1" i="1" dirty="0"/>
                  <a:t> q</a:t>
                </a:r>
                <a:endParaRPr lang="en-US" sz="2200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D74FB11-4EE3-85A3-DAB1-916FD2FA4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943014"/>
                <a:ext cx="7510133" cy="430887"/>
              </a:xfrm>
              <a:prstGeom prst="rect">
                <a:avLst/>
              </a:prstGeom>
              <a:blipFill>
                <a:blip r:embed="rId3"/>
                <a:stretch>
                  <a:fillRect l="-893" t="-9859" r="-812" b="-26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BA51F7F9-D260-7E72-2E03-B51139C717BC}"/>
              </a:ext>
            </a:extLst>
          </p:cNvPr>
          <p:cNvSpPr txBox="1"/>
          <p:nvPr/>
        </p:nvSpPr>
        <p:spPr>
          <a:xfrm>
            <a:off x="914400" y="4356948"/>
            <a:ext cx="456451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Hypothesis/ Antecedent/ Premise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13ECCA-85E3-3A55-032D-AAF509686BDB}"/>
              </a:ext>
            </a:extLst>
          </p:cNvPr>
          <p:cNvSpPr txBox="1"/>
          <p:nvPr/>
        </p:nvSpPr>
        <p:spPr>
          <a:xfrm>
            <a:off x="938502" y="4784077"/>
            <a:ext cx="37561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Conclusion/ Consequence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085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5" grpId="0"/>
      <p:bldP spid="16" grpId="0"/>
      <p:bldP spid="17" grpId="0"/>
      <p:bldP spid="19" grpId="0"/>
      <p:bldP spid="2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600" dirty="0"/>
              <a:t>IMPLICATION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A3D642-101F-1BA2-6A20-35CFAEEA02AC}"/>
              </a:ext>
            </a:extLst>
          </p:cNvPr>
          <p:cNvSpPr txBox="1"/>
          <p:nvPr/>
        </p:nvSpPr>
        <p:spPr>
          <a:xfrm>
            <a:off x="914400" y="2020888"/>
            <a:ext cx="184056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then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8F97A6-3253-DA4C-9839-FBDCE1BDBAAE}"/>
              </a:ext>
            </a:extLst>
          </p:cNvPr>
          <p:cNvSpPr txBox="1"/>
          <p:nvPr/>
        </p:nvSpPr>
        <p:spPr>
          <a:xfrm>
            <a:off x="457200" y="1600200"/>
            <a:ext cx="19928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How to read?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A9B844-01E7-8559-A4C5-94A61CF0D0CF}"/>
              </a:ext>
            </a:extLst>
          </p:cNvPr>
          <p:cNvSpPr txBox="1"/>
          <p:nvPr/>
        </p:nvSpPr>
        <p:spPr>
          <a:xfrm>
            <a:off x="914400" y="2365605"/>
            <a:ext cx="128432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F07615-2E3C-1AA4-9889-C18520B393D6}"/>
              </a:ext>
            </a:extLst>
          </p:cNvPr>
          <p:cNvSpPr txBox="1"/>
          <p:nvPr/>
        </p:nvSpPr>
        <p:spPr>
          <a:xfrm>
            <a:off x="914400" y="2680375"/>
            <a:ext cx="28036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is sufficient for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C78B67-9816-2066-0332-239887FC7130}"/>
              </a:ext>
            </a:extLst>
          </p:cNvPr>
          <p:cNvSpPr txBox="1"/>
          <p:nvPr/>
        </p:nvSpPr>
        <p:spPr>
          <a:xfrm>
            <a:off x="914400" y="3025092"/>
            <a:ext cx="11977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CCED36-E29F-FC66-2438-D3102756F3A8}"/>
              </a:ext>
            </a:extLst>
          </p:cNvPr>
          <p:cNvSpPr txBox="1"/>
          <p:nvPr/>
        </p:nvSpPr>
        <p:spPr>
          <a:xfrm>
            <a:off x="914400" y="3378895"/>
            <a:ext cx="163538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when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B66F43-D47B-4A25-BF6F-C03F5ED2D174}"/>
              </a:ext>
            </a:extLst>
          </p:cNvPr>
          <p:cNvSpPr txBox="1"/>
          <p:nvPr/>
        </p:nvSpPr>
        <p:spPr>
          <a:xfrm>
            <a:off x="914400" y="3760550"/>
            <a:ext cx="3124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necessary condition for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46130D-1679-EC76-B7F5-CDB93673124B}"/>
              </a:ext>
            </a:extLst>
          </p:cNvPr>
          <p:cNvSpPr txBox="1"/>
          <p:nvPr/>
        </p:nvSpPr>
        <p:spPr>
          <a:xfrm>
            <a:off x="914400" y="4420037"/>
            <a:ext cx="20361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unless</a:t>
            </a:r>
            <a:r>
              <a:rPr lang="ko-KR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391904-C366-AB65-05FD-B1845A5F9BFE}"/>
              </a:ext>
            </a:extLst>
          </p:cNvPr>
          <p:cNvSpPr txBox="1"/>
          <p:nvPr/>
        </p:nvSpPr>
        <p:spPr>
          <a:xfrm>
            <a:off x="5133231" y="2020888"/>
            <a:ext cx="185499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implies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2AB471-87D4-42C1-0F9A-0DCFC17D4956}"/>
              </a:ext>
            </a:extLst>
          </p:cNvPr>
          <p:cNvSpPr txBox="1"/>
          <p:nvPr/>
        </p:nvSpPr>
        <p:spPr>
          <a:xfrm>
            <a:off x="5133231" y="2365605"/>
            <a:ext cx="17700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only if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DC38F2-8241-046C-C98F-E6FE042079D9}"/>
              </a:ext>
            </a:extLst>
          </p:cNvPr>
          <p:cNvSpPr txBox="1"/>
          <p:nvPr/>
        </p:nvSpPr>
        <p:spPr>
          <a:xfrm>
            <a:off x="5133231" y="2680375"/>
            <a:ext cx="21210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whenever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9E3F54-DA3B-1E9E-1A92-CE355A00F366}"/>
              </a:ext>
            </a:extLst>
          </p:cNvPr>
          <p:cNvSpPr txBox="1"/>
          <p:nvPr/>
        </p:nvSpPr>
        <p:spPr>
          <a:xfrm>
            <a:off x="5133231" y="3025092"/>
            <a:ext cx="27783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is necessary for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00A144-95A3-5B36-0307-EBF272C2E292}"/>
              </a:ext>
            </a:extLst>
          </p:cNvPr>
          <p:cNvSpPr txBox="1"/>
          <p:nvPr/>
        </p:nvSpPr>
        <p:spPr>
          <a:xfrm>
            <a:off x="5133231" y="3378895"/>
            <a:ext cx="249138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follows from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2FFC53-746C-90D1-0035-F0F2D6D06378}"/>
              </a:ext>
            </a:extLst>
          </p:cNvPr>
          <p:cNvSpPr txBox="1"/>
          <p:nvPr/>
        </p:nvSpPr>
        <p:spPr>
          <a:xfrm>
            <a:off x="5133231" y="3760550"/>
            <a:ext cx="3124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sufficient condition for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365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4" grpId="0"/>
      <p:bldP spid="18" grpId="0"/>
      <p:bldP spid="20" grpId="0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600" dirty="0"/>
              <a:t>IMPLICATION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676400"/>
            <a:ext cx="16583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Truth Table</a:t>
            </a:r>
            <a:endParaRPr lang="en-US" sz="2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Table 9">
                <a:extLst>
                  <a:ext uri="{FF2B5EF4-FFF2-40B4-BE49-F238E27FC236}">
                    <a16:creationId xmlns:a16="http://schemas.microsoft.com/office/drawing/2014/main" id="{034E87C3-AF25-0395-113F-E56A831B2C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1156954"/>
                  </p:ext>
                </p:extLst>
              </p:nvPr>
            </p:nvGraphicFramePr>
            <p:xfrm>
              <a:off x="6783197" y="1983502"/>
              <a:ext cx="1903603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6194">
                      <a:extLst>
                        <a:ext uri="{9D8B030D-6E8A-4147-A177-3AD203B41FA5}">
                          <a16:colId xmlns:a16="http://schemas.microsoft.com/office/drawing/2014/main" val="1823060088"/>
                        </a:ext>
                      </a:extLst>
                    </a:gridCol>
                    <a:gridCol w="516194">
                      <a:extLst>
                        <a:ext uri="{9D8B030D-6E8A-4147-A177-3AD203B41FA5}">
                          <a16:colId xmlns:a16="http://schemas.microsoft.com/office/drawing/2014/main" val="1715107724"/>
                        </a:ext>
                      </a:extLst>
                    </a:gridCol>
                    <a:gridCol w="871215">
                      <a:extLst>
                        <a:ext uri="{9D8B030D-6E8A-4147-A177-3AD203B41FA5}">
                          <a16:colId xmlns:a16="http://schemas.microsoft.com/office/drawing/2014/main" val="32164586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ko-KR" sz="18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p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altLang="ko-KR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→</m:t>
                              </m:r>
                            </m:oMath>
                          </a14:m>
                          <a:r>
                            <a:rPr kumimoji="0" lang="en-US" altLang="ko-KR" sz="18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q</a:t>
                          </a:r>
                          <a:endParaRPr kumimoji="0" lang="en-US" sz="22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16838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74291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62211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2514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44959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Table 9">
                <a:extLst>
                  <a:ext uri="{FF2B5EF4-FFF2-40B4-BE49-F238E27FC236}">
                    <a16:creationId xmlns:a16="http://schemas.microsoft.com/office/drawing/2014/main" id="{034E87C3-AF25-0395-113F-E56A831B2C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1156954"/>
                  </p:ext>
                </p:extLst>
              </p:nvPr>
            </p:nvGraphicFramePr>
            <p:xfrm>
              <a:off x="6783197" y="1983502"/>
              <a:ext cx="1903603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6194">
                      <a:extLst>
                        <a:ext uri="{9D8B030D-6E8A-4147-A177-3AD203B41FA5}">
                          <a16:colId xmlns:a16="http://schemas.microsoft.com/office/drawing/2014/main" val="1823060088"/>
                        </a:ext>
                      </a:extLst>
                    </a:gridCol>
                    <a:gridCol w="516194">
                      <a:extLst>
                        <a:ext uri="{9D8B030D-6E8A-4147-A177-3AD203B41FA5}">
                          <a16:colId xmlns:a16="http://schemas.microsoft.com/office/drawing/2014/main" val="1715107724"/>
                        </a:ext>
                      </a:extLst>
                    </a:gridCol>
                    <a:gridCol w="871215">
                      <a:extLst>
                        <a:ext uri="{9D8B030D-6E8A-4147-A177-3AD203B41FA5}">
                          <a16:colId xmlns:a16="http://schemas.microsoft.com/office/drawing/2014/main" val="321645861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9580" t="-7692" r="-2098" b="-4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168384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742913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622119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25146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449598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052B530A-E7B8-71DE-FDED-817481947571}"/>
              </a:ext>
            </a:extLst>
          </p:cNvPr>
          <p:cNvSpPr txBox="1"/>
          <p:nvPr/>
        </p:nvSpPr>
        <p:spPr>
          <a:xfrm>
            <a:off x="6814299" y="2377807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759B15-7F9B-162F-1BB8-E20CA1449B07}"/>
              </a:ext>
            </a:extLst>
          </p:cNvPr>
          <p:cNvSpPr txBox="1"/>
          <p:nvPr/>
        </p:nvSpPr>
        <p:spPr>
          <a:xfrm>
            <a:off x="7384691" y="2377807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3E4C54-4009-6E28-1DB9-F8C83914DC7D}"/>
              </a:ext>
            </a:extLst>
          </p:cNvPr>
          <p:cNvSpPr txBox="1"/>
          <p:nvPr/>
        </p:nvSpPr>
        <p:spPr>
          <a:xfrm>
            <a:off x="7999899" y="2376252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ED39AE-3BA6-2073-21B0-2D0997E0DCE0}"/>
              </a:ext>
            </a:extLst>
          </p:cNvPr>
          <p:cNvSpPr txBox="1"/>
          <p:nvPr/>
        </p:nvSpPr>
        <p:spPr>
          <a:xfrm>
            <a:off x="6814299" y="2754816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ED9923-4ED5-0569-0AC4-C60B48B97474}"/>
              </a:ext>
            </a:extLst>
          </p:cNvPr>
          <p:cNvSpPr txBox="1"/>
          <p:nvPr/>
        </p:nvSpPr>
        <p:spPr>
          <a:xfrm>
            <a:off x="7384691" y="2754816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9D640D-2AD9-9A5C-2ACF-F9A662D12621}"/>
              </a:ext>
            </a:extLst>
          </p:cNvPr>
          <p:cNvSpPr txBox="1"/>
          <p:nvPr/>
        </p:nvSpPr>
        <p:spPr>
          <a:xfrm>
            <a:off x="7999899" y="2753261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4BD728-95F3-422B-0CD5-A6E8DE41E391}"/>
              </a:ext>
            </a:extLst>
          </p:cNvPr>
          <p:cNvSpPr txBox="1"/>
          <p:nvPr/>
        </p:nvSpPr>
        <p:spPr>
          <a:xfrm>
            <a:off x="6814299" y="3131825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5C0AD6-1E8E-0B9F-129D-8A638589B06B}"/>
              </a:ext>
            </a:extLst>
          </p:cNvPr>
          <p:cNvSpPr txBox="1"/>
          <p:nvPr/>
        </p:nvSpPr>
        <p:spPr>
          <a:xfrm>
            <a:off x="7384691" y="313182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2E3B8B-7C79-01D4-20C8-931EFA61BDB0}"/>
              </a:ext>
            </a:extLst>
          </p:cNvPr>
          <p:cNvSpPr txBox="1"/>
          <p:nvPr/>
        </p:nvSpPr>
        <p:spPr>
          <a:xfrm>
            <a:off x="7999899" y="3130270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D0F36E-4862-4D9E-88E8-4F3479808A66}"/>
              </a:ext>
            </a:extLst>
          </p:cNvPr>
          <p:cNvSpPr txBox="1"/>
          <p:nvPr/>
        </p:nvSpPr>
        <p:spPr>
          <a:xfrm>
            <a:off x="6814299" y="3566147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7E2177-3863-AA71-DBBA-4B224EEDDAF3}"/>
              </a:ext>
            </a:extLst>
          </p:cNvPr>
          <p:cNvSpPr txBox="1"/>
          <p:nvPr/>
        </p:nvSpPr>
        <p:spPr>
          <a:xfrm>
            <a:off x="7384691" y="3566147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7725EDC-6189-FC21-B3B1-60B08ED0AE6B}"/>
              </a:ext>
            </a:extLst>
          </p:cNvPr>
          <p:cNvSpPr txBox="1"/>
          <p:nvPr/>
        </p:nvSpPr>
        <p:spPr>
          <a:xfrm>
            <a:off x="7999899" y="3564592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085A5D-BDF1-C4B9-A69D-BFA4B49CBDB8}"/>
              </a:ext>
            </a:extLst>
          </p:cNvPr>
          <p:cNvSpPr txBox="1"/>
          <p:nvPr/>
        </p:nvSpPr>
        <p:spPr>
          <a:xfrm>
            <a:off x="806270" y="2085516"/>
            <a:ext cx="3631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Bangladesh plays at Mirpur</a:t>
            </a:r>
            <a:endParaRPr lang="en-US" sz="2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00CD36-0993-3F08-1EFB-6D1F72E4060E}"/>
              </a:ext>
            </a:extLst>
          </p:cNvPr>
          <p:cNvSpPr txBox="1"/>
          <p:nvPr/>
        </p:nvSpPr>
        <p:spPr>
          <a:xfrm>
            <a:off x="802341" y="2437813"/>
            <a:ext cx="2537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altLang="ko-KR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Bangladesh wins</a:t>
            </a:r>
            <a:endParaRPr lang="en-US" sz="2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B00AA0-DDA2-7A22-8310-60EBCE04E733}"/>
                  </a:ext>
                </a:extLst>
              </p:cNvPr>
              <p:cNvSpPr txBox="1"/>
              <p:nvPr/>
            </p:nvSpPr>
            <p:spPr>
              <a:xfrm>
                <a:off x="802341" y="2886793"/>
                <a:ext cx="559845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Arial" pitchFamily="34" charset="0"/>
                  <a:buChar char="•"/>
                </a:pPr>
                <a:r>
                  <a:rPr lang="en-US" altLang="ko-K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claimed</a:t>
                </a:r>
                <a:r>
                  <a:rPr lang="en-US" altLang="ko-KR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2000" b="1" i="1" dirty="0"/>
                  <a:t>p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sz="2000" b="1" i="1" dirty="0"/>
                  <a:t> q</a:t>
                </a:r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: If Bangladesh plays at Mirpur, then Bangladesh wins.</a:t>
                </a:r>
                <a:endParaRPr lang="en-US" sz="2000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B00AA0-DDA2-7A22-8310-60EBCE04E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341" y="2886793"/>
                <a:ext cx="5598459" cy="707886"/>
              </a:xfrm>
              <a:prstGeom prst="rect">
                <a:avLst/>
              </a:prstGeom>
              <a:blipFill>
                <a:blip r:embed="rId4"/>
                <a:stretch>
                  <a:fillRect l="-980" t="-6034" r="-1089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6E1CF05-91FE-C489-F63C-F0174007A999}"/>
              </a:ext>
            </a:extLst>
          </p:cNvPr>
          <p:cNvSpPr txBox="1"/>
          <p:nvPr/>
        </p:nvSpPr>
        <p:spPr>
          <a:xfrm>
            <a:off x="802341" y="3582855"/>
            <a:ext cx="57070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which of the cases, people can call me as a liar?</a:t>
            </a:r>
            <a:endParaRPr lang="en-US" sz="2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FF5CC0-C006-BE66-AA7F-11E0D196F8AF}"/>
              </a:ext>
            </a:extLst>
          </p:cNvPr>
          <p:cNvSpPr txBox="1"/>
          <p:nvPr/>
        </p:nvSpPr>
        <p:spPr>
          <a:xfrm>
            <a:off x="397742" y="3982965"/>
            <a:ext cx="73863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Bangladesh did not play at Mirpur, and so Bangladesh did not win.</a:t>
            </a:r>
            <a:endParaRPr lang="en-US" sz="2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9AC1B4-CB33-7A4B-0831-B6FFF4F687CD}"/>
              </a:ext>
            </a:extLst>
          </p:cNvPr>
          <p:cNvSpPr txBox="1"/>
          <p:nvPr/>
        </p:nvSpPr>
        <p:spPr>
          <a:xfrm>
            <a:off x="802341" y="4320247"/>
            <a:ext cx="32912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ko-KR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violation in my words.</a:t>
            </a:r>
            <a:endParaRPr lang="en-US" sz="20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F9AF18-4B68-8766-D711-31245BDE258F}"/>
              </a:ext>
            </a:extLst>
          </p:cNvPr>
          <p:cNvSpPr txBox="1"/>
          <p:nvPr/>
        </p:nvSpPr>
        <p:spPr>
          <a:xfrm>
            <a:off x="397742" y="4657529"/>
            <a:ext cx="6326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Bangladesh did not play at Mirpur, but Bangladesh won.</a:t>
            </a:r>
            <a:endParaRPr lang="en-US" sz="2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0301FF-D2F3-A1EF-3808-BCF1D54C5A5D}"/>
              </a:ext>
            </a:extLst>
          </p:cNvPr>
          <p:cNvSpPr txBox="1"/>
          <p:nvPr/>
        </p:nvSpPr>
        <p:spPr>
          <a:xfrm>
            <a:off x="802341" y="5004166"/>
            <a:ext cx="32912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ko-KR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violation in my words.</a:t>
            </a:r>
            <a:endParaRPr lang="en-US" sz="20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A6DAD71-8494-575F-5F0D-DE9DA5AAB6BA}"/>
              </a:ext>
            </a:extLst>
          </p:cNvPr>
          <p:cNvSpPr txBox="1"/>
          <p:nvPr/>
        </p:nvSpPr>
        <p:spPr>
          <a:xfrm>
            <a:off x="342715" y="5362627"/>
            <a:ext cx="65110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Bangladesh played at Mirpur, but Bangladesh did not win.</a:t>
            </a:r>
            <a:endParaRPr lang="en-US" sz="2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993501-A0E8-9A83-89A9-4C13269CF602}"/>
              </a:ext>
            </a:extLst>
          </p:cNvPr>
          <p:cNvSpPr txBox="1"/>
          <p:nvPr/>
        </p:nvSpPr>
        <p:spPr>
          <a:xfrm>
            <a:off x="747314" y="5725415"/>
            <a:ext cx="34676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 violation in my words.</a:t>
            </a:r>
            <a:endParaRPr lang="en-US" sz="2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92C0C38-8A69-B2A3-BE87-73FFBED6F491}"/>
              </a:ext>
            </a:extLst>
          </p:cNvPr>
          <p:cNvSpPr txBox="1"/>
          <p:nvPr/>
        </p:nvSpPr>
        <p:spPr>
          <a:xfrm>
            <a:off x="342715" y="6062901"/>
            <a:ext cx="55508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Bangladesh played at Mirpur, and also they won.</a:t>
            </a:r>
            <a:endParaRPr lang="en-US" sz="2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F12AC90-61CF-4548-6491-FBDD028ADFFC}"/>
              </a:ext>
            </a:extLst>
          </p:cNvPr>
          <p:cNvSpPr txBox="1"/>
          <p:nvPr/>
        </p:nvSpPr>
        <p:spPr>
          <a:xfrm>
            <a:off x="747314" y="6409020"/>
            <a:ext cx="32912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ko-KR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violation in my words.</a:t>
            </a:r>
            <a:endParaRPr lang="en-US" sz="20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963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5" grpId="0"/>
      <p:bldP spid="6" grpId="0"/>
      <p:bldP spid="7" grpId="0"/>
      <p:bldP spid="8" grpId="0"/>
      <p:bldP spid="10" grpId="0"/>
      <p:bldP spid="12" grpId="0"/>
      <p:bldP spid="37" grpId="0"/>
      <p:bldP spid="38" grpId="0"/>
      <p:bldP spid="40" grpId="0"/>
      <p:bldP spid="41" grpId="0"/>
      <p:bldP spid="42" grpId="0"/>
      <p:bldP spid="4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600" dirty="0"/>
              <a:t>IMPLICATION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A3D642-101F-1BA2-6A20-35CFAEEA02AC}"/>
              </a:ext>
            </a:extLst>
          </p:cNvPr>
          <p:cNvSpPr txBox="1"/>
          <p:nvPr/>
        </p:nvSpPr>
        <p:spPr>
          <a:xfrm>
            <a:off x="914400" y="2142778"/>
            <a:ext cx="381546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Sakib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learns programming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4586CD-794F-CDF7-21F6-14EC7AFF1397}"/>
              </a:ext>
            </a:extLst>
          </p:cNvPr>
          <p:cNvSpPr txBox="1"/>
          <p:nvPr/>
        </p:nvSpPr>
        <p:spPr>
          <a:xfrm>
            <a:off x="914400" y="2557504"/>
            <a:ext cx="33618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altLang="ko-K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He will get a good job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8F97A6-3253-DA4C-9839-FBDCE1BDBAAE}"/>
              </a:ext>
            </a:extLst>
          </p:cNvPr>
          <p:cNvSpPr txBox="1"/>
          <p:nvPr/>
        </p:nvSpPr>
        <p:spPr>
          <a:xfrm>
            <a:off x="457200" y="1676400"/>
            <a:ext cx="503375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Consider the following two propositions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3C737B0-22B5-1B82-0881-0EF3430741C5}"/>
                  </a:ext>
                </a:extLst>
              </p:cNvPr>
              <p:cNvSpPr txBox="1"/>
              <p:nvPr/>
            </p:nvSpPr>
            <p:spPr>
              <a:xfrm>
                <a:off x="457200" y="3213556"/>
                <a:ext cx="1853392" cy="5132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q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Find </a:t>
                </a:r>
                <a:r>
                  <a:rPr lang="en-US" altLang="ko-KR" sz="2400" b="1" i="1" dirty="0">
                    <a:solidFill>
                      <a:prstClr val="black"/>
                    </a:solidFill>
                  </a:rPr>
                  <a:t>p </a:t>
                </a:r>
                <a14:m>
                  <m:oMath xmlns:m="http://schemas.openxmlformats.org/officeDocument/2006/math">
                    <m:r>
                      <a:rPr lang="en-US" altLang="ko-KR" sz="2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sz="2400" b="1" i="1" dirty="0">
                    <a:solidFill>
                      <a:prstClr val="black"/>
                    </a:solidFill>
                  </a:rPr>
                  <a:t> q</a:t>
                </a:r>
                <a:endParaRPr lang="en-US" sz="3200" b="1" i="1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3C737B0-22B5-1B82-0881-0EF343074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213556"/>
                <a:ext cx="1853392" cy="513282"/>
              </a:xfrm>
              <a:prstGeom prst="rect">
                <a:avLst/>
              </a:prstGeom>
              <a:blipFill>
                <a:blip r:embed="rId2"/>
                <a:stretch>
                  <a:fillRect l="-3618" r="-4276" b="-26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F389DFC-B9E1-6CE7-905B-41A9AB4641D7}"/>
              </a:ext>
            </a:extLst>
          </p:cNvPr>
          <p:cNvSpPr txBox="1"/>
          <p:nvPr/>
        </p:nvSpPr>
        <p:spPr>
          <a:xfrm>
            <a:off x="914400" y="3736169"/>
            <a:ext cx="637866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Sakib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learns programming, he will get a good job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18ED18-65A0-63FB-3238-70D59D925DB3}"/>
              </a:ext>
            </a:extLst>
          </p:cNvPr>
          <p:cNvSpPr txBox="1"/>
          <p:nvPr/>
        </p:nvSpPr>
        <p:spPr>
          <a:xfrm>
            <a:off x="914399" y="4228394"/>
            <a:ext cx="67297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Sakib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will get a good job when he learns programming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E83E38-E7AD-8893-B787-C084CB9AE6A0}"/>
              </a:ext>
            </a:extLst>
          </p:cNvPr>
          <p:cNvSpPr txBox="1"/>
          <p:nvPr/>
        </p:nvSpPr>
        <p:spPr>
          <a:xfrm>
            <a:off x="457200" y="4798274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This proposition is false only when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Sakib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learns programming but he does not get a good job 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793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3" grpId="0"/>
      <p:bldP spid="4" grpId="0"/>
      <p:bldP spid="5" grpId="0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600" dirty="0"/>
              <a:t>IMPLICATION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A3D642-101F-1BA2-6A20-35CFAEEA02AC}"/>
              </a:ext>
            </a:extLst>
          </p:cNvPr>
          <p:cNvSpPr txBox="1"/>
          <p:nvPr/>
        </p:nvSpPr>
        <p:spPr>
          <a:xfrm>
            <a:off x="914400" y="2142778"/>
            <a:ext cx="381546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Sakib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learns programming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4586CD-794F-CDF7-21F6-14EC7AFF1397}"/>
              </a:ext>
            </a:extLst>
          </p:cNvPr>
          <p:cNvSpPr txBox="1"/>
          <p:nvPr/>
        </p:nvSpPr>
        <p:spPr>
          <a:xfrm>
            <a:off x="914400" y="2557504"/>
            <a:ext cx="3683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altLang="ko-K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Sun rises in the East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8F97A6-3253-DA4C-9839-FBDCE1BDBAAE}"/>
              </a:ext>
            </a:extLst>
          </p:cNvPr>
          <p:cNvSpPr txBox="1"/>
          <p:nvPr/>
        </p:nvSpPr>
        <p:spPr>
          <a:xfrm>
            <a:off x="457200" y="1676400"/>
            <a:ext cx="503375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Consider the following two propositions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3C737B0-22B5-1B82-0881-0EF3430741C5}"/>
                  </a:ext>
                </a:extLst>
              </p:cNvPr>
              <p:cNvSpPr txBox="1"/>
              <p:nvPr/>
            </p:nvSpPr>
            <p:spPr>
              <a:xfrm>
                <a:off x="457200" y="3213556"/>
                <a:ext cx="1853392" cy="5132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q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Find </a:t>
                </a:r>
                <a:r>
                  <a:rPr lang="en-US" altLang="ko-KR" sz="2400" b="1" i="1" dirty="0">
                    <a:solidFill>
                      <a:prstClr val="black"/>
                    </a:solidFill>
                  </a:rPr>
                  <a:t>p </a:t>
                </a:r>
                <a14:m>
                  <m:oMath xmlns:m="http://schemas.openxmlformats.org/officeDocument/2006/math">
                    <m:r>
                      <a:rPr lang="en-US" altLang="ko-KR" sz="2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sz="2400" b="1" i="1" dirty="0">
                    <a:solidFill>
                      <a:prstClr val="black"/>
                    </a:solidFill>
                  </a:rPr>
                  <a:t> q</a:t>
                </a:r>
                <a:endParaRPr lang="en-US" sz="3200" b="1" i="1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3C737B0-22B5-1B82-0881-0EF343074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213556"/>
                <a:ext cx="1853392" cy="513282"/>
              </a:xfrm>
              <a:prstGeom prst="rect">
                <a:avLst/>
              </a:prstGeom>
              <a:blipFill>
                <a:blip r:embed="rId3"/>
                <a:stretch>
                  <a:fillRect l="-3618" r="-4276" b="-26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F389DFC-B9E1-6CE7-905B-41A9AB4641D7}"/>
              </a:ext>
            </a:extLst>
          </p:cNvPr>
          <p:cNvSpPr txBox="1"/>
          <p:nvPr/>
        </p:nvSpPr>
        <p:spPr>
          <a:xfrm>
            <a:off x="914400" y="3736169"/>
            <a:ext cx="718498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Sakib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learns programming, then the Sun rises in the East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85F752-4705-640F-261B-5EC8935F9855}"/>
              </a:ext>
            </a:extLst>
          </p:cNvPr>
          <p:cNvSpPr txBox="1"/>
          <p:nvPr/>
        </p:nvSpPr>
        <p:spPr>
          <a:xfrm>
            <a:off x="457200" y="4202547"/>
            <a:ext cx="40222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This proposition is always true.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9">
                <a:extLst>
                  <a:ext uri="{FF2B5EF4-FFF2-40B4-BE49-F238E27FC236}">
                    <a16:creationId xmlns:a16="http://schemas.microsoft.com/office/drawing/2014/main" id="{F262D89D-F6D5-62D2-4469-8A7FEDA163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204633"/>
                  </p:ext>
                </p:extLst>
              </p:nvPr>
            </p:nvGraphicFramePr>
            <p:xfrm>
              <a:off x="973786" y="4724400"/>
              <a:ext cx="1921814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6194">
                      <a:extLst>
                        <a:ext uri="{9D8B030D-6E8A-4147-A177-3AD203B41FA5}">
                          <a16:colId xmlns:a16="http://schemas.microsoft.com/office/drawing/2014/main" val="1823060088"/>
                        </a:ext>
                      </a:extLst>
                    </a:gridCol>
                    <a:gridCol w="516194">
                      <a:extLst>
                        <a:ext uri="{9D8B030D-6E8A-4147-A177-3AD203B41FA5}">
                          <a16:colId xmlns:a16="http://schemas.microsoft.com/office/drawing/2014/main" val="1715107724"/>
                        </a:ext>
                      </a:extLst>
                    </a:gridCol>
                    <a:gridCol w="889426">
                      <a:extLst>
                        <a:ext uri="{9D8B030D-6E8A-4147-A177-3AD203B41FA5}">
                          <a16:colId xmlns:a16="http://schemas.microsoft.com/office/drawing/2014/main" val="32164586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ko-KR" sz="18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p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altLang="ko-KR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→</m:t>
                              </m:r>
                            </m:oMath>
                          </a14:m>
                          <a:r>
                            <a:rPr kumimoji="0" lang="en-US" altLang="ko-KR" sz="18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q</a:t>
                          </a:r>
                          <a:endParaRPr kumimoji="0" lang="en-US" sz="22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16838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74291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62211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2514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44959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9">
                <a:extLst>
                  <a:ext uri="{FF2B5EF4-FFF2-40B4-BE49-F238E27FC236}">
                    <a16:creationId xmlns:a16="http://schemas.microsoft.com/office/drawing/2014/main" id="{F262D89D-F6D5-62D2-4469-8A7FEDA163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204633"/>
                  </p:ext>
                </p:extLst>
              </p:nvPr>
            </p:nvGraphicFramePr>
            <p:xfrm>
              <a:off x="973786" y="4724400"/>
              <a:ext cx="1921814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6194">
                      <a:extLst>
                        <a:ext uri="{9D8B030D-6E8A-4147-A177-3AD203B41FA5}">
                          <a16:colId xmlns:a16="http://schemas.microsoft.com/office/drawing/2014/main" val="1823060088"/>
                        </a:ext>
                      </a:extLst>
                    </a:gridCol>
                    <a:gridCol w="516194">
                      <a:extLst>
                        <a:ext uri="{9D8B030D-6E8A-4147-A177-3AD203B41FA5}">
                          <a16:colId xmlns:a16="http://schemas.microsoft.com/office/drawing/2014/main" val="1715107724"/>
                        </a:ext>
                      </a:extLst>
                    </a:gridCol>
                    <a:gridCol w="889426">
                      <a:extLst>
                        <a:ext uri="{9D8B030D-6E8A-4147-A177-3AD203B41FA5}">
                          <a16:colId xmlns:a16="http://schemas.microsoft.com/office/drawing/2014/main" val="321645861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7123" t="-7692" r="-2055" b="-4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168384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742913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622119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25146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449598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B218775-5FA1-43F6-BECB-08FDB1F6224B}"/>
              </a:ext>
            </a:extLst>
          </p:cNvPr>
          <p:cNvSpPr txBox="1"/>
          <p:nvPr/>
        </p:nvSpPr>
        <p:spPr>
          <a:xfrm>
            <a:off x="1004888" y="511870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39EA3C-49C4-63BF-3209-DEAC8E54BB26}"/>
              </a:ext>
            </a:extLst>
          </p:cNvPr>
          <p:cNvSpPr txBox="1"/>
          <p:nvPr/>
        </p:nvSpPr>
        <p:spPr>
          <a:xfrm>
            <a:off x="1575280" y="511870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4C1871-A8E5-61F0-D3D9-19244548472D}"/>
              </a:ext>
            </a:extLst>
          </p:cNvPr>
          <p:cNvSpPr txBox="1"/>
          <p:nvPr/>
        </p:nvSpPr>
        <p:spPr>
          <a:xfrm>
            <a:off x="2190488" y="5117150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C740DE-D2D4-DD4C-605A-22EE71814BB7}"/>
              </a:ext>
            </a:extLst>
          </p:cNvPr>
          <p:cNvSpPr txBox="1"/>
          <p:nvPr/>
        </p:nvSpPr>
        <p:spPr>
          <a:xfrm>
            <a:off x="1004888" y="549571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23A250-80E1-C859-B083-158B6A564C41}"/>
              </a:ext>
            </a:extLst>
          </p:cNvPr>
          <p:cNvSpPr txBox="1"/>
          <p:nvPr/>
        </p:nvSpPr>
        <p:spPr>
          <a:xfrm>
            <a:off x="1575280" y="5495714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E75963-43E0-EA69-B8D4-981A9DE0ADDA}"/>
              </a:ext>
            </a:extLst>
          </p:cNvPr>
          <p:cNvSpPr txBox="1"/>
          <p:nvPr/>
        </p:nvSpPr>
        <p:spPr>
          <a:xfrm>
            <a:off x="2190488" y="5494159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31664D-C9FB-D73F-6B51-7749B028D71D}"/>
              </a:ext>
            </a:extLst>
          </p:cNvPr>
          <p:cNvSpPr txBox="1"/>
          <p:nvPr/>
        </p:nvSpPr>
        <p:spPr>
          <a:xfrm>
            <a:off x="1004888" y="5872723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2FF835-A55C-B1DB-9097-DEE9CB8B9B28}"/>
              </a:ext>
            </a:extLst>
          </p:cNvPr>
          <p:cNvSpPr txBox="1"/>
          <p:nvPr/>
        </p:nvSpPr>
        <p:spPr>
          <a:xfrm>
            <a:off x="1575280" y="5872723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0064A9-6735-6AA8-A2B1-E5A11C2324DC}"/>
              </a:ext>
            </a:extLst>
          </p:cNvPr>
          <p:cNvSpPr txBox="1"/>
          <p:nvPr/>
        </p:nvSpPr>
        <p:spPr>
          <a:xfrm>
            <a:off x="2190488" y="5871168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125B22-533D-D329-F779-2D7B9401621B}"/>
              </a:ext>
            </a:extLst>
          </p:cNvPr>
          <p:cNvSpPr txBox="1"/>
          <p:nvPr/>
        </p:nvSpPr>
        <p:spPr>
          <a:xfrm>
            <a:off x="1004888" y="6307045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FFFDB6-935B-9824-AD08-4935AC3FAB6D}"/>
              </a:ext>
            </a:extLst>
          </p:cNvPr>
          <p:cNvSpPr txBox="1"/>
          <p:nvPr/>
        </p:nvSpPr>
        <p:spPr>
          <a:xfrm>
            <a:off x="1575280" y="6307045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F777B5-6D8A-2880-0FB7-A71926A6B00C}"/>
              </a:ext>
            </a:extLst>
          </p:cNvPr>
          <p:cNvSpPr txBox="1"/>
          <p:nvPr/>
        </p:nvSpPr>
        <p:spPr>
          <a:xfrm>
            <a:off x="2190488" y="6305490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507038-9E5E-6469-5289-C6E79A651EE8}"/>
              </a:ext>
            </a:extLst>
          </p:cNvPr>
          <p:cNvSpPr txBox="1"/>
          <p:nvPr/>
        </p:nvSpPr>
        <p:spPr>
          <a:xfrm>
            <a:off x="3045644" y="4750713"/>
            <a:ext cx="58697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When the conclusion is true, a proposition is always true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91A30DD-F3A8-182F-AEF1-69F54998E4A1}"/>
              </a:ext>
            </a:extLst>
          </p:cNvPr>
          <p:cNvSpPr/>
          <p:nvPr/>
        </p:nvSpPr>
        <p:spPr>
          <a:xfrm>
            <a:off x="790515" y="5520802"/>
            <a:ext cx="2133600" cy="37700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16148C4-8FA9-E366-14EC-F177283C51AF}"/>
              </a:ext>
            </a:extLst>
          </p:cNvPr>
          <p:cNvSpPr/>
          <p:nvPr/>
        </p:nvSpPr>
        <p:spPr>
          <a:xfrm>
            <a:off x="784818" y="6317040"/>
            <a:ext cx="2133600" cy="37700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069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3" grpId="0"/>
      <p:bldP spid="4" grpId="0"/>
      <p:bldP spid="6" grpId="0"/>
      <p:bldP spid="8" grpId="0"/>
      <p:bldP spid="9" grpId="0"/>
      <p:bldP spid="10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600" dirty="0"/>
              <a:t>IMPLICATION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A3D642-101F-1BA2-6A20-35CFAEEA02AC}"/>
              </a:ext>
            </a:extLst>
          </p:cNvPr>
          <p:cNvSpPr txBox="1"/>
          <p:nvPr/>
        </p:nvSpPr>
        <p:spPr>
          <a:xfrm>
            <a:off x="914400" y="2142778"/>
            <a:ext cx="36785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The Sun rises in the West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4586CD-794F-CDF7-21F6-14EC7AFF1397}"/>
              </a:ext>
            </a:extLst>
          </p:cNvPr>
          <p:cNvSpPr txBox="1"/>
          <p:nvPr/>
        </p:nvSpPr>
        <p:spPr>
          <a:xfrm>
            <a:off x="914400" y="2557504"/>
            <a:ext cx="4219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altLang="ko-K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Bangladesh wins the match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8F97A6-3253-DA4C-9839-FBDCE1BDBAAE}"/>
              </a:ext>
            </a:extLst>
          </p:cNvPr>
          <p:cNvSpPr txBox="1"/>
          <p:nvPr/>
        </p:nvSpPr>
        <p:spPr>
          <a:xfrm>
            <a:off x="457200" y="1676400"/>
            <a:ext cx="503375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Consider the following two propositions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3C737B0-22B5-1B82-0881-0EF3430741C5}"/>
                  </a:ext>
                </a:extLst>
              </p:cNvPr>
              <p:cNvSpPr txBox="1"/>
              <p:nvPr/>
            </p:nvSpPr>
            <p:spPr>
              <a:xfrm>
                <a:off x="457200" y="3213556"/>
                <a:ext cx="1853392" cy="5132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q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Find </a:t>
                </a:r>
                <a:r>
                  <a:rPr lang="en-US" altLang="ko-KR" sz="2400" b="1" i="1" dirty="0">
                    <a:solidFill>
                      <a:prstClr val="black"/>
                    </a:solidFill>
                  </a:rPr>
                  <a:t>p </a:t>
                </a:r>
                <a14:m>
                  <m:oMath xmlns:m="http://schemas.openxmlformats.org/officeDocument/2006/math">
                    <m:r>
                      <a:rPr lang="en-US" altLang="ko-KR" sz="2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sz="2400" b="1" i="1" dirty="0">
                    <a:solidFill>
                      <a:prstClr val="black"/>
                    </a:solidFill>
                  </a:rPr>
                  <a:t> q</a:t>
                </a:r>
                <a:endParaRPr lang="en-US" sz="3200" b="1" i="1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3C737B0-22B5-1B82-0881-0EF343074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213556"/>
                <a:ext cx="1853392" cy="513282"/>
              </a:xfrm>
              <a:prstGeom prst="rect">
                <a:avLst/>
              </a:prstGeom>
              <a:blipFill>
                <a:blip r:embed="rId3"/>
                <a:stretch>
                  <a:fillRect l="-3618" r="-4276" b="-26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F389DFC-B9E1-6CE7-905B-41A9AB4641D7}"/>
              </a:ext>
            </a:extLst>
          </p:cNvPr>
          <p:cNvSpPr txBox="1"/>
          <p:nvPr/>
        </p:nvSpPr>
        <p:spPr>
          <a:xfrm>
            <a:off x="914400" y="3736169"/>
            <a:ext cx="734810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If the Sun rises in the West, then Bangladesh wins the match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85F752-4705-640F-261B-5EC8935F9855}"/>
              </a:ext>
            </a:extLst>
          </p:cNvPr>
          <p:cNvSpPr txBox="1"/>
          <p:nvPr/>
        </p:nvSpPr>
        <p:spPr>
          <a:xfrm>
            <a:off x="457200" y="4202547"/>
            <a:ext cx="40222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This proposition is always true.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9">
                <a:extLst>
                  <a:ext uri="{FF2B5EF4-FFF2-40B4-BE49-F238E27FC236}">
                    <a16:creationId xmlns:a16="http://schemas.microsoft.com/office/drawing/2014/main" id="{F262D89D-F6D5-62D2-4469-8A7FEDA163E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73786" y="4724400"/>
              <a:ext cx="1828800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6194">
                      <a:extLst>
                        <a:ext uri="{9D8B030D-6E8A-4147-A177-3AD203B41FA5}">
                          <a16:colId xmlns:a16="http://schemas.microsoft.com/office/drawing/2014/main" val="1823060088"/>
                        </a:ext>
                      </a:extLst>
                    </a:gridCol>
                    <a:gridCol w="516194">
                      <a:extLst>
                        <a:ext uri="{9D8B030D-6E8A-4147-A177-3AD203B41FA5}">
                          <a16:colId xmlns:a16="http://schemas.microsoft.com/office/drawing/2014/main" val="1715107724"/>
                        </a:ext>
                      </a:extLst>
                    </a:gridCol>
                    <a:gridCol w="796412">
                      <a:extLst>
                        <a:ext uri="{9D8B030D-6E8A-4147-A177-3AD203B41FA5}">
                          <a16:colId xmlns:a16="http://schemas.microsoft.com/office/drawing/2014/main" val="32164586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ko-KR" sz="18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p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altLang="ko-KR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→</m:t>
                              </m:r>
                            </m:oMath>
                          </a14:m>
                          <a:r>
                            <a:rPr kumimoji="0" lang="en-US" altLang="ko-KR" sz="18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q</a:t>
                          </a:r>
                          <a:endParaRPr kumimoji="0" lang="en-US" sz="22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16838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74291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62211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2514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44959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9">
                <a:extLst>
                  <a:ext uri="{FF2B5EF4-FFF2-40B4-BE49-F238E27FC236}">
                    <a16:creationId xmlns:a16="http://schemas.microsoft.com/office/drawing/2014/main" id="{F262D89D-F6D5-62D2-4469-8A7FEDA163E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73786" y="4724400"/>
              <a:ext cx="1828800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6194">
                      <a:extLst>
                        <a:ext uri="{9D8B030D-6E8A-4147-A177-3AD203B41FA5}">
                          <a16:colId xmlns:a16="http://schemas.microsoft.com/office/drawing/2014/main" val="1823060088"/>
                        </a:ext>
                      </a:extLst>
                    </a:gridCol>
                    <a:gridCol w="516194">
                      <a:extLst>
                        <a:ext uri="{9D8B030D-6E8A-4147-A177-3AD203B41FA5}">
                          <a16:colId xmlns:a16="http://schemas.microsoft.com/office/drawing/2014/main" val="1715107724"/>
                        </a:ext>
                      </a:extLst>
                    </a:gridCol>
                    <a:gridCol w="796412">
                      <a:extLst>
                        <a:ext uri="{9D8B030D-6E8A-4147-A177-3AD203B41FA5}">
                          <a16:colId xmlns:a16="http://schemas.microsoft.com/office/drawing/2014/main" val="321645861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0534" t="-7692" r="-1527" b="-4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168384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742913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622119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25146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449598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B218775-5FA1-43F6-BECB-08FDB1F6224B}"/>
              </a:ext>
            </a:extLst>
          </p:cNvPr>
          <p:cNvSpPr txBox="1"/>
          <p:nvPr/>
        </p:nvSpPr>
        <p:spPr>
          <a:xfrm>
            <a:off x="1004888" y="511870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39EA3C-49C4-63BF-3209-DEAC8E54BB26}"/>
              </a:ext>
            </a:extLst>
          </p:cNvPr>
          <p:cNvSpPr txBox="1"/>
          <p:nvPr/>
        </p:nvSpPr>
        <p:spPr>
          <a:xfrm>
            <a:off x="1575280" y="511870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4C1871-A8E5-61F0-D3D9-19244548472D}"/>
              </a:ext>
            </a:extLst>
          </p:cNvPr>
          <p:cNvSpPr txBox="1"/>
          <p:nvPr/>
        </p:nvSpPr>
        <p:spPr>
          <a:xfrm>
            <a:off x="2190488" y="5117150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C740DE-D2D4-DD4C-605A-22EE71814BB7}"/>
              </a:ext>
            </a:extLst>
          </p:cNvPr>
          <p:cNvSpPr txBox="1"/>
          <p:nvPr/>
        </p:nvSpPr>
        <p:spPr>
          <a:xfrm>
            <a:off x="1004888" y="549571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23A250-80E1-C859-B083-158B6A564C41}"/>
              </a:ext>
            </a:extLst>
          </p:cNvPr>
          <p:cNvSpPr txBox="1"/>
          <p:nvPr/>
        </p:nvSpPr>
        <p:spPr>
          <a:xfrm>
            <a:off x="1575280" y="5495714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E75963-43E0-EA69-B8D4-981A9DE0ADDA}"/>
              </a:ext>
            </a:extLst>
          </p:cNvPr>
          <p:cNvSpPr txBox="1"/>
          <p:nvPr/>
        </p:nvSpPr>
        <p:spPr>
          <a:xfrm>
            <a:off x="2190488" y="5494159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31664D-C9FB-D73F-6B51-7749B028D71D}"/>
              </a:ext>
            </a:extLst>
          </p:cNvPr>
          <p:cNvSpPr txBox="1"/>
          <p:nvPr/>
        </p:nvSpPr>
        <p:spPr>
          <a:xfrm>
            <a:off x="1004888" y="5872723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2FF835-A55C-B1DB-9097-DEE9CB8B9B28}"/>
              </a:ext>
            </a:extLst>
          </p:cNvPr>
          <p:cNvSpPr txBox="1"/>
          <p:nvPr/>
        </p:nvSpPr>
        <p:spPr>
          <a:xfrm>
            <a:off x="1575280" y="5872723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0064A9-6735-6AA8-A2B1-E5A11C2324DC}"/>
              </a:ext>
            </a:extLst>
          </p:cNvPr>
          <p:cNvSpPr txBox="1"/>
          <p:nvPr/>
        </p:nvSpPr>
        <p:spPr>
          <a:xfrm>
            <a:off x="2190488" y="5871168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125B22-533D-D329-F779-2D7B9401621B}"/>
              </a:ext>
            </a:extLst>
          </p:cNvPr>
          <p:cNvSpPr txBox="1"/>
          <p:nvPr/>
        </p:nvSpPr>
        <p:spPr>
          <a:xfrm>
            <a:off x="1004888" y="6307045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FFFDB6-935B-9824-AD08-4935AC3FAB6D}"/>
              </a:ext>
            </a:extLst>
          </p:cNvPr>
          <p:cNvSpPr txBox="1"/>
          <p:nvPr/>
        </p:nvSpPr>
        <p:spPr>
          <a:xfrm>
            <a:off x="1575280" y="6307045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F777B5-6D8A-2880-0FB7-A71926A6B00C}"/>
              </a:ext>
            </a:extLst>
          </p:cNvPr>
          <p:cNvSpPr txBox="1"/>
          <p:nvPr/>
        </p:nvSpPr>
        <p:spPr>
          <a:xfrm>
            <a:off x="2190488" y="6305490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507038-9E5E-6469-5289-C6E79A651EE8}"/>
              </a:ext>
            </a:extLst>
          </p:cNvPr>
          <p:cNvSpPr txBox="1"/>
          <p:nvPr/>
        </p:nvSpPr>
        <p:spPr>
          <a:xfrm>
            <a:off x="3045644" y="4750713"/>
            <a:ext cx="58697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When the hypothesis is false, a proposition is always true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91A30DD-F3A8-182F-AEF1-69F54998E4A1}"/>
              </a:ext>
            </a:extLst>
          </p:cNvPr>
          <p:cNvSpPr/>
          <p:nvPr/>
        </p:nvSpPr>
        <p:spPr>
          <a:xfrm>
            <a:off x="793177" y="5147097"/>
            <a:ext cx="2133600" cy="37700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16148C4-8FA9-E366-14EC-F177283C51AF}"/>
              </a:ext>
            </a:extLst>
          </p:cNvPr>
          <p:cNvSpPr/>
          <p:nvPr/>
        </p:nvSpPr>
        <p:spPr>
          <a:xfrm>
            <a:off x="806627" y="5541212"/>
            <a:ext cx="2133600" cy="37700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3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3" grpId="0"/>
      <p:bldP spid="4" grpId="0"/>
      <p:bldP spid="6" grpId="0"/>
      <p:bldP spid="8" grpId="0"/>
      <p:bldP spid="9" grpId="0"/>
      <p:bldP spid="10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600" dirty="0"/>
              <a:t>IMPLICATION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88F97A6-3253-DA4C-9839-FBDCE1BDBAAE}"/>
                  </a:ext>
                </a:extLst>
              </p:cNvPr>
              <p:cNvSpPr txBox="1"/>
              <p:nvPr/>
            </p:nvSpPr>
            <p:spPr>
              <a:xfrm>
                <a:off x="457200" y="1676400"/>
                <a:ext cx="5120312" cy="5132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q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Frequently used terminologies on </a:t>
                </a:r>
                <a:r>
                  <a:rPr lang="en-US" altLang="ko-KR" sz="2400" b="1" i="1" dirty="0">
                    <a:solidFill>
                      <a:prstClr val="black"/>
                    </a:solidFill>
                  </a:rPr>
                  <a:t>p </a:t>
                </a:r>
                <a14:m>
                  <m:oMath xmlns:m="http://schemas.openxmlformats.org/officeDocument/2006/math">
                    <m:r>
                      <a:rPr lang="en-US" altLang="ko-KR" sz="2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sz="2400" b="1" i="1" dirty="0">
                    <a:solidFill>
                      <a:prstClr val="black"/>
                    </a:solidFill>
                  </a:rPr>
                  <a:t> q</a:t>
                </a:r>
                <a:endParaRPr lang="en-US" sz="3200" b="1" i="1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88F97A6-3253-DA4C-9839-FBDCE1BDBA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76400"/>
                <a:ext cx="5120312" cy="513282"/>
              </a:xfrm>
              <a:prstGeom prst="rect">
                <a:avLst/>
              </a:prstGeom>
              <a:blipFill>
                <a:blip r:embed="rId3"/>
                <a:stretch>
                  <a:fillRect l="-1310" r="-833" b="-26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CA9529-D9AE-763A-B32E-B4DF6624F7C4}"/>
                  </a:ext>
                </a:extLst>
              </p:cNvPr>
              <p:cNvSpPr txBox="1"/>
              <p:nvPr/>
            </p:nvSpPr>
            <p:spPr>
              <a:xfrm>
                <a:off x="762000" y="2189682"/>
                <a:ext cx="6238952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itchFamily="34" charset="0"/>
                  <a:buChar char="•"/>
                </a:pPr>
                <a:r>
                  <a:rPr lang="en-US" sz="2200" b="1" dirty="0">
                    <a:latin typeface="Times New Roman" pitchFamily="18" charset="0"/>
                    <a:cs typeface="Times New Roman" pitchFamily="18" charset="0"/>
                  </a:rPr>
                  <a:t>Converse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: </a:t>
                </a:r>
                <a:r>
                  <a:rPr lang="en-US" sz="2000" b="1" i="1" dirty="0">
                    <a:solidFill>
                      <a:prstClr val="black"/>
                    </a:solidFill>
                  </a:rPr>
                  <a:t>q</a:t>
                </a:r>
                <a:r>
                  <a:rPr lang="en-US" altLang="ko-KR" sz="2000" b="1" i="1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sz="2000" b="1" i="1" dirty="0">
                    <a:solidFill>
                      <a:prstClr val="black"/>
                    </a:solidFill>
                  </a:rPr>
                  <a:t> p 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is called the converse of </a:t>
                </a:r>
                <a:r>
                  <a:rPr lang="en-US" altLang="ko-KR" sz="2000" b="1" i="1" dirty="0">
                    <a:solidFill>
                      <a:prstClr val="black"/>
                    </a:solidFill>
                  </a:rPr>
                  <a:t>p </a:t>
                </a:r>
                <a14:m>
                  <m:oMath xmlns:m="http://schemas.openxmlformats.org/officeDocument/2006/math">
                    <m:r>
                      <a:rPr lang="en-US" altLang="ko-KR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sz="2000" b="1" i="1" dirty="0">
                    <a:solidFill>
                      <a:prstClr val="black"/>
                    </a:solidFill>
                  </a:rPr>
                  <a:t> q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.</a:t>
                </a:r>
                <a:endParaRPr lang="en-US" sz="2200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6CA9529-D9AE-763A-B32E-B4DF6624F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189682"/>
                <a:ext cx="6238952" cy="453137"/>
              </a:xfrm>
              <a:prstGeom prst="rect">
                <a:avLst/>
              </a:prstGeom>
              <a:blipFill>
                <a:blip r:embed="rId4"/>
                <a:stretch>
                  <a:fillRect l="-1075" t="-4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E4890D9-05E3-A606-474C-353D659075FB}"/>
                  </a:ext>
                </a:extLst>
              </p:cNvPr>
              <p:cNvSpPr txBox="1"/>
              <p:nvPr/>
            </p:nvSpPr>
            <p:spPr>
              <a:xfrm>
                <a:off x="755077" y="2642819"/>
                <a:ext cx="7840608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itchFamily="34" charset="0"/>
                  <a:buChar char="•"/>
                </a:pPr>
                <a:r>
                  <a:rPr lang="en-US" sz="2200" b="1" dirty="0">
                    <a:latin typeface="Times New Roman" pitchFamily="18" charset="0"/>
                    <a:cs typeface="Times New Roman" pitchFamily="18" charset="0"/>
                  </a:rPr>
                  <a:t>Contrapositive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: </a:t>
                </a:r>
                <a:r>
                  <a:rPr lang="ko-KR" altLang="en-US" sz="20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ㄱ</a:t>
                </a:r>
                <a:r>
                  <a:rPr lang="en-US" sz="2000" b="1" i="1" dirty="0">
                    <a:solidFill>
                      <a:prstClr val="black"/>
                    </a:solidFill>
                  </a:rPr>
                  <a:t>q</a:t>
                </a:r>
                <a:r>
                  <a:rPr lang="en-US" altLang="ko-KR" sz="2000" b="1" i="1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sz="2000" b="1" i="1" dirty="0">
                    <a:solidFill>
                      <a:prstClr val="black"/>
                    </a:solidFill>
                  </a:rPr>
                  <a:t> </a:t>
                </a:r>
                <a:r>
                  <a:rPr lang="ko-KR" altLang="en-US" sz="20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ㄱ</a:t>
                </a:r>
                <a:r>
                  <a:rPr lang="en-US" altLang="ko-KR" sz="2000" b="1" i="1" dirty="0">
                    <a:solidFill>
                      <a:prstClr val="black"/>
                    </a:solidFill>
                  </a:rPr>
                  <a:t>p 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is called the contrapositive of </a:t>
                </a:r>
                <a:r>
                  <a:rPr lang="en-US" altLang="ko-KR" sz="2000" b="1" i="1" dirty="0">
                    <a:solidFill>
                      <a:prstClr val="black"/>
                    </a:solidFill>
                  </a:rPr>
                  <a:t>p </a:t>
                </a:r>
                <a14:m>
                  <m:oMath xmlns:m="http://schemas.openxmlformats.org/officeDocument/2006/math">
                    <m:r>
                      <a:rPr lang="en-US" altLang="ko-KR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sz="2000" b="1" i="1" dirty="0">
                    <a:solidFill>
                      <a:prstClr val="black"/>
                    </a:solidFill>
                  </a:rPr>
                  <a:t> q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.</a:t>
                </a:r>
                <a:endParaRPr lang="en-US" sz="2200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E4890D9-05E3-A606-474C-353D659075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077" y="2642819"/>
                <a:ext cx="7840608" cy="453137"/>
              </a:xfrm>
              <a:prstGeom prst="rect">
                <a:avLst/>
              </a:prstGeom>
              <a:blipFill>
                <a:blip r:embed="rId5"/>
                <a:stretch>
                  <a:fillRect l="-933" t="-4054" r="-156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E1B704C-0266-FB99-B57B-55A9E0276399}"/>
                  </a:ext>
                </a:extLst>
              </p:cNvPr>
              <p:cNvSpPr txBox="1"/>
              <p:nvPr/>
            </p:nvSpPr>
            <p:spPr>
              <a:xfrm>
                <a:off x="755077" y="3095956"/>
                <a:ext cx="616066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itchFamily="34" charset="0"/>
                  <a:buChar char="•"/>
                </a:pPr>
                <a:r>
                  <a:rPr lang="en-US" sz="2200" b="1" dirty="0">
                    <a:latin typeface="Times New Roman" pitchFamily="18" charset="0"/>
                    <a:cs typeface="Times New Roman" pitchFamily="18" charset="0"/>
                  </a:rPr>
                  <a:t>Inverse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: </a:t>
                </a:r>
                <a:r>
                  <a:rPr lang="ko-KR" altLang="en-US" sz="20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ㄱ</a:t>
                </a:r>
                <a:r>
                  <a:rPr lang="en-US" altLang="ko-KR" sz="2000" b="1" i="1" dirty="0">
                    <a:solidFill>
                      <a:prstClr val="black"/>
                    </a:solidFill>
                  </a:rPr>
                  <a:t>p </a:t>
                </a:r>
                <a14:m>
                  <m:oMath xmlns:m="http://schemas.openxmlformats.org/officeDocument/2006/math">
                    <m:r>
                      <a:rPr lang="en-US" altLang="ko-KR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sz="2000" b="1" i="1" dirty="0">
                    <a:solidFill>
                      <a:prstClr val="black"/>
                    </a:solidFill>
                  </a:rPr>
                  <a:t> </a:t>
                </a:r>
                <a:r>
                  <a:rPr lang="ko-KR" altLang="en-US" sz="20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ㄱ</a:t>
                </a:r>
                <a:r>
                  <a:rPr lang="en-US" altLang="ko-KR" sz="2000" b="1" i="1" dirty="0">
                    <a:solidFill>
                      <a:prstClr val="black"/>
                    </a:solidFill>
                  </a:rPr>
                  <a:t>q 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is called the inverse of </a:t>
                </a:r>
                <a:r>
                  <a:rPr lang="en-US" altLang="ko-KR" sz="2000" b="1" i="1" dirty="0">
                    <a:solidFill>
                      <a:prstClr val="black"/>
                    </a:solidFill>
                  </a:rPr>
                  <a:t>p </a:t>
                </a:r>
                <a14:m>
                  <m:oMath xmlns:m="http://schemas.openxmlformats.org/officeDocument/2006/math">
                    <m:r>
                      <a:rPr lang="en-US" altLang="ko-KR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sz="2000" b="1" i="1" dirty="0">
                    <a:solidFill>
                      <a:prstClr val="black"/>
                    </a:solidFill>
                  </a:rPr>
                  <a:t> q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.</a:t>
                </a:r>
                <a:endParaRPr lang="en-US" sz="2200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E1B704C-0266-FB99-B57B-55A9E0276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077" y="3095956"/>
                <a:ext cx="6160661" cy="453137"/>
              </a:xfrm>
              <a:prstGeom prst="rect">
                <a:avLst/>
              </a:prstGeom>
              <a:blipFill>
                <a:blip r:embed="rId6"/>
                <a:stretch>
                  <a:fillRect l="-1188" t="-4054" r="-495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EBF1A03-FD86-B59F-0E76-825C9A336342}"/>
                  </a:ext>
                </a:extLst>
              </p:cNvPr>
              <p:cNvSpPr txBox="1"/>
              <p:nvPr/>
            </p:nvSpPr>
            <p:spPr>
              <a:xfrm>
                <a:off x="457200" y="3488948"/>
                <a:ext cx="8605241" cy="5132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q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Prove, the contrapositive of  </a:t>
                </a:r>
                <a:r>
                  <a:rPr lang="en-US" altLang="ko-KR" sz="2400" b="1" i="1" dirty="0">
                    <a:solidFill>
                      <a:prstClr val="black"/>
                    </a:solidFill>
                  </a:rPr>
                  <a:t>p </a:t>
                </a:r>
                <a14:m>
                  <m:oMath xmlns:m="http://schemas.openxmlformats.org/officeDocument/2006/math">
                    <m:r>
                      <a:rPr lang="en-US" altLang="ko-KR" sz="2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sz="2400" b="1" i="1" dirty="0">
                    <a:solidFill>
                      <a:prstClr val="black"/>
                    </a:solidFill>
                  </a:rPr>
                  <a:t> q 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of has the same truth value as </a:t>
                </a:r>
                <a:r>
                  <a:rPr lang="en-US" altLang="ko-KR" sz="2000" b="1" i="1" dirty="0">
                    <a:solidFill>
                      <a:prstClr val="black"/>
                    </a:solidFill>
                  </a:rPr>
                  <a:t>p </a:t>
                </a:r>
                <a14:m>
                  <m:oMath xmlns:m="http://schemas.openxmlformats.org/officeDocument/2006/math">
                    <m:r>
                      <a:rPr lang="en-US" altLang="ko-KR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sz="2000" b="1" i="1" dirty="0">
                    <a:solidFill>
                      <a:prstClr val="black"/>
                    </a:solidFill>
                  </a:rPr>
                  <a:t> q</a:t>
                </a:r>
                <a:endParaRPr lang="en-US" sz="3200" b="1" i="1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EBF1A03-FD86-B59F-0E76-825C9A3363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488948"/>
                <a:ext cx="8605241" cy="513282"/>
              </a:xfrm>
              <a:prstGeom prst="rect">
                <a:avLst/>
              </a:prstGeom>
              <a:blipFill>
                <a:blip r:embed="rId7"/>
                <a:stretch>
                  <a:fillRect l="-779" r="-567" b="-2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1A8841D2-C953-5B0F-BB78-C3340DC9CD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9344283"/>
                  </p:ext>
                </p:extLst>
              </p:nvPr>
            </p:nvGraphicFramePr>
            <p:xfrm>
              <a:off x="914400" y="4108874"/>
              <a:ext cx="6477000" cy="18725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41111465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541536028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110344309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70071807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434064289"/>
                        </a:ext>
                      </a:extLst>
                    </a:gridCol>
                    <a:gridCol w="1397000">
                      <a:extLst>
                        <a:ext uri="{9D8B030D-6E8A-4147-A177-3AD203B41FA5}">
                          <a16:colId xmlns:a16="http://schemas.microsoft.com/office/drawing/2014/main" val="423336205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800" b="1" i="1" dirty="0">
                              <a:solidFill>
                                <a:prstClr val="black"/>
                              </a:solidFill>
                            </a:rPr>
                            <a:t>p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 altLang="ko-KR" sz="1800" b="1" i="1" dirty="0">
                              <a:solidFill>
                                <a:prstClr val="black"/>
                              </a:solidFill>
                            </a:rPr>
                            <a:t> q</a:t>
                          </a:r>
                          <a:endParaRPr lang="en-US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o-KR" altLang="en-US" sz="1800" dirty="0">
                              <a:solidFill>
                                <a:prstClr val="black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ㄱ</a:t>
                          </a:r>
                          <a:r>
                            <a:rPr lang="en-US" sz="1800" b="1" i="1" dirty="0">
                              <a:solidFill>
                                <a:prstClr val="black"/>
                              </a:solidFill>
                            </a:rPr>
                            <a:t>q</a:t>
                          </a:r>
                          <a:endParaRPr lang="en-US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o-KR" altLang="en-US" sz="1800" dirty="0">
                              <a:solidFill>
                                <a:prstClr val="black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ㄱ</a:t>
                          </a:r>
                          <a:r>
                            <a:rPr lang="en-US" altLang="ko-KR" sz="1800" b="1" i="1" dirty="0">
                              <a:solidFill>
                                <a:prstClr val="black"/>
                              </a:solidFill>
                            </a:rPr>
                            <a:t>p </a:t>
                          </a:r>
                          <a:endParaRPr lang="en-US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o-KR" altLang="en-US" sz="1800" dirty="0">
                              <a:solidFill>
                                <a:prstClr val="black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ㄱ</a:t>
                          </a:r>
                          <a:r>
                            <a:rPr lang="en-US" sz="1800" b="1" i="1" dirty="0">
                              <a:solidFill>
                                <a:prstClr val="black"/>
                              </a:solidFill>
                            </a:rPr>
                            <a:t>q</a:t>
                          </a:r>
                          <a:r>
                            <a:rPr lang="en-US" altLang="ko-KR" sz="1800" b="1" i="1" dirty="0">
                              <a:solidFill>
                                <a:prstClr val="black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20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 altLang="ko-KR" sz="1800" b="1" i="1" dirty="0">
                              <a:solidFill>
                                <a:prstClr val="black"/>
                              </a:solidFill>
                            </a:rPr>
                            <a:t> </a:t>
                          </a:r>
                          <a:r>
                            <a:rPr lang="ko-KR" altLang="en-US" sz="1800" dirty="0">
                              <a:solidFill>
                                <a:prstClr val="black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ㄱ</a:t>
                          </a:r>
                          <a:r>
                            <a:rPr lang="en-US" altLang="ko-KR" sz="1800" b="1" i="1" dirty="0">
                              <a:solidFill>
                                <a:prstClr val="black"/>
                              </a:solidFill>
                            </a:rPr>
                            <a:t>p </a:t>
                          </a:r>
                          <a:endParaRPr lang="en-US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270485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198287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941667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135115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102769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1A8841D2-C953-5B0F-BB78-C3340DC9CD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9344283"/>
                  </p:ext>
                </p:extLst>
              </p:nvPr>
            </p:nvGraphicFramePr>
            <p:xfrm>
              <a:off x="914400" y="4108874"/>
              <a:ext cx="6477000" cy="18725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41111465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541536028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110344309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70071807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434064289"/>
                        </a:ext>
                      </a:extLst>
                    </a:gridCol>
                    <a:gridCol w="1397000">
                      <a:extLst>
                        <a:ext uri="{9D8B030D-6E8A-4147-A177-3AD203B41FA5}">
                          <a16:colId xmlns:a16="http://schemas.microsoft.com/office/drawing/2014/main" val="4233362052"/>
                        </a:ext>
                      </a:extLst>
                    </a:gridCol>
                  </a:tblGrid>
                  <a:tr h="3891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00599" t="-10938" r="-338323" b="-403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o-KR" altLang="en-US" sz="1800" dirty="0">
                              <a:solidFill>
                                <a:prstClr val="black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ㄱ</a:t>
                          </a:r>
                          <a:r>
                            <a:rPr lang="en-US" sz="1800" b="1" i="1" dirty="0">
                              <a:solidFill>
                                <a:prstClr val="black"/>
                              </a:solidFill>
                            </a:rPr>
                            <a:t>q</a:t>
                          </a:r>
                          <a:endParaRPr lang="en-US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o-KR" altLang="en-US" sz="1800" dirty="0">
                              <a:solidFill>
                                <a:prstClr val="black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ㄱ</a:t>
                          </a:r>
                          <a:r>
                            <a:rPr lang="en-US" altLang="ko-KR" sz="1800" b="1" i="1" dirty="0">
                              <a:solidFill>
                                <a:prstClr val="black"/>
                              </a:solidFill>
                            </a:rPr>
                            <a:t>p </a:t>
                          </a:r>
                          <a:endParaRPr lang="en-US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365066" t="-10938" r="-873" b="-4031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70485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198287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941667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135115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1027699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0DBDE00-27E1-D5C5-F64B-FAA598929076}"/>
              </a:ext>
            </a:extLst>
          </p:cNvPr>
          <p:cNvSpPr txBox="1"/>
          <p:nvPr/>
        </p:nvSpPr>
        <p:spPr>
          <a:xfrm>
            <a:off x="4352848" y="4441289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B54AD1-2114-D48C-8756-6627B8A329F5}"/>
              </a:ext>
            </a:extLst>
          </p:cNvPr>
          <p:cNvSpPr txBox="1"/>
          <p:nvPr/>
        </p:nvSpPr>
        <p:spPr>
          <a:xfrm>
            <a:off x="4352848" y="4818298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901BCF-4EC5-CE45-CB36-B465F60D7B9F}"/>
              </a:ext>
            </a:extLst>
          </p:cNvPr>
          <p:cNvSpPr txBox="1"/>
          <p:nvPr/>
        </p:nvSpPr>
        <p:spPr>
          <a:xfrm>
            <a:off x="4352848" y="5195307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9298C8-F86C-F65D-D648-B97FDAFFD6C2}"/>
              </a:ext>
            </a:extLst>
          </p:cNvPr>
          <p:cNvSpPr txBox="1"/>
          <p:nvPr/>
        </p:nvSpPr>
        <p:spPr>
          <a:xfrm>
            <a:off x="4352848" y="5629629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42906A-0B87-7A9F-10BE-1814897B0BCE}"/>
              </a:ext>
            </a:extLst>
          </p:cNvPr>
          <p:cNvSpPr txBox="1"/>
          <p:nvPr/>
        </p:nvSpPr>
        <p:spPr>
          <a:xfrm>
            <a:off x="5343448" y="4441289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955531-1621-66C3-875F-28FE24B41D19}"/>
              </a:ext>
            </a:extLst>
          </p:cNvPr>
          <p:cNvSpPr txBox="1"/>
          <p:nvPr/>
        </p:nvSpPr>
        <p:spPr>
          <a:xfrm>
            <a:off x="5343448" y="4818298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2D359F-DF24-2B38-7B2F-D0C96FBC5C43}"/>
              </a:ext>
            </a:extLst>
          </p:cNvPr>
          <p:cNvSpPr txBox="1"/>
          <p:nvPr/>
        </p:nvSpPr>
        <p:spPr>
          <a:xfrm>
            <a:off x="5343448" y="5195307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2C945B-8AE8-7888-1269-F1BB8F306362}"/>
              </a:ext>
            </a:extLst>
          </p:cNvPr>
          <p:cNvSpPr txBox="1"/>
          <p:nvPr/>
        </p:nvSpPr>
        <p:spPr>
          <a:xfrm>
            <a:off x="5343448" y="5629629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6C696D-3BF5-016F-8CE5-B6CD6E9BF63E}"/>
              </a:ext>
            </a:extLst>
          </p:cNvPr>
          <p:cNvSpPr txBox="1"/>
          <p:nvPr/>
        </p:nvSpPr>
        <p:spPr>
          <a:xfrm>
            <a:off x="6486448" y="4441289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345B70-C64F-EAB3-270B-D8F342D422F9}"/>
              </a:ext>
            </a:extLst>
          </p:cNvPr>
          <p:cNvSpPr txBox="1"/>
          <p:nvPr/>
        </p:nvSpPr>
        <p:spPr>
          <a:xfrm>
            <a:off x="6486448" y="4818298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70F6D2-46B8-7391-6524-AB567DA01292}"/>
              </a:ext>
            </a:extLst>
          </p:cNvPr>
          <p:cNvSpPr txBox="1"/>
          <p:nvPr/>
        </p:nvSpPr>
        <p:spPr>
          <a:xfrm>
            <a:off x="6486448" y="5195307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87FAA2-50DA-BAE9-C4C9-D0192834A031}"/>
              </a:ext>
            </a:extLst>
          </p:cNvPr>
          <p:cNvSpPr txBox="1"/>
          <p:nvPr/>
        </p:nvSpPr>
        <p:spPr>
          <a:xfrm>
            <a:off x="6486448" y="5629629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889F73D-00CE-08F9-5011-7BE986BA74D8}"/>
              </a:ext>
            </a:extLst>
          </p:cNvPr>
          <p:cNvSpPr/>
          <p:nvPr/>
        </p:nvSpPr>
        <p:spPr>
          <a:xfrm>
            <a:off x="3026804" y="3924167"/>
            <a:ext cx="890280" cy="228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7CC65E8-BF5D-BC10-705D-0E67A7ED70F1}"/>
              </a:ext>
            </a:extLst>
          </p:cNvPr>
          <p:cNvSpPr/>
          <p:nvPr/>
        </p:nvSpPr>
        <p:spPr>
          <a:xfrm>
            <a:off x="6204975" y="3897884"/>
            <a:ext cx="890280" cy="228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9C42287-5DD4-3ADC-43BA-01D8D93A3DCA}"/>
                  </a:ext>
                </a:extLst>
              </p:cNvPr>
              <p:cNvSpPr txBox="1"/>
              <p:nvPr/>
            </p:nvSpPr>
            <p:spPr>
              <a:xfrm>
                <a:off x="457200" y="6101794"/>
                <a:ext cx="2601994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q"/>
                </a:pPr>
                <a:r>
                  <a:rPr lang="en-US" altLang="ko-KR" sz="2200" b="1" i="1" dirty="0">
                    <a:solidFill>
                      <a:prstClr val="black"/>
                    </a:solidFill>
                  </a:rPr>
                  <a:t>p </a:t>
                </a:r>
                <a14:m>
                  <m:oMath xmlns:m="http://schemas.openxmlformats.org/officeDocument/2006/math">
                    <m:r>
                      <a:rPr lang="en-US" altLang="ko-KR" sz="22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sz="2200" b="1" i="1" dirty="0">
                    <a:solidFill>
                      <a:prstClr val="black"/>
                    </a:solidFill>
                  </a:rPr>
                  <a:t> q </a:t>
                </a:r>
                <a:r>
                  <a:rPr lang="en-US" sz="2000" dirty="0"/>
                  <a:t>≡</a:t>
                </a:r>
                <a:r>
                  <a:rPr lang="ko-KR" altLang="en-US" sz="20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ㄱ</a:t>
                </a:r>
                <a:r>
                  <a:rPr lang="en-US" sz="2000" b="1" i="1" dirty="0">
                    <a:solidFill>
                      <a:prstClr val="black"/>
                    </a:solidFill>
                  </a:rPr>
                  <a:t>q</a:t>
                </a:r>
                <a:r>
                  <a:rPr lang="en-US" altLang="ko-KR" sz="2000" b="1" i="1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sz="2000" b="1" i="1" dirty="0">
                    <a:solidFill>
                      <a:prstClr val="black"/>
                    </a:solidFill>
                  </a:rPr>
                  <a:t> </a:t>
                </a:r>
                <a:r>
                  <a:rPr lang="ko-KR" altLang="en-US" sz="20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ㄱ</a:t>
                </a:r>
                <a:r>
                  <a:rPr lang="en-US" altLang="ko-KR" sz="2000" b="1" i="1" dirty="0">
                    <a:solidFill>
                      <a:prstClr val="black"/>
                    </a:solidFill>
                  </a:rPr>
                  <a:t>p </a:t>
                </a:r>
                <a:endParaRPr lang="en-US" sz="3200" b="1" i="1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9C42287-5DD4-3ADC-43BA-01D8D93A3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6101794"/>
                <a:ext cx="2601994" cy="453137"/>
              </a:xfrm>
              <a:prstGeom prst="rect">
                <a:avLst/>
              </a:prstGeom>
              <a:blipFill>
                <a:blip r:embed="rId9"/>
                <a:stretch>
                  <a:fillRect l="-2576" t="-4054" r="-1405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4901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" grpId="0"/>
      <p:bldP spid="4" grpId="0"/>
      <p:bldP spid="5" grpId="0"/>
      <p:bldP spid="6" grpId="0"/>
      <p:bldP spid="8" grpId="0"/>
      <p:bldP spid="9" grpId="0"/>
      <p:bldP spid="10" grpId="0"/>
      <p:bldP spid="14" grpId="0"/>
      <p:bldP spid="18" grpId="0"/>
      <p:bldP spid="20" grpId="0"/>
      <p:bldP spid="21" grpId="0"/>
      <p:bldP spid="22" grpId="0"/>
      <p:bldP spid="23" grpId="0"/>
      <p:bldP spid="25" grpId="0"/>
      <p:bldP spid="26" grpId="0"/>
      <p:bldP spid="27" grpId="0"/>
      <p:bldP spid="29" grpId="0" animBg="1"/>
      <p:bldP spid="30" grpId="0" animBg="1"/>
      <p:bldP spid="3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IMPLICATION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AB2A57E-59EE-F412-9858-5E86B5F5BBE8}"/>
                  </a:ext>
                </a:extLst>
              </p:cNvPr>
              <p:cNvSpPr txBox="1"/>
              <p:nvPr/>
            </p:nvSpPr>
            <p:spPr>
              <a:xfrm>
                <a:off x="457200" y="1676400"/>
                <a:ext cx="7079182" cy="5132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q"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Find the </a:t>
                </a:r>
                <a:r>
                  <a:rPr lang="en-US" sz="2200" b="1" dirty="0">
                    <a:latin typeface="Times New Roman" pitchFamily="18" charset="0"/>
                    <a:cs typeface="Times New Roman" pitchFamily="18" charset="0"/>
                  </a:rPr>
                  <a:t>Converse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  <a:r>
                  <a:rPr lang="en-US" sz="2200" b="1" dirty="0">
                    <a:latin typeface="Times New Roman" pitchFamily="18" charset="0"/>
                    <a:cs typeface="Times New Roman" pitchFamily="18" charset="0"/>
                  </a:rPr>
                  <a:t>Contrapositive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and </a:t>
                </a:r>
                <a:r>
                  <a:rPr lang="en-US" sz="2200" b="1" dirty="0">
                    <a:latin typeface="Times New Roman" pitchFamily="18" charset="0"/>
                    <a:cs typeface="Times New Roman" pitchFamily="18" charset="0"/>
                  </a:rPr>
                  <a:t>Inverse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of </a:t>
                </a:r>
                <a:r>
                  <a:rPr lang="en-US" altLang="ko-KR" sz="2400" b="1" i="1" dirty="0">
                    <a:solidFill>
                      <a:prstClr val="black"/>
                    </a:solidFill>
                  </a:rPr>
                  <a:t>p </a:t>
                </a:r>
                <a14:m>
                  <m:oMath xmlns:m="http://schemas.openxmlformats.org/officeDocument/2006/math">
                    <m:r>
                      <a:rPr lang="en-US" altLang="ko-KR" sz="2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sz="2400" b="1" i="1" dirty="0">
                    <a:solidFill>
                      <a:prstClr val="black"/>
                    </a:solidFill>
                  </a:rPr>
                  <a:t> q</a:t>
                </a:r>
                <a:endParaRPr lang="en-US" sz="3200" b="1" i="1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AB2A57E-59EE-F412-9858-5E86B5F5BB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76400"/>
                <a:ext cx="7079182" cy="513282"/>
              </a:xfrm>
              <a:prstGeom prst="rect">
                <a:avLst/>
              </a:prstGeom>
              <a:blipFill>
                <a:blip r:embed="rId2"/>
                <a:stretch>
                  <a:fillRect l="-947" r="-1206" b="-26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CF056EA-6EB7-DB2E-F424-D118A93DF9FF}"/>
              </a:ext>
            </a:extLst>
          </p:cNvPr>
          <p:cNvSpPr txBox="1"/>
          <p:nvPr/>
        </p:nvSpPr>
        <p:spPr>
          <a:xfrm>
            <a:off x="914400" y="2142778"/>
            <a:ext cx="394531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Bangladesh plays at Mirpur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7298D1-8C86-E240-7332-CD15FDCA6DFE}"/>
              </a:ext>
            </a:extLst>
          </p:cNvPr>
          <p:cNvSpPr txBox="1"/>
          <p:nvPr/>
        </p:nvSpPr>
        <p:spPr>
          <a:xfrm>
            <a:off x="914400" y="2557504"/>
            <a:ext cx="27638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altLang="ko-K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Bangladesh wins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45085B-D61D-C93C-7C09-BB738A19C4FB}"/>
              </a:ext>
            </a:extLst>
          </p:cNvPr>
          <p:cNvSpPr txBox="1"/>
          <p:nvPr/>
        </p:nvSpPr>
        <p:spPr>
          <a:xfrm>
            <a:off x="457200" y="3172359"/>
            <a:ext cx="76851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Converse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If Bangladesh wins, then Bangladesh plays at Mirpur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F7C081-31C9-7910-473A-6527518600A2}"/>
              </a:ext>
            </a:extLst>
          </p:cNvPr>
          <p:cNvSpPr txBox="1"/>
          <p:nvPr/>
        </p:nvSpPr>
        <p:spPr>
          <a:xfrm>
            <a:off x="458755" y="3705982"/>
            <a:ext cx="82280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Contrapositive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If Bangladesh does not win, then Bangladesh does not play at Mirpur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8FB830-5236-7E4B-4EA1-DBF3F646B413}"/>
              </a:ext>
            </a:extLst>
          </p:cNvPr>
          <p:cNvSpPr txBox="1"/>
          <p:nvPr/>
        </p:nvSpPr>
        <p:spPr>
          <a:xfrm>
            <a:off x="457200" y="4603024"/>
            <a:ext cx="82280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Inverse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If Bangladesh does not play at Mirpur, then Bangladesh does not win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468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600" dirty="0"/>
              <a:t>BICONDITIONAL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A3D642-101F-1BA2-6A20-35CFAEEA02AC}"/>
              </a:ext>
            </a:extLst>
          </p:cNvPr>
          <p:cNvSpPr txBox="1"/>
          <p:nvPr/>
        </p:nvSpPr>
        <p:spPr>
          <a:xfrm>
            <a:off x="914400" y="2142778"/>
            <a:ext cx="394531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Bangladesh plays at Mirpur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4586CD-794F-CDF7-21F6-14EC7AFF1397}"/>
              </a:ext>
            </a:extLst>
          </p:cNvPr>
          <p:cNvSpPr txBox="1"/>
          <p:nvPr/>
        </p:nvSpPr>
        <p:spPr>
          <a:xfrm>
            <a:off x="914400" y="2557504"/>
            <a:ext cx="27638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altLang="ko-K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Bangladesh wins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8F97A6-3253-DA4C-9839-FBDCE1BDBAAE}"/>
              </a:ext>
            </a:extLst>
          </p:cNvPr>
          <p:cNvSpPr txBox="1"/>
          <p:nvPr/>
        </p:nvSpPr>
        <p:spPr>
          <a:xfrm>
            <a:off x="457200" y="1676400"/>
            <a:ext cx="503375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Consider the following two propositions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EABFEC-BC50-FFDE-D879-0EAC7149172A}"/>
              </a:ext>
            </a:extLst>
          </p:cNvPr>
          <p:cNvSpPr txBox="1"/>
          <p:nvPr/>
        </p:nvSpPr>
        <p:spPr>
          <a:xfrm>
            <a:off x="914400" y="3001023"/>
            <a:ext cx="7209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altLang="ko-KR" sz="2400" b="1" i="1" dirty="0"/>
              <a:t>p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↔ </a:t>
            </a:r>
            <a:r>
              <a:rPr lang="en-US" altLang="ko-KR" sz="2400" b="1" i="1" dirty="0"/>
              <a:t>q </a:t>
            </a:r>
            <a:r>
              <a:rPr lang="en-US" altLang="ko-KR" sz="2200" dirty="0">
                <a:latin typeface="Times New Roman" pitchFamily="18" charset="0"/>
                <a:cs typeface="Times New Roman" pitchFamily="18" charset="0"/>
              </a:rPr>
              <a:t>implies a </a:t>
            </a:r>
            <a:r>
              <a:rPr lang="en-US" altLang="ko-KR" sz="2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conditional statement</a:t>
            </a:r>
            <a:r>
              <a:rPr lang="en-US" altLang="ko-KR" sz="22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ko-KR" sz="2200" b="1" i="1" dirty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altLang="ko-KR" sz="2200" dirty="0">
                <a:latin typeface="Times New Roman" pitchFamily="18" charset="0"/>
                <a:cs typeface="Times New Roman" pitchFamily="18" charset="0"/>
              </a:rPr>
              <a:t>if and only if </a:t>
            </a:r>
            <a:r>
              <a:rPr lang="en-US" altLang="ko-KR" sz="2200" b="1" i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ko-KR" sz="22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D3A289-F7BA-ED2F-AA05-05955AA3F3EE}"/>
              </a:ext>
            </a:extLst>
          </p:cNvPr>
          <p:cNvSpPr txBox="1"/>
          <p:nvPr/>
        </p:nvSpPr>
        <p:spPr>
          <a:xfrm>
            <a:off x="938502" y="3462688"/>
            <a:ext cx="72507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altLang="ko-KR" sz="2200" dirty="0">
                <a:latin typeface="Times New Roman" pitchFamily="18" charset="0"/>
                <a:cs typeface="Times New Roman" pitchFamily="18" charset="0"/>
              </a:rPr>
              <a:t>Bangladesh plays at Mirpur if and only if Bangladesh wins.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D74FB11-4EE3-85A3-DAB1-916FD2FA41BA}"/>
                  </a:ext>
                </a:extLst>
              </p:cNvPr>
              <p:cNvSpPr txBox="1"/>
              <p:nvPr/>
            </p:nvSpPr>
            <p:spPr>
              <a:xfrm>
                <a:off x="457200" y="4705489"/>
                <a:ext cx="6470041" cy="5132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q"/>
                </a:pPr>
                <a:r>
                  <a:rPr lang="en-US" altLang="ko-KR" sz="2200" b="1" i="1" dirty="0"/>
                  <a:t>p </a:t>
                </a:r>
                <a:r>
                  <a:rPr 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↔ </a:t>
                </a:r>
                <a:r>
                  <a:rPr lang="en-US" altLang="ko-KR" sz="2200" b="1" i="1" dirty="0"/>
                  <a:t>q </a:t>
                </a:r>
                <a:r>
                  <a:rPr lang="en-US" altLang="ko-KR" sz="2200" dirty="0">
                    <a:latin typeface="Times New Roman" pitchFamily="18" charset="0"/>
                    <a:cs typeface="Times New Roman" pitchFamily="18" charset="0"/>
                  </a:rPr>
                  <a:t>is true when both </a:t>
                </a:r>
                <a:r>
                  <a:rPr lang="en-US" altLang="ko-KR" sz="2400" b="1" i="1" dirty="0">
                    <a:solidFill>
                      <a:prstClr val="black"/>
                    </a:solidFill>
                  </a:rPr>
                  <a:t>p </a:t>
                </a:r>
                <a14:m>
                  <m:oMath xmlns:m="http://schemas.openxmlformats.org/officeDocument/2006/math">
                    <m:r>
                      <a:rPr lang="en-US" altLang="ko-KR" sz="2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sz="2400" b="1" i="1" dirty="0">
                    <a:solidFill>
                      <a:prstClr val="black"/>
                    </a:solidFill>
                  </a:rPr>
                  <a:t> q </a:t>
                </a:r>
                <a:r>
                  <a:rPr lang="en-US" altLang="ko-KR" sz="2200" dirty="0">
                    <a:latin typeface="Times New Roman" pitchFamily="18" charset="0"/>
                    <a:cs typeface="Times New Roman" pitchFamily="18" charset="0"/>
                  </a:rPr>
                  <a:t>and </a:t>
                </a:r>
                <a:r>
                  <a:rPr lang="en-US" altLang="ko-KR" sz="2400" b="1" i="1" dirty="0">
                    <a:solidFill>
                      <a:prstClr val="black"/>
                    </a:solidFill>
                  </a:rPr>
                  <a:t>q </a:t>
                </a:r>
                <a14:m>
                  <m:oMath xmlns:m="http://schemas.openxmlformats.org/officeDocument/2006/math">
                    <m:r>
                      <a:rPr lang="en-US" altLang="ko-KR" sz="2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sz="2400" b="1" i="1" dirty="0">
                    <a:solidFill>
                      <a:prstClr val="black"/>
                    </a:solidFill>
                  </a:rPr>
                  <a:t> p </a:t>
                </a:r>
                <a:r>
                  <a:rPr lang="en-US" altLang="ko-KR" sz="2200" dirty="0">
                    <a:latin typeface="Times New Roman" pitchFamily="18" charset="0"/>
                    <a:cs typeface="Times New Roman" pitchFamily="18" charset="0"/>
                  </a:rPr>
                  <a:t>are true.</a:t>
                </a:r>
                <a:endParaRPr lang="en-US" sz="2200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D74FB11-4EE3-85A3-DAB1-916FD2FA4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705489"/>
                <a:ext cx="6470041" cy="513282"/>
              </a:xfrm>
              <a:prstGeom prst="rect">
                <a:avLst/>
              </a:prstGeom>
              <a:blipFill>
                <a:blip r:embed="rId2"/>
                <a:stretch>
                  <a:fillRect l="-1037" t="-1190" r="-283" b="-26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18D24E4-ADF8-59E9-7B3C-EACF3D959D17}"/>
              </a:ext>
            </a:extLst>
          </p:cNvPr>
          <p:cNvSpPr txBox="1"/>
          <p:nvPr/>
        </p:nvSpPr>
        <p:spPr>
          <a:xfrm>
            <a:off x="457200" y="5275565"/>
            <a:ext cx="75296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Biconditional statements are sometimes called 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Bi-implications</a:t>
            </a:r>
            <a:endParaRPr lang="en-US" sz="2200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8C3E8C-97C7-3286-A23A-23821F13610C}"/>
              </a:ext>
            </a:extLst>
          </p:cNvPr>
          <p:cNvSpPr txBox="1"/>
          <p:nvPr/>
        </p:nvSpPr>
        <p:spPr>
          <a:xfrm>
            <a:off x="938502" y="4212409"/>
            <a:ext cx="723512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altLang="ko-KR" sz="2200" dirty="0">
                <a:latin typeface="Times New Roman" pitchFamily="18" charset="0"/>
                <a:cs typeface="Times New Roman" pitchFamily="18" charset="0"/>
              </a:rPr>
              <a:t>Bangladesh wins if and only if Bangladesh plays at Mirpur.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F78307-7BC9-1F6E-AFEF-C56F75010CB8}"/>
              </a:ext>
            </a:extLst>
          </p:cNvPr>
          <p:cNvSpPr txBox="1"/>
          <p:nvPr/>
        </p:nvSpPr>
        <p:spPr>
          <a:xfrm>
            <a:off x="4301545" y="3794077"/>
            <a:ext cx="4347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2203806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5" grpId="0"/>
      <p:bldP spid="16" grpId="0"/>
      <p:bldP spid="17" grpId="0"/>
      <p:bldP spid="3" grpId="0"/>
      <p:bldP spid="4" grpId="0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600" dirty="0"/>
              <a:t>BICONDITIONAL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676400"/>
            <a:ext cx="16583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Truth Table</a:t>
            </a:r>
            <a:endParaRPr lang="en-US" sz="2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4" name="Table 9">
            <a:extLst>
              <a:ext uri="{FF2B5EF4-FFF2-40B4-BE49-F238E27FC236}">
                <a16:creationId xmlns:a16="http://schemas.microsoft.com/office/drawing/2014/main" id="{034E87C3-AF25-0395-113F-E56A831B2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1350742"/>
              </p:ext>
            </p:extLst>
          </p:nvPr>
        </p:nvGraphicFramePr>
        <p:xfrm>
          <a:off x="6783197" y="1983502"/>
          <a:ext cx="1979803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194">
                  <a:extLst>
                    <a:ext uri="{9D8B030D-6E8A-4147-A177-3AD203B41FA5}">
                      <a16:colId xmlns:a16="http://schemas.microsoft.com/office/drawing/2014/main" val="1823060088"/>
                    </a:ext>
                  </a:extLst>
                </a:gridCol>
                <a:gridCol w="516194">
                  <a:extLst>
                    <a:ext uri="{9D8B030D-6E8A-4147-A177-3AD203B41FA5}">
                      <a16:colId xmlns:a16="http://schemas.microsoft.com/office/drawing/2014/main" val="1715107724"/>
                    </a:ext>
                  </a:extLst>
                </a:gridCol>
                <a:gridCol w="947415">
                  <a:extLst>
                    <a:ext uri="{9D8B030D-6E8A-4147-A177-3AD203B41FA5}">
                      <a16:colId xmlns:a16="http://schemas.microsoft.com/office/drawing/2014/main" val="32164586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p↔ q</a:t>
                      </a:r>
                      <a:endParaRPr kumimoji="0" lang="en-US" sz="22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683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429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221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51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495988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052B530A-E7B8-71DE-FDED-817481947571}"/>
              </a:ext>
            </a:extLst>
          </p:cNvPr>
          <p:cNvSpPr txBox="1"/>
          <p:nvPr/>
        </p:nvSpPr>
        <p:spPr>
          <a:xfrm>
            <a:off x="6814299" y="2377807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759B15-7F9B-162F-1BB8-E20CA1449B07}"/>
              </a:ext>
            </a:extLst>
          </p:cNvPr>
          <p:cNvSpPr txBox="1"/>
          <p:nvPr/>
        </p:nvSpPr>
        <p:spPr>
          <a:xfrm>
            <a:off x="7384691" y="2377807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3E4C54-4009-6E28-1DB9-F8C83914DC7D}"/>
              </a:ext>
            </a:extLst>
          </p:cNvPr>
          <p:cNvSpPr txBox="1"/>
          <p:nvPr/>
        </p:nvSpPr>
        <p:spPr>
          <a:xfrm>
            <a:off x="7999899" y="2376252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ED39AE-3BA6-2073-21B0-2D0997E0DCE0}"/>
              </a:ext>
            </a:extLst>
          </p:cNvPr>
          <p:cNvSpPr txBox="1"/>
          <p:nvPr/>
        </p:nvSpPr>
        <p:spPr>
          <a:xfrm>
            <a:off x="6814299" y="2754816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ED9923-4ED5-0569-0AC4-C60B48B97474}"/>
              </a:ext>
            </a:extLst>
          </p:cNvPr>
          <p:cNvSpPr txBox="1"/>
          <p:nvPr/>
        </p:nvSpPr>
        <p:spPr>
          <a:xfrm>
            <a:off x="7384691" y="2754816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9D640D-2AD9-9A5C-2ACF-F9A662D12621}"/>
              </a:ext>
            </a:extLst>
          </p:cNvPr>
          <p:cNvSpPr txBox="1"/>
          <p:nvPr/>
        </p:nvSpPr>
        <p:spPr>
          <a:xfrm>
            <a:off x="7999899" y="2753261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4BD728-95F3-422B-0CD5-A6E8DE41E391}"/>
              </a:ext>
            </a:extLst>
          </p:cNvPr>
          <p:cNvSpPr txBox="1"/>
          <p:nvPr/>
        </p:nvSpPr>
        <p:spPr>
          <a:xfrm>
            <a:off x="6814299" y="3131825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5C0AD6-1E8E-0B9F-129D-8A638589B06B}"/>
              </a:ext>
            </a:extLst>
          </p:cNvPr>
          <p:cNvSpPr txBox="1"/>
          <p:nvPr/>
        </p:nvSpPr>
        <p:spPr>
          <a:xfrm>
            <a:off x="7384691" y="313182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2E3B8B-7C79-01D4-20C8-931EFA61BDB0}"/>
              </a:ext>
            </a:extLst>
          </p:cNvPr>
          <p:cNvSpPr txBox="1"/>
          <p:nvPr/>
        </p:nvSpPr>
        <p:spPr>
          <a:xfrm>
            <a:off x="7999899" y="3130270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D0F36E-4862-4D9E-88E8-4F3479808A66}"/>
              </a:ext>
            </a:extLst>
          </p:cNvPr>
          <p:cNvSpPr txBox="1"/>
          <p:nvPr/>
        </p:nvSpPr>
        <p:spPr>
          <a:xfrm>
            <a:off x="6814299" y="3566147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7E2177-3863-AA71-DBBA-4B224EEDDAF3}"/>
              </a:ext>
            </a:extLst>
          </p:cNvPr>
          <p:cNvSpPr txBox="1"/>
          <p:nvPr/>
        </p:nvSpPr>
        <p:spPr>
          <a:xfrm>
            <a:off x="7384691" y="3566147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7725EDC-6189-FC21-B3B1-60B08ED0AE6B}"/>
              </a:ext>
            </a:extLst>
          </p:cNvPr>
          <p:cNvSpPr txBox="1"/>
          <p:nvPr/>
        </p:nvSpPr>
        <p:spPr>
          <a:xfrm>
            <a:off x="7999899" y="3564592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085A5D-BDF1-C4B9-A69D-BFA4B49CBDB8}"/>
              </a:ext>
            </a:extLst>
          </p:cNvPr>
          <p:cNvSpPr txBox="1"/>
          <p:nvPr/>
        </p:nvSpPr>
        <p:spPr>
          <a:xfrm>
            <a:off x="806270" y="2085516"/>
            <a:ext cx="3631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Bangladesh plays at Mirpur</a:t>
            </a:r>
            <a:endParaRPr lang="en-US" sz="2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00CD36-0993-3F08-1EFB-6D1F72E4060E}"/>
              </a:ext>
            </a:extLst>
          </p:cNvPr>
          <p:cNvSpPr txBox="1"/>
          <p:nvPr/>
        </p:nvSpPr>
        <p:spPr>
          <a:xfrm>
            <a:off x="802341" y="2437813"/>
            <a:ext cx="2537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altLang="ko-KR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Bangladesh wins</a:t>
            </a:r>
            <a:endParaRPr lang="en-US" sz="2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B00AA0-DDA2-7A22-8310-60EBCE04E733}"/>
              </a:ext>
            </a:extLst>
          </p:cNvPr>
          <p:cNvSpPr txBox="1"/>
          <p:nvPr/>
        </p:nvSpPr>
        <p:spPr>
          <a:xfrm>
            <a:off x="802341" y="2802066"/>
            <a:ext cx="55984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claimed</a:t>
            </a:r>
            <a:r>
              <a:rPr lang="en-US" altLang="ko-KR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b="1" i="1" dirty="0" err="1"/>
              <a:t>p↔q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: Bangladesh plays at Mirpur if and only if Bangladesh wins.</a:t>
            </a:r>
            <a:endParaRPr lang="en-US" sz="2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E1CF05-91FE-C489-F63C-F0174007A999}"/>
              </a:ext>
            </a:extLst>
          </p:cNvPr>
          <p:cNvSpPr txBox="1"/>
          <p:nvPr/>
        </p:nvSpPr>
        <p:spPr>
          <a:xfrm>
            <a:off x="802341" y="3447422"/>
            <a:ext cx="57070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which of the cases, people can call me as a liar?</a:t>
            </a:r>
            <a:endParaRPr lang="en-US" sz="2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FF5CC0-C006-BE66-AA7F-11E0D196F8AF}"/>
              </a:ext>
            </a:extLst>
          </p:cNvPr>
          <p:cNvSpPr txBox="1"/>
          <p:nvPr/>
        </p:nvSpPr>
        <p:spPr>
          <a:xfrm>
            <a:off x="397742" y="3982965"/>
            <a:ext cx="73863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Bangladesh did not play at Mirpur, and so Bangladesh did not win.</a:t>
            </a:r>
            <a:endParaRPr lang="en-US" sz="2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9AC1B4-CB33-7A4B-0831-B6FFF4F687CD}"/>
              </a:ext>
            </a:extLst>
          </p:cNvPr>
          <p:cNvSpPr txBox="1"/>
          <p:nvPr/>
        </p:nvSpPr>
        <p:spPr>
          <a:xfrm>
            <a:off x="802341" y="4320247"/>
            <a:ext cx="32912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ko-KR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violation in my words.</a:t>
            </a:r>
            <a:endParaRPr lang="en-US" sz="20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F9AF18-4B68-8766-D711-31245BDE258F}"/>
              </a:ext>
            </a:extLst>
          </p:cNvPr>
          <p:cNvSpPr txBox="1"/>
          <p:nvPr/>
        </p:nvSpPr>
        <p:spPr>
          <a:xfrm>
            <a:off x="397742" y="4657529"/>
            <a:ext cx="6326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Bangladesh did not play at Mirpur, but Bangladesh won.</a:t>
            </a:r>
            <a:endParaRPr lang="en-US" sz="2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0301FF-D2F3-A1EF-3808-BCF1D54C5A5D}"/>
              </a:ext>
            </a:extLst>
          </p:cNvPr>
          <p:cNvSpPr txBox="1"/>
          <p:nvPr/>
        </p:nvSpPr>
        <p:spPr>
          <a:xfrm>
            <a:off x="802341" y="5004166"/>
            <a:ext cx="34034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 violation in my words</a:t>
            </a:r>
            <a:endParaRPr lang="en-US" sz="20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A6DAD71-8494-575F-5F0D-DE9DA5AAB6BA}"/>
              </a:ext>
            </a:extLst>
          </p:cNvPr>
          <p:cNvSpPr txBox="1"/>
          <p:nvPr/>
        </p:nvSpPr>
        <p:spPr>
          <a:xfrm>
            <a:off x="342715" y="5362627"/>
            <a:ext cx="65110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Bangladesh played at Mirpur, but Bangladesh did not win.</a:t>
            </a:r>
            <a:endParaRPr lang="en-US" sz="2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993501-A0E8-9A83-89A9-4C13269CF602}"/>
              </a:ext>
            </a:extLst>
          </p:cNvPr>
          <p:cNvSpPr txBox="1"/>
          <p:nvPr/>
        </p:nvSpPr>
        <p:spPr>
          <a:xfrm>
            <a:off x="747314" y="5725415"/>
            <a:ext cx="34676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 violation in my words.</a:t>
            </a:r>
            <a:endParaRPr lang="en-US" sz="2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92C0C38-8A69-B2A3-BE87-73FFBED6F491}"/>
              </a:ext>
            </a:extLst>
          </p:cNvPr>
          <p:cNvSpPr txBox="1"/>
          <p:nvPr/>
        </p:nvSpPr>
        <p:spPr>
          <a:xfrm>
            <a:off x="342715" y="6062901"/>
            <a:ext cx="55508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Bangladesh played at Mirpur, and also they won.</a:t>
            </a:r>
            <a:endParaRPr lang="en-US" sz="2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F12AC90-61CF-4548-6491-FBDD028ADFFC}"/>
              </a:ext>
            </a:extLst>
          </p:cNvPr>
          <p:cNvSpPr txBox="1"/>
          <p:nvPr/>
        </p:nvSpPr>
        <p:spPr>
          <a:xfrm>
            <a:off x="747314" y="6409020"/>
            <a:ext cx="32912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ko-KR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violation in my words.</a:t>
            </a:r>
            <a:endParaRPr lang="en-US" sz="20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94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5" grpId="0"/>
      <p:bldP spid="6" grpId="0"/>
      <p:bldP spid="7" grpId="0"/>
      <p:bldP spid="8" grpId="0"/>
      <p:bldP spid="10" grpId="0"/>
      <p:bldP spid="12" grpId="0"/>
      <p:bldP spid="37" grpId="0"/>
      <p:bldP spid="38" grpId="0"/>
      <p:bldP spid="40" grpId="0"/>
      <p:bldP spid="41" grpId="0"/>
      <p:bldP spid="42" grpId="0"/>
      <p:bldP spid="4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600" dirty="0"/>
              <a:t>BICONDITIONAL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252444"/>
            <a:ext cx="16583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Truth Table</a:t>
            </a:r>
            <a:endParaRPr lang="en-US" sz="2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4" name="Table 9">
            <a:extLst>
              <a:ext uri="{FF2B5EF4-FFF2-40B4-BE49-F238E27FC236}">
                <a16:creationId xmlns:a16="http://schemas.microsoft.com/office/drawing/2014/main" id="{034E87C3-AF25-0395-113F-E56A831B2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927496"/>
              </p:ext>
            </p:extLst>
          </p:nvPr>
        </p:nvGraphicFramePr>
        <p:xfrm>
          <a:off x="838200" y="2863720"/>
          <a:ext cx="19812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194">
                  <a:extLst>
                    <a:ext uri="{9D8B030D-6E8A-4147-A177-3AD203B41FA5}">
                      <a16:colId xmlns:a16="http://schemas.microsoft.com/office/drawing/2014/main" val="1823060088"/>
                    </a:ext>
                  </a:extLst>
                </a:gridCol>
                <a:gridCol w="516194">
                  <a:extLst>
                    <a:ext uri="{9D8B030D-6E8A-4147-A177-3AD203B41FA5}">
                      <a16:colId xmlns:a16="http://schemas.microsoft.com/office/drawing/2014/main" val="1715107724"/>
                    </a:ext>
                  </a:extLst>
                </a:gridCol>
                <a:gridCol w="948812">
                  <a:extLst>
                    <a:ext uri="{9D8B030D-6E8A-4147-A177-3AD203B41FA5}">
                      <a16:colId xmlns:a16="http://schemas.microsoft.com/office/drawing/2014/main" val="32164586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p↔ q</a:t>
                      </a:r>
                      <a:endParaRPr kumimoji="0" lang="en-US" sz="22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683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429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221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51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495988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052B530A-E7B8-71DE-FDED-817481947571}"/>
              </a:ext>
            </a:extLst>
          </p:cNvPr>
          <p:cNvSpPr txBox="1"/>
          <p:nvPr/>
        </p:nvSpPr>
        <p:spPr>
          <a:xfrm>
            <a:off x="869302" y="325802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759B15-7F9B-162F-1BB8-E20CA1449B07}"/>
              </a:ext>
            </a:extLst>
          </p:cNvPr>
          <p:cNvSpPr txBox="1"/>
          <p:nvPr/>
        </p:nvSpPr>
        <p:spPr>
          <a:xfrm>
            <a:off x="1439694" y="325802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3E4C54-4009-6E28-1DB9-F8C83914DC7D}"/>
              </a:ext>
            </a:extLst>
          </p:cNvPr>
          <p:cNvSpPr txBox="1"/>
          <p:nvPr/>
        </p:nvSpPr>
        <p:spPr>
          <a:xfrm>
            <a:off x="2054902" y="3256470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ED39AE-3BA6-2073-21B0-2D0997E0DCE0}"/>
              </a:ext>
            </a:extLst>
          </p:cNvPr>
          <p:cNvSpPr txBox="1"/>
          <p:nvPr/>
        </p:nvSpPr>
        <p:spPr>
          <a:xfrm>
            <a:off x="869302" y="363503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ED9923-4ED5-0569-0AC4-C60B48B97474}"/>
              </a:ext>
            </a:extLst>
          </p:cNvPr>
          <p:cNvSpPr txBox="1"/>
          <p:nvPr/>
        </p:nvSpPr>
        <p:spPr>
          <a:xfrm>
            <a:off x="1439694" y="3635034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9D640D-2AD9-9A5C-2ACF-F9A662D12621}"/>
              </a:ext>
            </a:extLst>
          </p:cNvPr>
          <p:cNvSpPr txBox="1"/>
          <p:nvPr/>
        </p:nvSpPr>
        <p:spPr>
          <a:xfrm>
            <a:off x="2054902" y="3633479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4BD728-95F3-422B-0CD5-A6E8DE41E391}"/>
              </a:ext>
            </a:extLst>
          </p:cNvPr>
          <p:cNvSpPr txBox="1"/>
          <p:nvPr/>
        </p:nvSpPr>
        <p:spPr>
          <a:xfrm>
            <a:off x="869302" y="4012043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5C0AD6-1E8E-0B9F-129D-8A638589B06B}"/>
              </a:ext>
            </a:extLst>
          </p:cNvPr>
          <p:cNvSpPr txBox="1"/>
          <p:nvPr/>
        </p:nvSpPr>
        <p:spPr>
          <a:xfrm>
            <a:off x="1439694" y="4012043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2E3B8B-7C79-01D4-20C8-931EFA61BDB0}"/>
              </a:ext>
            </a:extLst>
          </p:cNvPr>
          <p:cNvSpPr txBox="1"/>
          <p:nvPr/>
        </p:nvSpPr>
        <p:spPr>
          <a:xfrm>
            <a:off x="2054902" y="4010488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D0F36E-4862-4D9E-88E8-4F3479808A66}"/>
              </a:ext>
            </a:extLst>
          </p:cNvPr>
          <p:cNvSpPr txBox="1"/>
          <p:nvPr/>
        </p:nvSpPr>
        <p:spPr>
          <a:xfrm>
            <a:off x="869302" y="4446365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7E2177-3863-AA71-DBBA-4B224EEDDAF3}"/>
              </a:ext>
            </a:extLst>
          </p:cNvPr>
          <p:cNvSpPr txBox="1"/>
          <p:nvPr/>
        </p:nvSpPr>
        <p:spPr>
          <a:xfrm>
            <a:off x="1439694" y="4446365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7725EDC-6189-FC21-B3B1-60B08ED0AE6B}"/>
              </a:ext>
            </a:extLst>
          </p:cNvPr>
          <p:cNvSpPr txBox="1"/>
          <p:nvPr/>
        </p:nvSpPr>
        <p:spPr>
          <a:xfrm>
            <a:off x="2054902" y="4444810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9">
                <a:extLst>
                  <a:ext uri="{FF2B5EF4-FFF2-40B4-BE49-F238E27FC236}">
                    <a16:creationId xmlns:a16="http://schemas.microsoft.com/office/drawing/2014/main" id="{AFEFBAC6-47E1-F543-B4B0-66D349481C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5652333"/>
                  </p:ext>
                </p:extLst>
              </p:nvPr>
            </p:nvGraphicFramePr>
            <p:xfrm>
              <a:off x="2822080" y="2863720"/>
              <a:ext cx="3959720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4120">
                      <a:extLst>
                        <a:ext uri="{9D8B030D-6E8A-4147-A177-3AD203B41FA5}">
                          <a16:colId xmlns:a16="http://schemas.microsoft.com/office/drawing/2014/main" val="1823060088"/>
                        </a:ext>
                      </a:extLst>
                    </a:gridCol>
                    <a:gridCol w="990600">
                      <a:extLst>
                        <a:ext uri="{9D8B030D-6E8A-4147-A177-3AD203B41FA5}">
                          <a16:colId xmlns:a16="http://schemas.microsoft.com/office/drawing/2014/main" val="1715107724"/>
                        </a:ext>
                      </a:extLst>
                    </a:gridCol>
                    <a:gridCol w="1905000">
                      <a:extLst>
                        <a:ext uri="{9D8B030D-6E8A-4147-A177-3AD203B41FA5}">
                          <a16:colId xmlns:a16="http://schemas.microsoft.com/office/drawing/2014/main" val="32164586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20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→ </m:t>
                              </m:r>
                            </m:oMath>
                          </a14:m>
                          <a:r>
                            <a:rPr lang="en-US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ko-KR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20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→</m:t>
                              </m:r>
                              <m:r>
                                <a:rPr lang="en-US" altLang="ko-KR" sz="20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oMath>
                          </a14:m>
                          <a:endParaRPr lang="en-US" sz="2000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(p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→ </m:t>
                              </m:r>
                            </m:oMath>
                          </a14:m>
                          <a:r>
                            <a:rPr lang="en-US" sz="18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q)</a:t>
                          </a:r>
                          <a:r>
                            <a:rPr lang="en-US" sz="1800" b="1" i="1" baseline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altLang="ko-KR" sz="18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^ (</a:t>
                          </a:r>
                          <a:r>
                            <a:rPr lang="en-US" altLang="ko-KR" sz="18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→</m:t>
                              </m:r>
                              <m:r>
                                <a:rPr lang="en-US" altLang="ko-KR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n-US" altLang="ko-KR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1800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16838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74291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62211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2514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44959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9">
                <a:extLst>
                  <a:ext uri="{FF2B5EF4-FFF2-40B4-BE49-F238E27FC236}">
                    <a16:creationId xmlns:a16="http://schemas.microsoft.com/office/drawing/2014/main" id="{AFEFBAC6-47E1-F543-B4B0-66D349481C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5652333"/>
                  </p:ext>
                </p:extLst>
              </p:nvPr>
            </p:nvGraphicFramePr>
            <p:xfrm>
              <a:off x="2822080" y="2863720"/>
              <a:ext cx="3959720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4120">
                      <a:extLst>
                        <a:ext uri="{9D8B030D-6E8A-4147-A177-3AD203B41FA5}">
                          <a16:colId xmlns:a16="http://schemas.microsoft.com/office/drawing/2014/main" val="1823060088"/>
                        </a:ext>
                      </a:extLst>
                    </a:gridCol>
                    <a:gridCol w="990600">
                      <a:extLst>
                        <a:ext uri="{9D8B030D-6E8A-4147-A177-3AD203B41FA5}">
                          <a16:colId xmlns:a16="http://schemas.microsoft.com/office/drawing/2014/main" val="1715107724"/>
                        </a:ext>
                      </a:extLst>
                    </a:gridCol>
                    <a:gridCol w="1905000">
                      <a:extLst>
                        <a:ext uri="{9D8B030D-6E8A-4147-A177-3AD203B41FA5}">
                          <a16:colId xmlns:a16="http://schemas.microsoft.com/office/drawing/2014/main" val="321645861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71" t="-9231" r="-273143" b="-4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7975" t="-9231" r="-193252" b="-4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8307" t="-9231" r="-639" b="-4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168384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742913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622119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25146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449598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A256FDF-6304-2C25-07FF-A92FA52633E6}"/>
              </a:ext>
            </a:extLst>
          </p:cNvPr>
          <p:cNvSpPr txBox="1"/>
          <p:nvPr/>
        </p:nvSpPr>
        <p:spPr>
          <a:xfrm>
            <a:off x="2853182" y="3258025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9248D4-EAA7-8C2A-DAED-F0A7AD6C7983}"/>
              </a:ext>
            </a:extLst>
          </p:cNvPr>
          <p:cNvSpPr txBox="1"/>
          <p:nvPr/>
        </p:nvSpPr>
        <p:spPr>
          <a:xfrm>
            <a:off x="4023989" y="3256470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90A7B8-3CA6-FEA5-4ADF-D1FE326DD999}"/>
              </a:ext>
            </a:extLst>
          </p:cNvPr>
          <p:cNvSpPr txBox="1"/>
          <p:nvPr/>
        </p:nvSpPr>
        <p:spPr>
          <a:xfrm>
            <a:off x="5678040" y="3256470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A2B222-9741-4F18-2418-104A3F662983}"/>
              </a:ext>
            </a:extLst>
          </p:cNvPr>
          <p:cNvSpPr txBox="1"/>
          <p:nvPr/>
        </p:nvSpPr>
        <p:spPr>
          <a:xfrm>
            <a:off x="2853182" y="3635034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2BAFC6-B9A5-EF58-A4D8-4A7947B691BB}"/>
              </a:ext>
            </a:extLst>
          </p:cNvPr>
          <p:cNvSpPr txBox="1"/>
          <p:nvPr/>
        </p:nvSpPr>
        <p:spPr>
          <a:xfrm>
            <a:off x="4023989" y="3633479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EADC2F-E73C-4F6D-1616-813FEA4A062C}"/>
              </a:ext>
            </a:extLst>
          </p:cNvPr>
          <p:cNvSpPr txBox="1"/>
          <p:nvPr/>
        </p:nvSpPr>
        <p:spPr>
          <a:xfrm>
            <a:off x="5678040" y="3633479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E24C7C-DCB9-83CA-5E4F-5276971AE953}"/>
              </a:ext>
            </a:extLst>
          </p:cNvPr>
          <p:cNvSpPr txBox="1"/>
          <p:nvPr/>
        </p:nvSpPr>
        <p:spPr>
          <a:xfrm>
            <a:off x="2853182" y="4012043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A285A6-858A-6570-6270-79C0B2A55E7B}"/>
              </a:ext>
            </a:extLst>
          </p:cNvPr>
          <p:cNvSpPr txBox="1"/>
          <p:nvPr/>
        </p:nvSpPr>
        <p:spPr>
          <a:xfrm>
            <a:off x="4023989" y="4010488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CED4D4-C2D0-21BA-A053-1DC5029F84C0}"/>
              </a:ext>
            </a:extLst>
          </p:cNvPr>
          <p:cNvSpPr txBox="1"/>
          <p:nvPr/>
        </p:nvSpPr>
        <p:spPr>
          <a:xfrm>
            <a:off x="5678040" y="4010488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611D92-A842-04F0-566C-2B58085F19C0}"/>
              </a:ext>
            </a:extLst>
          </p:cNvPr>
          <p:cNvSpPr txBox="1"/>
          <p:nvPr/>
        </p:nvSpPr>
        <p:spPr>
          <a:xfrm>
            <a:off x="2853182" y="4446365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4FE2D9-8051-4D40-A8A6-192D4714252F}"/>
              </a:ext>
            </a:extLst>
          </p:cNvPr>
          <p:cNvSpPr txBox="1"/>
          <p:nvPr/>
        </p:nvSpPr>
        <p:spPr>
          <a:xfrm>
            <a:off x="4023989" y="4444810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873652-BE76-D258-3537-FF57A1D6E5A1}"/>
              </a:ext>
            </a:extLst>
          </p:cNvPr>
          <p:cNvSpPr txBox="1"/>
          <p:nvPr/>
        </p:nvSpPr>
        <p:spPr>
          <a:xfrm>
            <a:off x="5678040" y="4444810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6A644D5-5D3C-D9D7-5936-F94E6E9390DB}"/>
                  </a:ext>
                </a:extLst>
              </p:cNvPr>
              <p:cNvSpPr txBox="1"/>
              <p:nvPr/>
            </p:nvSpPr>
            <p:spPr>
              <a:xfrm>
                <a:off x="457200" y="1629899"/>
                <a:ext cx="7895110" cy="5132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q"/>
                </a:pPr>
                <a:r>
                  <a:rPr lang="en-US" altLang="ko-KR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Statement:</a:t>
                </a:r>
                <a:r>
                  <a:rPr lang="en-US" altLang="ko-KR" sz="2200" b="1" i="1" dirty="0"/>
                  <a:t> p </a:t>
                </a:r>
                <a:r>
                  <a:rPr 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↔ </a:t>
                </a:r>
                <a:r>
                  <a:rPr lang="en-US" altLang="ko-KR" sz="2200" b="1" i="1" dirty="0"/>
                  <a:t>q </a:t>
                </a:r>
                <a:r>
                  <a:rPr lang="en-US" altLang="ko-KR" sz="2200" dirty="0">
                    <a:latin typeface="Times New Roman" pitchFamily="18" charset="0"/>
                    <a:cs typeface="Times New Roman" pitchFamily="18" charset="0"/>
                  </a:rPr>
                  <a:t>is true when both </a:t>
                </a:r>
                <a:r>
                  <a:rPr lang="en-US" altLang="ko-KR" sz="2400" b="1" i="1" dirty="0">
                    <a:solidFill>
                      <a:prstClr val="black"/>
                    </a:solidFill>
                  </a:rPr>
                  <a:t>p </a:t>
                </a:r>
                <a14:m>
                  <m:oMath xmlns:m="http://schemas.openxmlformats.org/officeDocument/2006/math">
                    <m:r>
                      <a:rPr lang="en-US" altLang="ko-KR" sz="2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sz="2400" b="1" i="1" dirty="0">
                    <a:solidFill>
                      <a:prstClr val="black"/>
                    </a:solidFill>
                  </a:rPr>
                  <a:t> q </a:t>
                </a:r>
                <a:r>
                  <a:rPr lang="en-US" altLang="ko-KR" sz="2200" dirty="0">
                    <a:latin typeface="Times New Roman" pitchFamily="18" charset="0"/>
                    <a:cs typeface="Times New Roman" pitchFamily="18" charset="0"/>
                  </a:rPr>
                  <a:t>and </a:t>
                </a:r>
                <a:r>
                  <a:rPr lang="en-US" altLang="ko-KR" sz="2400" b="1" i="1" dirty="0">
                    <a:solidFill>
                      <a:prstClr val="black"/>
                    </a:solidFill>
                  </a:rPr>
                  <a:t>q </a:t>
                </a:r>
                <a14:m>
                  <m:oMath xmlns:m="http://schemas.openxmlformats.org/officeDocument/2006/math">
                    <m:r>
                      <a:rPr lang="en-US" altLang="ko-KR" sz="2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sz="2400" b="1" i="1" dirty="0">
                    <a:solidFill>
                      <a:prstClr val="black"/>
                    </a:solidFill>
                  </a:rPr>
                  <a:t> p </a:t>
                </a:r>
                <a:r>
                  <a:rPr lang="en-US" altLang="ko-KR" sz="2200" dirty="0">
                    <a:latin typeface="Times New Roman" pitchFamily="18" charset="0"/>
                    <a:cs typeface="Times New Roman" pitchFamily="18" charset="0"/>
                  </a:rPr>
                  <a:t>are true.</a:t>
                </a:r>
                <a:endParaRPr lang="en-US" sz="2200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6A644D5-5D3C-D9D7-5936-F94E6E939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29899"/>
                <a:ext cx="7895110" cy="513282"/>
              </a:xfrm>
              <a:prstGeom prst="rect">
                <a:avLst/>
              </a:prstGeom>
              <a:blipFill>
                <a:blip r:embed="rId4"/>
                <a:stretch>
                  <a:fillRect l="-849" t="-1176" b="-2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FCCA5EA-545C-E75C-135B-9F0C110BE0E2}"/>
                  </a:ext>
                </a:extLst>
              </p:cNvPr>
              <p:cNvSpPr txBox="1"/>
              <p:nvPr/>
            </p:nvSpPr>
            <p:spPr>
              <a:xfrm>
                <a:off x="457200" y="5021874"/>
                <a:ext cx="326634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q"/>
                </a:pPr>
                <a:r>
                  <a:rPr lang="en-US" altLang="ko-KR" sz="2200" b="1" i="1" dirty="0">
                    <a:solidFill>
                      <a:prstClr val="black"/>
                    </a:solidFill>
                  </a:rPr>
                  <a:t>p </a:t>
                </a:r>
                <a:r>
                  <a:rPr lang="en-US" sz="20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↔ </a:t>
                </a:r>
                <a:r>
                  <a:rPr lang="en-US" altLang="ko-KR" sz="2200" b="1" i="1" dirty="0">
                    <a:solidFill>
                      <a:prstClr val="black"/>
                    </a:solidFill>
                  </a:rPr>
                  <a:t>q </a:t>
                </a:r>
                <a:r>
                  <a:rPr lang="en-US" sz="2000" dirty="0"/>
                  <a:t>≡</a:t>
                </a:r>
                <a:r>
                  <a:rPr lang="en-US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(p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→ </m:t>
                    </m:r>
                  </m:oMath>
                </a14:m>
                <a:r>
                  <a:rPr lang="en-US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q) </a:t>
                </a:r>
                <a:r>
                  <a:rPr lang="en-US" altLang="ko-KR" sz="2000" b="1" i="1" dirty="0">
                    <a:solidFill>
                      <a:prstClr val="black"/>
                    </a:solidFill>
                  </a:rPr>
                  <a:t>^ (</a:t>
                </a:r>
                <a:r>
                  <a:rPr lang="en-US" altLang="ko-KR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altLang="ko-KR" sz="20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ko-KR" sz="20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FCCA5EA-545C-E75C-135B-9F0C110BE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021874"/>
                <a:ext cx="3266343" cy="430887"/>
              </a:xfrm>
              <a:prstGeom prst="rect">
                <a:avLst/>
              </a:prstGeom>
              <a:blipFill>
                <a:blip r:embed="rId5"/>
                <a:stretch>
                  <a:fillRect l="-2052" t="-10000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8974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4" grpId="0"/>
      <p:bldP spid="9" grpId="0"/>
      <p:bldP spid="11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1" grpId="0"/>
      <p:bldP spid="22" grpId="0"/>
      <p:bldP spid="3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600" dirty="0"/>
              <a:t>BICONDITIONAL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A3D642-101F-1BA2-6A20-35CFAEEA02AC}"/>
              </a:ext>
            </a:extLst>
          </p:cNvPr>
          <p:cNvSpPr txBox="1"/>
          <p:nvPr/>
        </p:nvSpPr>
        <p:spPr>
          <a:xfrm>
            <a:off x="838200" y="2122396"/>
            <a:ext cx="3733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necessary and sufficient for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8F97A6-3253-DA4C-9839-FBDCE1BDBAAE}"/>
              </a:ext>
            </a:extLst>
          </p:cNvPr>
          <p:cNvSpPr txBox="1"/>
          <p:nvPr/>
        </p:nvSpPr>
        <p:spPr>
          <a:xfrm>
            <a:off x="457200" y="1712662"/>
            <a:ext cx="19928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How to read?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A9B844-01E7-8559-A4C5-94A61CF0D0CF}"/>
              </a:ext>
            </a:extLst>
          </p:cNvPr>
          <p:cNvSpPr txBox="1"/>
          <p:nvPr/>
        </p:nvSpPr>
        <p:spPr>
          <a:xfrm>
            <a:off x="838200" y="2920102"/>
            <a:ext cx="35759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then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and conversely.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F07615-2E3C-1AA4-9889-C18520B393D6}"/>
              </a:ext>
            </a:extLst>
          </p:cNvPr>
          <p:cNvSpPr txBox="1"/>
          <p:nvPr/>
        </p:nvSpPr>
        <p:spPr>
          <a:xfrm>
            <a:off x="838200" y="3350989"/>
            <a:ext cx="12872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iff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 q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794B26-33A7-84B8-46A6-BE1C473F03C9}"/>
              </a:ext>
            </a:extLst>
          </p:cNvPr>
          <p:cNvSpPr txBox="1"/>
          <p:nvPr/>
        </p:nvSpPr>
        <p:spPr>
          <a:xfrm>
            <a:off x="4800600" y="2125542"/>
            <a:ext cx="3733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necessary and sufficient for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041AA1-6BB2-3764-D1B0-1994A157994F}"/>
              </a:ext>
            </a:extLst>
          </p:cNvPr>
          <p:cNvSpPr txBox="1"/>
          <p:nvPr/>
        </p:nvSpPr>
        <p:spPr>
          <a:xfrm>
            <a:off x="4800600" y="2923248"/>
            <a:ext cx="35759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then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and conversely.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3CC362-489B-8523-4960-3AED8692037B}"/>
              </a:ext>
            </a:extLst>
          </p:cNvPr>
          <p:cNvSpPr txBox="1"/>
          <p:nvPr/>
        </p:nvSpPr>
        <p:spPr>
          <a:xfrm>
            <a:off x="4800600" y="3354135"/>
            <a:ext cx="12872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iff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 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941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3" grpId="0"/>
      <p:bldP spid="4" grpId="0"/>
      <p:bldP spid="17" grpId="0"/>
      <p:bldP spid="19" grpId="0"/>
      <p:bldP spid="2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PROPOSITIONAL EQUIVALENCES</a:t>
            </a:r>
          </a:p>
        </p:txBody>
      </p:sp>
    </p:spTree>
    <p:extLst>
      <p:ext uri="{BB962C8B-B14F-4D97-AF65-F5344CB8AC3E}">
        <p14:creationId xmlns:p14="http://schemas.microsoft.com/office/powerpoint/2010/main" val="26037758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TAUTOLOGY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76400"/>
            <a:ext cx="16703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Tautology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099EB0-5E2C-CBBE-6366-24C562378D51}"/>
              </a:ext>
            </a:extLst>
          </p:cNvPr>
          <p:cNvSpPr txBox="1"/>
          <p:nvPr/>
        </p:nvSpPr>
        <p:spPr>
          <a:xfrm>
            <a:off x="838200" y="2124393"/>
            <a:ext cx="560153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compound proposition that is always true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E1BC10-574D-8485-E608-04A031497CEB}"/>
              </a:ext>
            </a:extLst>
          </p:cNvPr>
          <p:cNvSpPr txBox="1"/>
          <p:nvPr/>
        </p:nvSpPr>
        <p:spPr>
          <a:xfrm>
            <a:off x="838200" y="2569400"/>
            <a:ext cx="66976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 matter what the truth values of the propositions are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7C2CB6-C988-59F5-9858-CFC4FF616F71}"/>
              </a:ext>
            </a:extLst>
          </p:cNvPr>
          <p:cNvSpPr txBox="1"/>
          <p:nvPr/>
        </p:nvSpPr>
        <p:spPr>
          <a:xfrm>
            <a:off x="838200" y="3014407"/>
            <a:ext cx="38363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400" b="1" i="1" dirty="0"/>
              <a:t>p </a:t>
            </a: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always a tautology</a:t>
            </a:r>
            <a:endParaRPr lang="en-US" sz="3200" b="1" i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1" name="Table 9">
            <a:extLst>
              <a:ext uri="{FF2B5EF4-FFF2-40B4-BE49-F238E27FC236}">
                <a16:creationId xmlns:a16="http://schemas.microsoft.com/office/drawing/2014/main" id="{4E70240F-3965-19B8-ECAB-D7FAF9A63D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070703"/>
              </p:ext>
            </p:extLst>
          </p:nvPr>
        </p:nvGraphicFramePr>
        <p:xfrm>
          <a:off x="1292397" y="3886200"/>
          <a:ext cx="2670003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8803">
                  <a:extLst>
                    <a:ext uri="{9D8B030D-6E8A-4147-A177-3AD203B41FA5}">
                      <a16:colId xmlns:a16="http://schemas.microsoft.com/office/drawing/2014/main" val="182306008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21645861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7569223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ㄱ</a:t>
                      </a:r>
                      <a:r>
                        <a:rPr kumimoji="0" lang="en-US" altLang="ko-KR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endParaRPr kumimoji="0" lang="en-US" sz="20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ko-KR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ㄱ</a:t>
                      </a:r>
                      <a:r>
                        <a:rPr kumimoji="0" lang="en-US" altLang="ko-KR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 </a:t>
                      </a:r>
                      <a:endParaRPr kumimoji="0" lang="en-US" sz="20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683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429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2211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200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5" grpId="0"/>
      <p:bldP spid="2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CONTRADICTION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76400"/>
            <a:ext cx="216758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Contradiction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099EB0-5E2C-CBBE-6366-24C562378D51}"/>
              </a:ext>
            </a:extLst>
          </p:cNvPr>
          <p:cNvSpPr txBox="1"/>
          <p:nvPr/>
        </p:nvSpPr>
        <p:spPr>
          <a:xfrm>
            <a:off x="838200" y="2124393"/>
            <a:ext cx="554395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compound proposition that is always false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E1BC10-574D-8485-E608-04A031497CEB}"/>
              </a:ext>
            </a:extLst>
          </p:cNvPr>
          <p:cNvSpPr txBox="1"/>
          <p:nvPr/>
        </p:nvSpPr>
        <p:spPr>
          <a:xfrm>
            <a:off x="838200" y="2569400"/>
            <a:ext cx="66976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 matter what the truth values of the propositions are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7C2CB6-C988-59F5-9858-CFC4FF616F71}"/>
              </a:ext>
            </a:extLst>
          </p:cNvPr>
          <p:cNvSpPr txBox="1"/>
          <p:nvPr/>
        </p:nvSpPr>
        <p:spPr>
          <a:xfrm>
            <a:off x="838200" y="3014407"/>
            <a:ext cx="43188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400" b="1" i="1" dirty="0"/>
              <a:t>^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400" b="1" i="1" dirty="0"/>
              <a:t>p </a:t>
            </a: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always a contradiction</a:t>
            </a:r>
            <a:endParaRPr lang="en-US" sz="3200" b="1" i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1" name="Table 9">
            <a:extLst>
              <a:ext uri="{FF2B5EF4-FFF2-40B4-BE49-F238E27FC236}">
                <a16:creationId xmlns:a16="http://schemas.microsoft.com/office/drawing/2014/main" id="{4E70240F-3965-19B8-ECAB-D7FAF9A63D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208259"/>
              </p:ext>
            </p:extLst>
          </p:nvPr>
        </p:nvGraphicFramePr>
        <p:xfrm>
          <a:off x="1295400" y="3676880"/>
          <a:ext cx="2670003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8803">
                  <a:extLst>
                    <a:ext uri="{9D8B030D-6E8A-4147-A177-3AD203B41FA5}">
                      <a16:colId xmlns:a16="http://schemas.microsoft.com/office/drawing/2014/main" val="182306008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21645861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7569223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ㄱ</a:t>
                      </a:r>
                      <a:r>
                        <a:rPr kumimoji="0" lang="en-US" altLang="ko-KR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endParaRPr kumimoji="0" lang="en-US" sz="20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^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ko-KR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ㄱ</a:t>
                      </a:r>
                      <a:r>
                        <a:rPr kumimoji="0" lang="en-US" altLang="ko-KR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 </a:t>
                      </a:r>
                      <a:endParaRPr kumimoji="0" lang="en-US" sz="20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683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429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2211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6707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5" grpId="0"/>
      <p:bldP spid="2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CONTINGENCY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76400"/>
            <a:ext cx="19944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Contingency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099EB0-5E2C-CBBE-6366-24C562378D51}"/>
              </a:ext>
            </a:extLst>
          </p:cNvPr>
          <p:cNvSpPr txBox="1"/>
          <p:nvPr/>
        </p:nvSpPr>
        <p:spPr>
          <a:xfrm>
            <a:off x="838201" y="2124393"/>
            <a:ext cx="7467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compound proposition that is neither a tautology nor a contradiction</a:t>
            </a:r>
          </a:p>
        </p:txBody>
      </p:sp>
    </p:spTree>
    <p:extLst>
      <p:ext uri="{BB962C8B-B14F-4D97-AF65-F5344CB8AC3E}">
        <p14:creationId xmlns:p14="http://schemas.microsoft.com/office/powerpoint/2010/main" val="3606679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LOGICAL EQUIVALENCE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76400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Compound propositions having same truth values in all possible cases are called logical equivalent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92E385-68C9-06E8-4DF1-49B18BA14266}"/>
              </a:ext>
            </a:extLst>
          </p:cNvPr>
          <p:cNvSpPr txBox="1"/>
          <p:nvPr/>
        </p:nvSpPr>
        <p:spPr>
          <a:xfrm>
            <a:off x="461865" y="2680661"/>
            <a:ext cx="82296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If two propositions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are logical equivalent then they are symbolized as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dirty="0"/>
              <a:t>≡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0DF647-20E3-25F5-42E1-0B6E648CEC61}"/>
              </a:ext>
            </a:extLst>
          </p:cNvPr>
          <p:cNvSpPr txBox="1"/>
          <p:nvPr/>
        </p:nvSpPr>
        <p:spPr>
          <a:xfrm>
            <a:off x="457200" y="3716024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One way to prove the logical equivalence is truth table method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B83A73-89D4-A4A3-2F88-0EF294A4B423}"/>
              </a:ext>
            </a:extLst>
          </p:cNvPr>
          <p:cNvSpPr txBox="1"/>
          <p:nvPr/>
        </p:nvSpPr>
        <p:spPr>
          <a:xfrm>
            <a:off x="457200" y="4335505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Logical equivalence can be proved using the laws of equivalences</a:t>
            </a:r>
          </a:p>
        </p:txBody>
      </p:sp>
    </p:spTree>
    <p:extLst>
      <p:ext uri="{BB962C8B-B14F-4D97-AF65-F5344CB8AC3E}">
        <p14:creationId xmlns:p14="http://schemas.microsoft.com/office/powerpoint/2010/main" val="4100005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LOGICAL EQUIVALENCE</a:t>
            </a:r>
          </a:p>
        </p:txBody>
      </p:sp>
      <p:graphicFrame>
        <p:nvGraphicFramePr>
          <p:cNvPr id="8" name="Table 9">
            <a:extLst>
              <a:ext uri="{FF2B5EF4-FFF2-40B4-BE49-F238E27FC236}">
                <a16:creationId xmlns:a16="http://schemas.microsoft.com/office/drawing/2014/main" id="{77A224FC-3DE9-3773-C769-320E1FE97D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05801"/>
              </p:ext>
            </p:extLst>
          </p:nvPr>
        </p:nvGraphicFramePr>
        <p:xfrm>
          <a:off x="838200" y="1752600"/>
          <a:ext cx="7239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182306008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2164586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Law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Equivalence</a:t>
                      </a:r>
                      <a:endParaRPr kumimoji="0" lang="en-US" sz="20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683846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Identity laws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^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ko-KR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lang="en-US" sz="2000" dirty="0"/>
                        <a:t>≡</a:t>
                      </a:r>
                      <a:r>
                        <a:rPr kumimoji="0" lang="en-US" altLang="ko-KR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</a:t>
                      </a:r>
                      <a:endParaRPr kumimoji="0" lang="en-US" sz="20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4291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ko-KR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 </a:t>
                      </a:r>
                      <a:r>
                        <a:rPr lang="en-US" sz="2000" dirty="0"/>
                        <a:t>≡</a:t>
                      </a:r>
                      <a:r>
                        <a:rPr kumimoji="0" lang="en-US" altLang="ko-KR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</a:t>
                      </a:r>
                      <a:endParaRPr kumimoji="0" lang="en-US" sz="20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4393565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Domination laws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</a:t>
                      </a:r>
                      <a:r>
                        <a:rPr kumimoji="0" lang="en-US" altLang="ko-KR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/>
                        <a:t>≡</a:t>
                      </a:r>
                      <a:r>
                        <a:rPr kumimoji="0" lang="en-US" altLang="ko-KR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ko-KR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22119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^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F</a:t>
                      </a:r>
                      <a:r>
                        <a:rPr kumimoji="0" lang="en-US" altLang="ko-KR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/>
                        <a:t>≡</a:t>
                      </a:r>
                      <a:r>
                        <a:rPr kumimoji="0" lang="en-US" altLang="ko-KR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ko-KR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832727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Idempotent laws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^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0" lang="en-US" altLang="ko-KR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/>
                        <a:t>≡</a:t>
                      </a:r>
                      <a:r>
                        <a:rPr kumimoji="0" lang="en-US" altLang="ko-KR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</a:t>
                      </a:r>
                      <a:endParaRPr kumimoji="0" lang="en-US" sz="20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6120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0" lang="en-US" altLang="ko-KR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/>
                        <a:t>≡</a:t>
                      </a:r>
                      <a:r>
                        <a:rPr kumimoji="0" lang="en-US" altLang="ko-KR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</a:t>
                      </a:r>
                      <a:endParaRPr kumimoji="0" lang="en-US" sz="20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0896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Double negation law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ㄱ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ㄱ</a:t>
                      </a:r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en-US" sz="2000" dirty="0"/>
                        <a:t>≡ </a:t>
                      </a:r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27766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Commutative laws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ko-KR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/>
                        <a:t>≡</a:t>
                      </a:r>
                      <a:r>
                        <a:rPr kumimoji="0" lang="en-US" altLang="ko-KR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q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235822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^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ko-KR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/>
                        <a:t>≡</a:t>
                      </a:r>
                      <a:r>
                        <a:rPr kumimoji="0" lang="en-US" altLang="ko-KR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q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^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0834198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Associative laws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(p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q)</a:t>
                      </a:r>
                      <a:r>
                        <a:rPr kumimoji="0" lang="en-US" altLang="ko-KR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 </a:t>
                      </a:r>
                      <a:r>
                        <a:rPr lang="en-US" sz="2000" dirty="0"/>
                        <a:t>≡</a:t>
                      </a:r>
                      <a:r>
                        <a:rPr kumimoji="0" lang="en-US" altLang="ko-KR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(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ko-KR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r)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182479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(p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^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q)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^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r</a:t>
                      </a:r>
                      <a:r>
                        <a:rPr kumimoji="0" lang="en-US" altLang="ko-KR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/>
                        <a:t>≡</a:t>
                      </a:r>
                      <a:r>
                        <a:rPr kumimoji="0" lang="en-US" altLang="ko-KR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^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(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q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^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r)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110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2704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LOGICAL EQUIVALENCE</a:t>
            </a:r>
          </a:p>
        </p:txBody>
      </p:sp>
      <p:graphicFrame>
        <p:nvGraphicFramePr>
          <p:cNvPr id="8" name="Table 9">
            <a:extLst>
              <a:ext uri="{FF2B5EF4-FFF2-40B4-BE49-F238E27FC236}">
                <a16:creationId xmlns:a16="http://schemas.microsoft.com/office/drawing/2014/main" id="{77A224FC-3DE9-3773-C769-320E1FE97D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709622"/>
              </p:ext>
            </p:extLst>
          </p:nvPr>
        </p:nvGraphicFramePr>
        <p:xfrm>
          <a:off x="838200" y="1752600"/>
          <a:ext cx="7239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182306008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2164586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Law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Equivalence</a:t>
                      </a:r>
                      <a:endParaRPr kumimoji="0" lang="en-US" sz="20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683846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Distributive laws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^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(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ko-KR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r)</a:t>
                      </a:r>
                      <a:r>
                        <a:rPr kumimoji="0" lang="en-US" altLang="ko-KR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/>
                        <a:t>≡</a:t>
                      </a:r>
                      <a:r>
                        <a:rPr kumimoji="0" lang="en-US" altLang="ko-KR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(p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^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q)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 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(p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^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r)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endParaRPr kumimoji="0" lang="en-US" sz="20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4291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(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ko-KR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^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r)</a:t>
                      </a:r>
                      <a:r>
                        <a:rPr kumimoji="0" lang="en-US" altLang="ko-KR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0070C0"/>
                          </a:solidFill>
                        </a:rPr>
                        <a:t>≡</a:t>
                      </a:r>
                      <a:r>
                        <a:rPr kumimoji="0" lang="en-US" altLang="ko-KR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(p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q)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^ 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(p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r)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endParaRPr kumimoji="0" lang="en-US" sz="20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4393565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De Morgan’s laws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ㄱ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(p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^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q) </a:t>
                      </a:r>
                      <a:r>
                        <a:rPr lang="en-US" sz="2000" dirty="0"/>
                        <a:t>≡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ko-KR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ㄱ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ko-KR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ㄱ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22119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ㄱ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(p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q) </a:t>
                      </a:r>
                      <a:r>
                        <a:rPr lang="en-US" sz="2000" dirty="0"/>
                        <a:t>≡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ko-KR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ㄱ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^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ko-KR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ㄱ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832727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Absorption laws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(p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^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q)</a:t>
                      </a:r>
                      <a:r>
                        <a:rPr kumimoji="0" lang="en-US" altLang="ko-KR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/>
                        <a:t>≡</a:t>
                      </a:r>
                      <a:r>
                        <a:rPr kumimoji="0" lang="en-US" altLang="ko-KR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</a:t>
                      </a:r>
                      <a:endParaRPr kumimoji="0" lang="en-US" sz="20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612006"/>
                  </a:ext>
                </a:extLst>
              </a:tr>
              <a:tr h="34036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^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(p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q)</a:t>
                      </a:r>
                      <a:r>
                        <a:rPr kumimoji="0" lang="en-US" altLang="ko-KR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/>
                        <a:t>≡</a:t>
                      </a:r>
                      <a:r>
                        <a:rPr kumimoji="0" lang="en-US" altLang="ko-KR" sz="2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</a:t>
                      </a:r>
                      <a:endParaRPr kumimoji="0" lang="en-US" sz="20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0896986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Negation law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ko-KR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ㄱ</a:t>
                      </a:r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/>
                        <a:t>≡T</a:t>
                      </a:r>
                      <a:endParaRPr lang="en-US" sz="2000" b="1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27766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 </a:t>
                      </a:r>
                      <a:r>
                        <a:rPr kumimoji="0" lang="en-US" sz="20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^</a:t>
                      </a:r>
                      <a:r>
                        <a:rPr lang="ko-KR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ㄱ</a:t>
                      </a:r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/>
                        <a:t>≡ </a:t>
                      </a: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461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0223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OPERATOR PRECEDENCE</a:t>
            </a:r>
          </a:p>
        </p:txBody>
      </p:sp>
      <p:graphicFrame>
        <p:nvGraphicFramePr>
          <p:cNvPr id="4" name="Table 9">
            <a:extLst>
              <a:ext uri="{FF2B5EF4-FFF2-40B4-BE49-F238E27FC236}">
                <a16:creationId xmlns:a16="http://schemas.microsoft.com/office/drawing/2014/main" id="{E077F123-344D-98B5-E7DE-7249112ED2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293438"/>
              </p:ext>
            </p:extLst>
          </p:nvPr>
        </p:nvGraphicFramePr>
        <p:xfrm>
          <a:off x="5715000" y="1828800"/>
          <a:ext cx="2971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182306008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2164586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Precedence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683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ko-KR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ㄱ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429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^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🇻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221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↔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1237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5DA4464-4CED-F270-E67F-ABAD25DA2F4C}"/>
              </a:ext>
            </a:extLst>
          </p:cNvPr>
          <p:cNvSpPr txBox="1"/>
          <p:nvPr/>
        </p:nvSpPr>
        <p:spPr>
          <a:xfrm>
            <a:off x="457200" y="1676400"/>
            <a:ext cx="487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q"/>
              <a:defRPr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Parentheses is used to specify the precedence of operator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F87F07-ED70-79B3-86EA-02045056585C}"/>
              </a:ext>
            </a:extLst>
          </p:cNvPr>
          <p:cNvSpPr txBox="1"/>
          <p:nvPr/>
        </p:nvSpPr>
        <p:spPr>
          <a:xfrm>
            <a:off x="457200" y="2402860"/>
            <a:ext cx="487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  <a:defRPr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aseline="30000" dirty="0">
                <a:solidFill>
                  <a:schemeClr val="dk1"/>
                </a:solidFill>
              </a:rPr>
              <a:t>🇻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baseline="30000" dirty="0">
                <a:solidFill>
                  <a:schemeClr val="dk1"/>
                </a:solidFill>
              </a:rPr>
              <a:t>^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E75397-C7F4-4409-7345-E681411A212F}"/>
              </a:ext>
            </a:extLst>
          </p:cNvPr>
          <p:cNvSpPr txBox="1"/>
          <p:nvPr/>
        </p:nvSpPr>
        <p:spPr>
          <a:xfrm>
            <a:off x="457200" y="3342744"/>
            <a:ext cx="487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q"/>
              <a:defRPr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Defining precedence is useful to reduce the number of parentheses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90A3F4-67E2-B43E-90E8-D84385B5EADD}"/>
              </a:ext>
            </a:extLst>
          </p:cNvPr>
          <p:cNvSpPr txBox="1"/>
          <p:nvPr/>
        </p:nvSpPr>
        <p:spPr>
          <a:xfrm>
            <a:off x="813317" y="2817691"/>
            <a:ext cx="1166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altLang="ko-K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aseline="30000" dirty="0">
                <a:solidFill>
                  <a:schemeClr val="dk1"/>
                </a:solidFill>
              </a:rPr>
              <a:t>🇻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5D6C66-EE47-0127-AEB0-51950AB9BB74}"/>
              </a:ext>
            </a:extLst>
          </p:cNvPr>
          <p:cNvSpPr txBox="1"/>
          <p:nvPr/>
        </p:nvSpPr>
        <p:spPr>
          <a:xfrm>
            <a:off x="2180251" y="2876414"/>
            <a:ext cx="1166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ko-KR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9E118C-425B-8BDD-CC59-4403BB9A78CE}"/>
              </a:ext>
            </a:extLst>
          </p:cNvPr>
          <p:cNvSpPr txBox="1"/>
          <p:nvPr/>
        </p:nvSpPr>
        <p:spPr>
          <a:xfrm>
            <a:off x="3434443" y="2816767"/>
            <a:ext cx="2247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aseline="30000" dirty="0">
                <a:solidFill>
                  <a:schemeClr val="dk1"/>
                </a:solidFill>
              </a:rPr>
              <a:t>🇻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baseline="30000" dirty="0">
                <a:solidFill>
                  <a:schemeClr val="dk1"/>
                </a:solidFill>
              </a:rPr>
              <a:t>^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F9E8C0-1DF6-1483-C0B6-F5F8F8CFE7CA}"/>
              </a:ext>
            </a:extLst>
          </p:cNvPr>
          <p:cNvSpPr txBox="1"/>
          <p:nvPr/>
        </p:nvSpPr>
        <p:spPr>
          <a:xfrm>
            <a:off x="457200" y="4067185"/>
            <a:ext cx="6629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q"/>
              <a:defRPr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proposition can be rewritten as: (</a:t>
            </a:r>
            <a:r>
              <a:rPr lang="en-US" altLang="ko-K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aseline="30000" dirty="0">
                <a:solidFill>
                  <a:schemeClr val="dk1"/>
                </a:solidFill>
              </a:rPr>
              <a:t>🇻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baseline="30000" dirty="0">
                <a:solidFill>
                  <a:schemeClr val="dk1"/>
                </a:solidFill>
              </a:rPr>
              <a:t>^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ko-KR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681922-9063-0121-9791-47BD21FC90B9}"/>
              </a:ext>
            </a:extLst>
          </p:cNvPr>
          <p:cNvSpPr txBox="1"/>
          <p:nvPr/>
        </p:nvSpPr>
        <p:spPr>
          <a:xfrm>
            <a:off x="454090" y="4590405"/>
            <a:ext cx="6099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q"/>
              <a:defRPr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Rewrite the proposition without parentheses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B85F2A-3D92-FDCD-2277-C7005F17817A}"/>
              </a:ext>
            </a:extLst>
          </p:cNvPr>
          <p:cNvSpPr txBox="1"/>
          <p:nvPr/>
        </p:nvSpPr>
        <p:spPr>
          <a:xfrm>
            <a:off x="6477000" y="4528850"/>
            <a:ext cx="20752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altLang="ko-K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aseline="30000" dirty="0">
                <a:solidFill>
                  <a:schemeClr val="dk1"/>
                </a:solidFill>
              </a:rPr>
              <a:t>🇻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aseline="30000" dirty="0">
                <a:solidFill>
                  <a:schemeClr val="dk1"/>
                </a:solidFill>
              </a:rPr>
              <a:t>^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ko-KR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0F4D91-860A-FEAF-0ECE-919EF9642191}"/>
              </a:ext>
            </a:extLst>
          </p:cNvPr>
          <p:cNvSpPr txBox="1"/>
          <p:nvPr/>
        </p:nvSpPr>
        <p:spPr>
          <a:xfrm>
            <a:off x="454090" y="5022627"/>
            <a:ext cx="6632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q"/>
              <a:defRPr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the proposition remains same as previous?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C4A059-CD61-D79E-6305-5E75E0359ACB}"/>
              </a:ext>
            </a:extLst>
          </p:cNvPr>
          <p:cNvSpPr txBox="1"/>
          <p:nvPr/>
        </p:nvSpPr>
        <p:spPr>
          <a:xfrm>
            <a:off x="7033338" y="5022627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en-US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4779C5-F719-D73F-7A48-5EC7902DED3B}"/>
              </a:ext>
            </a:extLst>
          </p:cNvPr>
          <p:cNvSpPr txBox="1"/>
          <p:nvPr/>
        </p:nvSpPr>
        <p:spPr>
          <a:xfrm>
            <a:off x="905069" y="5484292"/>
            <a:ext cx="1166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ko-KR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ACF668-C464-B70D-4CA7-2A3934752309}"/>
              </a:ext>
            </a:extLst>
          </p:cNvPr>
          <p:cNvSpPr txBox="1"/>
          <p:nvPr/>
        </p:nvSpPr>
        <p:spPr>
          <a:xfrm>
            <a:off x="2379695" y="5422737"/>
            <a:ext cx="1582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altLang="ko-K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aseline="30000" dirty="0">
                <a:solidFill>
                  <a:schemeClr val="dk1"/>
                </a:solidFill>
              </a:rPr>
              <a:t>^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ko-KR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5DEE61-A65B-B870-E94B-D4DC8475953D}"/>
              </a:ext>
            </a:extLst>
          </p:cNvPr>
          <p:cNvSpPr txBox="1"/>
          <p:nvPr/>
        </p:nvSpPr>
        <p:spPr>
          <a:xfrm>
            <a:off x="4240960" y="5363175"/>
            <a:ext cx="2247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altLang="ko-K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aseline="30000" dirty="0">
                <a:solidFill>
                  <a:schemeClr val="dk1"/>
                </a:solidFill>
              </a:rPr>
              <a:t>🇻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ko-K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aseline="30000" dirty="0">
                <a:solidFill>
                  <a:schemeClr val="dk1"/>
                </a:solidFill>
              </a:rPr>
              <a:t>^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ko-KR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EA709A-9C35-C52F-5489-C2C13FE2AA7F}"/>
              </a:ext>
            </a:extLst>
          </p:cNvPr>
          <p:cNvSpPr txBox="1"/>
          <p:nvPr/>
        </p:nvSpPr>
        <p:spPr>
          <a:xfrm>
            <a:off x="454090" y="5909146"/>
            <a:ext cx="86137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q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ignore any confusion, parentheses is used to specify order between conjunction-disjunction and implication-biconditional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130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DE MORGAN’s LAW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4B52BC-3A39-CBAB-1D4E-254DC4248649}"/>
              </a:ext>
            </a:extLst>
          </p:cNvPr>
          <p:cNvSpPr txBox="1"/>
          <p:nvPr/>
        </p:nvSpPr>
        <p:spPr>
          <a:xfrm>
            <a:off x="457200" y="16764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q) </a:t>
            </a:r>
            <a:r>
              <a:rPr lang="en-US" sz="2400" dirty="0"/>
              <a:t>≡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</a:t>
            </a:r>
          </a:p>
        </p:txBody>
      </p:sp>
      <p:graphicFrame>
        <p:nvGraphicFramePr>
          <p:cNvPr id="31" name="Table 31">
            <a:extLst>
              <a:ext uri="{FF2B5EF4-FFF2-40B4-BE49-F238E27FC236}">
                <a16:creationId xmlns:a16="http://schemas.microsoft.com/office/drawing/2014/main" id="{F7BA0B49-32BB-501D-2A82-D91A3A7B7C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998270"/>
              </p:ext>
            </p:extLst>
          </p:nvPr>
        </p:nvGraphicFramePr>
        <p:xfrm>
          <a:off x="990600" y="2390334"/>
          <a:ext cx="66294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66137361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9070812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1814786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69189134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44509732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516896786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8929526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62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499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147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3086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982933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92358694-6D36-7E5C-3D7C-C3BC5D1FB25C}"/>
              </a:ext>
            </a:extLst>
          </p:cNvPr>
          <p:cNvSpPr txBox="1"/>
          <p:nvPr/>
        </p:nvSpPr>
        <p:spPr>
          <a:xfrm>
            <a:off x="1219200" y="239033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C524D9-00FF-5557-F51B-4B23C0416480}"/>
              </a:ext>
            </a:extLst>
          </p:cNvPr>
          <p:cNvSpPr txBox="1"/>
          <p:nvPr/>
        </p:nvSpPr>
        <p:spPr>
          <a:xfrm>
            <a:off x="1981200" y="239033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FFE8E1-8965-D4D9-620B-EB7AFD51F7D8}"/>
              </a:ext>
            </a:extLst>
          </p:cNvPr>
          <p:cNvSpPr txBox="1"/>
          <p:nvPr/>
        </p:nvSpPr>
        <p:spPr>
          <a:xfrm>
            <a:off x="1211986" y="2754169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5EFADF-4226-DAD0-FBA1-23819C005BBF}"/>
              </a:ext>
            </a:extLst>
          </p:cNvPr>
          <p:cNvSpPr txBox="1"/>
          <p:nvPr/>
        </p:nvSpPr>
        <p:spPr>
          <a:xfrm>
            <a:off x="1947722" y="2754169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38F398C-4299-A81E-0D2F-B5EE998E0591}"/>
              </a:ext>
            </a:extLst>
          </p:cNvPr>
          <p:cNvSpPr txBox="1"/>
          <p:nvPr/>
        </p:nvSpPr>
        <p:spPr>
          <a:xfrm>
            <a:off x="1219200" y="3118291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23BD07-05BE-6EBD-3901-31401C057478}"/>
              </a:ext>
            </a:extLst>
          </p:cNvPr>
          <p:cNvSpPr txBox="1"/>
          <p:nvPr/>
        </p:nvSpPr>
        <p:spPr>
          <a:xfrm>
            <a:off x="1954936" y="3118291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B8C3B72-9FCB-7044-35FF-4300D3C218A8}"/>
              </a:ext>
            </a:extLst>
          </p:cNvPr>
          <p:cNvSpPr txBox="1"/>
          <p:nvPr/>
        </p:nvSpPr>
        <p:spPr>
          <a:xfrm>
            <a:off x="1211986" y="3508589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923B64-0AE2-6CC3-D5F1-AFA6317B4647}"/>
              </a:ext>
            </a:extLst>
          </p:cNvPr>
          <p:cNvSpPr txBox="1"/>
          <p:nvPr/>
        </p:nvSpPr>
        <p:spPr>
          <a:xfrm>
            <a:off x="1947722" y="3508589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D231FFD-E93A-8252-F799-BDEDF95D10A1}"/>
              </a:ext>
            </a:extLst>
          </p:cNvPr>
          <p:cNvSpPr txBox="1"/>
          <p:nvPr/>
        </p:nvSpPr>
        <p:spPr>
          <a:xfrm>
            <a:off x="1219200" y="3872711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5F7DB3E-4733-DA48-2CEB-41516082E22C}"/>
              </a:ext>
            </a:extLst>
          </p:cNvPr>
          <p:cNvSpPr txBox="1"/>
          <p:nvPr/>
        </p:nvSpPr>
        <p:spPr>
          <a:xfrm>
            <a:off x="1954936" y="3872711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FF9880C-D704-0F15-2D5C-BD9DA059F319}"/>
              </a:ext>
            </a:extLst>
          </p:cNvPr>
          <p:cNvSpPr txBox="1"/>
          <p:nvPr/>
        </p:nvSpPr>
        <p:spPr>
          <a:xfrm>
            <a:off x="2590800" y="2390334"/>
            <a:ext cx="838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(p</a:t>
            </a:r>
            <a:r>
              <a:rPr 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r>
              <a:rPr 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q)</a:t>
            </a: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98C91B9-D633-ACB1-E138-522B0CA692CE}"/>
              </a:ext>
            </a:extLst>
          </p:cNvPr>
          <p:cNvSpPr txBox="1"/>
          <p:nvPr/>
        </p:nvSpPr>
        <p:spPr>
          <a:xfrm>
            <a:off x="2846478" y="2754169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B861C6B-6583-6659-100E-0451E7A83F54}"/>
              </a:ext>
            </a:extLst>
          </p:cNvPr>
          <p:cNvSpPr txBox="1"/>
          <p:nvPr/>
        </p:nvSpPr>
        <p:spPr>
          <a:xfrm>
            <a:off x="2846478" y="3105711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94BE31F-78FF-C806-9A61-8D9F89C5530F}"/>
              </a:ext>
            </a:extLst>
          </p:cNvPr>
          <p:cNvSpPr txBox="1"/>
          <p:nvPr/>
        </p:nvSpPr>
        <p:spPr>
          <a:xfrm>
            <a:off x="2846478" y="3476208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8255270-2EFA-C0F1-D866-25495A96DFEC}"/>
              </a:ext>
            </a:extLst>
          </p:cNvPr>
          <p:cNvSpPr txBox="1"/>
          <p:nvPr/>
        </p:nvSpPr>
        <p:spPr>
          <a:xfrm>
            <a:off x="2846478" y="3858568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B1EB97A-9174-7E01-E942-F13F795C9C11}"/>
              </a:ext>
            </a:extLst>
          </p:cNvPr>
          <p:cNvSpPr txBox="1"/>
          <p:nvPr/>
        </p:nvSpPr>
        <p:spPr>
          <a:xfrm>
            <a:off x="3505200" y="2390334"/>
            <a:ext cx="1095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(p</a:t>
            </a:r>
            <a:r>
              <a:rPr 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r>
              <a:rPr 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q)</a:t>
            </a: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5828267-F314-F6A0-4F06-8209D31E2E8E}"/>
              </a:ext>
            </a:extLst>
          </p:cNvPr>
          <p:cNvSpPr txBox="1"/>
          <p:nvPr/>
        </p:nvSpPr>
        <p:spPr>
          <a:xfrm>
            <a:off x="3957673" y="2724341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8451B6E-FFBB-598E-9CE3-F5A030D43E4B}"/>
              </a:ext>
            </a:extLst>
          </p:cNvPr>
          <p:cNvSpPr txBox="1"/>
          <p:nvPr/>
        </p:nvSpPr>
        <p:spPr>
          <a:xfrm>
            <a:off x="3957673" y="3075883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ACDC0B5-C53B-0F46-7AF1-22FD77227613}"/>
              </a:ext>
            </a:extLst>
          </p:cNvPr>
          <p:cNvSpPr txBox="1"/>
          <p:nvPr/>
        </p:nvSpPr>
        <p:spPr>
          <a:xfrm>
            <a:off x="3957673" y="3446380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39A480F-F336-6514-830E-A6F2CD0621EA}"/>
              </a:ext>
            </a:extLst>
          </p:cNvPr>
          <p:cNvSpPr txBox="1"/>
          <p:nvPr/>
        </p:nvSpPr>
        <p:spPr>
          <a:xfrm>
            <a:off x="3957673" y="3828740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E03A88B-89BC-BD0A-29EF-A4556E840467}"/>
              </a:ext>
            </a:extLst>
          </p:cNvPr>
          <p:cNvSpPr txBox="1"/>
          <p:nvPr/>
        </p:nvSpPr>
        <p:spPr>
          <a:xfrm>
            <a:off x="4636246" y="2376190"/>
            <a:ext cx="633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6576820-3BDB-1708-A5F3-076DD455D810}"/>
              </a:ext>
            </a:extLst>
          </p:cNvPr>
          <p:cNvSpPr txBox="1"/>
          <p:nvPr/>
        </p:nvSpPr>
        <p:spPr>
          <a:xfrm>
            <a:off x="4851307" y="2730500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400DF22-983B-FDA6-780D-892169F8C6F7}"/>
              </a:ext>
            </a:extLst>
          </p:cNvPr>
          <p:cNvSpPr txBox="1"/>
          <p:nvPr/>
        </p:nvSpPr>
        <p:spPr>
          <a:xfrm>
            <a:off x="4851307" y="3082042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4F2A07A-1C17-D88D-16A1-E0A32C5AFB79}"/>
              </a:ext>
            </a:extLst>
          </p:cNvPr>
          <p:cNvSpPr txBox="1"/>
          <p:nvPr/>
        </p:nvSpPr>
        <p:spPr>
          <a:xfrm>
            <a:off x="4851307" y="3452539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08A445D-520E-D793-EA53-27492EE40619}"/>
              </a:ext>
            </a:extLst>
          </p:cNvPr>
          <p:cNvSpPr txBox="1"/>
          <p:nvPr/>
        </p:nvSpPr>
        <p:spPr>
          <a:xfrm>
            <a:off x="4851307" y="3834899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9D9A9B5-D57F-3835-BC86-D6CC7608D84F}"/>
              </a:ext>
            </a:extLst>
          </p:cNvPr>
          <p:cNvSpPr txBox="1"/>
          <p:nvPr/>
        </p:nvSpPr>
        <p:spPr>
          <a:xfrm>
            <a:off x="5562600" y="2385715"/>
            <a:ext cx="633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 </a:t>
            </a:r>
            <a:r>
              <a:rPr lang="en-US" altLang="ko-KR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1543804-75AB-2262-7A79-E0068EC0CAB5}"/>
              </a:ext>
            </a:extLst>
          </p:cNvPr>
          <p:cNvSpPr txBox="1"/>
          <p:nvPr/>
        </p:nvSpPr>
        <p:spPr>
          <a:xfrm>
            <a:off x="5777661" y="2740025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9D62EAB-091D-7C3F-EAA4-1220DC0F4CD1}"/>
              </a:ext>
            </a:extLst>
          </p:cNvPr>
          <p:cNvSpPr txBox="1"/>
          <p:nvPr/>
        </p:nvSpPr>
        <p:spPr>
          <a:xfrm>
            <a:off x="5777661" y="3091567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D6EE4D2-AE5C-176A-0D7C-B180B107B050}"/>
              </a:ext>
            </a:extLst>
          </p:cNvPr>
          <p:cNvSpPr txBox="1"/>
          <p:nvPr/>
        </p:nvSpPr>
        <p:spPr>
          <a:xfrm>
            <a:off x="5777661" y="3462064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009871B-0F02-DF6E-7059-227B1E141444}"/>
              </a:ext>
            </a:extLst>
          </p:cNvPr>
          <p:cNvSpPr txBox="1"/>
          <p:nvPr/>
        </p:nvSpPr>
        <p:spPr>
          <a:xfrm>
            <a:off x="5777661" y="3844424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F29901D-798C-9DC4-0FE5-FEB28F278731}"/>
              </a:ext>
            </a:extLst>
          </p:cNvPr>
          <p:cNvSpPr txBox="1"/>
          <p:nvPr/>
        </p:nvSpPr>
        <p:spPr>
          <a:xfrm>
            <a:off x="6268345" y="2390334"/>
            <a:ext cx="11673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0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A38A150-8047-918C-46C9-4403BB6BF6B5}"/>
              </a:ext>
            </a:extLst>
          </p:cNvPr>
          <p:cNvSpPr txBox="1"/>
          <p:nvPr/>
        </p:nvSpPr>
        <p:spPr>
          <a:xfrm>
            <a:off x="6720818" y="2724341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B42A303-5798-9151-F271-5A78760162AA}"/>
              </a:ext>
            </a:extLst>
          </p:cNvPr>
          <p:cNvSpPr txBox="1"/>
          <p:nvPr/>
        </p:nvSpPr>
        <p:spPr>
          <a:xfrm>
            <a:off x="6720818" y="3075883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31604ED-C959-E1DD-3BFE-90D737F062EF}"/>
              </a:ext>
            </a:extLst>
          </p:cNvPr>
          <p:cNvSpPr txBox="1"/>
          <p:nvPr/>
        </p:nvSpPr>
        <p:spPr>
          <a:xfrm>
            <a:off x="6720818" y="3446380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60B5E63-22AC-3BA1-D42F-CE96D55E3496}"/>
              </a:ext>
            </a:extLst>
          </p:cNvPr>
          <p:cNvSpPr txBox="1"/>
          <p:nvPr/>
        </p:nvSpPr>
        <p:spPr>
          <a:xfrm>
            <a:off x="6720818" y="3828740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802729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2" grpId="0"/>
      <p:bldP spid="36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DE MORGAN’s LAW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4B52BC-3A39-CBAB-1D4E-254DC4248649}"/>
              </a:ext>
            </a:extLst>
          </p:cNvPr>
          <p:cNvSpPr txBox="1"/>
          <p:nvPr/>
        </p:nvSpPr>
        <p:spPr>
          <a:xfrm>
            <a:off x="457200" y="16764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q"/>
              <a:defRPr/>
            </a:pP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q) </a:t>
            </a:r>
            <a:r>
              <a:rPr lang="en-US" sz="2400" dirty="0"/>
              <a:t>≡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CD9692-C303-33B4-FE39-57511ACF1967}"/>
              </a:ext>
            </a:extLst>
          </p:cNvPr>
          <p:cNvSpPr txBox="1"/>
          <p:nvPr/>
        </p:nvSpPr>
        <p:spPr>
          <a:xfrm>
            <a:off x="914400" y="2318380"/>
            <a:ext cx="2667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Prove by yourself</a:t>
            </a:r>
          </a:p>
        </p:txBody>
      </p:sp>
    </p:spTree>
    <p:extLst>
      <p:ext uri="{BB962C8B-B14F-4D97-AF65-F5344CB8AC3E}">
        <p14:creationId xmlns:p14="http://schemas.microsoft.com/office/powerpoint/2010/main" val="3034399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3800" dirty="0"/>
              <a:t>DE MORGAN’s LAW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4B52BC-3A39-CBAB-1D4E-254DC4248649}"/>
              </a:ext>
            </a:extLst>
          </p:cNvPr>
          <p:cNvSpPr txBox="1"/>
          <p:nvPr/>
        </p:nvSpPr>
        <p:spPr>
          <a:xfrm>
            <a:off x="457200" y="1676400"/>
            <a:ext cx="822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q"/>
              <a:defRPr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Morgan’s law is applicable for multiple propositional variables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92514C-32A4-770F-2E7D-B84D27B23244}"/>
              </a:ext>
            </a:extLst>
          </p:cNvPr>
          <p:cNvSpPr txBox="1"/>
          <p:nvPr/>
        </p:nvSpPr>
        <p:spPr>
          <a:xfrm>
            <a:off x="838200" y="26670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s) </a:t>
            </a:r>
            <a:r>
              <a:rPr lang="en-US" sz="2400" dirty="0"/>
              <a:t>≡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BC027D-51F1-6F58-71E0-F51A121CE241}"/>
              </a:ext>
            </a:extLst>
          </p:cNvPr>
          <p:cNvSpPr txBox="1"/>
          <p:nvPr/>
        </p:nvSpPr>
        <p:spPr>
          <a:xfrm>
            <a:off x="838200" y="3198167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s) </a:t>
            </a:r>
            <a:r>
              <a:rPr lang="en-US" sz="2400" dirty="0"/>
              <a:t>≡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2323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2600" dirty="0"/>
              <a:t>CONDITIONAL DISJUNCTION EQUIVALENCE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4B52BC-3A39-CBAB-1D4E-254DC4248649}"/>
                  </a:ext>
                </a:extLst>
              </p:cNvPr>
              <p:cNvSpPr txBox="1"/>
              <p:nvPr/>
            </p:nvSpPr>
            <p:spPr>
              <a:xfrm>
                <a:off x="457200" y="1676400"/>
                <a:ext cx="8229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lvl="0" indent="-342900">
                  <a:buFont typeface="Wingdings" panose="05000000000000000000" pitchFamily="2" charset="2"/>
                  <a:buChar char="q"/>
                  <a:defRPr/>
                </a:pPr>
                <a:r>
                  <a:rPr lang="en-US" sz="2400" b="1" i="1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sz="2400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b="1" i="1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q </a:t>
                </a:r>
                <a:r>
                  <a:rPr lang="en-US" sz="2400" dirty="0"/>
                  <a:t>≡</a:t>
                </a:r>
                <a:r>
                  <a:rPr lang="en-US" sz="2400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ko-KR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ㄱ</a:t>
                </a:r>
                <a:r>
                  <a:rPr lang="en-US" sz="2400" b="1" i="1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p </a:t>
                </a:r>
                <a:r>
                  <a:rPr lang="en-US" sz="2400" b="1" baseline="300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400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b="1" i="1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q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4B52BC-3A39-CBAB-1D4E-254DC4248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76400"/>
                <a:ext cx="8229600" cy="461665"/>
              </a:xfrm>
              <a:prstGeom prst="rect">
                <a:avLst/>
              </a:prstGeom>
              <a:blipFill>
                <a:blip r:embed="rId3"/>
                <a:stretch>
                  <a:fillRect l="-963" t="-13158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6CD9692-C303-33B4-FE39-57511ACF1967}"/>
              </a:ext>
            </a:extLst>
          </p:cNvPr>
          <p:cNvSpPr txBox="1"/>
          <p:nvPr/>
        </p:nvSpPr>
        <p:spPr>
          <a:xfrm>
            <a:off x="914400" y="2318380"/>
            <a:ext cx="2667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Prove by yourself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895496-622B-EB2C-F338-D939A993603F}"/>
              </a:ext>
            </a:extLst>
          </p:cNvPr>
          <p:cNvSpPr txBox="1"/>
          <p:nvPr/>
        </p:nvSpPr>
        <p:spPr>
          <a:xfrm>
            <a:off x="914400" y="2819400"/>
            <a:ext cx="7772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Conversion of a conditional statement in to an unconditional statement</a:t>
            </a:r>
          </a:p>
        </p:txBody>
      </p:sp>
    </p:spTree>
    <p:extLst>
      <p:ext uri="{BB962C8B-B14F-4D97-AF65-F5344CB8AC3E}">
        <p14:creationId xmlns:p14="http://schemas.microsoft.com/office/powerpoint/2010/main" val="2338951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2800" dirty="0"/>
              <a:t>CONDITIONAL LOGICAL EQUIVALENCE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6B413D-90D7-AE3C-A6D2-00CBC9940905}"/>
              </a:ext>
            </a:extLst>
          </p:cNvPr>
          <p:cNvSpPr txBox="1"/>
          <p:nvPr/>
        </p:nvSpPr>
        <p:spPr>
          <a:xfrm>
            <a:off x="463420" y="1676400"/>
            <a:ext cx="2813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dk1"/>
                </a:solidFill>
              </a:rPr>
              <a:t>→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en-US" sz="2400" dirty="0"/>
              <a:t>≡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q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34D981-95B1-FE5E-0EB1-72D2E2B6F236}"/>
              </a:ext>
            </a:extLst>
          </p:cNvPr>
          <p:cNvSpPr txBox="1"/>
          <p:nvPr/>
        </p:nvSpPr>
        <p:spPr>
          <a:xfrm>
            <a:off x="3768012" y="1676400"/>
            <a:ext cx="5375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(Conditional Disjunction Equivalence)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CFE958-35D5-D429-7AAD-66B68BDDDDD5}"/>
              </a:ext>
            </a:extLst>
          </p:cNvPr>
          <p:cNvSpPr txBox="1"/>
          <p:nvPr/>
        </p:nvSpPr>
        <p:spPr>
          <a:xfrm>
            <a:off x="477416" y="2225551"/>
            <a:ext cx="3103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dk1"/>
                </a:solidFill>
              </a:rPr>
              <a:t>→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en-US" sz="2400" dirty="0"/>
              <a:t>≡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dk1"/>
                </a:solidFill>
              </a:rPr>
              <a:t>→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 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241BBB-DECF-5E70-AEE0-F7AA830354B9}"/>
              </a:ext>
            </a:extLst>
          </p:cNvPr>
          <p:cNvSpPr txBox="1"/>
          <p:nvPr/>
        </p:nvSpPr>
        <p:spPr>
          <a:xfrm>
            <a:off x="3789783" y="2225551"/>
            <a:ext cx="23824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(Contrapositive)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1A17E8-AB28-0ABB-3E21-0C7B00BF92F6}"/>
              </a:ext>
            </a:extLst>
          </p:cNvPr>
          <p:cNvSpPr txBox="1"/>
          <p:nvPr/>
        </p:nvSpPr>
        <p:spPr>
          <a:xfrm>
            <a:off x="457199" y="2776834"/>
            <a:ext cx="331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dk1"/>
                </a:solidFill>
              </a:rPr>
              <a:t>→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q) </a:t>
            </a:r>
            <a:r>
              <a:rPr lang="en-US" sz="2400" dirty="0"/>
              <a:t>≡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q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DFDA2A-8079-A404-1B4C-504C57464BC2}"/>
              </a:ext>
            </a:extLst>
          </p:cNvPr>
          <p:cNvSpPr txBox="1"/>
          <p:nvPr/>
        </p:nvSpPr>
        <p:spPr>
          <a:xfrm>
            <a:off x="3789783" y="2776834"/>
            <a:ext cx="49172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(De Morgan of Conditional Disjunction Equivalence)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04336F-3267-806D-9D40-E7D7B01B5D1A}"/>
              </a:ext>
            </a:extLst>
          </p:cNvPr>
          <p:cNvSpPr txBox="1"/>
          <p:nvPr/>
        </p:nvSpPr>
        <p:spPr>
          <a:xfrm>
            <a:off x="477416" y="3939952"/>
            <a:ext cx="4550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dk1"/>
                </a:solidFill>
              </a:rPr>
              <a:t>→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q)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dk1"/>
                </a:solidFill>
              </a:rPr>
              <a:t>→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dirty="0"/>
              <a:t>≡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>
                <a:solidFill>
                  <a:schemeClr val="dk1"/>
                </a:solidFill>
              </a:rPr>
              <a:t> →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(q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BA272C-8575-08B6-89DF-BD25A04ECD62}"/>
              </a:ext>
            </a:extLst>
          </p:cNvPr>
          <p:cNvSpPr txBox="1"/>
          <p:nvPr/>
        </p:nvSpPr>
        <p:spPr>
          <a:xfrm>
            <a:off x="477416" y="4524550"/>
            <a:ext cx="5105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dk1"/>
                </a:solidFill>
              </a:rPr>
              <a:t>→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(q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dk1"/>
                </a:solidFill>
              </a:rPr>
              <a:t>→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dirty="0"/>
              <a:t>≡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en-US" sz="2400" b="1" i="1" dirty="0">
                <a:solidFill>
                  <a:schemeClr val="dk1"/>
                </a:solidFill>
              </a:rPr>
              <a:t>q</a:t>
            </a:r>
            <a:r>
              <a:rPr lang="en-US" sz="2400" dirty="0">
                <a:solidFill>
                  <a:schemeClr val="dk1"/>
                </a:solidFill>
              </a:rPr>
              <a:t>) →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63A95-96CB-2976-4EB6-DBBB1B4A3908}"/>
              </a:ext>
            </a:extLst>
          </p:cNvPr>
          <p:cNvSpPr txBox="1"/>
          <p:nvPr/>
        </p:nvSpPr>
        <p:spPr>
          <a:xfrm>
            <a:off x="482081" y="5091400"/>
            <a:ext cx="5105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dk1"/>
                </a:solidFill>
              </a:rPr>
              <a:t>→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dk1"/>
                </a:solidFill>
              </a:rPr>
              <a:t>→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dirty="0"/>
              <a:t>≡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>
                <a:solidFill>
                  <a:schemeClr val="dk1"/>
                </a:solidFill>
              </a:rPr>
              <a:t> →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(q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0746CB-2156-211F-E944-5691A6B8D18B}"/>
              </a:ext>
            </a:extLst>
          </p:cNvPr>
          <p:cNvSpPr txBox="1"/>
          <p:nvPr/>
        </p:nvSpPr>
        <p:spPr>
          <a:xfrm>
            <a:off x="482081" y="5675998"/>
            <a:ext cx="5105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dk1"/>
                </a:solidFill>
              </a:rPr>
              <a:t>→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(q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dk1"/>
                </a:solidFill>
              </a:rPr>
              <a:t>→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dirty="0"/>
              <a:t>≡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en-US" sz="2400" b="1" i="1" dirty="0">
                <a:solidFill>
                  <a:schemeClr val="dk1"/>
                </a:solidFill>
              </a:rPr>
              <a:t>q</a:t>
            </a:r>
            <a:r>
              <a:rPr lang="en-US" sz="2400" dirty="0">
                <a:solidFill>
                  <a:schemeClr val="dk1"/>
                </a:solidFill>
              </a:rPr>
              <a:t>) →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r</a:t>
            </a:r>
          </a:p>
        </p:txBody>
      </p:sp>
    </p:spTree>
    <p:extLst>
      <p:ext uri="{BB962C8B-B14F-4D97-AF65-F5344CB8AC3E}">
        <p14:creationId xmlns:p14="http://schemas.microsoft.com/office/powerpoint/2010/main" val="2075296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3" grpId="0"/>
      <p:bldP spid="4" grpId="0"/>
      <p:bldP spid="5" grpId="0"/>
      <p:bldP spid="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2800" dirty="0"/>
              <a:t>CONDITIONAL LOGICAL EQUIVALENCE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CD9692-C303-33B4-FE39-57511ACF1967}"/>
              </a:ext>
            </a:extLst>
          </p:cNvPr>
          <p:cNvSpPr txBox="1"/>
          <p:nvPr/>
        </p:nvSpPr>
        <p:spPr>
          <a:xfrm>
            <a:off x="762000" y="2142289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Bangladesh plays at Mirpur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35900D-F403-4FC6-48CC-5D61205A136F}"/>
              </a:ext>
            </a:extLst>
          </p:cNvPr>
          <p:cNvSpPr txBox="1"/>
          <p:nvPr/>
        </p:nvSpPr>
        <p:spPr>
          <a:xfrm>
            <a:off x="457200" y="1671934"/>
            <a:ext cx="4550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dk1"/>
                </a:solidFill>
              </a:rPr>
              <a:t>→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q)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dk1"/>
                </a:solidFill>
              </a:rPr>
              <a:t>→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dirty="0"/>
              <a:t>≡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>
                <a:solidFill>
                  <a:schemeClr val="dk1"/>
                </a:solidFill>
              </a:rPr>
              <a:t> →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(q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EA3801-873C-B910-4EFA-4389A86EFC6F}"/>
              </a:ext>
            </a:extLst>
          </p:cNvPr>
          <p:cNvSpPr txBox="1"/>
          <p:nvPr/>
        </p:nvSpPr>
        <p:spPr>
          <a:xfrm>
            <a:off x="762000" y="2612644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Bangladesh wins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C59444-D126-3209-B8E5-293EDC65749F}"/>
              </a:ext>
            </a:extLst>
          </p:cNvPr>
          <p:cNvSpPr txBox="1"/>
          <p:nvPr/>
        </p:nvSpPr>
        <p:spPr>
          <a:xfrm>
            <a:off x="760445" y="3104180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Shanto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becomes Man of the Match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075AAB-90ED-E26D-87D8-02FD4C8B3559}"/>
              </a:ext>
            </a:extLst>
          </p:cNvPr>
          <p:cNvSpPr txBox="1"/>
          <p:nvPr/>
        </p:nvSpPr>
        <p:spPr>
          <a:xfrm>
            <a:off x="760445" y="4095062"/>
            <a:ext cx="815495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If Bangladesh plays at Mirpur then Bangladesh wins</a:t>
            </a:r>
          </a:p>
          <a:p>
            <a:pPr algn="ctr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and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If Bangladesh plays at Mirpur then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Shanto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becomes Man of the Match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95E27B-85F7-AEBC-32A9-1D95EFEB598A}"/>
              </a:ext>
            </a:extLst>
          </p:cNvPr>
          <p:cNvSpPr txBox="1"/>
          <p:nvPr/>
        </p:nvSpPr>
        <p:spPr>
          <a:xfrm>
            <a:off x="777552" y="3603526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(p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solidFill>
                  <a:schemeClr val="dk1"/>
                </a:solidFill>
              </a:rPr>
              <a:t>→</a:t>
            </a:r>
            <a:r>
              <a:rPr lang="ko-KR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q) </a:t>
            </a:r>
            <a:r>
              <a:rPr lang="en-US" sz="22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en-US" sz="22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(p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solidFill>
                  <a:schemeClr val="dk1"/>
                </a:solidFill>
              </a:rPr>
              <a:t>→</a:t>
            </a:r>
            <a:r>
              <a:rPr lang="ko-KR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2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2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becomes: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F9E4CD-AB8D-4489-620D-52B41D8578AB}"/>
              </a:ext>
            </a:extLst>
          </p:cNvPr>
          <p:cNvSpPr txBox="1"/>
          <p:nvPr/>
        </p:nvSpPr>
        <p:spPr>
          <a:xfrm>
            <a:off x="775996" y="5731138"/>
            <a:ext cx="81549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If Bangladesh plays at Mirpur then Bangladesh wins and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Shanto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becomes Man of the Match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442F13-3AB9-B675-181E-1A5DF101674E}"/>
              </a:ext>
            </a:extLst>
          </p:cNvPr>
          <p:cNvSpPr txBox="1"/>
          <p:nvPr/>
        </p:nvSpPr>
        <p:spPr>
          <a:xfrm>
            <a:off x="760445" y="5251654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solidFill>
                  <a:schemeClr val="dk1"/>
                </a:solidFill>
              </a:rPr>
              <a:t> →</a:t>
            </a:r>
            <a:r>
              <a:rPr lang="en-US" sz="22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(q </a:t>
            </a:r>
            <a:r>
              <a:rPr lang="en-US" sz="22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en-US" sz="22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r)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becomes: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762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2800" dirty="0"/>
              <a:t>CONDITIONAL LOGICAL EQUIVALENCE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35900D-F403-4FC6-48CC-5D61205A136F}"/>
              </a:ext>
            </a:extLst>
          </p:cNvPr>
          <p:cNvSpPr txBox="1"/>
          <p:nvPr/>
        </p:nvSpPr>
        <p:spPr>
          <a:xfrm>
            <a:off x="457200" y="1671934"/>
            <a:ext cx="4550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dk1"/>
                </a:solidFill>
              </a:rPr>
              <a:t>→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q)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dk1"/>
                </a:solidFill>
              </a:rPr>
              <a:t>→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dirty="0"/>
              <a:t>≡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>
                <a:solidFill>
                  <a:schemeClr val="dk1"/>
                </a:solidFill>
              </a:rPr>
              <a:t> →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(q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BDDF23-6E29-D0C6-CBB6-3FEC9AE5750A}"/>
              </a:ext>
            </a:extLst>
          </p:cNvPr>
          <p:cNvSpPr txBox="1"/>
          <p:nvPr/>
        </p:nvSpPr>
        <p:spPr>
          <a:xfrm>
            <a:off x="990600" y="2286000"/>
            <a:ext cx="4550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dk1"/>
                </a:solidFill>
              </a:rPr>
              <a:t>→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q)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dk1"/>
                </a:solidFill>
              </a:rPr>
              <a:t>→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0C762F-DA47-A7D3-709E-81401147F117}"/>
              </a:ext>
            </a:extLst>
          </p:cNvPr>
          <p:cNvSpPr txBox="1"/>
          <p:nvPr/>
        </p:nvSpPr>
        <p:spPr>
          <a:xfrm>
            <a:off x="990600" y="2764573"/>
            <a:ext cx="4550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≡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q)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r)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103F53-8EDE-8629-1445-2AD3953B9262}"/>
              </a:ext>
            </a:extLst>
          </p:cNvPr>
          <p:cNvSpPr txBox="1"/>
          <p:nvPr/>
        </p:nvSpPr>
        <p:spPr>
          <a:xfrm>
            <a:off x="3886200" y="2764572"/>
            <a:ext cx="495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[Conditional disjunction equivalence]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3B309A-B6EA-8E1F-B19C-DF172BDD1FDB}"/>
              </a:ext>
            </a:extLst>
          </p:cNvPr>
          <p:cNvSpPr txBox="1"/>
          <p:nvPr/>
        </p:nvSpPr>
        <p:spPr>
          <a:xfrm>
            <a:off x="1027922" y="3355032"/>
            <a:ext cx="54568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≡ (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/>
              <a:t>(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/>
              <a:t>(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/>
              <a:t>(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A06FA9-363B-3F2D-E69C-9AD6CD8D73CC}"/>
              </a:ext>
            </a:extLst>
          </p:cNvPr>
          <p:cNvSpPr txBox="1"/>
          <p:nvPr/>
        </p:nvSpPr>
        <p:spPr>
          <a:xfrm>
            <a:off x="1017037" y="3945491"/>
            <a:ext cx="46108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≡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/>
              <a:t>(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/>
              <a:t>(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/>
              <a:t>(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DDB460-DFFB-1D42-34DF-38A97123C91C}"/>
              </a:ext>
            </a:extLst>
          </p:cNvPr>
          <p:cNvSpPr txBox="1"/>
          <p:nvPr/>
        </p:nvSpPr>
        <p:spPr>
          <a:xfrm>
            <a:off x="5609254" y="3945490"/>
            <a:ext cx="2575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[Idempotent law]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8B1867-3733-1F59-4541-306141C7F6E3}"/>
              </a:ext>
            </a:extLst>
          </p:cNvPr>
          <p:cNvSpPr txBox="1"/>
          <p:nvPr/>
        </p:nvSpPr>
        <p:spPr>
          <a:xfrm>
            <a:off x="1027922" y="4498627"/>
            <a:ext cx="46108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≡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/>
              <a:t>(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/>
              <a:t>(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23FED3-1DDD-A80A-1B40-DE880D0F1D2E}"/>
              </a:ext>
            </a:extLst>
          </p:cNvPr>
          <p:cNvSpPr txBox="1"/>
          <p:nvPr/>
        </p:nvSpPr>
        <p:spPr>
          <a:xfrm>
            <a:off x="4419600" y="4498626"/>
            <a:ext cx="2575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[Absorption law]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C8F8BC-DF50-FE22-7CFA-3D22B6E56898}"/>
              </a:ext>
            </a:extLst>
          </p:cNvPr>
          <p:cNvSpPr txBox="1"/>
          <p:nvPr/>
        </p:nvSpPr>
        <p:spPr>
          <a:xfrm>
            <a:off x="1020147" y="5037003"/>
            <a:ext cx="46108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≡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/>
              <a:t>(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FC8710-260F-A897-571A-726ED7B527E0}"/>
              </a:ext>
            </a:extLst>
          </p:cNvPr>
          <p:cNvSpPr txBox="1"/>
          <p:nvPr/>
        </p:nvSpPr>
        <p:spPr>
          <a:xfrm>
            <a:off x="3046447" y="5037002"/>
            <a:ext cx="2575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[Absorption law]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2C819F-0E06-5B55-C9E6-A7D44EC221A6}"/>
              </a:ext>
            </a:extLst>
          </p:cNvPr>
          <p:cNvSpPr txBox="1"/>
          <p:nvPr/>
        </p:nvSpPr>
        <p:spPr>
          <a:xfrm>
            <a:off x="1031032" y="5590139"/>
            <a:ext cx="20558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≡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>
                <a:solidFill>
                  <a:schemeClr val="dk1"/>
                </a:solidFill>
              </a:rPr>
              <a:t> →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(q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57AF01-DA55-6E7F-EA04-7A6ED7AA332E}"/>
              </a:ext>
            </a:extLst>
          </p:cNvPr>
          <p:cNvSpPr txBox="1"/>
          <p:nvPr/>
        </p:nvSpPr>
        <p:spPr>
          <a:xfrm>
            <a:off x="2895600" y="5593530"/>
            <a:ext cx="495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[Conditional disjunction equivalence]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4DD613-40AD-8AAD-DCB6-DA2CB4D77DE2}"/>
              </a:ext>
            </a:extLst>
          </p:cNvPr>
          <p:cNvSpPr txBox="1"/>
          <p:nvPr/>
        </p:nvSpPr>
        <p:spPr>
          <a:xfrm>
            <a:off x="6358035" y="3360263"/>
            <a:ext cx="2575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[Distributive law]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469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5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2800" dirty="0"/>
              <a:t>CONDITIONAL LOGICAL EQUIVALENCE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CD9692-C303-33B4-FE39-57511ACF1967}"/>
              </a:ext>
            </a:extLst>
          </p:cNvPr>
          <p:cNvSpPr txBox="1"/>
          <p:nvPr/>
        </p:nvSpPr>
        <p:spPr>
          <a:xfrm>
            <a:off x="762000" y="2209800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Bangladesh plays at Mirpur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35900D-F403-4FC6-48CC-5D61205A136F}"/>
              </a:ext>
            </a:extLst>
          </p:cNvPr>
          <p:cNvSpPr txBox="1"/>
          <p:nvPr/>
        </p:nvSpPr>
        <p:spPr>
          <a:xfrm>
            <a:off x="457200" y="1671934"/>
            <a:ext cx="4550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dk1"/>
                </a:solidFill>
              </a:rPr>
              <a:t>→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(q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dk1"/>
                </a:solidFill>
              </a:rPr>
              <a:t>→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dirty="0"/>
              <a:t>≡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en-US" sz="2400" b="1" i="1" dirty="0">
                <a:solidFill>
                  <a:schemeClr val="dk1"/>
                </a:solidFill>
              </a:rPr>
              <a:t>q</a:t>
            </a:r>
            <a:r>
              <a:rPr lang="en-US" sz="2400" dirty="0">
                <a:solidFill>
                  <a:schemeClr val="dk1"/>
                </a:solidFill>
              </a:rPr>
              <a:t>) →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EA3801-873C-B910-4EFA-4389A86EFC6F}"/>
              </a:ext>
            </a:extLst>
          </p:cNvPr>
          <p:cNvSpPr txBox="1"/>
          <p:nvPr/>
        </p:nvSpPr>
        <p:spPr>
          <a:xfrm>
            <a:off x="762000" y="2680155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Bangladesh wins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C59444-D126-3209-B8E5-293EDC65749F}"/>
              </a:ext>
            </a:extLst>
          </p:cNvPr>
          <p:cNvSpPr txBox="1"/>
          <p:nvPr/>
        </p:nvSpPr>
        <p:spPr>
          <a:xfrm>
            <a:off x="760445" y="3171691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Shanto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becomes Man of the Match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075AAB-90ED-E26D-87D8-02FD4C8B3559}"/>
              </a:ext>
            </a:extLst>
          </p:cNvPr>
          <p:cNvSpPr txBox="1"/>
          <p:nvPr/>
        </p:nvSpPr>
        <p:spPr>
          <a:xfrm>
            <a:off x="760445" y="4162573"/>
            <a:ext cx="815495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If Bangladesh plays at Mirpur then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Shanto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becomes Man of the Match</a:t>
            </a:r>
          </a:p>
          <a:p>
            <a:pPr algn="ctr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and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If Bangladesh wins then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Shanto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becomes Man of the Match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95E27B-85F7-AEBC-32A9-1D95EFEB598A}"/>
              </a:ext>
            </a:extLst>
          </p:cNvPr>
          <p:cNvSpPr txBox="1"/>
          <p:nvPr/>
        </p:nvSpPr>
        <p:spPr>
          <a:xfrm>
            <a:off x="777552" y="3671037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(p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solidFill>
                  <a:schemeClr val="dk1"/>
                </a:solidFill>
              </a:rPr>
              <a:t>→</a:t>
            </a:r>
            <a:r>
              <a:rPr lang="ko-KR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2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2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2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en-US" sz="22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(q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solidFill>
                  <a:schemeClr val="dk1"/>
                </a:solidFill>
              </a:rPr>
              <a:t>→</a:t>
            </a:r>
            <a:r>
              <a:rPr lang="ko-KR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2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2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becomes: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F9E4CD-AB8D-4489-620D-52B41D8578AB}"/>
              </a:ext>
            </a:extLst>
          </p:cNvPr>
          <p:cNvSpPr txBox="1"/>
          <p:nvPr/>
        </p:nvSpPr>
        <p:spPr>
          <a:xfrm>
            <a:off x="775996" y="5798649"/>
            <a:ext cx="81549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If Bangladesh plays at Mirpur or Bangladesh wins then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Shanto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becomes Man of the Match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442F13-3AB9-B675-181E-1A5DF101674E}"/>
              </a:ext>
            </a:extLst>
          </p:cNvPr>
          <p:cNvSpPr txBox="1"/>
          <p:nvPr/>
        </p:nvSpPr>
        <p:spPr>
          <a:xfrm>
            <a:off x="760445" y="5319165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2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b="1" i="1" dirty="0">
                <a:solidFill>
                  <a:schemeClr val="dk1"/>
                </a:solidFill>
              </a:rPr>
              <a:t>q</a:t>
            </a:r>
            <a:r>
              <a:rPr lang="en-US" sz="2200" dirty="0">
                <a:solidFill>
                  <a:schemeClr val="dk1"/>
                </a:solidFill>
              </a:rPr>
              <a:t>) →</a:t>
            </a:r>
            <a:r>
              <a:rPr lang="en-US" sz="22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r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becomes: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446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2800" dirty="0"/>
              <a:t>CONDITIONAL LOGICAL EQUIVALENCE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35900D-F403-4FC6-48CC-5D61205A136F}"/>
              </a:ext>
            </a:extLst>
          </p:cNvPr>
          <p:cNvSpPr txBox="1"/>
          <p:nvPr/>
        </p:nvSpPr>
        <p:spPr>
          <a:xfrm>
            <a:off x="457200" y="1671934"/>
            <a:ext cx="4550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dk1"/>
                </a:solidFill>
              </a:rPr>
              <a:t>→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(q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dk1"/>
                </a:solidFill>
              </a:rPr>
              <a:t>→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dirty="0"/>
              <a:t>≡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en-US" sz="2400" b="1" i="1" dirty="0">
                <a:solidFill>
                  <a:schemeClr val="dk1"/>
                </a:solidFill>
              </a:rPr>
              <a:t>q</a:t>
            </a:r>
            <a:r>
              <a:rPr lang="en-US" sz="2400" dirty="0">
                <a:solidFill>
                  <a:schemeClr val="dk1"/>
                </a:solidFill>
              </a:rPr>
              <a:t>) →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BDDF23-6E29-D0C6-CBB6-3FEC9AE5750A}"/>
              </a:ext>
            </a:extLst>
          </p:cNvPr>
          <p:cNvSpPr txBox="1"/>
          <p:nvPr/>
        </p:nvSpPr>
        <p:spPr>
          <a:xfrm>
            <a:off x="990600" y="2286000"/>
            <a:ext cx="4550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dk1"/>
                </a:solidFill>
              </a:rPr>
              <a:t>→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(q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dk1"/>
                </a:solidFill>
              </a:rPr>
              <a:t>→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0C762F-DA47-A7D3-709E-81401147F117}"/>
              </a:ext>
            </a:extLst>
          </p:cNvPr>
          <p:cNvSpPr txBox="1"/>
          <p:nvPr/>
        </p:nvSpPr>
        <p:spPr>
          <a:xfrm>
            <a:off x="990600" y="2764573"/>
            <a:ext cx="4550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≡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r)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r)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103F53-8EDE-8629-1445-2AD3953B9262}"/>
              </a:ext>
            </a:extLst>
          </p:cNvPr>
          <p:cNvSpPr txBox="1"/>
          <p:nvPr/>
        </p:nvSpPr>
        <p:spPr>
          <a:xfrm>
            <a:off x="3886200" y="2764572"/>
            <a:ext cx="495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[Conditional disjunction equivalence]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3B309A-B6EA-8E1F-B19C-DF172BDD1FDB}"/>
              </a:ext>
            </a:extLst>
          </p:cNvPr>
          <p:cNvSpPr txBox="1"/>
          <p:nvPr/>
        </p:nvSpPr>
        <p:spPr>
          <a:xfrm>
            <a:off x="1027922" y="3355032"/>
            <a:ext cx="54568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≡ (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/>
              <a:t>(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/>
              <a:t>(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8B1867-3733-1F59-4541-306141C7F6E3}"/>
              </a:ext>
            </a:extLst>
          </p:cNvPr>
          <p:cNvSpPr txBox="1"/>
          <p:nvPr/>
        </p:nvSpPr>
        <p:spPr>
          <a:xfrm>
            <a:off x="1027922" y="4402905"/>
            <a:ext cx="46108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≡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q)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23FED3-1DDD-A80A-1B40-DE880D0F1D2E}"/>
              </a:ext>
            </a:extLst>
          </p:cNvPr>
          <p:cNvSpPr txBox="1"/>
          <p:nvPr/>
        </p:nvSpPr>
        <p:spPr>
          <a:xfrm>
            <a:off x="3086879" y="4393624"/>
            <a:ext cx="510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[De Morgan’s law and Absorption law]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2C819F-0E06-5B55-C9E6-A7D44EC221A6}"/>
              </a:ext>
            </a:extLst>
          </p:cNvPr>
          <p:cNvSpPr txBox="1"/>
          <p:nvPr/>
        </p:nvSpPr>
        <p:spPr>
          <a:xfrm>
            <a:off x="1031032" y="4955233"/>
            <a:ext cx="20558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≡ 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en-US" sz="2400" b="1" i="1" dirty="0">
                <a:solidFill>
                  <a:schemeClr val="dk1"/>
                </a:solidFill>
              </a:rPr>
              <a:t>q</a:t>
            </a:r>
            <a:r>
              <a:rPr lang="en-US" sz="2400" dirty="0">
                <a:solidFill>
                  <a:schemeClr val="dk1"/>
                </a:solidFill>
              </a:rPr>
              <a:t>) →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57AF01-DA55-6E7F-EA04-7A6ED7AA332E}"/>
              </a:ext>
            </a:extLst>
          </p:cNvPr>
          <p:cNvSpPr txBox="1"/>
          <p:nvPr/>
        </p:nvSpPr>
        <p:spPr>
          <a:xfrm>
            <a:off x="2895600" y="4958624"/>
            <a:ext cx="495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[Conditional disjunction equivalence]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4DD613-40AD-8AAD-DCB6-DA2CB4D77DE2}"/>
              </a:ext>
            </a:extLst>
          </p:cNvPr>
          <p:cNvSpPr txBox="1"/>
          <p:nvPr/>
        </p:nvSpPr>
        <p:spPr>
          <a:xfrm>
            <a:off x="5718110" y="3355032"/>
            <a:ext cx="26638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[Distributive and Idempotent law]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29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5" grpId="0"/>
      <p:bldP spid="13" grpId="0"/>
      <p:bldP spid="14" grpId="0"/>
      <p:bldP spid="17" grpId="0"/>
      <p:bldP spid="18" grpId="0"/>
      <p:bldP spid="21" grpId="0"/>
      <p:bldP spid="22" grpId="0"/>
      <p:bldP spid="2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2800" dirty="0"/>
              <a:t>CONDITIONAL LOGICAL EQUIVALENCE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6F876C-40E6-A9B7-DD1A-A880B0D58E6E}"/>
              </a:ext>
            </a:extLst>
          </p:cNvPr>
          <p:cNvSpPr txBox="1"/>
          <p:nvPr/>
        </p:nvSpPr>
        <p:spPr>
          <a:xfrm>
            <a:off x="457200" y="1676400"/>
            <a:ext cx="5105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dk1"/>
                </a:solidFill>
              </a:rPr>
              <a:t>→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dk1"/>
                </a:solidFill>
              </a:rPr>
              <a:t>→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dirty="0"/>
              <a:t>≡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>
                <a:solidFill>
                  <a:schemeClr val="dk1"/>
                </a:solidFill>
              </a:rPr>
              <a:t> →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(q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C0F986-ED84-4462-0AF5-A1A1F3073DDE}"/>
              </a:ext>
            </a:extLst>
          </p:cNvPr>
          <p:cNvSpPr txBox="1"/>
          <p:nvPr/>
        </p:nvSpPr>
        <p:spPr>
          <a:xfrm>
            <a:off x="457200" y="2260998"/>
            <a:ext cx="5105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dk1"/>
                </a:solidFill>
              </a:rPr>
              <a:t>→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(q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dk1"/>
                </a:solidFill>
              </a:rPr>
              <a:t>→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dirty="0"/>
              <a:t>≡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en-US" sz="2400" b="1" i="1" dirty="0">
                <a:solidFill>
                  <a:schemeClr val="dk1"/>
                </a:solidFill>
              </a:rPr>
              <a:t>q</a:t>
            </a:r>
            <a:r>
              <a:rPr lang="en-US" sz="2400" dirty="0">
                <a:solidFill>
                  <a:schemeClr val="dk1"/>
                </a:solidFill>
              </a:rPr>
              <a:t>) →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309590-CDB6-0FD6-FD29-1F41E8C71EA2}"/>
              </a:ext>
            </a:extLst>
          </p:cNvPr>
          <p:cNvSpPr txBox="1"/>
          <p:nvPr/>
        </p:nvSpPr>
        <p:spPr>
          <a:xfrm>
            <a:off x="914400" y="2872033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Try it by yourself</a:t>
            </a:r>
          </a:p>
        </p:txBody>
      </p:sp>
    </p:spTree>
    <p:extLst>
      <p:ext uri="{BB962C8B-B14F-4D97-AF65-F5344CB8AC3E}">
        <p14:creationId xmlns:p14="http://schemas.microsoft.com/office/powerpoint/2010/main" val="3679653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176501"/>
            <a:ext cx="8229600" cy="1600200"/>
          </a:xfrm>
        </p:spPr>
        <p:txBody>
          <a:bodyPr/>
          <a:lstStyle/>
          <a:p>
            <a:r>
              <a:rPr lang="en-US" sz="2800" dirty="0"/>
              <a:t>BICONDITIONAL LOGICAL EQUIVALENCE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6B413D-90D7-AE3C-A6D2-00CBC9940905}"/>
              </a:ext>
            </a:extLst>
          </p:cNvPr>
          <p:cNvSpPr txBox="1"/>
          <p:nvPr/>
        </p:nvSpPr>
        <p:spPr>
          <a:xfrm>
            <a:off x="463420" y="1676400"/>
            <a:ext cx="3956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/>
              <a:t>↔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en-US" sz="2400" dirty="0"/>
              <a:t>≡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dk1"/>
                </a:solidFill>
              </a:rPr>
              <a:t>→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q)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(q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dk1"/>
                </a:solidFill>
              </a:rPr>
              <a:t>→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34D981-95B1-FE5E-0EB1-72D2E2B6F236}"/>
              </a:ext>
            </a:extLst>
          </p:cNvPr>
          <p:cNvSpPr txBox="1"/>
          <p:nvPr/>
        </p:nvSpPr>
        <p:spPr>
          <a:xfrm>
            <a:off x="4461588" y="1662597"/>
            <a:ext cx="1870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(Definition)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CFE958-35D5-D429-7AAD-66B68BDDDDD5}"/>
              </a:ext>
            </a:extLst>
          </p:cNvPr>
          <p:cNvSpPr txBox="1"/>
          <p:nvPr/>
        </p:nvSpPr>
        <p:spPr>
          <a:xfrm>
            <a:off x="477416" y="2225551"/>
            <a:ext cx="3103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/>
              <a:t>↔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en-US" sz="2400" dirty="0"/>
              <a:t>≡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/>
              <a:t>↔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1A17E8-AB28-0ABB-3E21-0C7B00BF92F6}"/>
              </a:ext>
            </a:extLst>
          </p:cNvPr>
          <p:cNvSpPr txBox="1"/>
          <p:nvPr/>
        </p:nvSpPr>
        <p:spPr>
          <a:xfrm>
            <a:off x="457199" y="2776834"/>
            <a:ext cx="4267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/>
              <a:t>↔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en-US" sz="2400" dirty="0"/>
              <a:t>≡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(p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q)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DFDA2A-8079-A404-1B4C-504C57464BC2}"/>
              </a:ext>
            </a:extLst>
          </p:cNvPr>
          <p:cNvSpPr txBox="1"/>
          <p:nvPr/>
        </p:nvSpPr>
        <p:spPr>
          <a:xfrm>
            <a:off x="4724401" y="2758228"/>
            <a:ext cx="297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(XNOR Equivalence)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04336F-3267-806D-9D40-E7D7B01B5D1A}"/>
              </a:ext>
            </a:extLst>
          </p:cNvPr>
          <p:cNvSpPr txBox="1"/>
          <p:nvPr/>
        </p:nvSpPr>
        <p:spPr>
          <a:xfrm>
            <a:off x="477416" y="3375086"/>
            <a:ext cx="4550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/>
              <a:t>↔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en-US" sz="2400" dirty="0"/>
              <a:t>≡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/>
              <a:t>↔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 </a:t>
            </a:r>
          </a:p>
        </p:txBody>
      </p:sp>
    </p:spTree>
    <p:extLst>
      <p:ext uri="{BB962C8B-B14F-4D97-AF65-F5344CB8AC3E}">
        <p14:creationId xmlns:p14="http://schemas.microsoft.com/office/powerpoint/2010/main" val="792854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1" grpId="0"/>
      <p:bldP spid="12" grpId="0"/>
      <p:bldP spid="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5000" dirty="0"/>
              <a:t>PRACTICE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35900D-F403-4FC6-48CC-5D61205A136F}"/>
              </a:ext>
            </a:extLst>
          </p:cNvPr>
          <p:cNvSpPr txBox="1"/>
          <p:nvPr/>
        </p:nvSpPr>
        <p:spPr>
          <a:xfrm>
            <a:off x="457200" y="1671934"/>
            <a:ext cx="769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/>
              <a:t>(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))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/>
              <a:t>≡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ㄱ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BDDF23-6E29-D0C6-CBB6-3FEC9AE5750A}"/>
              </a:ext>
            </a:extLst>
          </p:cNvPr>
          <p:cNvSpPr txBox="1"/>
          <p:nvPr/>
        </p:nvSpPr>
        <p:spPr>
          <a:xfrm>
            <a:off x="990600" y="2286000"/>
            <a:ext cx="4550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/>
              <a:t>(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0C762F-DA47-A7D3-709E-81401147F117}"/>
              </a:ext>
            </a:extLst>
          </p:cNvPr>
          <p:cNvSpPr txBox="1"/>
          <p:nvPr/>
        </p:nvSpPr>
        <p:spPr>
          <a:xfrm>
            <a:off x="990600" y="2764573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≡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q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103F53-8EDE-8629-1445-2AD3953B9262}"/>
              </a:ext>
            </a:extLst>
          </p:cNvPr>
          <p:cNvSpPr txBox="1"/>
          <p:nvPr/>
        </p:nvSpPr>
        <p:spPr>
          <a:xfrm>
            <a:off x="3747796" y="2764573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[De Morgan’s Law]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2AA25E-D92F-FF8F-B2E4-E53BB2879639}"/>
              </a:ext>
            </a:extLst>
          </p:cNvPr>
          <p:cNvSpPr txBox="1"/>
          <p:nvPr/>
        </p:nvSpPr>
        <p:spPr>
          <a:xfrm>
            <a:off x="996820" y="3361492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≡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F612F2-7723-8E88-984B-BE0D42F2D29C}"/>
              </a:ext>
            </a:extLst>
          </p:cNvPr>
          <p:cNvSpPr txBox="1"/>
          <p:nvPr/>
        </p:nvSpPr>
        <p:spPr>
          <a:xfrm>
            <a:off x="4305300" y="3354633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[De Morgan’s Law]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29A379-30D0-864A-9CA8-E0F07DF1FC6F}"/>
              </a:ext>
            </a:extLst>
          </p:cNvPr>
          <p:cNvSpPr txBox="1"/>
          <p:nvPr/>
        </p:nvSpPr>
        <p:spPr>
          <a:xfrm>
            <a:off x="1004596" y="3961600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≡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7206AF-255E-62CE-74EE-E93008EAA5D6}"/>
              </a:ext>
            </a:extLst>
          </p:cNvPr>
          <p:cNvSpPr txBox="1"/>
          <p:nvPr/>
        </p:nvSpPr>
        <p:spPr>
          <a:xfrm>
            <a:off x="3415006" y="3919890"/>
            <a:ext cx="3747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[Double Negation Law]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9AFF4F-5C40-232B-E076-FC5EEF853FEE}"/>
              </a:ext>
            </a:extLst>
          </p:cNvPr>
          <p:cNvSpPr txBox="1"/>
          <p:nvPr/>
        </p:nvSpPr>
        <p:spPr>
          <a:xfrm>
            <a:off x="1023257" y="4575667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≡ (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36C1BA-213D-78EE-A39E-8B60B89853E2}"/>
              </a:ext>
            </a:extLst>
          </p:cNvPr>
          <p:cNvSpPr txBox="1"/>
          <p:nvPr/>
        </p:nvSpPr>
        <p:spPr>
          <a:xfrm>
            <a:off x="4267978" y="4575667"/>
            <a:ext cx="3747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[Distribution Law]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603C8F-4770-2A6F-8E53-5C0A65047DEB}"/>
              </a:ext>
            </a:extLst>
          </p:cNvPr>
          <p:cNvSpPr txBox="1"/>
          <p:nvPr/>
        </p:nvSpPr>
        <p:spPr>
          <a:xfrm>
            <a:off x="1023257" y="5186066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≡ F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8D0435-0BF7-84F7-E8EE-A69BA6C16DF7}"/>
              </a:ext>
            </a:extLst>
          </p:cNvPr>
          <p:cNvSpPr txBox="1"/>
          <p:nvPr/>
        </p:nvSpPr>
        <p:spPr>
          <a:xfrm>
            <a:off x="3415006" y="5186065"/>
            <a:ext cx="3747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[Negation Law]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2B6E83-2A59-EBED-D341-64AA430015A6}"/>
              </a:ext>
            </a:extLst>
          </p:cNvPr>
          <p:cNvSpPr txBox="1"/>
          <p:nvPr/>
        </p:nvSpPr>
        <p:spPr>
          <a:xfrm>
            <a:off x="1023257" y="5689673"/>
            <a:ext cx="1948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≡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endParaRPr lang="en-US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3C5B8A-04C6-C274-A65F-DF1EE8733D44}"/>
              </a:ext>
            </a:extLst>
          </p:cNvPr>
          <p:cNvSpPr txBox="1"/>
          <p:nvPr/>
        </p:nvSpPr>
        <p:spPr>
          <a:xfrm>
            <a:off x="2895600" y="5704822"/>
            <a:ext cx="3747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[Identity Law]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997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5" grpId="0"/>
      <p:bldP spid="13" grpId="0"/>
      <p:bldP spid="4" grpId="0"/>
      <p:bldP spid="7" grpId="0"/>
      <p:bldP spid="8" grpId="0"/>
      <p:bldP spid="9" grpId="0"/>
      <p:bldP spid="10" grpId="0"/>
      <p:bldP spid="11" grpId="0"/>
      <p:bldP spid="12" grpId="0"/>
      <p:bldP spid="24" grpId="0"/>
      <p:bldP spid="25" grpId="0"/>
      <p:bldP spid="2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600200"/>
          </a:xfrm>
        </p:spPr>
        <p:txBody>
          <a:bodyPr/>
          <a:lstStyle/>
          <a:p>
            <a:r>
              <a:rPr lang="en-US" sz="5000" dirty="0"/>
              <a:t>PRACTICE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35900D-F403-4FC6-48CC-5D61205A136F}"/>
              </a:ext>
            </a:extLst>
          </p:cNvPr>
          <p:cNvSpPr txBox="1"/>
          <p:nvPr/>
        </p:nvSpPr>
        <p:spPr>
          <a:xfrm>
            <a:off x="457200" y="1671934"/>
            <a:ext cx="769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400" dirty="0">
                <a:solidFill>
                  <a:schemeClr val="dk1"/>
                </a:solidFill>
              </a:rPr>
              <a:t> → 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tautology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BDDF23-6E29-D0C6-CBB6-3FEC9AE5750A}"/>
              </a:ext>
            </a:extLst>
          </p:cNvPr>
          <p:cNvSpPr txBox="1"/>
          <p:nvPr/>
        </p:nvSpPr>
        <p:spPr>
          <a:xfrm>
            <a:off x="990600" y="2286000"/>
            <a:ext cx="4550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400" dirty="0">
                <a:solidFill>
                  <a:schemeClr val="dk1"/>
                </a:solidFill>
              </a:rPr>
              <a:t> → 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0C762F-DA47-A7D3-709E-81401147F117}"/>
              </a:ext>
            </a:extLst>
          </p:cNvPr>
          <p:cNvSpPr txBox="1"/>
          <p:nvPr/>
        </p:nvSpPr>
        <p:spPr>
          <a:xfrm>
            <a:off x="990600" y="2764573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≡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q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103F53-8EDE-8629-1445-2AD3953B9262}"/>
              </a:ext>
            </a:extLst>
          </p:cNvPr>
          <p:cNvSpPr txBox="1"/>
          <p:nvPr/>
        </p:nvSpPr>
        <p:spPr>
          <a:xfrm>
            <a:off x="3747796" y="2764573"/>
            <a:ext cx="5167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[Conditional Disjunction Equivalence]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2AA25E-D92F-FF8F-B2E4-E53BB2879639}"/>
              </a:ext>
            </a:extLst>
          </p:cNvPr>
          <p:cNvSpPr txBox="1"/>
          <p:nvPr/>
        </p:nvSpPr>
        <p:spPr>
          <a:xfrm>
            <a:off x="996820" y="3361492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≡ (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ko-KR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q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F612F2-7723-8E88-984B-BE0D42F2D29C}"/>
              </a:ext>
            </a:extLst>
          </p:cNvPr>
          <p:cNvSpPr txBox="1"/>
          <p:nvPr/>
        </p:nvSpPr>
        <p:spPr>
          <a:xfrm>
            <a:off x="4305300" y="3354633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[De Morgan’s Law]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29A379-30D0-864A-9CA8-E0F07DF1FC6F}"/>
              </a:ext>
            </a:extLst>
          </p:cNvPr>
          <p:cNvSpPr txBox="1"/>
          <p:nvPr/>
        </p:nvSpPr>
        <p:spPr>
          <a:xfrm>
            <a:off x="1004596" y="3961600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≡ (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ko-KR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q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7206AF-255E-62CE-74EE-E93008EAA5D6}"/>
              </a:ext>
            </a:extLst>
          </p:cNvPr>
          <p:cNvSpPr txBox="1"/>
          <p:nvPr/>
        </p:nvSpPr>
        <p:spPr>
          <a:xfrm>
            <a:off x="4038600" y="3965031"/>
            <a:ext cx="487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[Associative and Commutative Law]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9AFF4F-5C40-232B-E076-FC5EEF853FEE}"/>
              </a:ext>
            </a:extLst>
          </p:cNvPr>
          <p:cNvSpPr txBox="1"/>
          <p:nvPr/>
        </p:nvSpPr>
        <p:spPr>
          <a:xfrm>
            <a:off x="1023257" y="4575667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≡ T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36C1BA-213D-78EE-A39E-8B60B89853E2}"/>
              </a:ext>
            </a:extLst>
          </p:cNvPr>
          <p:cNvSpPr txBox="1"/>
          <p:nvPr/>
        </p:nvSpPr>
        <p:spPr>
          <a:xfrm>
            <a:off x="2164703" y="4568567"/>
            <a:ext cx="3747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[Negation Law]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603C8F-4770-2A6F-8E53-5C0A65047DEB}"/>
              </a:ext>
            </a:extLst>
          </p:cNvPr>
          <p:cNvSpPr txBox="1"/>
          <p:nvPr/>
        </p:nvSpPr>
        <p:spPr>
          <a:xfrm>
            <a:off x="1023257" y="5186066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≡ T</a:t>
            </a:r>
            <a:endParaRPr lang="en-US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8D0435-0BF7-84F7-E8EE-A69BA6C16DF7}"/>
              </a:ext>
            </a:extLst>
          </p:cNvPr>
          <p:cNvSpPr txBox="1"/>
          <p:nvPr/>
        </p:nvSpPr>
        <p:spPr>
          <a:xfrm>
            <a:off x="1676400" y="5150500"/>
            <a:ext cx="43573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[Domination Law/Identity Law]</a:t>
            </a:r>
            <a:endParaRPr lang="en-US" sz="24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365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5" grpId="0"/>
      <p:bldP spid="13" grpId="0"/>
      <p:bldP spid="4" grpId="0"/>
      <p:bldP spid="7" grpId="0"/>
      <p:bldP spid="8" grpId="0"/>
      <p:bldP spid="9" grpId="0"/>
      <p:bldP spid="10" grpId="0"/>
      <p:bldP spid="11" grpId="0"/>
      <p:bldP spid="12" grpId="0"/>
      <p:bldP spid="24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PREDICATES and QUANTIFIERS</a:t>
            </a:r>
          </a:p>
        </p:txBody>
      </p:sp>
    </p:spTree>
    <p:extLst>
      <p:ext uri="{BB962C8B-B14F-4D97-AF65-F5344CB8AC3E}">
        <p14:creationId xmlns:p14="http://schemas.microsoft.com/office/powerpoint/2010/main" val="308304325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B2A57E-59EE-F412-9858-5E86B5F5BBE8}"/>
              </a:ext>
            </a:extLst>
          </p:cNvPr>
          <p:cNvSpPr txBox="1"/>
          <p:nvPr/>
        </p:nvSpPr>
        <p:spPr>
          <a:xfrm>
            <a:off x="457200" y="1676400"/>
            <a:ext cx="74478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Consider that there are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number of students S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S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S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… S</a:t>
            </a:r>
            <a:r>
              <a:rPr lang="en-US" sz="2200" b="1" i="1" baseline="-25000" dirty="0">
                <a:latin typeface="Times New Roman" pitchFamily="18" charset="0"/>
                <a:cs typeface="Times New Roman" pitchFamily="18" charset="0"/>
              </a:rPr>
              <a:t>n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45085B-D61D-C93C-7C09-BB738A19C4FB}"/>
              </a:ext>
            </a:extLst>
          </p:cNvPr>
          <p:cNvSpPr txBox="1"/>
          <p:nvPr/>
        </p:nvSpPr>
        <p:spPr>
          <a:xfrm>
            <a:off x="457200" y="2107287"/>
            <a:ext cx="305885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be a proposition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C2B5CB-B085-6801-4299-30B72B0D18AF}"/>
              </a:ext>
            </a:extLst>
          </p:cNvPr>
          <p:cNvSpPr txBox="1"/>
          <p:nvPr/>
        </p:nvSpPr>
        <p:spPr>
          <a:xfrm>
            <a:off x="914400" y="2513292"/>
            <a:ext cx="620278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All the students in the class know programming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95BF45-0CBF-1237-64C6-6BB962B65E3C}"/>
              </a:ext>
            </a:extLst>
          </p:cNvPr>
          <p:cNvSpPr txBox="1"/>
          <p:nvPr/>
        </p:nvSpPr>
        <p:spPr>
          <a:xfrm>
            <a:off x="457200" y="2979869"/>
            <a:ext cx="73859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How to determine the truth value of the statement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?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362DDE-9E17-27C5-8747-A28499BF0911}"/>
              </a:ext>
            </a:extLst>
          </p:cNvPr>
          <p:cNvSpPr txBox="1"/>
          <p:nvPr/>
        </p:nvSpPr>
        <p:spPr>
          <a:xfrm>
            <a:off x="457200" y="3410756"/>
            <a:ext cx="830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One way is to denote individual proposition for individual student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EF711D-5AAC-3602-2035-45BEC329306B}"/>
              </a:ext>
            </a:extLst>
          </p:cNvPr>
          <p:cNvSpPr txBox="1"/>
          <p:nvPr/>
        </p:nvSpPr>
        <p:spPr>
          <a:xfrm>
            <a:off x="457200" y="3852451"/>
            <a:ext cx="830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b="1" i="1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200" b="1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200" baseline="30000" dirty="0" err="1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student knows programming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530FE4-BCF3-116C-BDF7-F8B0D1929CB4}"/>
              </a:ext>
            </a:extLst>
          </p:cNvPr>
          <p:cNvSpPr txBox="1"/>
          <p:nvPr/>
        </p:nvSpPr>
        <p:spPr>
          <a:xfrm>
            <a:off x="914400" y="4294146"/>
            <a:ext cx="367440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b="1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S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knows programming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560E64-A05A-C8D5-6AFF-B2C6DD1E1047}"/>
              </a:ext>
            </a:extLst>
          </p:cNvPr>
          <p:cNvSpPr txBox="1"/>
          <p:nvPr/>
        </p:nvSpPr>
        <p:spPr>
          <a:xfrm>
            <a:off x="4800600" y="4294146"/>
            <a:ext cx="35814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b="1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S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knows programming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0A0FDE-0390-9546-8191-9784CDCCBE60}"/>
              </a:ext>
            </a:extLst>
          </p:cNvPr>
          <p:cNvSpPr txBox="1"/>
          <p:nvPr/>
        </p:nvSpPr>
        <p:spPr>
          <a:xfrm>
            <a:off x="909735" y="4781048"/>
            <a:ext cx="367440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i="1" dirty="0" err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b="1" i="1" baseline="-25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S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knows programming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85CCE8-BF17-55E7-F046-295F6A04C755}"/>
              </a:ext>
            </a:extLst>
          </p:cNvPr>
          <p:cNvSpPr txBox="1"/>
          <p:nvPr/>
        </p:nvSpPr>
        <p:spPr>
          <a:xfrm>
            <a:off x="457200" y="5210906"/>
            <a:ext cx="830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So,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b="1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  p</a:t>
            </a:r>
            <a:r>
              <a:rPr lang="en-US" sz="2200" b="1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  p</a:t>
            </a:r>
            <a:r>
              <a:rPr lang="en-US" sz="2200" b="1" i="1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 …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200" b="1" i="1" dirty="0" err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b="1" i="1" baseline="-25000" dirty="0" err="1">
                <a:latin typeface="Times New Roman" pitchFamily="18" charset="0"/>
                <a:cs typeface="Times New Roman" pitchFamily="18" charset="0"/>
              </a:rPr>
              <a:t>n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749C06-62BE-07B7-20C4-7A567667C041}"/>
              </a:ext>
            </a:extLst>
          </p:cNvPr>
          <p:cNvSpPr txBox="1"/>
          <p:nvPr/>
        </p:nvSpPr>
        <p:spPr>
          <a:xfrm>
            <a:off x="461865" y="5668090"/>
            <a:ext cx="830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But this is a redundant expression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021CAA-834B-59EC-C2EF-DDBC07C947FF}"/>
              </a:ext>
            </a:extLst>
          </p:cNvPr>
          <p:cNvSpPr txBox="1"/>
          <p:nvPr/>
        </p:nvSpPr>
        <p:spPr>
          <a:xfrm>
            <a:off x="457200" y="6120593"/>
            <a:ext cx="8458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better approach is to use variable based statements (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Predicate logic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D6416D9-CE86-5DA3-7FA8-6733486D2F5B}"/>
              </a:ext>
            </a:extLst>
          </p:cNvPr>
          <p:cNvSpPr/>
          <p:nvPr/>
        </p:nvSpPr>
        <p:spPr>
          <a:xfrm>
            <a:off x="483161" y="795668"/>
            <a:ext cx="3860239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2EC53218-7203-63B2-F073-560C3319F91C}"/>
              </a:ext>
            </a:extLst>
          </p:cNvPr>
          <p:cNvSpPr/>
          <p:nvPr/>
        </p:nvSpPr>
        <p:spPr>
          <a:xfrm>
            <a:off x="7905073" y="685800"/>
            <a:ext cx="400727" cy="304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61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2" grpId="0"/>
      <p:bldP spid="11" grpId="0"/>
      <p:bldP spid="12" grpId="0"/>
      <p:bldP spid="13" grpId="0"/>
      <p:bldP spid="14" grpId="0"/>
      <p:bldP spid="16" grpId="0"/>
      <p:bldP spid="17" grpId="0"/>
      <p:bldP spid="18" grpId="0"/>
      <p:bldP spid="19" grpId="0"/>
      <p:bldP spid="20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PREDICATE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B2A57E-59EE-F412-9858-5E86B5F5BBE8}"/>
              </a:ext>
            </a:extLst>
          </p:cNvPr>
          <p:cNvSpPr txBox="1"/>
          <p:nvPr/>
        </p:nvSpPr>
        <p:spPr>
          <a:xfrm>
            <a:off x="3968309" y="1523999"/>
            <a:ext cx="285847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p: 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greater than 9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45085B-D61D-C93C-7C09-BB738A19C4FB}"/>
              </a:ext>
            </a:extLst>
          </p:cNvPr>
          <p:cNvSpPr txBox="1"/>
          <p:nvPr/>
        </p:nvSpPr>
        <p:spPr>
          <a:xfrm>
            <a:off x="457200" y="1524000"/>
            <a:ext cx="313579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Consider the statement: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4D506B-EAF0-E333-E578-E03D01076F97}"/>
              </a:ext>
            </a:extLst>
          </p:cNvPr>
          <p:cNvSpPr txBox="1"/>
          <p:nvPr/>
        </p:nvSpPr>
        <p:spPr>
          <a:xfrm>
            <a:off x="457200" y="1981322"/>
            <a:ext cx="521328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statement is neither true, neither false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4D7932-DE48-CFD6-CA33-8319C3FF9F7A}"/>
              </a:ext>
            </a:extLst>
          </p:cNvPr>
          <p:cNvSpPr txBox="1"/>
          <p:nvPr/>
        </p:nvSpPr>
        <p:spPr>
          <a:xfrm>
            <a:off x="457200" y="2464590"/>
            <a:ext cx="73645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As a result, the statement can not be claimed as a proposition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720132-54F6-28EC-C4CB-789736BED88B}"/>
              </a:ext>
            </a:extLst>
          </p:cNvPr>
          <p:cNvSpPr txBox="1"/>
          <p:nvPr/>
        </p:nvSpPr>
        <p:spPr>
          <a:xfrm>
            <a:off x="457200" y="2947858"/>
            <a:ext cx="78406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But specifying a value of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turns the statement into a proposition</a:t>
            </a:r>
            <a:endParaRPr lang="en-US" sz="3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E7870D-C45F-27BD-AD09-AD970F037BFC}"/>
              </a:ext>
            </a:extLst>
          </p:cNvPr>
          <p:cNvSpPr txBox="1"/>
          <p:nvPr/>
        </p:nvSpPr>
        <p:spPr>
          <a:xfrm>
            <a:off x="804627" y="3457562"/>
            <a:ext cx="596349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Let,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 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3 turns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in to a proposition that is false</a:t>
            </a:r>
            <a:endParaRPr lang="en-US" sz="3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3AFEF7-3006-2441-B4C6-199E8C22900D}"/>
              </a:ext>
            </a:extLst>
          </p:cNvPr>
          <p:cNvSpPr txBox="1"/>
          <p:nvPr/>
        </p:nvSpPr>
        <p:spPr>
          <a:xfrm>
            <a:off x="457200" y="3894381"/>
            <a:ext cx="823308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This type of variable based sentences are handled in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predicate logic</a:t>
            </a:r>
            <a:endParaRPr lang="en-US" sz="3200" b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AC95A4-33DF-4C6D-F8B1-F6B4AF38F93C}"/>
              </a:ext>
            </a:extLst>
          </p:cNvPr>
          <p:cNvSpPr txBox="1"/>
          <p:nvPr/>
        </p:nvSpPr>
        <p:spPr>
          <a:xfrm>
            <a:off x="1794105" y="4404085"/>
            <a:ext cx="28568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subject/ variable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FC17ED-F286-F4D3-32F0-4AEBE4A6A111}"/>
              </a:ext>
            </a:extLst>
          </p:cNvPr>
          <p:cNvSpPr txBox="1"/>
          <p:nvPr/>
        </p:nvSpPr>
        <p:spPr>
          <a:xfrm>
            <a:off x="4733474" y="4404085"/>
            <a:ext cx="395332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“is greater than 9” is predicate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C229E73-A363-ECCE-4616-7285657A753C}"/>
              </a:ext>
            </a:extLst>
          </p:cNvPr>
          <p:cNvSpPr txBox="1"/>
          <p:nvPr/>
        </p:nvSpPr>
        <p:spPr>
          <a:xfrm>
            <a:off x="457200" y="4404085"/>
            <a:ext cx="1072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3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A30834-6C71-F073-DC6B-0BC767698D1B}"/>
              </a:ext>
            </a:extLst>
          </p:cNvPr>
          <p:cNvSpPr txBox="1"/>
          <p:nvPr/>
        </p:nvSpPr>
        <p:spPr>
          <a:xfrm>
            <a:off x="457200" y="4913789"/>
            <a:ext cx="777379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Variable based statements are written as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propositional function</a:t>
            </a:r>
            <a:endParaRPr lang="en-US" sz="3200" b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00F994-D5C8-E6B0-C1A5-E12A87B2A20D}"/>
              </a:ext>
            </a:extLst>
          </p:cNvPr>
          <p:cNvSpPr txBox="1"/>
          <p:nvPr/>
        </p:nvSpPr>
        <p:spPr>
          <a:xfrm>
            <a:off x="875683" y="5344676"/>
            <a:ext cx="32207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P(x): 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greater than 9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2935255-870E-D88E-DEFE-7A8AF0E509C5}"/>
              </a:ext>
            </a:extLst>
          </p:cNvPr>
          <p:cNvSpPr txBox="1"/>
          <p:nvPr/>
        </p:nvSpPr>
        <p:spPr>
          <a:xfrm>
            <a:off x="457200" y="5806173"/>
            <a:ext cx="863409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Assigning value of x turns the propositional function into a proposition</a:t>
            </a:r>
            <a:endParaRPr lang="en-US" sz="3200" b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DFBB12D-847A-A7E3-ACA6-FFAECE8F91FF}"/>
              </a:ext>
            </a:extLst>
          </p:cNvPr>
          <p:cNvSpPr txBox="1"/>
          <p:nvPr/>
        </p:nvSpPr>
        <p:spPr>
          <a:xfrm>
            <a:off x="875683" y="6237060"/>
            <a:ext cx="32207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P(3): 3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greater than 9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7C610B7-B079-FADA-EA4B-27AE435DB457}"/>
              </a:ext>
            </a:extLst>
          </p:cNvPr>
          <p:cNvSpPr txBox="1"/>
          <p:nvPr/>
        </p:nvSpPr>
        <p:spPr>
          <a:xfrm>
            <a:off x="4384218" y="6237059"/>
            <a:ext cx="28440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P(3)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is a proposition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515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5" grpId="0"/>
      <p:bldP spid="15" grpId="0"/>
      <p:bldP spid="21" grpId="0"/>
      <p:bldP spid="22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B2A57E-59EE-F412-9858-5E86B5F5BBE8}"/>
              </a:ext>
            </a:extLst>
          </p:cNvPr>
          <p:cNvSpPr txBox="1"/>
          <p:nvPr/>
        </p:nvSpPr>
        <p:spPr>
          <a:xfrm>
            <a:off x="990600" y="1954887"/>
            <a:ext cx="251863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x, 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: 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+ 3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45085B-D61D-C93C-7C09-BB738A19C4FB}"/>
              </a:ext>
            </a:extLst>
          </p:cNvPr>
          <p:cNvSpPr txBox="1"/>
          <p:nvPr/>
        </p:nvSpPr>
        <p:spPr>
          <a:xfrm>
            <a:off x="457200" y="1524000"/>
            <a:ext cx="57246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Consider the following propositional function: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EB7B8C-43EC-9404-A6F8-C3963FD8B939}"/>
              </a:ext>
            </a:extLst>
          </p:cNvPr>
          <p:cNvSpPr txBox="1"/>
          <p:nvPr/>
        </p:nvSpPr>
        <p:spPr>
          <a:xfrm>
            <a:off x="457200" y="2601217"/>
            <a:ext cx="521809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Identify the truth value of 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(1, 0), 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(5, 2)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2BED8C-5F08-3F01-8093-74E40D8E1823}"/>
              </a:ext>
            </a:extLst>
          </p:cNvPr>
          <p:cNvSpPr txBox="1"/>
          <p:nvPr/>
        </p:nvSpPr>
        <p:spPr>
          <a:xfrm>
            <a:off x="990600" y="3061403"/>
            <a:ext cx="255390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(1, 0): 1 = 0 + 3</a:t>
            </a:r>
            <a:endParaRPr lang="en-US" sz="3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FDAA26-5D8D-698A-59CA-ADC47F241D89}"/>
              </a:ext>
            </a:extLst>
          </p:cNvPr>
          <p:cNvSpPr txBox="1"/>
          <p:nvPr/>
        </p:nvSpPr>
        <p:spPr>
          <a:xfrm>
            <a:off x="3810000" y="3061403"/>
            <a:ext cx="11576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False</a:t>
            </a:r>
            <a:endParaRPr lang="en-US" sz="3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ACE3C6-46D4-B7CD-11AE-2D8AD49A04E6}"/>
              </a:ext>
            </a:extLst>
          </p:cNvPr>
          <p:cNvSpPr txBox="1"/>
          <p:nvPr/>
        </p:nvSpPr>
        <p:spPr>
          <a:xfrm>
            <a:off x="990600" y="3610453"/>
            <a:ext cx="251863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(5, 2): 5 = 2 + 3</a:t>
            </a:r>
            <a:endParaRPr lang="en-US" sz="3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E542CF-E084-4F41-45EB-124C742750DC}"/>
              </a:ext>
            </a:extLst>
          </p:cNvPr>
          <p:cNvSpPr txBox="1"/>
          <p:nvPr/>
        </p:nvSpPr>
        <p:spPr>
          <a:xfrm>
            <a:off x="3810000" y="3610453"/>
            <a:ext cx="10547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True</a:t>
            </a:r>
            <a:endParaRPr lang="en-US" sz="3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446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2" grpId="0"/>
      <p:bldP spid="6" grpId="0"/>
      <p:bldP spid="8" grpId="0"/>
      <p:bldP spid="9" grpId="0"/>
      <p:bldP spid="10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5" y="-235863"/>
            <a:ext cx="8229600" cy="1600200"/>
          </a:xfrm>
        </p:spPr>
        <p:txBody>
          <a:bodyPr/>
          <a:lstStyle/>
          <a:p>
            <a:r>
              <a:rPr lang="en-US" sz="3600" dirty="0"/>
              <a:t>QUANTIFIERS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B2A57E-59EE-F412-9858-5E86B5F5BBE8}"/>
              </a:ext>
            </a:extLst>
          </p:cNvPr>
          <p:cNvSpPr txBox="1"/>
          <p:nvPr/>
        </p:nvSpPr>
        <p:spPr>
          <a:xfrm>
            <a:off x="1066800" y="1954887"/>
            <a:ext cx="32207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: 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greater than 9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45085B-D61D-C93C-7C09-BB738A19C4FB}"/>
              </a:ext>
            </a:extLst>
          </p:cNvPr>
          <p:cNvSpPr txBox="1"/>
          <p:nvPr/>
        </p:nvSpPr>
        <p:spPr>
          <a:xfrm>
            <a:off x="457200" y="1524000"/>
            <a:ext cx="46650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Consider the propositional function: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4B4442-2447-67A8-CE74-6D801869C4BE}"/>
              </a:ext>
            </a:extLst>
          </p:cNvPr>
          <p:cNvSpPr txBox="1"/>
          <p:nvPr/>
        </p:nvSpPr>
        <p:spPr>
          <a:xfrm>
            <a:off x="1066800" y="2389606"/>
            <a:ext cx="47243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(13)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is a proposition and that is true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B2C02D-6E94-FC3D-E085-79F392330AB4}"/>
              </a:ext>
            </a:extLst>
          </p:cNvPr>
          <p:cNvSpPr txBox="1"/>
          <p:nvPr/>
        </p:nvSpPr>
        <p:spPr>
          <a:xfrm>
            <a:off x="446315" y="2910022"/>
            <a:ext cx="417716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But is 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True for only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13?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2C2393-7DA3-E812-EAFD-DF0867511E89}"/>
              </a:ext>
            </a:extLst>
          </p:cNvPr>
          <p:cNvSpPr txBox="1"/>
          <p:nvPr/>
        </p:nvSpPr>
        <p:spPr>
          <a:xfrm>
            <a:off x="838201" y="3291022"/>
            <a:ext cx="9380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</a:t>
            </a:r>
            <a:endParaRPr lang="en-US" sz="3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2F8CEE-BF4A-1411-C2F4-52DBD8D404D7}"/>
              </a:ext>
            </a:extLst>
          </p:cNvPr>
          <p:cNvSpPr txBox="1"/>
          <p:nvPr/>
        </p:nvSpPr>
        <p:spPr>
          <a:xfrm>
            <a:off x="446315" y="3732534"/>
            <a:ext cx="832651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is True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all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values of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over a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domain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D = {10, 11, 12, …, ∞}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8CE6CF-0434-CFE1-E34A-7F5D619554FB}"/>
              </a:ext>
            </a:extLst>
          </p:cNvPr>
          <p:cNvSpPr txBox="1"/>
          <p:nvPr/>
        </p:nvSpPr>
        <p:spPr>
          <a:xfrm>
            <a:off x="446315" y="4249836"/>
            <a:ext cx="503375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all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”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quantified the predicate over D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4D3864-6D84-C1FC-7050-DF6FEAEF5C4C}"/>
              </a:ext>
            </a:extLst>
          </p:cNvPr>
          <p:cNvSpPr txBox="1"/>
          <p:nvPr/>
        </p:nvSpPr>
        <p:spPr>
          <a:xfrm>
            <a:off x="446315" y="4717261"/>
            <a:ext cx="832080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English,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 in quantifications</a:t>
            </a:r>
            <a:endParaRPr lang="en-US" sz="2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564C01-1511-F31C-C125-69446F535925}"/>
              </a:ext>
            </a:extLst>
          </p:cNvPr>
          <p:cNvSpPr txBox="1"/>
          <p:nvPr/>
        </p:nvSpPr>
        <p:spPr>
          <a:xfrm>
            <a:off x="446315" y="5234563"/>
            <a:ext cx="64235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another domain is defined D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{5, 20, 6, 9, 12}</a:t>
            </a:r>
            <a:endParaRPr lang="en-US" sz="2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5D116D-684D-20ED-AD6B-5C071D940543}"/>
              </a:ext>
            </a:extLst>
          </p:cNvPr>
          <p:cNvSpPr txBox="1"/>
          <p:nvPr/>
        </p:nvSpPr>
        <p:spPr>
          <a:xfrm>
            <a:off x="457200" y="5715000"/>
            <a:ext cx="43829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Quantify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over the domain D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endParaRPr lang="en-US" sz="2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FCDA9B-F93C-0141-5831-DE2D21CBB022}"/>
              </a:ext>
            </a:extLst>
          </p:cNvPr>
          <p:cNvSpPr txBox="1"/>
          <p:nvPr/>
        </p:nvSpPr>
        <p:spPr>
          <a:xfrm>
            <a:off x="838201" y="6149719"/>
            <a:ext cx="53425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True for some values of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 D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130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2" grpId="0"/>
      <p:bldP spid="6" grpId="0"/>
      <p:bldP spid="8" grpId="0"/>
      <p:bldP spid="9" grpId="0"/>
      <p:bldP spid="10" grpId="0"/>
      <p:bldP spid="12" grpId="0"/>
      <p:bldP spid="14" grpId="0"/>
      <p:bldP spid="16" grpId="0"/>
      <p:bldP spid="17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TYPES OF QUANTIFIERS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45085B-D61D-C93C-7C09-BB738A19C4FB}"/>
              </a:ext>
            </a:extLst>
          </p:cNvPr>
          <p:cNvSpPr txBox="1"/>
          <p:nvPr/>
        </p:nvSpPr>
        <p:spPr>
          <a:xfrm>
            <a:off x="457200" y="1600200"/>
            <a:ext cx="331052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Universal Quantifier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75373E-C4CA-8424-BA43-9FE7F606EBFC}"/>
              </a:ext>
            </a:extLst>
          </p:cNvPr>
          <p:cNvSpPr txBox="1"/>
          <p:nvPr/>
        </p:nvSpPr>
        <p:spPr>
          <a:xfrm>
            <a:off x="457200" y="2083837"/>
            <a:ext cx="34211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Existential Quantifier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38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THE UNIVERSAL QUANTIFIERS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45085B-D61D-C93C-7C09-BB738A19C4FB}"/>
              </a:ext>
            </a:extLst>
          </p:cNvPr>
          <p:cNvSpPr txBox="1"/>
          <p:nvPr/>
        </p:nvSpPr>
        <p:spPr>
          <a:xfrm>
            <a:off x="457201" y="1600200"/>
            <a:ext cx="8229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Mathematical statements that involves a property that is true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for all values of a variable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in a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particular domain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are expressed as universal quantifiers. 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9486D2-CB26-3E1F-597B-EE532E798254}"/>
              </a:ext>
            </a:extLst>
          </p:cNvPr>
          <p:cNvSpPr txBox="1"/>
          <p:nvPr/>
        </p:nvSpPr>
        <p:spPr>
          <a:xfrm>
            <a:off x="455645" y="2792712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Let, 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be a statement/ propositional function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940661-F5A6-DEDD-5414-7A7E217B336B}"/>
              </a:ext>
            </a:extLst>
          </p:cNvPr>
          <p:cNvSpPr txBox="1"/>
          <p:nvPr/>
        </p:nvSpPr>
        <p:spPr>
          <a:xfrm>
            <a:off x="457200" y="326038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Write down the statement of universal quantification of 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65141E-F04A-7666-6EBA-3A7AD81ED0C8}"/>
              </a:ext>
            </a:extLst>
          </p:cNvPr>
          <p:cNvSpPr txBox="1"/>
          <p:nvPr/>
        </p:nvSpPr>
        <p:spPr>
          <a:xfrm>
            <a:off x="914400" y="3716272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is true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for all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values of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in the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domain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223CEA-E2C9-0F63-910B-C73A64382040}"/>
              </a:ext>
            </a:extLst>
          </p:cNvPr>
          <p:cNvSpPr txBox="1"/>
          <p:nvPr/>
        </p:nvSpPr>
        <p:spPr>
          <a:xfrm>
            <a:off x="457200" y="4231675"/>
            <a:ext cx="4648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Notation of universal quantifier: 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F2A4A4-9B8E-9C98-483B-8E950DA04310}"/>
              </a:ext>
            </a:extLst>
          </p:cNvPr>
          <p:cNvSpPr txBox="1"/>
          <p:nvPr/>
        </p:nvSpPr>
        <p:spPr>
          <a:xfrm>
            <a:off x="455645" y="4705683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Write down the universal quantification of 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with notation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92C9FE-28EB-8397-EDC7-6886558663C8}"/>
              </a:ext>
            </a:extLst>
          </p:cNvPr>
          <p:cNvSpPr txBox="1"/>
          <p:nvPr/>
        </p:nvSpPr>
        <p:spPr>
          <a:xfrm>
            <a:off x="914400" y="5158656"/>
            <a:ext cx="77708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82D62C-14D4-A7E7-F068-F1B46D744A12}"/>
              </a:ext>
            </a:extLst>
          </p:cNvPr>
          <p:cNvSpPr txBox="1"/>
          <p:nvPr/>
        </p:nvSpPr>
        <p:spPr>
          <a:xfrm>
            <a:off x="455645" y="5611629"/>
            <a:ext cx="31257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English terminologies: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BD5D60-6336-A7D1-CF14-8C7DBC119416}"/>
              </a:ext>
            </a:extLst>
          </p:cNvPr>
          <p:cNvSpPr txBox="1"/>
          <p:nvPr/>
        </p:nvSpPr>
        <p:spPr>
          <a:xfrm>
            <a:off x="3618722" y="5611629"/>
            <a:ext cx="13342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for all</a:t>
            </a:r>
            <a:endParaRPr lang="en-US" sz="3200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346A29-2F73-A67D-8A1F-69A9DF319849}"/>
              </a:ext>
            </a:extLst>
          </p:cNvPr>
          <p:cNvSpPr txBox="1"/>
          <p:nvPr/>
        </p:nvSpPr>
        <p:spPr>
          <a:xfrm>
            <a:off x="5410200" y="5611628"/>
            <a:ext cx="1752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for every</a:t>
            </a:r>
            <a:endParaRPr lang="en-US" sz="3200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123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  <p:bldP spid="5" grpId="0"/>
      <p:bldP spid="6" grpId="0"/>
      <p:bldP spid="8" grpId="0"/>
      <p:bldP spid="9" grpId="0"/>
      <p:bldP spid="2" grpId="0"/>
      <p:bldP spid="10" grpId="0"/>
      <p:bldP spid="11" grpId="0"/>
      <p:bldP spid="1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EXAMPLE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45085B-D61D-C93C-7C09-BB738A19C4FB}"/>
              </a:ext>
            </a:extLst>
          </p:cNvPr>
          <p:cNvSpPr txBox="1"/>
          <p:nvPr/>
        </p:nvSpPr>
        <p:spPr>
          <a:xfrm>
            <a:off x="457201" y="16002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 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be the statement “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&lt; 2.”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0B3B38-45FD-EA7A-A21B-06C2624660AC}"/>
              </a:ext>
            </a:extLst>
          </p:cNvPr>
          <p:cNvSpPr txBox="1"/>
          <p:nvPr/>
        </p:nvSpPr>
        <p:spPr>
          <a:xfrm>
            <a:off x="838200" y="2099636"/>
            <a:ext cx="7848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Find the truth value of the quantification: 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35EE40-6590-D273-CEDB-32CE08306E22}"/>
              </a:ext>
            </a:extLst>
          </p:cNvPr>
          <p:cNvSpPr txBox="1"/>
          <p:nvPr/>
        </p:nvSpPr>
        <p:spPr>
          <a:xfrm>
            <a:off x="838200" y="2538051"/>
            <a:ext cx="7848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domain of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(all real values)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2954F8-3281-B58D-AB8B-50CB935C928C}"/>
              </a:ext>
            </a:extLst>
          </p:cNvPr>
          <p:cNvSpPr txBox="1"/>
          <p:nvPr/>
        </p:nvSpPr>
        <p:spPr>
          <a:xfrm>
            <a:off x="457200" y="32004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This statement is false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24B149-BAB7-B15C-80D3-06E70C942C2C}"/>
              </a:ext>
            </a:extLst>
          </p:cNvPr>
          <p:cNvSpPr txBox="1"/>
          <p:nvPr/>
        </p:nvSpPr>
        <p:spPr>
          <a:xfrm>
            <a:off x="457200" y="36576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Because “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&lt; 2” is not true for all real values of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7B22A1-A489-DFB7-52D9-B38E4123D204}"/>
              </a:ext>
            </a:extLst>
          </p:cNvPr>
          <p:cNvSpPr txBox="1"/>
          <p:nvPr/>
        </p:nvSpPr>
        <p:spPr>
          <a:xfrm>
            <a:off x="454090" y="4138251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It is enough to prove that, if there exists a single value of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from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that does not satisfy 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), then the statement will be false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56C261-A3BA-04F5-2A6E-12FA52DF877F}"/>
              </a:ext>
            </a:extLst>
          </p:cNvPr>
          <p:cNvSpPr txBox="1"/>
          <p:nvPr/>
        </p:nvSpPr>
        <p:spPr>
          <a:xfrm>
            <a:off x="454090" y="4907692"/>
            <a:ext cx="41941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Q(3) be the proposition: 3 &lt; 2 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56C0A8-4093-E70E-996A-0BFC9F2D746B}"/>
              </a:ext>
            </a:extLst>
          </p:cNvPr>
          <p:cNvSpPr txBox="1"/>
          <p:nvPr/>
        </p:nvSpPr>
        <p:spPr>
          <a:xfrm>
            <a:off x="4410270" y="4914037"/>
            <a:ext cx="41941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statement is false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48288D-2642-40F5-670D-0AE699C7268C}"/>
              </a:ext>
            </a:extLst>
          </p:cNvPr>
          <p:cNvSpPr txBox="1"/>
          <p:nvPr/>
        </p:nvSpPr>
        <p:spPr>
          <a:xfrm>
            <a:off x="454090" y="54102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Clearly 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is not true for all values of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in the described domain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370847-90B6-4C06-CB12-C2BC0BBA145A}"/>
              </a:ext>
            </a:extLst>
          </p:cNvPr>
          <p:cNvSpPr txBox="1"/>
          <p:nvPr/>
        </p:nvSpPr>
        <p:spPr>
          <a:xfrm>
            <a:off x="454090" y="5890851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It implies 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 a false statement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057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EXAMPLE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45085B-D61D-C93C-7C09-BB738A19C4FB}"/>
              </a:ext>
            </a:extLst>
          </p:cNvPr>
          <p:cNvSpPr txBox="1"/>
          <p:nvPr/>
        </p:nvSpPr>
        <p:spPr>
          <a:xfrm>
            <a:off x="457201" y="16002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 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be the statement “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&lt; 10.”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0B3B38-45FD-EA7A-A21B-06C2624660AC}"/>
              </a:ext>
            </a:extLst>
          </p:cNvPr>
          <p:cNvSpPr txBox="1"/>
          <p:nvPr/>
        </p:nvSpPr>
        <p:spPr>
          <a:xfrm>
            <a:off x="838200" y="2099636"/>
            <a:ext cx="7848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Find the truth value of the quantification: 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35EE40-6590-D273-CEDB-32CE08306E22}"/>
              </a:ext>
            </a:extLst>
          </p:cNvPr>
          <p:cNvSpPr txBox="1"/>
          <p:nvPr/>
        </p:nvSpPr>
        <p:spPr>
          <a:xfrm>
            <a:off x="838200" y="2538051"/>
            <a:ext cx="78454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domain of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consists of the positive integers not exceeding 3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2954F8-3281-B58D-AB8B-50CB935C928C}"/>
              </a:ext>
            </a:extLst>
          </p:cNvPr>
          <p:cNvSpPr txBox="1"/>
          <p:nvPr/>
        </p:nvSpPr>
        <p:spPr>
          <a:xfrm>
            <a:off x="457200" y="30480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domain can be specified as {1, 2, 3}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24B149-BAB7-B15C-80D3-06E70C942C2C}"/>
              </a:ext>
            </a:extLst>
          </p:cNvPr>
          <p:cNvSpPr txBox="1"/>
          <p:nvPr/>
        </p:nvSpPr>
        <p:spPr>
          <a:xfrm>
            <a:off x="457200" y="35052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statement is true if Q(1) is true, Q(2) is true and Q(3) is true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7B22A1-A489-DFB7-52D9-B38E4123D204}"/>
              </a:ext>
            </a:extLst>
          </p:cNvPr>
          <p:cNvSpPr txBox="1"/>
          <p:nvPr/>
        </p:nvSpPr>
        <p:spPr>
          <a:xfrm>
            <a:off x="454090" y="3985851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So, here 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can be written as: Q(1)</a:t>
            </a:r>
            <a:r>
              <a:rPr 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r>
              <a:rPr lang="en-US" sz="20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Q(2)</a:t>
            </a:r>
            <a:r>
              <a:rPr 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r>
              <a:rPr lang="en-US" sz="20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Q(3)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56C261-A3BA-04F5-2A6E-12FA52DF877F}"/>
              </a:ext>
            </a:extLst>
          </p:cNvPr>
          <p:cNvSpPr txBox="1"/>
          <p:nvPr/>
        </p:nvSpPr>
        <p:spPr>
          <a:xfrm>
            <a:off x="454090" y="4492815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Here all, Q(1), Q(2) and Q(3) are true and so 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is true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48288D-2642-40F5-670D-0AE699C7268C}"/>
              </a:ext>
            </a:extLst>
          </p:cNvPr>
          <p:cNvSpPr txBox="1"/>
          <p:nvPr/>
        </p:nvSpPr>
        <p:spPr>
          <a:xfrm>
            <a:off x="454090" y="4995323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It implies that, the universal quantifier can be written as the conjunctional form of all the values of the variables in the domain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308253-5F1A-AD3E-1D64-46579F0F34F9}"/>
              </a:ext>
            </a:extLst>
          </p:cNvPr>
          <p:cNvSpPr txBox="1"/>
          <p:nvPr/>
        </p:nvSpPr>
        <p:spPr>
          <a:xfrm>
            <a:off x="454090" y="5751607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If the domain is specified as {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…, </a:t>
            </a:r>
            <a:r>
              <a:rPr lang="en-US" sz="2200" b="1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b="1" i="1" baseline="-25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} then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64B3A1-2D4A-4B1F-EB37-157492ABA71E}"/>
              </a:ext>
            </a:extLst>
          </p:cNvPr>
          <p:cNvSpPr txBox="1"/>
          <p:nvPr/>
        </p:nvSpPr>
        <p:spPr>
          <a:xfrm>
            <a:off x="838200" y="6182494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can be written as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Q(</a:t>
            </a:r>
            <a:r>
              <a:rPr lang="fr-FR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) ^ Q(</a:t>
            </a:r>
            <a:r>
              <a:rPr lang="fr-FR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) ^ Q(</a:t>
            </a:r>
            <a:r>
              <a:rPr lang="fr-FR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) … Q(</a:t>
            </a:r>
            <a:r>
              <a:rPr lang="fr-FR" sz="2200" b="1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b="1" i="1" baseline="-25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529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4" grpId="0"/>
      <p:bldP spid="15" grpId="0"/>
      <p:bldP spid="16" grpId="0"/>
      <p:bldP spid="17" grpId="0"/>
      <p:bldP spid="18" grpId="0"/>
      <p:bldP spid="20" grpId="0"/>
      <p:bldP spid="2" grpId="0"/>
      <p:bldP spid="4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COUNTEREXAMPLE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45085B-D61D-C93C-7C09-BB738A19C4FB}"/>
              </a:ext>
            </a:extLst>
          </p:cNvPr>
          <p:cNvSpPr txBox="1"/>
          <p:nvPr/>
        </p:nvSpPr>
        <p:spPr>
          <a:xfrm>
            <a:off x="452534" y="2585083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 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be the statement “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&lt; 10.”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0B3B38-45FD-EA7A-A21B-06C2624660AC}"/>
              </a:ext>
            </a:extLst>
          </p:cNvPr>
          <p:cNvSpPr txBox="1"/>
          <p:nvPr/>
        </p:nvSpPr>
        <p:spPr>
          <a:xfrm>
            <a:off x="833533" y="3084519"/>
            <a:ext cx="7848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Find the counterexample of: 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35EE40-6590-D273-CEDB-32CE08306E22}"/>
              </a:ext>
            </a:extLst>
          </p:cNvPr>
          <p:cNvSpPr txBox="1"/>
          <p:nvPr/>
        </p:nvSpPr>
        <p:spPr>
          <a:xfrm>
            <a:off x="833533" y="3522934"/>
            <a:ext cx="78454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domain of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consists of the positive integers not exceeding 4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2954F8-3281-B58D-AB8B-50CB935C928C}"/>
              </a:ext>
            </a:extLst>
          </p:cNvPr>
          <p:cNvSpPr txBox="1"/>
          <p:nvPr/>
        </p:nvSpPr>
        <p:spPr>
          <a:xfrm>
            <a:off x="452533" y="4032883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domain can be specified as {1, 2, 3, 4}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24B149-BAB7-B15C-80D3-06E70C942C2C}"/>
              </a:ext>
            </a:extLst>
          </p:cNvPr>
          <p:cNvSpPr txBox="1"/>
          <p:nvPr/>
        </p:nvSpPr>
        <p:spPr>
          <a:xfrm>
            <a:off x="452533" y="4490083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Q(1), Q(2) and Q(3) are true, but Q(4) is false 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7B22A1-A489-DFB7-52D9-B38E4123D204}"/>
              </a:ext>
            </a:extLst>
          </p:cNvPr>
          <p:cNvSpPr txBox="1"/>
          <p:nvPr/>
        </p:nvSpPr>
        <p:spPr>
          <a:xfrm>
            <a:off x="449423" y="4970734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So, here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4 is a counterexample for 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C36487-6824-55B4-766F-92573CA060CF}"/>
              </a:ext>
            </a:extLst>
          </p:cNvPr>
          <p:cNvSpPr txBox="1"/>
          <p:nvPr/>
        </p:nvSpPr>
        <p:spPr>
          <a:xfrm>
            <a:off x="452534" y="1587043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 element in the domain for which 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is false is called a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counterexample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of 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3114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4" grpId="0"/>
      <p:bldP spid="15" grpId="0"/>
      <p:bldP spid="16" grpId="0"/>
      <p:bldP spid="17" grpId="0"/>
      <p:bldP spid="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EXAMPLE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45085B-D61D-C93C-7C09-BB738A19C4FB}"/>
              </a:ext>
            </a:extLst>
          </p:cNvPr>
          <p:cNvSpPr txBox="1"/>
          <p:nvPr/>
        </p:nvSpPr>
        <p:spPr>
          <a:xfrm>
            <a:off x="457201" y="16002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 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be the statement “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&lt; 5”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0B3B38-45FD-EA7A-A21B-06C2624660AC}"/>
              </a:ext>
            </a:extLst>
          </p:cNvPr>
          <p:cNvSpPr txBox="1"/>
          <p:nvPr/>
        </p:nvSpPr>
        <p:spPr>
          <a:xfrm>
            <a:off x="838200" y="2099636"/>
            <a:ext cx="7848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Find the truth value of the quantification: ∃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35EE40-6590-D273-CEDB-32CE08306E22}"/>
              </a:ext>
            </a:extLst>
          </p:cNvPr>
          <p:cNvSpPr txBox="1"/>
          <p:nvPr/>
        </p:nvSpPr>
        <p:spPr>
          <a:xfrm>
            <a:off x="838200" y="2538051"/>
            <a:ext cx="7848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domain of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consists of the positive integers not exceeding 3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2954F8-3281-B58D-AB8B-50CB935C928C}"/>
              </a:ext>
            </a:extLst>
          </p:cNvPr>
          <p:cNvSpPr txBox="1"/>
          <p:nvPr/>
        </p:nvSpPr>
        <p:spPr>
          <a:xfrm>
            <a:off x="457200" y="30480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domain can be specified as {1, 2, 3}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24B149-BAB7-B15C-80D3-06E70C942C2C}"/>
              </a:ext>
            </a:extLst>
          </p:cNvPr>
          <p:cNvSpPr txBox="1"/>
          <p:nvPr/>
        </p:nvSpPr>
        <p:spPr>
          <a:xfrm>
            <a:off x="457200" y="3505200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statement is true if there exists at least one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in the domain for which the statement “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&lt; 5” is true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56C261-A3BA-04F5-2A6E-12FA52DF877F}"/>
              </a:ext>
            </a:extLst>
          </p:cNvPr>
          <p:cNvSpPr txBox="1"/>
          <p:nvPr/>
        </p:nvSpPr>
        <p:spPr>
          <a:xfrm>
            <a:off x="457200" y="4300954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Clearly, the statement is true for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1 and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2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48288D-2642-40F5-670D-0AE699C7268C}"/>
              </a:ext>
            </a:extLst>
          </p:cNvPr>
          <p:cNvSpPr txBox="1"/>
          <p:nvPr/>
        </p:nvSpPr>
        <p:spPr>
          <a:xfrm>
            <a:off x="457200" y="4803462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Though the statement is false for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3 but still it is true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308253-5F1A-AD3E-1D64-46579F0F34F9}"/>
              </a:ext>
            </a:extLst>
          </p:cNvPr>
          <p:cNvSpPr txBox="1"/>
          <p:nvPr/>
        </p:nvSpPr>
        <p:spPr>
          <a:xfrm>
            <a:off x="457200" y="57912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If the domain is specified as {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…, </a:t>
            </a:r>
            <a:r>
              <a:rPr lang="en-US" sz="2200" b="1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b="1" i="1" baseline="-25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} then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64B3A1-2D4A-4B1F-EB37-157492ABA71E}"/>
              </a:ext>
            </a:extLst>
          </p:cNvPr>
          <p:cNvSpPr txBox="1"/>
          <p:nvPr/>
        </p:nvSpPr>
        <p:spPr>
          <a:xfrm>
            <a:off x="841310" y="6222087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∃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can be written as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Q(</a:t>
            </a:r>
            <a:r>
              <a:rPr lang="fr-FR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Q(</a:t>
            </a:r>
            <a:r>
              <a:rPr lang="fr-FR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Q(</a:t>
            </a:r>
            <a:r>
              <a:rPr lang="fr-FR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) … Q(</a:t>
            </a:r>
            <a:r>
              <a:rPr lang="fr-FR" sz="2200" b="1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b="1" i="1" baseline="-25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00BD94-466A-8768-FAFA-E611AA17EEDE}"/>
              </a:ext>
            </a:extLst>
          </p:cNvPr>
          <p:cNvSpPr txBox="1"/>
          <p:nvPr/>
        </p:nvSpPr>
        <p:spPr>
          <a:xfrm>
            <a:off x="460310" y="5298146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So, here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∃</a:t>
            </a:r>
            <a:r>
              <a:rPr lang="en-US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can be written as: Q(1)</a:t>
            </a:r>
            <a:r>
              <a:rPr lang="en-US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0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Q(2)</a:t>
            </a:r>
            <a:r>
              <a:rPr lang="en-US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0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Q(3)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044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4" grpId="0"/>
      <p:bldP spid="15" grpId="0"/>
      <p:bldP spid="16" grpId="0"/>
      <p:bldP spid="18" grpId="0"/>
      <p:bldP spid="20" grpId="0"/>
      <p:bldP spid="2" grpId="0"/>
      <p:bldP spid="4" grpId="0"/>
      <p:bldP spid="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UNIQUESNESS OF QUANTIFIERS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45085B-D61D-C93C-7C09-BB738A19C4FB}"/>
              </a:ext>
            </a:extLst>
          </p:cNvPr>
          <p:cNvSpPr txBox="1"/>
          <p:nvPr/>
        </p:nvSpPr>
        <p:spPr>
          <a:xfrm>
            <a:off x="457201" y="16002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Notation: ∃! or ∃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30C0A2-F50D-AEE0-8F03-D406F46A889C}"/>
              </a:ext>
            </a:extLst>
          </p:cNvPr>
          <p:cNvSpPr txBox="1"/>
          <p:nvPr/>
        </p:nvSpPr>
        <p:spPr>
          <a:xfrm>
            <a:off x="460310" y="20574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∃!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denotes: there is exactly one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such that 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3FC542-2567-7410-7B1A-228A84D58A71}"/>
              </a:ext>
            </a:extLst>
          </p:cNvPr>
          <p:cNvSpPr txBox="1"/>
          <p:nvPr/>
        </p:nvSpPr>
        <p:spPr>
          <a:xfrm>
            <a:off x="452534" y="2585083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 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be the statement “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&lt; 40.”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22ED77-BBFE-BFF3-1A20-A2906D62A7EE}"/>
              </a:ext>
            </a:extLst>
          </p:cNvPr>
          <p:cNvSpPr txBox="1"/>
          <p:nvPr/>
        </p:nvSpPr>
        <p:spPr>
          <a:xfrm>
            <a:off x="452534" y="3032952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 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be the statement “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&lt; 5.”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01F9DB-1AA0-F351-337C-75F591A7C9A2}"/>
              </a:ext>
            </a:extLst>
          </p:cNvPr>
          <p:cNvSpPr txBox="1"/>
          <p:nvPr/>
        </p:nvSpPr>
        <p:spPr>
          <a:xfrm>
            <a:off x="856861" y="3521255"/>
            <a:ext cx="7848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Find the truth value of the quantification: ∃!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and ∃!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2EC9C6-4C80-B432-F5AD-A34751E543D0}"/>
              </a:ext>
            </a:extLst>
          </p:cNvPr>
          <p:cNvSpPr txBox="1"/>
          <p:nvPr/>
        </p:nvSpPr>
        <p:spPr>
          <a:xfrm>
            <a:off x="856861" y="3959670"/>
            <a:ext cx="7848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Domain consists of the positive even integers not exceeding 10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9F7EC9-CDBC-1A6F-6D2E-610F5512CF20}"/>
              </a:ext>
            </a:extLst>
          </p:cNvPr>
          <p:cNvSpPr txBox="1"/>
          <p:nvPr/>
        </p:nvSpPr>
        <p:spPr>
          <a:xfrm>
            <a:off x="460310" y="4412452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Domain can be specified as {2, 4, 6, 8, 10}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288531-1A79-E460-284D-B6F20D040F68}"/>
              </a:ext>
            </a:extLst>
          </p:cNvPr>
          <p:cNvSpPr txBox="1"/>
          <p:nvPr/>
        </p:nvSpPr>
        <p:spPr>
          <a:xfrm>
            <a:off x="450979" y="4900755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For ∃!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): P(2), P(4), P(6) are true. So ∃!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 is false 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3B823E-F282-5BFC-B76E-C90B8AC3FBDA}"/>
              </a:ext>
            </a:extLst>
          </p:cNvPr>
          <p:cNvSpPr txBox="1"/>
          <p:nvPr/>
        </p:nvSpPr>
        <p:spPr>
          <a:xfrm>
            <a:off x="450979" y="5379559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For ∃!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): only P(2) is true. So ∃!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 is true 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944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PRECEDENCE OF QUANTIFIERS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45085B-D61D-C93C-7C09-BB738A19C4FB}"/>
              </a:ext>
            </a:extLst>
          </p:cNvPr>
          <p:cNvSpPr txBox="1"/>
          <p:nvPr/>
        </p:nvSpPr>
        <p:spPr>
          <a:xfrm>
            <a:off x="457201" y="16002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Quantifiers have the highest priority among all the logical operators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205DE8-3C8D-677F-6687-76256BF2EBDD}"/>
              </a:ext>
            </a:extLst>
          </p:cNvPr>
          <p:cNvSpPr txBox="1"/>
          <p:nvPr/>
        </p:nvSpPr>
        <p:spPr>
          <a:xfrm>
            <a:off x="457200" y="2123734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How to read the following statement?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321F27-1123-8691-6DA2-532666E3C989}"/>
              </a:ext>
            </a:extLst>
          </p:cNvPr>
          <p:cNvSpPr txBox="1"/>
          <p:nvPr/>
        </p:nvSpPr>
        <p:spPr>
          <a:xfrm>
            <a:off x="1066800" y="2625494"/>
            <a:ext cx="7848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0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9F4874-B835-8B32-D4C2-C0B2E6AC3A4C}"/>
              </a:ext>
            </a:extLst>
          </p:cNvPr>
          <p:cNvSpPr txBox="1"/>
          <p:nvPr/>
        </p:nvSpPr>
        <p:spPr>
          <a:xfrm>
            <a:off x="457200" y="3213556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statement states the disjunction of and 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21E11A-D888-68A6-9C5E-3F3C93403463}"/>
              </a:ext>
            </a:extLst>
          </p:cNvPr>
          <p:cNvSpPr txBox="1"/>
          <p:nvPr/>
        </p:nvSpPr>
        <p:spPr>
          <a:xfrm>
            <a:off x="457200" y="3749693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For better understanding, the statement can be parenthesized as: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4C9A85-E32E-5E51-858B-AAA5DD90A763}"/>
              </a:ext>
            </a:extLst>
          </p:cNvPr>
          <p:cNvSpPr txBox="1"/>
          <p:nvPr/>
        </p:nvSpPr>
        <p:spPr>
          <a:xfrm>
            <a:off x="1066800" y="4303378"/>
            <a:ext cx="7848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))</a:t>
            </a:r>
            <a:r>
              <a:rPr lang="en-US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0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E2D478-455B-3A14-57D0-8635279C3DA7}"/>
              </a:ext>
            </a:extLst>
          </p:cNvPr>
          <p:cNvSpPr txBox="1"/>
          <p:nvPr/>
        </p:nvSpPr>
        <p:spPr>
          <a:xfrm>
            <a:off x="457200" y="4945618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task of quantifier to be completed first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80270A-332F-CB1D-C680-05AAB33BDC4E}"/>
              </a:ext>
            </a:extLst>
          </p:cNvPr>
          <p:cNvSpPr txBox="1"/>
          <p:nvPr/>
        </p:nvSpPr>
        <p:spPr>
          <a:xfrm>
            <a:off x="457200" y="5412649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task of disjunction to be completed next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122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5" grpId="0"/>
      <p:bldP spid="6" grpId="0"/>
      <p:bldP spid="8" grpId="0"/>
      <p:bldP spid="9" grpId="0"/>
      <p:bldP spid="10" grpId="0"/>
      <p:bldP spid="1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EQUIVALENCE OF QUANTIFIERS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45085B-D61D-C93C-7C09-BB738A19C4FB}"/>
              </a:ext>
            </a:extLst>
          </p:cNvPr>
          <p:cNvSpPr txBox="1"/>
          <p:nvPr/>
        </p:nvSpPr>
        <p:spPr>
          <a:xfrm>
            <a:off x="457200" y="15240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 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and 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be two propositional functions</a:t>
            </a:r>
            <a:endParaRPr lang="en-US" sz="2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318620-7D39-15D9-4D9D-83D3F422F2CF}"/>
              </a:ext>
            </a:extLst>
          </p:cNvPr>
          <p:cNvSpPr txBox="1"/>
          <p:nvPr/>
        </p:nvSpPr>
        <p:spPr>
          <a:xfrm>
            <a:off x="903514" y="2720493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 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r>
              <a:rPr lang="en-US" sz="20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) </a:t>
            </a:r>
            <a:r>
              <a:rPr lang="en-US" sz="2000" dirty="0"/>
              <a:t>≡ </a:t>
            </a:r>
            <a:r>
              <a:rPr lang="en-US" sz="2200" dirty="0">
                <a:latin typeface="Times New Roman" panose="02020603050405020304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2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r>
              <a:rPr lang="en-US" sz="22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200" dirty="0">
                <a:latin typeface="Times New Roman" panose="02020603050405020304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 </a:t>
            </a:r>
            <a:endParaRPr lang="en-US" sz="2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69AFDA-6257-086E-103B-86D83641CEAC}"/>
              </a:ext>
            </a:extLst>
          </p:cNvPr>
          <p:cNvSpPr txBox="1"/>
          <p:nvPr/>
        </p:nvSpPr>
        <p:spPr>
          <a:xfrm>
            <a:off x="457200" y="1906803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domain of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specified as D = {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…, </a:t>
            </a:r>
            <a:r>
              <a:rPr lang="en-US" sz="2200" b="1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b="1" i="1" baseline="-25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F4673C-2D8A-FEF7-304B-62D56898197F}"/>
              </a:ext>
            </a:extLst>
          </p:cNvPr>
          <p:cNvSpPr txBox="1"/>
          <p:nvPr/>
        </p:nvSpPr>
        <p:spPr>
          <a:xfrm>
            <a:off x="457200" y="2289606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logical equivalence of universal quantifiers denotes:</a:t>
            </a:r>
            <a:endParaRPr lang="en-US" sz="2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970F84-4BBA-32F4-BBFF-F1C5614D7AC5}"/>
              </a:ext>
            </a:extLst>
          </p:cNvPr>
          <p:cNvSpPr txBox="1"/>
          <p:nvPr/>
        </p:nvSpPr>
        <p:spPr>
          <a:xfrm>
            <a:off x="457200" y="3213556"/>
            <a:ext cx="2438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It is known that:</a:t>
            </a:r>
            <a:endParaRPr lang="en-US" sz="2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62923D-7185-C4B8-B1F4-6D4819B2261B}"/>
              </a:ext>
            </a:extLst>
          </p:cNvPr>
          <p:cNvSpPr txBox="1"/>
          <p:nvPr/>
        </p:nvSpPr>
        <p:spPr>
          <a:xfrm>
            <a:off x="3265714" y="3198166"/>
            <a:ext cx="472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dirty="0"/>
              <a:t>≡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fr-FR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) ^ P(</a:t>
            </a:r>
            <a:r>
              <a:rPr lang="fr-FR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) ^ … ^ P(</a:t>
            </a:r>
            <a:r>
              <a:rPr lang="fr-FR" sz="2200" b="1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b="1" i="1" baseline="-25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3A7B02-69CF-ECCB-3935-E709933BBFBF}"/>
              </a:ext>
            </a:extLst>
          </p:cNvPr>
          <p:cNvSpPr txBox="1"/>
          <p:nvPr/>
        </p:nvSpPr>
        <p:spPr>
          <a:xfrm>
            <a:off x="3265714" y="3659831"/>
            <a:ext cx="472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dirty="0"/>
              <a:t>≡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Q(</a:t>
            </a:r>
            <a:r>
              <a:rPr lang="fr-FR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) ^ Q(</a:t>
            </a:r>
            <a:r>
              <a:rPr lang="fr-FR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) ^…^ Q(</a:t>
            </a:r>
            <a:r>
              <a:rPr lang="fr-FR" sz="2200" b="1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b="1" i="1" baseline="-25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3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B1B685-2EED-9C0F-B548-6D9A6185D5D7}"/>
              </a:ext>
            </a:extLst>
          </p:cNvPr>
          <p:cNvSpPr txBox="1"/>
          <p:nvPr/>
        </p:nvSpPr>
        <p:spPr>
          <a:xfrm>
            <a:off x="457200" y="4194039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Now, in L.H.S let, L(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000" dirty="0"/>
              <a:t>≡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( 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r>
              <a:rPr lang="en-US" sz="20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)</a:t>
            </a:r>
            <a:endParaRPr lang="en-US" sz="2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92E918-F38A-7C7C-1D6F-7D1AAF5D65A3}"/>
              </a:ext>
            </a:extLst>
          </p:cNvPr>
          <p:cNvSpPr txBox="1"/>
          <p:nvPr/>
        </p:nvSpPr>
        <p:spPr>
          <a:xfrm>
            <a:off x="457200" y="4597209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So the L.H.S. becomes: 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itchFamily="18" charset="0"/>
              </a:rPr>
              <a:t>)</a:t>
            </a:r>
            <a:r>
              <a:rPr lang="en-US" sz="22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0AEBF0-2C9A-3A56-47CC-F2F6CA3BEDBD}"/>
              </a:ext>
            </a:extLst>
          </p:cNvPr>
          <p:cNvSpPr txBox="1"/>
          <p:nvPr/>
        </p:nvSpPr>
        <p:spPr>
          <a:xfrm>
            <a:off x="457200" y="4971008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itchFamily="18" charset="0"/>
              </a:rPr>
              <a:t>)</a:t>
            </a:r>
            <a:r>
              <a:rPr lang="en-US" sz="22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/>
              <a:t>≡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L(</a:t>
            </a:r>
            <a:r>
              <a:rPr lang="fr-FR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) ^ L(</a:t>
            </a:r>
            <a:r>
              <a:rPr lang="fr-FR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) ^ … ^ L(</a:t>
            </a:r>
            <a:r>
              <a:rPr lang="fr-FR" sz="2200" b="1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b="1" i="1" baseline="-25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427D3A-CE7A-73E9-108E-EFBE3371E288}"/>
              </a:ext>
            </a:extLst>
          </p:cNvPr>
          <p:cNvSpPr txBox="1"/>
          <p:nvPr/>
        </p:nvSpPr>
        <p:spPr>
          <a:xfrm>
            <a:off x="1752600" y="5418005"/>
            <a:ext cx="693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≡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(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fr-FR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) ^ Q(</a:t>
            </a:r>
            <a:r>
              <a:rPr lang="fr-FR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) ) ^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fr-FR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) ^ Q(</a:t>
            </a:r>
            <a:r>
              <a:rPr lang="fr-FR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) ) … ^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fr-FR" sz="2200" b="1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b="1" i="1" baseline="-25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) ^ Q(</a:t>
            </a:r>
            <a:r>
              <a:rPr lang="fr-FR" sz="2200" b="1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b="1" i="1" baseline="-25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) )</a:t>
            </a:r>
            <a:endParaRPr lang="en-US" sz="2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1E9C15-0D44-7574-FD82-45C752C3F736}"/>
              </a:ext>
            </a:extLst>
          </p:cNvPr>
          <p:cNvSpPr txBox="1"/>
          <p:nvPr/>
        </p:nvSpPr>
        <p:spPr>
          <a:xfrm>
            <a:off x="1752600" y="5848579"/>
            <a:ext cx="723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≡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(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fr-FR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) ^ P(</a:t>
            </a:r>
            <a:r>
              <a:rPr lang="fr-FR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) ^ …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^ P(</a:t>
            </a:r>
            <a:r>
              <a:rPr lang="fr-FR" sz="2200" b="1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baseline="-25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) ) ^ ( Q(</a:t>
            </a:r>
            <a:r>
              <a:rPr lang="fr-FR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) ^ Q(</a:t>
            </a:r>
            <a:r>
              <a:rPr lang="fr-FR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b="1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) ^…^ Q(</a:t>
            </a:r>
            <a:r>
              <a:rPr lang="fr-FR" sz="2200" b="1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b="1" i="1" baseline="-25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) )</a:t>
            </a:r>
            <a:endParaRPr lang="en-US" sz="2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6EAA65-97FC-1319-E592-4EA8BDE3DFE9}"/>
              </a:ext>
            </a:extLst>
          </p:cNvPr>
          <p:cNvSpPr txBox="1"/>
          <p:nvPr/>
        </p:nvSpPr>
        <p:spPr>
          <a:xfrm>
            <a:off x="1758820" y="6268826"/>
            <a:ext cx="647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prstClr val="black"/>
                </a:solidFill>
              </a:rPr>
              <a:t>≡ </a:t>
            </a:r>
            <a:r>
              <a:rPr lang="en-US" sz="2200" dirty="0">
                <a:latin typeface="Times New Roman" panose="02020603050405020304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2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r>
              <a:rPr lang="en-US" sz="22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200" dirty="0">
                <a:latin typeface="Times New Roman" panose="02020603050405020304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 </a:t>
            </a:r>
            <a:endParaRPr lang="en-US" sz="2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226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  <p:bldP spid="12" grpId="0"/>
      <p:bldP spid="13" grpId="0"/>
      <p:bldP spid="14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EQUIVALENCE OF QUANTIFIERS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45085B-D61D-C93C-7C09-BB738A19C4FB}"/>
              </a:ext>
            </a:extLst>
          </p:cNvPr>
          <p:cNvSpPr txBox="1"/>
          <p:nvPr/>
        </p:nvSpPr>
        <p:spPr>
          <a:xfrm>
            <a:off x="457200" y="15240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Let 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and 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be two propositional functions</a:t>
            </a:r>
            <a:endParaRPr lang="en-US" sz="2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318620-7D39-15D9-4D9D-83D3F422F2CF}"/>
              </a:ext>
            </a:extLst>
          </p:cNvPr>
          <p:cNvSpPr txBox="1"/>
          <p:nvPr/>
        </p:nvSpPr>
        <p:spPr>
          <a:xfrm>
            <a:off x="914400" y="2909967"/>
            <a:ext cx="77708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∃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 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0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) </a:t>
            </a:r>
            <a:r>
              <a:rPr lang="en-US" sz="2000" dirty="0"/>
              <a:t>≡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∃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2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∃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 </a:t>
            </a:r>
            <a:endParaRPr lang="en-US" sz="2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69AFDA-6257-086E-103B-86D83641CEAC}"/>
              </a:ext>
            </a:extLst>
          </p:cNvPr>
          <p:cNvSpPr txBox="1"/>
          <p:nvPr/>
        </p:nvSpPr>
        <p:spPr>
          <a:xfrm>
            <a:off x="457200" y="1982879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domain of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specified as D = {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…, </a:t>
            </a:r>
            <a:r>
              <a:rPr lang="en-US" sz="2200" b="1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b="1" i="1" baseline="-25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F4673C-2D8A-FEF7-304B-62D56898197F}"/>
              </a:ext>
            </a:extLst>
          </p:cNvPr>
          <p:cNvSpPr txBox="1"/>
          <p:nvPr/>
        </p:nvSpPr>
        <p:spPr>
          <a:xfrm>
            <a:off x="455645" y="2432427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logical equivalence of existential quantifiers denotes:</a:t>
            </a:r>
            <a:endParaRPr lang="en-US" sz="2200" b="1" i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8D5FA0-BE25-9D50-3B62-D0F5B5E5B7B8}"/>
              </a:ext>
            </a:extLst>
          </p:cNvPr>
          <p:cNvSpPr txBox="1"/>
          <p:nvPr/>
        </p:nvSpPr>
        <p:spPr>
          <a:xfrm>
            <a:off x="2894045" y="3721854"/>
            <a:ext cx="3352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DO IT BY YOURSELF!</a:t>
            </a:r>
          </a:p>
        </p:txBody>
      </p:sp>
    </p:spTree>
    <p:extLst>
      <p:ext uri="{BB962C8B-B14F-4D97-AF65-F5344CB8AC3E}">
        <p14:creationId xmlns:p14="http://schemas.microsoft.com/office/powerpoint/2010/main" val="3761366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  <p:bldP spid="12" grpId="0"/>
      <p:bldP spid="13" grpId="0"/>
      <p:bldP spid="2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NEGATING UNIVERSAL QUANTIFIER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45085B-D61D-C93C-7C09-BB738A19C4FB}"/>
              </a:ext>
            </a:extLst>
          </p:cNvPr>
          <p:cNvSpPr txBox="1"/>
          <p:nvPr/>
        </p:nvSpPr>
        <p:spPr>
          <a:xfrm>
            <a:off x="457201" y="16002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Statement: “Every student in the class is attentive”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4598DD-1135-061F-2FFE-59874F552E0B}"/>
              </a:ext>
            </a:extLst>
          </p:cNvPr>
          <p:cNvSpPr txBox="1"/>
          <p:nvPr/>
        </p:nvSpPr>
        <p:spPr>
          <a:xfrm>
            <a:off x="460309" y="2020201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statement is a universal quantification: 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AA6B04-3967-DE62-555E-C29D10576740}"/>
              </a:ext>
            </a:extLst>
          </p:cNvPr>
          <p:cNvSpPr txBox="1"/>
          <p:nvPr/>
        </p:nvSpPr>
        <p:spPr>
          <a:xfrm>
            <a:off x="895739" y="2488287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):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attentive 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F02BB9-B05E-DAC1-C67A-26E36F98F9B0}"/>
              </a:ext>
            </a:extLst>
          </p:cNvPr>
          <p:cNvSpPr txBox="1"/>
          <p:nvPr/>
        </p:nvSpPr>
        <p:spPr>
          <a:xfrm>
            <a:off x="898849" y="2956373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Domain of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Every student in the class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1F79E7-9EF7-95BD-13C0-59FC8B1AF38D}"/>
              </a:ext>
            </a:extLst>
          </p:cNvPr>
          <p:cNvSpPr txBox="1"/>
          <p:nvPr/>
        </p:nvSpPr>
        <p:spPr>
          <a:xfrm>
            <a:off x="457200" y="4057473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How to claim the statement “Every student in the class is attentive” false?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638FA3-F1FF-F90F-1DEE-645244433E99}"/>
              </a:ext>
            </a:extLst>
          </p:cNvPr>
          <p:cNvSpPr txBox="1"/>
          <p:nvPr/>
        </p:nvSpPr>
        <p:spPr>
          <a:xfrm>
            <a:off x="914400" y="4847007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At least one student in the class who is not attentive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B5EFED-BC58-DC8E-95CD-0D0E30D93717}"/>
              </a:ext>
            </a:extLst>
          </p:cNvPr>
          <p:cNvSpPr txBox="1"/>
          <p:nvPr/>
        </p:nvSpPr>
        <p:spPr>
          <a:xfrm>
            <a:off x="895739" y="3462596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statement stands: For all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attentive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9A9EE4-2B9E-8D39-038B-AA4C2D218D20}"/>
              </a:ext>
            </a:extLst>
          </p:cNvPr>
          <p:cNvSpPr txBox="1"/>
          <p:nvPr/>
        </p:nvSpPr>
        <p:spPr>
          <a:xfrm>
            <a:off x="914400" y="5297987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There exists at least one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not attentive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D73E37-3D14-902E-944E-73311B5D1669}"/>
              </a:ext>
            </a:extLst>
          </p:cNvPr>
          <p:cNvSpPr txBox="1"/>
          <p:nvPr/>
        </p:nvSpPr>
        <p:spPr>
          <a:xfrm>
            <a:off x="914400" y="5728874"/>
            <a:ext cx="777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∃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83B121-29D8-E71E-E999-AAF4F3D6BA51}"/>
              </a:ext>
            </a:extLst>
          </p:cNvPr>
          <p:cNvSpPr txBox="1"/>
          <p:nvPr/>
        </p:nvSpPr>
        <p:spPr>
          <a:xfrm>
            <a:off x="928468" y="6190539"/>
            <a:ext cx="777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000" dirty="0"/>
              <a:t>≡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∃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5265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4" grpId="0"/>
      <p:bldP spid="5" grpId="0"/>
      <p:bldP spid="6" grpId="0"/>
      <p:bldP spid="8" grpId="0"/>
      <p:bldP spid="9" grpId="0"/>
      <p:bldP spid="10" grpId="0"/>
      <p:bldP spid="11" grpId="0"/>
      <p:bldP spid="12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/>
              <a:t>NEGATING EXISTENTIAL QUANTIFIER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45085B-D61D-C93C-7C09-BB738A19C4FB}"/>
              </a:ext>
            </a:extLst>
          </p:cNvPr>
          <p:cNvSpPr txBox="1"/>
          <p:nvPr/>
        </p:nvSpPr>
        <p:spPr>
          <a:xfrm>
            <a:off x="457201" y="16002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Statement: “At least one student in the class is attentive”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4598DD-1135-061F-2FFE-59874F552E0B}"/>
              </a:ext>
            </a:extLst>
          </p:cNvPr>
          <p:cNvSpPr txBox="1"/>
          <p:nvPr/>
        </p:nvSpPr>
        <p:spPr>
          <a:xfrm>
            <a:off x="460309" y="2020201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statement is an existential quantification: ∃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AA6B04-3967-DE62-555E-C29D10576740}"/>
              </a:ext>
            </a:extLst>
          </p:cNvPr>
          <p:cNvSpPr txBox="1"/>
          <p:nvPr/>
        </p:nvSpPr>
        <p:spPr>
          <a:xfrm>
            <a:off x="895739" y="2488287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):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attentive 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F02BB9-B05E-DAC1-C67A-26E36F98F9B0}"/>
              </a:ext>
            </a:extLst>
          </p:cNvPr>
          <p:cNvSpPr txBox="1"/>
          <p:nvPr/>
        </p:nvSpPr>
        <p:spPr>
          <a:xfrm>
            <a:off x="898849" y="2956373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Domain of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Every student in the class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1F79E7-9EF7-95BD-13C0-59FC8B1AF38D}"/>
              </a:ext>
            </a:extLst>
          </p:cNvPr>
          <p:cNvSpPr txBox="1"/>
          <p:nvPr/>
        </p:nvSpPr>
        <p:spPr>
          <a:xfrm>
            <a:off x="457200" y="4057473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How to claim the statement “At least one student in the class is attentive” false?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638FA3-F1FF-F90F-1DEE-645244433E99}"/>
              </a:ext>
            </a:extLst>
          </p:cNvPr>
          <p:cNvSpPr txBox="1"/>
          <p:nvPr/>
        </p:nvSpPr>
        <p:spPr>
          <a:xfrm>
            <a:off x="914400" y="4847007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Every student in the class is sleepy (not attentive)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B5EFED-BC58-DC8E-95CD-0D0E30D93717}"/>
              </a:ext>
            </a:extLst>
          </p:cNvPr>
          <p:cNvSpPr txBox="1"/>
          <p:nvPr/>
        </p:nvSpPr>
        <p:spPr>
          <a:xfrm>
            <a:off x="895739" y="3462596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statement stands: For all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attentive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9A9EE4-2B9E-8D39-038B-AA4C2D218D20}"/>
              </a:ext>
            </a:extLst>
          </p:cNvPr>
          <p:cNvSpPr txBox="1"/>
          <p:nvPr/>
        </p:nvSpPr>
        <p:spPr>
          <a:xfrm>
            <a:off x="914400" y="5297987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For all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not attentive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D73E37-3D14-902E-944E-73311B5D1669}"/>
              </a:ext>
            </a:extLst>
          </p:cNvPr>
          <p:cNvSpPr txBox="1"/>
          <p:nvPr/>
        </p:nvSpPr>
        <p:spPr>
          <a:xfrm>
            <a:off x="914400" y="5728874"/>
            <a:ext cx="777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83B121-29D8-E71E-E999-AAF4F3D6BA51}"/>
              </a:ext>
            </a:extLst>
          </p:cNvPr>
          <p:cNvSpPr txBox="1"/>
          <p:nvPr/>
        </p:nvSpPr>
        <p:spPr>
          <a:xfrm>
            <a:off x="928468" y="6190539"/>
            <a:ext cx="777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 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∃</a:t>
            </a:r>
            <a:r>
              <a:rPr lang="en-US" sz="3200" b="1" i="1" baseline="-250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000" dirty="0"/>
              <a:t>≡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048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4" grpId="0"/>
      <p:bldP spid="5" grpId="0"/>
      <p:bldP spid="6" grpId="0"/>
      <p:bldP spid="8" grpId="0"/>
      <p:bldP spid="9" grpId="0"/>
      <p:bldP spid="10" grpId="0"/>
      <p:bldP spid="11" grpId="0"/>
      <p:bldP spid="12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De MORGAN FOR QUANTIFIERS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B84F79-F6F4-4D44-2805-B7CE23C65922}"/>
              </a:ext>
            </a:extLst>
          </p:cNvPr>
          <p:cNvSpPr txBox="1"/>
          <p:nvPr/>
        </p:nvSpPr>
        <p:spPr>
          <a:xfrm>
            <a:off x="457200" y="1676400"/>
            <a:ext cx="777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000" dirty="0"/>
              <a:t>≡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∃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FC987D-12E6-F727-DEA9-C98BAC6901B8}"/>
              </a:ext>
            </a:extLst>
          </p:cNvPr>
          <p:cNvSpPr txBox="1"/>
          <p:nvPr/>
        </p:nvSpPr>
        <p:spPr>
          <a:xfrm>
            <a:off x="457200" y="2286000"/>
            <a:ext cx="777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 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∃</a:t>
            </a:r>
            <a:r>
              <a:rPr lang="en-US" sz="3200" b="1" i="1" baseline="-250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000" dirty="0"/>
              <a:t>≡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0A06C9-95A9-76E6-941B-4BB6384E37FE}"/>
              </a:ext>
            </a:extLst>
          </p:cNvPr>
          <p:cNvSpPr txBox="1"/>
          <p:nvPr/>
        </p:nvSpPr>
        <p:spPr>
          <a:xfrm>
            <a:off x="457200" y="2967335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5E1603-6029-1B11-78D8-D512CC242A63}"/>
              </a:ext>
            </a:extLst>
          </p:cNvPr>
          <p:cNvSpPr txBox="1"/>
          <p:nvPr/>
        </p:nvSpPr>
        <p:spPr>
          <a:xfrm>
            <a:off x="457200" y="3484661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/>
              <a:t>≡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fr-FR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) ^ P(</a:t>
            </a:r>
            <a:r>
              <a:rPr lang="fr-FR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) ^ …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^ P(</a:t>
            </a:r>
            <a:r>
              <a:rPr lang="fr-FR" sz="2200" b="1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baseline="-25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) ) 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1DF547-3DA0-06B3-7F8B-3C79852A5FBC}"/>
              </a:ext>
            </a:extLst>
          </p:cNvPr>
          <p:cNvSpPr txBox="1"/>
          <p:nvPr/>
        </p:nvSpPr>
        <p:spPr>
          <a:xfrm>
            <a:off x="457200" y="4001987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/>
              <a:t>≡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fr-FR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fr-FR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…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fr-FR" sz="2200" b="1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baseline="-25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ED98FF-58F6-0CCA-963F-842FBE5646D3}"/>
              </a:ext>
            </a:extLst>
          </p:cNvPr>
          <p:cNvSpPr txBox="1"/>
          <p:nvPr/>
        </p:nvSpPr>
        <p:spPr>
          <a:xfrm>
            <a:off x="4785049" y="3989222"/>
            <a:ext cx="2438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[De </a:t>
            </a:r>
            <a:r>
              <a:rPr lang="fr-FR" sz="2200" dirty="0" err="1">
                <a:latin typeface="Times New Roman" pitchFamily="18" charset="0"/>
                <a:cs typeface="Times New Roman" pitchFamily="18" charset="0"/>
              </a:rPr>
              <a:t>Morgan’s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Law] 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C7136E-AFF3-5712-99EB-019649D3EBDD}"/>
              </a:ext>
            </a:extLst>
          </p:cNvPr>
          <p:cNvSpPr txBox="1"/>
          <p:nvPr/>
        </p:nvSpPr>
        <p:spPr>
          <a:xfrm>
            <a:off x="461865" y="4550091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/>
              <a:t>≡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∃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60199B-FCAF-ACB7-D8FD-5E3EE361E9EE}"/>
              </a:ext>
            </a:extLst>
          </p:cNvPr>
          <p:cNvSpPr txBox="1"/>
          <p:nvPr/>
        </p:nvSpPr>
        <p:spPr>
          <a:xfrm>
            <a:off x="457200" y="5225868"/>
            <a:ext cx="7772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∃</a:t>
            </a:r>
            <a:r>
              <a:rPr lang="en-US" sz="2800" b="1" i="1" baseline="-250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67B815-2916-DB55-A04D-6820498F3FC9}"/>
              </a:ext>
            </a:extLst>
          </p:cNvPr>
          <p:cNvSpPr txBox="1"/>
          <p:nvPr/>
        </p:nvSpPr>
        <p:spPr>
          <a:xfrm>
            <a:off x="908180" y="5625978"/>
            <a:ext cx="23466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Do it by yourself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B617E4-B5AE-96E8-8561-E6C9B14EF096}"/>
              </a:ext>
            </a:extLst>
          </p:cNvPr>
          <p:cNvSpPr txBox="1"/>
          <p:nvPr/>
        </p:nvSpPr>
        <p:spPr>
          <a:xfrm>
            <a:off x="2133600" y="4565479"/>
            <a:ext cx="441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[Basic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of quantifier] 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262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PRACTICE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B84F79-F6F4-4D44-2805-B7CE23C65922}"/>
              </a:ext>
            </a:extLst>
          </p:cNvPr>
          <p:cNvSpPr txBox="1"/>
          <p:nvPr/>
        </p:nvSpPr>
        <p:spPr>
          <a:xfrm>
            <a:off x="457200" y="1676400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negations of the statements.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2B98C2-40B3-73F3-708E-896DDD151A32}"/>
              </a:ext>
            </a:extLst>
          </p:cNvPr>
          <p:cNvSpPr txBox="1"/>
          <p:nvPr/>
        </p:nvSpPr>
        <p:spPr>
          <a:xfrm>
            <a:off x="990600" y="2209800"/>
            <a:ext cx="2743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68C0A7-E5F1-3DFF-A63C-86656145EEB3}"/>
              </a:ext>
            </a:extLst>
          </p:cNvPr>
          <p:cNvSpPr txBox="1"/>
          <p:nvPr/>
        </p:nvSpPr>
        <p:spPr>
          <a:xfrm>
            <a:off x="990600" y="2729528"/>
            <a:ext cx="2743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∃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2)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96BC91-FA00-F469-1AA7-86ECB1E61908}"/>
              </a:ext>
            </a:extLst>
          </p:cNvPr>
          <p:cNvSpPr txBox="1"/>
          <p:nvPr/>
        </p:nvSpPr>
        <p:spPr>
          <a:xfrm>
            <a:off x="3200400" y="2211355"/>
            <a:ext cx="2743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Ans: 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∃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≤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8CE026-F300-3E47-E127-8D3A9008B917}"/>
              </a:ext>
            </a:extLst>
          </p:cNvPr>
          <p:cNvSpPr txBox="1"/>
          <p:nvPr/>
        </p:nvSpPr>
        <p:spPr>
          <a:xfrm>
            <a:off x="3200400" y="2727973"/>
            <a:ext cx="2743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Ans: ∀ 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≠ 2)</a:t>
            </a:r>
            <a:endParaRPr lang="en-US" sz="3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421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" grpId="0"/>
      <p:bldP spid="4" grpId="0"/>
      <p:bldP spid="6" grpId="0"/>
      <p:bldP spid="7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PRACTICE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B84F79-F6F4-4D44-2805-B7CE23C65922}"/>
              </a:ext>
            </a:extLst>
          </p:cNvPr>
          <p:cNvSpPr txBox="1"/>
          <p:nvPr/>
        </p:nvSpPr>
        <p:spPr>
          <a:xfrm>
            <a:off x="457200" y="1676400"/>
            <a:ext cx="777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that,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/>
              <a:t>→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)) </a:t>
            </a:r>
            <a:r>
              <a:rPr lang="en-US" sz="2400" dirty="0"/>
              <a:t>≡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∃x (P(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^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))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1AD5FF-8FA8-7AB3-782C-5F1B72419951}"/>
              </a:ext>
            </a:extLst>
          </p:cNvPr>
          <p:cNvSpPr txBox="1"/>
          <p:nvPr/>
        </p:nvSpPr>
        <p:spPr>
          <a:xfrm>
            <a:off x="762000" y="2362200"/>
            <a:ext cx="381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/>
              <a:t>→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))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9CE009-8B3A-BC1B-3C1B-0B3B6D09AC83}"/>
              </a:ext>
            </a:extLst>
          </p:cNvPr>
          <p:cNvSpPr txBox="1"/>
          <p:nvPr/>
        </p:nvSpPr>
        <p:spPr>
          <a:xfrm>
            <a:off x="763555" y="2995127"/>
            <a:ext cx="381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prstClr val="black"/>
                </a:solidFill>
              </a:rPr>
              <a:t>≡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)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E81DF8-B8F0-F3BE-AEC8-FC75018F3410}"/>
              </a:ext>
            </a:extLst>
          </p:cNvPr>
          <p:cNvSpPr txBox="1"/>
          <p:nvPr/>
        </p:nvSpPr>
        <p:spPr>
          <a:xfrm>
            <a:off x="4191000" y="3010515"/>
            <a:ext cx="381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[Conditional Disjunction]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A59B26-CD57-BD6B-9179-5B0F9B72B9EE}"/>
              </a:ext>
            </a:extLst>
          </p:cNvPr>
          <p:cNvSpPr txBox="1"/>
          <p:nvPr/>
        </p:nvSpPr>
        <p:spPr>
          <a:xfrm>
            <a:off x="762000" y="3650149"/>
            <a:ext cx="342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prstClr val="black"/>
                </a:solidFill>
              </a:rPr>
              <a:t>≡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∃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)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3C93DA-B9D4-0DBC-51F2-5F5750566642}"/>
              </a:ext>
            </a:extLst>
          </p:cNvPr>
          <p:cNvSpPr txBox="1"/>
          <p:nvPr/>
        </p:nvSpPr>
        <p:spPr>
          <a:xfrm>
            <a:off x="4191000" y="3685229"/>
            <a:ext cx="449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[Universal to existential]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6AF5DB-31FD-FC55-F0DA-85EA56B66CD3}"/>
              </a:ext>
            </a:extLst>
          </p:cNvPr>
          <p:cNvSpPr txBox="1"/>
          <p:nvPr/>
        </p:nvSpPr>
        <p:spPr>
          <a:xfrm>
            <a:off x="766665" y="4358351"/>
            <a:ext cx="342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prstClr val="black"/>
                </a:solidFill>
              </a:rPr>
              <a:t>≡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∃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)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00B610-963C-5EB3-8471-BF1BFA18360E}"/>
              </a:ext>
            </a:extLst>
          </p:cNvPr>
          <p:cNvSpPr txBox="1"/>
          <p:nvPr/>
        </p:nvSpPr>
        <p:spPr>
          <a:xfrm>
            <a:off x="4191000" y="4351339"/>
            <a:ext cx="449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[De Morgan’s law]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299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NESTED QUANTIFIERS</a:t>
            </a:r>
          </a:p>
        </p:txBody>
      </p:sp>
    </p:spTree>
    <p:extLst>
      <p:ext uri="{BB962C8B-B14F-4D97-AF65-F5344CB8AC3E}">
        <p14:creationId xmlns:p14="http://schemas.microsoft.com/office/powerpoint/2010/main" val="10381690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INTRODUCTION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B84F79-F6F4-4D44-2805-B7CE23C65922}"/>
              </a:ext>
            </a:extLst>
          </p:cNvPr>
          <p:cNvSpPr txBox="1"/>
          <p:nvPr/>
        </p:nvSpPr>
        <p:spPr>
          <a:xfrm>
            <a:off x="457200" y="1676400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one quantifier is used in the scope of another quantifier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1AD5FF-8FA8-7AB3-782C-5F1B72419951}"/>
              </a:ext>
            </a:extLst>
          </p:cNvPr>
          <p:cNvSpPr txBox="1"/>
          <p:nvPr/>
        </p:nvSpPr>
        <p:spPr>
          <a:xfrm>
            <a:off x="914400" y="2175711"/>
            <a:ext cx="2362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∃</a:t>
            </a:r>
            <a:r>
              <a:rPr lang="en-US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x, 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8DF638-5DBA-80CD-939C-6A28C05F154D}"/>
              </a:ext>
            </a:extLst>
          </p:cNvPr>
          <p:cNvSpPr txBox="1"/>
          <p:nvPr/>
        </p:nvSpPr>
        <p:spPr>
          <a:xfrm>
            <a:off x="914400" y="2743200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all x, there exists an y such that P(</a:t>
            </a:r>
            <a:r>
              <a:rPr lang="en-US" altLang="ko-KR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ko-KR" sz="22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true</a:t>
            </a:r>
            <a:endParaRPr lang="en-US" sz="2200" baseline="-25000" dirty="0">
              <a:solidFill>
                <a:schemeClr val="bg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C40D06-53FD-DBAF-4651-DF586052245A}"/>
              </a:ext>
            </a:extLst>
          </p:cNvPr>
          <p:cNvSpPr txBox="1"/>
          <p:nvPr/>
        </p:nvSpPr>
        <p:spPr>
          <a:xfrm>
            <a:off x="457200" y="3468470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operation can be treated as the following: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401EBA-AF22-7CBD-A841-78B81FEF5E34}"/>
              </a:ext>
            </a:extLst>
          </p:cNvPr>
          <p:cNvSpPr txBox="1"/>
          <p:nvPr/>
        </p:nvSpPr>
        <p:spPr>
          <a:xfrm>
            <a:off x="914400" y="3991354"/>
            <a:ext cx="2362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89F200-A94F-97DD-6527-2EC0A13C3FB3}"/>
              </a:ext>
            </a:extLst>
          </p:cNvPr>
          <p:cNvSpPr txBox="1"/>
          <p:nvPr/>
        </p:nvSpPr>
        <p:spPr>
          <a:xfrm>
            <a:off x="914400" y="4514238"/>
            <a:ext cx="716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where, Q(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dirty="0">
                <a:solidFill>
                  <a:prstClr val="black"/>
                </a:solidFill>
              </a:rPr>
              <a:t>≡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∃</a:t>
            </a:r>
            <a:r>
              <a:rPr lang="en-US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x, 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921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" grpId="0"/>
      <p:bldP spid="2" grpId="0"/>
      <p:bldP spid="4" grpId="0"/>
      <p:bldP spid="6" grpId="0"/>
      <p:bldP spid="7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PRACTICE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B84F79-F6F4-4D44-2805-B7CE23C65922}"/>
              </a:ext>
            </a:extLst>
          </p:cNvPr>
          <p:cNvSpPr txBox="1"/>
          <p:nvPr/>
        </p:nvSpPr>
        <p:spPr>
          <a:xfrm>
            <a:off x="457200" y="1676400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Propositional function: P(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attracts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807579-D9A8-04AB-9344-0AFC34E8C911}"/>
              </a:ext>
            </a:extLst>
          </p:cNvPr>
          <p:cNvSpPr txBox="1"/>
          <p:nvPr/>
        </p:nvSpPr>
        <p:spPr>
          <a:xfrm>
            <a:off x="457200" y="2135279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of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pole of magnet, D = {North, South}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0BB6EF-AA82-6ADC-49B8-D74BBF2FDC06}"/>
              </a:ext>
            </a:extLst>
          </p:cNvPr>
          <p:cNvSpPr txBox="1"/>
          <p:nvPr/>
        </p:nvSpPr>
        <p:spPr>
          <a:xfrm>
            <a:off x="457200" y="2594158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truth values of the following quantifications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CE32BD-AB5B-B03F-DAE8-3EA5E592D8F1}"/>
              </a:ext>
            </a:extLst>
          </p:cNvPr>
          <p:cNvSpPr txBox="1"/>
          <p:nvPr/>
        </p:nvSpPr>
        <p:spPr>
          <a:xfrm>
            <a:off x="914400" y="3213556"/>
            <a:ext cx="2362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x, 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BDE774-2D21-3D0E-ECAA-DF71B75A174C}"/>
              </a:ext>
            </a:extLst>
          </p:cNvPr>
          <p:cNvSpPr txBox="1"/>
          <p:nvPr/>
        </p:nvSpPr>
        <p:spPr>
          <a:xfrm>
            <a:off x="914400" y="3817871"/>
            <a:ext cx="2362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∃</a:t>
            </a:r>
            <a:r>
              <a:rPr lang="en-US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x, 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99F282-7E2F-763B-72F4-E54D645F0C73}"/>
              </a:ext>
            </a:extLst>
          </p:cNvPr>
          <p:cNvSpPr txBox="1"/>
          <p:nvPr/>
        </p:nvSpPr>
        <p:spPr>
          <a:xfrm>
            <a:off x="914400" y="4454843"/>
            <a:ext cx="2362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∃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x, 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A756A9-0AC6-5BB0-6A84-396163C0CB2C}"/>
              </a:ext>
            </a:extLst>
          </p:cNvPr>
          <p:cNvSpPr txBox="1"/>
          <p:nvPr/>
        </p:nvSpPr>
        <p:spPr>
          <a:xfrm>
            <a:off x="914400" y="5059473"/>
            <a:ext cx="2362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∃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∃</a:t>
            </a:r>
            <a:r>
              <a:rPr lang="en-US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x, 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891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PRACTICE (Cont..)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CE32BD-AB5B-B03F-DAE8-3EA5E592D8F1}"/>
              </a:ext>
            </a:extLst>
          </p:cNvPr>
          <p:cNvSpPr txBox="1"/>
          <p:nvPr/>
        </p:nvSpPr>
        <p:spPr>
          <a:xfrm>
            <a:off x="457200" y="1855112"/>
            <a:ext cx="2362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x, 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77748E-B1DA-EFA4-F7B3-01CF0002BEED}"/>
              </a:ext>
            </a:extLst>
          </p:cNvPr>
          <p:cNvSpPr txBox="1"/>
          <p:nvPr/>
        </p:nvSpPr>
        <p:spPr>
          <a:xfrm>
            <a:off x="685800" y="2635710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all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for all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true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08216D-FD98-D06B-6AEC-669742536FF0}"/>
              </a:ext>
            </a:extLst>
          </p:cNvPr>
          <p:cNvSpPr txBox="1"/>
          <p:nvPr/>
        </p:nvSpPr>
        <p:spPr>
          <a:xfrm>
            <a:off x="4572000" y="1613898"/>
            <a:ext cx="32594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attracts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FD8610-0668-6EE8-2123-7A7043AD6B3C}"/>
              </a:ext>
            </a:extLst>
          </p:cNvPr>
          <p:cNvSpPr txBox="1"/>
          <p:nvPr/>
        </p:nvSpPr>
        <p:spPr>
          <a:xfrm>
            <a:off x="4572000" y="2124804"/>
            <a:ext cx="32594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= {North, South}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82CB1F-D30B-008A-B494-0E3B64E39874}"/>
              </a:ext>
            </a:extLst>
          </p:cNvPr>
          <p:cNvSpPr txBox="1"/>
          <p:nvPr/>
        </p:nvSpPr>
        <p:spPr>
          <a:xfrm>
            <a:off x="685800" y="3213556"/>
            <a:ext cx="3048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North-North attracts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43A99C-4381-0073-AFC5-8CAFAE452C55}"/>
              </a:ext>
            </a:extLst>
          </p:cNvPr>
          <p:cNvSpPr txBox="1"/>
          <p:nvPr/>
        </p:nvSpPr>
        <p:spPr>
          <a:xfrm>
            <a:off x="685800" y="3657522"/>
            <a:ext cx="3048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North-South attracts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00D50B-6A59-3C9B-7DDB-0BF1C102C34C}"/>
              </a:ext>
            </a:extLst>
          </p:cNvPr>
          <p:cNvSpPr txBox="1"/>
          <p:nvPr/>
        </p:nvSpPr>
        <p:spPr>
          <a:xfrm>
            <a:off x="685800" y="4128420"/>
            <a:ext cx="3048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South-North attracts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7A41B2-A83E-9A7F-7512-2978FA2369CF}"/>
              </a:ext>
            </a:extLst>
          </p:cNvPr>
          <p:cNvSpPr txBox="1"/>
          <p:nvPr/>
        </p:nvSpPr>
        <p:spPr>
          <a:xfrm>
            <a:off x="685800" y="4599318"/>
            <a:ext cx="3048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South-South attracts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8BF34F-7272-EEEF-423A-8395B0903F23}"/>
              </a:ext>
            </a:extLst>
          </p:cNvPr>
          <p:cNvSpPr txBox="1"/>
          <p:nvPr/>
        </p:nvSpPr>
        <p:spPr>
          <a:xfrm>
            <a:off x="3750906" y="3213556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❌</a:t>
            </a:r>
            <a:endParaRPr lang="en-US" sz="22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ECF26A-AE99-1CF8-52C9-773498CB4AAF}"/>
              </a:ext>
            </a:extLst>
          </p:cNvPr>
          <p:cNvSpPr txBox="1"/>
          <p:nvPr/>
        </p:nvSpPr>
        <p:spPr>
          <a:xfrm>
            <a:off x="3750906" y="3657521"/>
            <a:ext cx="3048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i="0" u="none" strike="noStrike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  <a:endParaRPr lang="en-US" sz="2200" b="1" i="1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457FEF-0BC7-FC35-E097-00B68897E346}"/>
              </a:ext>
            </a:extLst>
          </p:cNvPr>
          <p:cNvSpPr txBox="1"/>
          <p:nvPr/>
        </p:nvSpPr>
        <p:spPr>
          <a:xfrm>
            <a:off x="3750906" y="4128420"/>
            <a:ext cx="3048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i="0" u="none" strike="noStrike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  <a:endParaRPr lang="en-US" sz="2200" b="1" i="1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A1A48A-A22A-0990-4305-65D5C436DAA3}"/>
              </a:ext>
            </a:extLst>
          </p:cNvPr>
          <p:cNvSpPr txBox="1"/>
          <p:nvPr/>
        </p:nvSpPr>
        <p:spPr>
          <a:xfrm>
            <a:off x="3750906" y="4600323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❌</a:t>
            </a:r>
            <a:endParaRPr lang="en-US" sz="22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D746C1-87E2-49D1-1B56-AADD0009DB51}"/>
              </a:ext>
            </a:extLst>
          </p:cNvPr>
          <p:cNvSpPr txBox="1"/>
          <p:nvPr/>
        </p:nvSpPr>
        <p:spPr>
          <a:xfrm>
            <a:off x="466726" y="5416762"/>
            <a:ext cx="82295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For all combination of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all combination of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does not match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8F8AB5-21CC-B794-6846-B98327E0B708}"/>
              </a:ext>
            </a:extLst>
          </p:cNvPr>
          <p:cNvSpPr txBox="1"/>
          <p:nvPr/>
        </p:nvSpPr>
        <p:spPr>
          <a:xfrm>
            <a:off x="463420" y="5810322"/>
            <a:ext cx="82295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Hence, 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x, 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200" b="1" i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is false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833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6" grpId="0"/>
      <p:bldP spid="7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PRACTICE (Cont..)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CE32BD-AB5B-B03F-DAE8-3EA5E592D8F1}"/>
              </a:ext>
            </a:extLst>
          </p:cNvPr>
          <p:cNvSpPr txBox="1"/>
          <p:nvPr/>
        </p:nvSpPr>
        <p:spPr>
          <a:xfrm>
            <a:off x="457200" y="1855112"/>
            <a:ext cx="2362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∃</a:t>
            </a:r>
            <a:r>
              <a:rPr lang="en-US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x, 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77748E-B1DA-EFA4-F7B3-01CF0002BEED}"/>
              </a:ext>
            </a:extLst>
          </p:cNvPr>
          <p:cNvSpPr txBox="1"/>
          <p:nvPr/>
        </p:nvSpPr>
        <p:spPr>
          <a:xfrm>
            <a:off x="685800" y="2635710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all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 exists a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that P(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true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08216D-FD98-D06B-6AEC-669742536FF0}"/>
              </a:ext>
            </a:extLst>
          </p:cNvPr>
          <p:cNvSpPr txBox="1"/>
          <p:nvPr/>
        </p:nvSpPr>
        <p:spPr>
          <a:xfrm>
            <a:off x="4572000" y="1613898"/>
            <a:ext cx="32594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attracts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FD8610-0668-6EE8-2123-7A7043AD6B3C}"/>
              </a:ext>
            </a:extLst>
          </p:cNvPr>
          <p:cNvSpPr txBox="1"/>
          <p:nvPr/>
        </p:nvSpPr>
        <p:spPr>
          <a:xfrm>
            <a:off x="4572000" y="2124804"/>
            <a:ext cx="32594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= {North, South}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82CB1F-D30B-008A-B494-0E3B64E39874}"/>
              </a:ext>
            </a:extLst>
          </p:cNvPr>
          <p:cNvSpPr txBox="1"/>
          <p:nvPr/>
        </p:nvSpPr>
        <p:spPr>
          <a:xfrm>
            <a:off x="685800" y="3213556"/>
            <a:ext cx="3048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North-North attracts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43A99C-4381-0073-AFC5-8CAFAE452C55}"/>
              </a:ext>
            </a:extLst>
          </p:cNvPr>
          <p:cNvSpPr txBox="1"/>
          <p:nvPr/>
        </p:nvSpPr>
        <p:spPr>
          <a:xfrm>
            <a:off x="685800" y="3657522"/>
            <a:ext cx="3048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North-South attracts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00D50B-6A59-3C9B-7DDB-0BF1C102C34C}"/>
              </a:ext>
            </a:extLst>
          </p:cNvPr>
          <p:cNvSpPr txBox="1"/>
          <p:nvPr/>
        </p:nvSpPr>
        <p:spPr>
          <a:xfrm>
            <a:off x="685800" y="4128420"/>
            <a:ext cx="3048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South-North attracts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7A41B2-A83E-9A7F-7512-2978FA2369CF}"/>
              </a:ext>
            </a:extLst>
          </p:cNvPr>
          <p:cNvSpPr txBox="1"/>
          <p:nvPr/>
        </p:nvSpPr>
        <p:spPr>
          <a:xfrm>
            <a:off x="685800" y="4599318"/>
            <a:ext cx="3048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South-South attracts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ECF26A-AE99-1CF8-52C9-773498CB4AAF}"/>
              </a:ext>
            </a:extLst>
          </p:cNvPr>
          <p:cNvSpPr txBox="1"/>
          <p:nvPr/>
        </p:nvSpPr>
        <p:spPr>
          <a:xfrm>
            <a:off x="3750906" y="3657521"/>
            <a:ext cx="3048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i="0" u="none" strike="noStrike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  <a:endParaRPr lang="en-US" sz="2200" b="1" i="1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457FEF-0BC7-FC35-E097-00B68897E346}"/>
              </a:ext>
            </a:extLst>
          </p:cNvPr>
          <p:cNvSpPr txBox="1"/>
          <p:nvPr/>
        </p:nvSpPr>
        <p:spPr>
          <a:xfrm>
            <a:off x="3750906" y="4128420"/>
            <a:ext cx="3048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i="0" u="none" strike="noStrike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  <a:endParaRPr lang="en-US" sz="2200" b="1" i="1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D746C1-87E2-49D1-1B56-AADD0009DB51}"/>
              </a:ext>
            </a:extLst>
          </p:cNvPr>
          <p:cNvSpPr txBox="1"/>
          <p:nvPr/>
        </p:nvSpPr>
        <p:spPr>
          <a:xfrm>
            <a:off x="455644" y="5334000"/>
            <a:ext cx="84597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For both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 =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North and South, there exists a member from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to attract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8F8AB5-21CC-B794-6846-B98327E0B708}"/>
              </a:ext>
            </a:extLst>
          </p:cNvPr>
          <p:cNvSpPr txBox="1"/>
          <p:nvPr/>
        </p:nvSpPr>
        <p:spPr>
          <a:xfrm>
            <a:off x="463420" y="5810322"/>
            <a:ext cx="82295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Hence, 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∃</a:t>
            </a:r>
            <a:r>
              <a:rPr lang="en-US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x, 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is true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610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6" grpId="0"/>
      <p:bldP spid="7" grpId="0"/>
      <p:bldP spid="15" grpId="0"/>
      <p:bldP spid="16" grpId="0"/>
      <p:bldP spid="18" grpId="0"/>
      <p:bldP spid="19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PRACTICE (Cont..)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CE32BD-AB5B-B03F-DAE8-3EA5E592D8F1}"/>
              </a:ext>
            </a:extLst>
          </p:cNvPr>
          <p:cNvSpPr txBox="1"/>
          <p:nvPr/>
        </p:nvSpPr>
        <p:spPr>
          <a:xfrm>
            <a:off x="457200" y="1855112"/>
            <a:ext cx="2362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∃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x, 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77748E-B1DA-EFA4-F7B3-01CF0002BEED}"/>
              </a:ext>
            </a:extLst>
          </p:cNvPr>
          <p:cNvSpPr txBox="1"/>
          <p:nvPr/>
        </p:nvSpPr>
        <p:spPr>
          <a:xfrm>
            <a:off x="685800" y="2635710"/>
            <a:ext cx="777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exists a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that, for all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true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08216D-FD98-D06B-6AEC-669742536FF0}"/>
              </a:ext>
            </a:extLst>
          </p:cNvPr>
          <p:cNvSpPr txBox="1"/>
          <p:nvPr/>
        </p:nvSpPr>
        <p:spPr>
          <a:xfrm>
            <a:off x="4572000" y="1613898"/>
            <a:ext cx="32594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attracts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FD8610-0668-6EE8-2123-7A7043AD6B3C}"/>
              </a:ext>
            </a:extLst>
          </p:cNvPr>
          <p:cNvSpPr txBox="1"/>
          <p:nvPr/>
        </p:nvSpPr>
        <p:spPr>
          <a:xfrm>
            <a:off x="4572000" y="2124804"/>
            <a:ext cx="32594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= {North, South}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82CB1F-D30B-008A-B494-0E3B64E39874}"/>
              </a:ext>
            </a:extLst>
          </p:cNvPr>
          <p:cNvSpPr txBox="1"/>
          <p:nvPr/>
        </p:nvSpPr>
        <p:spPr>
          <a:xfrm>
            <a:off x="685800" y="3213556"/>
            <a:ext cx="3048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North-North attracts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43A99C-4381-0073-AFC5-8CAFAE452C55}"/>
              </a:ext>
            </a:extLst>
          </p:cNvPr>
          <p:cNvSpPr txBox="1"/>
          <p:nvPr/>
        </p:nvSpPr>
        <p:spPr>
          <a:xfrm>
            <a:off x="685800" y="3657522"/>
            <a:ext cx="3048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North-South attracts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00D50B-6A59-3C9B-7DDB-0BF1C102C34C}"/>
              </a:ext>
            </a:extLst>
          </p:cNvPr>
          <p:cNvSpPr txBox="1"/>
          <p:nvPr/>
        </p:nvSpPr>
        <p:spPr>
          <a:xfrm>
            <a:off x="685800" y="4128420"/>
            <a:ext cx="3048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South-North attracts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7A41B2-A83E-9A7F-7512-2978FA2369CF}"/>
              </a:ext>
            </a:extLst>
          </p:cNvPr>
          <p:cNvSpPr txBox="1"/>
          <p:nvPr/>
        </p:nvSpPr>
        <p:spPr>
          <a:xfrm>
            <a:off x="685800" y="4599318"/>
            <a:ext cx="3048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South-South attracts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8BF34F-7272-EEEF-423A-8395B0903F23}"/>
              </a:ext>
            </a:extLst>
          </p:cNvPr>
          <p:cNvSpPr txBox="1"/>
          <p:nvPr/>
        </p:nvSpPr>
        <p:spPr>
          <a:xfrm>
            <a:off x="3750906" y="3213556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❌</a:t>
            </a:r>
            <a:endParaRPr lang="en-US" sz="22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ECF26A-AE99-1CF8-52C9-773498CB4AAF}"/>
              </a:ext>
            </a:extLst>
          </p:cNvPr>
          <p:cNvSpPr txBox="1"/>
          <p:nvPr/>
        </p:nvSpPr>
        <p:spPr>
          <a:xfrm>
            <a:off x="3750906" y="3657521"/>
            <a:ext cx="3048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i="0" u="none" strike="noStrike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  <a:endParaRPr lang="en-US" sz="2200" b="1" i="1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457FEF-0BC7-FC35-E097-00B68897E346}"/>
              </a:ext>
            </a:extLst>
          </p:cNvPr>
          <p:cNvSpPr txBox="1"/>
          <p:nvPr/>
        </p:nvSpPr>
        <p:spPr>
          <a:xfrm>
            <a:off x="3750906" y="4128420"/>
            <a:ext cx="3048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i="0" u="none" strike="noStrike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  <a:endParaRPr lang="en-US" sz="2200" b="1" i="1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A1A48A-A22A-0990-4305-65D5C436DAA3}"/>
              </a:ext>
            </a:extLst>
          </p:cNvPr>
          <p:cNvSpPr txBox="1"/>
          <p:nvPr/>
        </p:nvSpPr>
        <p:spPr>
          <a:xfrm>
            <a:off x="3750906" y="4600323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❌</a:t>
            </a:r>
            <a:endParaRPr lang="en-US" sz="22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D746C1-87E2-49D1-1B56-AADD0009DB51}"/>
              </a:ext>
            </a:extLst>
          </p:cNvPr>
          <p:cNvSpPr txBox="1"/>
          <p:nvPr/>
        </p:nvSpPr>
        <p:spPr>
          <a:xfrm>
            <a:off x="455644" y="5334000"/>
            <a:ext cx="82295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There exists no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for which both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North and South attracts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8F8AB5-21CC-B794-6846-B98327E0B708}"/>
              </a:ext>
            </a:extLst>
          </p:cNvPr>
          <p:cNvSpPr txBox="1"/>
          <p:nvPr/>
        </p:nvSpPr>
        <p:spPr>
          <a:xfrm>
            <a:off x="463420" y="5810322"/>
            <a:ext cx="82295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Hence,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∃</a:t>
            </a:r>
            <a:r>
              <a:rPr lang="en-US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x, 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200" b="1" i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is false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803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6" grpId="0"/>
      <p:bldP spid="7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PRACTICE (Cont..)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CE32BD-AB5B-B03F-DAE8-3EA5E592D8F1}"/>
              </a:ext>
            </a:extLst>
          </p:cNvPr>
          <p:cNvSpPr txBox="1"/>
          <p:nvPr/>
        </p:nvSpPr>
        <p:spPr>
          <a:xfrm>
            <a:off x="457200" y="1855112"/>
            <a:ext cx="2362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∃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∃</a:t>
            </a:r>
            <a:r>
              <a:rPr lang="en-US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x, 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77748E-B1DA-EFA4-F7B3-01CF0002BEED}"/>
              </a:ext>
            </a:extLst>
          </p:cNvPr>
          <p:cNvSpPr txBox="1"/>
          <p:nvPr/>
        </p:nvSpPr>
        <p:spPr>
          <a:xfrm>
            <a:off x="685800" y="2635710"/>
            <a:ext cx="830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exists a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which there is a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that, P(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true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08216D-FD98-D06B-6AEC-669742536FF0}"/>
              </a:ext>
            </a:extLst>
          </p:cNvPr>
          <p:cNvSpPr txBox="1"/>
          <p:nvPr/>
        </p:nvSpPr>
        <p:spPr>
          <a:xfrm>
            <a:off x="4572000" y="1613898"/>
            <a:ext cx="32594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attracts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FD8610-0668-6EE8-2123-7A7043AD6B3C}"/>
              </a:ext>
            </a:extLst>
          </p:cNvPr>
          <p:cNvSpPr txBox="1"/>
          <p:nvPr/>
        </p:nvSpPr>
        <p:spPr>
          <a:xfrm>
            <a:off x="4572000" y="2124804"/>
            <a:ext cx="32594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= {North, South}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82CB1F-D30B-008A-B494-0E3B64E39874}"/>
              </a:ext>
            </a:extLst>
          </p:cNvPr>
          <p:cNvSpPr txBox="1"/>
          <p:nvPr/>
        </p:nvSpPr>
        <p:spPr>
          <a:xfrm>
            <a:off x="685800" y="3213556"/>
            <a:ext cx="3048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North-North attracts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43A99C-4381-0073-AFC5-8CAFAE452C55}"/>
              </a:ext>
            </a:extLst>
          </p:cNvPr>
          <p:cNvSpPr txBox="1"/>
          <p:nvPr/>
        </p:nvSpPr>
        <p:spPr>
          <a:xfrm>
            <a:off x="685800" y="3657522"/>
            <a:ext cx="3048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North-South attracts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00D50B-6A59-3C9B-7DDB-0BF1C102C34C}"/>
              </a:ext>
            </a:extLst>
          </p:cNvPr>
          <p:cNvSpPr txBox="1"/>
          <p:nvPr/>
        </p:nvSpPr>
        <p:spPr>
          <a:xfrm>
            <a:off x="685800" y="4128420"/>
            <a:ext cx="3048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South-North attracts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7A41B2-A83E-9A7F-7512-2978FA2369CF}"/>
              </a:ext>
            </a:extLst>
          </p:cNvPr>
          <p:cNvSpPr txBox="1"/>
          <p:nvPr/>
        </p:nvSpPr>
        <p:spPr>
          <a:xfrm>
            <a:off x="685800" y="4599318"/>
            <a:ext cx="3048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South-South attracts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ECF26A-AE99-1CF8-52C9-773498CB4AAF}"/>
              </a:ext>
            </a:extLst>
          </p:cNvPr>
          <p:cNvSpPr txBox="1"/>
          <p:nvPr/>
        </p:nvSpPr>
        <p:spPr>
          <a:xfrm>
            <a:off x="3750906" y="3657521"/>
            <a:ext cx="3048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i="0" u="none" strike="noStrike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  <a:endParaRPr lang="en-US" sz="2200" b="1" i="1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D746C1-87E2-49D1-1B56-AADD0009DB51}"/>
              </a:ext>
            </a:extLst>
          </p:cNvPr>
          <p:cNvSpPr txBox="1"/>
          <p:nvPr/>
        </p:nvSpPr>
        <p:spPr>
          <a:xfrm>
            <a:off x="455644" y="5334000"/>
            <a:ext cx="82295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There exists a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North, for there is a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South that attracts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8F8AB5-21CC-B794-6846-B98327E0B708}"/>
              </a:ext>
            </a:extLst>
          </p:cNvPr>
          <p:cNvSpPr txBox="1"/>
          <p:nvPr/>
        </p:nvSpPr>
        <p:spPr>
          <a:xfrm>
            <a:off x="304800" y="5817977"/>
            <a:ext cx="82295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Hence,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∃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∃</a:t>
            </a:r>
            <a:r>
              <a:rPr lang="en-US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x, 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200" b="1" i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>
                <a:latin typeface="Times New Roman" pitchFamily="18" charset="0"/>
                <a:cs typeface="Times New Roman" pitchFamily="18" charset="0"/>
              </a:rPr>
              <a:t>is true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67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6" grpId="0"/>
      <p:bldP spid="7" grpId="0"/>
      <p:bldP spid="15" grpId="0"/>
      <p:bldP spid="16" grpId="0"/>
      <p:bldP spid="18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PRACTICE (Cont..)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CE32BD-AB5B-B03F-DAE8-3EA5E592D8F1}"/>
              </a:ext>
            </a:extLst>
          </p:cNvPr>
          <p:cNvSpPr txBox="1"/>
          <p:nvPr/>
        </p:nvSpPr>
        <p:spPr>
          <a:xfrm>
            <a:off x="990600" y="2362200"/>
            <a:ext cx="3429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∃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y = z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08216D-FD98-D06B-6AEC-669742536FF0}"/>
              </a:ext>
            </a:extLst>
          </p:cNvPr>
          <p:cNvSpPr txBox="1"/>
          <p:nvPr/>
        </p:nvSpPr>
        <p:spPr>
          <a:xfrm>
            <a:off x="457200" y="1676400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truth value of the following quantifications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52C188-2EE8-3BFD-76A4-809950EA15A2}"/>
              </a:ext>
            </a:extLst>
          </p:cNvPr>
          <p:cNvSpPr txBox="1"/>
          <p:nvPr/>
        </p:nvSpPr>
        <p:spPr>
          <a:xfrm>
            <a:off x="978159" y="2975034"/>
            <a:ext cx="3429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∃</a:t>
            </a:r>
            <a:r>
              <a:rPr kumimoji="0" lang="en-US" sz="32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y = z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0EE19D-D4A8-5A6F-A0DE-07DFC4428914}"/>
              </a:ext>
            </a:extLst>
          </p:cNvPr>
          <p:cNvSpPr txBox="1"/>
          <p:nvPr/>
        </p:nvSpPr>
        <p:spPr>
          <a:xfrm>
            <a:off x="990600" y="3560124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Domain: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5A6D51-7C08-5421-AAC8-785D03DD5423}"/>
              </a:ext>
            </a:extLst>
          </p:cNvPr>
          <p:cNvSpPr txBox="1"/>
          <p:nvPr/>
        </p:nvSpPr>
        <p:spPr>
          <a:xfrm>
            <a:off x="3472931" y="4124777"/>
            <a:ext cx="21981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Try by yourself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4F4541-7D9C-D089-834E-C3867549AF77}"/>
              </a:ext>
            </a:extLst>
          </p:cNvPr>
          <p:cNvSpPr txBox="1"/>
          <p:nvPr/>
        </p:nvSpPr>
        <p:spPr>
          <a:xfrm>
            <a:off x="3873759" y="2376072"/>
            <a:ext cx="1066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True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84BCB0-0AB6-ABCC-6FB1-A3130E8AA30E}"/>
              </a:ext>
            </a:extLst>
          </p:cNvPr>
          <p:cNvSpPr txBox="1"/>
          <p:nvPr/>
        </p:nvSpPr>
        <p:spPr>
          <a:xfrm>
            <a:off x="3873759" y="2999076"/>
            <a:ext cx="1066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False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972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4" grpId="0"/>
      <p:bldP spid="8" grpId="0"/>
      <p:bldP spid="9" grpId="0"/>
      <p:bldP spid="11" grpId="0"/>
      <p:bldP spid="12" grpId="0"/>
      <p:bldP spid="13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PRACTICE (Cont..)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08216D-FD98-D06B-6AEC-669742536FF0}"/>
              </a:ext>
            </a:extLst>
          </p:cNvPr>
          <p:cNvSpPr txBox="1"/>
          <p:nvPr/>
        </p:nvSpPr>
        <p:spPr>
          <a:xfrm>
            <a:off x="457200" y="173262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 in to English statement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B937DA-C8EF-A764-1797-CBCC3BCA0AFF}"/>
              </a:ext>
            </a:extLst>
          </p:cNvPr>
          <p:cNvSpPr txBox="1"/>
          <p:nvPr/>
        </p:nvSpPr>
        <p:spPr>
          <a:xfrm>
            <a:off x="914400" y="2276184"/>
            <a:ext cx="548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 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&gt; 0)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^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&lt; 0) </a:t>
            </a:r>
            <a:r>
              <a:rPr lang="en-US" sz="2400" dirty="0"/>
              <a:t>→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b="1" i="1" dirty="0" err="1">
                <a:latin typeface="Times New Roman" pitchFamily="18" charset="0"/>
                <a:cs typeface="Times New Roman" pitchFamily="18" charset="0"/>
              </a:rPr>
              <a:t>xy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&lt; 0) )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C73664-4B5B-E616-41C0-2FCA4401976C}"/>
              </a:ext>
            </a:extLst>
          </p:cNvPr>
          <p:cNvSpPr txBox="1"/>
          <p:nvPr/>
        </p:nvSpPr>
        <p:spPr>
          <a:xfrm>
            <a:off x="914400" y="2850526"/>
            <a:ext cx="5486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Domain =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R</a:t>
            </a:r>
            <a:endParaRPr lang="en-US" sz="2200" b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3D7E82-8C76-DBB1-2D23-6E4CCF3DEFDE}"/>
              </a:ext>
            </a:extLst>
          </p:cNvPr>
          <p:cNvSpPr txBox="1"/>
          <p:nvPr/>
        </p:nvSpPr>
        <p:spPr>
          <a:xfrm>
            <a:off x="452535" y="3343458"/>
            <a:ext cx="5486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Ans:</a:t>
            </a:r>
            <a:endParaRPr lang="en-US" sz="2200" b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628478-D0ED-A013-64A3-55D12A04D947}"/>
              </a:ext>
            </a:extLst>
          </p:cNvPr>
          <p:cNvSpPr txBox="1"/>
          <p:nvPr/>
        </p:nvSpPr>
        <p:spPr>
          <a:xfrm>
            <a:off x="914400" y="3836390"/>
            <a:ext cx="4038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For every real number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</a:t>
            </a:r>
            <a:endParaRPr lang="en-US" sz="2200" b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10CF7E-2435-9C8A-5C08-24D68A5C03E8}"/>
              </a:ext>
            </a:extLst>
          </p:cNvPr>
          <p:cNvSpPr txBox="1"/>
          <p:nvPr/>
        </p:nvSpPr>
        <p:spPr>
          <a:xfrm>
            <a:off x="4800600" y="3836389"/>
            <a:ext cx="2362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 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&gt; 0 and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&lt; 0, </a:t>
            </a:r>
            <a:endParaRPr lang="en-US" sz="2200" b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F034E7-BA7C-5779-D565-5579883B1CAC}"/>
              </a:ext>
            </a:extLst>
          </p:cNvPr>
          <p:cNvSpPr txBox="1"/>
          <p:nvPr/>
        </p:nvSpPr>
        <p:spPr>
          <a:xfrm>
            <a:off x="6934200" y="3836389"/>
            <a:ext cx="15862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then </a:t>
            </a:r>
            <a:r>
              <a:rPr lang="en-US" sz="2200" b="1" i="1" dirty="0" err="1">
                <a:latin typeface="Times New Roman" pitchFamily="18" charset="0"/>
                <a:cs typeface="Times New Roman" pitchFamily="18" charset="0"/>
              </a:rPr>
              <a:t>xy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&lt; 0</a:t>
            </a:r>
            <a:endParaRPr lang="en-US" sz="2200" b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729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1" grpId="0"/>
      <p:bldP spid="12" grpId="0"/>
      <p:bldP spid="13" grpId="0"/>
      <p:bldP spid="14" grpId="0"/>
      <p:bldP spid="17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PRACTICE (Cont..)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08216D-FD98-D06B-6AEC-669742536FF0}"/>
              </a:ext>
            </a:extLst>
          </p:cNvPr>
          <p:cNvSpPr txBox="1"/>
          <p:nvPr/>
        </p:nvSpPr>
        <p:spPr>
          <a:xfrm>
            <a:off x="457199" y="16002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 in to English statement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B937DA-C8EF-A764-1797-CBCC3BCA0AFF}"/>
              </a:ext>
            </a:extLst>
          </p:cNvPr>
          <p:cNvSpPr txBox="1"/>
          <p:nvPr/>
        </p:nvSpPr>
        <p:spPr>
          <a:xfrm>
            <a:off x="914399" y="2143764"/>
            <a:ext cx="5486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 C(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32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200" b="1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∃</a:t>
            </a:r>
            <a:r>
              <a:rPr lang="en-US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( C(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^ F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) ) 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C73664-4B5B-E616-41C0-2FCA4401976C}"/>
              </a:ext>
            </a:extLst>
          </p:cNvPr>
          <p:cNvSpPr txBox="1"/>
          <p:nvPr/>
        </p:nvSpPr>
        <p:spPr>
          <a:xfrm>
            <a:off x="914399" y="2687328"/>
            <a:ext cx="5486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: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has a computer</a:t>
            </a:r>
            <a:endParaRPr lang="en-US" sz="2200" b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F4F84B-164A-4D42-7B41-665A02241395}"/>
              </a:ext>
            </a:extLst>
          </p:cNvPr>
          <p:cNvSpPr txBox="1"/>
          <p:nvPr/>
        </p:nvSpPr>
        <p:spPr>
          <a:xfrm>
            <a:off x="4346509" y="2687328"/>
            <a:ext cx="5486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F(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x, 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: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are friends</a:t>
            </a:r>
            <a:endParaRPr lang="en-US" sz="2200" b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3E0A71-3F02-010C-84FD-920133D5A45F}"/>
              </a:ext>
            </a:extLst>
          </p:cNvPr>
          <p:cNvSpPr txBox="1"/>
          <p:nvPr/>
        </p:nvSpPr>
        <p:spPr>
          <a:xfrm>
            <a:off x="917509" y="3228241"/>
            <a:ext cx="8077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Domain of both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consists of all students in your university</a:t>
            </a:r>
            <a:endParaRPr lang="en-US" sz="2200" b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1F1705-D93C-D4E9-F2F7-8E767598D3BF}"/>
              </a:ext>
            </a:extLst>
          </p:cNvPr>
          <p:cNvSpPr txBox="1"/>
          <p:nvPr/>
        </p:nvSpPr>
        <p:spPr>
          <a:xfrm>
            <a:off x="457199" y="3587623"/>
            <a:ext cx="5486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Ans:</a:t>
            </a:r>
            <a:endParaRPr lang="en-US" sz="2200" b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1D3B94-17D3-C987-82D1-6691EA43CC90}"/>
              </a:ext>
            </a:extLst>
          </p:cNvPr>
          <p:cNvSpPr txBox="1"/>
          <p:nvPr/>
        </p:nvSpPr>
        <p:spPr>
          <a:xfrm>
            <a:off x="914399" y="3947005"/>
            <a:ext cx="56341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For every student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in your university,</a:t>
            </a:r>
            <a:endParaRPr lang="en-US" sz="2200" b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D1CD17-DCA6-A6A9-C4EF-375AC6745806}"/>
              </a:ext>
            </a:extLst>
          </p:cNvPr>
          <p:cNvSpPr txBox="1"/>
          <p:nvPr/>
        </p:nvSpPr>
        <p:spPr>
          <a:xfrm>
            <a:off x="6396135" y="3947004"/>
            <a:ext cx="2209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has a computer</a:t>
            </a:r>
            <a:endParaRPr lang="en-US" sz="2200" b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B5C58A-7B5E-F327-5668-BC59C7E1B216}"/>
              </a:ext>
            </a:extLst>
          </p:cNvPr>
          <p:cNvSpPr txBox="1"/>
          <p:nvPr/>
        </p:nvSpPr>
        <p:spPr>
          <a:xfrm>
            <a:off x="4341845" y="4256950"/>
            <a:ext cx="60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or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33E151-BD9D-5DAE-80AF-678A53BE3080}"/>
              </a:ext>
            </a:extLst>
          </p:cNvPr>
          <p:cNvSpPr txBox="1"/>
          <p:nvPr/>
        </p:nvSpPr>
        <p:spPr>
          <a:xfrm>
            <a:off x="1862235" y="4583873"/>
            <a:ext cx="5410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there is a student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such that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has a computer</a:t>
            </a:r>
            <a:endParaRPr lang="en-US" sz="2200" b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6AAC16-0471-098B-A6D6-2014A32D3A37}"/>
              </a:ext>
            </a:extLst>
          </p:cNvPr>
          <p:cNvSpPr txBox="1"/>
          <p:nvPr/>
        </p:nvSpPr>
        <p:spPr>
          <a:xfrm>
            <a:off x="4341845" y="4886131"/>
            <a:ext cx="60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and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A1709A-E1A4-45D6-E169-703F4EE7EC8C}"/>
              </a:ext>
            </a:extLst>
          </p:cNvPr>
          <p:cNvSpPr txBox="1"/>
          <p:nvPr/>
        </p:nvSpPr>
        <p:spPr>
          <a:xfrm>
            <a:off x="3484595" y="5220741"/>
            <a:ext cx="23241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are friends</a:t>
            </a:r>
            <a:endParaRPr lang="en-US" sz="2200" b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989013-66F4-8E42-6E5B-2212594FA4E6}"/>
              </a:ext>
            </a:extLst>
          </p:cNvPr>
          <p:cNvSpPr txBox="1"/>
          <p:nvPr/>
        </p:nvSpPr>
        <p:spPr>
          <a:xfrm>
            <a:off x="452535" y="5562157"/>
            <a:ext cx="5486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summary:</a:t>
            </a:r>
            <a:endParaRPr lang="en-US" sz="2200" b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41BDC3-D2AA-A640-9A85-63E4771DCA0B}"/>
              </a:ext>
            </a:extLst>
          </p:cNvPr>
          <p:cNvSpPr txBox="1"/>
          <p:nvPr/>
        </p:nvSpPr>
        <p:spPr>
          <a:xfrm>
            <a:off x="914399" y="5936159"/>
            <a:ext cx="76915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Every student in your university, has a computer or has a friend who has a computer</a:t>
            </a:r>
            <a:endParaRPr lang="en-US" sz="2200" b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5621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1" grpId="0"/>
      <p:bldP spid="2" grpId="0"/>
      <p:bldP spid="5" grpId="0"/>
      <p:bldP spid="6" grpId="0"/>
      <p:bldP spid="7" grpId="0"/>
      <p:bldP spid="9" grpId="0"/>
      <p:bldP spid="10" grpId="0"/>
      <p:bldP spid="15" grpId="0"/>
      <p:bldP spid="16" grpId="0"/>
      <p:bldP spid="18" grpId="0"/>
      <p:bldP spid="19" grpId="0"/>
      <p:bldP spid="20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dirty="0"/>
              <a:t>NEGATING NESTED QUANTIFIERS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08216D-FD98-D06B-6AEC-669742536FF0}"/>
              </a:ext>
            </a:extLst>
          </p:cNvPr>
          <p:cNvSpPr txBox="1"/>
          <p:nvPr/>
        </p:nvSpPr>
        <p:spPr>
          <a:xfrm>
            <a:off x="457199" y="16002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negation of the following statement: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B937DA-C8EF-A764-1797-CBCC3BCA0AFF}"/>
              </a:ext>
            </a:extLst>
          </p:cNvPr>
          <p:cNvSpPr txBox="1"/>
          <p:nvPr/>
        </p:nvSpPr>
        <p:spPr>
          <a:xfrm>
            <a:off x="914400" y="2057400"/>
            <a:ext cx="5486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∃</a:t>
            </a:r>
            <a:r>
              <a:rPr lang="en-US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( </a:t>
            </a:r>
            <a:r>
              <a:rPr lang="en-US" sz="2200" b="1" i="1" dirty="0" err="1">
                <a:latin typeface="Times New Roman" pitchFamily="18" charset="0"/>
                <a:cs typeface="Times New Roman" pitchFamily="18" charset="0"/>
              </a:rPr>
              <a:t>xy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1 ) 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656826-5D9E-62D8-B9B4-315F8A2D167B}"/>
              </a:ext>
            </a:extLst>
          </p:cNvPr>
          <p:cNvSpPr txBox="1"/>
          <p:nvPr/>
        </p:nvSpPr>
        <p:spPr>
          <a:xfrm>
            <a:off x="457199" y="27432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Q(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∃</a:t>
            </a:r>
            <a:r>
              <a:rPr lang="en-US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( </a:t>
            </a:r>
            <a:r>
              <a:rPr lang="en-US" sz="2200" b="1" i="1" dirty="0" err="1">
                <a:latin typeface="Times New Roman" pitchFamily="18" charset="0"/>
                <a:cs typeface="Times New Roman" pitchFamily="18" charset="0"/>
              </a:rPr>
              <a:t>xy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1 ) 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267CF5-847F-785B-BA34-E5E725A9B44F}"/>
              </a:ext>
            </a:extLst>
          </p:cNvPr>
          <p:cNvSpPr txBox="1"/>
          <p:nvPr/>
        </p:nvSpPr>
        <p:spPr>
          <a:xfrm>
            <a:off x="461864" y="33528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the given statement stands: 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B685A8-BE72-D3CE-E4A9-2F0B539DE276}"/>
              </a:ext>
            </a:extLst>
          </p:cNvPr>
          <p:cNvSpPr txBox="1"/>
          <p:nvPr/>
        </p:nvSpPr>
        <p:spPr>
          <a:xfrm>
            <a:off x="457199" y="3901751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negation of the statement is: </a:t>
            </a:r>
            <a:r>
              <a:rPr lang="ko-KR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5EB54C-18D4-EE35-B2EF-1E1AE3786177}"/>
              </a:ext>
            </a:extLst>
          </p:cNvPr>
          <p:cNvSpPr txBox="1"/>
          <p:nvPr/>
        </p:nvSpPr>
        <p:spPr>
          <a:xfrm>
            <a:off x="457199" y="4467254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De Morgan’s law: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∃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ko-KR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D929EA-408D-86A4-9635-22EE4C7F7827}"/>
              </a:ext>
            </a:extLst>
          </p:cNvPr>
          <p:cNvSpPr txBox="1"/>
          <p:nvPr/>
        </p:nvSpPr>
        <p:spPr>
          <a:xfrm>
            <a:off x="461864" y="5026967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Replacing Q(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with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∃</a:t>
            </a:r>
            <a:r>
              <a:rPr lang="en-US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( </a:t>
            </a:r>
            <a:r>
              <a:rPr lang="en-US" sz="2200" b="1" i="1" dirty="0" err="1">
                <a:latin typeface="Times New Roman" pitchFamily="18" charset="0"/>
                <a:cs typeface="Times New Roman" pitchFamily="18" charset="0"/>
              </a:rPr>
              <a:t>xy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1 ) :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∃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ko-KR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∃</a:t>
            </a:r>
            <a:r>
              <a:rPr lang="en-US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( </a:t>
            </a:r>
            <a:r>
              <a:rPr lang="en-US" sz="2200" b="1" i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xy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= 1 ) ) 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1FF627-328D-895C-3CD9-A868968FB7E1}"/>
              </a:ext>
            </a:extLst>
          </p:cNvPr>
          <p:cNvSpPr txBox="1"/>
          <p:nvPr/>
        </p:nvSpPr>
        <p:spPr>
          <a:xfrm>
            <a:off x="457199" y="5652194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De Morgan’s law: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∃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ko-KR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ko-KR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en-US" sz="2200" b="1" i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xy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= 1 )  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214304-10C8-DB09-A3C1-FAC217A70E6C}"/>
              </a:ext>
            </a:extLst>
          </p:cNvPr>
          <p:cNvSpPr txBox="1"/>
          <p:nvPr/>
        </p:nvSpPr>
        <p:spPr>
          <a:xfrm>
            <a:off x="457199" y="6191165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the negation of </a:t>
            </a:r>
            <a:r>
              <a:rPr lang="en-US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xy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1: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∃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ko-KR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ko-KR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en-US" sz="2200" b="1" i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xy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≠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1 )  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0679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2" grpId="0"/>
      <p:bldP spid="13" grpId="0"/>
      <p:bldP spid="14" grpId="0"/>
      <p:bldP spid="17" grpId="0"/>
      <p:bldP spid="21" grpId="0"/>
      <p:bldP spid="22" grpId="0"/>
      <p:bldP spid="23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RULES OF INFERENCE</a:t>
            </a:r>
          </a:p>
        </p:txBody>
      </p:sp>
    </p:spTree>
    <p:extLst>
      <p:ext uri="{BB962C8B-B14F-4D97-AF65-F5344CB8AC3E}">
        <p14:creationId xmlns:p14="http://schemas.microsoft.com/office/powerpoint/2010/main" val="100287298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-404377"/>
            <a:ext cx="8229600" cy="1600200"/>
          </a:xfrm>
        </p:spPr>
        <p:txBody>
          <a:bodyPr/>
          <a:lstStyle/>
          <a:p>
            <a:r>
              <a:rPr lang="en-US" sz="3800" dirty="0"/>
              <a:t>ARGUMENT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08216D-FD98-D06B-6AEC-669742536FF0}"/>
              </a:ext>
            </a:extLst>
          </p:cNvPr>
          <p:cNvSpPr txBox="1"/>
          <p:nvPr/>
        </p:nvSpPr>
        <p:spPr>
          <a:xfrm>
            <a:off x="457199" y="1600200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 rules which are used to infer a conclusion from a premise to create an argument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0C3849-3E9B-5EF4-B40E-5313F56297DA}"/>
              </a:ext>
            </a:extLst>
          </p:cNvPr>
          <p:cNvSpPr txBox="1"/>
          <p:nvPr/>
        </p:nvSpPr>
        <p:spPr>
          <a:xfrm>
            <a:off x="457199" y="2402298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Let,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two propositions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47638D-8C4F-0BDC-870D-E4312C024218}"/>
              </a:ext>
            </a:extLst>
          </p:cNvPr>
          <p:cNvSpPr txBox="1"/>
          <p:nvPr/>
        </p:nvSpPr>
        <p:spPr>
          <a:xfrm>
            <a:off x="838200" y="2885811"/>
            <a:ext cx="78485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true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4A0809-EFCD-8F15-4C8B-6368E6EFFA3B}"/>
              </a:ext>
            </a:extLst>
          </p:cNvPr>
          <p:cNvSpPr txBox="1"/>
          <p:nvPr/>
        </p:nvSpPr>
        <p:spPr>
          <a:xfrm>
            <a:off x="838199" y="3322069"/>
            <a:ext cx="78485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false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5B8D0C-D1D4-DA97-BB84-7659DA42EFF7}"/>
              </a:ext>
            </a:extLst>
          </p:cNvPr>
          <p:cNvSpPr txBox="1"/>
          <p:nvPr/>
        </p:nvSpPr>
        <p:spPr>
          <a:xfrm>
            <a:off x="838199" y="3752956"/>
            <a:ext cx="78485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it can be surely claimed that,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true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47530A-068D-6215-5FB7-9642A76938D2}"/>
              </a:ext>
            </a:extLst>
          </p:cNvPr>
          <p:cNvSpPr txBox="1"/>
          <p:nvPr/>
        </p:nvSpPr>
        <p:spPr>
          <a:xfrm>
            <a:off x="457198" y="4272916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can be written as the following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4E0F36-F079-AA61-E571-568FEBD1B83F}"/>
              </a:ext>
            </a:extLst>
          </p:cNvPr>
          <p:cNvSpPr txBox="1"/>
          <p:nvPr/>
        </p:nvSpPr>
        <p:spPr>
          <a:xfrm>
            <a:off x="838199" y="4813144"/>
            <a:ext cx="17526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true</a:t>
            </a:r>
            <a:endParaRPr lang="en-US" sz="2200" b="1" i="1" baseline="-25000" dirty="0">
              <a:solidFill>
                <a:schemeClr val="bg1">
                  <a:lumMod val="6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A2F438-AAA3-4EB0-8D36-8ACA1F5F794D}"/>
              </a:ext>
            </a:extLst>
          </p:cNvPr>
          <p:cNvSpPr txBox="1"/>
          <p:nvPr/>
        </p:nvSpPr>
        <p:spPr>
          <a:xfrm>
            <a:off x="827313" y="5296729"/>
            <a:ext cx="1687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true</a:t>
            </a:r>
            <a:endParaRPr lang="en-US" sz="2200" b="1" i="1" baseline="-25000" dirty="0">
              <a:solidFill>
                <a:schemeClr val="bg1">
                  <a:lumMod val="6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A01F6DB-35ED-7377-D37E-45F764B567C9}"/>
              </a:ext>
            </a:extLst>
          </p:cNvPr>
          <p:cNvCxnSpPr>
            <a:cxnSpLocks/>
          </p:cNvCxnSpPr>
          <p:nvPr/>
        </p:nvCxnSpPr>
        <p:spPr>
          <a:xfrm flipV="1">
            <a:off x="685800" y="5806752"/>
            <a:ext cx="1761932" cy="37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49C872C-FD4B-6F1E-9FE3-343C17C40326}"/>
              </a:ext>
            </a:extLst>
          </p:cNvPr>
          <p:cNvSpPr txBox="1"/>
          <p:nvPr/>
        </p:nvSpPr>
        <p:spPr>
          <a:xfrm>
            <a:off x="817206" y="5784032"/>
            <a:ext cx="16872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∴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true</a:t>
            </a:r>
            <a:endParaRPr lang="en-US" sz="2200" b="1" i="1" baseline="-25000" dirty="0">
              <a:solidFill>
                <a:schemeClr val="bg1">
                  <a:lumMod val="6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565D4E-A1EF-6C88-7395-331E1BEDCA3C}"/>
              </a:ext>
            </a:extLst>
          </p:cNvPr>
          <p:cNvSpPr txBox="1"/>
          <p:nvPr/>
        </p:nvSpPr>
        <p:spPr>
          <a:xfrm>
            <a:off x="3749349" y="4756728"/>
            <a:ext cx="17526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sz="2200" b="1" i="1" baseline="-25000" dirty="0">
              <a:solidFill>
                <a:schemeClr val="bg1">
                  <a:lumMod val="6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9770D1-33C8-AEB3-5DE0-2F8A2C5B1750}"/>
              </a:ext>
            </a:extLst>
          </p:cNvPr>
          <p:cNvSpPr txBox="1"/>
          <p:nvPr/>
        </p:nvSpPr>
        <p:spPr>
          <a:xfrm>
            <a:off x="3738463" y="5240313"/>
            <a:ext cx="1687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2200" b="1" i="1" baseline="-25000" dirty="0">
              <a:solidFill>
                <a:schemeClr val="bg1">
                  <a:lumMod val="6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4B0AD59-9B55-6F9A-05EB-9D4A6D3D79BB}"/>
              </a:ext>
            </a:extLst>
          </p:cNvPr>
          <p:cNvCxnSpPr>
            <a:cxnSpLocks/>
          </p:cNvCxnSpPr>
          <p:nvPr/>
        </p:nvCxnSpPr>
        <p:spPr>
          <a:xfrm>
            <a:off x="3669256" y="5773204"/>
            <a:ext cx="822656" cy="5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2B7D163-4968-5973-E1F7-C6ECE2603CB2}"/>
              </a:ext>
            </a:extLst>
          </p:cNvPr>
          <p:cNvSpPr txBox="1"/>
          <p:nvPr/>
        </p:nvSpPr>
        <p:spPr>
          <a:xfrm>
            <a:off x="3718242" y="5773204"/>
            <a:ext cx="8226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∴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sz="2200" b="1" i="1" baseline="-25000" dirty="0">
              <a:solidFill>
                <a:schemeClr val="bg1">
                  <a:lumMod val="6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CA0F891-9EDE-B8BF-5365-D209D54E86C7}"/>
              </a:ext>
            </a:extLst>
          </p:cNvPr>
          <p:cNvSpPr/>
          <p:nvPr/>
        </p:nvSpPr>
        <p:spPr>
          <a:xfrm>
            <a:off x="3596950" y="4666320"/>
            <a:ext cx="1066800" cy="191450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867D10-3AEB-258C-B606-AD9D04DD5926}"/>
              </a:ext>
            </a:extLst>
          </p:cNvPr>
          <p:cNvSpPr txBox="1"/>
          <p:nvPr/>
        </p:nvSpPr>
        <p:spPr>
          <a:xfrm>
            <a:off x="5425750" y="5408130"/>
            <a:ext cx="16872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Argument</a:t>
            </a:r>
            <a:endParaRPr lang="en-US" sz="2200" b="1" i="1" baseline="-25000" dirty="0">
              <a:solidFill>
                <a:schemeClr val="bg1">
                  <a:lumMod val="6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2647978-F06D-801B-0805-F603C72326B8}"/>
              </a:ext>
            </a:extLst>
          </p:cNvPr>
          <p:cNvCxnSpPr>
            <a:stCxn id="14" idx="6"/>
            <a:endCxn id="16" idx="1"/>
          </p:cNvCxnSpPr>
          <p:nvPr/>
        </p:nvCxnSpPr>
        <p:spPr>
          <a:xfrm>
            <a:off x="4663750" y="5623574"/>
            <a:ext cx="762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D83A156-2F78-31AF-53BA-5F44AE03C329}"/>
              </a:ext>
            </a:extLst>
          </p:cNvPr>
          <p:cNvSpPr txBox="1"/>
          <p:nvPr/>
        </p:nvSpPr>
        <p:spPr>
          <a:xfrm>
            <a:off x="5425750" y="5869795"/>
            <a:ext cx="24026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 Argument</a:t>
            </a:r>
            <a:endParaRPr lang="en-US" sz="2200" b="1" i="1" baseline="-250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1870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P spid="5" grpId="0"/>
      <p:bldP spid="6" grpId="0"/>
      <p:bldP spid="7" grpId="0"/>
      <p:bldP spid="10" grpId="0"/>
      <p:bldP spid="11" grpId="0"/>
      <p:bldP spid="15" grpId="0"/>
      <p:bldP spid="24" grpId="0"/>
      <p:bldP spid="25" grpId="0"/>
      <p:bldP spid="26" grpId="0"/>
      <p:bldP spid="28" grpId="0"/>
      <p:bldP spid="14" grpId="0" animBg="1"/>
      <p:bldP spid="16" grpId="0"/>
      <p:bldP spid="18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ARGUMENT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0C3849-3E9B-5EF4-B40E-5313F56297DA}"/>
              </a:ext>
            </a:extLst>
          </p:cNvPr>
          <p:cNvSpPr txBox="1"/>
          <p:nvPr/>
        </p:nvSpPr>
        <p:spPr>
          <a:xfrm>
            <a:off x="457200" y="16002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Let,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two propositions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47638D-8C4F-0BDC-870D-E4312C024218}"/>
              </a:ext>
            </a:extLst>
          </p:cNvPr>
          <p:cNvSpPr txBox="1"/>
          <p:nvPr/>
        </p:nvSpPr>
        <p:spPr>
          <a:xfrm>
            <a:off x="457199" y="2083785"/>
            <a:ext cx="78485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following argument a valid one?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565D4E-A1EF-6C88-7395-331E1BEDCA3C}"/>
              </a:ext>
            </a:extLst>
          </p:cNvPr>
          <p:cNvSpPr txBox="1"/>
          <p:nvPr/>
        </p:nvSpPr>
        <p:spPr>
          <a:xfrm>
            <a:off x="1143000" y="2567370"/>
            <a:ext cx="17526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sz="2200" b="1" i="1" baseline="-25000" dirty="0">
              <a:solidFill>
                <a:schemeClr val="bg1">
                  <a:lumMod val="6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9770D1-33C8-AEB3-5DE0-2F8A2C5B1750}"/>
              </a:ext>
            </a:extLst>
          </p:cNvPr>
          <p:cNvSpPr txBox="1"/>
          <p:nvPr/>
        </p:nvSpPr>
        <p:spPr>
          <a:xfrm>
            <a:off x="1132114" y="3050955"/>
            <a:ext cx="16872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2200" b="1" i="1" baseline="-25000" dirty="0">
              <a:solidFill>
                <a:schemeClr val="bg1">
                  <a:lumMod val="6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4B0AD59-9B55-6F9A-05EB-9D4A6D3D79BB}"/>
              </a:ext>
            </a:extLst>
          </p:cNvPr>
          <p:cNvCxnSpPr>
            <a:cxnSpLocks/>
          </p:cNvCxnSpPr>
          <p:nvPr/>
        </p:nvCxnSpPr>
        <p:spPr>
          <a:xfrm>
            <a:off x="1062907" y="3583846"/>
            <a:ext cx="822656" cy="5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2B7D163-4968-5973-E1F7-C6ECE2603CB2}"/>
              </a:ext>
            </a:extLst>
          </p:cNvPr>
          <p:cNvSpPr txBox="1"/>
          <p:nvPr/>
        </p:nvSpPr>
        <p:spPr>
          <a:xfrm>
            <a:off x="1111893" y="3583846"/>
            <a:ext cx="8226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∴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sz="2200" b="1" i="1" baseline="-25000" dirty="0">
              <a:solidFill>
                <a:schemeClr val="bg1">
                  <a:lumMod val="6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CFB03D-A049-78E3-50C1-559CAEA547FB}"/>
              </a:ext>
            </a:extLst>
          </p:cNvPr>
          <p:cNvSpPr txBox="1"/>
          <p:nvPr/>
        </p:nvSpPr>
        <p:spPr>
          <a:xfrm>
            <a:off x="2268111" y="2864743"/>
            <a:ext cx="23800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Invalid argument</a:t>
            </a:r>
            <a:endParaRPr lang="en-US" sz="2200" b="1" i="1" baseline="-25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810359-E8F3-C1DF-EFD7-46DD370EDFBA}"/>
              </a:ext>
            </a:extLst>
          </p:cNvPr>
          <p:cNvSpPr txBox="1"/>
          <p:nvPr/>
        </p:nvSpPr>
        <p:spPr>
          <a:xfrm>
            <a:off x="457198" y="4090682"/>
            <a:ext cx="78485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the claim is that,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F907F3-EADF-DA2B-7637-9F7FB0F46208}"/>
              </a:ext>
            </a:extLst>
          </p:cNvPr>
          <p:cNvSpPr txBox="1"/>
          <p:nvPr/>
        </p:nvSpPr>
        <p:spPr>
          <a:xfrm>
            <a:off x="912844" y="4552365"/>
            <a:ext cx="4343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true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833B4F-0F73-42D9-82A3-268B7AA865E4}"/>
              </a:ext>
            </a:extLst>
          </p:cNvPr>
          <p:cNvSpPr txBox="1"/>
          <p:nvPr/>
        </p:nvSpPr>
        <p:spPr>
          <a:xfrm>
            <a:off x="3352800" y="4555521"/>
            <a:ext cx="4343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true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01877D-58CA-FBCD-939F-9A8449D6BD66}"/>
              </a:ext>
            </a:extLst>
          </p:cNvPr>
          <p:cNvSpPr txBox="1"/>
          <p:nvPr/>
        </p:nvSpPr>
        <p:spPr>
          <a:xfrm>
            <a:off x="6059456" y="4552364"/>
            <a:ext cx="4343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also true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5F54D9-D600-1EF2-3321-62A1B98C8754}"/>
              </a:ext>
            </a:extLst>
          </p:cNvPr>
          <p:cNvSpPr txBox="1"/>
          <p:nvPr/>
        </p:nvSpPr>
        <p:spPr>
          <a:xfrm>
            <a:off x="457198" y="5081699"/>
            <a:ext cx="82296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in case of disjunction if 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true, then it can not surely claimed that 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true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755163-900A-237F-2317-420B511FDDD1}"/>
              </a:ext>
            </a:extLst>
          </p:cNvPr>
          <p:cNvSpPr txBox="1"/>
          <p:nvPr/>
        </p:nvSpPr>
        <p:spPr>
          <a:xfrm>
            <a:off x="457198" y="5945939"/>
            <a:ext cx="78485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the argument is not valid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961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25" grpId="0"/>
      <p:bldP spid="26" grpId="0"/>
      <p:bldP spid="28" grpId="0"/>
      <p:bldP spid="8" grpId="0"/>
      <p:bldP spid="9" grpId="0"/>
      <p:bldP spid="12" grpId="0"/>
      <p:bldP spid="13" grpId="0"/>
      <p:bldP spid="19" grpId="0"/>
      <p:bldP spid="21" grpId="0"/>
      <p:bldP spid="22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ARGUMENT  EXPRESSION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0C3849-3E9B-5EF4-B40E-5313F56297DA}"/>
              </a:ext>
            </a:extLst>
          </p:cNvPr>
          <p:cNvSpPr txBox="1"/>
          <p:nvPr/>
        </p:nvSpPr>
        <p:spPr>
          <a:xfrm>
            <a:off x="457200" y="16002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Let,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two propositions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565D4E-A1EF-6C88-7395-331E1BEDCA3C}"/>
              </a:ext>
            </a:extLst>
          </p:cNvPr>
          <p:cNvSpPr txBox="1"/>
          <p:nvPr/>
        </p:nvSpPr>
        <p:spPr>
          <a:xfrm>
            <a:off x="990600" y="2133600"/>
            <a:ext cx="17526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sz="2200" b="1" i="1" baseline="-25000" dirty="0">
              <a:solidFill>
                <a:schemeClr val="bg1">
                  <a:lumMod val="6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9770D1-33C8-AEB3-5DE0-2F8A2C5B1750}"/>
              </a:ext>
            </a:extLst>
          </p:cNvPr>
          <p:cNvSpPr txBox="1"/>
          <p:nvPr/>
        </p:nvSpPr>
        <p:spPr>
          <a:xfrm>
            <a:off x="979714" y="2617185"/>
            <a:ext cx="1687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2200" b="1" i="1" baseline="-25000" dirty="0">
              <a:solidFill>
                <a:schemeClr val="bg1">
                  <a:lumMod val="6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4B0AD59-9B55-6F9A-05EB-9D4A6D3D79BB}"/>
              </a:ext>
            </a:extLst>
          </p:cNvPr>
          <p:cNvCxnSpPr>
            <a:cxnSpLocks/>
          </p:cNvCxnSpPr>
          <p:nvPr/>
        </p:nvCxnSpPr>
        <p:spPr>
          <a:xfrm>
            <a:off x="910507" y="3150076"/>
            <a:ext cx="822656" cy="5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2B7D163-4968-5973-E1F7-C6ECE2603CB2}"/>
              </a:ext>
            </a:extLst>
          </p:cNvPr>
          <p:cNvSpPr txBox="1"/>
          <p:nvPr/>
        </p:nvSpPr>
        <p:spPr>
          <a:xfrm>
            <a:off x="959493" y="3150076"/>
            <a:ext cx="8226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∴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sz="2200" b="1" i="1" baseline="-25000" dirty="0">
              <a:solidFill>
                <a:schemeClr val="bg1">
                  <a:lumMod val="6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2069EE-04D7-C181-EF4E-60E71E25506C}"/>
              </a:ext>
            </a:extLst>
          </p:cNvPr>
          <p:cNvSpPr txBox="1"/>
          <p:nvPr/>
        </p:nvSpPr>
        <p:spPr>
          <a:xfrm>
            <a:off x="457200" y="3652189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does this argument means?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64C315-01DB-56A0-BF13-32D0D59A540C}"/>
              </a:ext>
            </a:extLst>
          </p:cNvPr>
          <p:cNvSpPr txBox="1"/>
          <p:nvPr/>
        </p:nvSpPr>
        <p:spPr>
          <a:xfrm>
            <a:off x="897930" y="4152013"/>
            <a:ext cx="7788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true </a:t>
            </a:r>
            <a:r>
              <a:rPr lang="en-US" sz="22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b="1" i="1" baseline="-25000" dirty="0">
                <a:solidFill>
                  <a:prstClr val="white">
                    <a:lumMod val="65000"/>
                  </a:prst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true, </a:t>
            </a:r>
            <a:r>
              <a:rPr lang="en-US" sz="22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true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7E7E24-41C8-B0FF-C8C3-58A946EAC925}"/>
              </a:ext>
            </a:extLst>
          </p:cNvPr>
          <p:cNvSpPr txBox="1"/>
          <p:nvPr/>
        </p:nvSpPr>
        <p:spPr>
          <a:xfrm>
            <a:off x="897930" y="4682615"/>
            <a:ext cx="2759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fr-FR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^ </a:t>
            </a:r>
            <a:r>
              <a:rPr lang="ko-KR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dirty="0">
                <a:solidFill>
                  <a:prstClr val="black"/>
                </a:solidFill>
              </a:rPr>
              <a:t> →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48F00E-7A91-2808-363A-0548B968960C}"/>
              </a:ext>
            </a:extLst>
          </p:cNvPr>
          <p:cNvSpPr txBox="1"/>
          <p:nvPr/>
        </p:nvSpPr>
        <p:spPr>
          <a:xfrm>
            <a:off x="3657600" y="4713393"/>
            <a:ext cx="27596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tautology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176A22-5EE5-27FF-1986-E56BFE0D236F}"/>
              </a:ext>
            </a:extLst>
          </p:cNvPr>
          <p:cNvSpPr txBox="1"/>
          <p:nvPr/>
        </p:nvSpPr>
        <p:spPr>
          <a:xfrm>
            <a:off x="3657600" y="5155518"/>
            <a:ext cx="45402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this argument is always true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243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5" grpId="0"/>
      <p:bldP spid="26" grpId="0"/>
      <p:bldP spid="28" grpId="0"/>
      <p:bldP spid="8" grpId="0"/>
      <p:bldP spid="9" grpId="0"/>
      <p:bldP spid="12" grpId="0"/>
      <p:bldP spid="13" grpId="0"/>
      <p:bldP spid="19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RULES OF INFERENCE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0C3849-3E9B-5EF4-B40E-5313F56297DA}"/>
              </a:ext>
            </a:extLst>
          </p:cNvPr>
          <p:cNvSpPr txBox="1"/>
          <p:nvPr/>
        </p:nvSpPr>
        <p:spPr>
          <a:xfrm>
            <a:off x="457200" y="16002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Let,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two propositions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565D4E-A1EF-6C88-7395-331E1BEDCA3C}"/>
              </a:ext>
            </a:extLst>
          </p:cNvPr>
          <p:cNvSpPr txBox="1"/>
          <p:nvPr/>
        </p:nvSpPr>
        <p:spPr>
          <a:xfrm>
            <a:off x="990600" y="2133600"/>
            <a:ext cx="17526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sz="2200" b="1" i="1" baseline="-25000" dirty="0">
              <a:solidFill>
                <a:schemeClr val="bg1">
                  <a:lumMod val="6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9770D1-33C8-AEB3-5DE0-2F8A2C5B1750}"/>
              </a:ext>
            </a:extLst>
          </p:cNvPr>
          <p:cNvSpPr txBox="1"/>
          <p:nvPr/>
        </p:nvSpPr>
        <p:spPr>
          <a:xfrm>
            <a:off x="979714" y="2617185"/>
            <a:ext cx="1687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2200" b="1" i="1" baseline="-25000" dirty="0">
              <a:solidFill>
                <a:schemeClr val="bg1">
                  <a:lumMod val="6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4B0AD59-9B55-6F9A-05EB-9D4A6D3D79BB}"/>
              </a:ext>
            </a:extLst>
          </p:cNvPr>
          <p:cNvCxnSpPr>
            <a:cxnSpLocks/>
          </p:cNvCxnSpPr>
          <p:nvPr/>
        </p:nvCxnSpPr>
        <p:spPr>
          <a:xfrm>
            <a:off x="910507" y="3150076"/>
            <a:ext cx="822656" cy="5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2B7D163-4968-5973-E1F7-C6ECE2603CB2}"/>
              </a:ext>
            </a:extLst>
          </p:cNvPr>
          <p:cNvSpPr txBox="1"/>
          <p:nvPr/>
        </p:nvSpPr>
        <p:spPr>
          <a:xfrm>
            <a:off x="959493" y="3150076"/>
            <a:ext cx="8226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∴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sz="2200" b="1" i="1" baseline="-25000" dirty="0">
              <a:solidFill>
                <a:schemeClr val="bg1">
                  <a:lumMod val="6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2069EE-04D7-C181-EF4E-60E71E25506C}"/>
              </a:ext>
            </a:extLst>
          </p:cNvPr>
          <p:cNvSpPr txBox="1"/>
          <p:nvPr/>
        </p:nvSpPr>
        <p:spPr>
          <a:xfrm>
            <a:off x="457200" y="3652189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does this argument means?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64C315-01DB-56A0-BF13-32D0D59A540C}"/>
              </a:ext>
            </a:extLst>
          </p:cNvPr>
          <p:cNvSpPr txBox="1"/>
          <p:nvPr/>
        </p:nvSpPr>
        <p:spPr>
          <a:xfrm>
            <a:off x="897930" y="4152013"/>
            <a:ext cx="7788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true </a:t>
            </a:r>
            <a:r>
              <a:rPr lang="en-US" sz="22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b="1" i="1" baseline="-25000" dirty="0">
                <a:solidFill>
                  <a:prstClr val="white">
                    <a:lumMod val="65000"/>
                  </a:prst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true, </a:t>
            </a:r>
            <a:r>
              <a:rPr lang="en-US" sz="22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true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7E7E24-41C8-B0FF-C8C3-58A946EAC925}"/>
              </a:ext>
            </a:extLst>
          </p:cNvPr>
          <p:cNvSpPr txBox="1"/>
          <p:nvPr/>
        </p:nvSpPr>
        <p:spPr>
          <a:xfrm>
            <a:off x="897930" y="4682615"/>
            <a:ext cx="2759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fr-FR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^ </a:t>
            </a:r>
            <a:r>
              <a:rPr lang="ko-KR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dirty="0">
                <a:solidFill>
                  <a:prstClr val="black"/>
                </a:solidFill>
              </a:rPr>
              <a:t> →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48F00E-7A91-2808-363A-0548B968960C}"/>
              </a:ext>
            </a:extLst>
          </p:cNvPr>
          <p:cNvSpPr txBox="1"/>
          <p:nvPr/>
        </p:nvSpPr>
        <p:spPr>
          <a:xfrm>
            <a:off x="3657600" y="4713393"/>
            <a:ext cx="27596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tautology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176A22-5EE5-27FF-1986-E56BFE0D236F}"/>
              </a:ext>
            </a:extLst>
          </p:cNvPr>
          <p:cNvSpPr txBox="1"/>
          <p:nvPr/>
        </p:nvSpPr>
        <p:spPr>
          <a:xfrm>
            <a:off x="3651682" y="5093365"/>
            <a:ext cx="45402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this argument is always true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B0A6EE7F-1EED-6C7F-0350-84A48F7DDA11}"/>
              </a:ext>
            </a:extLst>
          </p:cNvPr>
          <p:cNvSpPr/>
          <p:nvPr/>
        </p:nvSpPr>
        <p:spPr>
          <a:xfrm rot="16200000">
            <a:off x="1853694" y="4578609"/>
            <a:ext cx="355250" cy="1460398"/>
          </a:xfrm>
          <a:prstGeom prst="leftBrace">
            <a:avLst>
              <a:gd name="adj1" fmla="val 29516"/>
              <a:gd name="adj2" fmla="val 49359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5CD545-1D7E-387C-25C8-D71F2A0CBF56}"/>
              </a:ext>
            </a:extLst>
          </p:cNvPr>
          <p:cNvSpPr txBox="1"/>
          <p:nvPr/>
        </p:nvSpPr>
        <p:spPr>
          <a:xfrm>
            <a:off x="1282803" y="5455640"/>
            <a:ext cx="146039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Premise/ Hypothesis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EA4347-3AE4-4967-DC88-29E983CE0480}"/>
              </a:ext>
            </a:extLst>
          </p:cNvPr>
          <p:cNvSpPr txBox="1"/>
          <p:nvPr/>
        </p:nvSpPr>
        <p:spPr>
          <a:xfrm>
            <a:off x="2514600" y="6225081"/>
            <a:ext cx="14603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B94EF64-AF07-F4F7-4B56-47E9911DB90F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3244799" y="5144280"/>
            <a:ext cx="0" cy="10808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2475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5" grpId="0"/>
      <p:bldP spid="26" grpId="0"/>
      <p:bldP spid="28" grpId="0"/>
      <p:bldP spid="8" grpId="0"/>
      <p:bldP spid="9" grpId="0"/>
      <p:bldP spid="12" grpId="0"/>
      <p:bldP spid="13" grpId="0"/>
      <p:bldP spid="19" grpId="0"/>
      <p:bldP spid="4" grpId="0" animBg="1"/>
      <p:bldP spid="5" grpId="0"/>
      <p:bldP spid="6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RULES OF INFERENCE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822C9211-2003-0EFF-EAD1-0F299D1C5B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871811"/>
              </p:ext>
            </p:extLst>
          </p:nvPr>
        </p:nvGraphicFramePr>
        <p:xfrm>
          <a:off x="571500" y="1600200"/>
          <a:ext cx="8001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844917359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1517947635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8305564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781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478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6650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743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8122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CDA4B90-2B10-2691-F492-E00F65145EF1}"/>
              </a:ext>
            </a:extLst>
          </p:cNvPr>
          <p:cNvSpPr txBox="1"/>
          <p:nvPr/>
        </p:nvSpPr>
        <p:spPr>
          <a:xfrm>
            <a:off x="571500" y="1595534"/>
            <a:ext cx="7328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Rule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FCE67C-25E0-B0E1-C1F4-609A1E7C3BD1}"/>
              </a:ext>
            </a:extLst>
          </p:cNvPr>
          <p:cNvSpPr txBox="1"/>
          <p:nvPr/>
        </p:nvSpPr>
        <p:spPr>
          <a:xfrm>
            <a:off x="2287597" y="1595534"/>
            <a:ext cx="1335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Tautology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29CFFA-6982-D971-978C-3C9A9DE7C3A6}"/>
              </a:ext>
            </a:extLst>
          </p:cNvPr>
          <p:cNvSpPr txBox="1"/>
          <p:nvPr/>
        </p:nvSpPr>
        <p:spPr>
          <a:xfrm>
            <a:off x="5899403" y="1602089"/>
            <a:ext cx="1798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Name of Rule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BF190A6-8E42-5DAD-F69F-F6F9F448552B}"/>
              </a:ext>
            </a:extLst>
          </p:cNvPr>
          <p:cNvGrpSpPr/>
          <p:nvPr/>
        </p:nvGrpSpPr>
        <p:grpSpPr>
          <a:xfrm>
            <a:off x="666439" y="2026421"/>
            <a:ext cx="1136008" cy="1116687"/>
            <a:chOff x="-1440807" y="2831682"/>
            <a:chExt cx="1136008" cy="111668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765C38B-A701-18E7-EF8B-E851110BA198}"/>
                </a:ext>
              </a:extLst>
            </p:cNvPr>
            <p:cNvSpPr txBox="1"/>
            <p:nvPr/>
          </p:nvSpPr>
          <p:spPr>
            <a:xfrm>
              <a:off x="-1360713" y="2831682"/>
              <a:ext cx="105591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>
                  <a:solidFill>
                    <a:prstClr val="black"/>
                  </a:solidFill>
                </a:rPr>
                <a:t>→  </a:t>
              </a:r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89207C1-80DB-A5BB-BD1E-3DD258F8B839}"/>
                </a:ext>
              </a:extLst>
            </p:cNvPr>
            <p:cNvSpPr txBox="1"/>
            <p:nvPr/>
          </p:nvSpPr>
          <p:spPr>
            <a:xfrm>
              <a:off x="-1401248" y="3172138"/>
              <a:ext cx="6096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3A2563E-04A9-B183-863A-EE9517C70889}"/>
                </a:ext>
              </a:extLst>
            </p:cNvPr>
            <p:cNvCxnSpPr>
              <a:cxnSpLocks/>
            </p:cNvCxnSpPr>
            <p:nvPr/>
          </p:nvCxnSpPr>
          <p:spPr>
            <a:xfrm>
              <a:off x="-1440807" y="3593682"/>
              <a:ext cx="822656" cy="5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2CC2700-9F79-0373-7F2E-D63B19B0C807}"/>
                </a:ext>
              </a:extLst>
            </p:cNvPr>
            <p:cNvSpPr txBox="1"/>
            <p:nvPr/>
          </p:nvSpPr>
          <p:spPr>
            <a:xfrm>
              <a:off x="-1440807" y="3517482"/>
              <a:ext cx="82265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∴ </a:t>
              </a:r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0CBE594C-5460-C2CC-2309-F0C0D7E6C446}"/>
              </a:ext>
            </a:extLst>
          </p:cNvPr>
          <p:cNvSpPr txBox="1"/>
          <p:nvPr/>
        </p:nvSpPr>
        <p:spPr>
          <a:xfrm>
            <a:off x="2287597" y="2336099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fr-FR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^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baseline="-25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A9C8199-5A28-7B73-5C8F-8F693B1796AE}"/>
              </a:ext>
            </a:extLst>
          </p:cNvPr>
          <p:cNvSpPr txBox="1"/>
          <p:nvPr/>
        </p:nvSpPr>
        <p:spPr>
          <a:xfrm>
            <a:off x="5910500" y="2368175"/>
            <a:ext cx="2743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Modus Ponens</a:t>
            </a:r>
            <a:endParaRPr lang="en-US" sz="2200" baseline="-25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B8C652B-D04A-E7D1-9D75-34A2A32A24A0}"/>
              </a:ext>
            </a:extLst>
          </p:cNvPr>
          <p:cNvGrpSpPr/>
          <p:nvPr/>
        </p:nvGrpSpPr>
        <p:grpSpPr>
          <a:xfrm>
            <a:off x="666439" y="3090407"/>
            <a:ext cx="1136008" cy="1147465"/>
            <a:chOff x="-1440807" y="2831682"/>
            <a:chExt cx="1136008" cy="1147465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FB373B1-C4A6-C4F4-449B-C8B382928D92}"/>
                </a:ext>
              </a:extLst>
            </p:cNvPr>
            <p:cNvSpPr txBox="1"/>
            <p:nvPr/>
          </p:nvSpPr>
          <p:spPr>
            <a:xfrm>
              <a:off x="-1360713" y="2831682"/>
              <a:ext cx="105591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>
                  <a:solidFill>
                    <a:prstClr val="black"/>
                  </a:solidFill>
                </a:rPr>
                <a:t>→  </a:t>
              </a:r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8C9E29D-46BF-4223-0A1D-E09E0A51B1C3}"/>
                </a:ext>
              </a:extLst>
            </p:cNvPr>
            <p:cNvSpPr txBox="1"/>
            <p:nvPr/>
          </p:nvSpPr>
          <p:spPr>
            <a:xfrm>
              <a:off x="-1401248" y="3172138"/>
              <a:ext cx="6096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ko-KR" altLang="en-US" sz="2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ㄱ</a:t>
              </a:r>
              <a:r>
                <a:rPr lang="en-US" altLang="ko-KR" sz="22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BDDCEB7-8347-B5EC-1A02-CD07AEEB4B75}"/>
                </a:ext>
              </a:extLst>
            </p:cNvPr>
            <p:cNvCxnSpPr>
              <a:cxnSpLocks/>
            </p:cNvCxnSpPr>
            <p:nvPr/>
          </p:nvCxnSpPr>
          <p:spPr>
            <a:xfrm>
              <a:off x="-1440807" y="3593682"/>
              <a:ext cx="822656" cy="5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C46F00D-B48F-0A83-52B9-358244537D36}"/>
                </a:ext>
              </a:extLst>
            </p:cNvPr>
            <p:cNvSpPr txBox="1"/>
            <p:nvPr/>
          </p:nvSpPr>
          <p:spPr>
            <a:xfrm>
              <a:off x="-1440807" y="3517482"/>
              <a:ext cx="9337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∴ </a:t>
              </a:r>
              <a:r>
                <a: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맑은 고딕" panose="020B0503020000020004" pitchFamily="34" charset="-127"/>
                  <a:cs typeface="Times New Roman" panose="02020603050405020304" pitchFamily="18" charset="0"/>
                </a:rPr>
                <a:t>ㄱ</a:t>
              </a:r>
              <a:r>
                <a:rPr kumimoji="0" lang="en-US" altLang="ko-KR" sz="22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맑은 고딕" panose="020B0503020000020004" pitchFamily="34" charset="-127"/>
                  <a:cs typeface="Times New Roman" panose="02020603050405020304" pitchFamily="18" charset="0"/>
                </a:rPr>
                <a:t>p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C0E94E2F-EF07-4238-6BE4-6807FB7AD842}"/>
              </a:ext>
            </a:extLst>
          </p:cNvPr>
          <p:cNvSpPr txBox="1"/>
          <p:nvPr/>
        </p:nvSpPr>
        <p:spPr>
          <a:xfrm>
            <a:off x="2287596" y="3389375"/>
            <a:ext cx="30464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fr-FR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^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baseline="-25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F261F6E-0101-1614-92E4-21160EC15D57}"/>
              </a:ext>
            </a:extLst>
          </p:cNvPr>
          <p:cNvGrpSpPr/>
          <p:nvPr/>
        </p:nvGrpSpPr>
        <p:grpSpPr>
          <a:xfrm>
            <a:off x="666439" y="4220411"/>
            <a:ext cx="1390961" cy="1373168"/>
            <a:chOff x="-1440807" y="2831682"/>
            <a:chExt cx="1390961" cy="1373168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D5DC008-151E-AE42-ABB5-A9D490F97305}"/>
                </a:ext>
              </a:extLst>
            </p:cNvPr>
            <p:cNvSpPr txBox="1"/>
            <p:nvPr/>
          </p:nvSpPr>
          <p:spPr>
            <a:xfrm>
              <a:off x="-1360713" y="2831682"/>
              <a:ext cx="105591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>
                  <a:solidFill>
                    <a:prstClr val="black"/>
                  </a:solidFill>
                </a:rPr>
                <a:t>→  </a:t>
              </a:r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C91749A-1DE2-E563-34BD-371D52C18314}"/>
                </a:ext>
              </a:extLst>
            </p:cNvPr>
            <p:cNvSpPr txBox="1"/>
            <p:nvPr/>
          </p:nvSpPr>
          <p:spPr>
            <a:xfrm>
              <a:off x="-1401249" y="3172138"/>
              <a:ext cx="98914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ko-KR" sz="22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 </a:t>
              </a:r>
              <a:r>
                <a:rPr lang="en-US" sz="2400" dirty="0">
                  <a:solidFill>
                    <a:prstClr val="black"/>
                  </a:solidFill>
                </a:rPr>
                <a:t>→ </a:t>
              </a:r>
              <a:r>
                <a:rPr lang="en-US" altLang="ko-KR" sz="22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F095320-6858-F502-366A-36BFA09E4288}"/>
                </a:ext>
              </a:extLst>
            </p:cNvPr>
            <p:cNvCxnSpPr>
              <a:cxnSpLocks/>
            </p:cNvCxnSpPr>
            <p:nvPr/>
          </p:nvCxnSpPr>
          <p:spPr>
            <a:xfrm>
              <a:off x="-1440807" y="3593682"/>
              <a:ext cx="822656" cy="5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F85EB56-51CB-CE4D-968B-D65B1759556C}"/>
                </a:ext>
              </a:extLst>
            </p:cNvPr>
            <p:cNvSpPr txBox="1"/>
            <p:nvPr/>
          </p:nvSpPr>
          <p:spPr>
            <a:xfrm>
              <a:off x="-1440807" y="3517482"/>
              <a:ext cx="1390961" cy="6873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∴ </a:t>
              </a:r>
              <a:r>
                <a:rPr 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>
                  <a:solidFill>
                    <a:prstClr val="black"/>
                  </a:solidFill>
                </a:rPr>
                <a:t>→  </a:t>
              </a:r>
              <a:r>
                <a:rPr lang="en-US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en-US" sz="24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algn="just"/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CAF5EBBB-678A-AF29-96F2-D60BFE303AC1}"/>
              </a:ext>
            </a:extLst>
          </p:cNvPr>
          <p:cNvSpPr txBox="1"/>
          <p:nvPr/>
        </p:nvSpPr>
        <p:spPr>
          <a:xfrm>
            <a:off x="5918638" y="3426061"/>
            <a:ext cx="2743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Modus Tollens</a:t>
            </a:r>
            <a:endParaRPr lang="en-US" sz="2200" baseline="-25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FF15D33-F621-2183-756E-00A158EA3961}"/>
              </a:ext>
            </a:extLst>
          </p:cNvPr>
          <p:cNvSpPr txBox="1"/>
          <p:nvPr/>
        </p:nvSpPr>
        <p:spPr>
          <a:xfrm>
            <a:off x="2287596" y="4520746"/>
            <a:ext cx="3611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fr-FR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^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200" baseline="-25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A2F90D9-DE20-2AC6-0391-43242F9D107A}"/>
              </a:ext>
            </a:extLst>
          </p:cNvPr>
          <p:cNvSpPr txBox="1"/>
          <p:nvPr/>
        </p:nvSpPr>
        <p:spPr>
          <a:xfrm>
            <a:off x="5909394" y="4435854"/>
            <a:ext cx="2743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Hypothetical Syllogism</a:t>
            </a:r>
            <a:endParaRPr lang="en-US" sz="2200" baseline="-25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7235E7F-978C-4417-3D04-649D82F82267}"/>
              </a:ext>
            </a:extLst>
          </p:cNvPr>
          <p:cNvGrpSpPr/>
          <p:nvPr/>
        </p:nvGrpSpPr>
        <p:grpSpPr>
          <a:xfrm>
            <a:off x="666439" y="5326764"/>
            <a:ext cx="1136008" cy="1116687"/>
            <a:chOff x="-1440807" y="2831682"/>
            <a:chExt cx="1136008" cy="1116687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5E1CA62-BD3E-A853-A426-41485ABB54C6}"/>
                </a:ext>
              </a:extLst>
            </p:cNvPr>
            <p:cNvSpPr txBox="1"/>
            <p:nvPr/>
          </p:nvSpPr>
          <p:spPr>
            <a:xfrm>
              <a:off x="-1360713" y="2831682"/>
              <a:ext cx="105591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baseline="30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sz="2000" dirty="0">
                  <a:solidFill>
                    <a:prstClr val="black"/>
                  </a:solidFill>
                </a:rPr>
                <a:t>  </a:t>
              </a:r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D336B11D-C383-68C8-BDB8-C382AECF6714}"/>
                </a:ext>
              </a:extLst>
            </p:cNvPr>
            <p:cNvSpPr txBox="1"/>
            <p:nvPr/>
          </p:nvSpPr>
          <p:spPr>
            <a:xfrm>
              <a:off x="-1401248" y="3172138"/>
              <a:ext cx="6096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ko-KR" altLang="en-US" sz="2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ㄱ</a:t>
              </a:r>
              <a:r>
                <a:rPr lang="en-US" altLang="ko-KR" sz="22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C5FD8E74-16D2-3794-01DB-E2A0B7B3F069}"/>
                </a:ext>
              </a:extLst>
            </p:cNvPr>
            <p:cNvCxnSpPr>
              <a:cxnSpLocks/>
            </p:cNvCxnSpPr>
            <p:nvPr/>
          </p:nvCxnSpPr>
          <p:spPr>
            <a:xfrm>
              <a:off x="-1440807" y="3593682"/>
              <a:ext cx="822656" cy="5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3AA2524-33F8-A35A-4AA8-6A436C7943FF}"/>
                </a:ext>
              </a:extLst>
            </p:cNvPr>
            <p:cNvSpPr txBox="1"/>
            <p:nvPr/>
          </p:nvSpPr>
          <p:spPr>
            <a:xfrm>
              <a:off x="-1440807" y="3517482"/>
              <a:ext cx="93376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∴ </a:t>
              </a:r>
              <a:r>
                <a:rPr kumimoji="0" lang="en-US" altLang="ko-KR" sz="22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맑은 고딕" panose="020B0503020000020004" pitchFamily="34" charset="-127"/>
                  <a:cs typeface="Times New Roman" panose="02020603050405020304" pitchFamily="18" charset="0"/>
                </a:rPr>
                <a:t>q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AEDDC414-D7AD-FC00-07C8-2D97946C1180}"/>
              </a:ext>
            </a:extLst>
          </p:cNvPr>
          <p:cNvSpPr txBox="1"/>
          <p:nvPr/>
        </p:nvSpPr>
        <p:spPr>
          <a:xfrm>
            <a:off x="2287596" y="5628350"/>
            <a:ext cx="30464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000" dirty="0">
                <a:solidFill>
                  <a:prstClr val="black"/>
                </a:solidFill>
              </a:rPr>
              <a:t> 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fr-FR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^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baseline="-25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9219D77-1DBB-07C2-BAC6-AF88E3C29335}"/>
              </a:ext>
            </a:extLst>
          </p:cNvPr>
          <p:cNvSpPr txBox="1"/>
          <p:nvPr/>
        </p:nvSpPr>
        <p:spPr>
          <a:xfrm>
            <a:off x="5909394" y="5486907"/>
            <a:ext cx="23964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Disjunctive Syllogism</a:t>
            </a:r>
            <a:endParaRPr lang="en-US" sz="2200" baseline="-25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5519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5" grpId="0"/>
      <p:bldP spid="48" grpId="0"/>
      <p:bldP spid="50" grpId="0"/>
      <p:bldP spid="56" grpId="0"/>
      <p:bldP spid="62" grpId="0"/>
      <p:bldP spid="63" grpId="0"/>
      <p:bldP spid="64" grpId="0"/>
      <p:bldP spid="70" grpId="0"/>
      <p:bldP spid="71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RULES OF INFERENCE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822C9211-2003-0EFF-EAD1-0F299D1C5B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078516"/>
              </p:ext>
            </p:extLst>
          </p:nvPr>
        </p:nvGraphicFramePr>
        <p:xfrm>
          <a:off x="571500" y="1600200"/>
          <a:ext cx="8001000" cy="460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844917359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1517947635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8305564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781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200" dirty="0"/>
                    </a:p>
                    <a:p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478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6650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743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8122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CDA4B90-2B10-2691-F492-E00F65145EF1}"/>
              </a:ext>
            </a:extLst>
          </p:cNvPr>
          <p:cNvSpPr txBox="1"/>
          <p:nvPr/>
        </p:nvSpPr>
        <p:spPr>
          <a:xfrm>
            <a:off x="571500" y="1595534"/>
            <a:ext cx="7328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Rule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FCE67C-25E0-B0E1-C1F4-609A1E7C3BD1}"/>
              </a:ext>
            </a:extLst>
          </p:cNvPr>
          <p:cNvSpPr txBox="1"/>
          <p:nvPr/>
        </p:nvSpPr>
        <p:spPr>
          <a:xfrm>
            <a:off x="2287597" y="1595534"/>
            <a:ext cx="1335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Tautology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29CFFA-6982-D971-978C-3C9A9DE7C3A6}"/>
              </a:ext>
            </a:extLst>
          </p:cNvPr>
          <p:cNvSpPr txBox="1"/>
          <p:nvPr/>
        </p:nvSpPr>
        <p:spPr>
          <a:xfrm>
            <a:off x="5899403" y="1602089"/>
            <a:ext cx="1798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Name of Rule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BF190A6-8E42-5DAD-F69F-F6F9F448552B}"/>
              </a:ext>
            </a:extLst>
          </p:cNvPr>
          <p:cNvGrpSpPr/>
          <p:nvPr/>
        </p:nvGrpSpPr>
        <p:grpSpPr>
          <a:xfrm>
            <a:off x="657195" y="2026421"/>
            <a:ext cx="1145252" cy="942482"/>
            <a:chOff x="-1450051" y="2831682"/>
            <a:chExt cx="1145252" cy="942482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765C38B-A701-18E7-EF8B-E851110BA198}"/>
                </a:ext>
              </a:extLst>
            </p:cNvPr>
            <p:cNvSpPr txBox="1"/>
            <p:nvPr/>
          </p:nvSpPr>
          <p:spPr>
            <a:xfrm>
              <a:off x="-1360713" y="2831682"/>
              <a:ext cx="105591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3A2563E-04A9-B183-863A-EE9517C70889}"/>
                </a:ext>
              </a:extLst>
            </p:cNvPr>
            <p:cNvCxnSpPr>
              <a:cxnSpLocks/>
            </p:cNvCxnSpPr>
            <p:nvPr/>
          </p:nvCxnSpPr>
          <p:spPr>
            <a:xfrm>
              <a:off x="-1440807" y="3243661"/>
              <a:ext cx="822656" cy="5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2CC2700-9F79-0373-7F2E-D63B19B0C807}"/>
                </a:ext>
              </a:extLst>
            </p:cNvPr>
            <p:cNvSpPr txBox="1"/>
            <p:nvPr/>
          </p:nvSpPr>
          <p:spPr>
            <a:xfrm>
              <a:off x="-1450051" y="3117574"/>
              <a:ext cx="1055914" cy="6565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∴ </a:t>
              </a:r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baseline="30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sz="2000" dirty="0">
                  <a:solidFill>
                    <a:prstClr val="black"/>
                  </a:solidFill>
                </a:rPr>
                <a:t>  </a:t>
              </a:r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algn="just"/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0CBE594C-5460-C2CC-2309-F0C0D7E6C446}"/>
              </a:ext>
            </a:extLst>
          </p:cNvPr>
          <p:cNvSpPr txBox="1"/>
          <p:nvPr/>
        </p:nvSpPr>
        <p:spPr>
          <a:xfrm>
            <a:off x="2287596" y="2177822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</a:t>
            </a:r>
            <a:r>
              <a:rPr lang="en-US" sz="24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en-US" sz="2400" dirty="0">
                <a:solidFill>
                  <a:prstClr val="black"/>
                </a:solidFill>
              </a:rPr>
              <a:t> 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sz="2200" baseline="-25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A9C8199-5A28-7B73-5C8F-8F693B1796AE}"/>
              </a:ext>
            </a:extLst>
          </p:cNvPr>
          <p:cNvSpPr txBox="1"/>
          <p:nvPr/>
        </p:nvSpPr>
        <p:spPr>
          <a:xfrm>
            <a:off x="5910499" y="2209898"/>
            <a:ext cx="2743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</a:t>
            </a:r>
            <a:endParaRPr lang="en-US" sz="2200" baseline="-25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B8C652B-D04A-E7D1-9D75-34A2A32A24A0}"/>
              </a:ext>
            </a:extLst>
          </p:cNvPr>
          <p:cNvGrpSpPr/>
          <p:nvPr/>
        </p:nvGrpSpPr>
        <p:grpSpPr>
          <a:xfrm>
            <a:off x="626339" y="2768016"/>
            <a:ext cx="1166864" cy="1185666"/>
            <a:chOff x="-1471663" y="2831682"/>
            <a:chExt cx="1166864" cy="1185666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FB373B1-C4A6-C4F4-449B-C8B382928D92}"/>
                </a:ext>
              </a:extLst>
            </p:cNvPr>
            <p:cNvSpPr txBox="1"/>
            <p:nvPr/>
          </p:nvSpPr>
          <p:spPr>
            <a:xfrm>
              <a:off x="-1360713" y="2831682"/>
              <a:ext cx="10559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0" lang="fr-FR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itchFamily="18" charset="0"/>
                </a:rPr>
                <a:t>^</a:t>
              </a:r>
              <a:r>
                <a:rPr lang="en-US" sz="2000" dirty="0">
                  <a:solidFill>
                    <a:prstClr val="black"/>
                  </a:solidFill>
                </a:rPr>
                <a:t>  </a:t>
              </a:r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8C9E29D-46BF-4223-0A1D-E09E0A51B1C3}"/>
                </a:ext>
              </a:extLst>
            </p:cNvPr>
            <p:cNvSpPr txBox="1"/>
            <p:nvPr/>
          </p:nvSpPr>
          <p:spPr>
            <a:xfrm>
              <a:off x="-1471663" y="3586461"/>
              <a:ext cx="6096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∴ </a:t>
              </a:r>
              <a:r>
                <a:rPr lang="en-US" altLang="ko-KR" sz="22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BDDCEB7-8347-B5EC-1A02-CD07AEEB4B75}"/>
                </a:ext>
              </a:extLst>
            </p:cNvPr>
            <p:cNvCxnSpPr>
              <a:cxnSpLocks/>
            </p:cNvCxnSpPr>
            <p:nvPr/>
          </p:nvCxnSpPr>
          <p:spPr>
            <a:xfrm>
              <a:off x="-1424674" y="3292797"/>
              <a:ext cx="822656" cy="5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C46F00D-B48F-0A83-52B9-358244537D36}"/>
                </a:ext>
              </a:extLst>
            </p:cNvPr>
            <p:cNvSpPr txBox="1"/>
            <p:nvPr/>
          </p:nvSpPr>
          <p:spPr>
            <a:xfrm>
              <a:off x="-1463533" y="3214179"/>
              <a:ext cx="93376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∴ </a:t>
              </a:r>
              <a:r>
                <a:rPr kumimoji="0" lang="en-US" altLang="ko-KR" sz="22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맑은 고딕" panose="020B0503020000020004" pitchFamily="34" charset="-127"/>
                  <a:cs typeface="Times New Roman" panose="02020603050405020304" pitchFamily="18" charset="0"/>
                </a:rPr>
                <a:t>p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C0E94E2F-EF07-4238-6BE4-6807FB7AD842}"/>
              </a:ext>
            </a:extLst>
          </p:cNvPr>
          <p:cNvSpPr txBox="1"/>
          <p:nvPr/>
        </p:nvSpPr>
        <p:spPr>
          <a:xfrm>
            <a:off x="2241345" y="2853269"/>
            <a:ext cx="30464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fr-FR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^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baseline="-25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F261F6E-0101-1614-92E4-21160EC15D57}"/>
              </a:ext>
            </a:extLst>
          </p:cNvPr>
          <p:cNvGrpSpPr/>
          <p:nvPr/>
        </p:nvGrpSpPr>
        <p:grpSpPr>
          <a:xfrm>
            <a:off x="657195" y="3898020"/>
            <a:ext cx="1390961" cy="1147465"/>
            <a:chOff x="-1440807" y="2831682"/>
            <a:chExt cx="1390961" cy="1147465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D5DC008-151E-AE42-ABB5-A9D490F97305}"/>
                </a:ext>
              </a:extLst>
            </p:cNvPr>
            <p:cNvSpPr txBox="1"/>
            <p:nvPr/>
          </p:nvSpPr>
          <p:spPr>
            <a:xfrm>
              <a:off x="-1360713" y="2831682"/>
              <a:ext cx="105591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C91749A-1DE2-E563-34BD-371D52C18314}"/>
                </a:ext>
              </a:extLst>
            </p:cNvPr>
            <p:cNvSpPr txBox="1"/>
            <p:nvPr/>
          </p:nvSpPr>
          <p:spPr>
            <a:xfrm>
              <a:off x="-1401249" y="3172138"/>
              <a:ext cx="98914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ko-KR" sz="22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F095320-6858-F502-366A-36BFA09E4288}"/>
                </a:ext>
              </a:extLst>
            </p:cNvPr>
            <p:cNvCxnSpPr>
              <a:cxnSpLocks/>
            </p:cNvCxnSpPr>
            <p:nvPr/>
          </p:nvCxnSpPr>
          <p:spPr>
            <a:xfrm>
              <a:off x="-1440807" y="3593682"/>
              <a:ext cx="822656" cy="5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F85EB56-51CB-CE4D-968B-D65B1759556C}"/>
                </a:ext>
              </a:extLst>
            </p:cNvPr>
            <p:cNvSpPr txBox="1"/>
            <p:nvPr/>
          </p:nvSpPr>
          <p:spPr>
            <a:xfrm>
              <a:off x="-1440807" y="3517482"/>
              <a:ext cx="13909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∴ </a:t>
              </a:r>
              <a:r>
                <a:rPr kumimoji="0" lang="en-US" sz="22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</a:t>
              </a:r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kumimoji="0" lang="fr-FR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itchFamily="18" charset="0"/>
                </a:rPr>
                <a:t>^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alatino Linotype"/>
                  <a:ea typeface="+mn-ea"/>
                  <a:cs typeface="+mn-cs"/>
                </a:rPr>
                <a:t>  </a:t>
              </a:r>
              <a:r>
                <a:rPr kumimoji="0" lang="en-US" sz="22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q</a:t>
              </a:r>
              <a:endParaRPr kumimoji="0" lang="en-US" sz="2200" b="1" i="1" u="none" strike="noStrike" kern="1200" cap="none" spc="0" normalizeH="0" baseline="-2500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CAF5EBBB-678A-AF29-96F2-D60BFE303AC1}"/>
              </a:ext>
            </a:extLst>
          </p:cNvPr>
          <p:cNvSpPr txBox="1"/>
          <p:nvPr/>
        </p:nvSpPr>
        <p:spPr>
          <a:xfrm>
            <a:off x="5909394" y="3103670"/>
            <a:ext cx="2743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Simplification</a:t>
            </a:r>
            <a:endParaRPr lang="en-US" sz="2200" baseline="-25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FF15D33-F621-2183-756E-00A158EA3961}"/>
              </a:ext>
            </a:extLst>
          </p:cNvPr>
          <p:cNvSpPr txBox="1"/>
          <p:nvPr/>
        </p:nvSpPr>
        <p:spPr>
          <a:xfrm>
            <a:off x="2278352" y="4198355"/>
            <a:ext cx="3611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^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^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200" baseline="-25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A2F90D9-DE20-2AC6-0391-43242F9D107A}"/>
              </a:ext>
            </a:extLst>
          </p:cNvPr>
          <p:cNvSpPr txBox="1"/>
          <p:nvPr/>
        </p:nvSpPr>
        <p:spPr>
          <a:xfrm>
            <a:off x="5846914" y="4228716"/>
            <a:ext cx="2743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Conjunction</a:t>
            </a:r>
            <a:endParaRPr lang="en-US" sz="2200" baseline="-25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7235E7F-978C-4417-3D04-649D82F82267}"/>
              </a:ext>
            </a:extLst>
          </p:cNvPr>
          <p:cNvGrpSpPr/>
          <p:nvPr/>
        </p:nvGrpSpPr>
        <p:grpSpPr>
          <a:xfrm>
            <a:off x="657195" y="5004373"/>
            <a:ext cx="1145251" cy="1116687"/>
            <a:chOff x="-1440807" y="2831682"/>
            <a:chExt cx="1145251" cy="1116687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5E1CA62-BD3E-A853-A426-41485ABB54C6}"/>
                </a:ext>
              </a:extLst>
            </p:cNvPr>
            <p:cNvSpPr txBox="1"/>
            <p:nvPr/>
          </p:nvSpPr>
          <p:spPr>
            <a:xfrm>
              <a:off x="-1360713" y="2831682"/>
              <a:ext cx="105591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baseline="30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sz="2000" dirty="0">
                  <a:solidFill>
                    <a:prstClr val="black"/>
                  </a:solidFill>
                </a:rPr>
                <a:t>  </a:t>
              </a:r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D336B11D-C383-68C8-BDB8-C382AECF6714}"/>
                </a:ext>
              </a:extLst>
            </p:cNvPr>
            <p:cNvSpPr txBox="1"/>
            <p:nvPr/>
          </p:nvSpPr>
          <p:spPr>
            <a:xfrm>
              <a:off x="-1401249" y="3172138"/>
              <a:ext cx="110569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맑은 고딕" panose="020B0503020000020004" pitchFamily="34" charset="-127"/>
                  <a:cs typeface="Times New Roman" panose="02020603050405020304" pitchFamily="18" charset="0"/>
                </a:rPr>
                <a:t>ㄱ</a:t>
              </a:r>
              <a:r>
                <a:rPr kumimoji="0" lang="en-US" sz="22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</a:t>
              </a:r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kumimoji="0" lang="en-US" sz="20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v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alatino Linotype"/>
                  <a:ea typeface="+mn-ea"/>
                  <a:cs typeface="+mn-cs"/>
                </a:rPr>
                <a:t>  </a:t>
              </a:r>
              <a:r>
                <a:rPr lang="en-US" sz="22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kumimoji="0" lang="en-US" sz="2200" b="1" i="1" u="none" strike="noStrike" kern="1200" cap="none" spc="0" normalizeH="0" baseline="-2500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C5FD8E74-16D2-3794-01DB-E2A0B7B3F069}"/>
                </a:ext>
              </a:extLst>
            </p:cNvPr>
            <p:cNvCxnSpPr>
              <a:cxnSpLocks/>
            </p:cNvCxnSpPr>
            <p:nvPr/>
          </p:nvCxnSpPr>
          <p:spPr>
            <a:xfrm>
              <a:off x="-1440807" y="3593682"/>
              <a:ext cx="822656" cy="5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3AA2524-33F8-A35A-4AA8-6A436C7943FF}"/>
                </a:ext>
              </a:extLst>
            </p:cNvPr>
            <p:cNvSpPr txBox="1"/>
            <p:nvPr/>
          </p:nvSpPr>
          <p:spPr>
            <a:xfrm>
              <a:off x="-1440807" y="3517482"/>
              <a:ext cx="113600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∴ </a:t>
              </a:r>
              <a:r>
                <a:rPr kumimoji="0" lang="en-US" altLang="ko-KR" sz="22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맑은 고딕" panose="020B0503020000020004" pitchFamily="34" charset="-127"/>
                  <a:cs typeface="Times New Roman" panose="02020603050405020304" pitchFamily="18" charset="0"/>
                </a:rPr>
                <a:t>q </a:t>
              </a:r>
              <a:r>
                <a:rPr kumimoji="0" lang="en-US" sz="20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v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alatino Linotype"/>
                  <a:ea typeface="+mn-ea"/>
                  <a:cs typeface="+mn-cs"/>
                </a:rPr>
                <a:t>  </a:t>
              </a:r>
              <a:r>
                <a:rPr lang="en-US" sz="22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AEDDC414-D7AD-FC00-07C8-2D97946C1180}"/>
              </a:ext>
            </a:extLst>
          </p:cNvPr>
          <p:cNvSpPr txBox="1"/>
          <p:nvPr/>
        </p:nvSpPr>
        <p:spPr>
          <a:xfrm>
            <a:off x="2278352" y="5305959"/>
            <a:ext cx="3741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000" dirty="0">
                <a:solidFill>
                  <a:prstClr val="black"/>
                </a:solidFill>
              </a:rPr>
              <a:t> 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fr-FR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^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sz="20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000" dirty="0">
                <a:solidFill>
                  <a:prstClr val="black"/>
                </a:solidFill>
              </a:rPr>
              <a:t>  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) 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ko-KR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sz="24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baseline="-25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9219D77-1DBB-07C2-BAC6-AF88E3C29335}"/>
              </a:ext>
            </a:extLst>
          </p:cNvPr>
          <p:cNvSpPr txBox="1"/>
          <p:nvPr/>
        </p:nvSpPr>
        <p:spPr>
          <a:xfrm>
            <a:off x="5909394" y="5344829"/>
            <a:ext cx="23964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</a:t>
            </a:r>
            <a:endParaRPr lang="en-US" sz="2200" baseline="-25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1814AC-2F58-1A1A-F23A-640556E54864}"/>
              </a:ext>
            </a:extLst>
          </p:cNvPr>
          <p:cNvSpPr txBox="1"/>
          <p:nvPr/>
        </p:nvSpPr>
        <p:spPr>
          <a:xfrm>
            <a:off x="2287596" y="3323915"/>
            <a:ext cx="30464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fr-FR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^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baseline="-25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155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5" grpId="0"/>
      <p:bldP spid="48" grpId="0"/>
      <p:bldP spid="50" grpId="0"/>
      <p:bldP spid="56" grpId="0"/>
      <p:bldP spid="62" grpId="0"/>
      <p:bldP spid="63" grpId="0"/>
      <p:bldP spid="64" grpId="0"/>
      <p:bldP spid="70" grpId="0"/>
      <p:bldP spid="71" grpId="0"/>
      <p:bldP spid="2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MODUS PONENS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0C3849-3E9B-5EF4-B40E-5313F56297DA}"/>
              </a:ext>
            </a:extLst>
          </p:cNvPr>
          <p:cNvSpPr txBox="1"/>
          <p:nvPr/>
        </p:nvSpPr>
        <p:spPr>
          <a:xfrm>
            <a:off x="457200" y="16002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Let,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two propositions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DBAA29-D647-F34E-C6AF-333B62631485}"/>
              </a:ext>
            </a:extLst>
          </p:cNvPr>
          <p:cNvSpPr txBox="1"/>
          <p:nvPr/>
        </p:nvSpPr>
        <p:spPr>
          <a:xfrm>
            <a:off x="914400" y="1986575"/>
            <a:ext cx="394531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Bangladesh plays at Mirpur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5DCBF9-9FBE-654E-8195-27E7A44FDB19}"/>
              </a:ext>
            </a:extLst>
          </p:cNvPr>
          <p:cNvSpPr txBox="1"/>
          <p:nvPr/>
        </p:nvSpPr>
        <p:spPr>
          <a:xfrm>
            <a:off x="914400" y="2329829"/>
            <a:ext cx="27638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altLang="ko-K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Bangladesh wins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354639-40DF-8084-25BB-D397836EDF86}"/>
              </a:ext>
            </a:extLst>
          </p:cNvPr>
          <p:cNvGrpSpPr/>
          <p:nvPr/>
        </p:nvGrpSpPr>
        <p:grpSpPr>
          <a:xfrm>
            <a:off x="907742" y="2842802"/>
            <a:ext cx="1136008" cy="1116687"/>
            <a:chOff x="-1440807" y="2831682"/>
            <a:chExt cx="1136008" cy="111668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DDFD4F1-A80F-A1AE-7ED8-B64C10FAD62D}"/>
                </a:ext>
              </a:extLst>
            </p:cNvPr>
            <p:cNvSpPr txBox="1"/>
            <p:nvPr/>
          </p:nvSpPr>
          <p:spPr>
            <a:xfrm>
              <a:off x="-1360713" y="2831682"/>
              <a:ext cx="105591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>
                  <a:solidFill>
                    <a:prstClr val="black"/>
                  </a:solidFill>
                </a:rPr>
                <a:t>→  </a:t>
              </a:r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C7CF68-3306-C54A-3801-31513A6C45C1}"/>
                </a:ext>
              </a:extLst>
            </p:cNvPr>
            <p:cNvSpPr txBox="1"/>
            <p:nvPr/>
          </p:nvSpPr>
          <p:spPr>
            <a:xfrm>
              <a:off x="-1401248" y="3172138"/>
              <a:ext cx="6096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9DE7BBD-4AC3-D826-CF2B-018B5AB3A2A1}"/>
                </a:ext>
              </a:extLst>
            </p:cNvPr>
            <p:cNvCxnSpPr>
              <a:cxnSpLocks/>
            </p:cNvCxnSpPr>
            <p:nvPr/>
          </p:nvCxnSpPr>
          <p:spPr>
            <a:xfrm>
              <a:off x="-1440807" y="3593682"/>
              <a:ext cx="822656" cy="5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DD1BD59-71AB-1BCE-C726-5C4A988594A0}"/>
                </a:ext>
              </a:extLst>
            </p:cNvPr>
            <p:cNvSpPr txBox="1"/>
            <p:nvPr/>
          </p:nvSpPr>
          <p:spPr>
            <a:xfrm>
              <a:off x="-1440807" y="3517482"/>
              <a:ext cx="82265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∴ </a:t>
              </a:r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B0E48998-ABE2-682F-D7D1-F4B954B2E58C}"/>
              </a:ext>
            </a:extLst>
          </p:cNvPr>
          <p:cNvSpPr txBox="1"/>
          <p:nvPr/>
        </p:nvSpPr>
        <p:spPr>
          <a:xfrm>
            <a:off x="2023696" y="2665504"/>
            <a:ext cx="140615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states that,</a:t>
            </a:r>
            <a:endParaRPr lang="en-US" sz="2200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2DA822-FFA4-D423-750C-8610C65546D0}"/>
              </a:ext>
            </a:extLst>
          </p:cNvPr>
          <p:cNvSpPr txBox="1"/>
          <p:nvPr/>
        </p:nvSpPr>
        <p:spPr>
          <a:xfrm>
            <a:off x="2023696" y="2970259"/>
            <a:ext cx="688041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Bangladesh plays at Mirpur then Bangladesh wins </a:t>
            </a:r>
            <a:r>
              <a:rPr lang="en-US" sz="22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true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368791-5E07-17DA-1072-C09F208C25F7}"/>
              </a:ext>
            </a:extLst>
          </p:cNvPr>
          <p:cNvSpPr txBox="1"/>
          <p:nvPr/>
        </p:nvSpPr>
        <p:spPr>
          <a:xfrm>
            <a:off x="2023696" y="3305730"/>
            <a:ext cx="464742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Bangladesh plays at Mirpur </a:t>
            </a:r>
            <a:r>
              <a:rPr lang="en-US" sz="22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true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10C27C-DD52-BF97-A2C6-20EFDCCBD574}"/>
              </a:ext>
            </a:extLst>
          </p:cNvPr>
          <p:cNvSpPr txBox="1"/>
          <p:nvPr/>
        </p:nvSpPr>
        <p:spPr>
          <a:xfrm>
            <a:off x="2023696" y="3632375"/>
            <a:ext cx="473969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definitely, Bangladesh wins </a:t>
            </a:r>
            <a:r>
              <a:rPr lang="en-US" sz="22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true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9" name="Table 9">
                <a:extLst>
                  <a:ext uri="{FF2B5EF4-FFF2-40B4-BE49-F238E27FC236}">
                    <a16:creationId xmlns:a16="http://schemas.microsoft.com/office/drawing/2014/main" id="{D1ACD26A-A01D-F062-E621-EE7E2EEBBC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3808739"/>
                  </p:ext>
                </p:extLst>
              </p:nvPr>
            </p:nvGraphicFramePr>
            <p:xfrm>
              <a:off x="526780" y="4586373"/>
              <a:ext cx="2060242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6194">
                      <a:extLst>
                        <a:ext uri="{9D8B030D-6E8A-4147-A177-3AD203B41FA5}">
                          <a16:colId xmlns:a16="http://schemas.microsoft.com/office/drawing/2014/main" val="1823060088"/>
                        </a:ext>
                      </a:extLst>
                    </a:gridCol>
                    <a:gridCol w="516194">
                      <a:extLst>
                        <a:ext uri="{9D8B030D-6E8A-4147-A177-3AD203B41FA5}">
                          <a16:colId xmlns:a16="http://schemas.microsoft.com/office/drawing/2014/main" val="1715107724"/>
                        </a:ext>
                      </a:extLst>
                    </a:gridCol>
                    <a:gridCol w="1027854">
                      <a:extLst>
                        <a:ext uri="{9D8B030D-6E8A-4147-A177-3AD203B41FA5}">
                          <a16:colId xmlns:a16="http://schemas.microsoft.com/office/drawing/2014/main" val="32164586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ko-KR" sz="18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p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altLang="ko-KR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→</m:t>
                              </m:r>
                            </m:oMath>
                          </a14:m>
                          <a:r>
                            <a:rPr kumimoji="0" lang="en-US" altLang="ko-KR" sz="18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q</a:t>
                          </a:r>
                          <a:endParaRPr kumimoji="0" lang="en-US" sz="22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16838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74291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62211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2514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44959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9" name="Table 9">
                <a:extLst>
                  <a:ext uri="{FF2B5EF4-FFF2-40B4-BE49-F238E27FC236}">
                    <a16:creationId xmlns:a16="http://schemas.microsoft.com/office/drawing/2014/main" id="{D1ACD26A-A01D-F062-E621-EE7E2EEBBC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3808739"/>
                  </p:ext>
                </p:extLst>
              </p:nvPr>
            </p:nvGraphicFramePr>
            <p:xfrm>
              <a:off x="526780" y="4586373"/>
              <a:ext cx="2060242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6194">
                      <a:extLst>
                        <a:ext uri="{9D8B030D-6E8A-4147-A177-3AD203B41FA5}">
                          <a16:colId xmlns:a16="http://schemas.microsoft.com/office/drawing/2014/main" val="1823060088"/>
                        </a:ext>
                      </a:extLst>
                    </a:gridCol>
                    <a:gridCol w="516194">
                      <a:extLst>
                        <a:ext uri="{9D8B030D-6E8A-4147-A177-3AD203B41FA5}">
                          <a16:colId xmlns:a16="http://schemas.microsoft.com/office/drawing/2014/main" val="1715107724"/>
                        </a:ext>
                      </a:extLst>
                    </a:gridCol>
                    <a:gridCol w="1027854">
                      <a:extLst>
                        <a:ext uri="{9D8B030D-6E8A-4147-A177-3AD203B41FA5}">
                          <a16:colId xmlns:a16="http://schemas.microsoft.com/office/drawing/2014/main" val="321645861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183" t="-7692" r="-1183" b="-4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168384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742913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622119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25146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449598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955055D9-0D0C-3436-24DB-EE605AF65E6A}"/>
              </a:ext>
            </a:extLst>
          </p:cNvPr>
          <p:cNvSpPr txBox="1"/>
          <p:nvPr/>
        </p:nvSpPr>
        <p:spPr>
          <a:xfrm>
            <a:off x="557882" y="4980678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B05329-43A1-1017-FF5E-138AFAF5B07A}"/>
              </a:ext>
            </a:extLst>
          </p:cNvPr>
          <p:cNvSpPr txBox="1"/>
          <p:nvPr/>
        </p:nvSpPr>
        <p:spPr>
          <a:xfrm>
            <a:off x="1128274" y="4980678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4D99A2-BFBE-1FC8-6024-E992E8C352CD}"/>
              </a:ext>
            </a:extLst>
          </p:cNvPr>
          <p:cNvSpPr txBox="1"/>
          <p:nvPr/>
        </p:nvSpPr>
        <p:spPr>
          <a:xfrm>
            <a:off x="1743482" y="4979123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EC56EE7-1D7C-716B-5D8F-49E802E7D200}"/>
              </a:ext>
            </a:extLst>
          </p:cNvPr>
          <p:cNvSpPr txBox="1"/>
          <p:nvPr/>
        </p:nvSpPr>
        <p:spPr>
          <a:xfrm>
            <a:off x="557882" y="5357687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702C48-28B6-9FCC-4B04-A2BB454B6C25}"/>
              </a:ext>
            </a:extLst>
          </p:cNvPr>
          <p:cNvSpPr txBox="1"/>
          <p:nvPr/>
        </p:nvSpPr>
        <p:spPr>
          <a:xfrm>
            <a:off x="1128274" y="5357687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89C161-8930-FF37-5A76-2A9C010AF96B}"/>
              </a:ext>
            </a:extLst>
          </p:cNvPr>
          <p:cNvSpPr txBox="1"/>
          <p:nvPr/>
        </p:nvSpPr>
        <p:spPr>
          <a:xfrm>
            <a:off x="1743482" y="5356132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7165D8-256E-63D7-D83A-E81B978939DC}"/>
              </a:ext>
            </a:extLst>
          </p:cNvPr>
          <p:cNvSpPr txBox="1"/>
          <p:nvPr/>
        </p:nvSpPr>
        <p:spPr>
          <a:xfrm>
            <a:off x="557882" y="5734696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6A6228-C854-55A6-32C1-C7D098E02E2A}"/>
              </a:ext>
            </a:extLst>
          </p:cNvPr>
          <p:cNvSpPr txBox="1"/>
          <p:nvPr/>
        </p:nvSpPr>
        <p:spPr>
          <a:xfrm>
            <a:off x="1128274" y="5734696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42B7435-4701-81AE-7962-25CCAA15CA92}"/>
              </a:ext>
            </a:extLst>
          </p:cNvPr>
          <p:cNvSpPr txBox="1"/>
          <p:nvPr/>
        </p:nvSpPr>
        <p:spPr>
          <a:xfrm>
            <a:off x="1743482" y="5733141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A6F88A-1C11-5B39-1ADD-D76BE87D7C35}"/>
              </a:ext>
            </a:extLst>
          </p:cNvPr>
          <p:cNvSpPr txBox="1"/>
          <p:nvPr/>
        </p:nvSpPr>
        <p:spPr>
          <a:xfrm>
            <a:off x="557882" y="6169018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04D262B-2303-C3AD-2D1B-462D08BDE57B}"/>
              </a:ext>
            </a:extLst>
          </p:cNvPr>
          <p:cNvSpPr txBox="1"/>
          <p:nvPr/>
        </p:nvSpPr>
        <p:spPr>
          <a:xfrm>
            <a:off x="1128274" y="6169018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3A62E9B-E966-DC3D-EA33-92981BA980E1}"/>
              </a:ext>
            </a:extLst>
          </p:cNvPr>
          <p:cNvSpPr txBox="1"/>
          <p:nvPr/>
        </p:nvSpPr>
        <p:spPr>
          <a:xfrm>
            <a:off x="1743482" y="6167463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23D4B28-0407-58CC-A4DA-EDB3D0BC5946}"/>
              </a:ext>
            </a:extLst>
          </p:cNvPr>
          <p:cNvSpPr/>
          <p:nvPr/>
        </p:nvSpPr>
        <p:spPr>
          <a:xfrm>
            <a:off x="-3778" y="6154707"/>
            <a:ext cx="2896372" cy="42813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628B593-07CE-4783-06B1-6341B4960E0D}"/>
              </a:ext>
            </a:extLst>
          </p:cNvPr>
          <p:cNvSpPr txBox="1"/>
          <p:nvPr/>
        </p:nvSpPr>
        <p:spPr>
          <a:xfrm>
            <a:off x="2887055" y="4072088"/>
            <a:ext cx="4422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Tautology: ( 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fr-FR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^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baseline="-25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4" name="Table 9">
                <a:extLst>
                  <a:ext uri="{FF2B5EF4-FFF2-40B4-BE49-F238E27FC236}">
                    <a16:creationId xmlns:a16="http://schemas.microsoft.com/office/drawing/2014/main" id="{4AB5D8E3-971E-71FF-30A1-2261B689AB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2827597"/>
                  </p:ext>
                </p:extLst>
              </p:nvPr>
            </p:nvGraphicFramePr>
            <p:xfrm>
              <a:off x="2964322" y="4565933"/>
              <a:ext cx="5946442" cy="2042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60042">
                      <a:extLst>
                        <a:ext uri="{9D8B030D-6E8A-4147-A177-3AD203B41FA5}">
                          <a16:colId xmlns:a16="http://schemas.microsoft.com/office/drawing/2014/main" val="1823060088"/>
                        </a:ext>
                      </a:extLst>
                    </a:gridCol>
                    <a:gridCol w="381000">
                      <a:extLst>
                        <a:ext uri="{9D8B030D-6E8A-4147-A177-3AD203B41FA5}">
                          <a16:colId xmlns:a16="http://schemas.microsoft.com/office/drawing/2014/main" val="1715107724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216458612"/>
                        </a:ext>
                      </a:extLst>
                    </a:gridCol>
                    <a:gridCol w="1676400">
                      <a:extLst>
                        <a:ext uri="{9D8B030D-6E8A-4147-A177-3AD203B41FA5}">
                          <a16:colId xmlns:a16="http://schemas.microsoft.com/office/drawing/2014/main" val="2700718645"/>
                        </a:ext>
                      </a:extLst>
                    </a:gridCol>
                    <a:gridCol w="2514600">
                      <a:extLst>
                        <a:ext uri="{9D8B030D-6E8A-4147-A177-3AD203B41FA5}">
                          <a16:colId xmlns:a16="http://schemas.microsoft.com/office/drawing/2014/main" val="163415505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ko-KR" sz="18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p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altLang="ko-KR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→</m:t>
                              </m:r>
                            </m:oMath>
                          </a14:m>
                          <a:r>
                            <a:rPr kumimoji="0" lang="en-US" altLang="ko-KR" sz="18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q</a:t>
                          </a:r>
                          <a:endParaRPr kumimoji="0" lang="en-US" sz="22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kumimoji="0" lang="en-US" sz="2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p </a:t>
                          </a: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→ </a:t>
                          </a:r>
                          <a:r>
                            <a:rPr kumimoji="0" lang="en-US" sz="2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q</a:t>
                          </a: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) </a:t>
                          </a:r>
                          <a:r>
                            <a:rPr kumimoji="0" lang="fr-FR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itchFamily="18" charset="0"/>
                            </a:rPr>
                            <a:t>^</a:t>
                          </a: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sz="2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)</a:t>
                          </a:r>
                          <a:endParaRPr kumimoji="0" lang="en-US" sz="20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 (</a:t>
                          </a:r>
                          <a:r>
                            <a:rPr kumimoji="0" lang="en-US" sz="22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p </a:t>
                          </a: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→ </a:t>
                          </a:r>
                          <a:r>
                            <a:rPr kumimoji="0" lang="en-US" sz="22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q</a:t>
                          </a:r>
                          <a:r>
                            <a:rPr kumimoji="0" lang="en-US" sz="2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) </a:t>
                          </a:r>
                          <a:r>
                            <a:rPr kumimoji="0" lang="fr-FR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itchFamily="18" charset="0"/>
                            </a:rPr>
                            <a:t>^</a:t>
                          </a:r>
                          <a:r>
                            <a:rPr kumimoji="0" lang="en-US" sz="2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sz="22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kumimoji="0" lang="en-US" sz="2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) </a:t>
                          </a:r>
                          <a:r>
                            <a:rPr kumimoji="0" lang="en-US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→</a:t>
                          </a:r>
                          <a:r>
                            <a:rPr kumimoji="0" lang="en-US" sz="2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sz="22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q</a:t>
                          </a:r>
                          <a:r>
                            <a:rPr kumimoji="0" lang="en-US" sz="2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</a:t>
                          </a:r>
                          <a:endParaRPr kumimoji="0" lang="en-US" sz="22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16838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74291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62211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2514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44959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4" name="Table 9">
                <a:extLst>
                  <a:ext uri="{FF2B5EF4-FFF2-40B4-BE49-F238E27FC236}">
                    <a16:creationId xmlns:a16="http://schemas.microsoft.com/office/drawing/2014/main" id="{4AB5D8E3-971E-71FF-30A1-2261B689AB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2827597"/>
                  </p:ext>
                </p:extLst>
              </p:nvPr>
            </p:nvGraphicFramePr>
            <p:xfrm>
              <a:off x="2964322" y="4565933"/>
              <a:ext cx="5946442" cy="2042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60042">
                      <a:extLst>
                        <a:ext uri="{9D8B030D-6E8A-4147-A177-3AD203B41FA5}">
                          <a16:colId xmlns:a16="http://schemas.microsoft.com/office/drawing/2014/main" val="1823060088"/>
                        </a:ext>
                      </a:extLst>
                    </a:gridCol>
                    <a:gridCol w="381000">
                      <a:extLst>
                        <a:ext uri="{9D8B030D-6E8A-4147-A177-3AD203B41FA5}">
                          <a16:colId xmlns:a16="http://schemas.microsoft.com/office/drawing/2014/main" val="1715107724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216458612"/>
                        </a:ext>
                      </a:extLst>
                    </a:gridCol>
                    <a:gridCol w="1676400">
                      <a:extLst>
                        <a:ext uri="{9D8B030D-6E8A-4147-A177-3AD203B41FA5}">
                          <a16:colId xmlns:a16="http://schemas.microsoft.com/office/drawing/2014/main" val="2700718645"/>
                        </a:ext>
                      </a:extLst>
                    </a:gridCol>
                    <a:gridCol w="2514600">
                      <a:extLst>
                        <a:ext uri="{9D8B030D-6E8A-4147-A177-3AD203B41FA5}">
                          <a16:colId xmlns:a16="http://schemas.microsoft.com/office/drawing/2014/main" val="163415505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2667" t="-10667" r="-460000" b="-35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kumimoji="0" lang="en-US" sz="2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p </a:t>
                          </a: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→ </a:t>
                          </a:r>
                          <a:r>
                            <a:rPr kumimoji="0" lang="en-US" sz="2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q</a:t>
                          </a: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) </a:t>
                          </a:r>
                          <a:r>
                            <a:rPr kumimoji="0" lang="fr-FR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itchFamily="18" charset="0"/>
                            </a:rPr>
                            <a:t>^</a:t>
                          </a: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sz="20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)</a:t>
                          </a:r>
                          <a:endParaRPr kumimoji="0" lang="en-US" sz="20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( (</a:t>
                          </a:r>
                          <a:r>
                            <a:rPr kumimoji="0" lang="en-US" sz="22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p </a:t>
                          </a:r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→ </a:t>
                          </a:r>
                          <a:r>
                            <a:rPr kumimoji="0" lang="en-US" sz="22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q</a:t>
                          </a:r>
                          <a:r>
                            <a:rPr kumimoji="0" lang="en-US" sz="2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) </a:t>
                          </a:r>
                          <a:r>
                            <a:rPr kumimoji="0" lang="fr-FR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itchFamily="18" charset="0"/>
                            </a:rPr>
                            <a:t>^</a:t>
                          </a:r>
                          <a:r>
                            <a:rPr kumimoji="0" lang="en-US" sz="2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sz="22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p</a:t>
                          </a:r>
                          <a:r>
                            <a:rPr kumimoji="0" lang="en-US" sz="2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) </a:t>
                          </a:r>
                          <a:r>
                            <a:rPr kumimoji="0" lang="en-US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→</a:t>
                          </a:r>
                          <a:r>
                            <a:rPr kumimoji="0" lang="en-US" sz="2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kumimoji="0" lang="en-US" sz="22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q</a:t>
                          </a:r>
                          <a:r>
                            <a:rPr kumimoji="0" lang="en-US" sz="2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</a:t>
                          </a:r>
                          <a:endParaRPr kumimoji="0" lang="en-US" sz="22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168384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742913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622119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25146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449598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AE04EF5A-B452-EEB1-A8E4-1CCF1AB80C19}"/>
              </a:ext>
            </a:extLst>
          </p:cNvPr>
          <p:cNvSpPr txBox="1"/>
          <p:nvPr/>
        </p:nvSpPr>
        <p:spPr>
          <a:xfrm>
            <a:off x="2995424" y="4960238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472F9F1-B7F2-363D-E00D-614F749E679A}"/>
              </a:ext>
            </a:extLst>
          </p:cNvPr>
          <p:cNvSpPr txBox="1"/>
          <p:nvPr/>
        </p:nvSpPr>
        <p:spPr>
          <a:xfrm>
            <a:off x="3424364" y="4960238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470365D-9026-B14F-9440-E9FFB8BC2F2D}"/>
              </a:ext>
            </a:extLst>
          </p:cNvPr>
          <p:cNvSpPr txBox="1"/>
          <p:nvPr/>
        </p:nvSpPr>
        <p:spPr>
          <a:xfrm>
            <a:off x="4033964" y="4958683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05D3869-AD0B-6D96-E25A-628D78280165}"/>
              </a:ext>
            </a:extLst>
          </p:cNvPr>
          <p:cNvSpPr txBox="1"/>
          <p:nvPr/>
        </p:nvSpPr>
        <p:spPr>
          <a:xfrm>
            <a:off x="2995424" y="5337247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978701E-2ECD-1829-8B2E-0F9116AA5BD3}"/>
              </a:ext>
            </a:extLst>
          </p:cNvPr>
          <p:cNvSpPr txBox="1"/>
          <p:nvPr/>
        </p:nvSpPr>
        <p:spPr>
          <a:xfrm>
            <a:off x="3424364" y="5337247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0C73C50-EF02-38D4-2AE9-1CD7F5A3DACC}"/>
              </a:ext>
            </a:extLst>
          </p:cNvPr>
          <p:cNvSpPr txBox="1"/>
          <p:nvPr/>
        </p:nvSpPr>
        <p:spPr>
          <a:xfrm>
            <a:off x="4033964" y="5335692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34F851F-8B9C-875E-2270-945137B477D7}"/>
              </a:ext>
            </a:extLst>
          </p:cNvPr>
          <p:cNvSpPr txBox="1"/>
          <p:nvPr/>
        </p:nvSpPr>
        <p:spPr>
          <a:xfrm>
            <a:off x="2995424" y="5714256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52F4B09-DA1A-02C0-7FC1-2539EBCF3685}"/>
              </a:ext>
            </a:extLst>
          </p:cNvPr>
          <p:cNvSpPr txBox="1"/>
          <p:nvPr/>
        </p:nvSpPr>
        <p:spPr>
          <a:xfrm>
            <a:off x="3424364" y="5714256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9976D3A-273F-BB21-A33F-48DFF39B85F8}"/>
              </a:ext>
            </a:extLst>
          </p:cNvPr>
          <p:cNvSpPr txBox="1"/>
          <p:nvPr/>
        </p:nvSpPr>
        <p:spPr>
          <a:xfrm>
            <a:off x="4033964" y="5712701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91DF2A-5C41-ACC3-DB33-693FFBC201DA}"/>
              </a:ext>
            </a:extLst>
          </p:cNvPr>
          <p:cNvSpPr txBox="1"/>
          <p:nvPr/>
        </p:nvSpPr>
        <p:spPr>
          <a:xfrm>
            <a:off x="2995424" y="6148578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09D23CB-8918-2FA9-29B2-C103559482ED}"/>
              </a:ext>
            </a:extLst>
          </p:cNvPr>
          <p:cNvSpPr txBox="1"/>
          <p:nvPr/>
        </p:nvSpPr>
        <p:spPr>
          <a:xfrm>
            <a:off x="3424364" y="6148578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66A80DE-0D1C-8F1C-EE2D-42C46A191C6E}"/>
              </a:ext>
            </a:extLst>
          </p:cNvPr>
          <p:cNvSpPr txBox="1"/>
          <p:nvPr/>
        </p:nvSpPr>
        <p:spPr>
          <a:xfrm>
            <a:off x="4033964" y="6147023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BEA3AF6-841F-44EB-F15B-D2043560A8E4}"/>
              </a:ext>
            </a:extLst>
          </p:cNvPr>
          <p:cNvSpPr txBox="1"/>
          <p:nvPr/>
        </p:nvSpPr>
        <p:spPr>
          <a:xfrm>
            <a:off x="7316306" y="5019643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A25D521-71AE-A65D-BCD8-15B922E0A2CA}"/>
              </a:ext>
            </a:extLst>
          </p:cNvPr>
          <p:cNvSpPr txBox="1"/>
          <p:nvPr/>
        </p:nvSpPr>
        <p:spPr>
          <a:xfrm>
            <a:off x="7316306" y="5396652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B8082C0-A448-9006-598D-CE67B2CE1E8B}"/>
              </a:ext>
            </a:extLst>
          </p:cNvPr>
          <p:cNvSpPr txBox="1"/>
          <p:nvPr/>
        </p:nvSpPr>
        <p:spPr>
          <a:xfrm>
            <a:off x="7316306" y="5773661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CA5BABB-FC4B-52D4-429D-53D66D3155F7}"/>
              </a:ext>
            </a:extLst>
          </p:cNvPr>
          <p:cNvSpPr txBox="1"/>
          <p:nvPr/>
        </p:nvSpPr>
        <p:spPr>
          <a:xfrm>
            <a:off x="7316306" y="6207983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87D7B16-F709-5B08-4D07-024280A7AA31}"/>
              </a:ext>
            </a:extLst>
          </p:cNvPr>
          <p:cNvSpPr txBox="1"/>
          <p:nvPr/>
        </p:nvSpPr>
        <p:spPr>
          <a:xfrm>
            <a:off x="5326162" y="5019643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0275CDC-273C-E293-625B-B774F2F48882}"/>
              </a:ext>
            </a:extLst>
          </p:cNvPr>
          <p:cNvSpPr txBox="1"/>
          <p:nvPr/>
        </p:nvSpPr>
        <p:spPr>
          <a:xfrm>
            <a:off x="5326162" y="5396652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6539670-2BF0-EDD0-0D48-A1683D71AFC9}"/>
              </a:ext>
            </a:extLst>
          </p:cNvPr>
          <p:cNvSpPr txBox="1"/>
          <p:nvPr/>
        </p:nvSpPr>
        <p:spPr>
          <a:xfrm>
            <a:off x="5326162" y="5773661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C586DBF-7764-43C4-DBF1-9F262BB3B7A4}"/>
              </a:ext>
            </a:extLst>
          </p:cNvPr>
          <p:cNvSpPr txBox="1"/>
          <p:nvPr/>
        </p:nvSpPr>
        <p:spPr>
          <a:xfrm>
            <a:off x="5326162" y="6207983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3061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11" grpId="0"/>
      <p:bldP spid="21" grpId="0"/>
      <p:bldP spid="22" grpId="0"/>
      <p:bldP spid="23" grpId="0"/>
      <p:bldP spid="24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 animBg="1"/>
      <p:bldP spid="43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HYPOTHETICAL SYLLOGISM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0C3849-3E9B-5EF4-B40E-5313F56297DA}"/>
              </a:ext>
            </a:extLst>
          </p:cNvPr>
          <p:cNvSpPr txBox="1"/>
          <p:nvPr/>
        </p:nvSpPr>
        <p:spPr>
          <a:xfrm>
            <a:off x="457200" y="16002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Let,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two propositions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DBAA29-D647-F34E-C6AF-333B62631485}"/>
              </a:ext>
            </a:extLst>
          </p:cNvPr>
          <p:cNvSpPr txBox="1"/>
          <p:nvPr/>
        </p:nvSpPr>
        <p:spPr>
          <a:xfrm>
            <a:off x="914400" y="1986575"/>
            <a:ext cx="394531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Bangladesh plays at Mirpur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5DCBF9-9FBE-654E-8195-27E7A44FDB19}"/>
              </a:ext>
            </a:extLst>
          </p:cNvPr>
          <p:cNvSpPr txBox="1"/>
          <p:nvPr/>
        </p:nvSpPr>
        <p:spPr>
          <a:xfrm>
            <a:off x="914400" y="2329829"/>
            <a:ext cx="27638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altLang="ko-K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Bangladesh wins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354639-40DF-8084-25BB-D397836EDF86}"/>
              </a:ext>
            </a:extLst>
          </p:cNvPr>
          <p:cNvGrpSpPr/>
          <p:nvPr/>
        </p:nvGrpSpPr>
        <p:grpSpPr>
          <a:xfrm>
            <a:off x="940285" y="3277252"/>
            <a:ext cx="1356064" cy="1116687"/>
            <a:chOff x="-1440807" y="2831682"/>
            <a:chExt cx="1356064" cy="111668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DDFD4F1-A80F-A1AE-7ED8-B64C10FAD62D}"/>
                </a:ext>
              </a:extLst>
            </p:cNvPr>
            <p:cNvSpPr txBox="1"/>
            <p:nvPr/>
          </p:nvSpPr>
          <p:spPr>
            <a:xfrm>
              <a:off x="-1360713" y="2831682"/>
              <a:ext cx="105591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>
                  <a:solidFill>
                    <a:prstClr val="black"/>
                  </a:solidFill>
                </a:rPr>
                <a:t>→  </a:t>
              </a:r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C7CF68-3306-C54A-3801-31513A6C45C1}"/>
                </a:ext>
              </a:extLst>
            </p:cNvPr>
            <p:cNvSpPr txBox="1"/>
            <p:nvPr/>
          </p:nvSpPr>
          <p:spPr>
            <a:xfrm>
              <a:off x="-1401249" y="3172138"/>
              <a:ext cx="105591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alatino Linotype"/>
                  <a:ea typeface="+mn-ea"/>
                  <a:cs typeface="+mn-cs"/>
                </a:rPr>
                <a:t>→  </a:t>
              </a:r>
              <a:r>
                <a:rPr lang="en-US" sz="22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kumimoji="0" lang="en-US" sz="2200" b="1" i="1" u="none" strike="noStrike" kern="1200" cap="none" spc="0" normalizeH="0" baseline="-2500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9DE7BBD-4AC3-D826-CF2B-018B5AB3A2A1}"/>
                </a:ext>
              </a:extLst>
            </p:cNvPr>
            <p:cNvCxnSpPr>
              <a:cxnSpLocks/>
            </p:cNvCxnSpPr>
            <p:nvPr/>
          </p:nvCxnSpPr>
          <p:spPr>
            <a:xfrm>
              <a:off x="-1440807" y="3593682"/>
              <a:ext cx="822656" cy="5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DD1BD59-71AB-1BCE-C726-5C4A988594A0}"/>
                </a:ext>
              </a:extLst>
            </p:cNvPr>
            <p:cNvSpPr txBox="1"/>
            <p:nvPr/>
          </p:nvSpPr>
          <p:spPr>
            <a:xfrm>
              <a:off x="-1440807" y="3517482"/>
              <a:ext cx="135606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∴ </a:t>
              </a:r>
              <a:r>
                <a:rPr kumimoji="0" lang="en-US" sz="22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</a:t>
              </a:r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alatino Linotype"/>
                  <a:ea typeface="+mn-ea"/>
                  <a:cs typeface="+mn-cs"/>
                </a:rPr>
                <a:t>→  </a:t>
              </a:r>
              <a:r>
                <a:rPr lang="en-US" sz="22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kumimoji="0" lang="en-US" sz="2200" b="1" i="1" u="none" strike="noStrike" kern="1200" cap="none" spc="0" normalizeH="0" baseline="-2500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B0E48998-ABE2-682F-D7D1-F4B954B2E58C}"/>
              </a:ext>
            </a:extLst>
          </p:cNvPr>
          <p:cNvSpPr txBox="1"/>
          <p:nvPr/>
        </p:nvSpPr>
        <p:spPr>
          <a:xfrm>
            <a:off x="762000" y="4373478"/>
            <a:ext cx="140615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states that,</a:t>
            </a:r>
            <a:endParaRPr lang="en-US" sz="2200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2DA822-FFA4-D423-750C-8610C65546D0}"/>
              </a:ext>
            </a:extLst>
          </p:cNvPr>
          <p:cNvSpPr txBox="1"/>
          <p:nvPr/>
        </p:nvSpPr>
        <p:spPr>
          <a:xfrm>
            <a:off x="762000" y="4759853"/>
            <a:ext cx="688041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Bangladesh plays at Mirpur then Bangladesh wins </a:t>
            </a:r>
            <a:r>
              <a:rPr lang="en-US" sz="22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true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368791-5E07-17DA-1072-C09F208C25F7}"/>
              </a:ext>
            </a:extLst>
          </p:cNvPr>
          <p:cNvSpPr txBox="1"/>
          <p:nvPr/>
        </p:nvSpPr>
        <p:spPr>
          <a:xfrm>
            <a:off x="762000" y="5177300"/>
            <a:ext cx="826540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If Bangladesh wins then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Shanto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becomes Man of the Match </a:t>
            </a:r>
            <a:r>
              <a:rPr lang="en-US" sz="22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true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10C27C-DD52-BF97-A2C6-20EFDCCBD574}"/>
              </a:ext>
            </a:extLst>
          </p:cNvPr>
          <p:cNvSpPr txBox="1"/>
          <p:nvPr/>
        </p:nvSpPr>
        <p:spPr>
          <a:xfrm>
            <a:off x="762000" y="5551327"/>
            <a:ext cx="82654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definitely, if Bangladesh plays at Mirpur then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Shanto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becomes Man of the Match </a:t>
            </a:r>
            <a:r>
              <a:rPr lang="en-US" sz="22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true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5D89A6-DC91-F780-3E45-3FF661CBD303}"/>
              </a:ext>
            </a:extLst>
          </p:cNvPr>
          <p:cNvSpPr txBox="1"/>
          <p:nvPr/>
        </p:nvSpPr>
        <p:spPr>
          <a:xfrm>
            <a:off x="914400" y="2745617"/>
            <a:ext cx="4751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altLang="ko-K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Shanto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becomes Man of the Match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70F230-2B90-D01B-6882-1C0C2C1C3F46}"/>
              </a:ext>
            </a:extLst>
          </p:cNvPr>
          <p:cNvSpPr txBox="1"/>
          <p:nvPr/>
        </p:nvSpPr>
        <p:spPr>
          <a:xfrm>
            <a:off x="756046" y="6238794"/>
            <a:ext cx="5844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Tautology: ( 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fr-FR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^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200" baseline="-25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4078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11" grpId="0"/>
      <p:bldP spid="21" grpId="0"/>
      <p:bldP spid="22" grpId="0"/>
      <p:bldP spid="23" grpId="0"/>
      <p:bldP spid="24" grpId="0"/>
      <p:bldP spid="6" grpId="0"/>
      <p:bldP spid="8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EXERCISE-1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0C3849-3E9B-5EF4-B40E-5313F56297DA}"/>
              </a:ext>
            </a:extLst>
          </p:cNvPr>
          <p:cNvSpPr txBox="1"/>
          <p:nvPr/>
        </p:nvSpPr>
        <p:spPr>
          <a:xfrm>
            <a:off x="457200" y="1600200"/>
            <a:ext cx="82296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that the premises “It is not sunny this afternoon and 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colder than yesterday,” “We will go swimming only if it is sunny,”      “If we do not go swimming, then we will go for a trip,” and “If we go for a trip, then we will be home by sunset” lead to the conclusion       “We will be home by sunset.”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3B349D-F329-B9E1-2A94-D1376CCE366B}"/>
              </a:ext>
            </a:extLst>
          </p:cNvPr>
          <p:cNvSpPr txBox="1"/>
          <p:nvPr/>
        </p:nvSpPr>
        <p:spPr>
          <a:xfrm>
            <a:off x="457200" y="3472697"/>
            <a:ext cx="396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It is sunny this afternoon 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BA6CC66-8F7D-8DAD-4181-69064636F8C5}"/>
              </a:ext>
            </a:extLst>
          </p:cNvPr>
          <p:cNvCxnSpPr>
            <a:cxnSpLocks/>
          </p:cNvCxnSpPr>
          <p:nvPr/>
        </p:nvCxnSpPr>
        <p:spPr>
          <a:xfrm>
            <a:off x="3868260" y="1981200"/>
            <a:ext cx="301822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E0A244A-477B-34FF-B56E-2F20EDFDEF49}"/>
              </a:ext>
            </a:extLst>
          </p:cNvPr>
          <p:cNvSpPr txBox="1"/>
          <p:nvPr/>
        </p:nvSpPr>
        <p:spPr>
          <a:xfrm>
            <a:off x="4572000" y="3496507"/>
            <a:ext cx="396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It is colder than yesterday 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1AA2DC6-540C-8A10-4941-7A3F0199344F}"/>
              </a:ext>
            </a:extLst>
          </p:cNvPr>
          <p:cNvCxnSpPr>
            <a:cxnSpLocks/>
          </p:cNvCxnSpPr>
          <p:nvPr/>
        </p:nvCxnSpPr>
        <p:spPr>
          <a:xfrm>
            <a:off x="486792" y="2362200"/>
            <a:ext cx="321723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F4FFAB2-7FB0-8A8B-8162-D43DD25983C7}"/>
              </a:ext>
            </a:extLst>
          </p:cNvPr>
          <p:cNvSpPr txBox="1"/>
          <p:nvPr/>
        </p:nvSpPr>
        <p:spPr>
          <a:xfrm>
            <a:off x="441479" y="3951890"/>
            <a:ext cx="396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We will go swimming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EBEA5AA-3FDD-5B17-AA27-351685CD67BD}"/>
              </a:ext>
            </a:extLst>
          </p:cNvPr>
          <p:cNvCxnSpPr>
            <a:cxnSpLocks/>
          </p:cNvCxnSpPr>
          <p:nvPr/>
        </p:nvCxnSpPr>
        <p:spPr>
          <a:xfrm>
            <a:off x="3868260" y="2354062"/>
            <a:ext cx="253254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B37B1C1-FA4A-D6F5-582C-693CAD82B9BA}"/>
              </a:ext>
            </a:extLst>
          </p:cNvPr>
          <p:cNvSpPr txBox="1"/>
          <p:nvPr/>
        </p:nvSpPr>
        <p:spPr>
          <a:xfrm>
            <a:off x="4572000" y="3951889"/>
            <a:ext cx="396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We will go for a trip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1A9CF76-92AE-9FA3-305D-2D8403072991}"/>
              </a:ext>
            </a:extLst>
          </p:cNvPr>
          <p:cNvCxnSpPr>
            <a:cxnSpLocks/>
          </p:cNvCxnSpPr>
          <p:nvPr/>
        </p:nvCxnSpPr>
        <p:spPr>
          <a:xfrm>
            <a:off x="4419600" y="2667000"/>
            <a:ext cx="2362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78DB48D-2DE4-3396-18E2-21D309A8D113}"/>
              </a:ext>
            </a:extLst>
          </p:cNvPr>
          <p:cNvSpPr txBox="1"/>
          <p:nvPr/>
        </p:nvSpPr>
        <p:spPr>
          <a:xfrm>
            <a:off x="457200" y="4431083"/>
            <a:ext cx="396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We will be home by sunset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500AE4C-1A6C-8AFD-4478-88BCD7996AD3}"/>
              </a:ext>
            </a:extLst>
          </p:cNvPr>
          <p:cNvCxnSpPr>
            <a:cxnSpLocks/>
          </p:cNvCxnSpPr>
          <p:nvPr/>
        </p:nvCxnSpPr>
        <p:spPr>
          <a:xfrm>
            <a:off x="685800" y="3352800"/>
            <a:ext cx="301822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753084F-E4F4-85C2-9C05-80ED624C695C}"/>
              </a:ext>
            </a:extLst>
          </p:cNvPr>
          <p:cNvSpPr txBox="1"/>
          <p:nvPr/>
        </p:nvSpPr>
        <p:spPr>
          <a:xfrm>
            <a:off x="457200" y="4861970"/>
            <a:ext cx="1875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ko-KR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^</a:t>
            </a:r>
            <a:r>
              <a:rPr lang="en-US" sz="2000" dirty="0">
                <a:solidFill>
                  <a:prstClr val="black"/>
                </a:solidFill>
              </a:rPr>
              <a:t>  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sz="2200" b="1" i="1" baseline="-25000" dirty="0">
              <a:solidFill>
                <a:prstClr val="white">
                  <a:lumMod val="6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C1DB6D8-2381-2886-961D-971674D94E23}"/>
              </a:ext>
            </a:extLst>
          </p:cNvPr>
          <p:cNvSpPr txBox="1"/>
          <p:nvPr/>
        </p:nvSpPr>
        <p:spPr>
          <a:xfrm>
            <a:off x="2391792" y="4892025"/>
            <a:ext cx="18754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[Premise]</a:t>
            </a:r>
            <a:endParaRPr lang="en-US" sz="2200" b="1" i="1" baseline="-25000" dirty="0">
              <a:solidFill>
                <a:prstClr val="white">
                  <a:lumMod val="6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51A584-D94C-1B13-4C39-FD8D16B60855}"/>
              </a:ext>
            </a:extLst>
          </p:cNvPr>
          <p:cNvSpPr txBox="1"/>
          <p:nvPr/>
        </p:nvSpPr>
        <p:spPr>
          <a:xfrm>
            <a:off x="486792" y="5301467"/>
            <a:ext cx="18754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2200" b="1" i="1" baseline="-25000" dirty="0">
              <a:solidFill>
                <a:prstClr val="white">
                  <a:lumMod val="6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1AB0624-D2E6-0537-781B-CF6F14AF83CC}"/>
              </a:ext>
            </a:extLst>
          </p:cNvPr>
          <p:cNvSpPr txBox="1"/>
          <p:nvPr/>
        </p:nvSpPr>
        <p:spPr>
          <a:xfrm>
            <a:off x="2421384" y="5331522"/>
            <a:ext cx="18754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[Premise]</a:t>
            </a:r>
            <a:endParaRPr lang="en-US" sz="2200" b="1" i="1" baseline="-25000" dirty="0">
              <a:solidFill>
                <a:prstClr val="white">
                  <a:lumMod val="6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52E90E2-F6A7-5BD3-81AE-A5579D7603CF}"/>
              </a:ext>
            </a:extLst>
          </p:cNvPr>
          <p:cNvSpPr txBox="1"/>
          <p:nvPr/>
        </p:nvSpPr>
        <p:spPr>
          <a:xfrm>
            <a:off x="486792" y="5710186"/>
            <a:ext cx="1875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ko-KR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sz="2200" b="1" i="1" baseline="-25000" dirty="0">
              <a:solidFill>
                <a:prstClr val="white">
                  <a:lumMod val="6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5113F82-81D4-9535-BA8A-259FF8257AAF}"/>
              </a:ext>
            </a:extLst>
          </p:cNvPr>
          <p:cNvSpPr txBox="1"/>
          <p:nvPr/>
        </p:nvSpPr>
        <p:spPr>
          <a:xfrm>
            <a:off x="2421384" y="5740241"/>
            <a:ext cx="18754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[Premise]</a:t>
            </a:r>
            <a:endParaRPr lang="en-US" sz="2200" b="1" i="1" baseline="-25000" dirty="0">
              <a:solidFill>
                <a:prstClr val="white">
                  <a:lumMod val="6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980D74F-7BC8-87D3-3EDA-633FE791B6BB}"/>
              </a:ext>
            </a:extLst>
          </p:cNvPr>
          <p:cNvSpPr txBox="1"/>
          <p:nvPr/>
        </p:nvSpPr>
        <p:spPr>
          <a:xfrm>
            <a:off x="486792" y="6096737"/>
            <a:ext cx="18754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sz="2200" b="1" i="1" baseline="-25000" dirty="0">
              <a:solidFill>
                <a:prstClr val="white">
                  <a:lumMod val="6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D63D78A-5F39-B801-CD5A-1361251E5FEC}"/>
              </a:ext>
            </a:extLst>
          </p:cNvPr>
          <p:cNvSpPr txBox="1"/>
          <p:nvPr/>
        </p:nvSpPr>
        <p:spPr>
          <a:xfrm>
            <a:off x="2421384" y="6126792"/>
            <a:ext cx="18754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[Premise]</a:t>
            </a:r>
            <a:endParaRPr lang="en-US" sz="2200" b="1" i="1" baseline="-25000" dirty="0">
              <a:solidFill>
                <a:prstClr val="white">
                  <a:lumMod val="6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432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13" grpId="0"/>
      <p:bldP spid="32" grpId="0"/>
      <p:bldP spid="35" grpId="0"/>
      <p:bldP spid="38" grpId="0"/>
      <p:bldP spid="41" grpId="0"/>
      <p:bldP spid="42" grpId="0"/>
      <p:bldP spid="43" grpId="0"/>
      <p:bldP spid="44" grpId="0"/>
      <p:bldP spid="46" grpId="0"/>
      <p:bldP spid="47" grpId="0"/>
      <p:bldP spid="48" grpId="0"/>
      <p:bldP spid="49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EXERCISE-1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53084F-E4F4-85C2-9C05-80ED624C695C}"/>
              </a:ext>
            </a:extLst>
          </p:cNvPr>
          <p:cNvSpPr txBox="1"/>
          <p:nvPr/>
        </p:nvSpPr>
        <p:spPr>
          <a:xfrm>
            <a:off x="473476" y="1524000"/>
            <a:ext cx="1875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ko-KR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^</a:t>
            </a:r>
            <a:r>
              <a:rPr lang="en-US" sz="2000" dirty="0">
                <a:solidFill>
                  <a:prstClr val="black"/>
                </a:solidFill>
              </a:rPr>
              <a:t>  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sz="2200" b="1" i="1" baseline="-25000" dirty="0">
              <a:solidFill>
                <a:prstClr val="white">
                  <a:lumMod val="6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C1DB6D8-2381-2886-961D-971674D94E23}"/>
              </a:ext>
            </a:extLst>
          </p:cNvPr>
          <p:cNvSpPr txBox="1"/>
          <p:nvPr/>
        </p:nvSpPr>
        <p:spPr>
          <a:xfrm>
            <a:off x="2408068" y="1554055"/>
            <a:ext cx="18754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[Premise]</a:t>
            </a:r>
            <a:endParaRPr lang="en-US" sz="2200" b="1" i="1" baseline="-25000" dirty="0">
              <a:solidFill>
                <a:prstClr val="white">
                  <a:lumMod val="6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51A584-D94C-1B13-4C39-FD8D16B60855}"/>
              </a:ext>
            </a:extLst>
          </p:cNvPr>
          <p:cNvSpPr txBox="1"/>
          <p:nvPr/>
        </p:nvSpPr>
        <p:spPr>
          <a:xfrm>
            <a:off x="503068" y="1963497"/>
            <a:ext cx="18754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2200" b="1" i="1" baseline="-25000" dirty="0">
              <a:solidFill>
                <a:prstClr val="white">
                  <a:lumMod val="6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1AB0624-D2E6-0537-781B-CF6F14AF83CC}"/>
              </a:ext>
            </a:extLst>
          </p:cNvPr>
          <p:cNvSpPr txBox="1"/>
          <p:nvPr/>
        </p:nvSpPr>
        <p:spPr>
          <a:xfrm>
            <a:off x="2437660" y="1993552"/>
            <a:ext cx="18754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[Premise]</a:t>
            </a:r>
            <a:endParaRPr lang="en-US" sz="2200" b="1" i="1" baseline="-25000" dirty="0">
              <a:solidFill>
                <a:prstClr val="white">
                  <a:lumMod val="6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52E90E2-F6A7-5BD3-81AE-A5579D7603CF}"/>
              </a:ext>
            </a:extLst>
          </p:cNvPr>
          <p:cNvSpPr txBox="1"/>
          <p:nvPr/>
        </p:nvSpPr>
        <p:spPr>
          <a:xfrm>
            <a:off x="503068" y="2372216"/>
            <a:ext cx="1875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ko-KR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sz="2200" b="1" i="1" baseline="-25000" dirty="0">
              <a:solidFill>
                <a:prstClr val="white">
                  <a:lumMod val="6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5113F82-81D4-9535-BA8A-259FF8257AAF}"/>
              </a:ext>
            </a:extLst>
          </p:cNvPr>
          <p:cNvSpPr txBox="1"/>
          <p:nvPr/>
        </p:nvSpPr>
        <p:spPr>
          <a:xfrm>
            <a:off x="2437660" y="2402271"/>
            <a:ext cx="18754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[Premise]</a:t>
            </a:r>
            <a:endParaRPr lang="en-US" sz="2200" b="1" i="1" baseline="-25000" dirty="0">
              <a:solidFill>
                <a:prstClr val="white">
                  <a:lumMod val="6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980D74F-7BC8-87D3-3EDA-633FE791B6BB}"/>
              </a:ext>
            </a:extLst>
          </p:cNvPr>
          <p:cNvSpPr txBox="1"/>
          <p:nvPr/>
        </p:nvSpPr>
        <p:spPr>
          <a:xfrm>
            <a:off x="503068" y="2758767"/>
            <a:ext cx="18754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sz="2200" b="1" i="1" baseline="-25000" dirty="0">
              <a:solidFill>
                <a:prstClr val="white">
                  <a:lumMod val="6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D63D78A-5F39-B801-CD5A-1361251E5FEC}"/>
              </a:ext>
            </a:extLst>
          </p:cNvPr>
          <p:cNvSpPr txBox="1"/>
          <p:nvPr/>
        </p:nvSpPr>
        <p:spPr>
          <a:xfrm>
            <a:off x="2437660" y="2788822"/>
            <a:ext cx="18754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[Premise]</a:t>
            </a:r>
            <a:endParaRPr lang="en-US" sz="2200" b="1" i="1" baseline="-25000" dirty="0">
              <a:solidFill>
                <a:prstClr val="white">
                  <a:lumMod val="6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A74CD6-6A50-EA04-3488-08348D0E35D2}"/>
              </a:ext>
            </a:extLst>
          </p:cNvPr>
          <p:cNvSpPr txBox="1"/>
          <p:nvPr/>
        </p:nvSpPr>
        <p:spPr>
          <a:xfrm>
            <a:off x="503068" y="3554037"/>
            <a:ext cx="18754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맑은 고딕" panose="020B0503020000020004" pitchFamily="34" charset="-127"/>
                <a:cs typeface="Times New Roman" panose="02020603050405020304" pitchFamily="18" charset="0"/>
              </a:rPr>
              <a:t>ㄱ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endParaRPr lang="en-US" sz="2200" b="1" i="1" baseline="-25000" dirty="0">
              <a:solidFill>
                <a:prstClr val="white">
                  <a:lumMod val="6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0C71AC-888B-9D78-B096-BC1DB825AB2A}"/>
              </a:ext>
            </a:extLst>
          </p:cNvPr>
          <p:cNvSpPr txBox="1"/>
          <p:nvPr/>
        </p:nvSpPr>
        <p:spPr>
          <a:xfrm>
            <a:off x="2439880" y="3554036"/>
            <a:ext cx="62010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[Simplification using (1)]</a:t>
            </a:r>
            <a:endParaRPr lang="en-US" sz="2200" b="1" i="1" baseline="-25000" dirty="0">
              <a:solidFill>
                <a:prstClr val="white">
                  <a:lumMod val="6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8BF911-CE1D-9812-FDD6-BD408F962E69}"/>
              </a:ext>
            </a:extLst>
          </p:cNvPr>
          <p:cNvSpPr txBox="1"/>
          <p:nvPr/>
        </p:nvSpPr>
        <p:spPr>
          <a:xfrm>
            <a:off x="503068" y="4046081"/>
            <a:ext cx="18754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맑은 고딕" panose="020B0503020000020004" pitchFamily="34" charset="-127"/>
                <a:cs typeface="Times New Roman" panose="02020603050405020304" pitchFamily="18" charset="0"/>
              </a:rPr>
              <a:t>ㄱ</a:t>
            </a:r>
            <a:r>
              <a:rPr lang="en-US" altLang="ko-KR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US" sz="2200" b="1" i="1" baseline="-25000" dirty="0">
              <a:solidFill>
                <a:prstClr val="white">
                  <a:lumMod val="6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DEBFDB-CAD7-EEE6-527F-18C94671EA90}"/>
              </a:ext>
            </a:extLst>
          </p:cNvPr>
          <p:cNvSpPr txBox="1"/>
          <p:nvPr/>
        </p:nvSpPr>
        <p:spPr>
          <a:xfrm>
            <a:off x="2439880" y="4046080"/>
            <a:ext cx="62010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[Modus Tollens using (2) and (5)]</a:t>
            </a:r>
            <a:endParaRPr lang="en-US" sz="2200" b="1" i="1" baseline="-25000" dirty="0">
              <a:solidFill>
                <a:prstClr val="white">
                  <a:lumMod val="6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D29A5E-E679-BC02-B542-14828B5D56A1}"/>
              </a:ext>
            </a:extLst>
          </p:cNvPr>
          <p:cNvSpPr txBox="1"/>
          <p:nvPr/>
        </p:nvSpPr>
        <p:spPr>
          <a:xfrm>
            <a:off x="503068" y="4533348"/>
            <a:ext cx="18754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US" altLang="ko-KR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sz="2200" b="1" i="1" baseline="-25000" dirty="0">
              <a:solidFill>
                <a:prstClr val="white">
                  <a:lumMod val="6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16693B-C3EC-6B92-C0B1-42FA3BA4D364}"/>
              </a:ext>
            </a:extLst>
          </p:cNvPr>
          <p:cNvSpPr txBox="1"/>
          <p:nvPr/>
        </p:nvSpPr>
        <p:spPr>
          <a:xfrm>
            <a:off x="2439880" y="4533347"/>
            <a:ext cx="62010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[Modus Ponens using (3) and (6)]</a:t>
            </a:r>
            <a:endParaRPr lang="en-US" sz="2200" b="1" i="1" baseline="-25000" dirty="0">
              <a:solidFill>
                <a:prstClr val="white">
                  <a:lumMod val="6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63B98F-C933-40AE-77CD-FBCF83022178}"/>
              </a:ext>
            </a:extLst>
          </p:cNvPr>
          <p:cNvSpPr txBox="1"/>
          <p:nvPr/>
        </p:nvSpPr>
        <p:spPr>
          <a:xfrm>
            <a:off x="492711" y="5028750"/>
            <a:ext cx="18754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en-US" altLang="ko-KR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sz="2200" b="1" i="1" baseline="-25000" dirty="0">
              <a:solidFill>
                <a:prstClr val="white">
                  <a:lumMod val="6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CA724C-8B4F-E745-04A0-02AEE4AE58A5}"/>
              </a:ext>
            </a:extLst>
          </p:cNvPr>
          <p:cNvSpPr txBox="1"/>
          <p:nvPr/>
        </p:nvSpPr>
        <p:spPr>
          <a:xfrm>
            <a:off x="2429523" y="5028749"/>
            <a:ext cx="62010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[Modus Ponens using (4) and (7)]</a:t>
            </a:r>
            <a:endParaRPr lang="en-US" sz="2200" b="1" i="1" baseline="-25000" dirty="0">
              <a:solidFill>
                <a:prstClr val="white">
                  <a:lumMod val="6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26481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EXERCISE-2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0C3849-3E9B-5EF4-B40E-5313F56297DA}"/>
              </a:ext>
            </a:extLst>
          </p:cNvPr>
          <p:cNvSpPr txBox="1"/>
          <p:nvPr/>
        </p:nvSpPr>
        <p:spPr>
          <a:xfrm>
            <a:off x="457200" y="16002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that the premise 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^</a:t>
            </a:r>
            <a:r>
              <a:rPr lang="en-US" sz="2000" dirty="0">
                <a:solidFill>
                  <a:prstClr val="black"/>
                </a:solidFill>
              </a:rPr>
              <a:t> ( </a:t>
            </a:r>
            <a:r>
              <a:rPr lang="en-US" sz="2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leads to the conclusion 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3FB9F3-5872-1BCB-7712-9E3952C7EC4E}"/>
              </a:ext>
            </a:extLst>
          </p:cNvPr>
          <p:cNvSpPr txBox="1"/>
          <p:nvPr/>
        </p:nvSpPr>
        <p:spPr>
          <a:xfrm>
            <a:off x="838200" y="2288232"/>
            <a:ext cx="28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^</a:t>
            </a:r>
            <a:r>
              <a:rPr lang="en-US" sz="2000" dirty="0">
                <a:solidFill>
                  <a:prstClr val="black"/>
                </a:solidFill>
              </a:rPr>
              <a:t> ( </a:t>
            </a:r>
            <a:r>
              <a:rPr lang="en-US" sz="2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D0427-4BAB-C71C-F224-7669527E4B1E}"/>
              </a:ext>
            </a:extLst>
          </p:cNvPr>
          <p:cNvSpPr txBox="1"/>
          <p:nvPr/>
        </p:nvSpPr>
        <p:spPr>
          <a:xfrm>
            <a:off x="3162300" y="2303620"/>
            <a:ext cx="2819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[Premise]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03BA8C-A0F6-73AB-1CDF-A4152170A3F1}"/>
              </a:ext>
            </a:extLst>
          </p:cNvPr>
          <p:cNvSpPr txBox="1"/>
          <p:nvPr/>
        </p:nvSpPr>
        <p:spPr>
          <a:xfrm>
            <a:off x="838200" y="2895600"/>
            <a:ext cx="2819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EA1145-75E4-1978-DB44-8C303CC891AF}"/>
              </a:ext>
            </a:extLst>
          </p:cNvPr>
          <p:cNvSpPr txBox="1"/>
          <p:nvPr/>
        </p:nvSpPr>
        <p:spPr>
          <a:xfrm>
            <a:off x="3162300" y="2910988"/>
            <a:ext cx="44577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[Simplification using (1)]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CF5F37-8A95-172E-1161-1E1B85CC1669}"/>
              </a:ext>
            </a:extLst>
          </p:cNvPr>
          <p:cNvSpPr txBox="1"/>
          <p:nvPr/>
        </p:nvSpPr>
        <p:spPr>
          <a:xfrm>
            <a:off x="838200" y="3462153"/>
            <a:ext cx="2819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591CCE-FED3-A5AD-8C78-222D5B9C2212}"/>
              </a:ext>
            </a:extLst>
          </p:cNvPr>
          <p:cNvSpPr txBox="1"/>
          <p:nvPr/>
        </p:nvSpPr>
        <p:spPr>
          <a:xfrm>
            <a:off x="3162300" y="3477541"/>
            <a:ext cx="44577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[Simplification using (1)]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B875FD-363E-822A-25BE-046FF92D2617}"/>
              </a:ext>
            </a:extLst>
          </p:cNvPr>
          <p:cNvSpPr txBox="1"/>
          <p:nvPr/>
        </p:nvSpPr>
        <p:spPr>
          <a:xfrm>
            <a:off x="838200" y="4013318"/>
            <a:ext cx="2819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257BC9-0E74-FEDE-9F16-C2A5013A44B1}"/>
              </a:ext>
            </a:extLst>
          </p:cNvPr>
          <p:cNvSpPr txBox="1"/>
          <p:nvPr/>
        </p:nvSpPr>
        <p:spPr>
          <a:xfrm>
            <a:off x="3162300" y="4028706"/>
            <a:ext cx="44577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[Modus Ponens using (2) and (3)]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365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  <p:bldP spid="8" grpId="0"/>
      <p:bldP spid="9" grpId="0"/>
      <p:bldP spid="10" grpId="0"/>
      <p:bldP spid="14" grpId="0"/>
      <p:bldP spid="15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EXERCISE-3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0C3849-3E9B-5EF4-B40E-5313F56297DA}"/>
              </a:ext>
            </a:extLst>
          </p:cNvPr>
          <p:cNvSpPr txBox="1"/>
          <p:nvPr/>
        </p:nvSpPr>
        <p:spPr>
          <a:xfrm>
            <a:off x="457200" y="16002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following premises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3FB9F3-5872-1BCB-7712-9E3952C7EC4E}"/>
              </a:ext>
            </a:extLst>
          </p:cNvPr>
          <p:cNvSpPr txBox="1"/>
          <p:nvPr/>
        </p:nvSpPr>
        <p:spPr>
          <a:xfrm>
            <a:off x="838200" y="2031087"/>
            <a:ext cx="28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000" dirty="0">
                <a:solidFill>
                  <a:prstClr val="black"/>
                </a:solidFill>
              </a:rPr>
              <a:t> ( </a:t>
            </a:r>
            <a:r>
              <a:rPr lang="en-US" sz="2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sz="20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8286EF-994B-E49E-A43F-0ECE3C869E6A}"/>
              </a:ext>
            </a:extLst>
          </p:cNvPr>
          <p:cNvSpPr txBox="1"/>
          <p:nvPr/>
        </p:nvSpPr>
        <p:spPr>
          <a:xfrm>
            <a:off x="3505200" y="2036339"/>
            <a:ext cx="28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ko-KR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 </a:t>
            </a:r>
            <a:r>
              <a:rPr lang="en-US" sz="2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350384-1708-7876-37B1-9DD87A63CF73}"/>
              </a:ext>
            </a:extLst>
          </p:cNvPr>
          <p:cNvSpPr txBox="1"/>
          <p:nvPr/>
        </p:nvSpPr>
        <p:spPr>
          <a:xfrm>
            <a:off x="6781800" y="2026622"/>
            <a:ext cx="28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^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altLang="ko-KR" sz="2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C5E981-BD0E-118A-23E8-DF08CDECC71D}"/>
              </a:ext>
            </a:extLst>
          </p:cNvPr>
          <p:cNvSpPr txBox="1"/>
          <p:nvPr/>
        </p:nvSpPr>
        <p:spPr>
          <a:xfrm>
            <a:off x="457200" y="25908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that the premises lead to the conclusion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CB52D6-B218-B870-28D6-812498CE0FEE}"/>
              </a:ext>
            </a:extLst>
          </p:cNvPr>
          <p:cNvSpPr txBox="1"/>
          <p:nvPr/>
        </p:nvSpPr>
        <p:spPr>
          <a:xfrm>
            <a:off x="838200" y="2962156"/>
            <a:ext cx="28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000" dirty="0">
                <a:solidFill>
                  <a:prstClr val="black"/>
                </a:solidFill>
              </a:rPr>
              <a:t> ( </a:t>
            </a:r>
            <a:r>
              <a:rPr lang="en-US" sz="2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sz="20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7293A2-7F21-C036-6847-2A403CE4D71B}"/>
              </a:ext>
            </a:extLst>
          </p:cNvPr>
          <p:cNvSpPr txBox="1"/>
          <p:nvPr/>
        </p:nvSpPr>
        <p:spPr>
          <a:xfrm>
            <a:off x="4267200" y="3007311"/>
            <a:ext cx="2819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[Premise]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4991BA-EA5E-1E88-B0AF-BAB77955EFAB}"/>
              </a:ext>
            </a:extLst>
          </p:cNvPr>
          <p:cNvSpPr txBox="1"/>
          <p:nvPr/>
        </p:nvSpPr>
        <p:spPr>
          <a:xfrm>
            <a:off x="843379" y="3423821"/>
            <a:ext cx="28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ko-KR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 </a:t>
            </a:r>
            <a:r>
              <a:rPr lang="en-US" sz="2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B501C8-40A5-2172-882F-3D236E0F2265}"/>
              </a:ext>
            </a:extLst>
          </p:cNvPr>
          <p:cNvSpPr txBox="1"/>
          <p:nvPr/>
        </p:nvSpPr>
        <p:spPr>
          <a:xfrm>
            <a:off x="4272379" y="3468976"/>
            <a:ext cx="2819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[Premise]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961E69-86E6-DB76-E896-71CF49EA1A3D}"/>
              </a:ext>
            </a:extLst>
          </p:cNvPr>
          <p:cNvSpPr txBox="1"/>
          <p:nvPr/>
        </p:nvSpPr>
        <p:spPr>
          <a:xfrm>
            <a:off x="838200" y="3885486"/>
            <a:ext cx="28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^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altLang="ko-KR" sz="2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1386D3-3671-6992-3442-9B1FAC17589A}"/>
              </a:ext>
            </a:extLst>
          </p:cNvPr>
          <p:cNvSpPr txBox="1"/>
          <p:nvPr/>
        </p:nvSpPr>
        <p:spPr>
          <a:xfrm>
            <a:off x="4267200" y="3975796"/>
            <a:ext cx="2819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[Premise]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3DD28E-D06C-A43E-64FA-A1CB0269477D}"/>
              </a:ext>
            </a:extLst>
          </p:cNvPr>
          <p:cNvSpPr txBox="1"/>
          <p:nvPr/>
        </p:nvSpPr>
        <p:spPr>
          <a:xfrm>
            <a:off x="838200" y="4406683"/>
            <a:ext cx="2819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93B083-34DB-51F8-EE6B-7278C8EC8D53}"/>
              </a:ext>
            </a:extLst>
          </p:cNvPr>
          <p:cNvSpPr txBox="1"/>
          <p:nvPr/>
        </p:nvSpPr>
        <p:spPr>
          <a:xfrm>
            <a:off x="4267200" y="4424438"/>
            <a:ext cx="3733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[Simplification using (3)]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74695E-A519-FFEA-1D60-C1024C77286C}"/>
              </a:ext>
            </a:extLst>
          </p:cNvPr>
          <p:cNvSpPr txBox="1"/>
          <p:nvPr/>
        </p:nvSpPr>
        <p:spPr>
          <a:xfrm>
            <a:off x="838200" y="4949013"/>
            <a:ext cx="2819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F9FDF0-ADCD-0625-E6D3-1EA7794F3945}"/>
              </a:ext>
            </a:extLst>
          </p:cNvPr>
          <p:cNvSpPr txBox="1"/>
          <p:nvPr/>
        </p:nvSpPr>
        <p:spPr>
          <a:xfrm>
            <a:off x="4267200" y="4966768"/>
            <a:ext cx="3733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[Simplification using (3)]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605A7E-84BC-02CC-CE50-88F1DA3209E9}"/>
              </a:ext>
            </a:extLst>
          </p:cNvPr>
          <p:cNvSpPr txBox="1"/>
          <p:nvPr/>
        </p:nvSpPr>
        <p:spPr>
          <a:xfrm>
            <a:off x="832282" y="5410678"/>
            <a:ext cx="2819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 </a:t>
            </a:r>
            <a:r>
              <a:rPr lang="en-US" sz="2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896734-8A34-3E50-4FAA-165A0A962278}"/>
              </a:ext>
            </a:extLst>
          </p:cNvPr>
          <p:cNvSpPr txBox="1"/>
          <p:nvPr/>
        </p:nvSpPr>
        <p:spPr>
          <a:xfrm>
            <a:off x="4261282" y="5428433"/>
            <a:ext cx="45779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[Modus Ponens using (2) and (5)]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42D1E5-DD0C-D10F-E46D-D39A75179716}"/>
              </a:ext>
            </a:extLst>
          </p:cNvPr>
          <p:cNvSpPr txBox="1"/>
          <p:nvPr/>
        </p:nvSpPr>
        <p:spPr>
          <a:xfrm>
            <a:off x="843379" y="5910925"/>
            <a:ext cx="2819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sz="20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AADAB3-67EE-C9E8-EDA0-7EFA2816ACFB}"/>
              </a:ext>
            </a:extLst>
          </p:cNvPr>
          <p:cNvSpPr txBox="1"/>
          <p:nvPr/>
        </p:nvSpPr>
        <p:spPr>
          <a:xfrm>
            <a:off x="4272379" y="5928680"/>
            <a:ext cx="45779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[Modus Ponens using (1) and (4)]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FC91DF-42BD-954F-E2D1-FC9819146CA1}"/>
              </a:ext>
            </a:extLst>
          </p:cNvPr>
          <p:cNvSpPr txBox="1"/>
          <p:nvPr/>
        </p:nvSpPr>
        <p:spPr>
          <a:xfrm>
            <a:off x="843379" y="6357218"/>
            <a:ext cx="2819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7F8516-C778-D115-62FA-E439A8BFF4F9}"/>
              </a:ext>
            </a:extLst>
          </p:cNvPr>
          <p:cNvSpPr txBox="1"/>
          <p:nvPr/>
        </p:nvSpPr>
        <p:spPr>
          <a:xfrm>
            <a:off x="4272378" y="6374973"/>
            <a:ext cx="4719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[Disjunctive Syllogism using (6) and (7)]</a:t>
            </a:r>
            <a:endParaRPr lang="en-US" sz="20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004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4" grpId="0"/>
      <p:bldP spid="11" grpId="0"/>
      <p:bldP spid="12" grpId="0"/>
      <p:bldP spid="13" grpId="0"/>
      <p:bldP spid="16" grpId="0"/>
      <p:bldP spid="17" grpId="0"/>
      <p:bldP spid="18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EXERCISE-4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0C3849-3E9B-5EF4-B40E-5313F56297DA}"/>
              </a:ext>
            </a:extLst>
          </p:cNvPr>
          <p:cNvSpPr txBox="1"/>
          <p:nvPr/>
        </p:nvSpPr>
        <p:spPr>
          <a:xfrm>
            <a:off x="457200" y="16002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following premises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3FB9F3-5872-1BCB-7712-9E3952C7EC4E}"/>
              </a:ext>
            </a:extLst>
          </p:cNvPr>
          <p:cNvSpPr txBox="1"/>
          <p:nvPr/>
        </p:nvSpPr>
        <p:spPr>
          <a:xfrm>
            <a:off x="838200" y="2031087"/>
            <a:ext cx="2819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8286EF-994B-E49E-A43F-0ECE3C869E6A}"/>
              </a:ext>
            </a:extLst>
          </p:cNvPr>
          <p:cNvSpPr txBox="1"/>
          <p:nvPr/>
        </p:nvSpPr>
        <p:spPr>
          <a:xfrm>
            <a:off x="3505200" y="2036339"/>
            <a:ext cx="28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altLang="ko-KR" sz="2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350384-1708-7876-37B1-9DD87A63CF73}"/>
              </a:ext>
            </a:extLst>
          </p:cNvPr>
          <p:cNvSpPr txBox="1"/>
          <p:nvPr/>
        </p:nvSpPr>
        <p:spPr>
          <a:xfrm>
            <a:off x="6781800" y="2026622"/>
            <a:ext cx="28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ko-KR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 </a:t>
            </a:r>
            <a:r>
              <a:rPr lang="en-US" sz="2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C5E981-BD0E-118A-23E8-DF08CDECC71D}"/>
              </a:ext>
            </a:extLst>
          </p:cNvPr>
          <p:cNvSpPr txBox="1"/>
          <p:nvPr/>
        </p:nvSpPr>
        <p:spPr>
          <a:xfrm>
            <a:off x="457200" y="25908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that the premises lead to the conclusion </a:t>
            </a:r>
            <a:r>
              <a:rPr lang="ko-KR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CB52D6-B218-B870-28D6-812498CE0FEE}"/>
              </a:ext>
            </a:extLst>
          </p:cNvPr>
          <p:cNvSpPr txBox="1"/>
          <p:nvPr/>
        </p:nvSpPr>
        <p:spPr>
          <a:xfrm>
            <a:off x="838200" y="2962156"/>
            <a:ext cx="2819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7293A2-7F21-C036-6847-2A403CE4D71B}"/>
              </a:ext>
            </a:extLst>
          </p:cNvPr>
          <p:cNvSpPr txBox="1"/>
          <p:nvPr/>
        </p:nvSpPr>
        <p:spPr>
          <a:xfrm>
            <a:off x="4267200" y="3007311"/>
            <a:ext cx="2819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[Premise]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4991BA-EA5E-1E88-B0AF-BAB77955EFAB}"/>
              </a:ext>
            </a:extLst>
          </p:cNvPr>
          <p:cNvSpPr txBox="1"/>
          <p:nvPr/>
        </p:nvSpPr>
        <p:spPr>
          <a:xfrm>
            <a:off x="843379" y="3423821"/>
            <a:ext cx="28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altLang="ko-KR" sz="2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B501C8-40A5-2172-882F-3D236E0F2265}"/>
              </a:ext>
            </a:extLst>
          </p:cNvPr>
          <p:cNvSpPr txBox="1"/>
          <p:nvPr/>
        </p:nvSpPr>
        <p:spPr>
          <a:xfrm>
            <a:off x="4272379" y="3468976"/>
            <a:ext cx="2819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[Premise]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961E69-86E6-DB76-E896-71CF49EA1A3D}"/>
              </a:ext>
            </a:extLst>
          </p:cNvPr>
          <p:cNvSpPr txBox="1"/>
          <p:nvPr/>
        </p:nvSpPr>
        <p:spPr>
          <a:xfrm>
            <a:off x="838200" y="3885486"/>
            <a:ext cx="28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ko-KR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 </a:t>
            </a:r>
            <a:r>
              <a:rPr lang="en-US" sz="2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1386D3-3671-6992-3442-9B1FAC17589A}"/>
              </a:ext>
            </a:extLst>
          </p:cNvPr>
          <p:cNvSpPr txBox="1"/>
          <p:nvPr/>
        </p:nvSpPr>
        <p:spPr>
          <a:xfrm>
            <a:off x="4267200" y="3975796"/>
            <a:ext cx="2819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[Premise]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3DD28E-D06C-A43E-64FA-A1CB0269477D}"/>
              </a:ext>
            </a:extLst>
          </p:cNvPr>
          <p:cNvSpPr txBox="1"/>
          <p:nvPr/>
        </p:nvSpPr>
        <p:spPr>
          <a:xfrm>
            <a:off x="838200" y="4343400"/>
            <a:ext cx="2819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93B083-34DB-51F8-EE6B-7278C8EC8D53}"/>
              </a:ext>
            </a:extLst>
          </p:cNvPr>
          <p:cNvSpPr txBox="1"/>
          <p:nvPr/>
        </p:nvSpPr>
        <p:spPr>
          <a:xfrm>
            <a:off x="4267200" y="4361155"/>
            <a:ext cx="4267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[Modus Ponens using (1) and (2)]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74695E-A519-FFEA-1D60-C1024C77286C}"/>
              </a:ext>
            </a:extLst>
          </p:cNvPr>
          <p:cNvSpPr txBox="1"/>
          <p:nvPr/>
        </p:nvSpPr>
        <p:spPr>
          <a:xfrm>
            <a:off x="832282" y="4796478"/>
            <a:ext cx="2819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 </a:t>
            </a:r>
            <a:r>
              <a:rPr lang="en-US" sz="2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F9FDF0-ADCD-0625-E6D3-1EA7794F3945}"/>
              </a:ext>
            </a:extLst>
          </p:cNvPr>
          <p:cNvSpPr txBox="1"/>
          <p:nvPr/>
        </p:nvSpPr>
        <p:spPr>
          <a:xfrm>
            <a:off x="4261281" y="4814233"/>
            <a:ext cx="45830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Modus Ponens using (3) and (4)]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605A7E-84BC-02CC-CE50-88F1DA3209E9}"/>
              </a:ext>
            </a:extLst>
          </p:cNvPr>
          <p:cNvSpPr txBox="1"/>
          <p:nvPr/>
        </p:nvSpPr>
        <p:spPr>
          <a:xfrm>
            <a:off x="832282" y="5410678"/>
            <a:ext cx="28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ko-KR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 </a:t>
            </a:r>
            <a:r>
              <a:rPr lang="en-US" sz="2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896734-8A34-3E50-4FAA-165A0A962278}"/>
              </a:ext>
            </a:extLst>
          </p:cNvPr>
          <p:cNvSpPr txBox="1"/>
          <p:nvPr/>
        </p:nvSpPr>
        <p:spPr>
          <a:xfrm>
            <a:off x="4261282" y="5428433"/>
            <a:ext cx="45779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Hypothetical Syllogism using (2) and (3)]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42D1E5-DD0C-D10F-E46D-D39A75179716}"/>
              </a:ext>
            </a:extLst>
          </p:cNvPr>
          <p:cNvSpPr txBox="1"/>
          <p:nvPr/>
        </p:nvSpPr>
        <p:spPr>
          <a:xfrm>
            <a:off x="843379" y="5910925"/>
            <a:ext cx="2819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 </a:t>
            </a:r>
            <a:r>
              <a:rPr lang="en-US" sz="20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AADAB3-67EE-C9E8-EDA0-7EFA2816ACFB}"/>
              </a:ext>
            </a:extLst>
          </p:cNvPr>
          <p:cNvSpPr txBox="1"/>
          <p:nvPr/>
        </p:nvSpPr>
        <p:spPr>
          <a:xfrm>
            <a:off x="4272379" y="5928680"/>
            <a:ext cx="45779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[Modus Ponens using (1) and (4)]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18D60A-ACD4-8604-A665-BD30E5931620}"/>
              </a:ext>
            </a:extLst>
          </p:cNvPr>
          <p:cNvSpPr txBox="1"/>
          <p:nvPr/>
        </p:nvSpPr>
        <p:spPr>
          <a:xfrm>
            <a:off x="2819400" y="5103578"/>
            <a:ext cx="2819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Or,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921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4" grpId="0"/>
      <p:bldP spid="11" grpId="0"/>
      <p:bldP spid="12" grpId="0"/>
      <p:bldP spid="13" grpId="0"/>
      <p:bldP spid="16" grpId="0"/>
      <p:bldP spid="17" grpId="0"/>
      <p:bldP spid="18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6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RULES OF INFERENCE FOR QUANTIFIERS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91B495CC-7888-3101-9AD3-3D23941004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873842"/>
              </p:ext>
            </p:extLst>
          </p:nvPr>
        </p:nvGraphicFramePr>
        <p:xfrm>
          <a:off x="571500" y="1600200"/>
          <a:ext cx="80391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8100">
                  <a:extLst>
                    <a:ext uri="{9D8B030D-6E8A-4147-A177-3AD203B41FA5}">
                      <a16:colId xmlns:a16="http://schemas.microsoft.com/office/drawing/2014/main" val="2844917359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15179476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i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 of Inference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i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781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478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6650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743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81228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23BA71F5-F6D4-AD8E-9BB1-3214465E4DE9}"/>
              </a:ext>
            </a:extLst>
          </p:cNvPr>
          <p:cNvGrpSpPr/>
          <p:nvPr/>
        </p:nvGrpSpPr>
        <p:grpSpPr>
          <a:xfrm>
            <a:off x="832475" y="2133600"/>
            <a:ext cx="1136008" cy="874684"/>
            <a:chOff x="-1440807" y="2768885"/>
            <a:chExt cx="1136008" cy="87468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205CEC5-056B-EDEC-4265-6775B6610A8E}"/>
                </a:ext>
              </a:extLst>
            </p:cNvPr>
            <p:cNvSpPr txBox="1"/>
            <p:nvPr/>
          </p:nvSpPr>
          <p:spPr>
            <a:xfrm>
              <a:off x="-1360713" y="2768885"/>
              <a:ext cx="105591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∀</a:t>
              </a:r>
              <a:r>
                <a:rPr lang="en-US" sz="32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 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P(</a:t>
              </a:r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)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D4522DA-0726-6CD1-50B7-D653EB8D6200}"/>
                </a:ext>
              </a:extLst>
            </p:cNvPr>
            <p:cNvCxnSpPr>
              <a:cxnSpLocks/>
            </p:cNvCxnSpPr>
            <p:nvPr/>
          </p:nvCxnSpPr>
          <p:spPr>
            <a:xfrm>
              <a:off x="-1440807" y="3243661"/>
              <a:ext cx="822656" cy="5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39DD342-88E7-F801-2CF5-DF1098568E2A}"/>
                </a:ext>
              </a:extLst>
            </p:cNvPr>
            <p:cNvSpPr txBox="1"/>
            <p:nvPr/>
          </p:nvSpPr>
          <p:spPr>
            <a:xfrm>
              <a:off x="-1440807" y="3212682"/>
              <a:ext cx="105591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∴ P(</a:t>
              </a:r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0BCFA5E-D028-D71B-7B3D-008DDB8DB89E}"/>
              </a:ext>
            </a:extLst>
          </p:cNvPr>
          <p:cNvSpPr txBox="1"/>
          <p:nvPr/>
        </p:nvSpPr>
        <p:spPr>
          <a:xfrm>
            <a:off x="4450029" y="2355128"/>
            <a:ext cx="29337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Universal instantiation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42BFF8C-82EC-8AA5-DAC8-D3CB71D092BE}"/>
              </a:ext>
            </a:extLst>
          </p:cNvPr>
          <p:cNvGrpSpPr/>
          <p:nvPr/>
        </p:nvGrpSpPr>
        <p:grpSpPr>
          <a:xfrm>
            <a:off x="802046" y="3211891"/>
            <a:ext cx="3272705" cy="907495"/>
            <a:chOff x="-1400760" y="2831682"/>
            <a:chExt cx="3272705" cy="907495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FB700A0-3317-5A6B-02EC-F7E6C2987D2C}"/>
                </a:ext>
              </a:extLst>
            </p:cNvPr>
            <p:cNvSpPr txBox="1"/>
            <p:nvPr/>
          </p:nvSpPr>
          <p:spPr>
            <a:xfrm>
              <a:off x="-1360714" y="2831682"/>
              <a:ext cx="323265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P(</a:t>
              </a:r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) for an arbitrary c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9C82E75-7579-ABF3-8329-5762A1069872}"/>
                </a:ext>
              </a:extLst>
            </p:cNvPr>
            <p:cNvCxnSpPr>
              <a:cxnSpLocks/>
            </p:cNvCxnSpPr>
            <p:nvPr/>
          </p:nvCxnSpPr>
          <p:spPr>
            <a:xfrm>
              <a:off x="-1395581" y="3285429"/>
              <a:ext cx="288652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56D503A-2168-82AB-206D-0873F89AE6CA}"/>
                </a:ext>
              </a:extLst>
            </p:cNvPr>
            <p:cNvSpPr txBox="1"/>
            <p:nvPr/>
          </p:nvSpPr>
          <p:spPr>
            <a:xfrm>
              <a:off x="-1400760" y="3308290"/>
              <a:ext cx="133155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∴∀</a:t>
              </a:r>
              <a:r>
                <a:rPr lang="en-US" sz="32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 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P(</a:t>
              </a:r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)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F9A1E96E-54C6-E379-59EF-2468DCE86576}"/>
              </a:ext>
            </a:extLst>
          </p:cNvPr>
          <p:cNvSpPr txBox="1"/>
          <p:nvPr/>
        </p:nvSpPr>
        <p:spPr>
          <a:xfrm>
            <a:off x="4448549" y="3408426"/>
            <a:ext cx="29337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Universal generalization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A1B0B69-D1A3-9251-BD32-64249FD43CB3}"/>
              </a:ext>
            </a:extLst>
          </p:cNvPr>
          <p:cNvGrpSpPr/>
          <p:nvPr/>
        </p:nvGrpSpPr>
        <p:grpSpPr>
          <a:xfrm>
            <a:off x="802046" y="4337630"/>
            <a:ext cx="3232659" cy="1129351"/>
            <a:chOff x="-1440807" y="2788108"/>
            <a:chExt cx="2757930" cy="1129351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D1C60F5-4DE3-B990-D115-1C77F6B8C698}"/>
                </a:ext>
              </a:extLst>
            </p:cNvPr>
            <p:cNvSpPr txBox="1"/>
            <p:nvPr/>
          </p:nvSpPr>
          <p:spPr>
            <a:xfrm>
              <a:off x="-1360712" y="2788108"/>
              <a:ext cx="105591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∃ </a:t>
              </a:r>
              <a:r>
                <a:rPr lang="en-US" sz="32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 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P(</a:t>
              </a:r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)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018B2CF-2CC3-8D08-F7E1-3F1D23B37EE9}"/>
                </a:ext>
              </a:extLst>
            </p:cNvPr>
            <p:cNvCxnSpPr>
              <a:cxnSpLocks/>
            </p:cNvCxnSpPr>
            <p:nvPr/>
          </p:nvCxnSpPr>
          <p:spPr>
            <a:xfrm>
              <a:off x="-1440807" y="3243661"/>
              <a:ext cx="253537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44749E7-26DC-4549-6C38-E79A718FB569}"/>
                </a:ext>
              </a:extLst>
            </p:cNvPr>
            <p:cNvSpPr txBox="1"/>
            <p:nvPr/>
          </p:nvSpPr>
          <p:spPr>
            <a:xfrm>
              <a:off x="-1440807" y="3260869"/>
              <a:ext cx="2757930" cy="6565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∴ P(</a:t>
              </a:r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) for some element c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algn="just"/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C1FAF32A-4021-5FF8-395B-7A67C39575CC}"/>
              </a:ext>
            </a:extLst>
          </p:cNvPr>
          <p:cNvSpPr txBox="1"/>
          <p:nvPr/>
        </p:nvSpPr>
        <p:spPr>
          <a:xfrm>
            <a:off x="4448548" y="4676184"/>
            <a:ext cx="38934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Existential instantiation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32BA670-0130-A2BD-B4C1-0A87884E955E}"/>
              </a:ext>
            </a:extLst>
          </p:cNvPr>
          <p:cNvGrpSpPr/>
          <p:nvPr/>
        </p:nvGrpSpPr>
        <p:grpSpPr>
          <a:xfrm>
            <a:off x="802046" y="5505395"/>
            <a:ext cx="3272705" cy="907495"/>
            <a:chOff x="-1400760" y="2831682"/>
            <a:chExt cx="3272705" cy="907495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D9596D6-2590-B698-01B5-408E3075B66E}"/>
                </a:ext>
              </a:extLst>
            </p:cNvPr>
            <p:cNvSpPr txBox="1"/>
            <p:nvPr/>
          </p:nvSpPr>
          <p:spPr>
            <a:xfrm>
              <a:off x="-1360714" y="2831682"/>
              <a:ext cx="323265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P(</a:t>
              </a:r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) for some element c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F5CA1EA-8CB4-3D7E-507C-57AE71B159A3}"/>
                </a:ext>
              </a:extLst>
            </p:cNvPr>
            <p:cNvCxnSpPr>
              <a:cxnSpLocks/>
            </p:cNvCxnSpPr>
            <p:nvPr/>
          </p:nvCxnSpPr>
          <p:spPr>
            <a:xfrm>
              <a:off x="-1395581" y="3285429"/>
              <a:ext cx="288652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9418C53-0152-130B-9385-0AEF25C7E77E}"/>
                </a:ext>
              </a:extLst>
            </p:cNvPr>
            <p:cNvSpPr txBox="1"/>
            <p:nvPr/>
          </p:nvSpPr>
          <p:spPr>
            <a:xfrm>
              <a:off x="-1400760" y="3308290"/>
              <a:ext cx="163635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∴ </a:t>
              </a:r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∃ </a:t>
              </a:r>
              <a:r>
                <a:rPr lang="en-US" sz="32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 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P(</a:t>
              </a:r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)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B4989C1A-C870-50D9-7F61-675FF1703E9C}"/>
              </a:ext>
            </a:extLst>
          </p:cNvPr>
          <p:cNvSpPr txBox="1"/>
          <p:nvPr/>
        </p:nvSpPr>
        <p:spPr>
          <a:xfrm>
            <a:off x="4454466" y="5717600"/>
            <a:ext cx="33941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Existential generalization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894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4" grpId="0"/>
      <p:bldP spid="40" grpId="0"/>
      <p:bldP spid="45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UNIVERSAL INSTANTIATION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0C3849-3E9B-5EF4-B40E-5313F56297DA}"/>
              </a:ext>
            </a:extLst>
          </p:cNvPr>
          <p:cNvSpPr txBox="1"/>
          <p:nvPr/>
        </p:nvSpPr>
        <p:spPr>
          <a:xfrm>
            <a:off x="457200" y="16002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arbitrary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element in the domain of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D2E2D11-907C-62CE-759B-979F1A4F883A}"/>
              </a:ext>
            </a:extLst>
          </p:cNvPr>
          <p:cNvGrpSpPr/>
          <p:nvPr/>
        </p:nvGrpSpPr>
        <p:grpSpPr>
          <a:xfrm>
            <a:off x="914400" y="2050945"/>
            <a:ext cx="1136008" cy="874684"/>
            <a:chOff x="-1440807" y="2768885"/>
            <a:chExt cx="1136008" cy="87468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9B849DC-375C-1F2A-8581-03DA49204000}"/>
                </a:ext>
              </a:extLst>
            </p:cNvPr>
            <p:cNvSpPr txBox="1"/>
            <p:nvPr/>
          </p:nvSpPr>
          <p:spPr>
            <a:xfrm>
              <a:off x="-1360713" y="2768885"/>
              <a:ext cx="105591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∀</a:t>
              </a:r>
              <a:r>
                <a:rPr lang="en-US" sz="32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 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P(</a:t>
              </a:r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)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A0FC2A-BFDA-5B4C-A9A1-901CD910353B}"/>
                </a:ext>
              </a:extLst>
            </p:cNvPr>
            <p:cNvCxnSpPr>
              <a:cxnSpLocks/>
            </p:cNvCxnSpPr>
            <p:nvPr/>
          </p:nvCxnSpPr>
          <p:spPr>
            <a:xfrm>
              <a:off x="-1440807" y="3243661"/>
              <a:ext cx="822656" cy="5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766F432-B77F-96DB-754C-751D192DD36E}"/>
                </a:ext>
              </a:extLst>
            </p:cNvPr>
            <p:cNvSpPr txBox="1"/>
            <p:nvPr/>
          </p:nvSpPr>
          <p:spPr>
            <a:xfrm>
              <a:off x="-1440807" y="3212682"/>
              <a:ext cx="105591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∴ P(</a:t>
              </a:r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92D7A86-8AA6-DDC0-7850-60E22AFEAEB2}"/>
              </a:ext>
            </a:extLst>
          </p:cNvPr>
          <p:cNvSpPr txBox="1"/>
          <p:nvPr/>
        </p:nvSpPr>
        <p:spPr>
          <a:xfrm>
            <a:off x="457200" y="2998113"/>
            <a:ext cx="431079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Let, P(x): x knows programming </a:t>
            </a:r>
            <a:endParaRPr lang="en-US" sz="2200" i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AB2CA7-A1C5-32ED-F89D-6571DCBE3A7B}"/>
              </a:ext>
            </a:extLst>
          </p:cNvPr>
          <p:cNvSpPr txBox="1"/>
          <p:nvPr/>
        </p:nvSpPr>
        <p:spPr>
          <a:xfrm>
            <a:off x="457199" y="3454487"/>
            <a:ext cx="447109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of x: Students in the class </a:t>
            </a:r>
            <a:endParaRPr lang="en-US" sz="2200" i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E2B586-5468-3316-46C1-033B8E8AE943}"/>
              </a:ext>
            </a:extLst>
          </p:cNvPr>
          <p:cNvSpPr txBox="1"/>
          <p:nvPr/>
        </p:nvSpPr>
        <p:spPr>
          <a:xfrm>
            <a:off x="457199" y="3906539"/>
            <a:ext cx="452604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c: Any arbitrary student in the class</a:t>
            </a:r>
            <a:endParaRPr lang="en-US" sz="2200" i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6284C8-4EF6-E118-E4D0-8B4F72F02EFE}"/>
              </a:ext>
            </a:extLst>
          </p:cNvPr>
          <p:cNvSpPr txBox="1"/>
          <p:nvPr/>
        </p:nvSpPr>
        <p:spPr>
          <a:xfrm>
            <a:off x="449801" y="4335221"/>
            <a:ext cx="85619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claim is, 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students in the class knows programming</a:t>
            </a:r>
            <a:endParaRPr lang="en-US" sz="2200" i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A9916D-C557-C42A-FED1-FD5729172522}"/>
              </a:ext>
            </a:extLst>
          </p:cNvPr>
          <p:cNvSpPr txBox="1"/>
          <p:nvPr/>
        </p:nvSpPr>
        <p:spPr>
          <a:xfrm>
            <a:off x="449801" y="4772041"/>
            <a:ext cx="54777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c definitely knows programming</a:t>
            </a:r>
            <a:endParaRPr lang="en-US" sz="2200" i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915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/>
      <p:bldP spid="19" grpId="0"/>
      <p:bldP spid="30" grpId="0"/>
      <p:bldP spid="31" grpId="0"/>
      <p:bldP spid="32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UNIVERSAL INSTANTIATION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0C3849-3E9B-5EF4-B40E-5313F56297DA}"/>
              </a:ext>
            </a:extLst>
          </p:cNvPr>
          <p:cNvSpPr txBox="1"/>
          <p:nvPr/>
        </p:nvSpPr>
        <p:spPr>
          <a:xfrm>
            <a:off x="457200" y="16002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arbitrary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element in the domain of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D2E2D11-907C-62CE-759B-979F1A4F883A}"/>
              </a:ext>
            </a:extLst>
          </p:cNvPr>
          <p:cNvGrpSpPr/>
          <p:nvPr/>
        </p:nvGrpSpPr>
        <p:grpSpPr>
          <a:xfrm>
            <a:off x="914400" y="2050945"/>
            <a:ext cx="1136008" cy="874684"/>
            <a:chOff x="-1440807" y="2768885"/>
            <a:chExt cx="1136008" cy="87468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9B849DC-375C-1F2A-8581-03DA49204000}"/>
                </a:ext>
              </a:extLst>
            </p:cNvPr>
            <p:cNvSpPr txBox="1"/>
            <p:nvPr/>
          </p:nvSpPr>
          <p:spPr>
            <a:xfrm>
              <a:off x="-1360713" y="2768885"/>
              <a:ext cx="105591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∀</a:t>
              </a:r>
              <a:r>
                <a:rPr lang="en-US" sz="32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 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P(</a:t>
              </a:r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)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A0FC2A-BFDA-5B4C-A9A1-901CD910353B}"/>
                </a:ext>
              </a:extLst>
            </p:cNvPr>
            <p:cNvCxnSpPr>
              <a:cxnSpLocks/>
            </p:cNvCxnSpPr>
            <p:nvPr/>
          </p:nvCxnSpPr>
          <p:spPr>
            <a:xfrm>
              <a:off x="-1440807" y="3243661"/>
              <a:ext cx="822656" cy="5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766F432-B77F-96DB-754C-751D192DD36E}"/>
                </a:ext>
              </a:extLst>
            </p:cNvPr>
            <p:cNvSpPr txBox="1"/>
            <p:nvPr/>
          </p:nvSpPr>
          <p:spPr>
            <a:xfrm>
              <a:off x="-1440807" y="3212682"/>
              <a:ext cx="105591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∴ P(</a:t>
              </a:r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92D7A86-8AA6-DDC0-7850-60E22AFEAEB2}"/>
              </a:ext>
            </a:extLst>
          </p:cNvPr>
          <p:cNvSpPr txBox="1"/>
          <p:nvPr/>
        </p:nvSpPr>
        <p:spPr>
          <a:xfrm>
            <a:off x="457200" y="2998113"/>
            <a:ext cx="431079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Let, P(x): x knows programming </a:t>
            </a:r>
            <a:endParaRPr lang="en-US" sz="2200" i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AB2CA7-A1C5-32ED-F89D-6571DCBE3A7B}"/>
              </a:ext>
            </a:extLst>
          </p:cNvPr>
          <p:cNvSpPr txBox="1"/>
          <p:nvPr/>
        </p:nvSpPr>
        <p:spPr>
          <a:xfrm>
            <a:off x="457199" y="3454487"/>
            <a:ext cx="447109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of x: Students in the class </a:t>
            </a:r>
            <a:endParaRPr lang="en-US" sz="2200" i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E2B586-5468-3316-46C1-033B8E8AE943}"/>
              </a:ext>
            </a:extLst>
          </p:cNvPr>
          <p:cNvSpPr txBox="1"/>
          <p:nvPr/>
        </p:nvSpPr>
        <p:spPr>
          <a:xfrm>
            <a:off x="457199" y="3906539"/>
            <a:ext cx="452604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c: Any arbitrary student in the class</a:t>
            </a:r>
            <a:endParaRPr lang="en-US" sz="2200" i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6284C8-4EF6-E118-E4D0-8B4F72F02EFE}"/>
              </a:ext>
            </a:extLst>
          </p:cNvPr>
          <p:cNvSpPr txBox="1"/>
          <p:nvPr/>
        </p:nvSpPr>
        <p:spPr>
          <a:xfrm>
            <a:off x="449801" y="4335221"/>
            <a:ext cx="85619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claim is, 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students in the class knows programming</a:t>
            </a:r>
            <a:endParaRPr lang="en-US" sz="2200" i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A9916D-C557-C42A-FED1-FD5729172522}"/>
              </a:ext>
            </a:extLst>
          </p:cNvPr>
          <p:cNvSpPr txBox="1"/>
          <p:nvPr/>
        </p:nvSpPr>
        <p:spPr>
          <a:xfrm>
            <a:off x="449801" y="4772041"/>
            <a:ext cx="54777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c definitely knows programming</a:t>
            </a:r>
            <a:endParaRPr lang="en-US" sz="2200" i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495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/>
      <p:bldP spid="19" grpId="0"/>
      <p:bldP spid="30" grpId="0"/>
      <p:bldP spid="31" grpId="0"/>
      <p:bldP spid="32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UNIVERSAL GENERALIZATION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0C3849-3E9B-5EF4-B40E-5313F56297DA}"/>
              </a:ext>
            </a:extLst>
          </p:cNvPr>
          <p:cNvSpPr txBox="1"/>
          <p:nvPr/>
        </p:nvSpPr>
        <p:spPr>
          <a:xfrm>
            <a:off x="457200" y="16002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arbitrary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element in the domain of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2D7A86-8AA6-DDC0-7850-60E22AFEAEB2}"/>
              </a:ext>
            </a:extLst>
          </p:cNvPr>
          <p:cNvSpPr txBox="1"/>
          <p:nvPr/>
        </p:nvSpPr>
        <p:spPr>
          <a:xfrm>
            <a:off x="457200" y="2998113"/>
            <a:ext cx="431079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Let, P(x): x knows programming </a:t>
            </a:r>
            <a:endParaRPr lang="en-US" sz="2200" i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AB2CA7-A1C5-32ED-F89D-6571DCBE3A7B}"/>
              </a:ext>
            </a:extLst>
          </p:cNvPr>
          <p:cNvSpPr txBox="1"/>
          <p:nvPr/>
        </p:nvSpPr>
        <p:spPr>
          <a:xfrm>
            <a:off x="457199" y="3454487"/>
            <a:ext cx="447109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of x: Students in the class </a:t>
            </a:r>
            <a:endParaRPr lang="en-US" sz="2200" i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E2B586-5468-3316-46C1-033B8E8AE943}"/>
              </a:ext>
            </a:extLst>
          </p:cNvPr>
          <p:cNvSpPr txBox="1"/>
          <p:nvPr/>
        </p:nvSpPr>
        <p:spPr>
          <a:xfrm>
            <a:off x="457199" y="3906539"/>
            <a:ext cx="452604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c: Any arbitrary student in the class</a:t>
            </a:r>
            <a:endParaRPr lang="en-US" sz="2200" i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6284C8-4EF6-E118-E4D0-8B4F72F02EFE}"/>
              </a:ext>
            </a:extLst>
          </p:cNvPr>
          <p:cNvSpPr txBox="1"/>
          <p:nvPr/>
        </p:nvSpPr>
        <p:spPr>
          <a:xfrm>
            <a:off x="449801" y="4335221"/>
            <a:ext cx="874354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claim is, P(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arbitrary student in the class knows programming</a:t>
            </a:r>
            <a:endParaRPr lang="en-US" sz="2200" i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A9916D-C557-C42A-FED1-FD5729172522}"/>
              </a:ext>
            </a:extLst>
          </p:cNvPr>
          <p:cNvSpPr txBox="1"/>
          <p:nvPr/>
        </p:nvSpPr>
        <p:spPr>
          <a:xfrm>
            <a:off x="449801" y="4772041"/>
            <a:ext cx="70342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every student in the class knows programming</a:t>
            </a:r>
            <a:endParaRPr lang="en-US" sz="2200" i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8560534-5689-3417-9D6A-2D009BF8AF67}"/>
              </a:ext>
            </a:extLst>
          </p:cNvPr>
          <p:cNvGrpSpPr/>
          <p:nvPr/>
        </p:nvGrpSpPr>
        <p:grpSpPr>
          <a:xfrm>
            <a:off x="762000" y="2056938"/>
            <a:ext cx="3272705" cy="907495"/>
            <a:chOff x="-1400760" y="2831682"/>
            <a:chExt cx="3272705" cy="90749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822F53C-40EC-F811-8EFE-D1AC8B9C702B}"/>
                </a:ext>
              </a:extLst>
            </p:cNvPr>
            <p:cNvSpPr txBox="1"/>
            <p:nvPr/>
          </p:nvSpPr>
          <p:spPr>
            <a:xfrm>
              <a:off x="-1360714" y="2831682"/>
              <a:ext cx="323265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P(</a:t>
              </a:r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) for an arbitrary c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E80A25C-3491-17E1-1859-708ACA50A38E}"/>
                </a:ext>
              </a:extLst>
            </p:cNvPr>
            <p:cNvCxnSpPr>
              <a:cxnSpLocks/>
            </p:cNvCxnSpPr>
            <p:nvPr/>
          </p:nvCxnSpPr>
          <p:spPr>
            <a:xfrm>
              <a:off x="-1395581" y="3285429"/>
              <a:ext cx="288652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00E6A00-C7C6-0CA0-F76F-B487B52B7141}"/>
                </a:ext>
              </a:extLst>
            </p:cNvPr>
            <p:cNvSpPr txBox="1"/>
            <p:nvPr/>
          </p:nvSpPr>
          <p:spPr>
            <a:xfrm>
              <a:off x="-1400760" y="3308290"/>
              <a:ext cx="133155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∴∀</a:t>
              </a:r>
              <a:r>
                <a:rPr lang="en-US" sz="32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 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P(</a:t>
              </a:r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)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7438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/>
      <p:bldP spid="19" grpId="0"/>
      <p:bldP spid="30" grpId="0"/>
      <p:bldP spid="31" grpId="0"/>
      <p:bldP spid="32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EXISTENTIAL INSTANTIATION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0C3849-3E9B-5EF4-B40E-5313F56297DA}"/>
              </a:ext>
            </a:extLst>
          </p:cNvPr>
          <p:cNvSpPr txBox="1"/>
          <p:nvPr/>
        </p:nvSpPr>
        <p:spPr>
          <a:xfrm>
            <a:off x="457200" y="16002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arbitrary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element in the domain of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2D7A86-8AA6-DDC0-7850-60E22AFEAEB2}"/>
              </a:ext>
            </a:extLst>
          </p:cNvPr>
          <p:cNvSpPr txBox="1"/>
          <p:nvPr/>
        </p:nvSpPr>
        <p:spPr>
          <a:xfrm>
            <a:off x="457200" y="2998113"/>
            <a:ext cx="431079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Let, P(x): x knows programming </a:t>
            </a:r>
            <a:endParaRPr lang="en-US" sz="2200" i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AB2CA7-A1C5-32ED-F89D-6571DCBE3A7B}"/>
              </a:ext>
            </a:extLst>
          </p:cNvPr>
          <p:cNvSpPr txBox="1"/>
          <p:nvPr/>
        </p:nvSpPr>
        <p:spPr>
          <a:xfrm>
            <a:off x="457199" y="3454487"/>
            <a:ext cx="447109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of x: Students in the class </a:t>
            </a:r>
            <a:endParaRPr lang="en-US" sz="2200" i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E2B586-5468-3316-46C1-033B8E8AE943}"/>
              </a:ext>
            </a:extLst>
          </p:cNvPr>
          <p:cNvSpPr txBox="1"/>
          <p:nvPr/>
        </p:nvSpPr>
        <p:spPr>
          <a:xfrm>
            <a:off x="457199" y="3906539"/>
            <a:ext cx="365516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c: Some student in the class</a:t>
            </a:r>
            <a:endParaRPr lang="en-US" sz="2200" i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6284C8-4EF6-E118-E4D0-8B4F72F02EFE}"/>
              </a:ext>
            </a:extLst>
          </p:cNvPr>
          <p:cNvSpPr txBox="1"/>
          <p:nvPr/>
        </p:nvSpPr>
        <p:spPr>
          <a:xfrm>
            <a:off x="449801" y="4335221"/>
            <a:ext cx="844654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claim is,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∃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students in the class know programming</a:t>
            </a:r>
            <a:endParaRPr lang="en-US" sz="2200" i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A9916D-C557-C42A-FED1-FD5729172522}"/>
              </a:ext>
            </a:extLst>
          </p:cNvPr>
          <p:cNvSpPr txBox="1"/>
          <p:nvPr/>
        </p:nvSpPr>
        <p:spPr>
          <a:xfrm>
            <a:off x="449801" y="4772041"/>
            <a:ext cx="8236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c denotes some students where P(c) states they know programming</a:t>
            </a:r>
            <a:endParaRPr lang="en-US" sz="2200" i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2097497-3737-11FE-F28A-9D63CE2978A7}"/>
              </a:ext>
            </a:extLst>
          </p:cNvPr>
          <p:cNvGrpSpPr/>
          <p:nvPr/>
        </p:nvGrpSpPr>
        <p:grpSpPr>
          <a:xfrm>
            <a:off x="838200" y="2027388"/>
            <a:ext cx="3232659" cy="1129351"/>
            <a:chOff x="-1440807" y="2788108"/>
            <a:chExt cx="2757930" cy="112935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B9CF520-E193-7F8F-FC94-F00A1E6D92CA}"/>
                </a:ext>
              </a:extLst>
            </p:cNvPr>
            <p:cNvSpPr txBox="1"/>
            <p:nvPr/>
          </p:nvSpPr>
          <p:spPr>
            <a:xfrm>
              <a:off x="-1360712" y="2788108"/>
              <a:ext cx="105591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rPr>
                <a:t>∃ </a:t>
              </a:r>
              <a:r>
                <a:rPr lang="en-US" sz="32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 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P(</a:t>
              </a:r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)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267B8E4-47EA-2C9A-8354-F27A5F923297}"/>
                </a:ext>
              </a:extLst>
            </p:cNvPr>
            <p:cNvCxnSpPr>
              <a:cxnSpLocks/>
            </p:cNvCxnSpPr>
            <p:nvPr/>
          </p:nvCxnSpPr>
          <p:spPr>
            <a:xfrm>
              <a:off x="-1440807" y="3243661"/>
              <a:ext cx="253537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27E4331-5516-2E42-D517-A06208F0AA4D}"/>
                </a:ext>
              </a:extLst>
            </p:cNvPr>
            <p:cNvSpPr txBox="1"/>
            <p:nvPr/>
          </p:nvSpPr>
          <p:spPr>
            <a:xfrm>
              <a:off x="-1440807" y="3260869"/>
              <a:ext cx="2757930" cy="6565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∴ P(</a:t>
              </a:r>
              <a:r>
                <a:rPr lang="en-US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) for some element c</a:t>
              </a:r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algn="just"/>
              <a:endParaRPr lang="en-US" sz="2200" b="1" i="1" baseline="-25000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5112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/>
      <p:bldP spid="19" grpId="0"/>
      <p:bldP spid="30" grpId="0"/>
      <p:bldP spid="31" grpId="0"/>
      <p:bldP spid="32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EXISTENTIAL GENERALIZATION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0C3849-3E9B-5EF4-B40E-5313F56297DA}"/>
              </a:ext>
            </a:extLst>
          </p:cNvPr>
          <p:cNvSpPr txBox="1"/>
          <p:nvPr/>
        </p:nvSpPr>
        <p:spPr>
          <a:xfrm>
            <a:off x="457200" y="25908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 STUDY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004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EXERCISE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0C3849-3E9B-5EF4-B40E-5313F56297DA}"/>
              </a:ext>
            </a:extLst>
          </p:cNvPr>
          <p:cNvSpPr txBox="1"/>
          <p:nvPr/>
        </p:nvSpPr>
        <p:spPr>
          <a:xfrm>
            <a:off x="457200" y="1528359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following premises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3FB9F3-5872-1BCB-7712-9E3952C7EC4E}"/>
              </a:ext>
            </a:extLst>
          </p:cNvPr>
          <p:cNvSpPr txBox="1"/>
          <p:nvPr/>
        </p:nvSpPr>
        <p:spPr>
          <a:xfrm>
            <a:off x="843379" y="1870561"/>
            <a:ext cx="28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∃ </a:t>
            </a:r>
            <a:r>
              <a:rPr lang="en-US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(C(x) </a:t>
            </a:r>
            <a:r>
              <a:rPr lang="fr-FR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^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ko-KR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B(x))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8286EF-994B-E49E-A43F-0ECE3C869E6A}"/>
              </a:ext>
            </a:extLst>
          </p:cNvPr>
          <p:cNvSpPr txBox="1"/>
          <p:nvPr/>
        </p:nvSpPr>
        <p:spPr>
          <a:xfrm>
            <a:off x="4277558" y="1876070"/>
            <a:ext cx="28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(C(x)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altLang="ko-KR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(x))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C5E981-BD0E-118A-23E8-DF08CDECC71D}"/>
              </a:ext>
            </a:extLst>
          </p:cNvPr>
          <p:cNvSpPr txBox="1"/>
          <p:nvPr/>
        </p:nvSpPr>
        <p:spPr>
          <a:xfrm>
            <a:off x="533400" y="2332226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that the premises lead to the conclusion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∃ </a:t>
            </a:r>
            <a:r>
              <a:rPr lang="en-US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(P(x) </a:t>
            </a:r>
            <a:r>
              <a:rPr lang="fr-FR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^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ko-KR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B(x))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CB52D6-B218-B870-28D6-812498CE0FEE}"/>
              </a:ext>
            </a:extLst>
          </p:cNvPr>
          <p:cNvSpPr txBox="1"/>
          <p:nvPr/>
        </p:nvSpPr>
        <p:spPr>
          <a:xfrm>
            <a:off x="914400" y="2703582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∃ </a:t>
            </a:r>
            <a:r>
              <a:rPr lang="en-US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(C(x) </a:t>
            </a:r>
            <a:r>
              <a:rPr lang="fr-FR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^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ko-KR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B(x))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7293A2-7F21-C036-6847-2A403CE4D71B}"/>
              </a:ext>
            </a:extLst>
          </p:cNvPr>
          <p:cNvSpPr txBox="1"/>
          <p:nvPr/>
        </p:nvSpPr>
        <p:spPr>
          <a:xfrm>
            <a:off x="4343400" y="2748737"/>
            <a:ext cx="2819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[Premise]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4991BA-EA5E-1E88-B0AF-BAB77955EFAB}"/>
              </a:ext>
            </a:extLst>
          </p:cNvPr>
          <p:cNvSpPr txBox="1"/>
          <p:nvPr/>
        </p:nvSpPr>
        <p:spPr>
          <a:xfrm>
            <a:off x="919579" y="3165247"/>
            <a:ext cx="28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∀</a:t>
            </a:r>
            <a:r>
              <a:rPr lang="en-US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(C(x)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altLang="ko-KR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(x))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B501C8-40A5-2172-882F-3D236E0F2265}"/>
              </a:ext>
            </a:extLst>
          </p:cNvPr>
          <p:cNvSpPr txBox="1"/>
          <p:nvPr/>
        </p:nvSpPr>
        <p:spPr>
          <a:xfrm>
            <a:off x="4348579" y="3210402"/>
            <a:ext cx="2819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[Premise]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961E69-86E6-DB76-E896-71CF49EA1A3D}"/>
              </a:ext>
            </a:extLst>
          </p:cNvPr>
          <p:cNvSpPr txBox="1"/>
          <p:nvPr/>
        </p:nvSpPr>
        <p:spPr>
          <a:xfrm>
            <a:off x="914400" y="3626912"/>
            <a:ext cx="28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C(a) </a:t>
            </a:r>
            <a:r>
              <a:rPr lang="fr-FR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^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ko-KR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B(a)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1386D3-3671-6992-3442-9B1FAC17589A}"/>
              </a:ext>
            </a:extLst>
          </p:cNvPr>
          <p:cNvSpPr txBox="1"/>
          <p:nvPr/>
        </p:nvSpPr>
        <p:spPr>
          <a:xfrm>
            <a:off x="4343400" y="3717222"/>
            <a:ext cx="441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[Existential instantiation from (1)]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3DD28E-D06C-A43E-64FA-A1CB0269477D}"/>
              </a:ext>
            </a:extLst>
          </p:cNvPr>
          <p:cNvSpPr txBox="1"/>
          <p:nvPr/>
        </p:nvSpPr>
        <p:spPr>
          <a:xfrm>
            <a:off x="914400" y="4084826"/>
            <a:ext cx="2819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C(a)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93B083-34DB-51F8-EE6B-7278C8EC8D53}"/>
              </a:ext>
            </a:extLst>
          </p:cNvPr>
          <p:cNvSpPr txBox="1"/>
          <p:nvPr/>
        </p:nvSpPr>
        <p:spPr>
          <a:xfrm>
            <a:off x="4343400" y="4102581"/>
            <a:ext cx="4267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[Simplification using (3)]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74695E-A519-FFEA-1D60-C1024C77286C}"/>
              </a:ext>
            </a:extLst>
          </p:cNvPr>
          <p:cNvSpPr txBox="1"/>
          <p:nvPr/>
        </p:nvSpPr>
        <p:spPr>
          <a:xfrm>
            <a:off x="908482" y="4537904"/>
            <a:ext cx="28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C(a)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en-US" altLang="ko-KR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F9FDF0-ADCD-0625-E6D3-1EA7794F3945}"/>
              </a:ext>
            </a:extLst>
          </p:cNvPr>
          <p:cNvSpPr txBox="1"/>
          <p:nvPr/>
        </p:nvSpPr>
        <p:spPr>
          <a:xfrm>
            <a:off x="4337481" y="4555659"/>
            <a:ext cx="45830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Universal instantiation from (2)]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605A7E-84BC-02CC-CE50-88F1DA3209E9}"/>
              </a:ext>
            </a:extLst>
          </p:cNvPr>
          <p:cNvSpPr txBox="1"/>
          <p:nvPr/>
        </p:nvSpPr>
        <p:spPr>
          <a:xfrm>
            <a:off x="919579" y="4973627"/>
            <a:ext cx="2819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P(a)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896734-8A34-3E50-4FAA-165A0A962278}"/>
              </a:ext>
            </a:extLst>
          </p:cNvPr>
          <p:cNvSpPr txBox="1"/>
          <p:nvPr/>
        </p:nvSpPr>
        <p:spPr>
          <a:xfrm>
            <a:off x="4348579" y="4991382"/>
            <a:ext cx="45779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Modus ponens using (4) and (5)]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42D1E5-DD0C-D10F-E46D-D39A75179716}"/>
              </a:ext>
            </a:extLst>
          </p:cNvPr>
          <p:cNvSpPr txBox="1"/>
          <p:nvPr/>
        </p:nvSpPr>
        <p:spPr>
          <a:xfrm>
            <a:off x="919579" y="5402340"/>
            <a:ext cx="2819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B(a)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AADAB3-67EE-C9E8-EDA0-7EFA2816ACFB}"/>
              </a:ext>
            </a:extLst>
          </p:cNvPr>
          <p:cNvSpPr txBox="1"/>
          <p:nvPr/>
        </p:nvSpPr>
        <p:spPr>
          <a:xfrm>
            <a:off x="4348579" y="5420095"/>
            <a:ext cx="45779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[Simplification using (3)]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5CFED3-D6AD-B7C2-8829-DF0BB749D807}"/>
              </a:ext>
            </a:extLst>
          </p:cNvPr>
          <p:cNvSpPr txBox="1"/>
          <p:nvPr/>
        </p:nvSpPr>
        <p:spPr>
          <a:xfrm>
            <a:off x="919579" y="5809181"/>
            <a:ext cx="28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P(a) </a:t>
            </a:r>
            <a:r>
              <a:rPr lang="fr-FR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^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B(a)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9C12A3-D077-5EAD-96FC-99C016C44861}"/>
              </a:ext>
            </a:extLst>
          </p:cNvPr>
          <p:cNvSpPr txBox="1"/>
          <p:nvPr/>
        </p:nvSpPr>
        <p:spPr>
          <a:xfrm>
            <a:off x="4348579" y="5826936"/>
            <a:ext cx="45779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[Conjunction using (6) and (7)]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533BDA-26B1-E3AD-814C-BB8AF4A9D84B}"/>
              </a:ext>
            </a:extLst>
          </p:cNvPr>
          <p:cNvSpPr txBox="1"/>
          <p:nvPr/>
        </p:nvSpPr>
        <p:spPr>
          <a:xfrm>
            <a:off x="909222" y="6289635"/>
            <a:ext cx="28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</a:t>
            </a:r>
            <a:r>
              <a:rPr lang="en-US" sz="2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∃ </a:t>
            </a:r>
            <a:r>
              <a:rPr lang="en-US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(C(x) </a:t>
            </a:r>
            <a:r>
              <a:rPr lang="fr-FR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^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r>
              <a:rPr lang="ko-KR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B(x))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B5E628-CB28-04E7-6CB8-FDAC44E44CB2}"/>
              </a:ext>
            </a:extLst>
          </p:cNvPr>
          <p:cNvSpPr txBox="1"/>
          <p:nvPr/>
        </p:nvSpPr>
        <p:spPr>
          <a:xfrm>
            <a:off x="4340070" y="6261453"/>
            <a:ext cx="45779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[Existential Generalization from (8)]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140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4" grpId="0"/>
      <p:bldP spid="12" grpId="0"/>
      <p:bldP spid="13" grpId="0"/>
      <p:bldP spid="16" grpId="0"/>
      <p:bldP spid="17" grpId="0"/>
      <p:bldP spid="18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6" grpId="0"/>
      <p:bldP spid="7" grpId="0"/>
      <p:bldP spid="8" grpId="0"/>
      <p:bldP spid="9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EXERCISE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0C3849-3E9B-5EF4-B40E-5313F56297DA}"/>
              </a:ext>
            </a:extLst>
          </p:cNvPr>
          <p:cNvSpPr txBox="1"/>
          <p:nvPr/>
        </p:nvSpPr>
        <p:spPr>
          <a:xfrm>
            <a:off x="457200" y="1528359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following premises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3FB9F3-5872-1BCB-7712-9E3952C7EC4E}"/>
              </a:ext>
            </a:extLst>
          </p:cNvPr>
          <p:cNvSpPr txBox="1"/>
          <p:nvPr/>
        </p:nvSpPr>
        <p:spPr>
          <a:xfrm>
            <a:off x="843379" y="1870561"/>
            <a:ext cx="2819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(P(x) </a:t>
            </a:r>
            <a:r>
              <a:rPr lang="en-US" sz="20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altLang="ko-KR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(x))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C5E981-BD0E-118A-23E8-DF08CDECC71D}"/>
              </a:ext>
            </a:extLst>
          </p:cNvPr>
          <p:cNvSpPr txBox="1"/>
          <p:nvPr/>
        </p:nvSpPr>
        <p:spPr>
          <a:xfrm>
            <a:off x="609600" y="3198167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that the premises lead to the conclusion </a:t>
            </a: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∃ </a:t>
            </a:r>
            <a:r>
              <a:rPr lang="en-US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(x))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E2CFF6-03B0-BA6F-D9CC-E91495E20D5B}"/>
              </a:ext>
            </a:extLst>
          </p:cNvPr>
          <p:cNvSpPr txBox="1"/>
          <p:nvPr/>
        </p:nvSpPr>
        <p:spPr>
          <a:xfrm>
            <a:off x="4724400" y="1865334"/>
            <a:ext cx="2819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(x) </a:t>
            </a:r>
            <a:r>
              <a:rPr lang="en-US" sz="20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S(x))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674222-C403-14E6-AF8E-8F08FC5496F1}"/>
              </a:ext>
            </a:extLst>
          </p:cNvPr>
          <p:cNvSpPr txBox="1"/>
          <p:nvPr/>
        </p:nvSpPr>
        <p:spPr>
          <a:xfrm>
            <a:off x="843379" y="2403327"/>
            <a:ext cx="28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∃</a:t>
            </a:r>
            <a:r>
              <a:rPr lang="en-US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P(x))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8B1F1D-D3D2-7338-6A6F-FEC8AC80B9BA}"/>
              </a:ext>
            </a:extLst>
          </p:cNvPr>
          <p:cNvSpPr txBox="1"/>
          <p:nvPr/>
        </p:nvSpPr>
        <p:spPr>
          <a:xfrm>
            <a:off x="4724400" y="2434105"/>
            <a:ext cx="2819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∀</a:t>
            </a:r>
            <a:r>
              <a:rPr lang="en-US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(R(x)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ko-KR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S(x))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D6D1CC-6A43-93B9-4EDA-55C3E2DEFD95}"/>
              </a:ext>
            </a:extLst>
          </p:cNvPr>
          <p:cNvSpPr txBox="1"/>
          <p:nvPr/>
        </p:nvSpPr>
        <p:spPr>
          <a:xfrm>
            <a:off x="1295400" y="4386207"/>
            <a:ext cx="2819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fr-FR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^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sz="24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DC69EA-DA77-2C2C-54B9-319396B73AD9}"/>
              </a:ext>
            </a:extLst>
          </p:cNvPr>
          <p:cNvSpPr txBox="1"/>
          <p:nvPr/>
        </p:nvSpPr>
        <p:spPr>
          <a:xfrm>
            <a:off x="1295400" y="4942353"/>
            <a:ext cx="28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4D7B1C-1228-73E1-15F4-0D119C9D978E}"/>
              </a:ext>
            </a:extLst>
          </p:cNvPr>
          <p:cNvSpPr txBox="1"/>
          <p:nvPr/>
        </p:nvSpPr>
        <p:spPr>
          <a:xfrm>
            <a:off x="1752600" y="5484166"/>
            <a:ext cx="7162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that the premises lead to the conclusion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sz="24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107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10" grpId="0"/>
      <p:bldP spid="11" grpId="0"/>
      <p:bldP spid="14" grpId="0"/>
      <p:bldP spid="15" grpId="0"/>
      <p:bldP spid="19" grpId="0"/>
      <p:bldP spid="30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EXERCISE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0C3849-3E9B-5EF4-B40E-5313F56297DA}"/>
              </a:ext>
            </a:extLst>
          </p:cNvPr>
          <p:cNvSpPr txBox="1"/>
          <p:nvPr/>
        </p:nvSpPr>
        <p:spPr>
          <a:xfrm>
            <a:off x="457200" y="1528359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following premises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D6D1CC-6A43-93B9-4EDA-55C3E2DEFD95}"/>
              </a:ext>
            </a:extLst>
          </p:cNvPr>
          <p:cNvSpPr txBox="1"/>
          <p:nvPr/>
        </p:nvSpPr>
        <p:spPr>
          <a:xfrm>
            <a:off x="990600" y="2039394"/>
            <a:ext cx="2819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fr-FR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^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sz="24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DC69EA-DA77-2C2C-54B9-319396B73AD9}"/>
              </a:ext>
            </a:extLst>
          </p:cNvPr>
          <p:cNvSpPr txBox="1"/>
          <p:nvPr/>
        </p:nvSpPr>
        <p:spPr>
          <a:xfrm>
            <a:off x="990600" y="2470281"/>
            <a:ext cx="28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4D7B1C-1228-73E1-15F4-0D119C9D978E}"/>
              </a:ext>
            </a:extLst>
          </p:cNvPr>
          <p:cNvSpPr txBox="1"/>
          <p:nvPr/>
        </p:nvSpPr>
        <p:spPr>
          <a:xfrm>
            <a:off x="609600" y="2925593"/>
            <a:ext cx="7162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that the premises lead to the conclusion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sz="24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6749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/>
      <p:bldP spid="19" grpId="0"/>
      <p:bldP spid="30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PROOF TECHNIQUES</a:t>
            </a:r>
          </a:p>
        </p:txBody>
      </p:sp>
    </p:spTree>
    <p:extLst>
      <p:ext uri="{BB962C8B-B14F-4D97-AF65-F5344CB8AC3E}">
        <p14:creationId xmlns:p14="http://schemas.microsoft.com/office/powerpoint/2010/main" val="29682742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TERMINOLOGIES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0C3849-3E9B-5EF4-B40E-5313F56297DA}"/>
              </a:ext>
            </a:extLst>
          </p:cNvPr>
          <p:cNvSpPr txBox="1"/>
          <p:nvPr/>
        </p:nvSpPr>
        <p:spPr>
          <a:xfrm>
            <a:off x="457200" y="1528359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Theorem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1AAFB2-9FE5-F990-4DA6-A9797C1046F8}"/>
              </a:ext>
            </a:extLst>
          </p:cNvPr>
          <p:cNvSpPr txBox="1"/>
          <p:nvPr/>
        </p:nvSpPr>
        <p:spPr>
          <a:xfrm>
            <a:off x="685800" y="1913718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statement that can be shown true</a:t>
            </a:r>
            <a:endParaRPr lang="en-US" sz="2200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CABB21-CB81-4FC6-17E9-65D277317E64}"/>
              </a:ext>
            </a:extLst>
          </p:cNvPr>
          <p:cNvSpPr txBox="1"/>
          <p:nvPr/>
        </p:nvSpPr>
        <p:spPr>
          <a:xfrm>
            <a:off x="685800" y="2357182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term is considered at least somewhat important</a:t>
            </a:r>
            <a:endParaRPr lang="en-US" sz="2200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954301-FB83-4B78-D09D-344094CD542D}"/>
              </a:ext>
            </a:extLst>
          </p:cNvPr>
          <p:cNvSpPr txBox="1"/>
          <p:nvPr/>
        </p:nvSpPr>
        <p:spPr>
          <a:xfrm>
            <a:off x="457200" y="2998113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Axioms/ Postulates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C565EA-7A34-772B-D5DC-38D39739716A}"/>
              </a:ext>
            </a:extLst>
          </p:cNvPr>
          <p:cNvSpPr txBox="1"/>
          <p:nvPr/>
        </p:nvSpPr>
        <p:spPr>
          <a:xfrm>
            <a:off x="685800" y="3383472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statements used in proofs that are assured to be true</a:t>
            </a:r>
            <a:endParaRPr lang="en-US" sz="2200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2AAF41-E329-14C0-C4C8-ADE38AA23003}"/>
              </a:ext>
            </a:extLst>
          </p:cNvPr>
          <p:cNvSpPr txBox="1"/>
          <p:nvPr/>
        </p:nvSpPr>
        <p:spPr>
          <a:xfrm>
            <a:off x="451282" y="3983695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Lemma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DE13F2-D124-8D12-CED9-3A766C265523}"/>
              </a:ext>
            </a:extLst>
          </p:cNvPr>
          <p:cNvSpPr txBox="1"/>
          <p:nvPr/>
        </p:nvSpPr>
        <p:spPr>
          <a:xfrm>
            <a:off x="679882" y="4369054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important theorem that is used in the proof of other results</a:t>
            </a:r>
            <a:endParaRPr lang="en-US" sz="2200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185EF0-1AEE-8F00-B633-0FB932AFBF11}"/>
              </a:ext>
            </a:extLst>
          </p:cNvPr>
          <p:cNvSpPr txBox="1"/>
          <p:nvPr/>
        </p:nvSpPr>
        <p:spPr>
          <a:xfrm>
            <a:off x="451282" y="4971737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Corollary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177459-EF4B-A687-FA4F-1030081E5D6C}"/>
              </a:ext>
            </a:extLst>
          </p:cNvPr>
          <p:cNvSpPr txBox="1"/>
          <p:nvPr/>
        </p:nvSpPr>
        <p:spPr>
          <a:xfrm>
            <a:off x="679882" y="5357096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theorem that can be established directly from a proved theorem</a:t>
            </a:r>
            <a:endParaRPr lang="en-US" sz="2200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363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8" grpId="0"/>
      <p:bldP spid="9" grpId="0"/>
      <p:bldP spid="12" grpId="0"/>
      <p:bldP spid="13" grpId="0"/>
      <p:bldP spid="14" grpId="0"/>
      <p:bldP spid="16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TERMINOLOGIES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0C3849-3E9B-5EF4-B40E-5313F56297DA}"/>
              </a:ext>
            </a:extLst>
          </p:cNvPr>
          <p:cNvSpPr txBox="1"/>
          <p:nvPr/>
        </p:nvSpPr>
        <p:spPr>
          <a:xfrm>
            <a:off x="457200" y="1528359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Theorem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1AAFB2-9FE5-F990-4DA6-A9797C1046F8}"/>
              </a:ext>
            </a:extLst>
          </p:cNvPr>
          <p:cNvSpPr txBox="1"/>
          <p:nvPr/>
        </p:nvSpPr>
        <p:spPr>
          <a:xfrm>
            <a:off x="685800" y="1913718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statement that can be shown true</a:t>
            </a:r>
            <a:endParaRPr lang="en-US" sz="2200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CABB21-CB81-4FC6-17E9-65D277317E64}"/>
              </a:ext>
            </a:extLst>
          </p:cNvPr>
          <p:cNvSpPr txBox="1"/>
          <p:nvPr/>
        </p:nvSpPr>
        <p:spPr>
          <a:xfrm>
            <a:off x="685800" y="2357182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term is considered at least somewhat important</a:t>
            </a:r>
            <a:endParaRPr lang="en-US" sz="2200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954301-FB83-4B78-D09D-344094CD542D}"/>
              </a:ext>
            </a:extLst>
          </p:cNvPr>
          <p:cNvSpPr txBox="1"/>
          <p:nvPr/>
        </p:nvSpPr>
        <p:spPr>
          <a:xfrm>
            <a:off x="457200" y="2998113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Axioms/ Postulates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C565EA-7A34-772B-D5DC-38D39739716A}"/>
              </a:ext>
            </a:extLst>
          </p:cNvPr>
          <p:cNvSpPr txBox="1"/>
          <p:nvPr/>
        </p:nvSpPr>
        <p:spPr>
          <a:xfrm>
            <a:off x="685800" y="3383472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statements used in proofs that are assured to be true</a:t>
            </a:r>
            <a:endParaRPr lang="en-US" sz="2200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2AAF41-E329-14C0-C4C8-ADE38AA23003}"/>
              </a:ext>
            </a:extLst>
          </p:cNvPr>
          <p:cNvSpPr txBox="1"/>
          <p:nvPr/>
        </p:nvSpPr>
        <p:spPr>
          <a:xfrm>
            <a:off x="451282" y="3983695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Lemma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DE13F2-D124-8D12-CED9-3A766C265523}"/>
              </a:ext>
            </a:extLst>
          </p:cNvPr>
          <p:cNvSpPr txBox="1"/>
          <p:nvPr/>
        </p:nvSpPr>
        <p:spPr>
          <a:xfrm>
            <a:off x="679882" y="4369054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important theorem that is used in the proof of other results</a:t>
            </a:r>
            <a:endParaRPr lang="en-US" sz="2200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185EF0-1AEE-8F00-B633-0FB932AFBF11}"/>
              </a:ext>
            </a:extLst>
          </p:cNvPr>
          <p:cNvSpPr txBox="1"/>
          <p:nvPr/>
        </p:nvSpPr>
        <p:spPr>
          <a:xfrm>
            <a:off x="451282" y="4971737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Corollary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177459-EF4B-A687-FA4F-1030081E5D6C}"/>
              </a:ext>
            </a:extLst>
          </p:cNvPr>
          <p:cNvSpPr txBox="1"/>
          <p:nvPr/>
        </p:nvSpPr>
        <p:spPr>
          <a:xfrm>
            <a:off x="679882" y="5357096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theorem that can be established directly from a proved theorem</a:t>
            </a:r>
            <a:endParaRPr lang="en-US" sz="2200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48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8" grpId="0"/>
      <p:bldP spid="9" grpId="0"/>
      <p:bldP spid="12" grpId="0"/>
      <p:bldP spid="13" grpId="0"/>
      <p:bldP spid="14" grpId="0"/>
      <p:bldP spid="16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EXPRESSION OF THEOREM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0C3849-3E9B-5EF4-B40E-5313F56297DA}"/>
              </a:ext>
            </a:extLst>
          </p:cNvPr>
          <p:cNvSpPr txBox="1"/>
          <p:nvPr/>
        </p:nvSpPr>
        <p:spPr>
          <a:xfrm>
            <a:off x="457200" y="1528359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theorem can be stated as ∀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dirty="0"/>
              <a:t>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41150C-4C41-745F-17B1-411D943752AE}"/>
              </a:ext>
            </a:extLst>
          </p:cNvPr>
          <p:cNvSpPr txBox="1"/>
          <p:nvPr/>
        </p:nvSpPr>
        <p:spPr>
          <a:xfrm>
            <a:off x="762000" y="1959246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set of statements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true for all values in a domain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22A9A9-68AE-D9D4-9372-56655AF8FF68}"/>
              </a:ext>
            </a:extLst>
          </p:cNvPr>
          <p:cNvSpPr txBox="1"/>
          <p:nvPr/>
        </p:nvSpPr>
        <p:spPr>
          <a:xfrm>
            <a:off x="762000" y="2339906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it lead to a conclusion to be true for all values in that domain</a:t>
            </a:r>
            <a:endParaRPr lang="en-US" sz="22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C67D47-4FBD-C95D-C7ED-76EE5BE47ECD}"/>
              </a:ext>
            </a:extLst>
          </p:cNvPr>
          <p:cNvSpPr txBox="1"/>
          <p:nvPr/>
        </p:nvSpPr>
        <p:spPr>
          <a:xfrm>
            <a:off x="457200" y="2936009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Pythagorean Theorem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520EEC-3ABC-F15E-18B1-40A776AB035E}"/>
              </a:ext>
            </a:extLst>
          </p:cNvPr>
          <p:cNvSpPr txBox="1"/>
          <p:nvPr/>
        </p:nvSpPr>
        <p:spPr>
          <a:xfrm>
            <a:off x="759041" y="3362835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all Right-triangle, sum of squares of based and height equals to the square of the  hypotenuse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08047C-CA1B-2D68-04BF-293870783422}"/>
              </a:ext>
            </a:extLst>
          </p:cNvPr>
          <p:cNvSpPr txBox="1"/>
          <p:nvPr/>
        </p:nvSpPr>
        <p:spPr>
          <a:xfrm>
            <a:off x="759041" y="4174381"/>
            <a:ext cx="38129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Let, P(x): x is right-angled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6319C6-D6CE-3660-5DC3-6DAF15ECF220}"/>
              </a:ext>
            </a:extLst>
          </p:cNvPr>
          <p:cNvSpPr txBox="1"/>
          <p:nvPr/>
        </p:nvSpPr>
        <p:spPr>
          <a:xfrm>
            <a:off x="4802449" y="4128214"/>
            <a:ext cx="4648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Let, Q(x): c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a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b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200" baseline="30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89C5DA-FA44-22FB-5D0C-130BC280080A}"/>
              </a:ext>
            </a:extLst>
          </p:cNvPr>
          <p:cNvSpPr txBox="1"/>
          <p:nvPr/>
        </p:nvSpPr>
        <p:spPr>
          <a:xfrm>
            <a:off x="759041" y="4647373"/>
            <a:ext cx="81563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of x: Set of Triangles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8FE299-0EDE-A3A4-0680-31AE9F828824}"/>
              </a:ext>
            </a:extLst>
          </p:cNvPr>
          <p:cNvSpPr txBox="1"/>
          <p:nvPr/>
        </p:nvSpPr>
        <p:spPr>
          <a:xfrm>
            <a:off x="759041" y="5130749"/>
            <a:ext cx="8156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theorem can be written as: ∀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dirty="0"/>
              <a:t>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521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10" grpId="0"/>
      <p:bldP spid="11" grpId="0"/>
      <p:bldP spid="20" grpId="0"/>
      <p:bldP spid="22" grpId="0"/>
      <p:bldP spid="23" grpId="0"/>
      <p:bldP spid="24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PROOF TECHNIQUES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0C3849-3E9B-5EF4-B40E-5313F56297DA}"/>
              </a:ext>
            </a:extLst>
          </p:cNvPr>
          <p:cNvSpPr txBox="1"/>
          <p:nvPr/>
        </p:nvSpPr>
        <p:spPr>
          <a:xfrm>
            <a:off x="457200" y="1528359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Proof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A81CCE-9540-40B9-CBBA-297E2A7FEC5C}"/>
              </a:ext>
            </a:extLst>
          </p:cNvPr>
          <p:cNvSpPr txBox="1"/>
          <p:nvPr/>
        </p:nvSpPr>
        <p:spPr>
          <a:xfrm>
            <a:off x="457200" y="20574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Proof by Contraposition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88E007-2076-DAD4-8CBB-ED3D87FDE90D}"/>
              </a:ext>
            </a:extLst>
          </p:cNvPr>
          <p:cNvSpPr txBox="1"/>
          <p:nvPr/>
        </p:nvSpPr>
        <p:spPr>
          <a:xfrm>
            <a:off x="457200" y="2586441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Proof by Contradiction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025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DIRECT PROOF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0C3849-3E9B-5EF4-B40E-5313F56297DA}"/>
              </a:ext>
            </a:extLst>
          </p:cNvPr>
          <p:cNvSpPr txBox="1"/>
          <p:nvPr/>
        </p:nvSpPr>
        <p:spPr>
          <a:xfrm>
            <a:off x="457200" y="1528359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conditional statement p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dirty="0"/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is constructed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6595BA-C687-34C1-162F-52FC2FAB8FB5}"/>
              </a:ext>
            </a:extLst>
          </p:cNvPr>
          <p:cNvSpPr txBox="1"/>
          <p:nvPr/>
        </p:nvSpPr>
        <p:spPr>
          <a:xfrm>
            <a:off x="457200" y="20574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that, p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dirty="0"/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is validated by showing that: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C16C04-31AD-8143-7A9C-4E127C7EEC50}"/>
              </a:ext>
            </a:extLst>
          </p:cNvPr>
          <p:cNvSpPr txBox="1"/>
          <p:nvPr/>
        </p:nvSpPr>
        <p:spPr>
          <a:xfrm>
            <a:off x="878150" y="2617219"/>
            <a:ext cx="20174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p is true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F7C154-A322-6812-9753-2635B1247539}"/>
              </a:ext>
            </a:extLst>
          </p:cNvPr>
          <p:cNvSpPr txBox="1"/>
          <p:nvPr/>
        </p:nvSpPr>
        <p:spPr>
          <a:xfrm>
            <a:off x="3124200" y="2617219"/>
            <a:ext cx="31242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q must be true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8776AD-9DB0-57F0-51BE-19DCC4D3BA5D}"/>
              </a:ext>
            </a:extLst>
          </p:cNvPr>
          <p:cNvSpPr txBox="1"/>
          <p:nvPr/>
        </p:nvSpPr>
        <p:spPr>
          <a:xfrm>
            <a:off x="878150" y="3150805"/>
            <a:ext cx="78086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that, the p true and q false condition never occurs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17D3DA-66A9-FD43-C242-B05BED32CE70}"/>
              </a:ext>
            </a:extLst>
          </p:cNvPr>
          <p:cNvSpPr txBox="1"/>
          <p:nvPr/>
        </p:nvSpPr>
        <p:spPr>
          <a:xfrm>
            <a:off x="457200" y="3809895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direct proof: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29BB04-706F-BA92-2260-15415FC1429B}"/>
              </a:ext>
            </a:extLst>
          </p:cNvPr>
          <p:cNvSpPr txBox="1"/>
          <p:nvPr/>
        </p:nvSpPr>
        <p:spPr>
          <a:xfrm>
            <a:off x="878150" y="4338936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assumption is p true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9B96FB-6791-BEAE-DE65-D3A4097F1358}"/>
              </a:ext>
            </a:extLst>
          </p:cNvPr>
          <p:cNvSpPr txBox="1"/>
          <p:nvPr/>
        </p:nvSpPr>
        <p:spPr>
          <a:xfrm>
            <a:off x="878150" y="4867977"/>
            <a:ext cx="78086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axioms, definitions, previously proved theorems with rules of inferences are used to lead q is true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475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9" grpId="0"/>
      <p:bldP spid="10" grpId="0"/>
      <p:bldP spid="11" grpId="0"/>
      <p:bldP spid="12" grpId="0"/>
      <p:bldP spid="13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DIRECT PROOF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0C3849-3E9B-5EF4-B40E-5313F56297DA}"/>
              </a:ext>
            </a:extLst>
          </p:cNvPr>
          <p:cNvSpPr txBox="1"/>
          <p:nvPr/>
        </p:nvSpPr>
        <p:spPr>
          <a:xfrm>
            <a:off x="457200" y="1528359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 is an odd integer, then n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odd.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1B5DE1-6426-522C-06C1-6C73551B718B}"/>
              </a:ext>
            </a:extLst>
          </p:cNvPr>
          <p:cNvSpPr txBox="1"/>
          <p:nvPr/>
        </p:nvSpPr>
        <p:spPr>
          <a:xfrm>
            <a:off x="838200" y="1959246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P(n): n is an odd integer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5F0E7B-A8B0-19D6-DF30-A2FE2D522B71}"/>
              </a:ext>
            </a:extLst>
          </p:cNvPr>
          <p:cNvSpPr txBox="1"/>
          <p:nvPr/>
        </p:nvSpPr>
        <p:spPr>
          <a:xfrm>
            <a:off x="838200" y="2390133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Q(n): n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odd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6B4229-204F-6A25-FD95-987CB0DB071F}"/>
              </a:ext>
            </a:extLst>
          </p:cNvPr>
          <p:cNvSpPr txBox="1"/>
          <p:nvPr/>
        </p:nvSpPr>
        <p:spPr>
          <a:xfrm>
            <a:off x="838200" y="2790242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theorem states: ∀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dirty="0"/>
              <a:t>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[Domain of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integers]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C48661-FAD1-1EB5-DBC4-BDCBE7CBA146}"/>
              </a:ext>
            </a:extLst>
          </p:cNvPr>
          <p:cNvSpPr txBox="1"/>
          <p:nvPr/>
        </p:nvSpPr>
        <p:spPr>
          <a:xfrm>
            <a:off x="457200" y="3298322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Direct proof, the initial assumption is: P(n) true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1D4F23-FB6B-053E-FECF-7354941CBD6F}"/>
              </a:ext>
            </a:extLst>
          </p:cNvPr>
          <p:cNvSpPr txBox="1"/>
          <p:nvPr/>
        </p:nvSpPr>
        <p:spPr>
          <a:xfrm>
            <a:off x="457200" y="3782997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initial assumption, let n = 2k + 1 [k is some integers]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AD00FB-6DAE-D792-1DBE-5AE5DF969577}"/>
              </a:ext>
            </a:extLst>
          </p:cNvPr>
          <p:cNvSpPr txBox="1"/>
          <p:nvPr/>
        </p:nvSpPr>
        <p:spPr>
          <a:xfrm>
            <a:off x="457200" y="4292825"/>
            <a:ext cx="3352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n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(2k + 1)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D55C97-0D47-8FE4-39AF-F8826C9847EA}"/>
              </a:ext>
            </a:extLst>
          </p:cNvPr>
          <p:cNvSpPr txBox="1"/>
          <p:nvPr/>
        </p:nvSpPr>
        <p:spPr>
          <a:xfrm>
            <a:off x="4876800" y="4292824"/>
            <a:ext cx="3124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n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4k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+ 4k + 1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39FC16-52D1-652D-A699-21C18532A9BC}"/>
              </a:ext>
            </a:extLst>
          </p:cNvPr>
          <p:cNvSpPr txBox="1"/>
          <p:nvPr/>
        </p:nvSpPr>
        <p:spPr>
          <a:xfrm>
            <a:off x="457200" y="4835763"/>
            <a:ext cx="3581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n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2(2k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+ 2k) + 1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9A870A-CB0D-9D7B-60CF-D62BFF53F390}"/>
              </a:ext>
            </a:extLst>
          </p:cNvPr>
          <p:cNvSpPr txBox="1"/>
          <p:nvPr/>
        </p:nvSpPr>
        <p:spPr>
          <a:xfrm>
            <a:off x="4876800" y="4835762"/>
            <a:ext cx="4267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n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2m + 1 [m = 2k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+ 2k]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EF3F57-AE6D-7243-5F4D-C5B404191623}"/>
              </a:ext>
            </a:extLst>
          </p:cNvPr>
          <p:cNvSpPr txBox="1"/>
          <p:nvPr/>
        </p:nvSpPr>
        <p:spPr>
          <a:xfrm>
            <a:off x="457200" y="5382581"/>
            <a:ext cx="1752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odd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B3A1EB-FD84-0E7D-AFEF-6E8BC8AE108C}"/>
              </a:ext>
            </a:extLst>
          </p:cNvPr>
          <p:cNvSpPr txBox="1"/>
          <p:nvPr/>
        </p:nvSpPr>
        <p:spPr>
          <a:xfrm>
            <a:off x="457200" y="5840841"/>
            <a:ext cx="838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according to the initial assumption, Q(n) is proved to be true 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765D9C-C9E9-58CF-F07B-BB10F95D5428}"/>
              </a:ext>
            </a:extLst>
          </p:cNvPr>
          <p:cNvSpPr txBox="1"/>
          <p:nvPr/>
        </p:nvSpPr>
        <p:spPr>
          <a:xfrm>
            <a:off x="457200" y="6313551"/>
            <a:ext cx="838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dirty="0"/>
              <a:t>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true 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084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8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DIRECT PROOF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0C3849-3E9B-5EF4-B40E-5313F56297DA}"/>
              </a:ext>
            </a:extLst>
          </p:cNvPr>
          <p:cNvSpPr txBox="1"/>
          <p:nvPr/>
        </p:nvSpPr>
        <p:spPr>
          <a:xfrm>
            <a:off x="457200" y="1528359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 is an even integer, then n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even.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1B5DE1-6426-522C-06C1-6C73551B718B}"/>
              </a:ext>
            </a:extLst>
          </p:cNvPr>
          <p:cNvSpPr txBox="1"/>
          <p:nvPr/>
        </p:nvSpPr>
        <p:spPr>
          <a:xfrm>
            <a:off x="838200" y="1959246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P(n): n is an even integer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5F0E7B-A8B0-19D6-DF30-A2FE2D522B71}"/>
              </a:ext>
            </a:extLst>
          </p:cNvPr>
          <p:cNvSpPr txBox="1"/>
          <p:nvPr/>
        </p:nvSpPr>
        <p:spPr>
          <a:xfrm>
            <a:off x="838200" y="2390133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Q(n): n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even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6B4229-204F-6A25-FD95-987CB0DB071F}"/>
              </a:ext>
            </a:extLst>
          </p:cNvPr>
          <p:cNvSpPr txBox="1"/>
          <p:nvPr/>
        </p:nvSpPr>
        <p:spPr>
          <a:xfrm>
            <a:off x="838200" y="2790242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theorem states: ∀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dirty="0"/>
              <a:t>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[Domain of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integers]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C48661-FAD1-1EB5-DBC4-BDCBE7CBA146}"/>
              </a:ext>
            </a:extLst>
          </p:cNvPr>
          <p:cNvSpPr txBox="1"/>
          <p:nvPr/>
        </p:nvSpPr>
        <p:spPr>
          <a:xfrm>
            <a:off x="457200" y="3298322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Direct proof, the initial assumption is: P(n) true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1D4F23-FB6B-053E-FECF-7354941CBD6F}"/>
              </a:ext>
            </a:extLst>
          </p:cNvPr>
          <p:cNvSpPr txBox="1"/>
          <p:nvPr/>
        </p:nvSpPr>
        <p:spPr>
          <a:xfrm>
            <a:off x="457200" y="3782997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initial assumption, let n = 2k [k is some integers]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AD00FB-6DAE-D792-1DBE-5AE5DF969577}"/>
              </a:ext>
            </a:extLst>
          </p:cNvPr>
          <p:cNvSpPr txBox="1"/>
          <p:nvPr/>
        </p:nvSpPr>
        <p:spPr>
          <a:xfrm>
            <a:off x="457200" y="4292825"/>
            <a:ext cx="3352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n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(2k)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D55C97-0D47-8FE4-39AF-F8826C9847EA}"/>
              </a:ext>
            </a:extLst>
          </p:cNvPr>
          <p:cNvSpPr txBox="1"/>
          <p:nvPr/>
        </p:nvSpPr>
        <p:spPr>
          <a:xfrm>
            <a:off x="4876800" y="4292824"/>
            <a:ext cx="3124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n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4k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39FC16-52D1-652D-A699-21C18532A9BC}"/>
              </a:ext>
            </a:extLst>
          </p:cNvPr>
          <p:cNvSpPr txBox="1"/>
          <p:nvPr/>
        </p:nvSpPr>
        <p:spPr>
          <a:xfrm>
            <a:off x="457200" y="4835763"/>
            <a:ext cx="3581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n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2(2k)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EF3F57-AE6D-7243-5F4D-C5B404191623}"/>
              </a:ext>
            </a:extLst>
          </p:cNvPr>
          <p:cNvSpPr txBox="1"/>
          <p:nvPr/>
        </p:nvSpPr>
        <p:spPr>
          <a:xfrm>
            <a:off x="4876800" y="4835762"/>
            <a:ext cx="1752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even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B3A1EB-FD84-0E7D-AFEF-6E8BC8AE108C}"/>
              </a:ext>
            </a:extLst>
          </p:cNvPr>
          <p:cNvSpPr txBox="1"/>
          <p:nvPr/>
        </p:nvSpPr>
        <p:spPr>
          <a:xfrm>
            <a:off x="457200" y="5345590"/>
            <a:ext cx="838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according to the initial assumption, Q(n) is proved to be true 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765D9C-C9E9-58CF-F07B-BB10F95D5428}"/>
              </a:ext>
            </a:extLst>
          </p:cNvPr>
          <p:cNvSpPr txBox="1"/>
          <p:nvPr/>
        </p:nvSpPr>
        <p:spPr>
          <a:xfrm>
            <a:off x="457200" y="5818300"/>
            <a:ext cx="838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dirty="0"/>
              <a:t>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true 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580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8" grpId="0"/>
      <p:bldP spid="14" grpId="0"/>
      <p:bldP spid="15" grpId="0"/>
      <p:bldP spid="16" grpId="0"/>
      <p:bldP spid="17" grpId="0"/>
      <p:bldP spid="18" grpId="0"/>
      <p:bldP spid="20" grpId="0"/>
      <p:bldP spid="21" grpId="0"/>
      <p:bldP spid="22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PROOF BY CONTRAPOSITION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0C3849-3E9B-5EF4-B40E-5313F56297DA}"/>
              </a:ext>
            </a:extLst>
          </p:cNvPr>
          <p:cNvSpPr txBox="1"/>
          <p:nvPr/>
        </p:nvSpPr>
        <p:spPr>
          <a:xfrm>
            <a:off x="457200" y="1528359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proof starts from the premise that often may lead to dead end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6595BA-C687-34C1-162F-52FC2FAB8FB5}"/>
              </a:ext>
            </a:extLst>
          </p:cNvPr>
          <p:cNvSpPr txBox="1"/>
          <p:nvPr/>
        </p:nvSpPr>
        <p:spPr>
          <a:xfrm>
            <a:off x="457200" y="20574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Proof by contraposition make use of the fact that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C16C04-31AD-8143-7A9C-4E127C7EEC50}"/>
              </a:ext>
            </a:extLst>
          </p:cNvPr>
          <p:cNvSpPr txBox="1"/>
          <p:nvPr/>
        </p:nvSpPr>
        <p:spPr>
          <a:xfrm>
            <a:off x="878150" y="2617219"/>
            <a:ext cx="7580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 is equivalent to its contrapositive statement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17D3DA-66A9-FD43-C242-B05BED32CE70}"/>
              </a:ext>
            </a:extLst>
          </p:cNvPr>
          <p:cNvSpPr txBox="1"/>
          <p:nvPr/>
        </p:nvSpPr>
        <p:spPr>
          <a:xfrm>
            <a:off x="457200" y="3499348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direct proof: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29BB04-706F-BA92-2260-15415FC1429B}"/>
              </a:ext>
            </a:extLst>
          </p:cNvPr>
          <p:cNvSpPr txBox="1"/>
          <p:nvPr/>
        </p:nvSpPr>
        <p:spPr>
          <a:xfrm>
            <a:off x="878150" y="4028389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assumption is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is true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9B96FB-6791-BEAE-DE65-D3A4097F1358}"/>
              </a:ext>
            </a:extLst>
          </p:cNvPr>
          <p:cNvSpPr txBox="1"/>
          <p:nvPr/>
        </p:nvSpPr>
        <p:spPr>
          <a:xfrm>
            <a:off x="878150" y="4557430"/>
            <a:ext cx="78086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axioms, definitions, previously proved theorems with rules of inferences are used to lead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true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2991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11" grpId="0"/>
      <p:bldP spid="12" grpId="0"/>
      <p:bldP spid="13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PROOF BY CONTRAPOSITION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C83CFC-2EA7-BD2B-9838-523396C703F6}"/>
              </a:ext>
            </a:extLst>
          </p:cNvPr>
          <p:cNvSpPr txBox="1"/>
          <p:nvPr/>
        </p:nvSpPr>
        <p:spPr>
          <a:xfrm>
            <a:off x="457200" y="1528359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even integer, then n is even.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61D49B-8949-B0F5-FE05-99B603BCBF5E}"/>
              </a:ext>
            </a:extLst>
          </p:cNvPr>
          <p:cNvSpPr txBox="1"/>
          <p:nvPr/>
        </p:nvSpPr>
        <p:spPr>
          <a:xfrm>
            <a:off x="838200" y="1959246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P(n): n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even integer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FA7091-E7E9-FC3A-B48B-77631959B62F}"/>
              </a:ext>
            </a:extLst>
          </p:cNvPr>
          <p:cNvSpPr txBox="1"/>
          <p:nvPr/>
        </p:nvSpPr>
        <p:spPr>
          <a:xfrm>
            <a:off x="838200" y="2390133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Q(n): n is even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1FC83F-33C2-DDFE-5CFB-988F45149347}"/>
              </a:ext>
            </a:extLst>
          </p:cNvPr>
          <p:cNvSpPr txBox="1"/>
          <p:nvPr/>
        </p:nvSpPr>
        <p:spPr>
          <a:xfrm>
            <a:off x="838200" y="2790242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theorem states: ∀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dirty="0"/>
              <a:t>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[Domain of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integers]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E07B55-2138-7E54-4D66-A7138CDFF011}"/>
              </a:ext>
            </a:extLst>
          </p:cNvPr>
          <p:cNvSpPr txBox="1"/>
          <p:nvPr/>
        </p:nvSpPr>
        <p:spPr>
          <a:xfrm>
            <a:off x="457200" y="3298322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Direct proof, the initial assumption is: P(n) true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734DC7-4EE4-ACA3-2BDB-2E6FAFD4C54B}"/>
              </a:ext>
            </a:extLst>
          </p:cNvPr>
          <p:cNvSpPr txBox="1"/>
          <p:nvPr/>
        </p:nvSpPr>
        <p:spPr>
          <a:xfrm>
            <a:off x="457200" y="3782997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initial assumption, let n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2k [k is some integers]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72BE15F-A141-D3CA-C71F-BD615465F75B}"/>
                  </a:ext>
                </a:extLst>
              </p:cNvPr>
              <p:cNvSpPr txBox="1"/>
              <p:nvPr/>
            </p:nvSpPr>
            <p:spPr>
              <a:xfrm>
                <a:off x="457200" y="4267672"/>
                <a:ext cx="3581400" cy="478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Wingdings" panose="05000000000000000000" pitchFamily="2" charset="2"/>
                  <a:buChar char="q"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So, n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rad>
                  </m:oMath>
                </a14:m>
                <a:endParaRPr lang="en-US" sz="2200" baseline="-25000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72BE15F-A141-D3CA-C71F-BD615465F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267672"/>
                <a:ext cx="3581400" cy="478529"/>
              </a:xfrm>
              <a:prstGeom prst="rect">
                <a:avLst/>
              </a:prstGeom>
              <a:blipFill>
                <a:blip r:embed="rId3"/>
                <a:stretch>
                  <a:fillRect l="-1871" t="-1266" b="-22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3787D1F4-C34F-8254-8E54-CB5D3A3C6219}"/>
              </a:ext>
            </a:extLst>
          </p:cNvPr>
          <p:cNvSpPr txBox="1"/>
          <p:nvPr/>
        </p:nvSpPr>
        <p:spPr>
          <a:xfrm>
            <a:off x="457200" y="4777499"/>
            <a:ext cx="838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this is not sufficient to prove that, n is even 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D88DA1-DCC4-4A17-B5A5-56B846F5E769}"/>
              </a:ext>
            </a:extLst>
          </p:cNvPr>
          <p:cNvSpPr txBox="1"/>
          <p:nvPr/>
        </p:nvSpPr>
        <p:spPr>
          <a:xfrm>
            <a:off x="457200" y="5250209"/>
            <a:ext cx="838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the proof by Contraposition can be used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482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9" grpId="0"/>
      <p:bldP spid="10" grpId="0"/>
      <p:bldP spid="14" grpId="0"/>
      <p:bldP spid="17" grpId="0"/>
      <p:bldP spid="19" grpId="0"/>
      <p:bldP spid="20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PROOF BY CONTRAPOSITION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0C3849-3E9B-5EF4-B40E-5313F56297DA}"/>
              </a:ext>
            </a:extLst>
          </p:cNvPr>
          <p:cNvSpPr txBox="1"/>
          <p:nvPr/>
        </p:nvSpPr>
        <p:spPr>
          <a:xfrm>
            <a:off x="457200" y="1528359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even integer, then n is even.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1B5DE1-6426-522C-06C1-6C73551B718B}"/>
              </a:ext>
            </a:extLst>
          </p:cNvPr>
          <p:cNvSpPr txBox="1"/>
          <p:nvPr/>
        </p:nvSpPr>
        <p:spPr>
          <a:xfrm>
            <a:off x="838200" y="1959246"/>
            <a:ext cx="3581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P(n): n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even integer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5F0E7B-A8B0-19D6-DF30-A2FE2D522B71}"/>
              </a:ext>
            </a:extLst>
          </p:cNvPr>
          <p:cNvSpPr txBox="1"/>
          <p:nvPr/>
        </p:nvSpPr>
        <p:spPr>
          <a:xfrm>
            <a:off x="4933025" y="1955101"/>
            <a:ext cx="28393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Q(n): n is even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6B4229-204F-6A25-FD95-987CB0DB071F}"/>
              </a:ext>
            </a:extLst>
          </p:cNvPr>
          <p:cNvSpPr txBox="1"/>
          <p:nvPr/>
        </p:nvSpPr>
        <p:spPr>
          <a:xfrm>
            <a:off x="838200" y="2370886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theorem states: ∀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dirty="0"/>
              <a:t>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[Domain of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integers]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C48661-FAD1-1EB5-DBC4-BDCBE7CBA146}"/>
              </a:ext>
            </a:extLst>
          </p:cNvPr>
          <p:cNvSpPr txBox="1"/>
          <p:nvPr/>
        </p:nvSpPr>
        <p:spPr>
          <a:xfrm>
            <a:off x="457200" y="2859559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proof by contraposition,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1D4F23-FB6B-053E-FECF-7354941CBD6F}"/>
              </a:ext>
            </a:extLst>
          </p:cNvPr>
          <p:cNvSpPr txBox="1"/>
          <p:nvPr/>
        </p:nvSpPr>
        <p:spPr>
          <a:xfrm>
            <a:off x="457200" y="4190759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initial assumption, let n is odd: n = 2k + 1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736472-E826-77BF-A65E-0713C937F841}"/>
              </a:ext>
            </a:extLst>
          </p:cNvPr>
          <p:cNvSpPr txBox="1"/>
          <p:nvPr/>
        </p:nvSpPr>
        <p:spPr>
          <a:xfrm>
            <a:off x="838200" y="3291621"/>
            <a:ext cx="3733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P(n): n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odd integer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32FA54-068B-068E-906E-76E0E4141D5A}"/>
              </a:ext>
            </a:extLst>
          </p:cNvPr>
          <p:cNvSpPr txBox="1"/>
          <p:nvPr/>
        </p:nvSpPr>
        <p:spPr>
          <a:xfrm>
            <a:off x="4933025" y="3287476"/>
            <a:ext cx="28393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Q(n): n is odd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688F9E-8A61-25CC-4649-175C60CFF454}"/>
              </a:ext>
            </a:extLst>
          </p:cNvPr>
          <p:cNvSpPr txBox="1"/>
          <p:nvPr/>
        </p:nvSpPr>
        <p:spPr>
          <a:xfrm>
            <a:off x="838200" y="3742996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theorem states: ∀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dirty="0"/>
              <a:t>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63BCD2-4AD7-0F73-B5EE-E6E29C550BDD}"/>
              </a:ext>
            </a:extLst>
          </p:cNvPr>
          <p:cNvSpPr txBox="1"/>
          <p:nvPr/>
        </p:nvSpPr>
        <p:spPr>
          <a:xfrm>
            <a:off x="838200" y="4628808"/>
            <a:ext cx="3352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n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(2k + 1)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46E781-1D5A-988D-0133-37D4CE35D77B}"/>
              </a:ext>
            </a:extLst>
          </p:cNvPr>
          <p:cNvSpPr txBox="1"/>
          <p:nvPr/>
        </p:nvSpPr>
        <p:spPr>
          <a:xfrm>
            <a:off x="5257800" y="4628807"/>
            <a:ext cx="3124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n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4k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+ 4k + 1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70B4C4-121D-24BF-9922-857DC8C6F389}"/>
              </a:ext>
            </a:extLst>
          </p:cNvPr>
          <p:cNvSpPr txBox="1"/>
          <p:nvPr/>
        </p:nvSpPr>
        <p:spPr>
          <a:xfrm>
            <a:off x="838200" y="5065071"/>
            <a:ext cx="3581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n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2(2k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+ 2k) + 1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014994-91C2-B477-9BCC-9A9AF7E6FC73}"/>
              </a:ext>
            </a:extLst>
          </p:cNvPr>
          <p:cNvSpPr txBox="1"/>
          <p:nvPr/>
        </p:nvSpPr>
        <p:spPr>
          <a:xfrm>
            <a:off x="5257800" y="5065070"/>
            <a:ext cx="4267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n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2m + 1 [m = 2k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+ 2k]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99159B-FD53-05C9-DA1C-8B8743D6D1D2}"/>
              </a:ext>
            </a:extLst>
          </p:cNvPr>
          <p:cNvSpPr txBox="1"/>
          <p:nvPr/>
        </p:nvSpPr>
        <p:spPr>
          <a:xfrm>
            <a:off x="838200" y="5523332"/>
            <a:ext cx="1752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odd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8FA602-9D12-8CFE-384B-4C801D716B13}"/>
              </a:ext>
            </a:extLst>
          </p:cNvPr>
          <p:cNvSpPr txBox="1"/>
          <p:nvPr/>
        </p:nvSpPr>
        <p:spPr>
          <a:xfrm>
            <a:off x="838200" y="5894701"/>
            <a:ext cx="838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the assumption: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Q(n), 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ㄱ</a:t>
            </a: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(n) is proved to be true 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00EF66-F1D9-B79C-6260-EEE6EDCA83AA}"/>
              </a:ext>
            </a:extLst>
          </p:cNvPr>
          <p:cNvSpPr txBox="1"/>
          <p:nvPr/>
        </p:nvSpPr>
        <p:spPr>
          <a:xfrm>
            <a:off x="838200" y="6367411"/>
            <a:ext cx="838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the theorem is proved by contraposition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4403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8" grpId="0"/>
      <p:bldP spid="14" grpId="0"/>
      <p:bldP spid="15" grpId="0"/>
      <p:bldP spid="6" grpId="0"/>
      <p:bldP spid="7" grpId="0"/>
      <p:bldP spid="9" grpId="0"/>
      <p:bldP spid="10" grpId="0"/>
      <p:bldP spid="11" grpId="0"/>
      <p:bldP spid="12" grpId="0"/>
      <p:bldP spid="13" grpId="0"/>
      <p:bldP spid="19" grpId="0"/>
      <p:bldP spid="23" grpId="0"/>
      <p:bldP spid="24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PROOF BY CONTRAPOSITION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0C3849-3E9B-5EF4-B40E-5313F56297DA}"/>
              </a:ext>
            </a:extLst>
          </p:cNvPr>
          <p:cNvSpPr txBox="1"/>
          <p:nvPr/>
        </p:nvSpPr>
        <p:spPr>
          <a:xfrm>
            <a:off x="457200" y="1528359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all integers n if 3n + 2 is odd, then n is odd.</a:t>
            </a:r>
            <a:endParaRPr lang="en-US" sz="22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236A5E-776F-A5FD-3247-240AEE6903D8}"/>
              </a:ext>
            </a:extLst>
          </p:cNvPr>
          <p:cNvSpPr txBox="1"/>
          <p:nvPr/>
        </p:nvSpPr>
        <p:spPr>
          <a:xfrm>
            <a:off x="2819400" y="2129161"/>
            <a:ext cx="26714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IT YOURSELF</a:t>
            </a:r>
            <a:endParaRPr lang="en-US" sz="2200" b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30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BDCFAE-B3AD-1153-97BE-823F1203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PROOF BY CONTRAPOSITION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F0C3849-3E9B-5EF4-B40E-5313F56297DA}"/>
                  </a:ext>
                </a:extLst>
              </p:cNvPr>
              <p:cNvSpPr txBox="1"/>
              <p:nvPr/>
            </p:nvSpPr>
            <p:spPr>
              <a:xfrm>
                <a:off x="457200" y="1528359"/>
                <a:ext cx="8229600" cy="4347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Wingdings" panose="05000000000000000000" pitchFamily="2" charset="2"/>
                  <a:buChar char="q"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n = ab, where a and b are positive integers, then a </a:t>
                </a:r>
                <a:r>
                  <a:rPr lang="en-US" dirty="0"/>
                  <a:t>≤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or b ≤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rad>
                  </m:oMath>
                </a14:m>
                <a:endParaRPr lang="en-US" sz="2200" baseline="-25000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F0C3849-3E9B-5EF4-B40E-5313F5629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528359"/>
                <a:ext cx="8229600" cy="434734"/>
              </a:xfrm>
              <a:prstGeom prst="rect">
                <a:avLst/>
              </a:prstGeom>
              <a:blipFill>
                <a:blip r:embed="rId3"/>
                <a:stretch>
                  <a:fillRect l="-815" t="-8451" b="-28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D4236A5E-776F-A5FD-3247-240AEE6903D8}"/>
              </a:ext>
            </a:extLst>
          </p:cNvPr>
          <p:cNvSpPr txBox="1"/>
          <p:nvPr/>
        </p:nvSpPr>
        <p:spPr>
          <a:xfrm>
            <a:off x="2819400" y="2129161"/>
            <a:ext cx="26714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IT YOURSELF</a:t>
            </a:r>
            <a:endParaRPr lang="en-US" sz="2200" b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515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YOU!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8812879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SMRU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BSMRU</Template>
  <TotalTime>4207</TotalTime>
  <Words>10006</Words>
  <Application>Microsoft Office PowerPoint</Application>
  <PresentationFormat>On-screen Show (4:3)</PresentationFormat>
  <Paragraphs>1742</Paragraphs>
  <Slides>125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125</vt:i4>
      </vt:variant>
    </vt:vector>
  </HeadingPairs>
  <TitlesOfParts>
    <vt:vector size="135" baseType="lpstr">
      <vt:lpstr>Arial</vt:lpstr>
      <vt:lpstr>Calibri</vt:lpstr>
      <vt:lpstr>Cambria Math</vt:lpstr>
      <vt:lpstr>Century Gothic</vt:lpstr>
      <vt:lpstr>Courier New</vt:lpstr>
      <vt:lpstr>Palatino Linotype</vt:lpstr>
      <vt:lpstr>Tahoma</vt:lpstr>
      <vt:lpstr>Times New Roman</vt:lpstr>
      <vt:lpstr>Wingdings</vt:lpstr>
      <vt:lpstr>BSMRU</vt:lpstr>
      <vt:lpstr>hporvrs</vt:lpstr>
      <vt:lpstr>TEXT  BOOKS</vt:lpstr>
      <vt:lpstr>The Foundations: Logic and Proofs</vt:lpstr>
      <vt:lpstr>BASIC</vt:lpstr>
      <vt:lpstr>BASIC</vt:lpstr>
      <vt:lpstr>BASIC</vt:lpstr>
      <vt:lpstr>BASIC</vt:lpstr>
      <vt:lpstr>BASIC</vt:lpstr>
      <vt:lpstr>BASIC</vt:lpstr>
      <vt:lpstr>PROPOSITIONAL LOGIC</vt:lpstr>
      <vt:lpstr>PROPOSITION</vt:lpstr>
      <vt:lpstr>PROPOSITION REPRESENTATION</vt:lpstr>
      <vt:lpstr>LOGICAL OPERATIONS</vt:lpstr>
      <vt:lpstr>LOGICAL OPERATIONS</vt:lpstr>
      <vt:lpstr>NEGATION</vt:lpstr>
      <vt:lpstr>NEGATION</vt:lpstr>
      <vt:lpstr>NEGATION</vt:lpstr>
      <vt:lpstr>CONJUNCTION (AND)</vt:lpstr>
      <vt:lpstr>CONJUNCTION (AND)</vt:lpstr>
      <vt:lpstr>CONJUNCTION (AND)</vt:lpstr>
      <vt:lpstr>DISJUNCTION (OR)</vt:lpstr>
      <vt:lpstr>DISJUNCTION (OR)</vt:lpstr>
      <vt:lpstr>EXCLUSIVE OR (XOR)</vt:lpstr>
      <vt:lpstr>EXCLUSIVE OR (XOR)</vt:lpstr>
      <vt:lpstr>IMPLICATION</vt:lpstr>
      <vt:lpstr>IMPLICATION</vt:lpstr>
      <vt:lpstr>IMPLICATION</vt:lpstr>
      <vt:lpstr>IMPLICATION</vt:lpstr>
      <vt:lpstr>IMPLICATION</vt:lpstr>
      <vt:lpstr>IMPLICATION</vt:lpstr>
      <vt:lpstr>IMPLICATION</vt:lpstr>
      <vt:lpstr>IMPLICATION</vt:lpstr>
      <vt:lpstr>BICONDITIONAL</vt:lpstr>
      <vt:lpstr>BICONDITIONAL</vt:lpstr>
      <vt:lpstr>BICONDITIONAL</vt:lpstr>
      <vt:lpstr>BICONDITIONAL</vt:lpstr>
      <vt:lpstr>PROPOSITIONAL EQUIVALENCES</vt:lpstr>
      <vt:lpstr>TAUTOLOGY</vt:lpstr>
      <vt:lpstr>CONTRADICTION</vt:lpstr>
      <vt:lpstr>CONTINGENCY</vt:lpstr>
      <vt:lpstr>LOGICAL EQUIVALENCE</vt:lpstr>
      <vt:lpstr>LOGICAL EQUIVALENCE</vt:lpstr>
      <vt:lpstr>LOGICAL EQUIVALENCE</vt:lpstr>
      <vt:lpstr>OPERATOR PRECEDENCE</vt:lpstr>
      <vt:lpstr>DE MORGAN’s LAW</vt:lpstr>
      <vt:lpstr>DE MORGAN’s LAW</vt:lpstr>
      <vt:lpstr>DE MORGAN’s LAW</vt:lpstr>
      <vt:lpstr>CONDITIONAL DISJUNCTION EQUIVALENCE</vt:lpstr>
      <vt:lpstr>CONDITIONAL LOGICAL EQUIVALENCE</vt:lpstr>
      <vt:lpstr>CONDITIONAL LOGICAL EQUIVALENCE</vt:lpstr>
      <vt:lpstr>CONDITIONAL LOGICAL EQUIVALENCE</vt:lpstr>
      <vt:lpstr>CONDITIONAL LOGICAL EQUIVALENCE</vt:lpstr>
      <vt:lpstr>CONDITIONAL LOGICAL EQUIVALENCE</vt:lpstr>
      <vt:lpstr>CONDITIONAL LOGICAL EQUIVALENCE</vt:lpstr>
      <vt:lpstr>BICONDITIONAL LOGICAL EQUIVALENCE</vt:lpstr>
      <vt:lpstr>PRACTICE</vt:lpstr>
      <vt:lpstr>PRACTICE</vt:lpstr>
      <vt:lpstr>PREDICATES and QUANTIFIERS</vt:lpstr>
      <vt:lpstr>INTRODUCTION</vt:lpstr>
      <vt:lpstr>PREDICATE</vt:lpstr>
      <vt:lpstr>EXAMPLE</vt:lpstr>
      <vt:lpstr>QUANTIFIERS</vt:lpstr>
      <vt:lpstr>TYPES OF QUANTIFIERS</vt:lpstr>
      <vt:lpstr>THE UNIVERSAL QUANTIFIERS</vt:lpstr>
      <vt:lpstr>EXAMPLE</vt:lpstr>
      <vt:lpstr>EXAMPLE</vt:lpstr>
      <vt:lpstr>COUNTEREXAMPLE</vt:lpstr>
      <vt:lpstr>EXAMPLE</vt:lpstr>
      <vt:lpstr>UNIQUESNESS OF QUANTIFIERS</vt:lpstr>
      <vt:lpstr>PRECEDENCE OF QUANTIFIERS</vt:lpstr>
      <vt:lpstr>EQUIVALENCE OF QUANTIFIERS</vt:lpstr>
      <vt:lpstr>EQUIVALENCE OF QUANTIFIERS</vt:lpstr>
      <vt:lpstr>NEGATING UNIVERSAL QUANTIFIER</vt:lpstr>
      <vt:lpstr>NEGATING EXISTENTIAL QUANTIFIER</vt:lpstr>
      <vt:lpstr>De MORGAN FOR QUANTIFIERS</vt:lpstr>
      <vt:lpstr>PRACTICE</vt:lpstr>
      <vt:lpstr>PRACTICE</vt:lpstr>
      <vt:lpstr>NESTED QUANTIFIERS</vt:lpstr>
      <vt:lpstr>INTRODUCTION</vt:lpstr>
      <vt:lpstr>PRACTICE</vt:lpstr>
      <vt:lpstr>PRACTICE (Cont..)</vt:lpstr>
      <vt:lpstr>PRACTICE (Cont..)</vt:lpstr>
      <vt:lpstr>PRACTICE (Cont..)</vt:lpstr>
      <vt:lpstr>PRACTICE (Cont..)</vt:lpstr>
      <vt:lpstr>PRACTICE (Cont..)</vt:lpstr>
      <vt:lpstr>PRACTICE (Cont..)</vt:lpstr>
      <vt:lpstr>PRACTICE (Cont..)</vt:lpstr>
      <vt:lpstr>NEGATING NESTED QUANTIFIERS</vt:lpstr>
      <vt:lpstr>RULES OF INFERENCE</vt:lpstr>
      <vt:lpstr>ARGUMENT</vt:lpstr>
      <vt:lpstr>ARGUMENT</vt:lpstr>
      <vt:lpstr>ARGUMENT  EXPRESSION</vt:lpstr>
      <vt:lpstr>RULES OF INFERENCE</vt:lpstr>
      <vt:lpstr>RULES OF INFERENCE</vt:lpstr>
      <vt:lpstr>RULES OF INFERENCE</vt:lpstr>
      <vt:lpstr>MODUS PONENS</vt:lpstr>
      <vt:lpstr>HYPOTHETICAL SYLLOGISM</vt:lpstr>
      <vt:lpstr>EXERCISE-1</vt:lpstr>
      <vt:lpstr>EXERCISE-1</vt:lpstr>
      <vt:lpstr>EXERCISE-2</vt:lpstr>
      <vt:lpstr>EXERCISE-3</vt:lpstr>
      <vt:lpstr>EXERCISE-4</vt:lpstr>
      <vt:lpstr>RULES OF INFERENCE FOR QUANTIFIERS</vt:lpstr>
      <vt:lpstr>UNIVERSAL INSTANTIATION</vt:lpstr>
      <vt:lpstr>UNIVERSAL INSTANTIATION</vt:lpstr>
      <vt:lpstr>UNIVERSAL GENERALIZATION</vt:lpstr>
      <vt:lpstr>EXISTENTIAL INSTANTIATION</vt:lpstr>
      <vt:lpstr>EXISTENTIAL GENERALIZATION</vt:lpstr>
      <vt:lpstr>EXERCISE</vt:lpstr>
      <vt:lpstr>EXERCISE</vt:lpstr>
      <vt:lpstr>EXERCISE</vt:lpstr>
      <vt:lpstr>PROOF TECHNIQUES</vt:lpstr>
      <vt:lpstr>TERMINOLOGIES</vt:lpstr>
      <vt:lpstr>TERMINOLOGIES</vt:lpstr>
      <vt:lpstr>EXPRESSION OF THEOREM</vt:lpstr>
      <vt:lpstr>PROOF TECHNIQUES</vt:lpstr>
      <vt:lpstr>DIRECT PROOF</vt:lpstr>
      <vt:lpstr>DIRECT PROOF</vt:lpstr>
      <vt:lpstr>DIRECT PROOF</vt:lpstr>
      <vt:lpstr>PROOF BY CONTRAPOSITION</vt:lpstr>
      <vt:lpstr>PROOF BY CONTRAPOSITION</vt:lpstr>
      <vt:lpstr>PROOF BY CONTRAPOSITION</vt:lpstr>
      <vt:lpstr>PROOF BY CONTRAPOSITION</vt:lpstr>
      <vt:lpstr>PROOF BY CONTRAPOSITION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Foundations: Logic and Proofs</dc:title>
  <dc:creator>CSE Dept</dc:creator>
  <cp:lastModifiedBy>user</cp:lastModifiedBy>
  <cp:revision>944</cp:revision>
  <dcterms:created xsi:type="dcterms:W3CDTF">2023-02-25T03:10:45Z</dcterms:created>
  <dcterms:modified xsi:type="dcterms:W3CDTF">2023-04-01T19:18:16Z</dcterms:modified>
</cp:coreProperties>
</file>