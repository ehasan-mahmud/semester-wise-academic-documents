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58" r:id="rId2"/>
    <p:sldId id="354" r:id="rId3"/>
    <p:sldId id="359" r:id="rId4"/>
    <p:sldId id="389" r:id="rId5"/>
    <p:sldId id="360" r:id="rId6"/>
    <p:sldId id="361" r:id="rId7"/>
    <p:sldId id="412" r:id="rId8"/>
    <p:sldId id="411" r:id="rId9"/>
    <p:sldId id="414" r:id="rId10"/>
    <p:sldId id="415" r:id="rId11"/>
    <p:sldId id="362" r:id="rId12"/>
    <p:sldId id="363" r:id="rId13"/>
    <p:sldId id="410" r:id="rId14"/>
    <p:sldId id="364" r:id="rId15"/>
    <p:sldId id="416" r:id="rId16"/>
    <p:sldId id="418" r:id="rId17"/>
    <p:sldId id="417" r:id="rId18"/>
    <p:sldId id="365" r:id="rId19"/>
    <p:sldId id="419" r:id="rId20"/>
    <p:sldId id="390" r:id="rId21"/>
    <p:sldId id="366" r:id="rId22"/>
    <p:sldId id="367" r:id="rId23"/>
    <p:sldId id="375" r:id="rId24"/>
    <p:sldId id="368" r:id="rId25"/>
    <p:sldId id="377" r:id="rId26"/>
    <p:sldId id="264" r:id="rId27"/>
    <p:sldId id="298" r:id="rId28"/>
    <p:sldId id="299" r:id="rId29"/>
    <p:sldId id="300" r:id="rId30"/>
    <p:sldId id="369" r:id="rId31"/>
    <p:sldId id="376" r:id="rId32"/>
    <p:sldId id="370" r:id="rId33"/>
    <p:sldId id="378" r:id="rId34"/>
    <p:sldId id="379" r:id="rId35"/>
    <p:sldId id="380" r:id="rId36"/>
    <p:sldId id="381" r:id="rId37"/>
    <p:sldId id="382" r:id="rId38"/>
    <p:sldId id="383" r:id="rId39"/>
    <p:sldId id="372" r:id="rId40"/>
    <p:sldId id="384" r:id="rId41"/>
    <p:sldId id="420" r:id="rId42"/>
    <p:sldId id="385" r:id="rId43"/>
    <p:sldId id="421" r:id="rId44"/>
    <p:sldId id="387" r:id="rId45"/>
    <p:sldId id="434" r:id="rId46"/>
    <p:sldId id="428" r:id="rId47"/>
    <p:sldId id="422" r:id="rId48"/>
    <p:sldId id="423" r:id="rId49"/>
    <p:sldId id="424" r:id="rId50"/>
    <p:sldId id="426" r:id="rId51"/>
    <p:sldId id="425" r:id="rId52"/>
    <p:sldId id="427" r:id="rId53"/>
    <p:sldId id="429" r:id="rId54"/>
    <p:sldId id="430" r:id="rId55"/>
    <p:sldId id="431" r:id="rId56"/>
    <p:sldId id="432" r:id="rId57"/>
    <p:sldId id="43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4" d="100"/>
          <a:sy n="84" d="100"/>
        </p:scale>
        <p:origin x="6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BA5C5-ACB1-47AD-99C3-DE96DC4F12FC}" type="datetimeFigureOut">
              <a:rPr lang="en-US" smtClean="0"/>
              <a:t>16-Aug-25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23BA4-7489-47D8-896C-E12274847C9F}" type="slidenum">
              <a:rPr lang="en-US" smtClean="0"/>
              <a:t>‹#›</a:t>
            </a:fld>
            <a:endParaRPr lang="en-US"/>
          </a:p>
        </p:txBody>
      </p:sp>
    </p:spTree>
    <p:extLst>
      <p:ext uri="{BB962C8B-B14F-4D97-AF65-F5344CB8AC3E}">
        <p14:creationId xmlns:p14="http://schemas.microsoft.com/office/powerpoint/2010/main" val="3068951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75797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5323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76631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127A2E-749E-49A6-9A40-5075345709B7}" type="slidenum">
              <a:rPr lang="en-US" smtClean="0"/>
              <a:t>32</a:t>
            </a:fld>
            <a:endParaRPr lang="en-US"/>
          </a:p>
        </p:txBody>
      </p:sp>
    </p:spTree>
    <p:extLst>
      <p:ext uri="{BB962C8B-B14F-4D97-AF65-F5344CB8AC3E}">
        <p14:creationId xmlns:p14="http://schemas.microsoft.com/office/powerpoint/2010/main" val="2590974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1BCCB-2A0B-9B85-985A-FC81725E48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D53FB3-2A8F-F509-6582-2B0D442981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AD8617-1E4D-3E60-5C6A-FB2B0FD754CF}"/>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DFEFBA47-CDFE-7BB7-F7CF-328135C8B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C10E7-71CC-45D7-D5AE-ED99659351AA}"/>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2579355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993F-1309-3E37-61E5-091F61E6D4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DE1C3A-DF4F-3176-B1B3-B24273CD28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2BDDEF-04EA-3A8E-3561-2F43EB882DDD}"/>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CEA08DD2-D71E-435A-26CC-261809CB5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9E215-82B7-A62A-C6BA-3D56CAB432DC}"/>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3485553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2BD3-A151-472F-8CD9-E4604D24CA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46FFE7-C48C-F66D-8D4F-135666A8E8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B6A1B3-A2D4-C86E-3296-31988A8B3987}"/>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B9E4C798-C45D-633E-AFAB-727298A3E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62286A-C181-1BF6-E7EE-46D54CB4B12D}"/>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3199151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4ACA-C2F6-8ACC-03D5-F858038CF7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B992B-A14A-38F4-5508-6F399197F1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3A888-54DF-FBAA-E76D-89D108007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831693-6C9A-BAEF-6CF7-7964F8587425}"/>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6" name="Footer Placeholder 5">
            <a:extLst>
              <a:ext uri="{FF2B5EF4-FFF2-40B4-BE49-F238E27FC236}">
                <a16:creationId xmlns:a16="http://schemas.microsoft.com/office/drawing/2014/main" id="{2180A8E5-1770-4837-0176-9A02DC2033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6B6E7-81D4-76CA-B939-1F53FA32C9A0}"/>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2094398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8E08-3D3E-61D5-DBAF-71D938C4C6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3CF587-3543-D9A1-93BC-22C61E9855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4F4963-DCD5-0984-A255-F1B7DFD9EF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339CE6-5D45-2437-746F-2DDEFB15D7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19AB31-430E-3CED-E079-B76DB1768D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2E1362-9B34-C000-4269-DBEAE0F86846}"/>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8" name="Footer Placeholder 7">
            <a:extLst>
              <a:ext uri="{FF2B5EF4-FFF2-40B4-BE49-F238E27FC236}">
                <a16:creationId xmlns:a16="http://schemas.microsoft.com/office/drawing/2014/main" id="{53CB9C7C-1F2C-FB44-5965-D297140EE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DBBA0A-B6AF-61C3-68A4-E47B8D461574}"/>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2718325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8559-7694-24AA-4FC4-BA3E26F6EF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5B77D9-75F1-50EA-AAB0-C9CCAE17F3C1}"/>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4" name="Footer Placeholder 3">
            <a:extLst>
              <a:ext uri="{FF2B5EF4-FFF2-40B4-BE49-F238E27FC236}">
                <a16:creationId xmlns:a16="http://schemas.microsoft.com/office/drawing/2014/main" id="{DFF089FE-B1A5-06FC-B58B-8E3F180A53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8D9AE7-213B-770D-CA1B-5C8398F35D6F}"/>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8804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FF03A7-A0AA-193C-4467-038BAE476001}"/>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3" name="Footer Placeholder 2">
            <a:extLst>
              <a:ext uri="{FF2B5EF4-FFF2-40B4-BE49-F238E27FC236}">
                <a16:creationId xmlns:a16="http://schemas.microsoft.com/office/drawing/2014/main" id="{BB620955-B1F0-EE1E-FED2-727EA0F7FB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4B1CE0-F0FF-6937-B766-35C70216D194}"/>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1400556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DCF2-27EB-BAC3-2B72-5ADB90E44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6718C3-5778-7866-E937-65EEE606C9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CD08BB-DE1C-E3C3-3BFE-A4A3D33777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264BE-C676-1A06-496C-0160B8D1BEA3}"/>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6" name="Footer Placeholder 5">
            <a:extLst>
              <a:ext uri="{FF2B5EF4-FFF2-40B4-BE49-F238E27FC236}">
                <a16:creationId xmlns:a16="http://schemas.microsoft.com/office/drawing/2014/main" id="{59F34864-4F15-85A4-84F7-2414807A7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9BBF3B-B670-4F0F-42F7-9B1EBB0AEE11}"/>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2086549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CCD1-C200-6BFE-CB68-DB6028358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BC625F-52EB-FAC3-9323-2720211337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3314B3-A74F-A084-08B3-540A097A84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A3C18-6102-A162-3670-3EAB32B473F1}"/>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6" name="Footer Placeholder 5">
            <a:extLst>
              <a:ext uri="{FF2B5EF4-FFF2-40B4-BE49-F238E27FC236}">
                <a16:creationId xmlns:a16="http://schemas.microsoft.com/office/drawing/2014/main" id="{3C34B7F5-D697-FF45-CD72-3757F67B1D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132183-B509-0DCB-1171-734D180C24E5}"/>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1678259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5CB9-EE4D-9F73-49A1-AB30A99DE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4806FB-E78E-EB13-72F7-5A5E7C725C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0AB9E-0C84-7D4D-40A4-8EFC38981179}"/>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C675C457-C036-80C0-7ADD-B2B5DECF36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F2351-0174-5474-1EDF-5BB021C9963B}"/>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402382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19DAC4-51AD-4171-B99A-0104CD74EA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6844CB-996A-1C03-6AEE-1DC6B4B8FF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10E7C0-69FB-DA2D-B38B-366453898788}"/>
              </a:ext>
            </a:extLst>
          </p:cNvPr>
          <p:cNvSpPr>
            <a:spLocks noGrp="1"/>
          </p:cNvSpPr>
          <p:nvPr>
            <p:ph type="dt" sz="half" idx="10"/>
          </p:nvPr>
        </p:nvSpPr>
        <p:spPr/>
        <p:txBody>
          <a:body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2F94F8AF-F954-7CFD-4916-EA89CD977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CD3FA7-9ADE-BE7A-04C7-5DE05A710589}"/>
              </a:ext>
            </a:extLst>
          </p:cNvPr>
          <p:cNvSpPr>
            <a:spLocks noGrp="1"/>
          </p:cNvSpPr>
          <p:nvPr>
            <p:ph type="sldNum" sz="quarter" idx="12"/>
          </p:nvPr>
        </p:nvSpPr>
        <p:spPr/>
        <p:txBody>
          <a:bodyPr/>
          <a:lstStyle/>
          <a:p>
            <a:fld id="{4B053623-19A9-42E4-8141-6A40BA812598}" type="slidenum">
              <a:rPr lang="en-US" smtClean="0"/>
              <a:t>‹#›</a:t>
            </a:fld>
            <a:endParaRPr lang="en-US"/>
          </a:p>
        </p:txBody>
      </p:sp>
    </p:spTree>
    <p:extLst>
      <p:ext uri="{BB962C8B-B14F-4D97-AF65-F5344CB8AC3E}">
        <p14:creationId xmlns:p14="http://schemas.microsoft.com/office/powerpoint/2010/main" val="316547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75E55-0705-1C0A-EBF9-303273A29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ABE6B7-6A71-9FC6-CB50-0B6B780F33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5281A4-CEC8-0AE0-566F-7CE995F595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AD42D3-B3D0-4598-881D-84814F044A48}" type="datetimeFigureOut">
              <a:rPr lang="en-US" smtClean="0"/>
              <a:t>16-Aug-25</a:t>
            </a:fld>
            <a:endParaRPr lang="en-US"/>
          </a:p>
        </p:txBody>
      </p:sp>
      <p:sp>
        <p:nvSpPr>
          <p:cNvPr id="5" name="Footer Placeholder 4">
            <a:extLst>
              <a:ext uri="{FF2B5EF4-FFF2-40B4-BE49-F238E27FC236}">
                <a16:creationId xmlns:a16="http://schemas.microsoft.com/office/drawing/2014/main" id="{B0A6E25C-2377-7A39-20BD-50732F2521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D7F0607-46AB-87FB-D23F-793299DB4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053623-19A9-42E4-8141-6A40BA812598}" type="slidenum">
              <a:rPr lang="en-US" smtClean="0"/>
              <a:t>‹#›</a:t>
            </a:fld>
            <a:endParaRPr lang="en-US"/>
          </a:p>
        </p:txBody>
      </p:sp>
    </p:spTree>
    <p:extLst>
      <p:ext uri="{BB962C8B-B14F-4D97-AF65-F5344CB8AC3E}">
        <p14:creationId xmlns:p14="http://schemas.microsoft.com/office/powerpoint/2010/main" val="66243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microsoft.com/office/2007/relationships/hdphoto" Target="../media/hdphoto2.wdp"/></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1</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772117" y="1376351"/>
            <a:ext cx="8832496" cy="2890849"/>
          </a:xfrm>
        </p:spPr>
        <p:txBody>
          <a:bodyPr>
            <a:normAutofit/>
          </a:bodyPr>
          <a:lstStyle/>
          <a:p>
            <a:pPr defTabSz="914400" eaLnBrk="0" fontAlgn="base" hangingPunct="0">
              <a:lnSpc>
                <a:spcPct val="100000"/>
              </a:lnSpc>
              <a:spcAft>
                <a:spcPct val="0"/>
              </a:spcAft>
            </a:pPr>
            <a:br>
              <a:rPr lang="en-US" altLang="en-US" dirty="0"/>
            </a:br>
            <a:r>
              <a:rPr lang="en-US" altLang="en-US" sz="7301" b="1" dirty="0"/>
              <a:t>Searching Algorithms</a:t>
            </a:r>
            <a:br>
              <a:rPr lang="en-US" altLang="en-US" sz="3600" dirty="0"/>
            </a:br>
            <a:endParaRPr lang="en-US" altLang="en-US" sz="3601" dirty="0"/>
          </a:p>
        </p:txBody>
      </p:sp>
    </p:spTree>
    <p:extLst>
      <p:ext uri="{BB962C8B-B14F-4D97-AF65-F5344CB8AC3E}">
        <p14:creationId xmlns:p14="http://schemas.microsoft.com/office/powerpoint/2010/main" val="4144706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56493" y="2111295"/>
            <a:ext cx="8709772" cy="1519798"/>
          </a:xfrm>
        </p:spPr>
        <p:txBody>
          <a:bodyPr>
            <a:normAutofit/>
          </a:bodyPr>
          <a:lstStyle/>
          <a:p>
            <a:pPr eaLnBrk="1" hangingPunct="1"/>
            <a:r>
              <a:rPr lang="en-US" altLang="en-US" sz="3971" dirty="0">
                <a:solidFill>
                  <a:schemeClr val="accent2"/>
                </a:solidFill>
              </a:rPr>
              <a:t>A simple example: </a:t>
            </a:r>
            <a:br>
              <a:rPr lang="en-US" altLang="en-US" sz="3971" dirty="0">
                <a:solidFill>
                  <a:schemeClr val="accent2"/>
                </a:solidFill>
              </a:rPr>
            </a:br>
            <a:r>
              <a:rPr lang="en-US" altLang="en-US" sz="3971" dirty="0">
                <a:solidFill>
                  <a:schemeClr val="accent2"/>
                </a:solidFill>
              </a:rPr>
              <a:t>traveling on a graph</a:t>
            </a:r>
            <a:endParaRPr lang="en-US" altLang="en-US" sz="2559" dirty="0">
              <a:solidFill>
                <a:schemeClr val="accent2"/>
              </a:solidFill>
            </a:endParaRPr>
          </a:p>
        </p:txBody>
      </p:sp>
      <p:grpSp>
        <p:nvGrpSpPr>
          <p:cNvPr id="3" name="Group 2"/>
          <p:cNvGrpSpPr/>
          <p:nvPr/>
        </p:nvGrpSpPr>
        <p:grpSpPr>
          <a:xfrm>
            <a:off x="4039038" y="3074458"/>
            <a:ext cx="8123691" cy="2834921"/>
            <a:chOff x="4075732" y="2487706"/>
            <a:chExt cx="7610021" cy="2409528"/>
          </a:xfrm>
        </p:grpSpPr>
        <p:sp>
          <p:nvSpPr>
            <p:cNvPr id="4099" name="Oval 3"/>
            <p:cNvSpPr>
              <a:spLocks noChangeArrowheads="1"/>
            </p:cNvSpPr>
            <p:nvPr/>
          </p:nvSpPr>
          <p:spPr bwMode="auto">
            <a:xfrm>
              <a:off x="5668369" y="3978088"/>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00" name="Text Box 4"/>
            <p:cNvSpPr txBox="1">
              <a:spLocks noChangeArrowheads="1"/>
            </p:cNvSpPr>
            <p:nvPr/>
          </p:nvSpPr>
          <p:spPr bwMode="auto">
            <a:xfrm>
              <a:off x="5735604" y="3924861"/>
              <a:ext cx="413896"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A</a:t>
              </a:r>
            </a:p>
          </p:txBody>
        </p:sp>
        <p:sp>
          <p:nvSpPr>
            <p:cNvPr id="4101" name="Oval 5"/>
            <p:cNvSpPr>
              <a:spLocks noChangeArrowheads="1"/>
            </p:cNvSpPr>
            <p:nvPr/>
          </p:nvSpPr>
          <p:spPr bwMode="auto">
            <a:xfrm>
              <a:off x="6744133" y="3091423"/>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02" name="Text Box 6"/>
            <p:cNvSpPr txBox="1">
              <a:spLocks noChangeArrowheads="1"/>
            </p:cNvSpPr>
            <p:nvPr/>
          </p:nvSpPr>
          <p:spPr bwMode="auto">
            <a:xfrm>
              <a:off x="6811369" y="3038196"/>
              <a:ext cx="396262"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B</a:t>
              </a:r>
            </a:p>
          </p:txBody>
        </p:sp>
        <p:sp>
          <p:nvSpPr>
            <p:cNvPr id="4103" name="Oval 7"/>
            <p:cNvSpPr>
              <a:spLocks noChangeArrowheads="1"/>
            </p:cNvSpPr>
            <p:nvPr/>
          </p:nvSpPr>
          <p:spPr bwMode="auto">
            <a:xfrm>
              <a:off x="5399427" y="2688012"/>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04" name="Text Box 8"/>
            <p:cNvSpPr txBox="1">
              <a:spLocks noChangeArrowheads="1"/>
            </p:cNvSpPr>
            <p:nvPr/>
          </p:nvSpPr>
          <p:spPr bwMode="auto">
            <a:xfrm>
              <a:off x="5466663" y="2634784"/>
              <a:ext cx="413896"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C</a:t>
              </a:r>
            </a:p>
          </p:txBody>
        </p:sp>
        <p:sp>
          <p:nvSpPr>
            <p:cNvPr id="4105" name="Oval 9"/>
            <p:cNvSpPr>
              <a:spLocks noChangeArrowheads="1"/>
            </p:cNvSpPr>
            <p:nvPr/>
          </p:nvSpPr>
          <p:spPr bwMode="auto">
            <a:xfrm>
              <a:off x="9638052" y="3751169"/>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06" name="Text Box 10"/>
            <p:cNvSpPr txBox="1">
              <a:spLocks noChangeArrowheads="1"/>
            </p:cNvSpPr>
            <p:nvPr/>
          </p:nvSpPr>
          <p:spPr bwMode="auto">
            <a:xfrm>
              <a:off x="9705288" y="3697942"/>
              <a:ext cx="378630"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F</a:t>
              </a:r>
            </a:p>
          </p:txBody>
        </p:sp>
        <p:sp>
          <p:nvSpPr>
            <p:cNvPr id="4107" name="Oval 11"/>
            <p:cNvSpPr>
              <a:spLocks noChangeArrowheads="1"/>
            </p:cNvSpPr>
            <p:nvPr/>
          </p:nvSpPr>
          <p:spPr bwMode="auto">
            <a:xfrm>
              <a:off x="6948641" y="4221816"/>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08" name="Text Box 12"/>
            <p:cNvSpPr txBox="1">
              <a:spLocks noChangeArrowheads="1"/>
            </p:cNvSpPr>
            <p:nvPr/>
          </p:nvSpPr>
          <p:spPr bwMode="auto">
            <a:xfrm>
              <a:off x="7015876" y="4168589"/>
              <a:ext cx="413896"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D</a:t>
              </a:r>
            </a:p>
          </p:txBody>
        </p:sp>
        <p:sp>
          <p:nvSpPr>
            <p:cNvPr id="4109" name="Oval 13"/>
            <p:cNvSpPr>
              <a:spLocks noChangeArrowheads="1"/>
            </p:cNvSpPr>
            <p:nvPr/>
          </p:nvSpPr>
          <p:spPr bwMode="auto">
            <a:xfrm>
              <a:off x="8360582" y="4087346"/>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4110" name="Text Box 14"/>
            <p:cNvSpPr txBox="1">
              <a:spLocks noChangeArrowheads="1"/>
            </p:cNvSpPr>
            <p:nvPr/>
          </p:nvSpPr>
          <p:spPr bwMode="auto">
            <a:xfrm>
              <a:off x="8427817" y="4034118"/>
              <a:ext cx="396262"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a:t>E</a:t>
              </a:r>
            </a:p>
          </p:txBody>
        </p:sp>
        <p:sp>
          <p:nvSpPr>
            <p:cNvPr id="4111" name="Line 15"/>
            <p:cNvSpPr>
              <a:spLocks noChangeShapeType="1"/>
            </p:cNvSpPr>
            <p:nvPr/>
          </p:nvSpPr>
          <p:spPr bwMode="auto">
            <a:xfrm flipV="1">
              <a:off x="6074582" y="3496235"/>
              <a:ext cx="672353" cy="53788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2" name="Line 16"/>
            <p:cNvSpPr>
              <a:spLocks noChangeShapeType="1"/>
            </p:cNvSpPr>
            <p:nvPr/>
          </p:nvSpPr>
          <p:spPr bwMode="auto">
            <a:xfrm flipH="1" flipV="1">
              <a:off x="5872876" y="2958353"/>
              <a:ext cx="874059" cy="268941"/>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3" name="Line 17"/>
            <p:cNvSpPr>
              <a:spLocks noChangeShapeType="1"/>
            </p:cNvSpPr>
            <p:nvPr/>
          </p:nvSpPr>
          <p:spPr bwMode="auto">
            <a:xfrm>
              <a:off x="5671170" y="3160059"/>
              <a:ext cx="134471" cy="80682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4" name="Line 18"/>
            <p:cNvSpPr>
              <a:spLocks noChangeShapeType="1"/>
            </p:cNvSpPr>
            <p:nvPr/>
          </p:nvSpPr>
          <p:spPr bwMode="auto">
            <a:xfrm>
              <a:off x="7217582" y="3361765"/>
              <a:ext cx="2420471" cy="53788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5" name="Line 19"/>
            <p:cNvSpPr>
              <a:spLocks noChangeShapeType="1"/>
            </p:cNvSpPr>
            <p:nvPr/>
          </p:nvSpPr>
          <p:spPr bwMode="auto">
            <a:xfrm>
              <a:off x="6141817" y="4235823"/>
              <a:ext cx="806824" cy="20170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6" name="Line 20"/>
            <p:cNvSpPr>
              <a:spLocks noChangeShapeType="1"/>
            </p:cNvSpPr>
            <p:nvPr/>
          </p:nvSpPr>
          <p:spPr bwMode="auto">
            <a:xfrm flipV="1">
              <a:off x="7419288" y="4303059"/>
              <a:ext cx="941294" cy="134471"/>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7" name="Line 21"/>
            <p:cNvSpPr>
              <a:spLocks noChangeShapeType="1"/>
            </p:cNvSpPr>
            <p:nvPr/>
          </p:nvSpPr>
          <p:spPr bwMode="auto">
            <a:xfrm flipV="1">
              <a:off x="8831229" y="4034118"/>
              <a:ext cx="806824" cy="20170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4118" name="Text Box 22"/>
            <p:cNvSpPr txBox="1">
              <a:spLocks noChangeArrowheads="1"/>
            </p:cNvSpPr>
            <p:nvPr/>
          </p:nvSpPr>
          <p:spPr bwMode="auto">
            <a:xfrm>
              <a:off x="6206251" y="4303059"/>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3</a:t>
              </a:r>
            </a:p>
          </p:txBody>
        </p:sp>
        <p:sp>
          <p:nvSpPr>
            <p:cNvPr id="4119" name="Text Box 23"/>
            <p:cNvSpPr txBox="1">
              <a:spLocks noChangeArrowheads="1"/>
            </p:cNvSpPr>
            <p:nvPr/>
          </p:nvSpPr>
          <p:spPr bwMode="auto">
            <a:xfrm>
              <a:off x="7685427" y="4370295"/>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4</a:t>
              </a:r>
            </a:p>
          </p:txBody>
        </p:sp>
        <p:sp>
          <p:nvSpPr>
            <p:cNvPr id="4120" name="Text Box 24"/>
            <p:cNvSpPr txBox="1">
              <a:spLocks noChangeArrowheads="1"/>
            </p:cNvSpPr>
            <p:nvPr/>
          </p:nvSpPr>
          <p:spPr bwMode="auto">
            <a:xfrm>
              <a:off x="9097369" y="4168589"/>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4</a:t>
              </a:r>
            </a:p>
          </p:txBody>
        </p:sp>
        <p:sp>
          <p:nvSpPr>
            <p:cNvPr id="4121" name="Text Box 25"/>
            <p:cNvSpPr txBox="1">
              <a:spLocks noChangeArrowheads="1"/>
            </p:cNvSpPr>
            <p:nvPr/>
          </p:nvSpPr>
          <p:spPr bwMode="auto">
            <a:xfrm>
              <a:off x="6542427" y="3496236"/>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3</a:t>
              </a:r>
            </a:p>
          </p:txBody>
        </p:sp>
        <p:sp>
          <p:nvSpPr>
            <p:cNvPr id="4122" name="Text Box 26"/>
            <p:cNvSpPr txBox="1">
              <a:spLocks noChangeArrowheads="1"/>
            </p:cNvSpPr>
            <p:nvPr/>
          </p:nvSpPr>
          <p:spPr bwMode="auto">
            <a:xfrm>
              <a:off x="8425016" y="2958353"/>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9</a:t>
              </a:r>
            </a:p>
          </p:txBody>
        </p:sp>
        <p:sp>
          <p:nvSpPr>
            <p:cNvPr id="4123" name="Text Box 27"/>
            <p:cNvSpPr txBox="1">
              <a:spLocks noChangeArrowheads="1"/>
            </p:cNvSpPr>
            <p:nvPr/>
          </p:nvSpPr>
          <p:spPr bwMode="auto">
            <a:xfrm>
              <a:off x="6273486" y="2487706"/>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2</a:t>
              </a:r>
            </a:p>
          </p:txBody>
        </p:sp>
        <p:sp>
          <p:nvSpPr>
            <p:cNvPr id="4124" name="Text Box 28"/>
            <p:cNvSpPr txBox="1">
              <a:spLocks noChangeArrowheads="1"/>
            </p:cNvSpPr>
            <p:nvPr/>
          </p:nvSpPr>
          <p:spPr bwMode="auto">
            <a:xfrm>
              <a:off x="5264957" y="3227295"/>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a:t>2</a:t>
              </a:r>
            </a:p>
          </p:txBody>
        </p:sp>
        <p:sp>
          <p:nvSpPr>
            <p:cNvPr id="4125" name="Text Box 29"/>
            <p:cNvSpPr txBox="1">
              <a:spLocks noChangeArrowheads="1"/>
            </p:cNvSpPr>
            <p:nvPr/>
          </p:nvSpPr>
          <p:spPr bwMode="auto">
            <a:xfrm>
              <a:off x="4075732" y="4034118"/>
              <a:ext cx="156164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a:t>start state</a:t>
              </a:r>
            </a:p>
          </p:txBody>
        </p:sp>
        <p:sp>
          <p:nvSpPr>
            <p:cNvPr id="4126" name="Text Box 30"/>
            <p:cNvSpPr txBox="1">
              <a:spLocks noChangeArrowheads="1"/>
            </p:cNvSpPr>
            <p:nvPr/>
          </p:nvSpPr>
          <p:spPr bwMode="auto">
            <a:xfrm>
              <a:off x="10124107" y="3563471"/>
              <a:ext cx="156164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a:t>goal state</a:t>
              </a:r>
            </a:p>
          </p:txBody>
        </p:sp>
      </p:grpSp>
      <p:sp>
        <p:nvSpPr>
          <p:cNvPr id="2" name="Rectangle 1"/>
          <p:cNvSpPr/>
          <p:nvPr/>
        </p:nvSpPr>
        <p:spPr>
          <a:xfrm>
            <a:off x="485732" y="492330"/>
            <a:ext cx="11049775" cy="1631216"/>
          </a:xfrm>
          <a:prstGeom prst="rect">
            <a:avLst/>
          </a:prstGeom>
        </p:spPr>
        <p:txBody>
          <a:bodyPr wrap="square">
            <a:spAutoFit/>
          </a:bodyPr>
          <a:lstStyle/>
          <a:p>
            <a:r>
              <a:rPr lang="en-US" altLang="en-US" sz="2800" b="1" dirty="0">
                <a:solidFill>
                  <a:srgbClr val="006600"/>
                </a:solidFill>
              </a:rPr>
              <a:t>Basic Terms:</a:t>
            </a:r>
          </a:p>
          <a:p>
            <a:pPr marL="457200" indent="-457200">
              <a:buFont typeface="Arial" panose="020B0604020202020204" pitchFamily="34" charset="0"/>
              <a:buChar char="•"/>
            </a:pPr>
            <a:r>
              <a:rPr lang="en-US" altLang="en-US" sz="2400" dirty="0">
                <a:solidFill>
                  <a:srgbClr val="006600"/>
                </a:solidFill>
              </a:rPr>
              <a:t>Cost function</a:t>
            </a:r>
            <a:r>
              <a:rPr lang="en-US" altLang="en-US" sz="2400" dirty="0"/>
              <a:t> that determines the cost of each action or </a:t>
            </a:r>
            <a:r>
              <a:rPr lang="en-US" altLang="en-US" sz="2400" dirty="0">
                <a:solidFill>
                  <a:schemeClr val="tx1">
                    <a:lumMod val="95000"/>
                    <a:lumOff val="5000"/>
                  </a:schemeClr>
                </a:solidFill>
              </a:rPr>
              <a:t>a</a:t>
            </a:r>
            <a:r>
              <a:rPr lang="en-US" altLang="en-US" sz="2400" dirty="0">
                <a:solidFill>
                  <a:srgbClr val="006600"/>
                </a:solidFill>
              </a:rPr>
              <a:t> </a:t>
            </a:r>
            <a:r>
              <a:rPr lang="en-US" altLang="en-US" sz="2400" dirty="0"/>
              <a:t>sequence of actions.</a:t>
            </a:r>
          </a:p>
          <a:p>
            <a:pPr marL="457200" indent="-457200">
              <a:buFont typeface="Arial" panose="020B0604020202020204" pitchFamily="34" charset="0"/>
              <a:buChar char="•"/>
            </a:pPr>
            <a:r>
              <a:rPr lang="en-US" altLang="en-US" sz="2400" dirty="0">
                <a:solidFill>
                  <a:srgbClr val="006600"/>
                </a:solidFill>
              </a:rPr>
              <a:t>Solution</a:t>
            </a:r>
            <a:r>
              <a:rPr lang="en-US" altLang="en-US" sz="2400" dirty="0"/>
              <a:t>: path from initial state to a goal state.</a:t>
            </a:r>
          </a:p>
          <a:p>
            <a:pPr marL="457200" indent="-457200">
              <a:buFont typeface="Arial" panose="020B0604020202020204" pitchFamily="34" charset="0"/>
              <a:buChar char="•"/>
            </a:pPr>
            <a:r>
              <a:rPr lang="en-US" altLang="en-US" sz="2400" dirty="0">
                <a:solidFill>
                  <a:srgbClr val="006600"/>
                </a:solidFill>
              </a:rPr>
              <a:t>Optimal solution</a:t>
            </a:r>
            <a:r>
              <a:rPr lang="en-US" altLang="en-US" sz="2400" dirty="0"/>
              <a:t>: solution with minimal cost.</a:t>
            </a:r>
          </a:p>
        </p:txBody>
      </p:sp>
    </p:spTree>
    <p:extLst>
      <p:ext uri="{BB962C8B-B14F-4D97-AF65-F5344CB8AC3E}">
        <p14:creationId xmlns:p14="http://schemas.microsoft.com/office/powerpoint/2010/main" val="2542402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18540" y="315906"/>
            <a:ext cx="8709772" cy="672353"/>
          </a:xfrm>
        </p:spPr>
        <p:txBody>
          <a:bodyPr>
            <a:normAutofit/>
          </a:bodyPr>
          <a:lstStyle/>
          <a:p>
            <a:pPr eaLnBrk="1" hangingPunct="1"/>
            <a:r>
              <a:rPr lang="en-US" altLang="en-US" sz="3600" dirty="0">
                <a:solidFill>
                  <a:schemeClr val="accent2"/>
                </a:solidFill>
              </a:rPr>
              <a:t>Generic search algorithm</a:t>
            </a:r>
            <a:endParaRPr lang="en-US" altLang="en-US" sz="2400" dirty="0">
              <a:solidFill>
                <a:schemeClr val="accent2"/>
              </a:solidFill>
            </a:endParaRPr>
          </a:p>
        </p:txBody>
      </p:sp>
      <p:sp>
        <p:nvSpPr>
          <p:cNvPr id="145411" name="Rectangle 3"/>
          <p:cNvSpPr>
            <a:spLocks noGrp="1" noChangeArrowheads="1"/>
          </p:cNvSpPr>
          <p:nvPr>
            <p:ph type="body" idx="1"/>
          </p:nvPr>
        </p:nvSpPr>
        <p:spPr>
          <a:xfrm>
            <a:off x="821898" y="1165679"/>
            <a:ext cx="10713492" cy="4598614"/>
          </a:xfrm>
        </p:spPr>
        <p:txBody>
          <a:bodyPr>
            <a:normAutofit/>
          </a:bodyPr>
          <a:lstStyle/>
          <a:p>
            <a:pPr eaLnBrk="1" hangingPunct="1"/>
            <a:r>
              <a:rPr lang="en-US" altLang="en-US" dirty="0">
                <a:solidFill>
                  <a:srgbClr val="006600"/>
                </a:solidFill>
              </a:rPr>
              <a:t>Fringe</a:t>
            </a:r>
            <a:r>
              <a:rPr lang="en-US" altLang="en-US" dirty="0"/>
              <a:t> = set of nodes </a:t>
            </a:r>
            <a:r>
              <a:rPr lang="en-US" altLang="en-US" dirty="0">
                <a:solidFill>
                  <a:srgbClr val="006600"/>
                </a:solidFill>
              </a:rPr>
              <a:t>generated</a:t>
            </a:r>
            <a:r>
              <a:rPr lang="en-US" altLang="en-US" dirty="0"/>
              <a:t> but not </a:t>
            </a:r>
            <a:r>
              <a:rPr lang="en-US" altLang="en-US" dirty="0">
                <a:solidFill>
                  <a:srgbClr val="006600"/>
                </a:solidFill>
              </a:rPr>
              <a:t>expanded</a:t>
            </a:r>
          </a:p>
          <a:p>
            <a:pPr lvl="1" eaLnBrk="1" hangingPunct="1">
              <a:buFont typeface="Arial" panose="020B0604020202020204" pitchFamily="34" charset="0"/>
              <a:buNone/>
            </a:pPr>
            <a:r>
              <a:rPr lang="en-US" altLang="en-US" sz="2200" dirty="0"/>
              <a:t>= nodes we know we still have to explore</a:t>
            </a:r>
          </a:p>
          <a:p>
            <a:pPr eaLnBrk="1" hangingPunct="1"/>
            <a:r>
              <a:rPr lang="en-US" altLang="en-US" i="1" dirty="0"/>
              <a:t>fringe := {node corresponding to initial state}</a:t>
            </a:r>
          </a:p>
          <a:p>
            <a:pPr eaLnBrk="1" hangingPunct="1"/>
            <a:r>
              <a:rPr lang="en-US" altLang="en-US" i="1" dirty="0"/>
              <a:t>loop:</a:t>
            </a:r>
          </a:p>
          <a:p>
            <a:pPr lvl="1" eaLnBrk="1" hangingPunct="1"/>
            <a:r>
              <a:rPr lang="en-US" altLang="en-US" sz="2200" i="1" dirty="0"/>
              <a:t>if fringe empty, declare failure</a:t>
            </a:r>
          </a:p>
          <a:p>
            <a:pPr lvl="1" eaLnBrk="1" hangingPunct="1"/>
            <a:r>
              <a:rPr lang="en-US" altLang="en-US" sz="2200" i="1" dirty="0"/>
              <a:t>choose and remove a node v from fringe</a:t>
            </a:r>
          </a:p>
          <a:p>
            <a:pPr lvl="1" eaLnBrk="1" hangingPunct="1"/>
            <a:r>
              <a:rPr lang="en-US" altLang="en-US" sz="2200" i="1" dirty="0"/>
              <a:t>check if v’s state s is a goal state; if so, declare success</a:t>
            </a:r>
          </a:p>
          <a:p>
            <a:pPr lvl="1" eaLnBrk="1" hangingPunct="1"/>
            <a:r>
              <a:rPr lang="en-US" altLang="en-US" sz="2200" i="1" dirty="0"/>
              <a:t>if not, expand v, insert resulting nodes into fringe</a:t>
            </a:r>
          </a:p>
          <a:p>
            <a:pPr eaLnBrk="1" hangingPunct="1"/>
            <a:r>
              <a:rPr lang="en-US" altLang="en-US" dirty="0"/>
              <a:t>Key question in search: </a:t>
            </a:r>
            <a:r>
              <a:rPr lang="en-US" altLang="en-US" i="1" dirty="0"/>
              <a:t>Which of the generated nodes do we expand next?</a:t>
            </a:r>
          </a:p>
        </p:txBody>
      </p:sp>
    </p:spTree>
    <p:extLst>
      <p:ext uri="{BB962C8B-B14F-4D97-AF65-F5344CB8AC3E}">
        <p14:creationId xmlns:p14="http://schemas.microsoft.com/office/powerpoint/2010/main" val="280950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5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54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54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54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541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5411">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454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4</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76583" y="1635658"/>
            <a:ext cx="8832496" cy="3550491"/>
          </a:xfrm>
        </p:spPr>
        <p:txBody>
          <a:bodyPr>
            <a:normAutofit/>
          </a:bodyPr>
          <a:lstStyle/>
          <a:p>
            <a:pPr defTabSz="914400" eaLnBrk="0" fontAlgn="base" hangingPunct="0">
              <a:lnSpc>
                <a:spcPct val="100000"/>
              </a:lnSpc>
              <a:spcAft>
                <a:spcPct val="0"/>
              </a:spcAft>
            </a:pPr>
            <a:br>
              <a:rPr lang="en-US" altLang="en-US" dirty="0"/>
            </a:br>
            <a:r>
              <a:rPr lang="en-US" altLang="en-US" sz="7301" b="1" dirty="0"/>
              <a:t>Uninformed Search</a:t>
            </a:r>
            <a:br>
              <a:rPr lang="en-US" altLang="en-US" sz="7301" b="1" dirty="0"/>
            </a:br>
            <a:br>
              <a:rPr lang="en-US" altLang="en-US" sz="3600" dirty="0"/>
            </a:br>
            <a:endParaRPr lang="en-US" altLang="en-US" sz="3601" dirty="0"/>
          </a:p>
        </p:txBody>
      </p:sp>
    </p:spTree>
    <p:extLst>
      <p:ext uri="{BB962C8B-B14F-4D97-AF65-F5344CB8AC3E}">
        <p14:creationId xmlns:p14="http://schemas.microsoft.com/office/powerpoint/2010/main" val="2594394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324356" y="356850"/>
            <a:ext cx="8709772" cy="1008529"/>
          </a:xfrm>
        </p:spPr>
        <p:txBody>
          <a:bodyPr/>
          <a:lstStyle/>
          <a:p>
            <a:pPr eaLnBrk="1" hangingPunct="1"/>
            <a:r>
              <a:rPr lang="en-US" altLang="en-US" dirty="0">
                <a:solidFill>
                  <a:schemeClr val="accent2"/>
                </a:solidFill>
              </a:rPr>
              <a:t>Uninformed search</a:t>
            </a:r>
            <a:endParaRPr lang="en-US" altLang="en-US" sz="2912" dirty="0">
              <a:solidFill>
                <a:schemeClr val="accent2"/>
              </a:solidFill>
            </a:endParaRPr>
          </a:p>
        </p:txBody>
      </p:sp>
      <p:sp>
        <p:nvSpPr>
          <p:cNvPr id="14339" name="Rectangle 3"/>
          <p:cNvSpPr>
            <a:spLocks noGrp="1" noChangeArrowheads="1"/>
          </p:cNvSpPr>
          <p:nvPr>
            <p:ph type="body" idx="1"/>
          </p:nvPr>
        </p:nvSpPr>
        <p:spPr>
          <a:xfrm>
            <a:off x="1275329" y="1568089"/>
            <a:ext cx="8969883" cy="4598614"/>
          </a:xfrm>
        </p:spPr>
        <p:txBody>
          <a:bodyPr>
            <a:normAutofit fontScale="92500" lnSpcReduction="10000"/>
          </a:bodyPr>
          <a:lstStyle/>
          <a:p>
            <a:pPr eaLnBrk="1" hangingPunct="1"/>
            <a:r>
              <a:rPr lang="en-US" altLang="en-US" sz="2912" dirty="0"/>
              <a:t>Uninformed search: given a state, we only know whether it is a goal state or not.</a:t>
            </a:r>
          </a:p>
          <a:p>
            <a:pPr eaLnBrk="1" hangingPunct="1"/>
            <a:r>
              <a:rPr lang="en-US" altLang="en-US" sz="2912" dirty="0"/>
              <a:t>Cannot say one non-goal state looks better than another non-goal state.</a:t>
            </a:r>
          </a:p>
          <a:p>
            <a:pPr eaLnBrk="1" hangingPunct="1"/>
            <a:r>
              <a:rPr lang="en-US" altLang="en-US" sz="2912" dirty="0"/>
              <a:t>Can only traverse state space blindly in hope of somehow hitting a goal state at some point.</a:t>
            </a:r>
          </a:p>
          <a:p>
            <a:pPr lvl="1" eaLnBrk="1" hangingPunct="1"/>
            <a:r>
              <a:rPr lang="en-US" altLang="en-US" sz="2382" dirty="0"/>
              <a:t>Also called </a:t>
            </a:r>
            <a:r>
              <a:rPr lang="en-US" altLang="en-US" sz="2382" dirty="0">
                <a:solidFill>
                  <a:srgbClr val="006600"/>
                </a:solidFill>
              </a:rPr>
              <a:t>blind search</a:t>
            </a:r>
          </a:p>
          <a:p>
            <a:pPr marL="0" indent="0">
              <a:buNone/>
            </a:pPr>
            <a:r>
              <a:rPr lang="en-US" altLang="en-US" sz="2782" dirty="0">
                <a:solidFill>
                  <a:srgbClr val="006600"/>
                </a:solidFill>
              </a:rPr>
              <a:t>Examples are:</a:t>
            </a:r>
          </a:p>
          <a:p>
            <a:r>
              <a:rPr lang="en-US" altLang="en-US" sz="2782" dirty="0">
                <a:solidFill>
                  <a:srgbClr val="006600"/>
                </a:solidFill>
              </a:rPr>
              <a:t>Breath-first search (BFS)</a:t>
            </a:r>
          </a:p>
          <a:p>
            <a:r>
              <a:rPr lang="en-US" altLang="en-US" sz="2782" dirty="0">
                <a:solidFill>
                  <a:srgbClr val="006600"/>
                </a:solidFill>
              </a:rPr>
              <a:t>Depth-first search (DFS)</a:t>
            </a:r>
          </a:p>
          <a:p>
            <a:r>
              <a:rPr lang="en-US" altLang="en-US" sz="2782" dirty="0">
                <a:solidFill>
                  <a:srgbClr val="006600"/>
                </a:solidFill>
              </a:rPr>
              <a:t>Uniform cost search (UCS)</a:t>
            </a:r>
          </a:p>
        </p:txBody>
      </p:sp>
    </p:spTree>
    <p:extLst>
      <p:ext uri="{BB962C8B-B14F-4D97-AF65-F5344CB8AC3E}">
        <p14:creationId xmlns:p14="http://schemas.microsoft.com/office/powerpoint/2010/main" val="3824626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4671" y="205725"/>
            <a:ext cx="8709772" cy="1008529"/>
          </a:xfrm>
        </p:spPr>
        <p:txBody>
          <a:bodyPr/>
          <a:lstStyle/>
          <a:p>
            <a:pPr eaLnBrk="1" hangingPunct="1"/>
            <a:r>
              <a:rPr lang="en-US" altLang="en-US" dirty="0">
                <a:solidFill>
                  <a:schemeClr val="accent2"/>
                </a:solidFill>
              </a:rPr>
              <a:t>Breadth-first search</a:t>
            </a:r>
            <a:endParaRPr lang="en-US" altLang="en-US" sz="2912" dirty="0">
              <a:solidFill>
                <a:schemeClr val="accent2"/>
              </a:solidFill>
            </a:endParaRPr>
          </a:p>
        </p:txBody>
      </p:sp>
      <p:sp>
        <p:nvSpPr>
          <p:cNvPr id="148483" name="Rectangle 3"/>
          <p:cNvSpPr>
            <a:spLocks noGrp="1" noChangeArrowheads="1"/>
          </p:cNvSpPr>
          <p:nvPr>
            <p:ph type="body" idx="1"/>
          </p:nvPr>
        </p:nvSpPr>
        <p:spPr>
          <a:xfrm>
            <a:off x="1484671" y="1214254"/>
            <a:ext cx="9517625" cy="5353694"/>
          </a:xfrm>
        </p:spPr>
        <p:txBody>
          <a:bodyPr>
            <a:normAutofit fontScale="92500"/>
          </a:bodyPr>
          <a:lstStyle/>
          <a:p>
            <a:pPr marL="0" indent="0" algn="just">
              <a:buNone/>
            </a:pPr>
            <a:r>
              <a:rPr lang="en-GB" altLang="en-US" sz="2559" dirty="0"/>
              <a:t>Breadth first search (BFS) is a graph search algorithm that begins at the root node and expands all the </a:t>
            </a:r>
            <a:r>
              <a:rPr lang="en-GB" altLang="en-US" sz="2559" dirty="0" err="1"/>
              <a:t>neighboring</a:t>
            </a:r>
            <a:r>
              <a:rPr lang="en-GB" altLang="en-US" sz="2559" dirty="0"/>
              <a:t> nodes. Then for each of those nearest nodes, it expands their unexplored neighbor nodes, and so on, until it finds the goal. The algorithm uses a queue data structure to store intermediate results as it traverses the graph.</a:t>
            </a:r>
          </a:p>
          <a:p>
            <a:pPr marL="0" indent="0">
              <a:buNone/>
            </a:pPr>
            <a:r>
              <a:rPr lang="en-GB" altLang="en-US" sz="2400" b="1" dirty="0"/>
              <a:t>Algorithm:  </a:t>
            </a:r>
          </a:p>
          <a:p>
            <a:pPr marL="0" indent="0">
              <a:buNone/>
            </a:pPr>
            <a:r>
              <a:rPr lang="en-GB" altLang="en-US" sz="2030" dirty="0"/>
              <a:t>1</a:t>
            </a:r>
            <a:r>
              <a:rPr lang="en-GB" altLang="en-US" sz="2200" dirty="0"/>
              <a:t>. Enqueue the root node </a:t>
            </a:r>
          </a:p>
          <a:p>
            <a:pPr marL="0" indent="0">
              <a:buNone/>
            </a:pPr>
            <a:r>
              <a:rPr lang="en-GB" altLang="en-US" sz="2200" dirty="0"/>
              <a:t>2. Dequeue a node and examine it </a:t>
            </a:r>
          </a:p>
          <a:p>
            <a:pPr marL="457200" lvl="1" indent="0">
              <a:buNone/>
            </a:pPr>
            <a:r>
              <a:rPr lang="en-GB" altLang="en-US" sz="2200" dirty="0" err="1"/>
              <a:t>i</a:t>
            </a:r>
            <a:r>
              <a:rPr lang="en-GB" altLang="en-US" sz="2200" dirty="0"/>
              <a:t>) If the element sought is found in this node , quit the search and return a result. </a:t>
            </a:r>
          </a:p>
          <a:p>
            <a:pPr marL="457200" lvl="1" indent="0">
              <a:buNone/>
            </a:pPr>
            <a:r>
              <a:rPr lang="en-GB" altLang="en-US" sz="2200" dirty="0"/>
              <a:t>ii) Otherwise enqueue any  successor(the direct child nodes) that  have not yet been discovered. </a:t>
            </a:r>
          </a:p>
          <a:p>
            <a:pPr marL="0" indent="0">
              <a:buNone/>
            </a:pPr>
            <a:r>
              <a:rPr lang="en-GB" altLang="en-US" sz="2200" dirty="0"/>
              <a:t>3. If the queue is empty, every node on the  graph has been examined- quite the search  and return “not found”. </a:t>
            </a:r>
          </a:p>
          <a:p>
            <a:pPr marL="0" indent="0">
              <a:buNone/>
            </a:pPr>
            <a:r>
              <a:rPr lang="en-GB" altLang="en-US" sz="2200" dirty="0"/>
              <a:t>4. If the queue is not empty, repeat from step 2 </a:t>
            </a:r>
            <a:endParaRPr lang="en-US" altLang="en-US" sz="2200" dirty="0"/>
          </a:p>
        </p:txBody>
      </p:sp>
    </p:spTree>
    <p:extLst>
      <p:ext uri="{BB962C8B-B14F-4D97-AF65-F5344CB8AC3E}">
        <p14:creationId xmlns:p14="http://schemas.microsoft.com/office/powerpoint/2010/main" val="3055639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848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84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848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848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848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8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4671" y="205725"/>
            <a:ext cx="8709772" cy="1008529"/>
          </a:xfrm>
        </p:spPr>
        <p:txBody>
          <a:bodyPr/>
          <a:lstStyle/>
          <a:p>
            <a:pPr eaLnBrk="1" hangingPunct="1"/>
            <a:r>
              <a:rPr lang="en-US" altLang="en-US" dirty="0">
                <a:solidFill>
                  <a:schemeClr val="accent2"/>
                </a:solidFill>
              </a:rPr>
              <a:t>Breadth-first search</a:t>
            </a:r>
            <a:endParaRPr lang="en-US" altLang="en-US" sz="2912" dirty="0">
              <a:solidFill>
                <a:schemeClr val="accent2"/>
              </a:solidFill>
            </a:endParaRPr>
          </a:p>
        </p:txBody>
      </p:sp>
      <p:sp>
        <p:nvSpPr>
          <p:cNvPr id="148483" name="Rectangle 3"/>
          <p:cNvSpPr>
            <a:spLocks noGrp="1" noChangeArrowheads="1"/>
          </p:cNvSpPr>
          <p:nvPr>
            <p:ph type="body" idx="1"/>
          </p:nvPr>
        </p:nvSpPr>
        <p:spPr>
          <a:xfrm>
            <a:off x="1484671" y="1214254"/>
            <a:ext cx="9517625" cy="5353694"/>
          </a:xfrm>
        </p:spPr>
        <p:txBody>
          <a:bodyPr>
            <a:normAutofit/>
          </a:bodyPr>
          <a:lstStyle/>
          <a:p>
            <a:pPr marL="0" indent="0" algn="just">
              <a:buNone/>
            </a:pPr>
            <a:r>
              <a:rPr lang="en-US" altLang="en-US" sz="2200" dirty="0"/>
              <a:t>Example:</a:t>
            </a:r>
          </a:p>
        </p:txBody>
      </p:sp>
      <p:pic>
        <p:nvPicPr>
          <p:cNvPr id="3" name="Picture 2">
            <a:extLst>
              <a:ext uri="{FF2B5EF4-FFF2-40B4-BE49-F238E27FC236}">
                <a16:creationId xmlns:a16="http://schemas.microsoft.com/office/drawing/2014/main" id="{F310E1D2-62AB-6AF2-EE4B-C22EF6B163D2}"/>
              </a:ext>
            </a:extLst>
          </p:cNvPr>
          <p:cNvPicPr>
            <a:picLocks noChangeAspect="1"/>
          </p:cNvPicPr>
          <p:nvPr/>
        </p:nvPicPr>
        <p:blipFill>
          <a:blip r:embed="rId2"/>
          <a:stretch>
            <a:fillRect/>
          </a:stretch>
        </p:blipFill>
        <p:spPr>
          <a:xfrm>
            <a:off x="3147078" y="1932104"/>
            <a:ext cx="4053192" cy="3387147"/>
          </a:xfrm>
          <a:prstGeom prst="rect">
            <a:avLst/>
          </a:prstGeom>
        </p:spPr>
      </p:pic>
    </p:spTree>
    <p:extLst>
      <p:ext uri="{BB962C8B-B14F-4D97-AF65-F5344CB8AC3E}">
        <p14:creationId xmlns:p14="http://schemas.microsoft.com/office/powerpoint/2010/main" val="3056390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692757" y="205725"/>
            <a:ext cx="8709772" cy="1008529"/>
          </a:xfrm>
        </p:spPr>
        <p:txBody>
          <a:bodyPr/>
          <a:lstStyle/>
          <a:p>
            <a:pPr eaLnBrk="1" hangingPunct="1"/>
            <a:r>
              <a:rPr lang="en-US" altLang="en-US" dirty="0">
                <a:solidFill>
                  <a:schemeClr val="accent2"/>
                </a:solidFill>
              </a:rPr>
              <a:t>Properties of breadth-first search</a:t>
            </a:r>
            <a:endParaRPr lang="en-US" altLang="en-US" sz="2912" dirty="0">
              <a:solidFill>
                <a:schemeClr val="accent2"/>
              </a:solidFill>
            </a:endParaRPr>
          </a:p>
        </p:txBody>
      </p:sp>
      <p:sp>
        <p:nvSpPr>
          <p:cNvPr id="148483" name="Rectangle 3"/>
          <p:cNvSpPr>
            <a:spLocks noGrp="1" noChangeArrowheads="1"/>
          </p:cNvSpPr>
          <p:nvPr>
            <p:ph type="body" idx="1"/>
          </p:nvPr>
        </p:nvSpPr>
        <p:spPr>
          <a:xfrm>
            <a:off x="1725706" y="1214254"/>
            <a:ext cx="8807824" cy="4599695"/>
          </a:xfrm>
        </p:spPr>
        <p:txBody>
          <a:bodyPr>
            <a:normAutofit/>
          </a:bodyPr>
          <a:lstStyle/>
          <a:p>
            <a:pPr eaLnBrk="1" hangingPunct="1"/>
            <a:r>
              <a:rPr lang="en-US" altLang="en-US" sz="2200" dirty="0"/>
              <a:t>Nodes are expanded in the same order in which they are generated</a:t>
            </a:r>
          </a:p>
          <a:p>
            <a:pPr lvl="1" eaLnBrk="1" hangingPunct="1"/>
            <a:r>
              <a:rPr lang="en-US" altLang="en-US" sz="2200" dirty="0"/>
              <a:t>Fringe can be maintained as a </a:t>
            </a:r>
            <a:r>
              <a:rPr lang="en-US" altLang="en-US" sz="2200" dirty="0">
                <a:solidFill>
                  <a:srgbClr val="006600"/>
                </a:solidFill>
              </a:rPr>
              <a:t>First-In-First-Out (FIFO) queue</a:t>
            </a:r>
          </a:p>
          <a:p>
            <a:pPr eaLnBrk="1" hangingPunct="1"/>
            <a:r>
              <a:rPr lang="en-US" altLang="en-US" sz="2200" dirty="0"/>
              <a:t>BFS is </a:t>
            </a:r>
            <a:r>
              <a:rPr lang="en-US" altLang="en-US" sz="2200" dirty="0">
                <a:solidFill>
                  <a:srgbClr val="006600"/>
                </a:solidFill>
              </a:rPr>
              <a:t>complete</a:t>
            </a:r>
            <a:r>
              <a:rPr lang="en-US" altLang="en-US" sz="2200" dirty="0"/>
              <a:t>: if a solution exists, one will be found</a:t>
            </a:r>
          </a:p>
          <a:p>
            <a:pPr eaLnBrk="1" hangingPunct="1"/>
            <a:r>
              <a:rPr lang="en-US" altLang="en-US" sz="2200" dirty="0"/>
              <a:t>BFS finds a </a:t>
            </a:r>
            <a:r>
              <a:rPr lang="en-US" altLang="en-US" sz="2200" dirty="0">
                <a:solidFill>
                  <a:srgbClr val="006600"/>
                </a:solidFill>
              </a:rPr>
              <a:t>shallowest</a:t>
            </a:r>
            <a:r>
              <a:rPr lang="en-US" altLang="en-US" sz="2200" dirty="0"/>
              <a:t> solution</a:t>
            </a:r>
          </a:p>
          <a:p>
            <a:pPr lvl="1" eaLnBrk="1" hangingPunct="1"/>
            <a:r>
              <a:rPr lang="en-US" altLang="en-US" sz="2200" dirty="0"/>
              <a:t>Not necessarily an optimal solution</a:t>
            </a:r>
          </a:p>
          <a:p>
            <a:r>
              <a:rPr lang="en-US" altLang="en-US" sz="2200" dirty="0"/>
              <a:t>If every node has b successors (the </a:t>
            </a:r>
            <a:r>
              <a:rPr lang="en-US" altLang="en-US" sz="2200" dirty="0">
                <a:solidFill>
                  <a:srgbClr val="006600"/>
                </a:solidFill>
              </a:rPr>
              <a:t>branching factor</a:t>
            </a:r>
            <a:r>
              <a:rPr lang="en-US" altLang="en-US" sz="2200" dirty="0"/>
              <a:t>), first solution is at depth d, then fringe size will be at least b</a:t>
            </a:r>
            <a:r>
              <a:rPr lang="en-US" altLang="en-US" sz="2200" baseline="30000" dirty="0"/>
              <a:t>d</a:t>
            </a:r>
            <a:r>
              <a:rPr lang="en-US" altLang="en-US" sz="2200" dirty="0"/>
              <a:t> at some point. So, space complexity of BFS is O(</a:t>
            </a:r>
            <a:r>
              <a:rPr lang="en-GB" altLang="en-US" sz="2200" dirty="0"/>
              <a:t>b</a:t>
            </a:r>
            <a:r>
              <a:rPr lang="en-GB" altLang="en-US" sz="2200" baseline="30000" dirty="0"/>
              <a:t>d</a:t>
            </a:r>
            <a:r>
              <a:rPr lang="en-GB" altLang="en-US" sz="2200" dirty="0"/>
              <a:t>)</a:t>
            </a:r>
            <a:endParaRPr lang="en-US" altLang="en-US" sz="2200" dirty="0"/>
          </a:p>
          <a:p>
            <a:r>
              <a:rPr lang="en-US" sz="2200" dirty="0"/>
              <a:t>At </a:t>
            </a:r>
            <a:r>
              <a:rPr lang="en-US" sz="2200" i="1" dirty="0">
                <a:solidFill>
                  <a:srgbClr val="002060"/>
                </a:solidFill>
              </a:rPr>
              <a:t>depth</a:t>
            </a:r>
            <a:r>
              <a:rPr lang="en-GB" altLang="en-US" sz="2200" i="1" dirty="0">
                <a:solidFill>
                  <a:srgbClr val="002060"/>
                </a:solidFill>
              </a:rPr>
              <a:t> 0 (root) -&gt;1 node</a:t>
            </a:r>
            <a:r>
              <a:rPr lang="en-GB" altLang="en-US" sz="2200" i="1" dirty="0"/>
              <a:t>;</a:t>
            </a:r>
            <a:r>
              <a:rPr lang="en-GB" altLang="en-US" sz="2200" dirty="0"/>
              <a:t> </a:t>
            </a:r>
            <a:r>
              <a:rPr lang="en-US" sz="2200" i="1" dirty="0">
                <a:solidFill>
                  <a:srgbClr val="002060"/>
                </a:solidFill>
              </a:rPr>
              <a:t>depth</a:t>
            </a:r>
            <a:r>
              <a:rPr lang="en-GB" altLang="en-US" sz="2200" i="1" dirty="0">
                <a:solidFill>
                  <a:srgbClr val="002060"/>
                </a:solidFill>
              </a:rPr>
              <a:t> 1-&gt; up to b nodes; </a:t>
            </a:r>
            <a:r>
              <a:rPr lang="en-US" sz="2200" i="1" dirty="0">
                <a:solidFill>
                  <a:srgbClr val="002060"/>
                </a:solidFill>
              </a:rPr>
              <a:t>depth</a:t>
            </a:r>
            <a:r>
              <a:rPr lang="en-GB" altLang="en-US" sz="2200" i="1" dirty="0">
                <a:solidFill>
                  <a:srgbClr val="002060"/>
                </a:solidFill>
              </a:rPr>
              <a:t> 2 -&gt; up to b^2 nodes;...</a:t>
            </a:r>
            <a:r>
              <a:rPr lang="en-US" sz="2200" i="1" dirty="0">
                <a:solidFill>
                  <a:srgbClr val="002060"/>
                </a:solidFill>
              </a:rPr>
              <a:t> depth</a:t>
            </a:r>
            <a:r>
              <a:rPr lang="en-GB" altLang="en-US" sz="2200" i="1" dirty="0">
                <a:solidFill>
                  <a:srgbClr val="002060"/>
                </a:solidFill>
              </a:rPr>
              <a:t> d -&gt; up to b</a:t>
            </a:r>
            <a:r>
              <a:rPr lang="en-GB" altLang="en-US" sz="2200" i="1" baseline="30000" dirty="0">
                <a:solidFill>
                  <a:srgbClr val="002060"/>
                </a:solidFill>
              </a:rPr>
              <a:t>d</a:t>
            </a:r>
            <a:r>
              <a:rPr lang="en-GB" altLang="en-US" sz="2200" i="1" dirty="0">
                <a:solidFill>
                  <a:srgbClr val="002060"/>
                </a:solidFill>
              </a:rPr>
              <a:t> nodes</a:t>
            </a:r>
            <a:r>
              <a:rPr lang="en-GB" altLang="en-US" sz="2200" dirty="0"/>
              <a:t>. </a:t>
            </a:r>
            <a:r>
              <a:rPr lang="en-GB" altLang="en-US" sz="2200" b="1" dirty="0"/>
              <a:t>T</a:t>
            </a:r>
            <a:r>
              <a:rPr lang="en-GB" sz="2200" b="1" dirty="0"/>
              <a:t>otal number of nodes generated</a:t>
            </a:r>
            <a:r>
              <a:rPr lang="en-GB" sz="2200" dirty="0"/>
              <a:t> is: 1+b+b</a:t>
            </a:r>
            <a:r>
              <a:rPr lang="en-GB" sz="2200" baseline="30000" dirty="0"/>
              <a:t>2</a:t>
            </a:r>
            <a:r>
              <a:rPr lang="en-GB" sz="2200" dirty="0"/>
              <a:t>+⋯+b</a:t>
            </a:r>
            <a:r>
              <a:rPr lang="en-GB" sz="2200" baseline="30000" dirty="0"/>
              <a:t>d</a:t>
            </a:r>
            <a:r>
              <a:rPr lang="en-GB" sz="2200" dirty="0"/>
              <a:t>. So, time complexity of BFS is </a:t>
            </a:r>
            <a:r>
              <a:rPr lang="en-US" sz="2200" dirty="0"/>
              <a:t>O(b</a:t>
            </a:r>
            <a:r>
              <a:rPr lang="en-US" sz="2200" baseline="30000" dirty="0"/>
              <a:t>d</a:t>
            </a:r>
            <a:r>
              <a:rPr lang="en-US" sz="2200" dirty="0"/>
              <a:t>)</a:t>
            </a:r>
          </a:p>
        </p:txBody>
      </p:sp>
    </p:spTree>
    <p:extLst>
      <p:ext uri="{BB962C8B-B14F-4D97-AF65-F5344CB8AC3E}">
        <p14:creationId xmlns:p14="http://schemas.microsoft.com/office/powerpoint/2010/main" val="1499535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84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848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8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84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4671" y="205725"/>
            <a:ext cx="8709772" cy="1008529"/>
          </a:xfrm>
        </p:spPr>
        <p:txBody>
          <a:bodyPr/>
          <a:lstStyle/>
          <a:p>
            <a:pPr eaLnBrk="1" hangingPunct="1"/>
            <a:r>
              <a:rPr lang="en-US" altLang="en-US" dirty="0">
                <a:solidFill>
                  <a:schemeClr val="accent2"/>
                </a:solidFill>
              </a:rPr>
              <a:t>Depth-first search</a:t>
            </a:r>
            <a:endParaRPr lang="en-US" altLang="en-US" sz="2912" dirty="0">
              <a:solidFill>
                <a:schemeClr val="accent2"/>
              </a:solidFill>
            </a:endParaRPr>
          </a:p>
        </p:txBody>
      </p:sp>
      <p:sp>
        <p:nvSpPr>
          <p:cNvPr id="148483" name="Rectangle 3"/>
          <p:cNvSpPr>
            <a:spLocks noGrp="1" noChangeArrowheads="1"/>
          </p:cNvSpPr>
          <p:nvPr>
            <p:ph type="body" idx="1"/>
          </p:nvPr>
        </p:nvSpPr>
        <p:spPr>
          <a:xfrm>
            <a:off x="1484671" y="1214254"/>
            <a:ext cx="9517625" cy="5353694"/>
          </a:xfrm>
        </p:spPr>
        <p:txBody>
          <a:bodyPr>
            <a:normAutofit/>
          </a:bodyPr>
          <a:lstStyle/>
          <a:p>
            <a:pPr marL="0" indent="0" algn="just">
              <a:buNone/>
            </a:pPr>
            <a:r>
              <a:rPr lang="en-GB" altLang="en-US" sz="2559" dirty="0"/>
              <a:t>Depth-First Search (DFS) is a graph search algorithm that starts at the root node and explores as far as possible along each branch before backtracking. The algorithm uses a stack (either explicitly or via recursion) to keep track of nodes to visit next.</a:t>
            </a:r>
          </a:p>
          <a:p>
            <a:pPr marL="0" indent="0" algn="just">
              <a:buNone/>
            </a:pPr>
            <a:r>
              <a:rPr lang="en-GB" altLang="en-US" sz="2400" b="1" dirty="0"/>
              <a:t>Algorithm:  </a:t>
            </a:r>
          </a:p>
          <a:p>
            <a:pPr marL="0" indent="0">
              <a:buNone/>
            </a:pPr>
            <a:r>
              <a:rPr lang="en-GB" altLang="en-US" sz="2030" dirty="0"/>
              <a:t>1</a:t>
            </a:r>
            <a:r>
              <a:rPr lang="en-GB" altLang="en-US" sz="2200" dirty="0"/>
              <a:t>. Push the root node onto the stack.</a:t>
            </a:r>
          </a:p>
          <a:p>
            <a:pPr marL="0" indent="0">
              <a:buNone/>
            </a:pPr>
            <a:r>
              <a:rPr lang="en-GB" altLang="en-US" sz="2200" dirty="0"/>
              <a:t>2. Pop a node and examine it:</a:t>
            </a:r>
          </a:p>
          <a:p>
            <a:pPr marL="457200" lvl="1" indent="0">
              <a:buNone/>
            </a:pPr>
            <a:r>
              <a:rPr lang="en-GB" altLang="en-US" sz="2200" dirty="0" err="1"/>
              <a:t>i</a:t>
            </a:r>
            <a:r>
              <a:rPr lang="en-GB" altLang="en-US" sz="2200" dirty="0"/>
              <a:t>) If the target is found, return the result.</a:t>
            </a:r>
          </a:p>
          <a:p>
            <a:pPr marL="457200" lvl="1" indent="0">
              <a:buNone/>
            </a:pPr>
            <a:r>
              <a:rPr lang="en-GB" altLang="en-US" sz="2200" dirty="0"/>
              <a:t>ii) Else, push any unvisited </a:t>
            </a:r>
            <a:r>
              <a:rPr lang="en-GB" altLang="en-US" sz="2200" dirty="0" err="1"/>
              <a:t>neighboring</a:t>
            </a:r>
            <a:r>
              <a:rPr lang="en-GB" altLang="en-US" sz="2200" dirty="0"/>
              <a:t> nodes onto the stack.</a:t>
            </a:r>
          </a:p>
          <a:p>
            <a:pPr marL="0" indent="0">
              <a:buNone/>
            </a:pPr>
            <a:r>
              <a:rPr lang="en-GB" altLang="en-US" sz="2200" dirty="0"/>
              <a:t>3. If the stack is empty, every node has been examined—return "not found.“</a:t>
            </a:r>
          </a:p>
          <a:p>
            <a:pPr marL="0" indent="0">
              <a:buNone/>
            </a:pPr>
            <a:r>
              <a:rPr lang="en-GB" altLang="en-US" sz="2200" dirty="0"/>
              <a:t>4. If the stack is not empty, repeat from Step 2.</a:t>
            </a:r>
            <a:endParaRPr lang="en-US" altLang="en-US" sz="2200" dirty="0"/>
          </a:p>
        </p:txBody>
      </p:sp>
    </p:spTree>
    <p:extLst>
      <p:ext uri="{BB962C8B-B14F-4D97-AF65-F5344CB8AC3E}">
        <p14:creationId xmlns:p14="http://schemas.microsoft.com/office/powerpoint/2010/main" val="349048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8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8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8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8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484671" y="205725"/>
            <a:ext cx="8709772" cy="1008529"/>
          </a:xfrm>
        </p:spPr>
        <p:txBody>
          <a:bodyPr/>
          <a:lstStyle/>
          <a:p>
            <a:pPr eaLnBrk="1" hangingPunct="1"/>
            <a:r>
              <a:rPr lang="en-US" altLang="en-US" dirty="0">
                <a:solidFill>
                  <a:schemeClr val="accent2"/>
                </a:solidFill>
              </a:rPr>
              <a:t>Depth-first search</a:t>
            </a:r>
            <a:endParaRPr lang="en-US" altLang="en-US" sz="2912" dirty="0">
              <a:solidFill>
                <a:schemeClr val="accent2"/>
              </a:solidFill>
            </a:endParaRPr>
          </a:p>
        </p:txBody>
      </p:sp>
      <p:sp>
        <p:nvSpPr>
          <p:cNvPr id="148483" name="Rectangle 3"/>
          <p:cNvSpPr>
            <a:spLocks noGrp="1" noChangeArrowheads="1"/>
          </p:cNvSpPr>
          <p:nvPr>
            <p:ph type="body" idx="1"/>
          </p:nvPr>
        </p:nvSpPr>
        <p:spPr>
          <a:xfrm>
            <a:off x="1484671" y="1214254"/>
            <a:ext cx="9517625" cy="5353694"/>
          </a:xfrm>
        </p:spPr>
        <p:txBody>
          <a:bodyPr>
            <a:normAutofit/>
          </a:bodyPr>
          <a:lstStyle/>
          <a:p>
            <a:pPr marL="0" indent="0" algn="just">
              <a:buNone/>
            </a:pPr>
            <a:r>
              <a:rPr lang="en-GB" altLang="en-US" sz="2559" dirty="0"/>
              <a:t>Example:</a:t>
            </a:r>
            <a:endParaRPr lang="en-US" altLang="en-US" sz="2200" dirty="0"/>
          </a:p>
        </p:txBody>
      </p:sp>
      <p:pic>
        <p:nvPicPr>
          <p:cNvPr id="3" name="Picture 2">
            <a:extLst>
              <a:ext uri="{FF2B5EF4-FFF2-40B4-BE49-F238E27FC236}">
                <a16:creationId xmlns:a16="http://schemas.microsoft.com/office/drawing/2014/main" id="{CE2E9EBA-C8F6-AF86-87C0-881D2B6EDAE0}"/>
              </a:ext>
            </a:extLst>
          </p:cNvPr>
          <p:cNvPicPr>
            <a:picLocks noChangeAspect="1"/>
          </p:cNvPicPr>
          <p:nvPr/>
        </p:nvPicPr>
        <p:blipFill>
          <a:blip r:embed="rId2"/>
          <a:stretch>
            <a:fillRect/>
          </a:stretch>
        </p:blipFill>
        <p:spPr>
          <a:xfrm>
            <a:off x="3556000" y="1581594"/>
            <a:ext cx="3969183" cy="3494342"/>
          </a:xfrm>
          <a:prstGeom prst="rect">
            <a:avLst/>
          </a:prstGeom>
        </p:spPr>
      </p:pic>
    </p:spTree>
    <p:extLst>
      <p:ext uri="{BB962C8B-B14F-4D97-AF65-F5344CB8AC3E}">
        <p14:creationId xmlns:p14="http://schemas.microsoft.com/office/powerpoint/2010/main" val="24280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823758" y="178425"/>
            <a:ext cx="8709772" cy="1008529"/>
          </a:xfrm>
        </p:spPr>
        <p:txBody>
          <a:bodyPr/>
          <a:lstStyle/>
          <a:p>
            <a:pPr eaLnBrk="1" hangingPunct="1"/>
            <a:r>
              <a:rPr lang="en-US" altLang="en-US" dirty="0">
                <a:solidFill>
                  <a:schemeClr val="accent2"/>
                </a:solidFill>
              </a:rPr>
              <a:t>Properties of depth-first search</a:t>
            </a:r>
            <a:endParaRPr lang="en-US" altLang="en-US" sz="2912" dirty="0">
              <a:solidFill>
                <a:schemeClr val="accent2"/>
              </a:solidFill>
            </a:endParaRPr>
          </a:p>
        </p:txBody>
      </p:sp>
      <p:sp>
        <p:nvSpPr>
          <p:cNvPr id="151555" name="Rectangle 3"/>
          <p:cNvSpPr>
            <a:spLocks noGrp="1" noChangeArrowheads="1"/>
          </p:cNvSpPr>
          <p:nvPr>
            <p:ph type="body" idx="1"/>
          </p:nvPr>
        </p:nvSpPr>
        <p:spPr>
          <a:xfrm>
            <a:off x="1823758" y="1186954"/>
            <a:ext cx="9250642" cy="5200474"/>
          </a:xfrm>
        </p:spPr>
        <p:txBody>
          <a:bodyPr>
            <a:noAutofit/>
          </a:bodyPr>
          <a:lstStyle/>
          <a:p>
            <a:r>
              <a:rPr lang="en-US" altLang="en-US" sz="2400" dirty="0"/>
              <a:t>Not complete (might cycle through non-goal states)</a:t>
            </a:r>
          </a:p>
          <a:p>
            <a:pPr eaLnBrk="1" hangingPunct="1"/>
            <a:r>
              <a:rPr lang="en-US" altLang="en-US" sz="2400" dirty="0"/>
              <a:t>Fringe can be maintained as a </a:t>
            </a:r>
            <a:r>
              <a:rPr lang="en-US" altLang="en-US" sz="2400" dirty="0">
                <a:solidFill>
                  <a:srgbClr val="006600"/>
                </a:solidFill>
              </a:rPr>
              <a:t>Last-In-First-Out (LIFO)</a:t>
            </a:r>
            <a:r>
              <a:rPr lang="en-US" altLang="en-US" sz="2400" dirty="0"/>
              <a:t> queue (aka. a </a:t>
            </a:r>
            <a:r>
              <a:rPr lang="en-US" altLang="en-US" sz="2400" dirty="0">
                <a:solidFill>
                  <a:srgbClr val="006600"/>
                </a:solidFill>
              </a:rPr>
              <a:t>stack</a:t>
            </a:r>
            <a:r>
              <a:rPr lang="en-US" altLang="en-US" sz="2400" dirty="0"/>
              <a:t>)</a:t>
            </a:r>
          </a:p>
          <a:p>
            <a:pPr eaLnBrk="1" hangingPunct="1"/>
            <a:r>
              <a:rPr lang="en-US" altLang="en-US" sz="2400" dirty="0"/>
              <a:t>If solution found, generally not optimal/shallowest</a:t>
            </a:r>
          </a:p>
          <a:p>
            <a:pPr lvl="1"/>
            <a:r>
              <a:rPr lang="en-GB" altLang="en-US" sz="1800" dirty="0"/>
              <a:t>DFS returns the first solution it encounters, which may be deep in the tree.</a:t>
            </a:r>
            <a:endParaRPr lang="en-US" altLang="en-US" sz="1800" dirty="0"/>
          </a:p>
          <a:p>
            <a:r>
              <a:rPr lang="en-US" altLang="en-US" sz="2400" dirty="0"/>
              <a:t>If every node has b successors (the </a:t>
            </a:r>
            <a:r>
              <a:rPr lang="en-US" altLang="en-US" sz="2400" dirty="0">
                <a:solidFill>
                  <a:srgbClr val="006600"/>
                </a:solidFill>
              </a:rPr>
              <a:t>branching factor</a:t>
            </a:r>
            <a:r>
              <a:rPr lang="en-US" altLang="en-US" sz="2400" dirty="0"/>
              <a:t>), and we search to at most depth m, fringe is at most bm (</a:t>
            </a:r>
            <a:r>
              <a:rPr lang="en-GB" altLang="en-US" sz="2400" dirty="0"/>
              <a:t>For depth m, the worst case is storing b nodes for each of the m levels</a:t>
            </a:r>
            <a:r>
              <a:rPr lang="en-US" altLang="en-US" sz="2400" dirty="0"/>
              <a:t> ). So, Space complexity of DFS is O(</a:t>
            </a:r>
            <a:r>
              <a:rPr lang="en-US" altLang="en-US" sz="2400" dirty="0" err="1"/>
              <a:t>b.m</a:t>
            </a:r>
            <a:r>
              <a:rPr lang="en-US" altLang="en-US" sz="2400" dirty="0"/>
              <a:t>)</a:t>
            </a:r>
          </a:p>
          <a:p>
            <a:pPr lvl="1" eaLnBrk="1" hangingPunct="1"/>
            <a:r>
              <a:rPr lang="en-US" altLang="en-US" sz="2000" dirty="0"/>
              <a:t>Much better space requirement </a:t>
            </a:r>
            <a:r>
              <a:rPr lang="en-US" altLang="en-US" sz="2000" dirty="0">
                <a:sym typeface="Wingdings" panose="05000000000000000000" pitchFamily="2" charset="2"/>
              </a:rPr>
              <a:t></a:t>
            </a:r>
          </a:p>
          <a:p>
            <a:pPr lvl="1" eaLnBrk="1" hangingPunct="1"/>
            <a:r>
              <a:rPr lang="en-US" altLang="en-US" sz="2000" dirty="0">
                <a:sym typeface="Wingdings" panose="05000000000000000000" pitchFamily="2" charset="2"/>
              </a:rPr>
              <a:t>Actually, generally don’t even need to store all of fringe</a:t>
            </a:r>
          </a:p>
          <a:p>
            <a:r>
              <a:rPr lang="en-US" altLang="en-US" sz="2400" dirty="0"/>
              <a:t>Time: </a:t>
            </a:r>
            <a:r>
              <a:rPr lang="en-GB" altLang="en-US" sz="2400" dirty="0"/>
              <a:t>DFS explores all possible paths, leading to O(b</a:t>
            </a:r>
            <a:r>
              <a:rPr lang="en-GB" altLang="en-US" sz="2400" baseline="30000" dirty="0"/>
              <a:t>m</a:t>
            </a:r>
            <a:r>
              <a:rPr lang="en-GB" altLang="en-US" sz="2400" dirty="0"/>
              <a:t>) time</a:t>
            </a:r>
            <a:endParaRPr lang="en-US" altLang="en-US" sz="2400" dirty="0"/>
          </a:p>
          <a:p>
            <a:pPr lvl="1" eaLnBrk="1" hangingPunct="1"/>
            <a:r>
              <a:rPr lang="en-US" altLang="en-US" sz="2000" dirty="0"/>
              <a:t>b</a:t>
            </a:r>
            <a:r>
              <a:rPr lang="en-US" altLang="en-US" sz="2000" baseline="30000" dirty="0"/>
              <a:t>m</a:t>
            </a:r>
            <a:r>
              <a:rPr lang="en-US" altLang="en-US" sz="2000" dirty="0"/>
              <a:t> + b</a:t>
            </a:r>
            <a:r>
              <a:rPr lang="en-US" altLang="en-US" sz="2000" baseline="30000" dirty="0"/>
              <a:t>m-1</a:t>
            </a:r>
            <a:r>
              <a:rPr lang="en-US" altLang="en-US" sz="2000" dirty="0"/>
              <a:t> + … + 1 (for b&gt;1, O(b</a:t>
            </a:r>
            <a:r>
              <a:rPr lang="en-US" altLang="en-US" sz="2000" baseline="30000" dirty="0"/>
              <a:t>m</a:t>
            </a:r>
            <a:r>
              <a:rPr lang="en-US" altLang="en-US" sz="2000" dirty="0"/>
              <a:t>))</a:t>
            </a:r>
          </a:p>
        </p:txBody>
      </p:sp>
      <p:sp>
        <p:nvSpPr>
          <p:cNvPr id="2" name="Rectangle 1">
            <a:extLst>
              <a:ext uri="{FF2B5EF4-FFF2-40B4-BE49-F238E27FC236}">
                <a16:creationId xmlns:a16="http://schemas.microsoft.com/office/drawing/2014/main" id="{91A5B098-7DEC-FA2E-E6A8-0776E414714E}"/>
              </a:ext>
            </a:extLst>
          </p:cNvPr>
          <p:cNvSpPr>
            <a:spLocks noChangeArrowheads="1"/>
          </p:cNvSpPr>
          <p:nvPr/>
        </p:nvSpPr>
        <p:spPr bwMode="auto">
          <a:xfrm>
            <a:off x="0" y="0"/>
            <a:ext cx="12192000" cy="0"/>
          </a:xfrm>
          <a:prstGeom prst="rect">
            <a:avLst/>
          </a:prstGeom>
          <a:solidFill>
            <a:srgbClr val="42424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8FAFF"/>
                </a:solidFill>
                <a:effectLst/>
                <a:latin typeface="quote-cjk-patch"/>
              </a:rPr>
              <a:t>For depth </a:t>
            </a:r>
            <a:r>
              <a:rPr kumimoji="0" lang="en-US" altLang="en-US" b="0" i="0" u="none" strike="noStrike" cap="none" normalizeH="0" baseline="0">
                <a:ln>
                  <a:noFill/>
                </a:ln>
                <a:solidFill>
                  <a:srgbClr val="F8FAFF"/>
                </a:solidFill>
                <a:effectLst/>
                <a:latin typeface="Menlo"/>
              </a:rPr>
              <a:t>m</a:t>
            </a:r>
            <a:r>
              <a:rPr kumimoji="0" lang="en-US" altLang="en-US" sz="1200" b="0" i="0" u="none" strike="noStrike" cap="none" normalizeH="0" baseline="0">
                <a:ln>
                  <a:noFill/>
                </a:ln>
                <a:solidFill>
                  <a:srgbClr val="F8FAFF"/>
                </a:solidFill>
                <a:effectLst/>
                <a:latin typeface="quote-cjk-patch"/>
              </a:rPr>
              <a:t>, the worst case is storing </a:t>
            </a:r>
            <a:r>
              <a:rPr kumimoji="0" lang="en-US" altLang="en-US" b="0" i="0" u="none" strike="noStrike" cap="none" normalizeH="0" baseline="0">
                <a:ln>
                  <a:noFill/>
                </a:ln>
                <a:solidFill>
                  <a:srgbClr val="F8FAFF"/>
                </a:solidFill>
                <a:effectLst/>
                <a:latin typeface="Menlo"/>
              </a:rPr>
              <a:t>b</a:t>
            </a:r>
            <a:r>
              <a:rPr kumimoji="0" lang="en-US" altLang="en-US" sz="1200" b="1" i="0" u="none" strike="noStrike" cap="none" normalizeH="0" baseline="0">
                <a:ln>
                  <a:noFill/>
                </a:ln>
                <a:solidFill>
                  <a:srgbClr val="F8FAFF"/>
                </a:solidFill>
                <a:effectLst/>
                <a:latin typeface="quote-cjk-patch"/>
              </a:rPr>
              <a:t> nodes for each of the </a:t>
            </a:r>
            <a:r>
              <a:rPr kumimoji="0" lang="en-US" altLang="en-US" b="0" i="0" u="none" strike="noStrike" cap="none" normalizeH="0" baseline="0">
                <a:ln>
                  <a:noFill/>
                </a:ln>
                <a:solidFill>
                  <a:srgbClr val="F8FAFF"/>
                </a:solidFill>
                <a:effectLst/>
                <a:latin typeface="Menlo"/>
              </a:rPr>
              <a:t>m</a:t>
            </a:r>
            <a:r>
              <a:rPr kumimoji="0" lang="en-US" altLang="en-US" sz="1200" b="1" i="0" u="none" strike="noStrike" cap="none" normalizeH="0" baseline="0">
                <a:ln>
                  <a:noFill/>
                </a:ln>
                <a:solidFill>
                  <a:srgbClr val="F8FAFF"/>
                </a:solidFill>
                <a:effectLst/>
                <a:latin typeface="quote-cjk-patch"/>
              </a:rPr>
              <a:t> levels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3" name="Group 32">
            <a:extLst>
              <a:ext uri="{FF2B5EF4-FFF2-40B4-BE49-F238E27FC236}">
                <a16:creationId xmlns:a16="http://schemas.microsoft.com/office/drawing/2014/main" id="{848158FA-4B10-8DE6-7EB8-A8002787B023}"/>
              </a:ext>
            </a:extLst>
          </p:cNvPr>
          <p:cNvGrpSpPr/>
          <p:nvPr/>
        </p:nvGrpSpPr>
        <p:grpSpPr>
          <a:xfrm>
            <a:off x="10919320" y="6151020"/>
            <a:ext cx="1024639" cy="584775"/>
            <a:chOff x="10106520" y="1639980"/>
            <a:chExt cx="1024639" cy="584775"/>
          </a:xfrm>
        </p:grpSpPr>
        <p:sp>
          <p:nvSpPr>
            <p:cNvPr id="4" name="Rectangle 3">
              <a:extLst>
                <a:ext uri="{FF2B5EF4-FFF2-40B4-BE49-F238E27FC236}">
                  <a16:creationId xmlns:a16="http://schemas.microsoft.com/office/drawing/2014/main" id="{B3AA7932-6437-B1AE-C42A-2CFF338249D8}"/>
                </a:ext>
              </a:extLst>
            </p:cNvPr>
            <p:cNvSpPr/>
            <p:nvPr/>
          </p:nvSpPr>
          <p:spPr>
            <a:xfrm>
              <a:off x="10106520" y="1639980"/>
              <a:ext cx="1024639" cy="584775"/>
            </a:xfrm>
            <a:prstGeom prst="rect">
              <a:avLst/>
            </a:prstGeom>
            <a:noFill/>
          </p:spPr>
          <p:txBody>
            <a:bodyPr wrap="none" lIns="91440" tIns="45720" rIns="91440" bIns="45720">
              <a:spAutoFit/>
            </a:bodyPr>
            <a:lstStyle/>
            <a:p>
              <a:pPr algn="ctr"/>
              <a:r>
                <a:rPr lang="en-US" sz="1600" dirty="0">
                  <a:ln w="0"/>
                </a:rPr>
                <a:t>a      </a:t>
              </a:r>
              <a:r>
                <a:rPr lang="en-US" sz="1600" b="0" cap="none" spc="0" dirty="0">
                  <a:ln w="0"/>
                  <a:solidFill>
                    <a:schemeClr val="tx1"/>
                  </a:solidFill>
                </a:rPr>
                <a:t>b      d</a:t>
              </a:r>
            </a:p>
            <a:p>
              <a:pPr algn="ctr"/>
              <a:r>
                <a:rPr lang="en-US" sz="1600" dirty="0">
                  <a:ln w="0"/>
                </a:rPr>
                <a:t>Goal = d</a:t>
              </a:r>
              <a:endParaRPr lang="en-US" sz="1600" b="0" cap="none" spc="0" dirty="0">
                <a:ln w="0"/>
                <a:solidFill>
                  <a:schemeClr val="tx1"/>
                </a:solidFill>
              </a:endParaRPr>
            </a:p>
          </p:txBody>
        </p:sp>
        <p:cxnSp>
          <p:nvCxnSpPr>
            <p:cNvPr id="6" name="Straight Arrow Connector 5">
              <a:extLst>
                <a:ext uri="{FF2B5EF4-FFF2-40B4-BE49-F238E27FC236}">
                  <a16:creationId xmlns:a16="http://schemas.microsoft.com/office/drawing/2014/main" id="{AC139676-BF74-AECD-F779-C8651B6CE236}"/>
                </a:ext>
              </a:extLst>
            </p:cNvPr>
            <p:cNvCxnSpPr>
              <a:cxnSpLocks/>
            </p:cNvCxnSpPr>
            <p:nvPr/>
          </p:nvCxnSpPr>
          <p:spPr>
            <a:xfrm>
              <a:off x="10338816" y="1834831"/>
              <a:ext cx="1947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DD8F792-4E03-0CC8-5459-9878F3856ABC}"/>
                </a:ext>
              </a:extLst>
            </p:cNvPr>
            <p:cNvCxnSpPr>
              <a:cxnSpLocks/>
            </p:cNvCxnSpPr>
            <p:nvPr/>
          </p:nvCxnSpPr>
          <p:spPr>
            <a:xfrm>
              <a:off x="10704576" y="1834831"/>
              <a:ext cx="1947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Connector: Curved 26">
              <a:extLst>
                <a:ext uri="{FF2B5EF4-FFF2-40B4-BE49-F238E27FC236}">
                  <a16:creationId xmlns:a16="http://schemas.microsoft.com/office/drawing/2014/main" id="{0A1E477F-223B-6CE0-D93A-D074E5A5C9B2}"/>
                </a:ext>
              </a:extLst>
            </p:cNvPr>
            <p:cNvCxnSpPr>
              <a:cxnSpLocks/>
            </p:cNvCxnSpPr>
            <p:nvPr/>
          </p:nvCxnSpPr>
          <p:spPr>
            <a:xfrm rot="16200000" flipH="1" flipV="1">
              <a:off x="10299074" y="1624858"/>
              <a:ext cx="97380" cy="334888"/>
            </a:xfrm>
            <a:prstGeom prst="curvedConnector4">
              <a:avLst>
                <a:gd name="adj1" fmla="val -134590"/>
                <a:gd name="adj2" fmla="val 117334"/>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28010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55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1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5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155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155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1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823758" y="30310"/>
            <a:ext cx="8709772" cy="1008529"/>
          </a:xfrm>
        </p:spPr>
        <p:txBody>
          <a:bodyPr/>
          <a:lstStyle/>
          <a:p>
            <a:pPr eaLnBrk="1" hangingPunct="1"/>
            <a:r>
              <a:rPr lang="en-US" altLang="en-US" sz="3265" dirty="0">
                <a:solidFill>
                  <a:schemeClr val="accent2"/>
                </a:solidFill>
              </a:rPr>
              <a:t>Combining good properties of BFS and DFS</a:t>
            </a:r>
            <a:endParaRPr lang="en-US" altLang="en-US" sz="1853" dirty="0">
              <a:solidFill>
                <a:schemeClr val="accent2"/>
              </a:solidFill>
            </a:endParaRPr>
          </a:p>
        </p:txBody>
      </p:sp>
      <p:sp>
        <p:nvSpPr>
          <p:cNvPr id="152579" name="Rectangle 3"/>
          <p:cNvSpPr>
            <a:spLocks noGrp="1" noChangeArrowheads="1"/>
          </p:cNvSpPr>
          <p:nvPr>
            <p:ph type="body" idx="1"/>
          </p:nvPr>
        </p:nvSpPr>
        <p:spPr>
          <a:xfrm>
            <a:off x="1725706" y="837134"/>
            <a:ext cx="8807824" cy="5916706"/>
          </a:xfrm>
        </p:spPr>
        <p:txBody>
          <a:bodyPr/>
          <a:lstStyle/>
          <a:p>
            <a:pPr eaLnBrk="1" hangingPunct="1">
              <a:lnSpc>
                <a:spcPct val="114000"/>
              </a:lnSpc>
            </a:pPr>
            <a:r>
              <a:rPr lang="en-US" altLang="en-US" sz="2559" dirty="0">
                <a:solidFill>
                  <a:srgbClr val="006600"/>
                </a:solidFill>
              </a:rPr>
              <a:t>Limited depth DFS</a:t>
            </a:r>
            <a:r>
              <a:rPr lang="en-US" altLang="en-US" sz="2559" dirty="0"/>
              <a:t>: just like DFS, except never go deeper than some depth d</a:t>
            </a:r>
          </a:p>
          <a:p>
            <a:pPr eaLnBrk="1" hangingPunct="1">
              <a:lnSpc>
                <a:spcPct val="114000"/>
              </a:lnSpc>
            </a:pPr>
            <a:r>
              <a:rPr lang="en-US" altLang="en-US" sz="2559" dirty="0">
                <a:solidFill>
                  <a:srgbClr val="006600"/>
                </a:solidFill>
              </a:rPr>
              <a:t>Iterative deepening DFS</a:t>
            </a:r>
            <a:r>
              <a:rPr lang="en-US" altLang="en-US" sz="2559" dirty="0"/>
              <a:t>:</a:t>
            </a:r>
          </a:p>
          <a:p>
            <a:pPr lvl="1" eaLnBrk="1" hangingPunct="1">
              <a:lnSpc>
                <a:spcPct val="114000"/>
              </a:lnSpc>
            </a:pPr>
            <a:r>
              <a:rPr lang="en-US" altLang="en-US" sz="2030" dirty="0"/>
              <a:t>Call limited depth DFS with depth 0;</a:t>
            </a:r>
          </a:p>
          <a:p>
            <a:pPr lvl="1" eaLnBrk="1" hangingPunct="1">
              <a:lnSpc>
                <a:spcPct val="114000"/>
              </a:lnSpc>
            </a:pPr>
            <a:r>
              <a:rPr lang="en-US" altLang="en-US" sz="2030" dirty="0"/>
              <a:t>If unsuccessful, call with depth 1;</a:t>
            </a:r>
          </a:p>
          <a:p>
            <a:pPr lvl="1" eaLnBrk="1" hangingPunct="1">
              <a:lnSpc>
                <a:spcPct val="114000"/>
              </a:lnSpc>
            </a:pPr>
            <a:r>
              <a:rPr lang="en-US" altLang="en-US" sz="2030" dirty="0"/>
              <a:t>If unsuccessful, call with depth 2;</a:t>
            </a:r>
          </a:p>
          <a:p>
            <a:pPr lvl="1" eaLnBrk="1" hangingPunct="1">
              <a:lnSpc>
                <a:spcPct val="114000"/>
              </a:lnSpc>
            </a:pPr>
            <a:r>
              <a:rPr lang="en-US" altLang="en-US" sz="2030" dirty="0"/>
              <a:t>Etc.</a:t>
            </a:r>
          </a:p>
          <a:p>
            <a:pPr eaLnBrk="1" hangingPunct="1">
              <a:lnSpc>
                <a:spcPct val="114000"/>
              </a:lnSpc>
            </a:pPr>
            <a:r>
              <a:rPr lang="en-US" altLang="en-US" sz="2559" dirty="0"/>
              <a:t>Complete, finds shallowest solution</a:t>
            </a:r>
          </a:p>
          <a:p>
            <a:pPr eaLnBrk="1" hangingPunct="1">
              <a:lnSpc>
                <a:spcPct val="114000"/>
              </a:lnSpc>
            </a:pPr>
            <a:r>
              <a:rPr lang="en-US" altLang="en-US" sz="2559" dirty="0"/>
              <a:t>Space requirements of DFS</a:t>
            </a:r>
          </a:p>
          <a:p>
            <a:pPr eaLnBrk="1" hangingPunct="1">
              <a:lnSpc>
                <a:spcPct val="114000"/>
              </a:lnSpc>
            </a:pPr>
            <a:r>
              <a:rPr lang="en-US" altLang="en-US" sz="2559" dirty="0"/>
              <a:t>May seem wasteful timewise because replicating effort</a:t>
            </a:r>
          </a:p>
          <a:p>
            <a:pPr lvl="1" eaLnBrk="1" hangingPunct="1">
              <a:lnSpc>
                <a:spcPct val="114000"/>
              </a:lnSpc>
            </a:pPr>
            <a:r>
              <a:rPr lang="en-US" altLang="en-US" sz="2030" dirty="0"/>
              <a:t>Really not that wasteful because </a:t>
            </a:r>
            <a:r>
              <a:rPr lang="en-US" altLang="en-US" sz="2030" b="1" dirty="0"/>
              <a:t>almost all effort at deepest level</a:t>
            </a:r>
          </a:p>
          <a:p>
            <a:pPr lvl="1" eaLnBrk="1" hangingPunct="1">
              <a:lnSpc>
                <a:spcPct val="114000"/>
              </a:lnSpc>
            </a:pPr>
            <a:r>
              <a:rPr lang="en-US" altLang="en-US" sz="2030" dirty="0" err="1"/>
              <a:t>db</a:t>
            </a:r>
            <a:r>
              <a:rPr lang="en-US" altLang="en-US" sz="2030" dirty="0"/>
              <a:t> + (d-1)b</a:t>
            </a:r>
            <a:r>
              <a:rPr lang="en-US" altLang="en-US" sz="2030" baseline="30000" dirty="0"/>
              <a:t>2</a:t>
            </a:r>
            <a:r>
              <a:rPr lang="en-US" altLang="en-US" sz="2030" dirty="0"/>
              <a:t> + (d-2)b</a:t>
            </a:r>
            <a:r>
              <a:rPr lang="en-US" altLang="en-US" sz="2030" baseline="30000" dirty="0"/>
              <a:t>3</a:t>
            </a:r>
            <a:r>
              <a:rPr lang="en-US" altLang="en-US" sz="2030" dirty="0"/>
              <a:t> + ... + 1b</a:t>
            </a:r>
            <a:r>
              <a:rPr lang="en-US" altLang="en-US" sz="2030" baseline="30000" dirty="0"/>
              <a:t>d</a:t>
            </a:r>
            <a:r>
              <a:rPr lang="en-US" altLang="en-US" sz="2030" dirty="0"/>
              <a:t> is O(</a:t>
            </a:r>
            <a:r>
              <a:rPr lang="en-US" altLang="en-US" sz="2030" dirty="0" err="1"/>
              <a:t>b</a:t>
            </a:r>
            <a:r>
              <a:rPr lang="en-US" altLang="en-US" sz="2030" baseline="30000" dirty="0" err="1"/>
              <a:t>d</a:t>
            </a:r>
            <a:r>
              <a:rPr lang="en-US" altLang="en-US" sz="2030" dirty="0"/>
              <a:t>) for b &gt; 1</a:t>
            </a:r>
          </a:p>
        </p:txBody>
      </p:sp>
    </p:spTree>
    <p:extLst>
      <p:ext uri="{BB962C8B-B14F-4D97-AF65-F5344CB8AC3E}">
        <p14:creationId xmlns:p14="http://schemas.microsoft.com/office/powerpoint/2010/main" val="2357419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25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257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257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257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257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257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2579">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2579">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52579">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525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43854" y="146220"/>
            <a:ext cx="8709772" cy="1008529"/>
          </a:xfrm>
        </p:spPr>
        <p:txBody>
          <a:bodyPr/>
          <a:lstStyle/>
          <a:p>
            <a:pPr eaLnBrk="1" hangingPunct="1"/>
            <a:r>
              <a:rPr lang="en-US" altLang="en-US" sz="3265" dirty="0">
                <a:solidFill>
                  <a:schemeClr val="accent2"/>
                </a:solidFill>
              </a:rPr>
              <a:t>Time complexity of DLS and IDS for b=10 and d=5</a:t>
            </a:r>
            <a:endParaRPr lang="en-US" altLang="en-US" sz="1853" dirty="0">
              <a:solidFill>
                <a:schemeClr val="accent2"/>
              </a:solidFill>
            </a:endParaRPr>
          </a:p>
        </p:txBody>
      </p:sp>
      <p:sp>
        <p:nvSpPr>
          <p:cNvPr id="152579" name="Rectangle 3"/>
          <p:cNvSpPr>
            <a:spLocks noGrp="1" noChangeArrowheads="1"/>
          </p:cNvSpPr>
          <p:nvPr>
            <p:ph type="body" idx="1"/>
          </p:nvPr>
        </p:nvSpPr>
        <p:spPr>
          <a:xfrm>
            <a:off x="843854" y="1038839"/>
            <a:ext cx="11081982" cy="5454292"/>
          </a:xfrm>
        </p:spPr>
        <p:txBody>
          <a:bodyPr>
            <a:normAutofit/>
          </a:bodyPr>
          <a:lstStyle/>
          <a:p>
            <a:pPr marL="0" indent="0">
              <a:lnSpc>
                <a:spcPct val="114000"/>
              </a:lnSpc>
              <a:buNone/>
            </a:pPr>
            <a:r>
              <a:rPr lang="en-US" sz="2400" dirty="0">
                <a:solidFill>
                  <a:schemeClr val="accent2">
                    <a:lumMod val="75000"/>
                  </a:schemeClr>
                </a:solidFill>
              </a:rPr>
              <a:t>For Depth Limited Search:</a:t>
            </a:r>
          </a:p>
          <a:p>
            <a:pPr>
              <a:lnSpc>
                <a:spcPct val="114000"/>
              </a:lnSpc>
            </a:pPr>
            <a:r>
              <a:rPr lang="en-US" sz="2400" dirty="0"/>
              <a:t>The number of expansions to a depth of </a:t>
            </a:r>
            <a:r>
              <a:rPr lang="en-US" sz="2400" i="1" dirty="0"/>
              <a:t>d </a:t>
            </a:r>
            <a:r>
              <a:rPr lang="en-US" sz="2400" dirty="0"/>
              <a:t>with branching factor </a:t>
            </a:r>
            <a:r>
              <a:rPr lang="en-US" sz="2400" i="1" dirty="0"/>
              <a:t>b </a:t>
            </a:r>
            <a:r>
              <a:rPr lang="en-US" sz="2400" dirty="0"/>
              <a:t>is:</a:t>
            </a:r>
            <a:br>
              <a:rPr lang="en-US" sz="2400" dirty="0"/>
            </a:br>
            <a:r>
              <a:rPr lang="en-US" sz="2400" dirty="0"/>
              <a:t>1 + </a:t>
            </a:r>
            <a:r>
              <a:rPr lang="en-US" sz="2400" i="1" dirty="0"/>
              <a:t>b </a:t>
            </a:r>
            <a:r>
              <a:rPr lang="en-US" sz="2400" dirty="0"/>
              <a:t>+ </a:t>
            </a:r>
            <a:r>
              <a:rPr lang="en-US" sz="2400" i="1" dirty="0"/>
              <a:t>b</a:t>
            </a:r>
            <a:r>
              <a:rPr lang="en-US" sz="2400" baseline="30000" dirty="0"/>
              <a:t>2</a:t>
            </a:r>
            <a:r>
              <a:rPr lang="en-US" sz="2400" dirty="0"/>
              <a:t> + . . . + </a:t>
            </a:r>
            <a:r>
              <a:rPr lang="en-US" sz="2400" i="1" dirty="0" err="1"/>
              <a:t>b</a:t>
            </a:r>
            <a:r>
              <a:rPr lang="en-US" sz="2400" i="1" baseline="30000" dirty="0" err="1"/>
              <a:t>d</a:t>
            </a:r>
            <a:r>
              <a:rPr lang="en-US" sz="2400" i="1" baseline="30000" dirty="0"/>
              <a:t> </a:t>
            </a:r>
            <a:r>
              <a:rPr lang="en-US" sz="2400" baseline="30000" dirty="0"/>
              <a:t>-2 </a:t>
            </a:r>
            <a:r>
              <a:rPr lang="en-US" sz="2400" dirty="0"/>
              <a:t>+ </a:t>
            </a:r>
            <a:r>
              <a:rPr lang="en-US" sz="2400" i="1" dirty="0" err="1"/>
              <a:t>b</a:t>
            </a:r>
            <a:r>
              <a:rPr lang="en-US" sz="2400" i="1" baseline="30000" dirty="0" err="1"/>
              <a:t>d</a:t>
            </a:r>
            <a:r>
              <a:rPr lang="en-US" sz="2400" i="1" baseline="30000" dirty="0"/>
              <a:t> </a:t>
            </a:r>
            <a:r>
              <a:rPr lang="en-US" sz="2400" baseline="30000" dirty="0"/>
              <a:t>-1 </a:t>
            </a:r>
            <a:r>
              <a:rPr lang="en-US" sz="2400" dirty="0"/>
              <a:t>+ </a:t>
            </a:r>
            <a:r>
              <a:rPr lang="en-US" sz="2400" i="1" dirty="0" err="1"/>
              <a:t>b</a:t>
            </a:r>
            <a:r>
              <a:rPr lang="en-US" sz="2400" i="1" baseline="30000" dirty="0" err="1"/>
              <a:t>d</a:t>
            </a:r>
            <a:br>
              <a:rPr lang="en-US" sz="2400" i="1" dirty="0"/>
            </a:br>
            <a:r>
              <a:rPr lang="en-US" sz="2400" i="1" dirty="0"/>
              <a:t>	</a:t>
            </a:r>
            <a:r>
              <a:rPr lang="en-US" sz="2400" dirty="0"/>
              <a:t>For </a:t>
            </a:r>
            <a:r>
              <a:rPr lang="en-US" sz="2400" i="1" dirty="0"/>
              <a:t>b </a:t>
            </a:r>
            <a:r>
              <a:rPr lang="en-US" sz="2400" dirty="0"/>
              <a:t>=10 and </a:t>
            </a:r>
            <a:r>
              <a:rPr lang="en-US" sz="2400" i="1" dirty="0"/>
              <a:t>d </a:t>
            </a:r>
            <a:r>
              <a:rPr lang="en-US" sz="2400" dirty="0"/>
              <a:t>=5 </a:t>
            </a:r>
          </a:p>
          <a:p>
            <a:pPr marL="0" indent="0">
              <a:lnSpc>
                <a:spcPct val="114000"/>
              </a:lnSpc>
              <a:buNone/>
            </a:pPr>
            <a:r>
              <a:rPr lang="en-US" sz="2400" dirty="0"/>
              <a:t>	1 + 10 +100+1000+10000+100000 = 111,111</a:t>
            </a:r>
          </a:p>
          <a:p>
            <a:pPr marL="0" indent="0">
              <a:lnSpc>
                <a:spcPct val="114000"/>
              </a:lnSpc>
              <a:buNone/>
            </a:pPr>
            <a:r>
              <a:rPr lang="en-US" sz="2400" dirty="0">
                <a:solidFill>
                  <a:schemeClr val="accent2">
                    <a:lumMod val="75000"/>
                  </a:schemeClr>
                </a:solidFill>
              </a:rPr>
              <a:t>For Iterative Deeping Search:</a:t>
            </a:r>
            <a:endParaRPr lang="en-US" sz="2400" dirty="0"/>
          </a:p>
          <a:p>
            <a:pPr>
              <a:lnSpc>
                <a:spcPct val="114000"/>
              </a:lnSpc>
            </a:pPr>
            <a:r>
              <a:rPr lang="en-US" sz="2400" dirty="0"/>
              <a:t>For each expansion to depth </a:t>
            </a:r>
            <a:r>
              <a:rPr lang="en-US" sz="2400" i="1" dirty="0"/>
              <a:t>k</a:t>
            </a:r>
            <a:r>
              <a:rPr lang="en-US" sz="2400" dirty="0"/>
              <a:t>, the root has been expanded</a:t>
            </a:r>
            <a:br>
              <a:rPr lang="en-US" sz="2400" dirty="0"/>
            </a:br>
            <a:r>
              <a:rPr lang="en-US" sz="2400" i="1" dirty="0"/>
              <a:t>k </a:t>
            </a:r>
            <a:r>
              <a:rPr lang="en-US" sz="2400" dirty="0"/>
              <a:t>+ 1 times, the next level </a:t>
            </a:r>
            <a:r>
              <a:rPr lang="en-US" sz="2400" i="1" dirty="0"/>
              <a:t>k </a:t>
            </a:r>
            <a:r>
              <a:rPr lang="en-US" sz="2400" dirty="0"/>
              <a:t>times, etc., giving:</a:t>
            </a:r>
            <a:br>
              <a:rPr lang="en-US" sz="2400" dirty="0"/>
            </a:br>
            <a:r>
              <a:rPr lang="en-US" sz="2400" dirty="0"/>
              <a:t>(</a:t>
            </a:r>
            <a:r>
              <a:rPr lang="en-US" sz="2400" i="1" dirty="0"/>
              <a:t>d </a:t>
            </a:r>
            <a:r>
              <a:rPr lang="en-US" sz="2400" dirty="0"/>
              <a:t>+1)1 + (</a:t>
            </a:r>
            <a:r>
              <a:rPr lang="en-US" sz="2400" i="1" dirty="0"/>
              <a:t>d</a:t>
            </a:r>
            <a:r>
              <a:rPr lang="en-US" sz="2400" dirty="0"/>
              <a:t>)</a:t>
            </a:r>
            <a:r>
              <a:rPr lang="en-US" sz="2400" i="1" dirty="0"/>
              <a:t>b </a:t>
            </a:r>
            <a:r>
              <a:rPr lang="en-US" sz="2400" dirty="0"/>
              <a:t>+ (</a:t>
            </a:r>
            <a:r>
              <a:rPr lang="en-US" sz="2400" i="1" dirty="0"/>
              <a:t>d </a:t>
            </a:r>
            <a:r>
              <a:rPr lang="en-US" sz="2400" dirty="0"/>
              <a:t>-1)</a:t>
            </a:r>
            <a:r>
              <a:rPr lang="en-US" sz="2400" i="1" dirty="0"/>
              <a:t>b</a:t>
            </a:r>
            <a:r>
              <a:rPr lang="en-US" sz="2400" baseline="30000" dirty="0"/>
              <a:t>2</a:t>
            </a:r>
            <a:r>
              <a:rPr lang="en-US" sz="2400" dirty="0"/>
              <a:t> + . . . + 3</a:t>
            </a:r>
            <a:r>
              <a:rPr lang="en-US" sz="2400" i="1" dirty="0"/>
              <a:t>b</a:t>
            </a:r>
            <a:r>
              <a:rPr lang="en-US" sz="2400" i="1" baseline="30000" dirty="0"/>
              <a:t>d </a:t>
            </a:r>
            <a:r>
              <a:rPr lang="en-US" sz="2400" baseline="30000" dirty="0"/>
              <a:t>-2 </a:t>
            </a:r>
            <a:r>
              <a:rPr lang="en-US" sz="2400" dirty="0"/>
              <a:t>+ 2</a:t>
            </a:r>
            <a:r>
              <a:rPr lang="en-US" sz="2400" i="1" dirty="0"/>
              <a:t>b</a:t>
            </a:r>
            <a:r>
              <a:rPr lang="en-US" sz="2400" i="1" baseline="30000" dirty="0"/>
              <a:t>d </a:t>
            </a:r>
            <a:r>
              <a:rPr lang="en-US" sz="2400" baseline="30000" dirty="0"/>
              <a:t>-1 </a:t>
            </a:r>
            <a:r>
              <a:rPr lang="en-US" sz="2400" dirty="0"/>
              <a:t>+ </a:t>
            </a:r>
            <a:r>
              <a:rPr lang="en-US" sz="2400" i="1" dirty="0" err="1"/>
              <a:t>b</a:t>
            </a:r>
            <a:r>
              <a:rPr lang="en-US" sz="2400" i="1" baseline="30000" dirty="0" err="1"/>
              <a:t>d</a:t>
            </a:r>
            <a:br>
              <a:rPr lang="en-US" sz="2400" i="1" dirty="0"/>
            </a:br>
            <a:r>
              <a:rPr lang="en-US" sz="2400" i="1" dirty="0"/>
              <a:t>	</a:t>
            </a:r>
            <a:r>
              <a:rPr lang="en-US" sz="2400" dirty="0"/>
              <a:t>For </a:t>
            </a:r>
            <a:r>
              <a:rPr lang="en-US" sz="2400" i="1" dirty="0"/>
              <a:t>b </a:t>
            </a:r>
            <a:r>
              <a:rPr lang="en-US" sz="2400" dirty="0"/>
              <a:t>=10 and </a:t>
            </a:r>
            <a:r>
              <a:rPr lang="en-US" sz="2400" i="1" dirty="0"/>
              <a:t>d </a:t>
            </a:r>
            <a:r>
              <a:rPr lang="en-US" sz="2400" dirty="0"/>
              <a:t>=5 </a:t>
            </a:r>
          </a:p>
          <a:p>
            <a:pPr marL="0" indent="0">
              <a:lnSpc>
                <a:spcPct val="114000"/>
              </a:lnSpc>
              <a:buNone/>
            </a:pPr>
            <a:r>
              <a:rPr lang="en-US" sz="2400" dirty="0"/>
              <a:t>	6*1 + 5*10 + 4*100 + 3*1000 + 2*10000 + 1*100000 = 123,456 </a:t>
            </a:r>
            <a:endParaRPr lang="en-US" altLang="en-US" sz="2030" dirty="0"/>
          </a:p>
        </p:txBody>
      </p:sp>
    </p:spTree>
    <p:extLst>
      <p:ext uri="{BB962C8B-B14F-4D97-AF65-F5344CB8AC3E}">
        <p14:creationId xmlns:p14="http://schemas.microsoft.com/office/powerpoint/2010/main" val="281180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40064" y="357328"/>
            <a:ext cx="5269566" cy="1928894"/>
          </a:xfrm>
        </p:spPr>
        <p:txBody>
          <a:bodyPr>
            <a:normAutofit/>
          </a:bodyPr>
          <a:lstStyle/>
          <a:p>
            <a:r>
              <a:rPr lang="en-US" altLang="en-US" sz="3971" dirty="0">
                <a:solidFill>
                  <a:schemeClr val="accent2"/>
                </a:solidFill>
              </a:rPr>
              <a:t>Uniform cost search</a:t>
            </a:r>
            <a:br>
              <a:rPr lang="en-US" altLang="en-US" sz="3971" dirty="0">
                <a:solidFill>
                  <a:schemeClr val="accent2"/>
                </a:solidFill>
              </a:rPr>
            </a:br>
            <a:r>
              <a:rPr lang="en-US" altLang="en-US" sz="2200" dirty="0">
                <a:solidFill>
                  <a:schemeClr val="accent2">
                    <a:lumMod val="75000"/>
                  </a:schemeClr>
                </a:solidFill>
              </a:rPr>
              <a:t>Uniform-cost search is a blind search approach which is the extension of BFS. It is optimal because, at every step the path with the least cost is chosen</a:t>
            </a:r>
            <a:endParaRPr lang="en-US" altLang="en-US" sz="1600" dirty="0">
              <a:solidFill>
                <a:schemeClr val="accent2">
                  <a:lumMod val="75000"/>
                </a:schemeClr>
              </a:solidFill>
            </a:endParaRPr>
          </a:p>
        </p:txBody>
      </p:sp>
      <p:sp>
        <p:nvSpPr>
          <p:cNvPr id="22531" name="Oval 3"/>
          <p:cNvSpPr>
            <a:spLocks noChangeArrowheads="1"/>
          </p:cNvSpPr>
          <p:nvPr/>
        </p:nvSpPr>
        <p:spPr bwMode="auto">
          <a:xfrm>
            <a:off x="8180770" y="562164"/>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76" name="Line 4"/>
          <p:cNvSpPr>
            <a:spLocks noChangeShapeType="1"/>
          </p:cNvSpPr>
          <p:nvPr/>
        </p:nvSpPr>
        <p:spPr bwMode="auto">
          <a:xfrm>
            <a:off x="8584182" y="945966"/>
            <a:ext cx="1008529" cy="87405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77" name="Line 5"/>
          <p:cNvSpPr>
            <a:spLocks noChangeShapeType="1"/>
          </p:cNvSpPr>
          <p:nvPr/>
        </p:nvSpPr>
        <p:spPr bwMode="auto">
          <a:xfrm flipH="1">
            <a:off x="7239476" y="945966"/>
            <a:ext cx="1008529" cy="87405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22534" name="Text Box 6"/>
          <p:cNvSpPr txBox="1">
            <a:spLocks noChangeArrowheads="1"/>
          </p:cNvSpPr>
          <p:nvPr/>
        </p:nvSpPr>
        <p:spPr bwMode="auto">
          <a:xfrm>
            <a:off x="8769078" y="427694"/>
            <a:ext cx="1047082"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A, </a:t>
            </a:r>
          </a:p>
          <a:p>
            <a:pPr eaLnBrk="1" hangingPunct="1"/>
            <a:r>
              <a:rPr lang="en-US" altLang="en-US" sz="1588" b="1"/>
              <a:t>cost = 0</a:t>
            </a:r>
          </a:p>
        </p:txBody>
      </p:sp>
      <p:sp>
        <p:nvSpPr>
          <p:cNvPr id="182279" name="Oval 7"/>
          <p:cNvSpPr>
            <a:spLocks noChangeArrowheads="1"/>
          </p:cNvSpPr>
          <p:nvPr/>
        </p:nvSpPr>
        <p:spPr bwMode="auto">
          <a:xfrm>
            <a:off x="6836064" y="1772400"/>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80" name="Text Box 8"/>
          <p:cNvSpPr txBox="1">
            <a:spLocks noChangeArrowheads="1"/>
          </p:cNvSpPr>
          <p:nvPr/>
        </p:nvSpPr>
        <p:spPr bwMode="auto">
          <a:xfrm>
            <a:off x="7373946" y="1705165"/>
            <a:ext cx="1047082"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B, </a:t>
            </a:r>
          </a:p>
          <a:p>
            <a:pPr eaLnBrk="1" hangingPunct="1"/>
            <a:r>
              <a:rPr lang="en-US" altLang="en-US" sz="1588" b="1"/>
              <a:t>cost = 3</a:t>
            </a:r>
          </a:p>
        </p:txBody>
      </p:sp>
      <p:sp>
        <p:nvSpPr>
          <p:cNvPr id="182281" name="Oval 9"/>
          <p:cNvSpPr>
            <a:spLocks noChangeArrowheads="1"/>
          </p:cNvSpPr>
          <p:nvPr/>
        </p:nvSpPr>
        <p:spPr bwMode="auto">
          <a:xfrm>
            <a:off x="9449836" y="1772400"/>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82" name="Text Box 10"/>
          <p:cNvSpPr txBox="1">
            <a:spLocks noChangeArrowheads="1"/>
          </p:cNvSpPr>
          <p:nvPr/>
        </p:nvSpPr>
        <p:spPr bwMode="auto">
          <a:xfrm>
            <a:off x="9982115" y="1705165"/>
            <a:ext cx="1058303"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D, </a:t>
            </a:r>
          </a:p>
          <a:p>
            <a:pPr eaLnBrk="1" hangingPunct="1"/>
            <a:r>
              <a:rPr lang="en-US" altLang="en-US" sz="1588" b="1"/>
              <a:t>cost = 3</a:t>
            </a:r>
          </a:p>
        </p:txBody>
      </p:sp>
      <p:sp>
        <p:nvSpPr>
          <p:cNvPr id="182283" name="Line 11"/>
          <p:cNvSpPr>
            <a:spLocks noChangeShapeType="1"/>
          </p:cNvSpPr>
          <p:nvPr/>
        </p:nvSpPr>
        <p:spPr bwMode="auto">
          <a:xfrm>
            <a:off x="7233872" y="2156201"/>
            <a:ext cx="476250" cy="80682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84" name="Line 12"/>
          <p:cNvSpPr>
            <a:spLocks noChangeShapeType="1"/>
          </p:cNvSpPr>
          <p:nvPr/>
        </p:nvSpPr>
        <p:spPr bwMode="auto">
          <a:xfrm flipH="1">
            <a:off x="5889167" y="2156201"/>
            <a:ext cx="1008529" cy="87405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85" name="Oval 13"/>
          <p:cNvSpPr>
            <a:spLocks noChangeArrowheads="1"/>
          </p:cNvSpPr>
          <p:nvPr/>
        </p:nvSpPr>
        <p:spPr bwMode="auto">
          <a:xfrm>
            <a:off x="5485755" y="2982635"/>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86" name="Text Box 14"/>
          <p:cNvSpPr txBox="1">
            <a:spLocks noChangeArrowheads="1"/>
          </p:cNvSpPr>
          <p:nvPr/>
        </p:nvSpPr>
        <p:spPr bwMode="auto">
          <a:xfrm>
            <a:off x="6018035" y="2915400"/>
            <a:ext cx="1058303"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C, </a:t>
            </a:r>
          </a:p>
          <a:p>
            <a:pPr eaLnBrk="1" hangingPunct="1"/>
            <a:r>
              <a:rPr lang="en-US" altLang="en-US" sz="1588" b="1"/>
              <a:t>cost = 5</a:t>
            </a:r>
          </a:p>
        </p:txBody>
      </p:sp>
      <p:sp>
        <p:nvSpPr>
          <p:cNvPr id="182287" name="Oval 15"/>
          <p:cNvSpPr>
            <a:spLocks noChangeArrowheads="1"/>
          </p:cNvSpPr>
          <p:nvPr/>
        </p:nvSpPr>
        <p:spPr bwMode="auto">
          <a:xfrm>
            <a:off x="7508417" y="2982635"/>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88" name="Text Box 16"/>
          <p:cNvSpPr txBox="1">
            <a:spLocks noChangeArrowheads="1"/>
          </p:cNvSpPr>
          <p:nvPr/>
        </p:nvSpPr>
        <p:spPr bwMode="auto">
          <a:xfrm>
            <a:off x="8051902" y="2915400"/>
            <a:ext cx="1017138"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F, </a:t>
            </a:r>
          </a:p>
          <a:p>
            <a:pPr eaLnBrk="1" hangingPunct="1"/>
            <a:r>
              <a:rPr lang="en-US" altLang="en-US" sz="1588" b="1"/>
              <a:t>cost = 12</a:t>
            </a:r>
          </a:p>
        </p:txBody>
      </p:sp>
      <p:sp>
        <p:nvSpPr>
          <p:cNvPr id="182289" name="Line 17"/>
          <p:cNvSpPr>
            <a:spLocks noChangeShapeType="1"/>
          </p:cNvSpPr>
          <p:nvPr/>
        </p:nvSpPr>
        <p:spPr bwMode="auto">
          <a:xfrm>
            <a:off x="5693064" y="3433671"/>
            <a:ext cx="0" cy="80682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90" name="Oval 18"/>
          <p:cNvSpPr>
            <a:spLocks noChangeArrowheads="1"/>
          </p:cNvSpPr>
          <p:nvPr/>
        </p:nvSpPr>
        <p:spPr bwMode="auto">
          <a:xfrm>
            <a:off x="5477350" y="4260105"/>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91" name="Text Box 19"/>
          <p:cNvSpPr txBox="1">
            <a:spLocks noChangeArrowheads="1"/>
          </p:cNvSpPr>
          <p:nvPr/>
        </p:nvSpPr>
        <p:spPr bwMode="auto">
          <a:xfrm>
            <a:off x="6009630" y="4125635"/>
            <a:ext cx="1047082"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A, </a:t>
            </a:r>
          </a:p>
          <a:p>
            <a:pPr eaLnBrk="1" hangingPunct="1"/>
            <a:r>
              <a:rPr lang="en-US" altLang="en-US" sz="1588" b="1"/>
              <a:t>cost = 7</a:t>
            </a:r>
          </a:p>
        </p:txBody>
      </p:sp>
      <p:sp>
        <p:nvSpPr>
          <p:cNvPr id="182293" name="Line 21"/>
          <p:cNvSpPr>
            <a:spLocks noChangeShapeType="1"/>
          </p:cNvSpPr>
          <p:nvPr/>
        </p:nvSpPr>
        <p:spPr bwMode="auto">
          <a:xfrm>
            <a:off x="9679556" y="2271061"/>
            <a:ext cx="0" cy="80682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94" name="Oval 22"/>
          <p:cNvSpPr>
            <a:spLocks noChangeArrowheads="1"/>
          </p:cNvSpPr>
          <p:nvPr/>
        </p:nvSpPr>
        <p:spPr bwMode="auto">
          <a:xfrm>
            <a:off x="9463843" y="3097495"/>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95" name="Text Box 23"/>
          <p:cNvSpPr txBox="1">
            <a:spLocks noChangeArrowheads="1"/>
          </p:cNvSpPr>
          <p:nvPr/>
        </p:nvSpPr>
        <p:spPr bwMode="auto">
          <a:xfrm>
            <a:off x="10001725" y="2963025"/>
            <a:ext cx="1047082"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E, </a:t>
            </a:r>
          </a:p>
          <a:p>
            <a:pPr eaLnBrk="1" hangingPunct="1"/>
            <a:r>
              <a:rPr lang="en-US" altLang="en-US" sz="1588" b="1"/>
              <a:t>cost = 7</a:t>
            </a:r>
          </a:p>
        </p:txBody>
      </p:sp>
      <p:sp>
        <p:nvSpPr>
          <p:cNvPr id="182296" name="Line 24"/>
          <p:cNvSpPr>
            <a:spLocks noChangeShapeType="1"/>
          </p:cNvSpPr>
          <p:nvPr/>
        </p:nvSpPr>
        <p:spPr bwMode="auto">
          <a:xfrm>
            <a:off x="9673953" y="3548532"/>
            <a:ext cx="0" cy="80682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297" name="Oval 25"/>
          <p:cNvSpPr>
            <a:spLocks noChangeArrowheads="1"/>
          </p:cNvSpPr>
          <p:nvPr/>
        </p:nvSpPr>
        <p:spPr bwMode="auto">
          <a:xfrm>
            <a:off x="9458240" y="4374966"/>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298" name="Text Box 26"/>
          <p:cNvSpPr txBox="1">
            <a:spLocks noChangeArrowheads="1"/>
          </p:cNvSpPr>
          <p:nvPr/>
        </p:nvSpPr>
        <p:spPr bwMode="auto">
          <a:xfrm>
            <a:off x="10001725" y="4240496"/>
            <a:ext cx="1017138"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F, </a:t>
            </a:r>
          </a:p>
          <a:p>
            <a:pPr eaLnBrk="1" hangingPunct="1"/>
            <a:r>
              <a:rPr lang="en-US" altLang="en-US" sz="1588" b="1"/>
              <a:t>cost = 11</a:t>
            </a:r>
          </a:p>
        </p:txBody>
      </p:sp>
      <p:sp>
        <p:nvSpPr>
          <p:cNvPr id="182299" name="Text Box 27"/>
          <p:cNvSpPr txBox="1">
            <a:spLocks noChangeArrowheads="1"/>
          </p:cNvSpPr>
          <p:nvPr/>
        </p:nvSpPr>
        <p:spPr bwMode="auto">
          <a:xfrm>
            <a:off x="9458240" y="4912848"/>
            <a:ext cx="1306768" cy="418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118"/>
              <a:t>goal state!</a:t>
            </a:r>
          </a:p>
        </p:txBody>
      </p:sp>
      <p:sp>
        <p:nvSpPr>
          <p:cNvPr id="182300" name="Line 28"/>
          <p:cNvSpPr>
            <a:spLocks noChangeShapeType="1"/>
          </p:cNvSpPr>
          <p:nvPr/>
        </p:nvSpPr>
        <p:spPr bwMode="auto">
          <a:xfrm>
            <a:off x="5841542" y="4691532"/>
            <a:ext cx="1008529" cy="87405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301" name="Line 29"/>
          <p:cNvSpPr>
            <a:spLocks noChangeShapeType="1"/>
          </p:cNvSpPr>
          <p:nvPr/>
        </p:nvSpPr>
        <p:spPr bwMode="auto">
          <a:xfrm flipH="1">
            <a:off x="4496836" y="4691532"/>
            <a:ext cx="1008529" cy="87405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302" name="Oval 30"/>
          <p:cNvSpPr>
            <a:spLocks noChangeArrowheads="1"/>
          </p:cNvSpPr>
          <p:nvPr/>
        </p:nvSpPr>
        <p:spPr bwMode="auto">
          <a:xfrm>
            <a:off x="4093424" y="5517966"/>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303" name="Text Box 31"/>
          <p:cNvSpPr txBox="1">
            <a:spLocks noChangeArrowheads="1"/>
          </p:cNvSpPr>
          <p:nvPr/>
        </p:nvSpPr>
        <p:spPr bwMode="auto">
          <a:xfrm>
            <a:off x="4631306" y="5450731"/>
            <a:ext cx="1047082"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B, </a:t>
            </a:r>
          </a:p>
          <a:p>
            <a:pPr eaLnBrk="1" hangingPunct="1"/>
            <a:r>
              <a:rPr lang="en-US" altLang="en-US" sz="1588" b="1"/>
              <a:t>cost = 10</a:t>
            </a:r>
          </a:p>
        </p:txBody>
      </p:sp>
      <p:sp>
        <p:nvSpPr>
          <p:cNvPr id="182304" name="Oval 32"/>
          <p:cNvSpPr>
            <a:spLocks noChangeArrowheads="1"/>
          </p:cNvSpPr>
          <p:nvPr/>
        </p:nvSpPr>
        <p:spPr bwMode="auto">
          <a:xfrm>
            <a:off x="6707196" y="5517966"/>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a:p>
        </p:txBody>
      </p:sp>
      <p:sp>
        <p:nvSpPr>
          <p:cNvPr id="182305" name="Text Box 33"/>
          <p:cNvSpPr txBox="1">
            <a:spLocks noChangeArrowheads="1"/>
          </p:cNvSpPr>
          <p:nvPr/>
        </p:nvSpPr>
        <p:spPr bwMode="auto">
          <a:xfrm>
            <a:off x="7239476" y="5450731"/>
            <a:ext cx="1058303" cy="58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1588" b="1"/>
              <a:t>state = D, </a:t>
            </a:r>
          </a:p>
          <a:p>
            <a:pPr eaLnBrk="1" hangingPunct="1"/>
            <a:r>
              <a:rPr lang="en-US" altLang="en-US" sz="1588" b="1"/>
              <a:t>cost = 10</a:t>
            </a:r>
          </a:p>
        </p:txBody>
      </p:sp>
      <p:sp>
        <p:nvSpPr>
          <p:cNvPr id="182312" name="Line 40"/>
          <p:cNvSpPr>
            <a:spLocks noChangeShapeType="1"/>
          </p:cNvSpPr>
          <p:nvPr/>
        </p:nvSpPr>
        <p:spPr bwMode="auto">
          <a:xfrm>
            <a:off x="4496836" y="5940988"/>
            <a:ext cx="289219" cy="38380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313" name="Line 41"/>
          <p:cNvSpPr>
            <a:spLocks noChangeShapeType="1"/>
          </p:cNvSpPr>
          <p:nvPr/>
        </p:nvSpPr>
        <p:spPr bwMode="auto">
          <a:xfrm flipH="1">
            <a:off x="3468027" y="5940989"/>
            <a:ext cx="692631" cy="50075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sp>
        <p:nvSpPr>
          <p:cNvPr id="182314" name="Line 42"/>
          <p:cNvSpPr>
            <a:spLocks noChangeShapeType="1"/>
          </p:cNvSpPr>
          <p:nvPr/>
        </p:nvSpPr>
        <p:spPr bwMode="auto">
          <a:xfrm flipH="1">
            <a:off x="6897696" y="6008223"/>
            <a:ext cx="19610" cy="433518"/>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a:p>
        </p:txBody>
      </p:sp>
      <p:pic>
        <p:nvPicPr>
          <p:cNvPr id="32" name="Picture 31">
            <a:extLst>
              <a:ext uri="{FF2B5EF4-FFF2-40B4-BE49-F238E27FC236}">
                <a16:creationId xmlns:a16="http://schemas.microsoft.com/office/drawing/2014/main" id="{D38A9A48-DAC7-32E4-4EFC-B43DA4A6128C}"/>
              </a:ext>
            </a:extLst>
          </p:cNvPr>
          <p:cNvPicPr>
            <a:picLocks noChangeAspect="1"/>
          </p:cNvPicPr>
          <p:nvPr/>
        </p:nvPicPr>
        <p:blipFill>
          <a:blip r:embed="rId2"/>
          <a:stretch>
            <a:fillRect/>
          </a:stretch>
        </p:blipFill>
        <p:spPr>
          <a:xfrm>
            <a:off x="583387" y="2447969"/>
            <a:ext cx="3969683" cy="1611167"/>
          </a:xfrm>
          <a:prstGeom prst="rect">
            <a:avLst/>
          </a:prstGeom>
        </p:spPr>
      </p:pic>
    </p:spTree>
    <p:extLst>
      <p:ext uri="{BB962C8B-B14F-4D97-AF65-F5344CB8AC3E}">
        <p14:creationId xmlns:p14="http://schemas.microsoft.com/office/powerpoint/2010/main" val="1965106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2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22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22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22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22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228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22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22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22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228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228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228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22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229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229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228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229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229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229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229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229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230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230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230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230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8230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82305"/>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231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82313"/>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2314"/>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2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animBg="1"/>
      <p:bldP spid="182277" grpId="0" animBg="1"/>
      <p:bldP spid="182279" grpId="0" animBg="1"/>
      <p:bldP spid="182280" grpId="0"/>
      <p:bldP spid="182281" grpId="0" animBg="1"/>
      <p:bldP spid="182282" grpId="0"/>
      <p:bldP spid="182283" grpId="0" animBg="1"/>
      <p:bldP spid="182284" grpId="0" animBg="1"/>
      <p:bldP spid="182285" grpId="0" animBg="1"/>
      <p:bldP spid="182286" grpId="0"/>
      <p:bldP spid="182287" grpId="0" animBg="1"/>
      <p:bldP spid="182288" grpId="0"/>
      <p:bldP spid="182289" grpId="0" animBg="1"/>
      <p:bldP spid="182290" grpId="0" animBg="1"/>
      <p:bldP spid="182291" grpId="0"/>
      <p:bldP spid="182293" grpId="0" animBg="1"/>
      <p:bldP spid="182294" grpId="0" animBg="1"/>
      <p:bldP spid="182295" grpId="0"/>
      <p:bldP spid="182296" grpId="0" animBg="1"/>
      <p:bldP spid="182297" grpId="0" animBg="1"/>
      <p:bldP spid="182298" grpId="0"/>
      <p:bldP spid="182299" grpId="0"/>
      <p:bldP spid="182300" grpId="0" animBg="1"/>
      <p:bldP spid="182301" grpId="0" animBg="1"/>
      <p:bldP spid="182302" grpId="0" animBg="1"/>
      <p:bldP spid="182303" grpId="0"/>
      <p:bldP spid="182304" grpId="0" animBg="1"/>
      <p:bldP spid="182305" grpId="0"/>
      <p:bldP spid="182312" grpId="0" animBg="1"/>
      <p:bldP spid="182313" grpId="0" animBg="1"/>
      <p:bldP spid="1823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26433" y="0"/>
            <a:ext cx="5269566" cy="1928894"/>
          </a:xfrm>
        </p:spPr>
        <p:txBody>
          <a:bodyPr>
            <a:normAutofit/>
          </a:bodyPr>
          <a:lstStyle/>
          <a:p>
            <a:r>
              <a:rPr lang="en-US" altLang="en-US" sz="3971" dirty="0">
                <a:solidFill>
                  <a:schemeClr val="accent2"/>
                </a:solidFill>
              </a:rPr>
              <a:t>Uniform cost search</a:t>
            </a:r>
            <a:br>
              <a:rPr lang="en-US" altLang="en-US" sz="3971" dirty="0">
                <a:solidFill>
                  <a:schemeClr val="accent2"/>
                </a:solidFill>
              </a:rPr>
            </a:br>
            <a:r>
              <a:rPr lang="en-US" altLang="en-US" sz="2200" dirty="0">
                <a:solidFill>
                  <a:schemeClr val="accent2">
                    <a:lumMod val="75000"/>
                  </a:schemeClr>
                </a:solidFill>
              </a:rPr>
              <a:t>Exercise:</a:t>
            </a:r>
            <a:endParaRPr lang="en-US" altLang="en-US" sz="1600" dirty="0">
              <a:solidFill>
                <a:schemeClr val="accent2">
                  <a:lumMod val="75000"/>
                </a:schemeClr>
              </a:solidFill>
            </a:endParaRPr>
          </a:p>
        </p:txBody>
      </p:sp>
      <p:pic>
        <p:nvPicPr>
          <p:cNvPr id="4" name="Google Shape;502;p53">
            <a:extLst>
              <a:ext uri="{FF2B5EF4-FFF2-40B4-BE49-F238E27FC236}">
                <a16:creationId xmlns:a16="http://schemas.microsoft.com/office/drawing/2014/main" id="{FDD63B35-5054-34E5-1FBF-767B85C51F3E}"/>
              </a:ext>
            </a:extLst>
          </p:cNvPr>
          <p:cNvPicPr preferRelativeResize="0"/>
          <p:nvPr/>
        </p:nvPicPr>
        <p:blipFill rotWithShape="1">
          <a:blip r:embed="rId2">
            <a:alphaModFix/>
          </a:blip>
          <a:srcRect/>
          <a:stretch/>
        </p:blipFill>
        <p:spPr>
          <a:xfrm>
            <a:off x="2642898" y="1725170"/>
            <a:ext cx="7378152" cy="4081829"/>
          </a:xfrm>
          <a:prstGeom prst="rect">
            <a:avLst/>
          </a:prstGeom>
          <a:noFill/>
          <a:ln>
            <a:noFill/>
          </a:ln>
        </p:spPr>
      </p:pic>
    </p:spTree>
    <p:extLst>
      <p:ext uri="{BB962C8B-B14F-4D97-AF65-F5344CB8AC3E}">
        <p14:creationId xmlns:p14="http://schemas.microsoft.com/office/powerpoint/2010/main" val="378803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26434" y="373626"/>
            <a:ext cx="5269566" cy="1928894"/>
          </a:xfrm>
        </p:spPr>
        <p:txBody>
          <a:bodyPr>
            <a:normAutofit/>
          </a:bodyPr>
          <a:lstStyle/>
          <a:p>
            <a:r>
              <a:rPr lang="en-US" altLang="en-US" sz="3971" dirty="0">
                <a:solidFill>
                  <a:schemeClr val="accent2"/>
                </a:solidFill>
              </a:rPr>
              <a:t>Uniform cost search</a:t>
            </a:r>
            <a:br>
              <a:rPr lang="en-US" altLang="en-US" sz="3971" dirty="0">
                <a:solidFill>
                  <a:schemeClr val="accent2"/>
                </a:solidFill>
              </a:rPr>
            </a:br>
            <a:r>
              <a:rPr lang="en-US" altLang="en-US" sz="1600" dirty="0">
                <a:solidFill>
                  <a:schemeClr val="accent2">
                    <a:lumMod val="75000"/>
                  </a:schemeClr>
                </a:solidFill>
              </a:rPr>
              <a:t>Solution:</a:t>
            </a:r>
          </a:p>
        </p:txBody>
      </p:sp>
      <p:pic>
        <p:nvPicPr>
          <p:cNvPr id="3" name="Google Shape;508;g262f585b636_0_3">
            <a:extLst>
              <a:ext uri="{FF2B5EF4-FFF2-40B4-BE49-F238E27FC236}">
                <a16:creationId xmlns:a16="http://schemas.microsoft.com/office/drawing/2014/main" id="{FF274F14-5113-2C10-B5ED-98F6C87C1DBB}"/>
              </a:ext>
            </a:extLst>
          </p:cNvPr>
          <p:cNvPicPr preferRelativeResize="0"/>
          <p:nvPr/>
        </p:nvPicPr>
        <p:blipFill>
          <a:blip r:embed="rId2">
            <a:alphaModFix/>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Lst>
          </a:blip>
          <a:stretch>
            <a:fillRect/>
          </a:stretch>
        </p:blipFill>
        <p:spPr>
          <a:xfrm>
            <a:off x="2144071" y="1763795"/>
            <a:ext cx="6370666" cy="3330410"/>
          </a:xfrm>
          <a:prstGeom prst="rect">
            <a:avLst/>
          </a:prstGeom>
          <a:noFill/>
          <a:ln>
            <a:noFill/>
          </a:ln>
        </p:spPr>
      </p:pic>
    </p:spTree>
    <p:extLst>
      <p:ext uri="{BB962C8B-B14F-4D97-AF65-F5344CB8AC3E}">
        <p14:creationId xmlns:p14="http://schemas.microsoft.com/office/powerpoint/2010/main" val="2524136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E0468-1E5F-770A-7610-370E1DAE5F0B}"/>
              </a:ext>
            </a:extLst>
          </p:cNvPr>
          <p:cNvPicPr>
            <a:picLocks noChangeAspect="1"/>
          </p:cNvPicPr>
          <p:nvPr/>
        </p:nvPicPr>
        <p:blipFill>
          <a:blip r:embed="rId2"/>
          <a:srcRect t="26118" r="28127" b="8972"/>
          <a:stretch/>
        </p:blipFill>
        <p:spPr>
          <a:xfrm>
            <a:off x="1656610" y="1823162"/>
            <a:ext cx="5619262" cy="2715727"/>
          </a:xfrm>
          <a:prstGeom prst="rect">
            <a:avLst/>
          </a:prstGeom>
        </p:spPr>
      </p:pic>
      <p:sp>
        <p:nvSpPr>
          <p:cNvPr id="3" name="Rectangle 2">
            <a:extLst>
              <a:ext uri="{FF2B5EF4-FFF2-40B4-BE49-F238E27FC236}">
                <a16:creationId xmlns:a16="http://schemas.microsoft.com/office/drawing/2014/main" id="{5591DC30-81AF-3063-336D-23AAD2B6DA89}"/>
              </a:ext>
            </a:extLst>
          </p:cNvPr>
          <p:cNvSpPr>
            <a:spLocks noGrp="1" noChangeArrowheads="1"/>
          </p:cNvSpPr>
          <p:nvPr>
            <p:ph type="title"/>
          </p:nvPr>
        </p:nvSpPr>
        <p:spPr>
          <a:xfrm>
            <a:off x="1656609" y="335741"/>
            <a:ext cx="8709772" cy="1008529"/>
          </a:xfrm>
        </p:spPr>
        <p:txBody>
          <a:bodyPr/>
          <a:lstStyle/>
          <a:p>
            <a:pPr eaLnBrk="1" hangingPunct="1"/>
            <a:r>
              <a:rPr lang="en-US" altLang="en-US" dirty="0">
                <a:solidFill>
                  <a:schemeClr val="accent2"/>
                </a:solidFill>
              </a:rPr>
              <a:t>Properties of uniform cost search</a:t>
            </a:r>
            <a:endParaRPr lang="en-US" altLang="en-US" sz="2912" dirty="0">
              <a:solidFill>
                <a:schemeClr val="accent2"/>
              </a:solidFill>
            </a:endParaRPr>
          </a:p>
        </p:txBody>
      </p:sp>
    </p:spTree>
    <p:extLst>
      <p:ext uri="{BB962C8B-B14F-4D97-AF65-F5344CB8AC3E}">
        <p14:creationId xmlns:p14="http://schemas.microsoft.com/office/powerpoint/2010/main" val="1738312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3"/>
          <p:cNvSpPr txBox="1">
            <a:spLocks noChangeArrowheads="1"/>
          </p:cNvSpPr>
          <p:nvPr/>
        </p:nvSpPr>
        <p:spPr>
          <a:xfrm>
            <a:off x="723330" y="0"/>
            <a:ext cx="10235821" cy="6858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ltLang="en-US" sz="4500" dirty="0">
              <a:solidFill>
                <a:schemeClr val="accent2"/>
              </a:solidFill>
            </a:endParaRPr>
          </a:p>
          <a:p>
            <a:pPr marL="0" indent="0">
              <a:buFont typeface="Arial" panose="020B0604020202020204" pitchFamily="34" charset="0"/>
              <a:buNone/>
            </a:pPr>
            <a:r>
              <a:rPr lang="en-US" altLang="en-US" dirty="0">
                <a:solidFill>
                  <a:schemeClr val="accent2"/>
                </a:solidFill>
              </a:rPr>
              <a:t>Searching backwards from the goal</a:t>
            </a:r>
            <a:endParaRPr lang="en-US" altLang="en-US" dirty="0"/>
          </a:p>
          <a:p>
            <a:r>
              <a:rPr lang="en-US" altLang="en-US" sz="1800" dirty="0"/>
              <a:t>Sometimes we can search backwards from the goal</a:t>
            </a:r>
          </a:p>
          <a:p>
            <a:r>
              <a:rPr lang="en-US" altLang="en-US" sz="1800" dirty="0"/>
              <a:t>Need to be able to compute </a:t>
            </a:r>
            <a:r>
              <a:rPr lang="en-US" altLang="en-US" sz="1800" dirty="0">
                <a:solidFill>
                  <a:srgbClr val="006600"/>
                </a:solidFill>
              </a:rPr>
              <a:t>predecessors</a:t>
            </a:r>
            <a:r>
              <a:rPr lang="en-US" altLang="en-US" sz="1800" dirty="0"/>
              <a:t> instead of successors.</a:t>
            </a:r>
          </a:p>
          <a:p>
            <a:pPr marL="0" indent="0">
              <a:buFont typeface="Arial" panose="020B0604020202020204" pitchFamily="34" charset="0"/>
              <a:buNone/>
            </a:pPr>
            <a:r>
              <a:rPr lang="en-US" altLang="en-US" dirty="0">
                <a:solidFill>
                  <a:schemeClr val="accent2"/>
                </a:solidFill>
              </a:rPr>
              <a:t>Bidirectional search</a:t>
            </a:r>
          </a:p>
          <a:p>
            <a:r>
              <a:rPr lang="en-US" altLang="en-US" sz="1800" dirty="0"/>
              <a:t>Even better: search from both the start and the goal, in parallel!</a:t>
            </a:r>
          </a:p>
          <a:p>
            <a:r>
              <a:rPr lang="en-GB" sz="1800" dirty="0"/>
              <a:t>The bidirectional search is to reduce the search time by searching forward from the start and backward from the goal simultaneously. When the two search frontiers intersect, the algorithm can reconstruct a single path that extends from the start state through the frontier intersection to the goal.</a:t>
            </a:r>
            <a:endParaRPr lang="en-US" altLang="en-US" sz="1800" dirty="0"/>
          </a:p>
          <a:p>
            <a:r>
              <a:rPr lang="en-GB" sz="1800" dirty="0"/>
              <a:t>This is speedy because of its two way search. But, It is not always possible to search backward and one have to know the goal state.</a:t>
            </a:r>
            <a:endParaRPr lang="en-US" altLang="en-US" sz="1800" dirty="0"/>
          </a:p>
          <a:p>
            <a:pPr marL="0" indent="0">
              <a:buFont typeface="Arial" panose="020B0604020202020204" pitchFamily="34" charset="0"/>
              <a:buNone/>
            </a:pPr>
            <a:endParaRPr lang="en-US" altLang="en-US" sz="1800" dirty="0">
              <a:solidFill>
                <a:schemeClr val="accent2"/>
              </a:solidFill>
            </a:endParaRPr>
          </a:p>
          <a:p>
            <a:pPr marL="0" indent="0">
              <a:buFont typeface="Arial" panose="020B0604020202020204" pitchFamily="34" charset="0"/>
              <a:buNone/>
            </a:pPr>
            <a:endParaRPr lang="en-US" altLang="en-US" dirty="0"/>
          </a:p>
        </p:txBody>
      </p:sp>
      <p:grpSp>
        <p:nvGrpSpPr>
          <p:cNvPr id="52" name="Group 51">
            <a:extLst>
              <a:ext uri="{FF2B5EF4-FFF2-40B4-BE49-F238E27FC236}">
                <a16:creationId xmlns:a16="http://schemas.microsoft.com/office/drawing/2014/main" id="{F8B4DB11-BBB5-79A9-A7C5-F61439F99A51}"/>
              </a:ext>
            </a:extLst>
          </p:cNvPr>
          <p:cNvGrpSpPr/>
          <p:nvPr/>
        </p:nvGrpSpPr>
        <p:grpSpPr>
          <a:xfrm>
            <a:off x="2753031" y="4576562"/>
            <a:ext cx="6357949" cy="1834070"/>
            <a:chOff x="2659381" y="4424162"/>
            <a:chExt cx="6451600" cy="1986798"/>
          </a:xfrm>
        </p:grpSpPr>
        <p:grpSp>
          <p:nvGrpSpPr>
            <p:cNvPr id="46" name="Group 45">
              <a:extLst>
                <a:ext uri="{FF2B5EF4-FFF2-40B4-BE49-F238E27FC236}">
                  <a16:creationId xmlns:a16="http://schemas.microsoft.com/office/drawing/2014/main" id="{63BF5775-23FD-E1A6-1CBF-657B4275AAEA}"/>
                </a:ext>
              </a:extLst>
            </p:cNvPr>
            <p:cNvGrpSpPr/>
            <p:nvPr/>
          </p:nvGrpSpPr>
          <p:grpSpPr>
            <a:xfrm>
              <a:off x="2659381" y="4424162"/>
              <a:ext cx="6255462" cy="1986798"/>
              <a:chOff x="2659381" y="4424162"/>
              <a:chExt cx="6255462" cy="1986798"/>
            </a:xfrm>
          </p:grpSpPr>
          <p:pic>
            <p:nvPicPr>
              <p:cNvPr id="43" name="Picture 42">
                <a:extLst>
                  <a:ext uri="{FF2B5EF4-FFF2-40B4-BE49-F238E27FC236}">
                    <a16:creationId xmlns:a16="http://schemas.microsoft.com/office/drawing/2014/main" id="{0EE4B75C-18F7-A403-9819-6845337D55D1}"/>
                  </a:ext>
                </a:extLst>
              </p:cNvPr>
              <p:cNvPicPr>
                <a:picLocks noChangeAspect="1"/>
              </p:cNvPicPr>
              <p:nvPr/>
            </p:nvPicPr>
            <p:blipFill>
              <a:blip r:embed="rId2"/>
              <a:stretch>
                <a:fillRect/>
              </a:stretch>
            </p:blipFill>
            <p:spPr>
              <a:xfrm>
                <a:off x="2659381" y="4424162"/>
                <a:ext cx="6255462" cy="1986798"/>
              </a:xfrm>
              <a:prstGeom prst="rect">
                <a:avLst/>
              </a:prstGeom>
            </p:spPr>
          </p:pic>
          <p:pic>
            <p:nvPicPr>
              <p:cNvPr id="45" name="Picture 44">
                <a:extLst>
                  <a:ext uri="{FF2B5EF4-FFF2-40B4-BE49-F238E27FC236}">
                    <a16:creationId xmlns:a16="http://schemas.microsoft.com/office/drawing/2014/main" id="{D1393DBA-0B30-09D7-BDFA-F4833F42C801}"/>
                  </a:ext>
                </a:extLst>
              </p:cNvPr>
              <p:cNvPicPr>
                <a:picLocks noChangeAspect="1"/>
              </p:cNvPicPr>
              <p:nvPr/>
            </p:nvPicPr>
            <p:blipFill>
              <a:blip r:embed="rId3"/>
              <a:stretch>
                <a:fillRect/>
              </a:stretch>
            </p:blipFill>
            <p:spPr>
              <a:xfrm>
                <a:off x="6900213" y="6028037"/>
                <a:ext cx="200053" cy="247685"/>
              </a:xfrm>
              <a:prstGeom prst="rect">
                <a:avLst/>
              </a:prstGeom>
            </p:spPr>
          </p:pic>
        </p:grpSp>
        <p:sp>
          <p:nvSpPr>
            <p:cNvPr id="50" name="TextBox 49">
              <a:extLst>
                <a:ext uri="{FF2B5EF4-FFF2-40B4-BE49-F238E27FC236}">
                  <a16:creationId xmlns:a16="http://schemas.microsoft.com/office/drawing/2014/main" id="{3FB835EF-B705-9CF5-5782-ABC872309024}"/>
                </a:ext>
              </a:extLst>
            </p:cNvPr>
            <p:cNvSpPr txBox="1"/>
            <p:nvPr/>
          </p:nvSpPr>
          <p:spPr>
            <a:xfrm>
              <a:off x="2659381" y="4869934"/>
              <a:ext cx="660400" cy="338554"/>
            </a:xfrm>
            <a:prstGeom prst="rect">
              <a:avLst/>
            </a:prstGeom>
            <a:noFill/>
          </p:spPr>
          <p:txBody>
            <a:bodyPr wrap="square">
              <a:spAutoFit/>
            </a:bodyPr>
            <a:lstStyle/>
            <a:p>
              <a:r>
                <a:rPr lang="en-US" sz="1600" dirty="0"/>
                <a:t>Start</a:t>
              </a:r>
              <a:endParaRPr lang="en-US" dirty="0"/>
            </a:p>
          </p:txBody>
        </p:sp>
        <p:sp>
          <p:nvSpPr>
            <p:cNvPr id="51" name="TextBox 50">
              <a:extLst>
                <a:ext uri="{FF2B5EF4-FFF2-40B4-BE49-F238E27FC236}">
                  <a16:creationId xmlns:a16="http://schemas.microsoft.com/office/drawing/2014/main" id="{455F1822-DE17-0C1E-53EE-C228228DCBCA}"/>
                </a:ext>
              </a:extLst>
            </p:cNvPr>
            <p:cNvSpPr txBox="1"/>
            <p:nvPr/>
          </p:nvSpPr>
          <p:spPr>
            <a:xfrm>
              <a:off x="8450581" y="4869934"/>
              <a:ext cx="660400" cy="338554"/>
            </a:xfrm>
            <a:prstGeom prst="rect">
              <a:avLst/>
            </a:prstGeom>
            <a:noFill/>
          </p:spPr>
          <p:txBody>
            <a:bodyPr wrap="square">
              <a:spAutoFit/>
            </a:bodyPr>
            <a:lstStyle/>
            <a:p>
              <a:r>
                <a:rPr lang="en-US" sz="1600" dirty="0"/>
                <a:t>End</a:t>
              </a:r>
              <a:endParaRPr lang="en-US" dirty="0"/>
            </a:p>
          </p:txBody>
        </p:sp>
      </p:grpSp>
    </p:spTree>
    <p:extLst>
      <p:ext uri="{BB962C8B-B14F-4D97-AF65-F5344CB8AC3E}">
        <p14:creationId xmlns:p14="http://schemas.microsoft.com/office/powerpoint/2010/main" val="315924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561;p55">
            <a:extLst>
              <a:ext uri="{FF2B5EF4-FFF2-40B4-BE49-F238E27FC236}">
                <a16:creationId xmlns:a16="http://schemas.microsoft.com/office/drawing/2014/main" id="{4456127F-3FC6-6DB2-AF8C-FD0A9AE8CB6D}"/>
              </a:ext>
            </a:extLst>
          </p:cNvPr>
          <p:cNvPicPr preferRelativeResize="0"/>
          <p:nvPr/>
        </p:nvPicPr>
        <p:blipFill rotWithShape="1">
          <a:blip r:embed="rId2">
            <a:alphaModFix/>
          </a:blip>
          <a:srcRect/>
          <a:stretch/>
        </p:blipFill>
        <p:spPr>
          <a:xfrm>
            <a:off x="1607574" y="1009933"/>
            <a:ext cx="8976852" cy="4201163"/>
          </a:xfrm>
          <a:prstGeom prst="rect">
            <a:avLst/>
          </a:prstGeom>
          <a:noFill/>
          <a:ln>
            <a:noFill/>
          </a:ln>
        </p:spPr>
      </p:pic>
    </p:spTree>
    <p:extLst>
      <p:ext uri="{BB962C8B-B14F-4D97-AF65-F5344CB8AC3E}">
        <p14:creationId xmlns:p14="http://schemas.microsoft.com/office/powerpoint/2010/main" val="58533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20</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76583" y="1635658"/>
            <a:ext cx="8832496" cy="3550491"/>
          </a:xfrm>
        </p:spPr>
        <p:txBody>
          <a:bodyPr>
            <a:normAutofit/>
          </a:bodyPr>
          <a:lstStyle/>
          <a:p>
            <a:pPr defTabSz="914400" eaLnBrk="0" fontAlgn="base" hangingPunct="0">
              <a:lnSpc>
                <a:spcPct val="100000"/>
              </a:lnSpc>
              <a:spcAft>
                <a:spcPct val="0"/>
              </a:spcAft>
            </a:pPr>
            <a:br>
              <a:rPr lang="en-US" altLang="en-US" dirty="0"/>
            </a:br>
            <a:r>
              <a:rPr lang="en-US" altLang="en-US" sz="7301" b="1" dirty="0"/>
              <a:t>Informed Search</a:t>
            </a:r>
            <a:br>
              <a:rPr lang="en-US" altLang="en-US" sz="7301" b="1" dirty="0"/>
            </a:br>
            <a:br>
              <a:rPr lang="en-US" altLang="en-US" sz="3600" dirty="0"/>
            </a:br>
            <a:endParaRPr lang="en-US" altLang="en-US" sz="3601" dirty="0"/>
          </a:p>
        </p:txBody>
      </p:sp>
    </p:spTree>
    <p:extLst>
      <p:ext uri="{BB962C8B-B14F-4D97-AF65-F5344CB8AC3E}">
        <p14:creationId xmlns:p14="http://schemas.microsoft.com/office/powerpoint/2010/main" val="1044192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201526" y="355600"/>
            <a:ext cx="8709772" cy="1008529"/>
          </a:xfrm>
        </p:spPr>
        <p:txBody>
          <a:bodyPr/>
          <a:lstStyle/>
          <a:p>
            <a:pPr eaLnBrk="1" hangingPunct="1"/>
            <a:r>
              <a:rPr lang="en-US" altLang="en-US" dirty="0">
                <a:solidFill>
                  <a:schemeClr val="accent2"/>
                </a:solidFill>
              </a:rPr>
              <a:t>Informed search</a:t>
            </a:r>
            <a:endParaRPr lang="en-US" altLang="en-US" sz="2912" dirty="0">
              <a:solidFill>
                <a:schemeClr val="accent2"/>
              </a:solidFill>
            </a:endParaRPr>
          </a:p>
        </p:txBody>
      </p:sp>
      <p:sp>
        <p:nvSpPr>
          <p:cNvPr id="159747" name="Rectangle 3"/>
          <p:cNvSpPr>
            <a:spLocks noGrp="1" noChangeArrowheads="1"/>
          </p:cNvSpPr>
          <p:nvPr>
            <p:ph type="body" idx="1"/>
          </p:nvPr>
        </p:nvSpPr>
        <p:spPr>
          <a:xfrm>
            <a:off x="1201526" y="1364129"/>
            <a:ext cx="8807824" cy="4281951"/>
          </a:xfrm>
        </p:spPr>
        <p:txBody>
          <a:bodyPr>
            <a:normAutofit/>
          </a:bodyPr>
          <a:lstStyle/>
          <a:p>
            <a:pPr eaLnBrk="1" hangingPunct="1"/>
            <a:r>
              <a:rPr lang="en-US" altLang="en-US" sz="2912" dirty="0"/>
              <a:t>So far, have assumed that </a:t>
            </a:r>
            <a:r>
              <a:rPr lang="en-US" altLang="en-US" sz="2912" dirty="0">
                <a:solidFill>
                  <a:schemeClr val="accent2"/>
                </a:solidFill>
              </a:rPr>
              <a:t>no non-goal state looks better than another</a:t>
            </a:r>
          </a:p>
          <a:p>
            <a:pPr eaLnBrk="1" hangingPunct="1"/>
            <a:r>
              <a:rPr lang="en-US" altLang="en-US" sz="2912" dirty="0"/>
              <a:t>Unrealistic</a:t>
            </a:r>
          </a:p>
          <a:p>
            <a:pPr lvl="1" eaLnBrk="1" hangingPunct="1"/>
            <a:r>
              <a:rPr lang="en-US" altLang="en-US" sz="2382" dirty="0"/>
              <a:t>Even without knowing the road structure, some locations seem closer to the goal than others</a:t>
            </a:r>
          </a:p>
          <a:p>
            <a:pPr lvl="1" eaLnBrk="1" hangingPunct="1"/>
            <a:r>
              <a:rPr lang="en-US" altLang="en-US" sz="2382" dirty="0"/>
              <a:t>Some states of the 8 puzzle seem closer to the goal than others</a:t>
            </a:r>
          </a:p>
          <a:p>
            <a:pPr eaLnBrk="1" hangingPunct="1"/>
            <a:r>
              <a:rPr lang="en-US" altLang="en-US" dirty="0"/>
              <a:t>Makes sense to expand closer-seeming nodes first</a:t>
            </a:r>
            <a:endParaRPr lang="en-US" altLang="en-US" sz="2912" dirty="0"/>
          </a:p>
        </p:txBody>
      </p:sp>
    </p:spTree>
    <p:extLst>
      <p:ext uri="{BB962C8B-B14F-4D97-AF65-F5344CB8AC3E}">
        <p14:creationId xmlns:p14="http://schemas.microsoft.com/office/powerpoint/2010/main" val="2301735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9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97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97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9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713099" y="314960"/>
            <a:ext cx="8820431" cy="1008529"/>
          </a:xfrm>
        </p:spPr>
        <p:txBody>
          <a:bodyPr/>
          <a:lstStyle/>
          <a:p>
            <a:pPr eaLnBrk="1" hangingPunct="1"/>
            <a:r>
              <a:rPr lang="en-US" altLang="en-US" dirty="0">
                <a:solidFill>
                  <a:schemeClr val="accent2">
                    <a:lumMod val="75000"/>
                  </a:schemeClr>
                </a:solidFill>
              </a:rPr>
              <a:t>Heuristics</a:t>
            </a:r>
            <a:endParaRPr lang="en-US" altLang="en-US" sz="2912" dirty="0">
              <a:solidFill>
                <a:schemeClr val="accent2">
                  <a:lumMod val="75000"/>
                </a:schemeClr>
              </a:solidFill>
            </a:endParaRPr>
          </a:p>
        </p:txBody>
      </p:sp>
      <p:sp>
        <p:nvSpPr>
          <p:cNvPr id="160771" name="Rectangle 3"/>
          <p:cNvSpPr>
            <a:spLocks noGrp="1" noChangeArrowheads="1"/>
          </p:cNvSpPr>
          <p:nvPr>
            <p:ph type="body" idx="1"/>
          </p:nvPr>
        </p:nvSpPr>
        <p:spPr>
          <a:xfrm>
            <a:off x="1671077" y="1190139"/>
            <a:ext cx="8807824" cy="5545941"/>
          </a:xfrm>
        </p:spPr>
        <p:txBody>
          <a:bodyPr>
            <a:normAutofit/>
          </a:bodyPr>
          <a:lstStyle/>
          <a:p>
            <a:pPr eaLnBrk="1" hangingPunct="1">
              <a:lnSpc>
                <a:spcPct val="104000"/>
              </a:lnSpc>
            </a:pPr>
            <a:r>
              <a:rPr lang="en-US" altLang="en-US" sz="2400" dirty="0"/>
              <a:t>Key notion: </a:t>
            </a:r>
            <a:r>
              <a:rPr lang="en-US" altLang="en-US" sz="2400" dirty="0">
                <a:solidFill>
                  <a:srgbClr val="006600"/>
                </a:solidFill>
              </a:rPr>
              <a:t>heuristic function</a:t>
            </a:r>
            <a:r>
              <a:rPr lang="en-US" altLang="en-US" sz="2400" dirty="0"/>
              <a:t> h(n) gives an estimate of the distance from n to the goal</a:t>
            </a:r>
          </a:p>
          <a:p>
            <a:pPr lvl="1" eaLnBrk="1" hangingPunct="1">
              <a:lnSpc>
                <a:spcPct val="104000"/>
              </a:lnSpc>
            </a:pPr>
            <a:r>
              <a:rPr lang="en-US" altLang="en-US" dirty="0"/>
              <a:t>h(n)=0 for goal nodes</a:t>
            </a:r>
          </a:p>
          <a:p>
            <a:pPr eaLnBrk="1" hangingPunct="1">
              <a:lnSpc>
                <a:spcPct val="104000"/>
              </a:lnSpc>
            </a:pPr>
            <a:r>
              <a:rPr lang="en-US" altLang="en-US" sz="2400" dirty="0"/>
              <a:t>E.g. </a:t>
            </a:r>
            <a:r>
              <a:rPr lang="en-US" altLang="en-US" sz="2400" dirty="0">
                <a:solidFill>
                  <a:srgbClr val="006600"/>
                </a:solidFill>
              </a:rPr>
              <a:t>straight-line distance</a:t>
            </a:r>
            <a:r>
              <a:rPr lang="en-US" altLang="en-US" sz="2400" dirty="0"/>
              <a:t> for traveling problem</a:t>
            </a:r>
          </a:p>
          <a:p>
            <a:pPr eaLnBrk="1" hangingPunct="1">
              <a:lnSpc>
                <a:spcPct val="104000"/>
              </a:lnSpc>
            </a:pPr>
            <a:endParaRPr lang="en-US" altLang="en-US" sz="2400" dirty="0"/>
          </a:p>
          <a:p>
            <a:pPr marL="0" indent="0">
              <a:buNone/>
            </a:pPr>
            <a:r>
              <a:rPr lang="en-US" altLang="en-US" dirty="0">
                <a:solidFill>
                  <a:schemeClr val="accent2"/>
                </a:solidFill>
              </a:rPr>
              <a:t>Heuristic Search:</a:t>
            </a:r>
            <a:endParaRPr lang="en-US" altLang="en-US" dirty="0"/>
          </a:p>
          <a:p>
            <a:pPr marL="0" indent="0">
              <a:buNone/>
            </a:pPr>
            <a:r>
              <a:rPr lang="en-US" altLang="en-US" sz="2400" dirty="0">
                <a:solidFill>
                  <a:srgbClr val="C00000"/>
                </a:solidFill>
              </a:rPr>
              <a:t>A heuristic search is a type of search performed by artificial intelligence (AI) that looks to find a good solution, not necessarily a perfect one using heuristic functions</a:t>
            </a:r>
            <a:r>
              <a:rPr lang="en-US" altLang="en-US" sz="2400" dirty="0"/>
              <a:t>. Rather than focusing on finding an optimal solution like other search methods, heuristic searching is designed to be quick, and therefore finds the most acceptable option within a reasonable time.</a:t>
            </a:r>
          </a:p>
          <a:p>
            <a:pPr eaLnBrk="1" hangingPunct="1">
              <a:lnSpc>
                <a:spcPct val="104000"/>
              </a:lnSpc>
            </a:pPr>
            <a:endParaRPr lang="en-US" altLang="en-US" sz="2400" dirty="0"/>
          </a:p>
          <a:p>
            <a:pPr eaLnBrk="1" hangingPunct="1">
              <a:lnSpc>
                <a:spcPct val="104000"/>
              </a:lnSpc>
            </a:pPr>
            <a:endParaRPr lang="en-US" altLang="en-US" sz="2559" dirty="0"/>
          </a:p>
        </p:txBody>
      </p:sp>
    </p:spTree>
    <p:extLst>
      <p:ext uri="{BB962C8B-B14F-4D97-AF65-F5344CB8AC3E}">
        <p14:creationId xmlns:p14="http://schemas.microsoft.com/office/powerpoint/2010/main" val="3411523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07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0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38202" y="398060"/>
            <a:ext cx="8229600" cy="1143000"/>
          </a:xfrm>
        </p:spPr>
        <p:txBody>
          <a:bodyPr/>
          <a:lstStyle/>
          <a:p>
            <a:pPr eaLnBrk="1" hangingPunct="1"/>
            <a:r>
              <a:rPr lang="en-US" altLang="en-US" dirty="0">
                <a:solidFill>
                  <a:schemeClr val="accent2">
                    <a:lumMod val="75000"/>
                  </a:schemeClr>
                </a:solidFill>
              </a:rPr>
              <a:t>Best-first</a:t>
            </a:r>
            <a:r>
              <a:rPr lang="en-US" altLang="en-US" dirty="0">
                <a:solidFill>
                  <a:srgbClr val="FF0000"/>
                </a:solidFill>
              </a:rPr>
              <a:t> </a:t>
            </a:r>
            <a:r>
              <a:rPr lang="en-US" altLang="en-US" dirty="0">
                <a:solidFill>
                  <a:schemeClr val="accent2">
                    <a:lumMod val="75000"/>
                  </a:schemeClr>
                </a:solidFill>
              </a:rPr>
              <a:t>search</a:t>
            </a:r>
          </a:p>
        </p:txBody>
      </p:sp>
      <p:sp>
        <p:nvSpPr>
          <p:cNvPr id="5123" name="Rectangle 3"/>
          <p:cNvSpPr>
            <a:spLocks noGrp="1" noChangeArrowheads="1"/>
          </p:cNvSpPr>
          <p:nvPr>
            <p:ph type="body" idx="1"/>
          </p:nvPr>
        </p:nvSpPr>
        <p:spPr>
          <a:xfrm>
            <a:off x="838202" y="1541060"/>
            <a:ext cx="10515600" cy="4351338"/>
          </a:xfrm>
        </p:spPr>
        <p:txBody>
          <a:bodyPr/>
          <a:lstStyle/>
          <a:p>
            <a:pPr eaLnBrk="1" hangingPunct="1">
              <a:lnSpc>
                <a:spcPct val="90000"/>
              </a:lnSpc>
            </a:pPr>
            <a:r>
              <a:rPr lang="en-US" altLang="en-US" sz="2400" dirty="0"/>
              <a:t>Idea: </a:t>
            </a:r>
            <a:r>
              <a:rPr lang="en-US" altLang="en-US" sz="2400" dirty="0">
                <a:solidFill>
                  <a:schemeClr val="tx1">
                    <a:lumMod val="95000"/>
                    <a:lumOff val="5000"/>
                  </a:schemeClr>
                </a:solidFill>
              </a:rPr>
              <a:t>use an evaluation function </a:t>
            </a:r>
            <a:r>
              <a:rPr lang="en-US" altLang="en-US" sz="2400" i="1" dirty="0">
                <a:solidFill>
                  <a:schemeClr val="tx1">
                    <a:lumMod val="95000"/>
                    <a:lumOff val="5000"/>
                  </a:schemeClr>
                </a:solidFill>
              </a:rPr>
              <a:t>f(n) </a:t>
            </a:r>
            <a:r>
              <a:rPr lang="en-US" altLang="en-US" sz="2400" dirty="0">
                <a:solidFill>
                  <a:schemeClr val="tx1">
                    <a:lumMod val="95000"/>
                    <a:lumOff val="5000"/>
                  </a:schemeClr>
                </a:solidFill>
              </a:rPr>
              <a:t>for each node</a:t>
            </a:r>
          </a:p>
          <a:p>
            <a:pPr lvl="1" eaLnBrk="1" hangingPunct="1">
              <a:lnSpc>
                <a:spcPct val="90000"/>
              </a:lnSpc>
            </a:pPr>
            <a:r>
              <a:rPr lang="en-US" altLang="en-US" sz="2000" dirty="0">
                <a:solidFill>
                  <a:schemeClr val="tx1">
                    <a:lumMod val="95000"/>
                    <a:lumOff val="5000"/>
                  </a:schemeClr>
                </a:solidFill>
              </a:rPr>
              <a:t>estimate of "desirability"</a:t>
            </a:r>
          </a:p>
          <a:p>
            <a:pPr lvl="1" eaLnBrk="1" hangingPunct="1">
              <a:lnSpc>
                <a:spcPct val="90000"/>
              </a:lnSpc>
            </a:pPr>
            <a:r>
              <a:rPr lang="en-US" altLang="en-US" sz="2000" dirty="0">
                <a:solidFill>
                  <a:schemeClr val="tx1">
                    <a:lumMod val="95000"/>
                    <a:lumOff val="5000"/>
                  </a:schemeClr>
                </a:solidFill>
              </a:rPr>
              <a:t>Expand most desirable unexpanded node</a:t>
            </a:r>
          </a:p>
          <a:p>
            <a:pPr eaLnBrk="1" hangingPunct="1">
              <a:lnSpc>
                <a:spcPct val="90000"/>
              </a:lnSpc>
            </a:pPr>
            <a:r>
              <a:rPr lang="en-US" altLang="en-US" sz="2400" u="sng" dirty="0">
                <a:solidFill>
                  <a:schemeClr val="tx1">
                    <a:lumMod val="95000"/>
                    <a:lumOff val="5000"/>
                  </a:schemeClr>
                </a:solidFill>
              </a:rPr>
              <a:t>Implementation</a:t>
            </a:r>
            <a:r>
              <a:rPr lang="en-US" altLang="en-US" sz="2400" dirty="0">
                <a:solidFill>
                  <a:schemeClr val="tx1">
                    <a:lumMod val="95000"/>
                    <a:lumOff val="5000"/>
                  </a:schemeClr>
                </a:solidFill>
              </a:rPr>
              <a:t>:</a:t>
            </a:r>
          </a:p>
          <a:p>
            <a:pPr eaLnBrk="1" hangingPunct="1">
              <a:lnSpc>
                <a:spcPct val="90000"/>
              </a:lnSpc>
              <a:buFontTx/>
              <a:buNone/>
            </a:pPr>
            <a:r>
              <a:rPr lang="en-US" altLang="en-US" sz="2400" dirty="0">
                <a:solidFill>
                  <a:schemeClr val="tx1">
                    <a:lumMod val="95000"/>
                    <a:lumOff val="5000"/>
                  </a:schemeClr>
                </a:solidFill>
              </a:rPr>
              <a:t>	Order the nodes in fringe in decreasing order of desirability</a:t>
            </a:r>
          </a:p>
          <a:p>
            <a:pPr eaLnBrk="1" hangingPunct="1">
              <a:lnSpc>
                <a:spcPct val="90000"/>
              </a:lnSpc>
            </a:pPr>
            <a:r>
              <a:rPr lang="en-US" altLang="en-US" sz="2400" b="1" dirty="0">
                <a:solidFill>
                  <a:schemeClr val="accent2">
                    <a:lumMod val="75000"/>
                  </a:schemeClr>
                </a:solidFill>
              </a:rPr>
              <a:t>Categories</a:t>
            </a:r>
            <a:r>
              <a:rPr lang="en-US" altLang="en-US" sz="2400" dirty="0">
                <a:solidFill>
                  <a:schemeClr val="accent2">
                    <a:lumMod val="75000"/>
                  </a:schemeClr>
                </a:solidFill>
              </a:rPr>
              <a:t>:</a:t>
            </a:r>
          </a:p>
          <a:p>
            <a:pPr lvl="1" eaLnBrk="1" hangingPunct="1">
              <a:lnSpc>
                <a:spcPct val="90000"/>
              </a:lnSpc>
            </a:pPr>
            <a:r>
              <a:rPr lang="en-US" altLang="en-US" dirty="0">
                <a:solidFill>
                  <a:schemeClr val="tx1">
                    <a:lumMod val="95000"/>
                    <a:lumOff val="5000"/>
                  </a:schemeClr>
                </a:solidFill>
              </a:rPr>
              <a:t>Greedy best-first search</a:t>
            </a:r>
          </a:p>
          <a:p>
            <a:pPr lvl="1" eaLnBrk="1" hangingPunct="1">
              <a:lnSpc>
                <a:spcPct val="90000"/>
              </a:lnSpc>
            </a:pPr>
            <a:r>
              <a:rPr lang="en-US" altLang="en-US" dirty="0">
                <a:solidFill>
                  <a:schemeClr val="tx1">
                    <a:lumMod val="95000"/>
                    <a:lumOff val="5000"/>
                  </a:schemeClr>
                </a:solidFill>
              </a:rPr>
              <a:t>A</a:t>
            </a:r>
            <a:r>
              <a:rPr lang="en-US" altLang="en-US" baseline="30000" dirty="0">
                <a:solidFill>
                  <a:schemeClr val="tx1">
                    <a:lumMod val="95000"/>
                    <a:lumOff val="5000"/>
                  </a:schemeClr>
                </a:solidFill>
              </a:rPr>
              <a:t>*</a:t>
            </a:r>
            <a:r>
              <a:rPr lang="en-US" altLang="en-US" dirty="0">
                <a:solidFill>
                  <a:schemeClr val="tx1">
                    <a:lumMod val="95000"/>
                    <a:lumOff val="5000"/>
                  </a:schemeClr>
                </a:solidFill>
              </a:rPr>
              <a:t> search</a:t>
            </a:r>
          </a:p>
        </p:txBody>
      </p:sp>
    </p:spTree>
    <p:extLst>
      <p:ext uri="{BB962C8B-B14F-4D97-AF65-F5344CB8AC3E}">
        <p14:creationId xmlns:p14="http://schemas.microsoft.com/office/powerpoint/2010/main" val="516729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456062" y="788672"/>
            <a:ext cx="8609196" cy="678176"/>
          </a:xfrm>
        </p:spPr>
        <p:txBody>
          <a:bodyPr>
            <a:normAutofit fontScale="90000"/>
          </a:bodyPr>
          <a:lstStyle/>
          <a:p>
            <a:pPr eaLnBrk="1" hangingPunct="1"/>
            <a:r>
              <a:rPr lang="en-US" altLang="en-US" dirty="0">
                <a:solidFill>
                  <a:schemeClr val="accent2"/>
                </a:solidFill>
              </a:rPr>
              <a:t>Greedy best-first search</a:t>
            </a:r>
            <a:endParaRPr lang="en-US" altLang="en-US" sz="2912" dirty="0">
              <a:solidFill>
                <a:schemeClr val="accent2"/>
              </a:solidFill>
            </a:endParaRPr>
          </a:p>
        </p:txBody>
      </p:sp>
      <p:sp>
        <p:nvSpPr>
          <p:cNvPr id="30723" name="Rectangle 3"/>
          <p:cNvSpPr>
            <a:spLocks noGrp="1" noChangeArrowheads="1"/>
          </p:cNvSpPr>
          <p:nvPr>
            <p:ph type="body" idx="1"/>
          </p:nvPr>
        </p:nvSpPr>
        <p:spPr>
          <a:xfrm>
            <a:off x="1456062" y="1789471"/>
            <a:ext cx="8710467" cy="3940769"/>
          </a:xfrm>
        </p:spPr>
        <p:txBody>
          <a:bodyPr>
            <a:normAutofit/>
          </a:bodyPr>
          <a:lstStyle/>
          <a:p>
            <a:r>
              <a:rPr lang="en-US" altLang="en-US" sz="2559" dirty="0">
                <a:solidFill>
                  <a:srgbClr val="006600"/>
                </a:solidFill>
              </a:rPr>
              <a:t>Greedy best-first search</a:t>
            </a:r>
            <a:r>
              <a:rPr lang="en-US" altLang="en-US" sz="2559" dirty="0"/>
              <a:t>: expand nodes with lowest h values first. It expands the node that appears to be closest to goal.</a:t>
            </a:r>
          </a:p>
          <a:p>
            <a:pPr eaLnBrk="1" hangingPunct="1">
              <a:defRPr/>
            </a:pPr>
            <a:r>
              <a:rPr lang="en-US" altLang="en-US" sz="2400" dirty="0">
                <a:solidFill>
                  <a:srgbClr val="FF0000"/>
                </a:solidFill>
              </a:rPr>
              <a:t>Evaluation function </a:t>
            </a:r>
            <a:r>
              <a:rPr lang="en-US" altLang="en-US" sz="2400" i="1" dirty="0">
                <a:solidFill>
                  <a:srgbClr val="FF0000"/>
                </a:solidFill>
              </a:rPr>
              <a:t>f(n) = h(n) </a:t>
            </a:r>
            <a:r>
              <a:rPr lang="en-US" altLang="en-US" sz="2400" dirty="0">
                <a:solidFill>
                  <a:srgbClr val="FF0000"/>
                </a:solidFill>
              </a:rPr>
              <a:t>(heuristic)</a:t>
            </a:r>
          </a:p>
          <a:p>
            <a:pPr marL="0" indent="0">
              <a:buNone/>
              <a:defRPr/>
            </a:pPr>
            <a:r>
              <a:rPr lang="en-US" altLang="en-US" sz="2400" dirty="0">
                <a:solidFill>
                  <a:srgbClr val="FF0000"/>
                </a:solidFill>
              </a:rPr>
              <a:t>	= estimate of cost from </a:t>
            </a:r>
            <a:r>
              <a:rPr lang="en-US" altLang="en-US" sz="2400" i="1" dirty="0">
                <a:solidFill>
                  <a:srgbClr val="FF0000"/>
                </a:solidFill>
              </a:rPr>
              <a:t>n</a:t>
            </a:r>
            <a:r>
              <a:rPr lang="en-US" altLang="en-US" sz="2400" dirty="0">
                <a:solidFill>
                  <a:srgbClr val="FF0000"/>
                </a:solidFill>
              </a:rPr>
              <a:t> to </a:t>
            </a:r>
            <a:r>
              <a:rPr lang="en-US" altLang="en-US" sz="2400" i="1" dirty="0">
                <a:solidFill>
                  <a:srgbClr val="FF0000"/>
                </a:solidFill>
              </a:rPr>
              <a:t>goal</a:t>
            </a:r>
            <a:endParaRPr lang="en-US" altLang="en-US" sz="2400" dirty="0">
              <a:solidFill>
                <a:srgbClr val="FF0000"/>
              </a:solidFill>
            </a:endParaRPr>
          </a:p>
          <a:p>
            <a:pPr marL="0" indent="0">
              <a:buNone/>
              <a:defRPr/>
            </a:pPr>
            <a:endParaRPr lang="en-US" altLang="en-US" sz="2400" dirty="0"/>
          </a:p>
          <a:p>
            <a:pPr eaLnBrk="1" hangingPunct="1">
              <a:defRPr/>
            </a:pPr>
            <a:r>
              <a:rPr lang="en-US" altLang="en-US" sz="2400" dirty="0"/>
              <a:t>e.g., </a:t>
            </a:r>
            <a:r>
              <a:rPr lang="en-US" altLang="en-US" sz="2400" i="1" dirty="0" err="1"/>
              <a:t>h</a:t>
            </a:r>
            <a:r>
              <a:rPr lang="en-US" altLang="en-US" sz="2400" i="1" baseline="-25000" dirty="0" err="1"/>
              <a:t>SLD</a:t>
            </a:r>
            <a:r>
              <a:rPr lang="en-US" altLang="en-US" sz="2400" i="1" dirty="0"/>
              <a:t>(n)</a:t>
            </a:r>
            <a:r>
              <a:rPr lang="en-US" altLang="en-US" sz="2400" dirty="0"/>
              <a:t> = straight-line distance from </a:t>
            </a:r>
            <a:r>
              <a:rPr lang="en-US" altLang="en-US" sz="2400" i="1" dirty="0"/>
              <a:t>n</a:t>
            </a:r>
            <a:r>
              <a:rPr lang="en-US" altLang="en-US" sz="2400" dirty="0"/>
              <a:t> to Bucharest</a:t>
            </a:r>
          </a:p>
          <a:p>
            <a:pPr marL="0" indent="0">
              <a:buNone/>
            </a:pPr>
            <a:endParaRPr lang="en-US" altLang="en-US" sz="2559" dirty="0"/>
          </a:p>
          <a:p>
            <a:pPr marL="0" indent="0" eaLnBrk="1" hangingPunct="1">
              <a:buNone/>
            </a:pPr>
            <a:endParaRPr lang="en-US" altLang="en-US" sz="2559" dirty="0"/>
          </a:p>
        </p:txBody>
      </p:sp>
    </p:spTree>
    <p:extLst>
      <p:ext uri="{BB962C8B-B14F-4D97-AF65-F5344CB8AC3E}">
        <p14:creationId xmlns:p14="http://schemas.microsoft.com/office/powerpoint/2010/main" val="242926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0" y="260350"/>
            <a:ext cx="8229600" cy="1143000"/>
          </a:xfrm>
        </p:spPr>
        <p:txBody>
          <a:bodyPr/>
          <a:lstStyle/>
          <a:p>
            <a:pPr eaLnBrk="1" hangingPunct="1"/>
            <a:r>
              <a:rPr lang="en-US" altLang="en-US" dirty="0">
                <a:solidFill>
                  <a:schemeClr val="accent2">
                    <a:lumMod val="75000"/>
                  </a:schemeClr>
                </a:solidFill>
              </a:rPr>
              <a:t>Romania with step costs in km</a:t>
            </a:r>
          </a:p>
        </p:txBody>
      </p:sp>
      <p:pic>
        <p:nvPicPr>
          <p:cNvPr id="6147" name="Picture 4" descr="romania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184" y="1403350"/>
            <a:ext cx="8767616" cy="429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6790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52F48D9-8BEE-67DB-288D-58E3CCA40366}"/>
              </a:ext>
            </a:extLst>
          </p:cNvPr>
          <p:cNvSpPr>
            <a:spLocks noGrp="1" noChangeArrowheads="1"/>
          </p:cNvSpPr>
          <p:nvPr>
            <p:ph type="title"/>
          </p:nvPr>
        </p:nvSpPr>
        <p:spPr/>
        <p:txBody>
          <a:bodyPr/>
          <a:lstStyle/>
          <a:p>
            <a:pPr eaLnBrk="1" hangingPunct="1"/>
            <a:r>
              <a:rPr lang="en-US" altLang="en-US"/>
              <a:t>Greedy best-first search example</a:t>
            </a:r>
          </a:p>
        </p:txBody>
      </p:sp>
      <p:pic>
        <p:nvPicPr>
          <p:cNvPr id="8195" name="Picture 4" descr="greedy-progress01c">
            <a:extLst>
              <a:ext uri="{FF2B5EF4-FFF2-40B4-BE49-F238E27FC236}">
                <a16:creationId xmlns:a16="http://schemas.microsoft.com/office/drawing/2014/main" id="{6C3B2A7D-DE3C-751A-9EE7-578CB9670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828801"/>
            <a:ext cx="5467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descr="greedy-progress02c">
            <a:extLst>
              <a:ext uri="{FF2B5EF4-FFF2-40B4-BE49-F238E27FC236}">
                <a16:creationId xmlns:a16="http://schemas.microsoft.com/office/drawing/2014/main" id="{289FC10A-0266-F482-4638-F0224D3C77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828801"/>
            <a:ext cx="5467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2">
            <a:extLst>
              <a:ext uri="{FF2B5EF4-FFF2-40B4-BE49-F238E27FC236}">
                <a16:creationId xmlns:a16="http://schemas.microsoft.com/office/drawing/2014/main" id="{1C194ED6-8045-FDAC-92D1-DE3795337D7B}"/>
              </a:ext>
            </a:extLst>
          </p:cNvPr>
          <p:cNvSpPr>
            <a:spLocks noGrp="1" noChangeArrowheads="1"/>
          </p:cNvSpPr>
          <p:nvPr>
            <p:ph type="title"/>
          </p:nvPr>
        </p:nvSpPr>
        <p:spPr/>
        <p:txBody>
          <a:bodyPr/>
          <a:lstStyle/>
          <a:p>
            <a:pPr eaLnBrk="1" hangingPunct="1"/>
            <a:r>
              <a:rPr lang="en-US" altLang="en-US"/>
              <a:t>Greedy best-first search example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greedy-progress03c">
            <a:extLst>
              <a:ext uri="{FF2B5EF4-FFF2-40B4-BE49-F238E27FC236}">
                <a16:creationId xmlns:a16="http://schemas.microsoft.com/office/drawing/2014/main" id="{F06DC05D-787F-A78B-5E4C-41FDAABDE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828801"/>
            <a:ext cx="5467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a:extLst>
              <a:ext uri="{FF2B5EF4-FFF2-40B4-BE49-F238E27FC236}">
                <a16:creationId xmlns:a16="http://schemas.microsoft.com/office/drawing/2014/main" id="{BD026629-D8F5-D283-001D-28EB9172D61B}"/>
              </a:ext>
            </a:extLst>
          </p:cNvPr>
          <p:cNvSpPr>
            <a:spLocks noGrp="1" noChangeArrowheads="1"/>
          </p:cNvSpPr>
          <p:nvPr>
            <p:ph type="title"/>
          </p:nvPr>
        </p:nvSpPr>
        <p:spPr/>
        <p:txBody>
          <a:bodyPr/>
          <a:lstStyle/>
          <a:p>
            <a:pPr eaLnBrk="1" hangingPunct="1"/>
            <a:r>
              <a:rPr lang="en-US" altLang="en-US"/>
              <a:t>Greedy best-first search 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descr="greedy-progress04c">
            <a:extLst>
              <a:ext uri="{FF2B5EF4-FFF2-40B4-BE49-F238E27FC236}">
                <a16:creationId xmlns:a16="http://schemas.microsoft.com/office/drawing/2014/main" id="{D6011828-06EC-346C-B455-3AC000192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828801"/>
            <a:ext cx="54673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2">
            <a:extLst>
              <a:ext uri="{FF2B5EF4-FFF2-40B4-BE49-F238E27FC236}">
                <a16:creationId xmlns:a16="http://schemas.microsoft.com/office/drawing/2014/main" id="{BBE0292E-0E27-8E21-ABE5-897D0E54F1E2}"/>
              </a:ext>
            </a:extLst>
          </p:cNvPr>
          <p:cNvSpPr>
            <a:spLocks noGrp="1" noChangeArrowheads="1"/>
          </p:cNvSpPr>
          <p:nvPr>
            <p:ph type="title"/>
          </p:nvPr>
        </p:nvSpPr>
        <p:spPr/>
        <p:txBody>
          <a:bodyPr/>
          <a:lstStyle/>
          <a:p>
            <a:pPr eaLnBrk="1" hangingPunct="1"/>
            <a:r>
              <a:rPr lang="en-US" altLang="en-US"/>
              <a:t>Greedy best-first search example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78671" y="1071716"/>
            <a:ext cx="10330606" cy="4719484"/>
          </a:xfrm>
        </p:spPr>
        <p:txBody>
          <a:bodyPr>
            <a:normAutofit/>
          </a:bodyPr>
          <a:lstStyle/>
          <a:p>
            <a:r>
              <a:rPr lang="en-US" altLang="en-US" sz="4000" b="1" dirty="0">
                <a:solidFill>
                  <a:schemeClr val="tx1">
                    <a:lumMod val="95000"/>
                    <a:lumOff val="5000"/>
                  </a:schemeClr>
                </a:solidFill>
              </a:rPr>
              <a:t>Greedy best first search evaluation</a:t>
            </a:r>
            <a:br>
              <a:rPr lang="en-US" altLang="en-US" sz="2800" u="sng" dirty="0">
                <a:solidFill>
                  <a:schemeClr val="tx1">
                    <a:lumMod val="95000"/>
                    <a:lumOff val="5000"/>
                  </a:schemeClr>
                </a:solidFill>
              </a:rPr>
            </a:br>
            <a:br>
              <a:rPr lang="en-US" altLang="en-US" sz="2800" u="sng" dirty="0">
                <a:solidFill>
                  <a:schemeClr val="tx1">
                    <a:lumMod val="95000"/>
                    <a:lumOff val="5000"/>
                  </a:schemeClr>
                </a:solidFill>
              </a:rPr>
            </a:br>
            <a:r>
              <a:rPr lang="en-US" altLang="en-US" sz="2800" b="1" u="sng" dirty="0">
                <a:solidFill>
                  <a:schemeClr val="tx1">
                    <a:lumMod val="95000"/>
                    <a:lumOff val="5000"/>
                  </a:schemeClr>
                </a:solidFill>
              </a:rPr>
              <a:t>Complete?</a:t>
            </a:r>
            <a:r>
              <a:rPr lang="en-US" altLang="en-US" sz="2800" b="1" dirty="0">
                <a:solidFill>
                  <a:schemeClr val="tx1">
                    <a:lumMod val="95000"/>
                    <a:lumOff val="5000"/>
                  </a:schemeClr>
                </a:solidFill>
              </a:rPr>
              <a:t> </a:t>
            </a:r>
            <a:r>
              <a:rPr lang="en-US" altLang="en-US" sz="2800" dirty="0">
                <a:solidFill>
                  <a:schemeClr val="tx1">
                    <a:lumMod val="95000"/>
                    <a:lumOff val="5000"/>
                  </a:schemeClr>
                </a:solidFill>
              </a:rPr>
              <a:t>No – can get stuck in loops</a:t>
            </a:r>
            <a:br>
              <a:rPr lang="en-US" altLang="en-US" sz="2800" dirty="0">
                <a:solidFill>
                  <a:schemeClr val="tx1">
                    <a:lumMod val="95000"/>
                    <a:lumOff val="5000"/>
                  </a:schemeClr>
                </a:solidFill>
              </a:rPr>
            </a:br>
            <a:r>
              <a:rPr lang="en-US" altLang="en-US" sz="2800" dirty="0">
                <a:solidFill>
                  <a:schemeClr val="tx1">
                    <a:lumMod val="95000"/>
                    <a:lumOff val="5000"/>
                  </a:schemeClr>
                </a:solidFill>
              </a:rPr>
              <a:t>e.g., Iasi </a:t>
            </a:r>
            <a:r>
              <a:rPr lang="en-US" altLang="en-US" sz="2800" dirty="0">
                <a:solidFill>
                  <a:schemeClr val="tx1">
                    <a:lumMod val="95000"/>
                    <a:lumOff val="5000"/>
                  </a:schemeClr>
                </a:solidFill>
                <a:sym typeface="Wingdings" panose="05000000000000000000" pitchFamily="2" charset="2"/>
              </a:rPr>
              <a:t></a:t>
            </a:r>
            <a:r>
              <a:rPr lang="en-US" altLang="en-US" sz="2800" dirty="0">
                <a:solidFill>
                  <a:schemeClr val="tx1">
                    <a:lumMod val="95000"/>
                    <a:lumOff val="5000"/>
                  </a:schemeClr>
                </a:solidFill>
              </a:rPr>
              <a:t> </a:t>
            </a:r>
            <a:r>
              <a:rPr lang="en-US" altLang="en-US" sz="2800" dirty="0" err="1">
                <a:solidFill>
                  <a:schemeClr val="tx1">
                    <a:lumMod val="95000"/>
                    <a:lumOff val="5000"/>
                  </a:schemeClr>
                </a:solidFill>
              </a:rPr>
              <a:t>Neamt</a:t>
            </a:r>
            <a:r>
              <a:rPr lang="en-US" altLang="en-US" sz="2800" dirty="0">
                <a:solidFill>
                  <a:schemeClr val="tx1">
                    <a:lumMod val="95000"/>
                    <a:lumOff val="5000"/>
                  </a:schemeClr>
                </a:solidFill>
              </a:rPr>
              <a:t> </a:t>
            </a:r>
            <a:r>
              <a:rPr lang="en-US" altLang="en-US" sz="2800" dirty="0">
                <a:solidFill>
                  <a:schemeClr val="tx1">
                    <a:lumMod val="95000"/>
                    <a:lumOff val="5000"/>
                  </a:schemeClr>
                </a:solidFill>
                <a:sym typeface="Wingdings" panose="05000000000000000000" pitchFamily="2" charset="2"/>
              </a:rPr>
              <a:t></a:t>
            </a:r>
            <a:r>
              <a:rPr lang="en-US" altLang="en-US" sz="2800" dirty="0">
                <a:solidFill>
                  <a:schemeClr val="tx1">
                    <a:lumMod val="95000"/>
                    <a:lumOff val="5000"/>
                  </a:schemeClr>
                </a:solidFill>
              </a:rPr>
              <a:t> Iasi </a:t>
            </a:r>
            <a:r>
              <a:rPr lang="en-US" altLang="en-US" sz="2800" dirty="0">
                <a:solidFill>
                  <a:schemeClr val="tx1">
                    <a:lumMod val="95000"/>
                    <a:lumOff val="5000"/>
                  </a:schemeClr>
                </a:solidFill>
                <a:sym typeface="Wingdings" panose="05000000000000000000" pitchFamily="2" charset="2"/>
              </a:rPr>
              <a:t></a:t>
            </a:r>
            <a:r>
              <a:rPr lang="en-US" altLang="en-US" sz="2800" dirty="0">
                <a:solidFill>
                  <a:schemeClr val="tx1">
                    <a:lumMod val="95000"/>
                    <a:lumOff val="5000"/>
                  </a:schemeClr>
                </a:solidFill>
              </a:rPr>
              <a:t> </a:t>
            </a:r>
            <a:r>
              <a:rPr lang="en-US" altLang="en-US" sz="2800" dirty="0" err="1">
                <a:solidFill>
                  <a:schemeClr val="tx1">
                    <a:lumMod val="95000"/>
                    <a:lumOff val="5000"/>
                  </a:schemeClr>
                </a:solidFill>
              </a:rPr>
              <a:t>Neamt</a:t>
            </a:r>
            <a:r>
              <a:rPr lang="en-US" altLang="en-US" sz="2800" dirty="0">
                <a:solidFill>
                  <a:schemeClr val="tx1">
                    <a:lumMod val="95000"/>
                    <a:lumOff val="5000"/>
                  </a:schemeClr>
                </a:solidFill>
              </a:rPr>
              <a:t> </a:t>
            </a:r>
            <a:r>
              <a:rPr lang="en-US" altLang="en-US" sz="2800" dirty="0">
                <a:solidFill>
                  <a:schemeClr val="tx1">
                    <a:lumMod val="95000"/>
                    <a:lumOff val="5000"/>
                  </a:schemeClr>
                </a:solidFill>
                <a:sym typeface="Wingdings" panose="05000000000000000000" pitchFamily="2" charset="2"/>
              </a:rPr>
              <a:t></a:t>
            </a:r>
            <a:r>
              <a:rPr lang="en-US" altLang="en-US" sz="2800" dirty="0">
                <a:solidFill>
                  <a:schemeClr val="tx1">
                    <a:lumMod val="95000"/>
                    <a:lumOff val="5000"/>
                  </a:schemeClr>
                </a:solidFill>
              </a:rPr>
              <a:t> …….</a:t>
            </a:r>
            <a:br>
              <a:rPr lang="en-US" altLang="en-US" sz="2800" dirty="0">
                <a:solidFill>
                  <a:schemeClr val="tx1">
                    <a:lumMod val="95000"/>
                    <a:lumOff val="5000"/>
                  </a:schemeClr>
                </a:solidFill>
              </a:rPr>
            </a:br>
            <a:r>
              <a:rPr lang="en-US" altLang="en-US" sz="2800" b="1" u="sng" dirty="0">
                <a:solidFill>
                  <a:schemeClr val="tx1">
                    <a:lumMod val="95000"/>
                    <a:lumOff val="5000"/>
                  </a:schemeClr>
                </a:solidFill>
              </a:rPr>
              <a:t>Time?</a:t>
            </a:r>
            <a:r>
              <a:rPr lang="en-US" altLang="en-US" sz="2800" b="1" dirty="0">
                <a:solidFill>
                  <a:schemeClr val="tx1">
                    <a:lumMod val="95000"/>
                    <a:lumOff val="5000"/>
                  </a:schemeClr>
                </a:solidFill>
              </a:rPr>
              <a:t> </a:t>
            </a:r>
            <a:r>
              <a:rPr lang="en-US" altLang="en-US" sz="2800" i="1" dirty="0">
                <a:solidFill>
                  <a:schemeClr val="tx1">
                    <a:lumMod val="95000"/>
                    <a:lumOff val="5000"/>
                  </a:schemeClr>
                </a:solidFill>
              </a:rPr>
              <a:t>O(</a:t>
            </a:r>
            <a:r>
              <a:rPr lang="en-US" altLang="en-US" sz="2800" i="1" dirty="0" err="1">
                <a:solidFill>
                  <a:schemeClr val="tx1">
                    <a:lumMod val="95000"/>
                    <a:lumOff val="5000"/>
                  </a:schemeClr>
                </a:solidFill>
              </a:rPr>
              <a:t>b</a:t>
            </a:r>
            <a:r>
              <a:rPr lang="en-US" altLang="en-US" sz="2800" i="1" baseline="30000" dirty="0" err="1">
                <a:solidFill>
                  <a:schemeClr val="tx1">
                    <a:lumMod val="95000"/>
                    <a:lumOff val="5000"/>
                  </a:schemeClr>
                </a:solidFill>
              </a:rPr>
              <a:t>m</a:t>
            </a:r>
            <a:r>
              <a:rPr lang="en-US" altLang="en-US" sz="2800" i="1" dirty="0">
                <a:solidFill>
                  <a:schemeClr val="tx1">
                    <a:lumMod val="95000"/>
                    <a:lumOff val="5000"/>
                  </a:schemeClr>
                </a:solidFill>
              </a:rPr>
              <a:t>)</a:t>
            </a:r>
            <a:r>
              <a:rPr lang="en-US" altLang="en-US" sz="2800" dirty="0">
                <a:solidFill>
                  <a:schemeClr val="tx1">
                    <a:lumMod val="95000"/>
                    <a:lumOff val="5000"/>
                  </a:schemeClr>
                </a:solidFill>
              </a:rPr>
              <a:t>, but a good heuristic can give dramatic improvement</a:t>
            </a:r>
            <a:br>
              <a:rPr lang="en-US" altLang="en-US" sz="2800" dirty="0">
                <a:solidFill>
                  <a:schemeClr val="tx1">
                    <a:lumMod val="95000"/>
                    <a:lumOff val="5000"/>
                  </a:schemeClr>
                </a:solidFill>
              </a:rPr>
            </a:br>
            <a:r>
              <a:rPr lang="en-US" altLang="en-US" sz="2800" b="1" u="sng" dirty="0">
                <a:solidFill>
                  <a:schemeClr val="tx1">
                    <a:lumMod val="95000"/>
                    <a:lumOff val="5000"/>
                  </a:schemeClr>
                </a:solidFill>
              </a:rPr>
              <a:t>Space?</a:t>
            </a:r>
            <a:r>
              <a:rPr lang="en-US" altLang="en-US" sz="2800" b="1" dirty="0">
                <a:solidFill>
                  <a:schemeClr val="tx1">
                    <a:lumMod val="95000"/>
                    <a:lumOff val="5000"/>
                  </a:schemeClr>
                </a:solidFill>
              </a:rPr>
              <a:t> </a:t>
            </a:r>
            <a:r>
              <a:rPr lang="en-US" altLang="en-US" sz="2800" i="1" dirty="0">
                <a:solidFill>
                  <a:schemeClr val="tx1">
                    <a:lumMod val="95000"/>
                    <a:lumOff val="5000"/>
                  </a:schemeClr>
                </a:solidFill>
              </a:rPr>
              <a:t>O(</a:t>
            </a:r>
            <a:r>
              <a:rPr lang="en-US" altLang="en-US" sz="2800" i="1" dirty="0" err="1">
                <a:solidFill>
                  <a:schemeClr val="tx1">
                    <a:lumMod val="95000"/>
                    <a:lumOff val="5000"/>
                  </a:schemeClr>
                </a:solidFill>
              </a:rPr>
              <a:t>b</a:t>
            </a:r>
            <a:r>
              <a:rPr lang="en-US" altLang="en-US" sz="2800" i="1" baseline="30000" dirty="0" err="1">
                <a:solidFill>
                  <a:schemeClr val="tx1">
                    <a:lumMod val="95000"/>
                    <a:lumOff val="5000"/>
                  </a:schemeClr>
                </a:solidFill>
              </a:rPr>
              <a:t>m</a:t>
            </a:r>
            <a:r>
              <a:rPr lang="en-US" altLang="en-US" sz="2800" i="1" dirty="0">
                <a:solidFill>
                  <a:schemeClr val="tx1">
                    <a:lumMod val="95000"/>
                    <a:lumOff val="5000"/>
                  </a:schemeClr>
                </a:solidFill>
              </a:rPr>
              <a:t>) </a:t>
            </a:r>
            <a:r>
              <a:rPr lang="en-US" altLang="en-US" sz="2800" dirty="0">
                <a:solidFill>
                  <a:schemeClr val="tx1">
                    <a:lumMod val="95000"/>
                    <a:lumOff val="5000"/>
                  </a:schemeClr>
                </a:solidFill>
              </a:rPr>
              <a:t>-- keeps all nodes in memory</a:t>
            </a:r>
            <a:br>
              <a:rPr lang="en-US" altLang="en-US" sz="2800" dirty="0">
                <a:solidFill>
                  <a:schemeClr val="tx1">
                    <a:lumMod val="95000"/>
                    <a:lumOff val="5000"/>
                  </a:schemeClr>
                </a:solidFill>
              </a:rPr>
            </a:br>
            <a:r>
              <a:rPr lang="en-US" altLang="en-US" sz="2800" b="1" u="sng" dirty="0">
                <a:solidFill>
                  <a:schemeClr val="tx1">
                    <a:lumMod val="95000"/>
                    <a:lumOff val="5000"/>
                  </a:schemeClr>
                </a:solidFill>
              </a:rPr>
              <a:t>Optimal?</a:t>
            </a:r>
            <a:r>
              <a:rPr lang="en-US" altLang="en-US" sz="2800" b="1" dirty="0">
                <a:solidFill>
                  <a:schemeClr val="tx1">
                    <a:lumMod val="95000"/>
                    <a:lumOff val="5000"/>
                  </a:schemeClr>
                </a:solidFill>
              </a:rPr>
              <a:t> </a:t>
            </a:r>
            <a:r>
              <a:rPr lang="en-US" altLang="en-US" sz="2800" dirty="0">
                <a:solidFill>
                  <a:schemeClr val="tx1">
                    <a:lumMod val="95000"/>
                    <a:lumOff val="5000"/>
                  </a:schemeClr>
                </a:solidFill>
              </a:rPr>
              <a:t>No</a:t>
            </a:r>
          </a:p>
        </p:txBody>
      </p:sp>
    </p:spTree>
    <p:extLst>
      <p:ext uri="{BB962C8B-B14F-4D97-AF65-F5344CB8AC3E}">
        <p14:creationId xmlns:p14="http://schemas.microsoft.com/office/powerpoint/2010/main" val="1606243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23830" y="82266"/>
            <a:ext cx="8709772" cy="1008529"/>
          </a:xfrm>
        </p:spPr>
        <p:txBody>
          <a:bodyPr>
            <a:normAutofit/>
          </a:bodyPr>
          <a:lstStyle/>
          <a:p>
            <a:pPr eaLnBrk="1" hangingPunct="1"/>
            <a:r>
              <a:rPr lang="en-US" altLang="en-US" sz="4000" dirty="0">
                <a:solidFill>
                  <a:schemeClr val="accent2"/>
                </a:solidFill>
              </a:rPr>
              <a:t>A bad example for greedy</a:t>
            </a:r>
            <a:endParaRPr lang="en-US" altLang="en-US" sz="2800" dirty="0">
              <a:solidFill>
                <a:schemeClr val="accent2"/>
              </a:solidFill>
            </a:endParaRPr>
          </a:p>
        </p:txBody>
      </p:sp>
      <p:sp>
        <p:nvSpPr>
          <p:cNvPr id="31747" name="Oval 4"/>
          <p:cNvSpPr>
            <a:spLocks noChangeArrowheads="1"/>
          </p:cNvSpPr>
          <p:nvPr/>
        </p:nvSpPr>
        <p:spPr bwMode="auto">
          <a:xfrm>
            <a:off x="4057931" y="2119930"/>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dirty="0"/>
          </a:p>
        </p:txBody>
      </p:sp>
      <p:sp>
        <p:nvSpPr>
          <p:cNvPr id="31748" name="Text Box 5"/>
          <p:cNvSpPr txBox="1">
            <a:spLocks noChangeArrowheads="1"/>
          </p:cNvSpPr>
          <p:nvPr/>
        </p:nvSpPr>
        <p:spPr bwMode="auto">
          <a:xfrm>
            <a:off x="4125166" y="2066702"/>
            <a:ext cx="413896"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dirty="0"/>
              <a:t>A</a:t>
            </a:r>
          </a:p>
        </p:txBody>
      </p:sp>
      <p:sp>
        <p:nvSpPr>
          <p:cNvPr id="31749" name="Oval 6"/>
          <p:cNvSpPr>
            <a:spLocks noChangeArrowheads="1"/>
          </p:cNvSpPr>
          <p:nvPr/>
        </p:nvSpPr>
        <p:spPr bwMode="auto">
          <a:xfrm>
            <a:off x="5961529" y="800437"/>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dirty="0"/>
          </a:p>
        </p:txBody>
      </p:sp>
      <p:sp>
        <p:nvSpPr>
          <p:cNvPr id="31750" name="Text Box 7"/>
          <p:cNvSpPr txBox="1">
            <a:spLocks noChangeArrowheads="1"/>
          </p:cNvSpPr>
          <p:nvPr/>
        </p:nvSpPr>
        <p:spPr bwMode="auto">
          <a:xfrm>
            <a:off x="6028765" y="747210"/>
            <a:ext cx="396262"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dirty="0"/>
              <a:t>B</a:t>
            </a:r>
          </a:p>
        </p:txBody>
      </p:sp>
      <p:sp>
        <p:nvSpPr>
          <p:cNvPr id="31751" name="Oval 10"/>
          <p:cNvSpPr>
            <a:spLocks noChangeArrowheads="1"/>
          </p:cNvSpPr>
          <p:nvPr/>
        </p:nvSpPr>
        <p:spPr bwMode="auto">
          <a:xfrm>
            <a:off x="8027614" y="1893011"/>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dirty="0"/>
          </a:p>
        </p:txBody>
      </p:sp>
      <p:sp>
        <p:nvSpPr>
          <p:cNvPr id="31752" name="Text Box 11"/>
          <p:cNvSpPr txBox="1">
            <a:spLocks noChangeArrowheads="1"/>
          </p:cNvSpPr>
          <p:nvPr/>
        </p:nvSpPr>
        <p:spPr bwMode="auto">
          <a:xfrm>
            <a:off x="8094850" y="1839783"/>
            <a:ext cx="378630"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dirty="0"/>
              <a:t>F</a:t>
            </a:r>
          </a:p>
        </p:txBody>
      </p:sp>
      <p:sp>
        <p:nvSpPr>
          <p:cNvPr id="31753" name="Oval 12"/>
          <p:cNvSpPr>
            <a:spLocks noChangeArrowheads="1"/>
          </p:cNvSpPr>
          <p:nvPr/>
        </p:nvSpPr>
        <p:spPr bwMode="auto">
          <a:xfrm>
            <a:off x="5338203" y="2363658"/>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dirty="0"/>
          </a:p>
        </p:txBody>
      </p:sp>
      <p:sp>
        <p:nvSpPr>
          <p:cNvPr id="31754" name="Text Box 13"/>
          <p:cNvSpPr txBox="1">
            <a:spLocks noChangeArrowheads="1"/>
          </p:cNvSpPr>
          <p:nvPr/>
        </p:nvSpPr>
        <p:spPr bwMode="auto">
          <a:xfrm>
            <a:off x="5405438" y="2310430"/>
            <a:ext cx="413896"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dirty="0"/>
              <a:t>D</a:t>
            </a:r>
          </a:p>
        </p:txBody>
      </p:sp>
      <p:sp>
        <p:nvSpPr>
          <p:cNvPr id="31755" name="Oval 14"/>
          <p:cNvSpPr>
            <a:spLocks noChangeArrowheads="1"/>
          </p:cNvSpPr>
          <p:nvPr/>
        </p:nvSpPr>
        <p:spPr bwMode="auto">
          <a:xfrm>
            <a:off x="6750144" y="2229187"/>
            <a:ext cx="470647" cy="47064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endParaRPr lang="en-US" altLang="en-US" sz="2118" dirty="0"/>
          </a:p>
        </p:txBody>
      </p:sp>
      <p:sp>
        <p:nvSpPr>
          <p:cNvPr id="31756" name="Text Box 15"/>
          <p:cNvSpPr txBox="1">
            <a:spLocks noChangeArrowheads="1"/>
          </p:cNvSpPr>
          <p:nvPr/>
        </p:nvSpPr>
        <p:spPr bwMode="auto">
          <a:xfrm>
            <a:off x="6817379" y="2175960"/>
            <a:ext cx="396262" cy="47256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algn="l" eaLnBrk="1" hangingPunct="1"/>
            <a:r>
              <a:rPr lang="en-US" altLang="en-US" sz="2471" b="1" dirty="0"/>
              <a:t>E</a:t>
            </a:r>
          </a:p>
        </p:txBody>
      </p:sp>
      <p:sp>
        <p:nvSpPr>
          <p:cNvPr id="31757" name="Line 16"/>
          <p:cNvSpPr>
            <a:spLocks noChangeShapeType="1"/>
          </p:cNvSpPr>
          <p:nvPr/>
        </p:nvSpPr>
        <p:spPr bwMode="auto">
          <a:xfrm flipV="1">
            <a:off x="4464144" y="1150621"/>
            <a:ext cx="1497386" cy="1025338"/>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dirty="0"/>
          </a:p>
        </p:txBody>
      </p:sp>
      <p:sp>
        <p:nvSpPr>
          <p:cNvPr id="31758" name="Line 19"/>
          <p:cNvSpPr>
            <a:spLocks noChangeShapeType="1"/>
          </p:cNvSpPr>
          <p:nvPr/>
        </p:nvSpPr>
        <p:spPr bwMode="auto">
          <a:xfrm>
            <a:off x="6432177" y="1150621"/>
            <a:ext cx="1595438" cy="890868"/>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dirty="0"/>
          </a:p>
        </p:txBody>
      </p:sp>
      <p:sp>
        <p:nvSpPr>
          <p:cNvPr id="31759" name="Line 20"/>
          <p:cNvSpPr>
            <a:spLocks noChangeShapeType="1"/>
          </p:cNvSpPr>
          <p:nvPr/>
        </p:nvSpPr>
        <p:spPr bwMode="auto">
          <a:xfrm>
            <a:off x="4531379" y="2377665"/>
            <a:ext cx="806824" cy="20170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dirty="0"/>
          </a:p>
        </p:txBody>
      </p:sp>
      <p:sp>
        <p:nvSpPr>
          <p:cNvPr id="31760" name="Line 21"/>
          <p:cNvSpPr>
            <a:spLocks noChangeShapeType="1"/>
          </p:cNvSpPr>
          <p:nvPr/>
        </p:nvSpPr>
        <p:spPr bwMode="auto">
          <a:xfrm flipV="1">
            <a:off x="5808850" y="2444900"/>
            <a:ext cx="941294" cy="134471"/>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dirty="0"/>
          </a:p>
        </p:txBody>
      </p:sp>
      <p:sp>
        <p:nvSpPr>
          <p:cNvPr id="31761" name="Line 22"/>
          <p:cNvSpPr>
            <a:spLocks noChangeShapeType="1"/>
          </p:cNvSpPr>
          <p:nvPr/>
        </p:nvSpPr>
        <p:spPr bwMode="auto">
          <a:xfrm flipV="1">
            <a:off x="7220791" y="2175959"/>
            <a:ext cx="806824" cy="20170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sz="1588" dirty="0"/>
          </a:p>
        </p:txBody>
      </p:sp>
      <p:sp>
        <p:nvSpPr>
          <p:cNvPr id="31762" name="Text Box 23"/>
          <p:cNvSpPr txBox="1">
            <a:spLocks noChangeArrowheads="1"/>
          </p:cNvSpPr>
          <p:nvPr/>
        </p:nvSpPr>
        <p:spPr bwMode="auto">
          <a:xfrm>
            <a:off x="4595813" y="2444901"/>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dirty="0"/>
              <a:t>3</a:t>
            </a:r>
          </a:p>
        </p:txBody>
      </p:sp>
      <p:sp>
        <p:nvSpPr>
          <p:cNvPr id="31763" name="Text Box 24"/>
          <p:cNvSpPr txBox="1">
            <a:spLocks noChangeArrowheads="1"/>
          </p:cNvSpPr>
          <p:nvPr/>
        </p:nvSpPr>
        <p:spPr bwMode="auto">
          <a:xfrm>
            <a:off x="6074989" y="2512136"/>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dirty="0"/>
              <a:t>4</a:t>
            </a:r>
          </a:p>
        </p:txBody>
      </p:sp>
      <p:sp>
        <p:nvSpPr>
          <p:cNvPr id="31764" name="Text Box 25"/>
          <p:cNvSpPr txBox="1">
            <a:spLocks noChangeArrowheads="1"/>
          </p:cNvSpPr>
          <p:nvPr/>
        </p:nvSpPr>
        <p:spPr bwMode="auto">
          <a:xfrm>
            <a:off x="7486931" y="2201040"/>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dirty="0"/>
              <a:t>4</a:t>
            </a:r>
          </a:p>
        </p:txBody>
      </p:sp>
      <p:sp>
        <p:nvSpPr>
          <p:cNvPr id="31765" name="Text Box 26"/>
          <p:cNvSpPr txBox="1">
            <a:spLocks noChangeArrowheads="1"/>
          </p:cNvSpPr>
          <p:nvPr/>
        </p:nvSpPr>
        <p:spPr bwMode="auto">
          <a:xfrm>
            <a:off x="4971802" y="1167035"/>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dirty="0"/>
              <a:t>7</a:t>
            </a:r>
          </a:p>
        </p:txBody>
      </p:sp>
      <p:sp>
        <p:nvSpPr>
          <p:cNvPr id="31766" name="Text Box 27"/>
          <p:cNvSpPr txBox="1">
            <a:spLocks noChangeArrowheads="1"/>
          </p:cNvSpPr>
          <p:nvPr/>
        </p:nvSpPr>
        <p:spPr bwMode="auto">
          <a:xfrm>
            <a:off x="7121125" y="1071511"/>
            <a:ext cx="36580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b="1" dirty="0"/>
              <a:t>6</a:t>
            </a:r>
          </a:p>
        </p:txBody>
      </p:sp>
      <p:sp>
        <p:nvSpPr>
          <p:cNvPr id="31767" name="Text Box 30"/>
          <p:cNvSpPr txBox="1">
            <a:spLocks noChangeArrowheads="1"/>
          </p:cNvSpPr>
          <p:nvPr/>
        </p:nvSpPr>
        <p:spPr bwMode="auto">
          <a:xfrm>
            <a:off x="2465294" y="2175960"/>
            <a:ext cx="156164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dirty="0"/>
              <a:t>start state</a:t>
            </a:r>
          </a:p>
        </p:txBody>
      </p:sp>
      <p:sp>
        <p:nvSpPr>
          <p:cNvPr id="31768" name="Text Box 31"/>
          <p:cNvSpPr txBox="1">
            <a:spLocks noChangeArrowheads="1"/>
          </p:cNvSpPr>
          <p:nvPr/>
        </p:nvSpPr>
        <p:spPr bwMode="auto">
          <a:xfrm>
            <a:off x="8513669" y="1705312"/>
            <a:ext cx="1561646" cy="526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r>
              <a:rPr lang="en-US" altLang="en-US" sz="2824" dirty="0"/>
              <a:t>goal state</a:t>
            </a:r>
          </a:p>
        </p:txBody>
      </p:sp>
      <p:sp>
        <p:nvSpPr>
          <p:cNvPr id="162848" name="Rectangle 32"/>
          <p:cNvSpPr>
            <a:spLocks noChangeArrowheads="1"/>
          </p:cNvSpPr>
          <p:nvPr/>
        </p:nvSpPr>
        <p:spPr bwMode="auto">
          <a:xfrm>
            <a:off x="1624853" y="3455348"/>
            <a:ext cx="8807824" cy="21978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894" tIns="44788" rIns="89894" bIns="44788"/>
          <a:lstStyle>
            <a:lvl1pPr marL="368300" indent="-368300"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lnSpc>
                <a:spcPct val="124000"/>
              </a:lnSpc>
              <a:spcBef>
                <a:spcPts val="794"/>
              </a:spcBef>
              <a:buFont typeface="Arial" panose="020B0604020202020204" pitchFamily="34" charset="0"/>
              <a:buChar char="•"/>
            </a:pPr>
            <a:r>
              <a:rPr lang="en-US" altLang="en-US" sz="2559" dirty="0">
                <a:solidFill>
                  <a:srgbClr val="000000"/>
                </a:solidFill>
                <a:latin typeface="Arial" panose="020B0604020202020204" pitchFamily="34" charset="0"/>
              </a:rPr>
              <a:t>Say: </a:t>
            </a:r>
            <a:r>
              <a:rPr lang="en-US" altLang="en-US" sz="2206" dirty="0">
                <a:solidFill>
                  <a:srgbClr val="000000"/>
                </a:solidFill>
                <a:latin typeface="Arial" panose="020B0604020202020204" pitchFamily="34" charset="0"/>
              </a:rPr>
              <a:t>h(A) = 9, h(B) = 5, h(D) = 6, h(E) = 3, h(F) = 0</a:t>
            </a:r>
          </a:p>
          <a:p>
            <a:pPr eaLnBrk="1" hangingPunct="1">
              <a:lnSpc>
                <a:spcPct val="124000"/>
              </a:lnSpc>
              <a:spcBef>
                <a:spcPts val="794"/>
              </a:spcBef>
              <a:buFont typeface="Arial" panose="020B0604020202020204" pitchFamily="34" charset="0"/>
              <a:buChar char="•"/>
            </a:pPr>
            <a:r>
              <a:rPr lang="en-US" altLang="en-US" sz="2559" dirty="0">
                <a:solidFill>
                  <a:srgbClr val="000000"/>
                </a:solidFill>
                <a:latin typeface="Arial" panose="020B0604020202020204" pitchFamily="34" charset="0"/>
              </a:rPr>
              <a:t>Problem: greedy evaluates the promise of a node only by how far is left to go, does not take cost incurred already into account</a:t>
            </a:r>
          </a:p>
        </p:txBody>
      </p:sp>
    </p:spTree>
    <p:extLst>
      <p:ext uri="{BB962C8B-B14F-4D97-AF65-F5344CB8AC3E}">
        <p14:creationId xmlns:p14="http://schemas.microsoft.com/office/powerpoint/2010/main" val="2597563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28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51014" y="438134"/>
            <a:ext cx="8709772" cy="1008529"/>
          </a:xfrm>
        </p:spPr>
        <p:txBody>
          <a:bodyPr/>
          <a:lstStyle/>
          <a:p>
            <a:pPr eaLnBrk="1" hangingPunct="1"/>
            <a:r>
              <a:rPr lang="en-US" altLang="en-US" dirty="0">
                <a:solidFill>
                  <a:schemeClr val="accent2"/>
                </a:solidFill>
              </a:rPr>
              <a:t>A* Search</a:t>
            </a:r>
            <a:endParaRPr lang="en-US" altLang="en-US" sz="2912" dirty="0">
              <a:solidFill>
                <a:schemeClr val="accent2"/>
              </a:solidFill>
            </a:endParaRPr>
          </a:p>
        </p:txBody>
      </p:sp>
      <p:sp>
        <p:nvSpPr>
          <p:cNvPr id="163866" name="Rectangle 26"/>
          <p:cNvSpPr>
            <a:spLocks noChangeArrowheads="1"/>
          </p:cNvSpPr>
          <p:nvPr/>
        </p:nvSpPr>
        <p:spPr bwMode="auto">
          <a:xfrm>
            <a:off x="1157427" y="1446663"/>
            <a:ext cx="9637952" cy="541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894" tIns="44788" rIns="89894" bIns="44788"/>
          <a:lstStyle>
            <a:lvl1pPr marL="368300" indent="-368300" eaLnBrk="0" hangingPunct="0">
              <a:defRPr sz="2400">
                <a:solidFill>
                  <a:schemeClr val="tx1"/>
                </a:solidFill>
                <a:latin typeface="Times New Roman" panose="02020603050405020304" pitchFamily="18" charset="0"/>
                <a:ea typeface="SimSun" panose="02010600030101010101" pitchFamily="2" charset="-122"/>
              </a:defRPr>
            </a:lvl1pPr>
            <a:lvl2pPr marL="742950" indent="-285750" eaLnBrk="0" hangingPunct="0">
              <a:defRPr sz="2400">
                <a:solidFill>
                  <a:schemeClr val="tx1"/>
                </a:solidFill>
                <a:latin typeface="Times New Roman" panose="02020603050405020304" pitchFamily="18" charset="0"/>
                <a:ea typeface="SimSun" panose="02010600030101010101" pitchFamily="2" charset="-122"/>
              </a:defRPr>
            </a:lvl2pPr>
            <a:lvl3pPr marL="1143000" indent="-228600" eaLnBrk="0" hangingPunct="0">
              <a:defRPr sz="2400">
                <a:solidFill>
                  <a:schemeClr val="tx1"/>
                </a:solidFill>
                <a:latin typeface="Times New Roman" panose="02020603050405020304" pitchFamily="18" charset="0"/>
                <a:ea typeface="SimSun" panose="02010600030101010101" pitchFamily="2" charset="-122"/>
              </a:defRPr>
            </a:lvl3pPr>
            <a:lvl4pPr marL="1600200" indent="-228600" eaLnBrk="0" hangingPunct="0">
              <a:defRPr sz="2400">
                <a:solidFill>
                  <a:schemeClr val="tx1"/>
                </a:solidFill>
                <a:latin typeface="Times New Roman" panose="02020603050405020304" pitchFamily="18" charset="0"/>
                <a:ea typeface="SimSun" panose="02010600030101010101" pitchFamily="2" charset="-122"/>
              </a:defRPr>
            </a:lvl4pPr>
            <a:lvl5pPr marL="2057400" indent="-228600" eaLnBrk="0" hangingPunct="0">
              <a:defRPr sz="2400">
                <a:solidFill>
                  <a:schemeClr val="tx1"/>
                </a:solidFill>
                <a:latin typeface="Times New Roman" panose="02020603050405020304" pitchFamily="18" charset="0"/>
                <a:ea typeface="SimSun" panose="02010600030101010101" pitchFamily="2" charset="-122"/>
              </a:defRPr>
            </a:lvl5pPr>
            <a:lvl6pPr marL="25146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6pPr>
            <a:lvl7pPr marL="29718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7pPr>
            <a:lvl8pPr marL="34290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8pPr>
            <a:lvl9pPr marL="3886200" indent="-228600" algn="ctr" defTabSz="457200" eaLnBrk="0" fontAlgn="base" hangingPunct="0">
              <a:lnSpc>
                <a:spcPct val="118000"/>
              </a:lnSpc>
              <a:spcBef>
                <a:spcPct val="0"/>
              </a:spcBef>
              <a:spcAft>
                <a:spcPct val="0"/>
              </a:spcAft>
              <a:buClr>
                <a:srgbClr val="000000"/>
              </a:buClr>
              <a:buSzPct val="100000"/>
              <a:buFont typeface="Times New Roman" panose="02020603050405020304" pitchFamily="18" charset="0"/>
              <a:defRPr sz="2400">
                <a:solidFill>
                  <a:schemeClr val="tx1"/>
                </a:solidFill>
                <a:latin typeface="Times New Roman" panose="02020603050405020304" pitchFamily="18" charset="0"/>
                <a:ea typeface="SimSun" panose="02010600030101010101" pitchFamily="2" charset="-122"/>
              </a:defRPr>
            </a:lvl9pPr>
          </a:lstStyle>
          <a:p>
            <a:pPr eaLnBrk="1" hangingPunct="1">
              <a:lnSpc>
                <a:spcPct val="124000"/>
              </a:lnSpc>
              <a:spcBef>
                <a:spcPts val="794"/>
              </a:spcBef>
              <a:buFont typeface="Arial" panose="020B0604020202020204" pitchFamily="34" charset="0"/>
              <a:buChar char="•"/>
            </a:pPr>
            <a:r>
              <a:rPr lang="en-US" altLang="en-US" sz="2000" dirty="0">
                <a:solidFill>
                  <a:srgbClr val="000000"/>
                </a:solidFill>
                <a:latin typeface="Arial" panose="020B0604020202020204" pitchFamily="34" charset="0"/>
              </a:rPr>
              <a:t>Let g(n) be cost incurred already on path to n</a:t>
            </a:r>
          </a:p>
          <a:p>
            <a:pPr eaLnBrk="1" hangingPunct="1">
              <a:lnSpc>
                <a:spcPct val="124000"/>
              </a:lnSpc>
              <a:spcBef>
                <a:spcPts val="794"/>
              </a:spcBef>
              <a:buFont typeface="Arial" panose="020B0604020202020204" pitchFamily="34" charset="0"/>
              <a:buChar char="•"/>
            </a:pPr>
            <a:r>
              <a:rPr lang="en-US" altLang="en-US" sz="2000" dirty="0">
                <a:solidFill>
                  <a:schemeClr val="accent2">
                    <a:lumMod val="75000"/>
                  </a:schemeClr>
                </a:solidFill>
                <a:latin typeface="Arial" panose="020B0604020202020204" pitchFamily="34" charset="0"/>
              </a:rPr>
              <a:t>Evaluation function f(n) = g(n) + h(n)</a:t>
            </a:r>
          </a:p>
          <a:p>
            <a:pPr eaLnBrk="1" hangingPunct="1">
              <a:lnSpc>
                <a:spcPct val="124000"/>
              </a:lnSpc>
              <a:spcBef>
                <a:spcPts val="794"/>
              </a:spcBef>
              <a:buFont typeface="Arial" panose="020B0604020202020204" pitchFamily="34" charset="0"/>
              <a:buChar char="•"/>
            </a:pPr>
            <a:r>
              <a:rPr lang="en-US" altLang="en-US" sz="2000" dirty="0">
                <a:solidFill>
                  <a:srgbClr val="000000"/>
                </a:solidFill>
                <a:latin typeface="Arial" panose="020B0604020202020204" pitchFamily="34" charset="0"/>
              </a:rPr>
              <a:t>Expand nodes with lowest g(n) + h(n) first</a:t>
            </a:r>
          </a:p>
          <a:p>
            <a:pPr lvl="1" eaLnBrk="1" hangingPunct="1">
              <a:lnSpc>
                <a:spcPct val="124000"/>
              </a:lnSpc>
              <a:spcBef>
                <a:spcPts val="794"/>
              </a:spcBef>
              <a:buFont typeface="Arial" panose="020B0604020202020204" pitchFamily="34" charset="0"/>
              <a:buChar char="•"/>
            </a:pPr>
            <a:r>
              <a:rPr lang="en-US" altLang="en-US" sz="2000" dirty="0">
                <a:solidFill>
                  <a:srgbClr val="000000"/>
                </a:solidFill>
                <a:latin typeface="Arial" panose="020B0604020202020204" pitchFamily="34" charset="0"/>
              </a:rPr>
              <a:t>g(n) = cost so far to reach n</a:t>
            </a:r>
          </a:p>
          <a:p>
            <a:pPr lvl="1" eaLnBrk="1" hangingPunct="1">
              <a:lnSpc>
                <a:spcPct val="124000"/>
              </a:lnSpc>
              <a:spcBef>
                <a:spcPts val="794"/>
              </a:spcBef>
              <a:buFont typeface="Arial" panose="020B0604020202020204" pitchFamily="34" charset="0"/>
              <a:buChar char="•"/>
            </a:pPr>
            <a:r>
              <a:rPr lang="en-US" altLang="en-US" sz="2000" dirty="0">
                <a:solidFill>
                  <a:srgbClr val="000000"/>
                </a:solidFill>
                <a:latin typeface="Arial" panose="020B0604020202020204" pitchFamily="34" charset="0"/>
              </a:rPr>
              <a:t>h(n) = estimated cost from n to goal</a:t>
            </a:r>
          </a:p>
          <a:p>
            <a:pPr lvl="1" eaLnBrk="1" hangingPunct="1">
              <a:lnSpc>
                <a:spcPct val="124000"/>
              </a:lnSpc>
              <a:spcBef>
                <a:spcPts val="794"/>
              </a:spcBef>
              <a:buFont typeface="Arial" panose="020B0604020202020204" pitchFamily="34" charset="0"/>
              <a:buChar char="•"/>
            </a:pPr>
            <a:r>
              <a:rPr lang="en-US" altLang="en-US" sz="2000" dirty="0">
                <a:solidFill>
                  <a:srgbClr val="000000"/>
                </a:solidFill>
                <a:latin typeface="Arial" panose="020B0604020202020204" pitchFamily="34" charset="0"/>
              </a:rPr>
              <a:t>f(n) = estimated total cost of path through n to goal</a:t>
            </a:r>
          </a:p>
          <a:p>
            <a:pPr marL="82550" indent="0" eaLnBrk="1" hangingPunct="1">
              <a:lnSpc>
                <a:spcPct val="124000"/>
              </a:lnSpc>
              <a:spcBef>
                <a:spcPts val="794"/>
              </a:spcBef>
            </a:pPr>
            <a:r>
              <a:rPr lang="en-US" altLang="en-US" sz="2800" dirty="0">
                <a:solidFill>
                  <a:schemeClr val="accent2">
                    <a:lumMod val="75000"/>
                  </a:schemeClr>
                </a:solidFill>
                <a:latin typeface="Arial" panose="020B0604020202020204" pitchFamily="34" charset="0"/>
              </a:rPr>
              <a:t>Properties:</a:t>
            </a:r>
          </a:p>
          <a:p>
            <a:pPr lvl="1" eaLnBrk="1" hangingPunct="1"/>
            <a:r>
              <a:rPr lang="en-US" altLang="en-US" u="sng" dirty="0">
                <a:solidFill>
                  <a:srgbClr val="CC0099"/>
                </a:solidFill>
              </a:rPr>
              <a:t>Complete?</a:t>
            </a:r>
            <a:r>
              <a:rPr lang="en-US" altLang="en-US" dirty="0"/>
              <a:t> Yes (unless there are infinitely many nodes with f </a:t>
            </a:r>
            <a:r>
              <a:rPr lang="en-US" altLang="en-US" i="1" dirty="0">
                <a:cs typeface="Arial" panose="020B0604020202020204" pitchFamily="34" charset="0"/>
              </a:rPr>
              <a:t>≤</a:t>
            </a:r>
            <a:r>
              <a:rPr lang="en-US" altLang="en-US" i="1" dirty="0"/>
              <a:t> f(G) </a:t>
            </a:r>
            <a:r>
              <a:rPr lang="en-US" altLang="en-US" dirty="0"/>
              <a:t>)</a:t>
            </a:r>
          </a:p>
          <a:p>
            <a:pPr lvl="1"/>
            <a:r>
              <a:rPr lang="en-US" altLang="en-US" u="sng" dirty="0">
                <a:solidFill>
                  <a:srgbClr val="CC0099"/>
                </a:solidFill>
              </a:rPr>
              <a:t>Time?</a:t>
            </a:r>
            <a:r>
              <a:rPr lang="en-US" altLang="en-US" dirty="0"/>
              <a:t>  </a:t>
            </a:r>
            <a:r>
              <a:rPr lang="en-US" altLang="en-US" dirty="0">
                <a:solidFill>
                  <a:schemeClr val="accent2">
                    <a:lumMod val="75000"/>
                  </a:schemeClr>
                </a:solidFill>
                <a:latin typeface="Arial" panose="020B0604020202020204" pitchFamily="34" charset="0"/>
              </a:rPr>
              <a:t>O(</a:t>
            </a:r>
            <a:r>
              <a:rPr lang="en-US" altLang="en-US" dirty="0" err="1">
                <a:solidFill>
                  <a:schemeClr val="accent2">
                    <a:lumMod val="75000"/>
                  </a:schemeClr>
                </a:solidFill>
                <a:latin typeface="Arial" panose="020B0604020202020204" pitchFamily="34" charset="0"/>
              </a:rPr>
              <a:t>b</a:t>
            </a:r>
            <a:r>
              <a:rPr lang="en-US" altLang="en-US" baseline="30000" dirty="0" err="1">
                <a:solidFill>
                  <a:schemeClr val="accent2">
                    <a:lumMod val="75000"/>
                  </a:schemeClr>
                </a:solidFill>
                <a:latin typeface="Arial" panose="020B0604020202020204" pitchFamily="34" charset="0"/>
              </a:rPr>
              <a:t>d</a:t>
            </a:r>
            <a:r>
              <a:rPr lang="en-US" altLang="en-US" dirty="0">
                <a:solidFill>
                  <a:schemeClr val="accent2">
                    <a:lumMod val="75000"/>
                  </a:schemeClr>
                </a:solidFill>
                <a:latin typeface="Arial" panose="020B0604020202020204" pitchFamily="34" charset="0"/>
              </a:rPr>
              <a:t>) </a:t>
            </a:r>
            <a:r>
              <a:rPr lang="en-US" altLang="en-US" dirty="0"/>
              <a:t>Exponential</a:t>
            </a:r>
          </a:p>
          <a:p>
            <a:pPr lvl="1"/>
            <a:r>
              <a:rPr lang="en-US" altLang="en-US" u="sng" dirty="0">
                <a:solidFill>
                  <a:srgbClr val="CC0099"/>
                </a:solidFill>
              </a:rPr>
              <a:t>Space?</a:t>
            </a:r>
            <a:r>
              <a:rPr lang="en-US" altLang="en-US" dirty="0"/>
              <a:t> </a:t>
            </a:r>
            <a:r>
              <a:rPr lang="en-US" altLang="en-US" dirty="0">
                <a:solidFill>
                  <a:schemeClr val="accent2">
                    <a:lumMod val="75000"/>
                  </a:schemeClr>
                </a:solidFill>
                <a:latin typeface="Arial" panose="020B0604020202020204" pitchFamily="34" charset="0"/>
              </a:rPr>
              <a:t>O(</a:t>
            </a:r>
            <a:r>
              <a:rPr lang="en-US" altLang="en-US" dirty="0" err="1">
                <a:solidFill>
                  <a:schemeClr val="accent2">
                    <a:lumMod val="75000"/>
                  </a:schemeClr>
                </a:solidFill>
                <a:latin typeface="Arial" panose="020B0604020202020204" pitchFamily="34" charset="0"/>
              </a:rPr>
              <a:t>b</a:t>
            </a:r>
            <a:r>
              <a:rPr lang="en-US" altLang="en-US" baseline="30000" dirty="0" err="1">
                <a:solidFill>
                  <a:schemeClr val="accent2">
                    <a:lumMod val="75000"/>
                  </a:schemeClr>
                </a:solidFill>
                <a:latin typeface="Arial" panose="020B0604020202020204" pitchFamily="34" charset="0"/>
              </a:rPr>
              <a:t>d</a:t>
            </a:r>
            <a:r>
              <a:rPr lang="en-US" altLang="en-US" dirty="0">
                <a:solidFill>
                  <a:schemeClr val="accent2">
                    <a:lumMod val="75000"/>
                  </a:schemeClr>
                </a:solidFill>
                <a:latin typeface="Arial" panose="020B0604020202020204" pitchFamily="34" charset="0"/>
              </a:rPr>
              <a:t>) </a:t>
            </a:r>
            <a:r>
              <a:rPr lang="en-US" altLang="en-US" dirty="0"/>
              <a:t>Keeps all nodes in memory</a:t>
            </a:r>
          </a:p>
          <a:p>
            <a:pPr lvl="1" eaLnBrk="1" hangingPunct="1"/>
            <a:r>
              <a:rPr lang="en-US" altLang="en-US" u="sng" dirty="0">
                <a:solidFill>
                  <a:srgbClr val="CC0099"/>
                </a:solidFill>
              </a:rPr>
              <a:t>Optimal?</a:t>
            </a:r>
            <a:r>
              <a:rPr lang="en-US" altLang="en-US" dirty="0"/>
              <a:t> Yes</a:t>
            </a:r>
          </a:p>
          <a:p>
            <a:pPr eaLnBrk="1" hangingPunct="1">
              <a:lnSpc>
                <a:spcPct val="124000"/>
              </a:lnSpc>
              <a:spcBef>
                <a:spcPts val="794"/>
              </a:spcBef>
              <a:buFont typeface="Arial" panose="020B0604020202020204" pitchFamily="34" charset="0"/>
              <a:buChar char="•"/>
            </a:pPr>
            <a:endParaRPr lang="en-US" altLang="en-US" sz="2000" dirty="0">
              <a:solidFill>
                <a:srgbClr val="000000"/>
              </a:solidFill>
              <a:latin typeface="Arial" panose="020B0604020202020204" pitchFamily="34" charset="0"/>
            </a:endParaRPr>
          </a:p>
        </p:txBody>
      </p:sp>
    </p:spTree>
    <p:extLst>
      <p:ext uri="{BB962C8B-B14F-4D97-AF65-F5344CB8AC3E}">
        <p14:creationId xmlns:p14="http://schemas.microsoft.com/office/powerpoint/2010/main" val="3976845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386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386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38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pic>
        <p:nvPicPr>
          <p:cNvPr id="14339" name="Picture 4" descr="astar-progress01c"/>
          <p:cNvPicPr>
            <a:picLocks noChangeAspect="1" noChangeArrowheads="1"/>
          </p:cNvPicPr>
          <p:nvPr/>
        </p:nvPicPr>
        <p:blipFill rotWithShape="1">
          <a:blip r:embed="rId2">
            <a:extLst>
              <a:ext uri="{28A0092B-C50C-407E-A947-70E740481C1C}">
                <a14:useLocalDpi xmlns:a14="http://schemas.microsoft.com/office/drawing/2010/main" val="0"/>
              </a:ext>
            </a:extLst>
          </a:blip>
          <a:srcRect l="17682"/>
          <a:stretch/>
        </p:blipFill>
        <p:spPr bwMode="auto">
          <a:xfrm>
            <a:off x="1676400" y="1219200"/>
            <a:ext cx="886896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0372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astar-progress02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810" y="1676400"/>
            <a:ext cx="8916381"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spTree>
    <p:extLst>
      <p:ext uri="{BB962C8B-B14F-4D97-AF65-F5344CB8AC3E}">
        <p14:creationId xmlns:p14="http://schemas.microsoft.com/office/powerpoint/2010/main" val="3889896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pic>
        <p:nvPicPr>
          <p:cNvPr id="16387" name="Picture 5" descr="astar-progress03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752600"/>
            <a:ext cx="873062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934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pic>
        <p:nvPicPr>
          <p:cNvPr id="17411" name="Picture 4" descr="astar-progress04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0"/>
            <a:ext cx="835910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4577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pic>
        <p:nvPicPr>
          <p:cNvPr id="18435" name="Picture 4" descr="astar-progress0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688" y="1828800"/>
            <a:ext cx="8730624"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0889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A</a:t>
            </a:r>
            <a:r>
              <a:rPr lang="en-US" altLang="en-US" baseline="30000"/>
              <a:t>*</a:t>
            </a:r>
            <a:r>
              <a:rPr lang="en-US" altLang="en-US"/>
              <a:t> search example</a:t>
            </a:r>
          </a:p>
        </p:txBody>
      </p:sp>
      <p:pic>
        <p:nvPicPr>
          <p:cNvPr id="19459" name="Picture 4" descr="astar-progress06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828801"/>
            <a:ext cx="8686800" cy="3563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1653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823758" y="268941"/>
            <a:ext cx="8709772" cy="1008529"/>
          </a:xfrm>
        </p:spPr>
        <p:txBody>
          <a:bodyPr/>
          <a:lstStyle/>
          <a:p>
            <a:pPr eaLnBrk="1" hangingPunct="1"/>
            <a:r>
              <a:rPr lang="en-US" altLang="en-US" dirty="0">
                <a:solidFill>
                  <a:schemeClr val="accent2"/>
                </a:solidFill>
              </a:rPr>
              <a:t>Admissibility</a:t>
            </a:r>
            <a:endParaRPr lang="en-US" altLang="en-US" sz="2912" dirty="0">
              <a:solidFill>
                <a:schemeClr val="accent2"/>
              </a:solidFill>
            </a:endParaRPr>
          </a:p>
        </p:txBody>
      </p:sp>
      <p:sp>
        <p:nvSpPr>
          <p:cNvPr id="164867" name="Rectangle 3"/>
          <p:cNvSpPr>
            <a:spLocks noGrp="1" noChangeArrowheads="1"/>
          </p:cNvSpPr>
          <p:nvPr>
            <p:ph type="body" idx="1"/>
          </p:nvPr>
        </p:nvSpPr>
        <p:spPr>
          <a:xfrm>
            <a:off x="1725706" y="1277470"/>
            <a:ext cx="8807824" cy="4975412"/>
          </a:xfrm>
        </p:spPr>
        <p:txBody>
          <a:bodyPr>
            <a:normAutofit/>
          </a:bodyPr>
          <a:lstStyle/>
          <a:p>
            <a:r>
              <a:rPr lang="en-US" altLang="en-US" sz="2400" dirty="0"/>
              <a:t>A heuristic h(n) is admissible if for every node n,</a:t>
            </a:r>
          </a:p>
          <a:p>
            <a:pPr marL="0" indent="0">
              <a:buNone/>
            </a:pPr>
            <a:r>
              <a:rPr lang="en-US" altLang="en-US" sz="2400" dirty="0"/>
              <a:t>	h(n) ≤ h*(n), where h*(n) is the true cost to reach the goal state from n.</a:t>
            </a:r>
          </a:p>
          <a:p>
            <a:r>
              <a:rPr lang="en-US" altLang="en-US" sz="2400" dirty="0"/>
              <a:t>An admissible heuristic never overestimates the cost to reach the goal.</a:t>
            </a:r>
          </a:p>
          <a:p>
            <a:r>
              <a:rPr lang="en-US" altLang="en-US" sz="2400" dirty="0"/>
              <a:t>Admissible heuristic means that A* is always optimistic.</a:t>
            </a:r>
          </a:p>
          <a:p>
            <a:r>
              <a:rPr lang="en-US" altLang="en-US" sz="2400" dirty="0"/>
              <a:t>Straight-line distance is admissible: can’t hope for anything better than a straight road to the goal</a:t>
            </a:r>
          </a:p>
          <a:p>
            <a:pPr marL="0" indent="0">
              <a:buNone/>
            </a:pPr>
            <a:r>
              <a:rPr lang="en-US" altLang="en-US" sz="2400" b="1" dirty="0">
                <a:solidFill>
                  <a:schemeClr val="accent2">
                    <a:lumMod val="75000"/>
                  </a:schemeClr>
                </a:solidFill>
              </a:rPr>
              <a:t>Theorem:</a:t>
            </a:r>
            <a:r>
              <a:rPr lang="en-US" altLang="en-US" sz="2400" dirty="0"/>
              <a:t> If h(n) is admissible, A* using TREE-SEARCH is optimal.</a:t>
            </a:r>
          </a:p>
          <a:p>
            <a:pPr marL="0" indent="0" eaLnBrk="1" hangingPunct="1">
              <a:buNone/>
            </a:pPr>
            <a:endParaRPr lang="en-US" altLang="en-US" sz="2912" dirty="0"/>
          </a:p>
        </p:txBody>
      </p:sp>
    </p:spTree>
    <p:extLst>
      <p:ext uri="{BB962C8B-B14F-4D97-AF65-F5344CB8AC3E}">
        <p14:creationId xmlns:p14="http://schemas.microsoft.com/office/powerpoint/2010/main" val="133703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48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4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29020" y="0"/>
            <a:ext cx="10515600" cy="1325563"/>
          </a:xfrm>
        </p:spPr>
        <p:txBody>
          <a:bodyPr/>
          <a:lstStyle/>
          <a:p>
            <a:pPr eaLnBrk="1" hangingPunct="1"/>
            <a:r>
              <a:rPr lang="en-US" altLang="en-US" dirty="0">
                <a:solidFill>
                  <a:schemeClr val="accent2">
                    <a:lumMod val="75000"/>
                  </a:schemeClr>
                </a:solidFill>
              </a:rPr>
              <a:t>Optimality of A</a:t>
            </a:r>
            <a:r>
              <a:rPr lang="en-US" altLang="en-US" baseline="30000" dirty="0">
                <a:solidFill>
                  <a:schemeClr val="accent2">
                    <a:lumMod val="75000"/>
                  </a:schemeClr>
                </a:solidFill>
              </a:rPr>
              <a:t>*</a:t>
            </a:r>
            <a:r>
              <a:rPr lang="en-US" altLang="en-US" dirty="0">
                <a:solidFill>
                  <a:schemeClr val="accent2">
                    <a:lumMod val="75000"/>
                  </a:schemeClr>
                </a:solidFill>
              </a:rPr>
              <a:t> (proof)</a:t>
            </a:r>
          </a:p>
        </p:txBody>
      </p:sp>
      <p:sp>
        <p:nvSpPr>
          <p:cNvPr id="21507" name="Rectangle 3"/>
          <p:cNvSpPr>
            <a:spLocks noGrp="1" noChangeArrowheads="1"/>
          </p:cNvSpPr>
          <p:nvPr>
            <p:ph type="body" idx="1"/>
          </p:nvPr>
        </p:nvSpPr>
        <p:spPr>
          <a:xfrm>
            <a:off x="729020" y="1122528"/>
            <a:ext cx="10736149" cy="5474099"/>
          </a:xfrm>
        </p:spPr>
        <p:txBody>
          <a:bodyPr>
            <a:normAutofit/>
          </a:bodyPr>
          <a:lstStyle/>
          <a:p>
            <a:pPr eaLnBrk="1" hangingPunct="1">
              <a:defRPr/>
            </a:pPr>
            <a:r>
              <a:rPr lang="en-US" altLang="en-US" sz="2000" dirty="0"/>
              <a:t>Suppose some suboptimal goal </a:t>
            </a:r>
            <a:r>
              <a:rPr lang="en-US" altLang="en-US" sz="2000" i="1" dirty="0"/>
              <a:t>G</a:t>
            </a:r>
            <a:r>
              <a:rPr lang="en-US" altLang="en-US" sz="2000" i="1" baseline="-25000" dirty="0"/>
              <a:t>2</a:t>
            </a:r>
            <a:r>
              <a:rPr lang="en-US" altLang="en-US" sz="2000" i="1" dirty="0"/>
              <a:t> </a:t>
            </a:r>
            <a:r>
              <a:rPr lang="en-US" altLang="en-US" sz="2000" dirty="0"/>
              <a:t>has been generated and is in the fringe. Let </a:t>
            </a:r>
            <a:r>
              <a:rPr lang="en-US" altLang="en-US" sz="2000" i="1" dirty="0"/>
              <a:t>n</a:t>
            </a:r>
            <a:r>
              <a:rPr lang="en-US" altLang="en-US" sz="2000" dirty="0"/>
              <a:t> be an unexpanded node in the fringe such that </a:t>
            </a:r>
            <a:r>
              <a:rPr lang="en-US" altLang="en-US" sz="2000" i="1" dirty="0"/>
              <a:t>n </a:t>
            </a:r>
            <a:r>
              <a:rPr lang="en-US" altLang="en-US" sz="2000" dirty="0"/>
              <a:t>is on a shortest path to an optimal goal </a:t>
            </a:r>
            <a:r>
              <a:rPr lang="en-US" altLang="en-US" sz="2000" i="1" dirty="0"/>
              <a:t>G</a:t>
            </a:r>
            <a:r>
              <a:rPr lang="en-US" altLang="en-US" sz="2000" dirty="0"/>
              <a:t>.</a:t>
            </a:r>
          </a:p>
          <a:p>
            <a:pPr marL="0" marR="0" indent="0">
              <a:lnSpc>
                <a:spcPct val="115000"/>
              </a:lnSpc>
              <a:spcBef>
                <a:spcPts val="1000"/>
              </a:spcBef>
              <a:spcAft>
                <a:spcPts val="0"/>
              </a:spcAft>
              <a:buNone/>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1. Assume A* has generated a suboptimal goal G2 and put it on the fringe</a:t>
            </a:r>
          </a:p>
          <a:p>
            <a:pPr marL="0" marR="0">
              <a:lnSpc>
                <a:spcPct val="115000"/>
              </a:lnSpc>
              <a:spcBef>
                <a:spcPts val="0"/>
              </a:spcBef>
              <a:spcAft>
                <a:spcPts val="1000"/>
              </a:spcAft>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That means it's discovered G2 but hasn't expanded it yet.</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Since G2 is a goal, it has h(G2) = 0 (goals are at the end — no future cost).</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So:</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f(G2) = g(G2) + h(G2) = g(G2)</a:t>
            </a:r>
          </a:p>
          <a:p>
            <a:pPr marL="0" marR="0" indent="0">
              <a:lnSpc>
                <a:spcPct val="115000"/>
              </a:lnSpc>
              <a:spcBef>
                <a:spcPts val="1000"/>
              </a:spcBef>
              <a:spcAft>
                <a:spcPts val="0"/>
              </a:spcAft>
              <a:buNone/>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2. Let G be an optimal goal</a:t>
            </a:r>
          </a:p>
          <a:p>
            <a:pPr marL="0" marR="0">
              <a:lnSpc>
                <a:spcPct val="115000"/>
              </a:lnSpc>
              <a:spcBef>
                <a:spcPts val="0"/>
              </a:spcBef>
              <a:spcAft>
                <a:spcPts val="1000"/>
              </a:spcAft>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Similarly:</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f(G) = g(G) + h(G) = g(G) (since h(G) = 0)</a:t>
            </a:r>
          </a:p>
          <a:p>
            <a:pPr marL="0" marR="0" indent="0">
              <a:lnSpc>
                <a:spcPct val="115000"/>
              </a:lnSpc>
              <a:spcBef>
                <a:spcPts val="1000"/>
              </a:spcBef>
              <a:spcAft>
                <a:spcPts val="0"/>
              </a:spcAft>
              <a:buNone/>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3. Suboptimal means it's more expensive</a:t>
            </a:r>
          </a:p>
          <a:p>
            <a:pPr marL="0" marR="0">
              <a:lnSpc>
                <a:spcPct val="115000"/>
              </a:lnSpc>
              <a:spcBef>
                <a:spcPts val="0"/>
              </a:spcBef>
              <a:spcAft>
                <a:spcPts val="1000"/>
              </a:spcAft>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g(G2) &gt; g(G) ⇒ f(G2) &gt; f(G)</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So the suboptimal goal looks more expensive than the optimal goal.</a:t>
            </a:r>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marL="0" indent="0">
              <a:buNone/>
              <a:defRPr/>
            </a:pPr>
            <a:endParaRPr lang="en-US" altLang="en-US" sz="2000" dirty="0"/>
          </a:p>
          <a:p>
            <a:pPr marL="0" indent="0">
              <a:buNone/>
              <a:defRPr/>
            </a:pPr>
            <a:endParaRPr lang="en-US" altLang="en-US" sz="2000" dirty="0"/>
          </a:p>
        </p:txBody>
      </p:sp>
      <p:pic>
        <p:nvPicPr>
          <p:cNvPr id="21508" name="Picture 4" descr="astar-proo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0030" y="3318318"/>
            <a:ext cx="4141788"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3910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29020" y="0"/>
            <a:ext cx="10515600" cy="1325563"/>
          </a:xfrm>
        </p:spPr>
        <p:txBody>
          <a:bodyPr/>
          <a:lstStyle/>
          <a:p>
            <a:pPr eaLnBrk="1" hangingPunct="1"/>
            <a:r>
              <a:rPr lang="en-US" altLang="en-US" dirty="0">
                <a:solidFill>
                  <a:schemeClr val="accent2">
                    <a:lumMod val="75000"/>
                  </a:schemeClr>
                </a:solidFill>
              </a:rPr>
              <a:t>Optimality of A</a:t>
            </a:r>
            <a:r>
              <a:rPr lang="en-US" altLang="en-US" baseline="30000" dirty="0">
                <a:solidFill>
                  <a:schemeClr val="accent2">
                    <a:lumMod val="75000"/>
                  </a:schemeClr>
                </a:solidFill>
              </a:rPr>
              <a:t>*</a:t>
            </a:r>
            <a:r>
              <a:rPr lang="en-US" altLang="en-US" dirty="0">
                <a:solidFill>
                  <a:schemeClr val="accent2">
                    <a:lumMod val="75000"/>
                  </a:schemeClr>
                </a:solidFill>
              </a:rPr>
              <a:t> (proof)</a:t>
            </a:r>
          </a:p>
        </p:txBody>
      </p:sp>
      <p:sp>
        <p:nvSpPr>
          <p:cNvPr id="21507" name="Rectangle 3"/>
          <p:cNvSpPr>
            <a:spLocks noGrp="1" noChangeArrowheads="1"/>
          </p:cNvSpPr>
          <p:nvPr>
            <p:ph type="body" idx="1"/>
          </p:nvPr>
        </p:nvSpPr>
        <p:spPr>
          <a:xfrm>
            <a:off x="729020" y="1122528"/>
            <a:ext cx="10736149" cy="5474099"/>
          </a:xfrm>
        </p:spPr>
        <p:txBody>
          <a:bodyPr>
            <a:normAutofit/>
          </a:bodyPr>
          <a:lstStyle/>
          <a:p>
            <a:pPr marL="0" marR="0" indent="0">
              <a:lnSpc>
                <a:spcPct val="115000"/>
              </a:lnSpc>
              <a:spcBef>
                <a:spcPts val="1000"/>
              </a:spcBef>
              <a:spcAft>
                <a:spcPts val="0"/>
              </a:spcAft>
              <a:buNone/>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4. Now consider n — a node on the optimal path to G</a:t>
            </a:r>
          </a:p>
          <a:p>
            <a:pPr marL="0" marR="0">
              <a:lnSpc>
                <a:spcPct val="115000"/>
              </a:lnSpc>
              <a:spcBef>
                <a:spcPts val="0"/>
              </a:spcBef>
              <a:spcAft>
                <a:spcPts val="1000"/>
              </a:spcAft>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We want to show that A* will expand n before expanding G2.</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Using admissibility:</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h(n) ≤ h*(n) ⇒ f(n) = g(n) + h(n) ≤ g(n) + h*(n)</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But g(n) + h*(n) is the true cost of reaching the goal through n, so it's at most g(G):</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f(n) ≤ g(G) = f(G)</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So now:</a:t>
            </a:r>
            <a:br>
              <a:rPr lang="en-US" sz="1800" dirty="0">
                <a:effectLst/>
                <a:latin typeface="Calibri" panose="020F0502020204030204" pitchFamily="34" charset="0"/>
                <a:ea typeface="MS Mincho" panose="02020609040205080304" pitchFamily="49" charset="-128"/>
                <a:cs typeface="Times New Roman" panose="02020603050405020304" pitchFamily="18" charset="0"/>
              </a:rPr>
            </a:br>
            <a:r>
              <a:rPr lang="en-US" sz="1800" dirty="0">
                <a:effectLst/>
                <a:latin typeface="Calibri" panose="020F0502020204030204" pitchFamily="34" charset="0"/>
                <a:ea typeface="MS Mincho" panose="02020609040205080304" pitchFamily="49" charset="-128"/>
                <a:cs typeface="Times New Roman" panose="02020603050405020304" pitchFamily="18" charset="0"/>
              </a:rPr>
              <a:t>f(n) ≤ f(G) &lt; f(G2) ⇒ f(n) &lt; f(G2)</a:t>
            </a:r>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eaLnBrk="1" hangingPunct="1">
              <a:defRPr/>
            </a:pPr>
            <a:endParaRPr lang="en-US" altLang="en-US" sz="2000" dirty="0"/>
          </a:p>
          <a:p>
            <a:pPr marL="0" indent="0">
              <a:buNone/>
              <a:defRPr/>
            </a:pPr>
            <a:endParaRPr lang="en-US" altLang="en-US" sz="2000" dirty="0"/>
          </a:p>
          <a:p>
            <a:pPr marL="0" indent="0">
              <a:buNone/>
              <a:defRPr/>
            </a:pPr>
            <a:endParaRPr lang="en-US" altLang="en-US" sz="2000" dirty="0"/>
          </a:p>
        </p:txBody>
      </p:sp>
    </p:spTree>
    <p:extLst>
      <p:ext uri="{BB962C8B-B14F-4D97-AF65-F5344CB8AC3E}">
        <p14:creationId xmlns:p14="http://schemas.microsoft.com/office/powerpoint/2010/main" val="10499468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dirty="0">
                <a:solidFill>
                  <a:schemeClr val="accent2">
                    <a:lumMod val="75000"/>
                  </a:schemeClr>
                </a:solidFill>
              </a:rPr>
              <a:t>Consistent heuristics</a:t>
            </a:r>
          </a:p>
        </p:txBody>
      </p:sp>
      <p:sp>
        <p:nvSpPr>
          <p:cNvPr id="23555" name="Rectangle 3"/>
          <p:cNvSpPr>
            <a:spLocks noGrp="1" noChangeArrowheads="1"/>
          </p:cNvSpPr>
          <p:nvPr>
            <p:ph type="body" idx="1"/>
          </p:nvPr>
        </p:nvSpPr>
        <p:spPr/>
        <p:txBody>
          <a:bodyPr>
            <a:noAutofit/>
          </a:bodyPr>
          <a:lstStyle/>
          <a:p>
            <a:pPr eaLnBrk="1" hangingPunct="1">
              <a:lnSpc>
                <a:spcPct val="80000"/>
              </a:lnSpc>
              <a:defRPr/>
            </a:pPr>
            <a:r>
              <a:rPr lang="en-US" altLang="en-US" sz="2000" dirty="0"/>
              <a:t>A heuristic is </a:t>
            </a:r>
            <a:r>
              <a:rPr lang="en-US" altLang="en-US" sz="2000" dirty="0">
                <a:solidFill>
                  <a:srgbClr val="FF0000"/>
                </a:solidFill>
              </a:rPr>
              <a:t>consistent</a:t>
            </a:r>
            <a:r>
              <a:rPr lang="en-US" altLang="en-US" sz="2000" dirty="0"/>
              <a:t> if for every node </a:t>
            </a:r>
            <a:r>
              <a:rPr lang="en-US" altLang="en-US" sz="2000" i="1" dirty="0"/>
              <a:t>n</a:t>
            </a:r>
            <a:r>
              <a:rPr lang="en-US" altLang="en-US" sz="2000" dirty="0"/>
              <a:t>, every successor </a:t>
            </a:r>
            <a:r>
              <a:rPr lang="en-US" altLang="en-US" sz="2000" i="1" dirty="0"/>
              <a:t>n'</a:t>
            </a:r>
            <a:r>
              <a:rPr lang="en-US" altLang="en-US" sz="2000" dirty="0"/>
              <a:t> of </a:t>
            </a:r>
            <a:r>
              <a:rPr lang="en-US" altLang="en-US" sz="2000" i="1" dirty="0"/>
              <a:t>n</a:t>
            </a:r>
            <a:r>
              <a:rPr lang="en-US" altLang="en-US" sz="2000" dirty="0"/>
              <a:t> generated by any action </a:t>
            </a:r>
            <a:r>
              <a:rPr lang="en-US" altLang="en-US" sz="2000" i="1" dirty="0"/>
              <a:t>a</a:t>
            </a:r>
            <a:r>
              <a:rPr lang="en-US" altLang="en-US" sz="2000" dirty="0"/>
              <a:t>, </a:t>
            </a:r>
          </a:p>
          <a:p>
            <a:pPr eaLnBrk="1" hangingPunct="1">
              <a:lnSpc>
                <a:spcPct val="80000"/>
              </a:lnSpc>
              <a:buFontTx/>
              <a:buNone/>
              <a:defRPr/>
            </a:pPr>
            <a:r>
              <a:rPr lang="en-US" altLang="en-US" sz="2000" dirty="0"/>
              <a:t>	</a:t>
            </a:r>
            <a:r>
              <a:rPr lang="en-US" altLang="en-US" sz="2000" i="1" dirty="0"/>
              <a:t>h(n) </a:t>
            </a:r>
            <a:r>
              <a:rPr lang="en-US" altLang="en-US" sz="2000" i="1" dirty="0">
                <a:cs typeface="Arial" panose="020B0604020202020204" pitchFamily="34" charset="0"/>
              </a:rPr>
              <a:t>≤</a:t>
            </a:r>
            <a:r>
              <a:rPr lang="en-US" altLang="en-US" sz="2000" i="1" dirty="0"/>
              <a:t> c(</a:t>
            </a:r>
            <a:r>
              <a:rPr lang="en-US" altLang="en-US" sz="2000" i="1" dirty="0" err="1"/>
              <a:t>n,a,n</a:t>
            </a:r>
            <a:r>
              <a:rPr lang="en-US" altLang="en-US" sz="2000" i="1" dirty="0"/>
              <a:t>') + h(n')</a:t>
            </a:r>
            <a:r>
              <a:rPr lang="en-US" altLang="en-US" sz="2000" dirty="0"/>
              <a:t>
</a:t>
            </a:r>
          </a:p>
          <a:p>
            <a:pPr eaLnBrk="1" hangingPunct="1">
              <a:lnSpc>
                <a:spcPct val="80000"/>
              </a:lnSpc>
              <a:defRPr/>
            </a:pPr>
            <a:endParaRPr lang="en-US" altLang="en-US" sz="2000" dirty="0"/>
          </a:p>
          <a:p>
            <a:pPr eaLnBrk="1" hangingPunct="1">
              <a:lnSpc>
                <a:spcPct val="80000"/>
              </a:lnSpc>
              <a:defRPr/>
            </a:pPr>
            <a:r>
              <a:rPr lang="en-US" altLang="en-US" sz="2000" dirty="0"/>
              <a:t>If </a:t>
            </a:r>
            <a:r>
              <a:rPr lang="en-US" altLang="en-US" sz="2000" i="1" dirty="0"/>
              <a:t>h</a:t>
            </a:r>
            <a:r>
              <a:rPr lang="en-US" altLang="en-US" sz="2000" dirty="0"/>
              <a:t> is consistent, we have</a:t>
            </a:r>
          </a:p>
          <a:p>
            <a:pPr marL="801688" indent="-401638">
              <a:lnSpc>
                <a:spcPct val="80000"/>
              </a:lnSpc>
              <a:buNone/>
              <a:defRPr/>
            </a:pPr>
            <a:r>
              <a:rPr lang="en-US" altLang="en-US" sz="2000" dirty="0"/>
              <a:t>f(n') 	= g(n') + h(n') </a:t>
            </a:r>
          </a:p>
          <a:p>
            <a:pPr marL="801688" indent="-401638">
              <a:lnSpc>
                <a:spcPct val="80000"/>
              </a:lnSpc>
              <a:buNone/>
              <a:defRPr/>
            </a:pPr>
            <a:r>
              <a:rPr lang="en-US" altLang="en-US" sz="2000" dirty="0"/>
              <a:t>      	= g(n) + c(</a:t>
            </a:r>
            <a:r>
              <a:rPr lang="en-US" altLang="en-US" sz="2000" dirty="0" err="1"/>
              <a:t>n,a,n</a:t>
            </a:r>
            <a:r>
              <a:rPr lang="en-US" altLang="en-US" sz="2000" dirty="0"/>
              <a:t>') + h(n') </a:t>
            </a:r>
          </a:p>
          <a:p>
            <a:pPr marL="801688" indent="-401638">
              <a:lnSpc>
                <a:spcPct val="80000"/>
              </a:lnSpc>
              <a:buNone/>
              <a:defRPr/>
            </a:pPr>
            <a:r>
              <a:rPr lang="en-US" altLang="en-US" sz="2000" dirty="0"/>
              <a:t>      	</a:t>
            </a:r>
            <a:r>
              <a:rPr lang="en-US" altLang="en-US" sz="2000" dirty="0">
                <a:cs typeface="Arial" panose="020B0604020202020204" pitchFamily="34" charset="0"/>
              </a:rPr>
              <a:t>≥ </a:t>
            </a:r>
            <a:r>
              <a:rPr lang="en-US" altLang="en-US" sz="2000" dirty="0"/>
              <a:t>g(n) + h(n) </a:t>
            </a:r>
          </a:p>
          <a:p>
            <a:pPr marL="801688" indent="-401638">
              <a:lnSpc>
                <a:spcPct val="80000"/>
              </a:lnSpc>
              <a:buNone/>
              <a:defRPr/>
            </a:pPr>
            <a:r>
              <a:rPr lang="en-US" altLang="en-US" sz="2000" dirty="0"/>
              <a:t>      	</a:t>
            </a:r>
            <a:r>
              <a:rPr lang="en-US" altLang="en-US" sz="2000" dirty="0">
                <a:cs typeface="Arial" panose="020B0604020202020204" pitchFamily="34" charset="0"/>
              </a:rPr>
              <a:t> ≥</a:t>
            </a:r>
            <a:r>
              <a:rPr lang="en-US" altLang="en-US" sz="2000" dirty="0"/>
              <a:t> f(n)
</a:t>
            </a:r>
          </a:p>
          <a:p>
            <a:pPr eaLnBrk="1" hangingPunct="1">
              <a:lnSpc>
                <a:spcPct val="80000"/>
              </a:lnSpc>
              <a:defRPr/>
            </a:pPr>
            <a:r>
              <a:rPr lang="en-US" altLang="en-US" sz="2000" dirty="0"/>
              <a:t>i.e., </a:t>
            </a:r>
            <a:r>
              <a:rPr lang="en-US" altLang="en-US" sz="2000" i="1" dirty="0"/>
              <a:t>f(n)</a:t>
            </a:r>
            <a:r>
              <a:rPr lang="en-US" altLang="en-US" sz="2000" dirty="0"/>
              <a:t> is non-decreasing along any path.</a:t>
            </a:r>
          </a:p>
          <a:p>
            <a:pPr marL="0" indent="0">
              <a:lnSpc>
                <a:spcPct val="80000"/>
              </a:lnSpc>
              <a:buNone/>
              <a:defRPr/>
            </a:pPr>
            <a:endParaRPr lang="en-US" altLang="en-US" sz="2000" dirty="0"/>
          </a:p>
          <a:p>
            <a:pPr eaLnBrk="1" hangingPunct="1">
              <a:lnSpc>
                <a:spcPct val="80000"/>
              </a:lnSpc>
              <a:defRPr/>
            </a:pPr>
            <a:r>
              <a:rPr lang="en-US" altLang="en-US" sz="2000" dirty="0">
                <a:solidFill>
                  <a:schemeClr val="accent2"/>
                </a:solidFill>
              </a:rPr>
              <a:t>Theorem</a:t>
            </a:r>
            <a:r>
              <a:rPr lang="en-US" altLang="en-US" sz="2000" dirty="0"/>
              <a:t>: If </a:t>
            </a:r>
            <a:r>
              <a:rPr lang="en-US" altLang="en-US" sz="2000" i="1" dirty="0"/>
              <a:t>h(n)</a:t>
            </a:r>
            <a:r>
              <a:rPr lang="en-US" altLang="en-US" sz="2000" dirty="0"/>
              <a:t> is consistent, A</a:t>
            </a:r>
            <a:r>
              <a:rPr lang="en-US" altLang="en-US" sz="2000" i="1" dirty="0"/>
              <a:t>*</a:t>
            </a:r>
            <a:r>
              <a:rPr lang="en-US" altLang="en-US" sz="2000" dirty="0"/>
              <a:t> using </a:t>
            </a:r>
            <a:r>
              <a:rPr lang="en-US" altLang="en-US" sz="2000" dirty="0">
                <a:latin typeface="Courier New" panose="02070309020205020404" pitchFamily="49" charset="0"/>
              </a:rPr>
              <a:t>GRAPH-SEARCH</a:t>
            </a:r>
            <a:r>
              <a:rPr lang="en-US" altLang="en-US" sz="2000" dirty="0"/>
              <a:t> is optimal</a:t>
            </a:r>
          </a:p>
        </p:txBody>
      </p:sp>
      <p:pic>
        <p:nvPicPr>
          <p:cNvPr id="23556" name="Picture 4" descr="consistenc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2362201"/>
            <a:ext cx="19621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0546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Relaxed Problems</a:t>
            </a:r>
          </a:p>
        </p:txBody>
      </p:sp>
      <p:sp>
        <p:nvSpPr>
          <p:cNvPr id="27651" name="Rectangle 3"/>
          <p:cNvSpPr>
            <a:spLocks noGrp="1" noChangeArrowheads="1"/>
          </p:cNvSpPr>
          <p:nvPr>
            <p:ph type="body" idx="1"/>
          </p:nvPr>
        </p:nvSpPr>
        <p:spPr>
          <a:xfrm>
            <a:off x="914400" y="1317009"/>
            <a:ext cx="9916160" cy="4809471"/>
          </a:xfrm>
        </p:spPr>
        <p:txBody>
          <a:bodyPr>
            <a:noAutofit/>
          </a:bodyPr>
          <a:lstStyle/>
          <a:p>
            <a:pPr marL="0" indent="0" algn="l">
              <a:buNone/>
            </a:pPr>
            <a:r>
              <a:rPr lang="en-GB" sz="2400" b="0" i="0" dirty="0">
                <a:effectLst/>
                <a:latin typeface="quote-cjk-patch"/>
              </a:rPr>
              <a:t>A relaxed problem is a modified version of an original problem that removes or reduces certain constraints on possible actions. The solution to a relaxed problem provides a useful admissible heuristic for the original problem, as the optimal cost of the relaxed version will never overestimate the true cost of the original problem.</a:t>
            </a:r>
          </a:p>
          <a:p>
            <a:pPr marL="0" indent="0" algn="l">
              <a:buNone/>
            </a:pPr>
            <a:r>
              <a:rPr lang="en-GB" b="1" i="0" dirty="0">
                <a:effectLst/>
                <a:latin typeface="quote-cjk-patch"/>
              </a:rPr>
              <a:t>8-Puzzle Example</a:t>
            </a:r>
            <a:r>
              <a:rPr lang="en-GB" b="0" i="0" dirty="0">
                <a:effectLst/>
                <a:latin typeface="quote-cjk-patch"/>
              </a:rPr>
              <a:t>:</a:t>
            </a:r>
          </a:p>
          <a:p>
            <a:r>
              <a:rPr lang="en-GB" sz="2400" b="1" i="0" dirty="0">
                <a:effectLst/>
                <a:latin typeface="quote-cjk-patch"/>
              </a:rPr>
              <a:t>Fully Relaxed Rules</a:t>
            </a:r>
            <a:r>
              <a:rPr lang="en-GB" sz="2400" b="0" i="0" dirty="0">
                <a:effectLst/>
                <a:latin typeface="quote-cjk-patch"/>
              </a:rPr>
              <a:t>: If tiles can move </a:t>
            </a:r>
            <a:r>
              <a:rPr lang="en-GB" sz="2400" b="0" i="1" dirty="0">
                <a:effectLst/>
                <a:latin typeface="quote-cjk-patch"/>
              </a:rPr>
              <a:t>anywhere</a:t>
            </a:r>
            <a:r>
              <a:rPr lang="en-GB" sz="2400" b="0" i="0" dirty="0">
                <a:effectLst/>
                <a:latin typeface="quote-cjk-patch"/>
              </a:rPr>
              <a:t> (ignoring adjacency), the number of misplaced tiles (</a:t>
            </a:r>
            <a:r>
              <a:rPr lang="en-GB" sz="2400" b="0" i="1" dirty="0">
                <a:effectLst/>
                <a:latin typeface="quote-cjk-patch"/>
              </a:rPr>
              <a:t>h₁(n)</a:t>
            </a:r>
            <a:r>
              <a:rPr lang="en-GB" sz="2400" b="0" i="0" dirty="0">
                <a:effectLst/>
                <a:latin typeface="quote-cjk-patch"/>
              </a:rPr>
              <a:t>) becomes an admissible heuristic, equal to the shortest solution.</a:t>
            </a:r>
          </a:p>
          <a:p>
            <a:r>
              <a:rPr lang="en-GB" sz="2400" b="1" i="0" dirty="0">
                <a:effectLst/>
                <a:latin typeface="quote-cjk-patch"/>
              </a:rPr>
              <a:t>Partially Relaxed Rules</a:t>
            </a:r>
            <a:r>
              <a:rPr lang="en-GB" sz="2400" b="0" i="0" dirty="0">
                <a:effectLst/>
                <a:latin typeface="quote-cjk-patch"/>
              </a:rPr>
              <a:t>: If tiles can move only to </a:t>
            </a:r>
            <a:r>
              <a:rPr lang="en-GB" sz="2400" b="0" i="1" dirty="0">
                <a:effectLst/>
                <a:latin typeface="quote-cjk-patch"/>
              </a:rPr>
              <a:t>any adjacent square</a:t>
            </a:r>
            <a:r>
              <a:rPr lang="en-GB" sz="2400" b="0" i="0" dirty="0">
                <a:effectLst/>
                <a:latin typeface="quote-cjk-patch"/>
              </a:rPr>
              <a:t> (ignoring blank space requirements), the Manhattan distance (</a:t>
            </a:r>
            <a:r>
              <a:rPr lang="en-GB" sz="2400" b="0" i="1" dirty="0">
                <a:effectLst/>
                <a:latin typeface="quote-cjk-patch"/>
              </a:rPr>
              <a:t>h₂(n)</a:t>
            </a:r>
            <a:r>
              <a:rPr lang="en-GB" sz="2400" b="0" i="0" dirty="0">
                <a:effectLst/>
                <a:latin typeface="quote-cjk-patch"/>
              </a:rPr>
              <a:t>) serves as an admissible heuristic, reflecting the minimal moves needed.</a:t>
            </a:r>
          </a:p>
          <a:p>
            <a:pPr eaLnBrk="1" hangingPunct="1">
              <a:lnSpc>
                <a:spcPct val="90000"/>
              </a:lnSpc>
            </a:pPr>
            <a:endParaRPr lang="en-US" altLang="en-US" sz="3200" dirty="0"/>
          </a:p>
        </p:txBody>
      </p:sp>
    </p:spTree>
    <p:extLst>
      <p:ext uri="{BB962C8B-B14F-4D97-AF65-F5344CB8AC3E}">
        <p14:creationId xmlns:p14="http://schemas.microsoft.com/office/powerpoint/2010/main" val="3310458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Admissible heuristics (8 puzzle)</a:t>
            </a:r>
          </a:p>
        </p:txBody>
      </p:sp>
      <p:sp>
        <p:nvSpPr>
          <p:cNvPr id="27651" name="Rectangle 3"/>
          <p:cNvSpPr>
            <a:spLocks noGrp="1" noChangeArrowheads="1"/>
          </p:cNvSpPr>
          <p:nvPr>
            <p:ph type="body" idx="1"/>
          </p:nvPr>
        </p:nvSpPr>
        <p:spPr>
          <a:xfrm>
            <a:off x="838202" y="996286"/>
            <a:ext cx="10515600" cy="5390865"/>
          </a:xfrm>
        </p:spPr>
        <p:txBody>
          <a:bodyPr>
            <a:noAutofit/>
          </a:bodyPr>
          <a:lstStyle/>
          <a:p>
            <a:pPr eaLnBrk="1" hangingPunct="1">
              <a:lnSpc>
                <a:spcPct val="90000"/>
              </a:lnSpc>
              <a:buFontTx/>
              <a:buNone/>
            </a:pPr>
            <a:r>
              <a:rPr lang="en-US" altLang="en-US" sz="2000" dirty="0"/>
              <a:t>E.g., for the 8-puzzle:</a:t>
            </a:r>
          </a:p>
          <a:p>
            <a:pPr eaLnBrk="1" hangingPunct="1">
              <a:lnSpc>
                <a:spcPct val="90000"/>
              </a:lnSpc>
            </a:pPr>
            <a:r>
              <a:rPr lang="en-US" altLang="en-US" sz="2000" i="1" dirty="0"/>
              <a:t>h</a:t>
            </a:r>
            <a:r>
              <a:rPr lang="en-US" altLang="en-US" sz="2000" i="1" baseline="-25000" dirty="0"/>
              <a:t>1</a:t>
            </a:r>
            <a:r>
              <a:rPr lang="en-US" altLang="en-US" sz="2000" i="1" dirty="0"/>
              <a:t>(n) </a:t>
            </a:r>
            <a:r>
              <a:rPr lang="en-US" altLang="en-US" sz="2000" dirty="0"/>
              <a:t>= number of misplaced tiles</a:t>
            </a:r>
          </a:p>
          <a:p>
            <a:pPr eaLnBrk="1" hangingPunct="1">
              <a:lnSpc>
                <a:spcPct val="90000"/>
              </a:lnSpc>
            </a:pPr>
            <a:r>
              <a:rPr lang="en-US" altLang="en-US" sz="2000" i="1" dirty="0"/>
              <a:t>h</a:t>
            </a:r>
            <a:r>
              <a:rPr lang="en-US" altLang="en-US" sz="2000" i="1" baseline="-25000" dirty="0"/>
              <a:t>2</a:t>
            </a:r>
            <a:r>
              <a:rPr lang="en-US" altLang="en-US" sz="2000" i="1" dirty="0"/>
              <a:t>(n) </a:t>
            </a:r>
            <a:r>
              <a:rPr lang="en-US" altLang="en-US" sz="2000" dirty="0"/>
              <a:t>= total Manhattan distance</a:t>
            </a:r>
          </a:p>
          <a:p>
            <a:pPr eaLnBrk="1" hangingPunct="1">
              <a:lnSpc>
                <a:spcPct val="90000"/>
              </a:lnSpc>
              <a:buFontTx/>
              <a:buNone/>
            </a:pPr>
            <a:r>
              <a:rPr lang="en-US" altLang="en-US" sz="2000" dirty="0"/>
              <a:t>(i.e., number of squares from desired location of each tile</a:t>
            </a:r>
            <a:r>
              <a:rPr lang="en-US" altLang="en-US" sz="1600" dirty="0"/>
              <a:t>)
</a:t>
            </a:r>
          </a:p>
          <a:p>
            <a:pPr eaLnBrk="1" hangingPunct="1">
              <a:lnSpc>
                <a:spcPct val="90000"/>
              </a:lnSpc>
              <a:buFontTx/>
              <a:buNone/>
            </a:pPr>
            <a:endParaRPr lang="en-US" altLang="en-US" sz="1600" dirty="0"/>
          </a:p>
          <a:p>
            <a:pPr eaLnBrk="1" hangingPunct="1">
              <a:lnSpc>
                <a:spcPct val="90000"/>
              </a:lnSpc>
              <a:buFontTx/>
              <a:buNone/>
            </a:pPr>
            <a:endParaRPr lang="en-US" altLang="en-US" sz="2400" dirty="0"/>
          </a:p>
          <a:p>
            <a:pPr eaLnBrk="1" hangingPunct="1">
              <a:lnSpc>
                <a:spcPct val="90000"/>
              </a:lnSpc>
              <a:buFontTx/>
              <a:buNone/>
            </a:pPr>
            <a:endParaRPr lang="en-US" altLang="en-US" sz="2400" dirty="0"/>
          </a:p>
          <a:p>
            <a:pPr eaLnBrk="1" hangingPunct="1">
              <a:lnSpc>
                <a:spcPct val="90000"/>
              </a:lnSpc>
            </a:pPr>
            <a:r>
              <a:rPr lang="en-US" altLang="en-US" sz="2400" u="sng" dirty="0">
                <a:solidFill>
                  <a:srgbClr val="CC0099"/>
                </a:solidFill>
              </a:rPr>
              <a:t>h</a:t>
            </a:r>
            <a:r>
              <a:rPr lang="en-US" altLang="en-US" sz="2400" u="sng" baseline="-25000" dirty="0">
                <a:solidFill>
                  <a:srgbClr val="CC0099"/>
                </a:solidFill>
              </a:rPr>
              <a:t>1</a:t>
            </a:r>
            <a:r>
              <a:rPr lang="en-US" altLang="en-US" sz="2400" u="sng" dirty="0">
                <a:solidFill>
                  <a:srgbClr val="CC0099"/>
                </a:solidFill>
              </a:rPr>
              <a:t>(S) = ?</a:t>
            </a:r>
            <a:r>
              <a:rPr lang="en-US" altLang="en-US" sz="2400" dirty="0"/>
              <a:t> 8</a:t>
            </a:r>
            <a:endParaRPr lang="en-US" altLang="en-US" sz="2400" u="sng" dirty="0">
              <a:solidFill>
                <a:srgbClr val="CC0099"/>
              </a:solidFill>
            </a:endParaRPr>
          </a:p>
          <a:p>
            <a:pPr eaLnBrk="1" hangingPunct="1">
              <a:lnSpc>
                <a:spcPct val="90000"/>
              </a:lnSpc>
            </a:pPr>
            <a:r>
              <a:rPr lang="en-US" altLang="en-US" sz="2400" u="sng" dirty="0">
                <a:solidFill>
                  <a:srgbClr val="CC0099"/>
                </a:solidFill>
              </a:rPr>
              <a:t>h</a:t>
            </a:r>
            <a:r>
              <a:rPr lang="en-US" altLang="en-US" sz="2400" u="sng" baseline="-25000" dirty="0">
                <a:solidFill>
                  <a:srgbClr val="CC0099"/>
                </a:solidFill>
              </a:rPr>
              <a:t>2</a:t>
            </a:r>
            <a:r>
              <a:rPr lang="en-US" altLang="en-US" sz="2400" u="sng" dirty="0">
                <a:solidFill>
                  <a:srgbClr val="CC0099"/>
                </a:solidFill>
              </a:rPr>
              <a:t>(S) = ?</a:t>
            </a:r>
            <a:r>
              <a:rPr lang="en-US" altLang="en-US" sz="2400" dirty="0"/>
              <a:t> 3+1+2+2+2+3+3+2 = 18</a:t>
            </a:r>
            <a:r>
              <a:rPr lang="en-US" altLang="en-US" sz="1800" dirty="0"/>
              <a:t> </a:t>
            </a:r>
          </a:p>
          <a:p>
            <a:pPr>
              <a:lnSpc>
                <a:spcPct val="80000"/>
              </a:lnSpc>
            </a:pPr>
            <a:r>
              <a:rPr lang="en-US" altLang="en-US" sz="2400" dirty="0"/>
              <a:t>If </a:t>
            </a:r>
            <a:r>
              <a:rPr lang="en-US" altLang="en-US" sz="2400" i="1" dirty="0"/>
              <a:t>h</a:t>
            </a:r>
            <a:r>
              <a:rPr lang="en-US" altLang="en-US" sz="2400" i="1" baseline="-25000" dirty="0"/>
              <a:t>2</a:t>
            </a:r>
            <a:r>
              <a:rPr lang="en-US" altLang="en-US" sz="2400" i="1" dirty="0"/>
              <a:t>(n) </a:t>
            </a:r>
            <a:r>
              <a:rPr lang="en-US" altLang="en-US" sz="2400" i="1" dirty="0">
                <a:cs typeface="Arial" panose="020B0604020202020204" pitchFamily="34" charset="0"/>
              </a:rPr>
              <a:t>≥</a:t>
            </a:r>
            <a:r>
              <a:rPr lang="en-US" altLang="en-US" sz="2400" i="1" dirty="0"/>
              <a:t> h</a:t>
            </a:r>
            <a:r>
              <a:rPr lang="en-US" altLang="en-US" sz="2400" i="1" baseline="-25000" dirty="0"/>
              <a:t>1</a:t>
            </a:r>
            <a:r>
              <a:rPr lang="en-US" altLang="en-US" sz="2400" i="1" dirty="0"/>
              <a:t>(n)</a:t>
            </a:r>
            <a:r>
              <a:rPr lang="en-US" altLang="en-US" sz="2400" dirty="0"/>
              <a:t> for all </a:t>
            </a:r>
            <a:r>
              <a:rPr lang="en-US" altLang="en-US" sz="2400" i="1" dirty="0"/>
              <a:t>n</a:t>
            </a:r>
            <a:r>
              <a:rPr lang="en-US" altLang="en-US" sz="2400" dirty="0"/>
              <a:t> (both admissible)</a:t>
            </a:r>
          </a:p>
          <a:p>
            <a:pPr>
              <a:lnSpc>
                <a:spcPct val="80000"/>
              </a:lnSpc>
            </a:pPr>
            <a:r>
              <a:rPr lang="en-US" altLang="en-US" sz="2400" dirty="0"/>
              <a:t>then </a:t>
            </a:r>
            <a:r>
              <a:rPr lang="en-US" altLang="en-US" sz="2400" i="1" dirty="0"/>
              <a:t>h</a:t>
            </a:r>
            <a:r>
              <a:rPr lang="en-US" altLang="en-US" sz="2400" i="1" baseline="-25000" dirty="0"/>
              <a:t>2</a:t>
            </a:r>
            <a:r>
              <a:rPr lang="en-US" altLang="en-US" sz="2400" i="1" dirty="0"/>
              <a:t> </a:t>
            </a:r>
            <a:r>
              <a:rPr lang="en-US" altLang="en-US" sz="2400" dirty="0">
                <a:solidFill>
                  <a:srgbClr val="FF0000"/>
                </a:solidFill>
              </a:rPr>
              <a:t>dominates</a:t>
            </a:r>
            <a:r>
              <a:rPr lang="en-US" altLang="en-US" sz="2400" dirty="0"/>
              <a:t> </a:t>
            </a:r>
            <a:r>
              <a:rPr lang="en-US" altLang="en-US" sz="2400" i="1" dirty="0"/>
              <a:t>h</a:t>
            </a:r>
            <a:r>
              <a:rPr lang="en-US" altLang="en-US" sz="2400" i="1" baseline="-25000" dirty="0"/>
              <a:t>1</a:t>
            </a:r>
            <a:r>
              <a:rPr lang="en-US" altLang="en-US" sz="2400" i="1" dirty="0"/>
              <a:t> </a:t>
            </a:r>
          </a:p>
          <a:p>
            <a:pPr>
              <a:lnSpc>
                <a:spcPct val="80000"/>
              </a:lnSpc>
            </a:pPr>
            <a:r>
              <a:rPr lang="en-US" altLang="en-US" sz="2400" i="1" dirty="0"/>
              <a:t>h</a:t>
            </a:r>
            <a:r>
              <a:rPr lang="en-US" altLang="en-US" sz="2400" i="1" baseline="-25000" dirty="0"/>
              <a:t>2</a:t>
            </a:r>
            <a:r>
              <a:rPr lang="en-US" altLang="en-US" sz="2400" i="1" dirty="0"/>
              <a:t> </a:t>
            </a:r>
            <a:r>
              <a:rPr lang="en-US" altLang="en-US" sz="2400" dirty="0"/>
              <a:t>is better for search</a:t>
            </a:r>
          </a:p>
          <a:p>
            <a:pPr eaLnBrk="1" hangingPunct="1">
              <a:lnSpc>
                <a:spcPct val="90000"/>
              </a:lnSpc>
            </a:pPr>
            <a:endParaRPr lang="en-US" altLang="en-US" sz="1800" dirty="0"/>
          </a:p>
        </p:txBody>
      </p:sp>
      <p:pic>
        <p:nvPicPr>
          <p:cNvPr id="27652" name="Picture 5"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005" y="2687361"/>
            <a:ext cx="3541593" cy="179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55B59CA-664D-C997-8A39-3A0E5300C867}"/>
              </a:ext>
            </a:extLst>
          </p:cNvPr>
          <p:cNvSpPr txBox="1"/>
          <p:nvPr/>
        </p:nvSpPr>
        <p:spPr>
          <a:xfrm>
            <a:off x="8577073" y="2157984"/>
            <a:ext cx="3272806" cy="1200329"/>
          </a:xfrm>
          <a:prstGeom prst="rect">
            <a:avLst/>
          </a:prstGeom>
          <a:noFill/>
          <a:ln>
            <a:solidFill>
              <a:schemeClr val="tx1"/>
            </a:solidFill>
          </a:ln>
        </p:spPr>
        <p:txBody>
          <a:bodyPr wrap="square" rtlCol="0">
            <a:spAutoFit/>
          </a:bodyPr>
          <a:lstStyle/>
          <a:p>
            <a:r>
              <a:rPr lang="en-US" dirty="0"/>
              <a:t>h2​(S): Manhattan distance (the total number of moves each tile is away from its correct position).</a:t>
            </a:r>
          </a:p>
        </p:txBody>
      </p:sp>
      <p:sp>
        <p:nvSpPr>
          <p:cNvPr id="3" name="TextBox 2">
            <a:extLst>
              <a:ext uri="{FF2B5EF4-FFF2-40B4-BE49-F238E27FC236}">
                <a16:creationId xmlns:a16="http://schemas.microsoft.com/office/drawing/2014/main" id="{CEB2BC28-D35B-0505-D98C-52328F640013}"/>
              </a:ext>
            </a:extLst>
          </p:cNvPr>
          <p:cNvSpPr txBox="1"/>
          <p:nvPr/>
        </p:nvSpPr>
        <p:spPr>
          <a:xfrm>
            <a:off x="9079992" y="3886200"/>
            <a:ext cx="2769887" cy="923330"/>
          </a:xfrm>
          <a:prstGeom prst="rect">
            <a:avLst/>
          </a:prstGeom>
          <a:noFill/>
          <a:ln>
            <a:solidFill>
              <a:schemeClr val="tx1"/>
            </a:solidFill>
          </a:ln>
        </p:spPr>
        <p:txBody>
          <a:bodyPr wrap="square" rtlCol="0">
            <a:spAutoFit/>
          </a:bodyPr>
          <a:lstStyle/>
          <a:p>
            <a:r>
              <a:rPr lang="en-US" b="1" dirty="0"/>
              <a:t>Manhattan distance, h2(S)</a:t>
            </a:r>
            <a:r>
              <a:rPr lang="en-US" dirty="0"/>
              <a:t> = (row difference) + (column difference).</a:t>
            </a:r>
          </a:p>
        </p:txBody>
      </p:sp>
      <p:cxnSp>
        <p:nvCxnSpPr>
          <p:cNvPr id="5" name="Straight Arrow Connector 4">
            <a:extLst>
              <a:ext uri="{FF2B5EF4-FFF2-40B4-BE49-F238E27FC236}">
                <a16:creationId xmlns:a16="http://schemas.microsoft.com/office/drawing/2014/main" id="{517983FD-95E3-4DBD-19E8-0A63C898DF09}"/>
              </a:ext>
            </a:extLst>
          </p:cNvPr>
          <p:cNvCxnSpPr/>
          <p:nvPr/>
        </p:nvCxnSpPr>
        <p:spPr>
          <a:xfrm flipV="1">
            <a:off x="5568696" y="4485888"/>
            <a:ext cx="3355848" cy="4152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18245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A2C5-820D-38D3-2B81-E92D5D44D755}"/>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F4699169-3D4F-A757-4699-6297D069A227}"/>
              </a:ext>
            </a:extLst>
          </p:cNvPr>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Admissible heuristics (8 puzzle)</a:t>
            </a:r>
          </a:p>
        </p:txBody>
      </p:sp>
      <p:sp>
        <p:nvSpPr>
          <p:cNvPr id="27651" name="Rectangle 3">
            <a:extLst>
              <a:ext uri="{FF2B5EF4-FFF2-40B4-BE49-F238E27FC236}">
                <a16:creationId xmlns:a16="http://schemas.microsoft.com/office/drawing/2014/main" id="{F811361A-94F4-0649-A9EF-22AE48E67C5B}"/>
              </a:ext>
            </a:extLst>
          </p:cNvPr>
          <p:cNvSpPr>
            <a:spLocks noGrp="1" noChangeArrowheads="1"/>
          </p:cNvSpPr>
          <p:nvPr>
            <p:ph type="body" idx="1"/>
          </p:nvPr>
        </p:nvSpPr>
        <p:spPr>
          <a:xfrm>
            <a:off x="838202" y="996286"/>
            <a:ext cx="10515600" cy="5390865"/>
          </a:xfrm>
        </p:spPr>
        <p:txBody>
          <a:bodyPr>
            <a:noAutofit/>
          </a:bodyPr>
          <a:lstStyle/>
          <a:p>
            <a:pPr eaLnBrk="1" hangingPunct="1">
              <a:lnSpc>
                <a:spcPct val="90000"/>
              </a:lnSpc>
              <a:buFontTx/>
              <a:buNone/>
            </a:pPr>
            <a:r>
              <a:rPr lang="en-US" altLang="en-US" sz="2000" dirty="0"/>
              <a:t>E.g., for the 8-puzzle:</a:t>
            </a:r>
          </a:p>
          <a:p>
            <a:pPr eaLnBrk="1" hangingPunct="1">
              <a:lnSpc>
                <a:spcPct val="90000"/>
              </a:lnSpc>
            </a:pPr>
            <a:r>
              <a:rPr lang="en-US" altLang="en-US" sz="2000" i="1" dirty="0"/>
              <a:t>h</a:t>
            </a:r>
            <a:r>
              <a:rPr lang="en-US" altLang="en-US" sz="2000" i="1" baseline="-25000" dirty="0"/>
              <a:t>1</a:t>
            </a:r>
            <a:r>
              <a:rPr lang="en-US" altLang="en-US" sz="2000" i="1" dirty="0"/>
              <a:t>(n) </a:t>
            </a:r>
            <a:r>
              <a:rPr lang="en-US" altLang="en-US" sz="2000" dirty="0"/>
              <a:t>= number of misplaced tiles</a:t>
            </a:r>
          </a:p>
          <a:p>
            <a:pPr eaLnBrk="1" hangingPunct="1">
              <a:lnSpc>
                <a:spcPct val="90000"/>
              </a:lnSpc>
            </a:pPr>
            <a:r>
              <a:rPr lang="en-US" altLang="en-US" sz="2000" i="1" dirty="0"/>
              <a:t>h</a:t>
            </a:r>
            <a:r>
              <a:rPr lang="en-US" altLang="en-US" sz="2000" i="1" baseline="-25000" dirty="0"/>
              <a:t>2</a:t>
            </a:r>
            <a:r>
              <a:rPr lang="en-US" altLang="en-US" sz="2000" i="1" dirty="0"/>
              <a:t>(n) </a:t>
            </a:r>
            <a:r>
              <a:rPr lang="en-US" altLang="en-US" sz="2000" dirty="0"/>
              <a:t>= total Manhattan distance</a:t>
            </a:r>
          </a:p>
          <a:p>
            <a:pPr eaLnBrk="1" hangingPunct="1">
              <a:lnSpc>
                <a:spcPct val="90000"/>
              </a:lnSpc>
              <a:buFontTx/>
              <a:buNone/>
            </a:pPr>
            <a:r>
              <a:rPr lang="en-US" altLang="en-US" sz="2000" dirty="0"/>
              <a:t>(i.e., number of squares from desired location of each tile</a:t>
            </a:r>
            <a:r>
              <a:rPr lang="en-US" altLang="en-US" sz="1600" dirty="0"/>
              <a:t>)
</a:t>
            </a:r>
          </a:p>
          <a:p>
            <a:pPr eaLnBrk="1" hangingPunct="1">
              <a:lnSpc>
                <a:spcPct val="90000"/>
              </a:lnSpc>
              <a:buFontTx/>
              <a:buNone/>
            </a:pPr>
            <a:endParaRPr lang="en-US" altLang="en-US" sz="1600" dirty="0"/>
          </a:p>
          <a:p>
            <a:pPr eaLnBrk="1" hangingPunct="1">
              <a:lnSpc>
                <a:spcPct val="90000"/>
              </a:lnSpc>
              <a:buFontTx/>
              <a:buNone/>
            </a:pPr>
            <a:endParaRPr lang="en-US" altLang="en-US" sz="2400" dirty="0"/>
          </a:p>
          <a:p>
            <a:pPr eaLnBrk="1" hangingPunct="1">
              <a:lnSpc>
                <a:spcPct val="90000"/>
              </a:lnSpc>
              <a:buFontTx/>
              <a:buNone/>
            </a:pPr>
            <a:endParaRPr lang="en-US" altLang="en-US" sz="2400" dirty="0"/>
          </a:p>
          <a:p>
            <a:pPr marL="0" indent="0" eaLnBrk="1" hangingPunct="1">
              <a:lnSpc>
                <a:spcPct val="90000"/>
              </a:lnSpc>
              <a:buNone/>
            </a:pPr>
            <a:r>
              <a:rPr lang="en-US" altLang="en-US" sz="1800" u="sng" dirty="0">
                <a:solidFill>
                  <a:srgbClr val="CC0099"/>
                </a:solidFill>
              </a:rPr>
              <a:t>Calculation of h2(S):</a:t>
            </a:r>
          </a:p>
          <a:p>
            <a:pPr eaLnBrk="1" hangingPunct="1">
              <a:lnSpc>
                <a:spcPct val="90000"/>
              </a:lnSpc>
            </a:pPr>
            <a:r>
              <a:rPr lang="en-US" altLang="en-US" sz="2400" u="sng" dirty="0">
                <a:solidFill>
                  <a:srgbClr val="CC0099"/>
                </a:solidFill>
              </a:rPr>
              <a:t>h</a:t>
            </a:r>
            <a:r>
              <a:rPr lang="en-US" altLang="en-US" sz="2400" u="sng" baseline="-25000" dirty="0">
                <a:solidFill>
                  <a:srgbClr val="CC0099"/>
                </a:solidFill>
              </a:rPr>
              <a:t>2</a:t>
            </a:r>
            <a:r>
              <a:rPr lang="en-US" altLang="en-US" sz="2400" u="sng" dirty="0">
                <a:solidFill>
                  <a:srgbClr val="CC0099"/>
                </a:solidFill>
              </a:rPr>
              <a:t>(S) = ?</a:t>
            </a:r>
            <a:r>
              <a:rPr lang="en-US" altLang="en-US" sz="2400" dirty="0"/>
              <a:t> 3+1+2+2+2+3+3+2 = 18</a:t>
            </a:r>
            <a:r>
              <a:rPr lang="en-US" altLang="en-US" sz="1800" dirty="0"/>
              <a:t> </a:t>
            </a:r>
          </a:p>
          <a:p>
            <a:pPr>
              <a:lnSpc>
                <a:spcPct val="80000"/>
              </a:lnSpc>
            </a:pPr>
            <a:r>
              <a:rPr lang="en-US" altLang="en-US" sz="2400" dirty="0"/>
              <a:t>If </a:t>
            </a:r>
            <a:r>
              <a:rPr lang="en-US" altLang="en-US" sz="2400" i="1" dirty="0"/>
              <a:t>h</a:t>
            </a:r>
            <a:r>
              <a:rPr lang="en-US" altLang="en-US" sz="2400" i="1" baseline="-25000" dirty="0"/>
              <a:t>2</a:t>
            </a:r>
            <a:r>
              <a:rPr lang="en-US" altLang="en-US" sz="2400" i="1" dirty="0"/>
              <a:t>(n) </a:t>
            </a:r>
            <a:r>
              <a:rPr lang="en-US" altLang="en-US" sz="2400" i="1" dirty="0">
                <a:cs typeface="Arial" panose="020B0604020202020204" pitchFamily="34" charset="0"/>
              </a:rPr>
              <a:t>≥</a:t>
            </a:r>
            <a:r>
              <a:rPr lang="en-US" altLang="en-US" sz="2400" i="1" dirty="0"/>
              <a:t> h</a:t>
            </a:r>
            <a:r>
              <a:rPr lang="en-US" altLang="en-US" sz="2400" i="1" baseline="-25000" dirty="0"/>
              <a:t>1</a:t>
            </a:r>
            <a:r>
              <a:rPr lang="en-US" altLang="en-US" sz="2400" i="1" dirty="0"/>
              <a:t>(n)</a:t>
            </a:r>
            <a:r>
              <a:rPr lang="en-US" altLang="en-US" sz="2400" dirty="0"/>
              <a:t> for all </a:t>
            </a:r>
            <a:r>
              <a:rPr lang="en-US" altLang="en-US" sz="2400" i="1" dirty="0"/>
              <a:t>n</a:t>
            </a:r>
            <a:r>
              <a:rPr lang="en-US" altLang="en-US" sz="2400" dirty="0"/>
              <a:t> (both admissible)</a:t>
            </a:r>
          </a:p>
          <a:p>
            <a:pPr>
              <a:lnSpc>
                <a:spcPct val="80000"/>
              </a:lnSpc>
            </a:pPr>
            <a:r>
              <a:rPr lang="en-US" altLang="en-US" sz="2400" dirty="0"/>
              <a:t>then </a:t>
            </a:r>
            <a:r>
              <a:rPr lang="en-US" altLang="en-US" sz="2400" i="1" dirty="0"/>
              <a:t>h</a:t>
            </a:r>
            <a:r>
              <a:rPr lang="en-US" altLang="en-US" sz="2400" i="1" baseline="-25000" dirty="0"/>
              <a:t>2</a:t>
            </a:r>
            <a:r>
              <a:rPr lang="en-US" altLang="en-US" sz="2400" i="1" dirty="0"/>
              <a:t> </a:t>
            </a:r>
            <a:r>
              <a:rPr lang="en-US" altLang="en-US" sz="2400" dirty="0">
                <a:solidFill>
                  <a:srgbClr val="FF0000"/>
                </a:solidFill>
              </a:rPr>
              <a:t>dominates</a:t>
            </a:r>
            <a:r>
              <a:rPr lang="en-US" altLang="en-US" sz="2400" dirty="0"/>
              <a:t> </a:t>
            </a:r>
            <a:r>
              <a:rPr lang="en-US" altLang="en-US" sz="2400" i="1" dirty="0"/>
              <a:t>h</a:t>
            </a:r>
            <a:r>
              <a:rPr lang="en-US" altLang="en-US" sz="2400" i="1" baseline="-25000" dirty="0"/>
              <a:t>1</a:t>
            </a:r>
            <a:r>
              <a:rPr lang="en-US" altLang="en-US" sz="2400" i="1" dirty="0"/>
              <a:t> </a:t>
            </a:r>
          </a:p>
          <a:p>
            <a:pPr>
              <a:lnSpc>
                <a:spcPct val="80000"/>
              </a:lnSpc>
            </a:pPr>
            <a:r>
              <a:rPr lang="en-US" altLang="en-US" sz="2400" i="1" dirty="0"/>
              <a:t>h</a:t>
            </a:r>
            <a:r>
              <a:rPr lang="en-US" altLang="en-US" sz="2400" i="1" baseline="-25000" dirty="0"/>
              <a:t>2</a:t>
            </a:r>
            <a:r>
              <a:rPr lang="en-US" altLang="en-US" sz="2400" i="1" dirty="0"/>
              <a:t> </a:t>
            </a:r>
            <a:r>
              <a:rPr lang="en-US" altLang="en-US" sz="2400" dirty="0"/>
              <a:t>is better for search</a:t>
            </a:r>
          </a:p>
          <a:p>
            <a:pPr eaLnBrk="1" hangingPunct="1">
              <a:lnSpc>
                <a:spcPct val="90000"/>
              </a:lnSpc>
            </a:pPr>
            <a:endParaRPr lang="en-US" altLang="en-US" sz="1800" dirty="0"/>
          </a:p>
        </p:txBody>
      </p:sp>
      <p:pic>
        <p:nvPicPr>
          <p:cNvPr id="27652" name="Picture 5" descr="8puzzle">
            <a:extLst>
              <a:ext uri="{FF2B5EF4-FFF2-40B4-BE49-F238E27FC236}">
                <a16:creationId xmlns:a16="http://schemas.microsoft.com/office/drawing/2014/main" id="{E879AA93-32B6-728E-3BC4-918C81042A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005" y="2687361"/>
            <a:ext cx="3541593" cy="179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1B182A2-C256-A932-DD9A-3FBD06466F01}"/>
              </a:ext>
            </a:extLst>
          </p:cNvPr>
          <p:cNvSpPr txBox="1"/>
          <p:nvPr/>
        </p:nvSpPr>
        <p:spPr>
          <a:xfrm>
            <a:off x="8083296" y="2856613"/>
            <a:ext cx="3541593" cy="2462213"/>
          </a:xfrm>
          <a:prstGeom prst="rect">
            <a:avLst/>
          </a:prstGeom>
          <a:noFill/>
          <a:ln>
            <a:solidFill>
              <a:schemeClr val="tx1"/>
            </a:solidFill>
          </a:ln>
        </p:spPr>
        <p:txBody>
          <a:bodyPr wrap="square" rtlCol="0">
            <a:spAutoFit/>
          </a:bodyPr>
          <a:lstStyle/>
          <a:p>
            <a:r>
              <a:rPr lang="en-US" sz="1400" b="1" dirty="0"/>
              <a:t>Tile 1</a:t>
            </a:r>
            <a:r>
              <a:rPr lang="en-US" sz="1400" dirty="0"/>
              <a:t>: Start (row3,col3) → Goal (row1,col2) → distance = 3</a:t>
            </a:r>
          </a:p>
          <a:p>
            <a:r>
              <a:rPr lang="en-US" sz="1400" b="1" dirty="0"/>
              <a:t>Tile 2</a:t>
            </a:r>
            <a:r>
              <a:rPr lang="en-US" sz="1400" dirty="0"/>
              <a:t>: Start (1,2) → Goal (1,3) → distance = 1</a:t>
            </a:r>
          </a:p>
          <a:p>
            <a:r>
              <a:rPr lang="en-US" sz="1400" b="1" dirty="0"/>
              <a:t>Tile 3</a:t>
            </a:r>
            <a:r>
              <a:rPr lang="en-US" sz="1400" dirty="0"/>
              <a:t>: Start (3,2) → Goal (2,1) → distance = 2</a:t>
            </a:r>
          </a:p>
          <a:p>
            <a:r>
              <a:rPr lang="en-US" sz="1400" b="1" dirty="0"/>
              <a:t>Tile 4</a:t>
            </a:r>
            <a:r>
              <a:rPr lang="en-US" sz="1400" dirty="0"/>
              <a:t>: Start (1,3) → Goal (2,2) → distance = 2</a:t>
            </a:r>
          </a:p>
          <a:p>
            <a:r>
              <a:rPr lang="en-US" sz="1400" b="1" dirty="0"/>
              <a:t>Tile 5</a:t>
            </a:r>
            <a:r>
              <a:rPr lang="en-US" sz="1400" dirty="0"/>
              <a:t>: Start (2,1) → Goal (2,3) → distance = 2</a:t>
            </a:r>
          </a:p>
          <a:p>
            <a:r>
              <a:rPr lang="en-US" sz="1400" b="1" dirty="0"/>
              <a:t>Tile 6</a:t>
            </a:r>
            <a:r>
              <a:rPr lang="en-US" sz="1400" dirty="0"/>
              <a:t>: Start (2,3) → Goal (3,1) → distance = 3</a:t>
            </a:r>
          </a:p>
          <a:p>
            <a:r>
              <a:rPr lang="en-US" sz="1400" b="1" dirty="0"/>
              <a:t>Tile 7</a:t>
            </a:r>
            <a:r>
              <a:rPr lang="en-US" sz="1400" dirty="0"/>
              <a:t>: Start (1,1) → Goal (3,2) → distance = 3</a:t>
            </a:r>
          </a:p>
          <a:p>
            <a:r>
              <a:rPr lang="en-US" sz="1400" b="1" dirty="0"/>
              <a:t>Tile 8</a:t>
            </a:r>
            <a:r>
              <a:rPr lang="en-US" sz="1400" dirty="0"/>
              <a:t>: Start (3,1) → Goal (3,3) → distance = 2</a:t>
            </a:r>
          </a:p>
          <a:p>
            <a:r>
              <a:rPr lang="en-US" sz="1400" dirty="0"/>
              <a:t>Now add them:</a:t>
            </a:r>
          </a:p>
          <a:p>
            <a:r>
              <a:rPr lang="en-US" sz="1400" dirty="0"/>
              <a:t>3+1+2+2+2+3+3+2=18</a:t>
            </a:r>
            <a:endParaRPr lang="en-US" dirty="0"/>
          </a:p>
        </p:txBody>
      </p:sp>
      <p:cxnSp>
        <p:nvCxnSpPr>
          <p:cNvPr id="6" name="Straight Arrow Connector 5">
            <a:extLst>
              <a:ext uri="{FF2B5EF4-FFF2-40B4-BE49-F238E27FC236}">
                <a16:creationId xmlns:a16="http://schemas.microsoft.com/office/drawing/2014/main" id="{6A185CD1-559F-C84C-DB5F-FBD99EC12417}"/>
              </a:ext>
            </a:extLst>
          </p:cNvPr>
          <p:cNvCxnSpPr/>
          <p:nvPr/>
        </p:nvCxnSpPr>
        <p:spPr>
          <a:xfrm flipV="1">
            <a:off x="5513832" y="4398264"/>
            <a:ext cx="2569464" cy="4206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6776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Local Search</a:t>
            </a:r>
          </a:p>
        </p:txBody>
      </p:sp>
      <p:sp>
        <p:nvSpPr>
          <p:cNvPr id="27651" name="Rectangle 3"/>
          <p:cNvSpPr>
            <a:spLocks noGrp="1" noChangeArrowheads="1"/>
          </p:cNvSpPr>
          <p:nvPr>
            <p:ph type="body" idx="1"/>
          </p:nvPr>
        </p:nvSpPr>
        <p:spPr>
          <a:xfrm>
            <a:off x="914400" y="996286"/>
            <a:ext cx="10439402" cy="5390865"/>
          </a:xfrm>
        </p:spPr>
        <p:txBody>
          <a:bodyPr>
            <a:noAutofit/>
          </a:bodyPr>
          <a:lstStyle/>
          <a:p>
            <a:pPr marL="0" indent="0" algn="l">
              <a:buNone/>
            </a:pPr>
            <a:r>
              <a:rPr lang="en-GB" sz="2400" b="0" i="0" dirty="0">
                <a:effectLst/>
                <a:latin typeface="quote-cjk-patch"/>
              </a:rPr>
              <a:t>Local search is a class of optimization algorithms that focus on </a:t>
            </a:r>
            <a:r>
              <a:rPr lang="en-GB" sz="2400" b="1" i="0" dirty="0">
                <a:effectLst/>
                <a:latin typeface="quote-cjk-patch"/>
              </a:rPr>
              <a:t>evaluating and improving the current state</a:t>
            </a:r>
            <a:r>
              <a:rPr lang="en-GB" sz="2400" b="0" i="0" dirty="0">
                <a:effectLst/>
                <a:latin typeface="quote-cjk-patch"/>
              </a:rPr>
              <a:t> rather than systematically exploring paths from an initial state.</a:t>
            </a:r>
          </a:p>
          <a:p>
            <a:pPr marL="0" indent="0" algn="l">
              <a:buNone/>
            </a:pPr>
            <a:r>
              <a:rPr lang="en-GB" sz="2400" b="1" i="0" dirty="0">
                <a:effectLst/>
                <a:latin typeface="quote-cjk-patch"/>
              </a:rPr>
              <a:t>Key Characteristics:</a:t>
            </a:r>
            <a:endParaRPr lang="en-GB" sz="2400" b="0" i="0" dirty="0">
              <a:effectLst/>
              <a:latin typeface="quote-cjk-patch"/>
            </a:endParaRPr>
          </a:p>
          <a:p>
            <a:pPr lvl="1"/>
            <a:r>
              <a:rPr lang="en-GB" b="1" i="0" dirty="0">
                <a:effectLst/>
                <a:latin typeface="quote-cjk-patch"/>
              </a:rPr>
              <a:t>Memory Efficient:</a:t>
            </a:r>
            <a:r>
              <a:rPr lang="en-GB" b="0" i="0" dirty="0">
                <a:effectLst/>
                <a:latin typeface="quote-cjk-patch"/>
              </a:rPr>
              <a:t> Stores only the current state, reducing memory usage.</a:t>
            </a:r>
          </a:p>
          <a:p>
            <a:pPr lvl="1"/>
            <a:r>
              <a:rPr lang="en-GB" b="1" i="0" dirty="0">
                <a:effectLst/>
                <a:latin typeface="quote-cjk-patch"/>
              </a:rPr>
              <a:t>Neighbor-Based Movement:</a:t>
            </a:r>
            <a:r>
              <a:rPr lang="en-GB" b="0" i="0" dirty="0">
                <a:effectLst/>
                <a:latin typeface="quote-cjk-patch"/>
              </a:rPr>
              <a:t> Explores </a:t>
            </a:r>
            <a:r>
              <a:rPr lang="en-GB" b="0" i="0" dirty="0" err="1">
                <a:effectLst/>
                <a:latin typeface="quote-cjk-patch"/>
              </a:rPr>
              <a:t>neighboring</a:t>
            </a:r>
            <a:r>
              <a:rPr lang="en-GB" b="0" i="0" dirty="0">
                <a:effectLst/>
                <a:latin typeface="quote-cjk-patch"/>
              </a:rPr>
              <a:t> states to iteratively improve the solution.</a:t>
            </a:r>
          </a:p>
          <a:p>
            <a:pPr lvl="1"/>
            <a:r>
              <a:rPr lang="en-GB" b="1" i="0" dirty="0">
                <a:effectLst/>
                <a:latin typeface="quote-cjk-patch"/>
              </a:rPr>
              <a:t>Solution-Oriented:</a:t>
            </a:r>
            <a:r>
              <a:rPr lang="en-GB" b="0" i="0" dirty="0">
                <a:effectLst/>
                <a:latin typeface="quote-cjk-patch"/>
              </a:rPr>
              <a:t> Ideal for problems where only the </a:t>
            </a:r>
            <a:r>
              <a:rPr lang="en-GB" b="1" i="0" dirty="0">
                <a:effectLst/>
                <a:latin typeface="quote-cjk-patch"/>
              </a:rPr>
              <a:t>final solution matters</a:t>
            </a:r>
            <a:r>
              <a:rPr lang="en-GB" b="0" i="0" dirty="0">
                <a:effectLst/>
                <a:latin typeface="quote-cjk-patch"/>
              </a:rPr>
              <a:t>, not the path cost.</a:t>
            </a:r>
          </a:p>
          <a:p>
            <a:pPr algn="l"/>
            <a:r>
              <a:rPr lang="en-GB" sz="2400" b="0" i="0" dirty="0">
                <a:effectLst/>
                <a:latin typeface="quote-cjk-patch"/>
              </a:rPr>
              <a:t>Local search is widely used in optimization problems such as function maximization, and machine learning.</a:t>
            </a:r>
          </a:p>
          <a:p>
            <a:pPr eaLnBrk="1" hangingPunct="1">
              <a:lnSpc>
                <a:spcPct val="90000"/>
              </a:lnSpc>
            </a:pPr>
            <a:endParaRPr lang="en-US" altLang="en-US" sz="3200" dirty="0"/>
          </a:p>
        </p:txBody>
      </p:sp>
    </p:spTree>
    <p:extLst>
      <p:ext uri="{BB962C8B-B14F-4D97-AF65-F5344CB8AC3E}">
        <p14:creationId xmlns:p14="http://schemas.microsoft.com/office/powerpoint/2010/main" val="634531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Hill Climbing Search</a:t>
            </a:r>
          </a:p>
        </p:txBody>
      </p:sp>
      <p:sp>
        <p:nvSpPr>
          <p:cNvPr id="27651" name="Rectangle 3"/>
          <p:cNvSpPr>
            <a:spLocks noGrp="1" noChangeArrowheads="1"/>
          </p:cNvSpPr>
          <p:nvPr>
            <p:ph type="body" idx="1"/>
          </p:nvPr>
        </p:nvSpPr>
        <p:spPr>
          <a:xfrm>
            <a:off x="914400" y="996286"/>
            <a:ext cx="9773265" cy="5390865"/>
          </a:xfrm>
        </p:spPr>
        <p:txBody>
          <a:bodyPr>
            <a:noAutofit/>
          </a:bodyPr>
          <a:lstStyle/>
          <a:p>
            <a:pPr marL="0" indent="0" algn="l">
              <a:buNone/>
            </a:pPr>
            <a:r>
              <a:rPr lang="en-GB" sz="2100" b="0" i="0" dirty="0">
                <a:effectLst/>
                <a:latin typeface="quote-cjk-patch"/>
              </a:rPr>
              <a:t>Hill Climbing is a </a:t>
            </a:r>
            <a:r>
              <a:rPr lang="en-GB" sz="2100" b="1" i="0" dirty="0">
                <a:effectLst/>
                <a:latin typeface="quote-cjk-patch"/>
              </a:rPr>
              <a:t>local search algorithm</a:t>
            </a:r>
            <a:r>
              <a:rPr lang="en-GB" sz="2100" b="0" i="0" dirty="0">
                <a:effectLst/>
                <a:latin typeface="quote-cjk-patch"/>
              </a:rPr>
              <a:t> inspired by the idea of climbing a hill in the dark (blindfolded). The agent can only sense its immediate surroundings and moves in the direction that appears to lead upward, aiming to reach the highest point (the goal).</a:t>
            </a:r>
          </a:p>
          <a:p>
            <a:pPr marL="0" indent="0" algn="l">
              <a:buNone/>
            </a:pPr>
            <a:r>
              <a:rPr lang="en-GB" sz="2100" b="1" i="0" dirty="0">
                <a:effectLst/>
                <a:latin typeface="quote-cjk-patch"/>
              </a:rPr>
              <a:t>Key Characteristics:</a:t>
            </a:r>
            <a:endParaRPr lang="en-GB" sz="2100" b="0" i="0" dirty="0">
              <a:effectLst/>
              <a:latin typeface="quote-cjk-patch"/>
            </a:endParaRPr>
          </a:p>
          <a:p>
            <a:pPr lvl="1"/>
            <a:r>
              <a:rPr lang="en-GB" sz="2100" b="1" i="0" dirty="0">
                <a:effectLst/>
                <a:latin typeface="quote-cjk-patch"/>
              </a:rPr>
              <a:t>Blindfolded Agent:</a:t>
            </a:r>
            <a:r>
              <a:rPr lang="en-GB" sz="2100" b="0" i="0" dirty="0">
                <a:effectLst/>
                <a:latin typeface="quote-cjk-patch"/>
              </a:rPr>
              <a:t> The algorithm only knows the </a:t>
            </a:r>
            <a:r>
              <a:rPr lang="en-GB" sz="2100" b="1" i="0" dirty="0">
                <a:effectLst/>
                <a:latin typeface="quote-cjk-patch"/>
              </a:rPr>
              <a:t>current state</a:t>
            </a:r>
            <a:r>
              <a:rPr lang="en-GB" sz="2100" b="0" i="0" dirty="0">
                <a:effectLst/>
                <a:latin typeface="quote-cjk-patch"/>
              </a:rPr>
              <a:t> and its </a:t>
            </a:r>
            <a:r>
              <a:rPr lang="en-GB" sz="2100" b="0" i="0" dirty="0" err="1">
                <a:effectLst/>
                <a:latin typeface="quote-cjk-patch"/>
              </a:rPr>
              <a:t>neighbors</a:t>
            </a:r>
            <a:r>
              <a:rPr lang="en-GB" sz="2100" b="0" i="0" dirty="0">
                <a:effectLst/>
                <a:latin typeface="quote-cjk-patch"/>
              </a:rPr>
              <a:t> (local information).</a:t>
            </a:r>
          </a:p>
          <a:p>
            <a:pPr lvl="1"/>
            <a:r>
              <a:rPr lang="en-GB" sz="2100" b="1" i="0" dirty="0">
                <a:effectLst/>
                <a:latin typeface="quote-cjk-patch"/>
              </a:rPr>
              <a:t>Heuristic-Driven:</a:t>
            </a:r>
            <a:r>
              <a:rPr lang="en-GB" sz="2100" b="0" i="0" dirty="0">
                <a:effectLst/>
                <a:latin typeface="quote-cjk-patch"/>
              </a:rPr>
              <a:t> Uses a heuristic (e.g., distance to goal, function value) to decide the next move.</a:t>
            </a:r>
          </a:p>
          <a:p>
            <a:pPr lvl="1"/>
            <a:r>
              <a:rPr lang="en-GB" sz="2100" b="1" i="0" dirty="0">
                <a:effectLst/>
                <a:latin typeface="quote-cjk-patch"/>
              </a:rPr>
              <a:t>Greedy Approach:</a:t>
            </a:r>
            <a:r>
              <a:rPr lang="en-GB" sz="2100" b="0" i="0" dirty="0">
                <a:effectLst/>
                <a:latin typeface="quote-cjk-patch"/>
              </a:rPr>
              <a:t> Always chooses the neighbor that </a:t>
            </a:r>
            <a:r>
              <a:rPr lang="en-GB" sz="2100" b="1" i="0" dirty="0">
                <a:effectLst/>
                <a:latin typeface="quote-cjk-patch"/>
              </a:rPr>
              <a:t>improves the current state</a:t>
            </a:r>
            <a:r>
              <a:rPr lang="en-GB" sz="2100" b="0" i="0" dirty="0">
                <a:effectLst/>
                <a:latin typeface="quote-cjk-patch"/>
              </a:rPr>
              <a:t> (e.g., reduces distance to goal).</a:t>
            </a:r>
          </a:p>
          <a:p>
            <a:pPr lvl="1"/>
            <a:r>
              <a:rPr lang="en-GB" sz="2100" b="1" i="0" dirty="0">
                <a:effectLst/>
                <a:latin typeface="quote-cjk-patch"/>
              </a:rPr>
              <a:t>No Backtracking:</a:t>
            </a:r>
            <a:r>
              <a:rPr lang="en-GB" sz="2100" b="0" i="0" dirty="0">
                <a:effectLst/>
                <a:latin typeface="quote-cjk-patch"/>
              </a:rPr>
              <a:t> Once it moves to a new state, it does not revisit previous states.</a:t>
            </a:r>
          </a:p>
          <a:p>
            <a:pPr marL="0" indent="0">
              <a:buNone/>
            </a:pPr>
            <a:r>
              <a:rPr lang="en-GB" sz="2100" b="1" i="0" dirty="0">
                <a:effectLst/>
                <a:latin typeface="quote-cjk-patch"/>
              </a:rPr>
              <a:t>Example:</a:t>
            </a:r>
            <a:r>
              <a:rPr lang="en-GB" sz="2100" dirty="0">
                <a:latin typeface="quote-cjk-patch"/>
              </a:rPr>
              <a:t> </a:t>
            </a:r>
            <a:r>
              <a:rPr lang="en-GB" sz="2100" b="0" i="0" dirty="0">
                <a:effectLst/>
                <a:latin typeface="quote-cjk-patch"/>
              </a:rPr>
              <a:t>Imagine climbing a fog-covered hill where you can only feel the slope under your feet. You take steps </a:t>
            </a:r>
            <a:r>
              <a:rPr lang="en-GB" sz="2100" b="1" i="0" dirty="0">
                <a:effectLst/>
                <a:latin typeface="quote-cjk-patch"/>
              </a:rPr>
              <a:t>uphill</a:t>
            </a:r>
            <a:r>
              <a:rPr lang="en-GB" sz="2100" b="0" i="0" dirty="0">
                <a:effectLst/>
                <a:latin typeface="quote-cjk-patch"/>
              </a:rPr>
              <a:t> until no higher step is available—this is your peak (either local or global maximum).</a:t>
            </a:r>
          </a:p>
          <a:p>
            <a:pPr marL="0" indent="0" algn="l">
              <a:buNone/>
            </a:pPr>
            <a:r>
              <a:rPr lang="en-GB" sz="2100" b="1" i="0" dirty="0">
                <a:effectLst/>
                <a:latin typeface="quote-cjk-patch"/>
              </a:rPr>
              <a:t>Limitation:</a:t>
            </a:r>
            <a:endParaRPr lang="en-GB" sz="2100" dirty="0">
              <a:latin typeface="quote-cjk-patch"/>
            </a:endParaRPr>
          </a:p>
          <a:p>
            <a:pPr lvl="1"/>
            <a:r>
              <a:rPr lang="en-GB" sz="2100" b="1" i="0" dirty="0">
                <a:effectLst/>
                <a:latin typeface="quote-cjk-patch"/>
              </a:rPr>
              <a:t>Local Maxima:</a:t>
            </a:r>
            <a:r>
              <a:rPr lang="en-GB" sz="2100" b="0" i="0" dirty="0">
                <a:effectLst/>
                <a:latin typeface="quote-cjk-patch"/>
              </a:rPr>
              <a:t> May get stuck at a peak that isn’t the highest.</a:t>
            </a:r>
          </a:p>
          <a:p>
            <a:pPr eaLnBrk="1" hangingPunct="1">
              <a:lnSpc>
                <a:spcPct val="90000"/>
              </a:lnSpc>
            </a:pPr>
            <a:endParaRPr lang="en-US" altLang="en-US" sz="3200" dirty="0"/>
          </a:p>
        </p:txBody>
      </p:sp>
      <p:sp>
        <p:nvSpPr>
          <p:cNvPr id="2" name="TextBox 1">
            <a:extLst>
              <a:ext uri="{FF2B5EF4-FFF2-40B4-BE49-F238E27FC236}">
                <a16:creationId xmlns:a16="http://schemas.microsoft.com/office/drawing/2014/main" id="{F8FC5388-4211-2FBA-E8E6-6A94D45AFBDE}"/>
              </a:ext>
            </a:extLst>
          </p:cNvPr>
          <p:cNvSpPr txBox="1"/>
          <p:nvPr/>
        </p:nvSpPr>
        <p:spPr>
          <a:xfrm>
            <a:off x="5596128" y="249900"/>
            <a:ext cx="5309305" cy="769441"/>
          </a:xfrm>
          <a:prstGeom prst="rect">
            <a:avLst/>
          </a:prstGeom>
          <a:noFill/>
          <a:ln>
            <a:solidFill>
              <a:schemeClr val="tx1"/>
            </a:solidFill>
          </a:ln>
        </p:spPr>
        <p:txBody>
          <a:bodyPr wrap="square" rtlCol="0">
            <a:spAutoFit/>
          </a:bodyPr>
          <a:lstStyle/>
          <a:p>
            <a:r>
              <a:rPr lang="en-US" sz="1100" dirty="0"/>
              <a:t>The Hill Climbing Search algorithm in Artificial Intelligence is a local search algorithm used for optimization problems. It operates by continuously moving in the direction of increasing elevation or value within a search space, aiming to find a peak or optimal solution. </a:t>
            </a:r>
          </a:p>
        </p:txBody>
      </p:sp>
    </p:spTree>
    <p:extLst>
      <p:ext uri="{BB962C8B-B14F-4D97-AF65-F5344CB8AC3E}">
        <p14:creationId xmlns:p14="http://schemas.microsoft.com/office/powerpoint/2010/main" val="347713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Hill Climbing Algorithm</a:t>
            </a:r>
          </a:p>
        </p:txBody>
      </p:sp>
      <p:pic>
        <p:nvPicPr>
          <p:cNvPr id="5" name="Picture 4">
            <a:extLst>
              <a:ext uri="{FF2B5EF4-FFF2-40B4-BE49-F238E27FC236}">
                <a16:creationId xmlns:a16="http://schemas.microsoft.com/office/drawing/2014/main" id="{31138018-6E4F-7348-138D-5464A6A1181E}"/>
              </a:ext>
            </a:extLst>
          </p:cNvPr>
          <p:cNvPicPr>
            <a:picLocks noChangeAspect="1"/>
          </p:cNvPicPr>
          <p:nvPr/>
        </p:nvPicPr>
        <p:blipFill>
          <a:blip r:embed="rId2"/>
          <a:srcRect t="6970"/>
          <a:stretch/>
        </p:blipFill>
        <p:spPr>
          <a:xfrm>
            <a:off x="465060" y="1085611"/>
            <a:ext cx="9504849" cy="5253607"/>
          </a:xfrm>
          <a:prstGeom prst="rect">
            <a:avLst/>
          </a:prstGeom>
        </p:spPr>
      </p:pic>
    </p:spTree>
    <p:extLst>
      <p:ext uri="{BB962C8B-B14F-4D97-AF65-F5344CB8AC3E}">
        <p14:creationId xmlns:p14="http://schemas.microsoft.com/office/powerpoint/2010/main" val="39390321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Hill Climbing Example</a:t>
            </a:r>
          </a:p>
        </p:txBody>
      </p:sp>
      <p:pic>
        <p:nvPicPr>
          <p:cNvPr id="1026" name="Picture 2" descr="Introduction to Hill Climbing | Artificial Intelligence | by Bhavek  Mahyavanshi | Medium">
            <a:extLst>
              <a:ext uri="{FF2B5EF4-FFF2-40B4-BE49-F238E27FC236}">
                <a16:creationId xmlns:a16="http://schemas.microsoft.com/office/drawing/2014/main" id="{DDD0CB8F-FC1E-B819-5EA5-BE18E61994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625"/>
          <a:stretch/>
        </p:blipFill>
        <p:spPr bwMode="auto">
          <a:xfrm>
            <a:off x="993058" y="1174639"/>
            <a:ext cx="8996516" cy="4508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288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Hill Climbing Example</a:t>
            </a:r>
          </a:p>
        </p:txBody>
      </p:sp>
      <p:grpSp>
        <p:nvGrpSpPr>
          <p:cNvPr id="14" name="Group 13">
            <a:extLst>
              <a:ext uri="{FF2B5EF4-FFF2-40B4-BE49-F238E27FC236}">
                <a16:creationId xmlns:a16="http://schemas.microsoft.com/office/drawing/2014/main" id="{AA1DE5ED-0034-9B89-15B3-1E7EEDDB09E2}"/>
              </a:ext>
            </a:extLst>
          </p:cNvPr>
          <p:cNvGrpSpPr/>
          <p:nvPr/>
        </p:nvGrpSpPr>
        <p:grpSpPr>
          <a:xfrm>
            <a:off x="2047242" y="1119117"/>
            <a:ext cx="8360551" cy="5350812"/>
            <a:chOff x="838202" y="1009348"/>
            <a:chExt cx="8360551" cy="5350812"/>
          </a:xfrm>
        </p:grpSpPr>
        <p:grpSp>
          <p:nvGrpSpPr>
            <p:cNvPr id="13" name="Group 12">
              <a:extLst>
                <a:ext uri="{FF2B5EF4-FFF2-40B4-BE49-F238E27FC236}">
                  <a16:creationId xmlns:a16="http://schemas.microsoft.com/office/drawing/2014/main" id="{86315B03-9114-902E-81BD-719DFB9CA20D}"/>
                </a:ext>
              </a:extLst>
            </p:cNvPr>
            <p:cNvGrpSpPr/>
            <p:nvPr/>
          </p:nvGrpSpPr>
          <p:grpSpPr>
            <a:xfrm>
              <a:off x="5056785" y="1009348"/>
              <a:ext cx="4141968" cy="5350812"/>
              <a:chOff x="6457443" y="717051"/>
              <a:chExt cx="5058481" cy="6534812"/>
            </a:xfrm>
          </p:grpSpPr>
          <p:pic>
            <p:nvPicPr>
              <p:cNvPr id="7" name="Picture 6">
                <a:extLst>
                  <a:ext uri="{FF2B5EF4-FFF2-40B4-BE49-F238E27FC236}">
                    <a16:creationId xmlns:a16="http://schemas.microsoft.com/office/drawing/2014/main" id="{2459A897-77C8-DACF-BD49-AB770A8AD8F1}"/>
                  </a:ext>
                </a:extLst>
              </p:cNvPr>
              <p:cNvPicPr>
                <a:picLocks noChangeAspect="1"/>
              </p:cNvPicPr>
              <p:nvPr/>
            </p:nvPicPr>
            <p:blipFill>
              <a:blip r:embed="rId2"/>
              <a:stretch>
                <a:fillRect/>
              </a:stretch>
            </p:blipFill>
            <p:spPr>
              <a:xfrm>
                <a:off x="6457443" y="717051"/>
                <a:ext cx="5058481" cy="3477110"/>
              </a:xfrm>
              <a:prstGeom prst="rect">
                <a:avLst/>
              </a:prstGeom>
            </p:spPr>
          </p:pic>
          <p:pic>
            <p:nvPicPr>
              <p:cNvPr id="9" name="Picture 8">
                <a:extLst>
                  <a:ext uri="{FF2B5EF4-FFF2-40B4-BE49-F238E27FC236}">
                    <a16:creationId xmlns:a16="http://schemas.microsoft.com/office/drawing/2014/main" id="{6AA63C61-1559-9FA7-5616-E3D5CE6ACD3B}"/>
                  </a:ext>
                </a:extLst>
              </p:cNvPr>
              <p:cNvPicPr>
                <a:picLocks noChangeAspect="1"/>
              </p:cNvPicPr>
              <p:nvPr/>
            </p:nvPicPr>
            <p:blipFill>
              <a:blip r:embed="rId3"/>
              <a:stretch>
                <a:fillRect/>
              </a:stretch>
            </p:blipFill>
            <p:spPr>
              <a:xfrm>
                <a:off x="6457443" y="4174859"/>
                <a:ext cx="5058481" cy="3077004"/>
              </a:xfrm>
              <a:prstGeom prst="rect">
                <a:avLst/>
              </a:prstGeom>
            </p:spPr>
          </p:pic>
        </p:grpSp>
        <p:grpSp>
          <p:nvGrpSpPr>
            <p:cNvPr id="12" name="Group 11">
              <a:extLst>
                <a:ext uri="{FF2B5EF4-FFF2-40B4-BE49-F238E27FC236}">
                  <a16:creationId xmlns:a16="http://schemas.microsoft.com/office/drawing/2014/main" id="{D05576B4-0D41-15C3-F5DB-5CB33E5B16D0}"/>
                </a:ext>
              </a:extLst>
            </p:cNvPr>
            <p:cNvGrpSpPr/>
            <p:nvPr/>
          </p:nvGrpSpPr>
          <p:grpSpPr>
            <a:xfrm>
              <a:off x="838202" y="1009348"/>
              <a:ext cx="3852823" cy="5350812"/>
              <a:chOff x="838202" y="1009348"/>
              <a:chExt cx="4798999" cy="6664864"/>
            </a:xfrm>
          </p:grpSpPr>
          <p:pic>
            <p:nvPicPr>
              <p:cNvPr id="3" name="Picture 2">
                <a:extLst>
                  <a:ext uri="{FF2B5EF4-FFF2-40B4-BE49-F238E27FC236}">
                    <a16:creationId xmlns:a16="http://schemas.microsoft.com/office/drawing/2014/main" id="{55D013DF-B5AD-8047-5ED3-A7447C2BE6B8}"/>
                  </a:ext>
                </a:extLst>
              </p:cNvPr>
              <p:cNvPicPr>
                <a:picLocks noChangeAspect="1"/>
              </p:cNvPicPr>
              <p:nvPr/>
            </p:nvPicPr>
            <p:blipFill>
              <a:blip r:embed="rId4"/>
              <a:stretch>
                <a:fillRect/>
              </a:stretch>
            </p:blipFill>
            <p:spPr>
              <a:xfrm>
                <a:off x="838202" y="1009348"/>
                <a:ext cx="4798999" cy="3063911"/>
              </a:xfrm>
              <a:prstGeom prst="rect">
                <a:avLst/>
              </a:prstGeom>
            </p:spPr>
          </p:pic>
          <p:pic>
            <p:nvPicPr>
              <p:cNvPr id="5" name="Picture 4">
                <a:extLst>
                  <a:ext uri="{FF2B5EF4-FFF2-40B4-BE49-F238E27FC236}">
                    <a16:creationId xmlns:a16="http://schemas.microsoft.com/office/drawing/2014/main" id="{0EAC8357-82AF-DC2C-2AFD-6BC55CC0EB78}"/>
                  </a:ext>
                </a:extLst>
              </p:cNvPr>
              <p:cNvPicPr>
                <a:picLocks noChangeAspect="1"/>
              </p:cNvPicPr>
              <p:nvPr/>
            </p:nvPicPr>
            <p:blipFill>
              <a:blip r:embed="rId5"/>
              <a:stretch>
                <a:fillRect/>
              </a:stretch>
            </p:blipFill>
            <p:spPr>
              <a:xfrm>
                <a:off x="838202" y="4073259"/>
                <a:ext cx="3540758" cy="3600953"/>
              </a:xfrm>
              <a:prstGeom prst="rect">
                <a:avLst/>
              </a:prstGeom>
            </p:spPr>
          </p:pic>
          <p:pic>
            <p:nvPicPr>
              <p:cNvPr id="11" name="Picture 10">
                <a:extLst>
                  <a:ext uri="{FF2B5EF4-FFF2-40B4-BE49-F238E27FC236}">
                    <a16:creationId xmlns:a16="http://schemas.microsoft.com/office/drawing/2014/main" id="{077AB7E5-6855-AE1D-1DF8-57BD883B9491}"/>
                  </a:ext>
                </a:extLst>
              </p:cNvPr>
              <p:cNvPicPr>
                <a:picLocks noChangeAspect="1"/>
              </p:cNvPicPr>
              <p:nvPr/>
            </p:nvPicPr>
            <p:blipFill>
              <a:blip r:embed="rId6"/>
              <a:stretch>
                <a:fillRect/>
              </a:stretch>
            </p:blipFill>
            <p:spPr>
              <a:xfrm>
                <a:off x="4378960" y="4073259"/>
                <a:ext cx="1258241" cy="3600953"/>
              </a:xfrm>
              <a:prstGeom prst="rect">
                <a:avLst/>
              </a:prstGeom>
            </p:spPr>
          </p:pic>
        </p:grpSp>
      </p:grpSp>
    </p:spTree>
    <p:extLst>
      <p:ext uri="{BB962C8B-B14F-4D97-AF65-F5344CB8AC3E}">
        <p14:creationId xmlns:p14="http://schemas.microsoft.com/office/powerpoint/2010/main" val="14463204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2" y="150126"/>
            <a:ext cx="10515600" cy="968991"/>
          </a:xfrm>
        </p:spPr>
        <p:txBody>
          <a:bodyPr/>
          <a:lstStyle/>
          <a:p>
            <a:pPr eaLnBrk="1" hangingPunct="1"/>
            <a:r>
              <a:rPr lang="en-US" altLang="en-US" dirty="0">
                <a:solidFill>
                  <a:schemeClr val="accent2">
                    <a:lumMod val="75000"/>
                  </a:schemeClr>
                </a:solidFill>
              </a:rPr>
              <a:t>Hill Climbing Example</a:t>
            </a:r>
          </a:p>
        </p:txBody>
      </p:sp>
      <p:grpSp>
        <p:nvGrpSpPr>
          <p:cNvPr id="8" name="Group 7">
            <a:extLst>
              <a:ext uri="{FF2B5EF4-FFF2-40B4-BE49-F238E27FC236}">
                <a16:creationId xmlns:a16="http://schemas.microsoft.com/office/drawing/2014/main" id="{8CC114BC-8628-815B-54BB-202540F3A67F}"/>
              </a:ext>
            </a:extLst>
          </p:cNvPr>
          <p:cNvGrpSpPr/>
          <p:nvPr/>
        </p:nvGrpSpPr>
        <p:grpSpPr>
          <a:xfrm>
            <a:off x="1927121" y="1195320"/>
            <a:ext cx="8190272" cy="5295196"/>
            <a:chOff x="1927121" y="979010"/>
            <a:chExt cx="8190272" cy="5295196"/>
          </a:xfrm>
        </p:grpSpPr>
        <p:pic>
          <p:nvPicPr>
            <p:cNvPr id="3" name="Picture 2">
              <a:extLst>
                <a:ext uri="{FF2B5EF4-FFF2-40B4-BE49-F238E27FC236}">
                  <a16:creationId xmlns:a16="http://schemas.microsoft.com/office/drawing/2014/main" id="{4B0538CC-4674-20D2-C76D-434156F275D3}"/>
                </a:ext>
              </a:extLst>
            </p:cNvPr>
            <p:cNvPicPr>
              <a:picLocks noChangeAspect="1"/>
            </p:cNvPicPr>
            <p:nvPr/>
          </p:nvPicPr>
          <p:blipFill>
            <a:blip r:embed="rId2"/>
            <a:stretch>
              <a:fillRect/>
            </a:stretch>
          </p:blipFill>
          <p:spPr>
            <a:xfrm>
              <a:off x="1927121" y="1067498"/>
              <a:ext cx="7249459" cy="5206708"/>
            </a:xfrm>
            <a:prstGeom prst="rect">
              <a:avLst/>
            </a:prstGeom>
          </p:spPr>
        </p:pic>
        <p:sp>
          <p:nvSpPr>
            <p:cNvPr id="4" name="TextBox 3">
              <a:extLst>
                <a:ext uri="{FF2B5EF4-FFF2-40B4-BE49-F238E27FC236}">
                  <a16:creationId xmlns:a16="http://schemas.microsoft.com/office/drawing/2014/main" id="{087A1234-007C-2050-FDD1-9EE050C1098C}"/>
                </a:ext>
              </a:extLst>
            </p:cNvPr>
            <p:cNvSpPr txBox="1"/>
            <p:nvPr/>
          </p:nvSpPr>
          <p:spPr>
            <a:xfrm>
              <a:off x="2182762" y="979010"/>
              <a:ext cx="1494503" cy="369332"/>
            </a:xfrm>
            <a:prstGeom prst="rect">
              <a:avLst/>
            </a:prstGeom>
            <a:noFill/>
          </p:spPr>
          <p:txBody>
            <a:bodyPr wrap="square">
              <a:spAutoFit/>
            </a:bodyPr>
            <a:lstStyle/>
            <a:p>
              <a:r>
                <a:rPr lang="en-GB" b="0" i="0" dirty="0">
                  <a:effectLst/>
                  <a:latin typeface="quote-cjk-patch"/>
                </a:rPr>
                <a:t>Goal State</a:t>
              </a:r>
              <a:endParaRPr lang="en-US" dirty="0"/>
            </a:p>
          </p:txBody>
        </p:sp>
        <p:sp>
          <p:nvSpPr>
            <p:cNvPr id="5" name="TextBox 4">
              <a:extLst>
                <a:ext uri="{FF2B5EF4-FFF2-40B4-BE49-F238E27FC236}">
                  <a16:creationId xmlns:a16="http://schemas.microsoft.com/office/drawing/2014/main" id="{AB9B9F63-BEE3-3521-0479-C61968203909}"/>
                </a:ext>
              </a:extLst>
            </p:cNvPr>
            <p:cNvSpPr txBox="1"/>
            <p:nvPr/>
          </p:nvSpPr>
          <p:spPr>
            <a:xfrm>
              <a:off x="4932419" y="1022939"/>
              <a:ext cx="1232407" cy="369332"/>
            </a:xfrm>
            <a:prstGeom prst="rect">
              <a:avLst/>
            </a:prstGeom>
            <a:noFill/>
          </p:spPr>
          <p:txBody>
            <a:bodyPr wrap="square">
              <a:spAutoFit/>
            </a:bodyPr>
            <a:lstStyle/>
            <a:p>
              <a:r>
                <a:rPr lang="en-GB" b="0" i="0" dirty="0">
                  <a:effectLst/>
                  <a:latin typeface="quote-cjk-patch"/>
                </a:rPr>
                <a:t>Initial State</a:t>
              </a:r>
              <a:endParaRPr lang="en-US" dirty="0"/>
            </a:p>
          </p:txBody>
        </p:sp>
        <p:sp>
          <p:nvSpPr>
            <p:cNvPr id="6" name="TextBox 5">
              <a:extLst>
                <a:ext uri="{FF2B5EF4-FFF2-40B4-BE49-F238E27FC236}">
                  <a16:creationId xmlns:a16="http://schemas.microsoft.com/office/drawing/2014/main" id="{EBDBDE25-1D62-2EF6-9072-091C6CB4882C}"/>
                </a:ext>
              </a:extLst>
            </p:cNvPr>
            <p:cNvSpPr txBox="1"/>
            <p:nvPr/>
          </p:nvSpPr>
          <p:spPr>
            <a:xfrm>
              <a:off x="6164826" y="2866488"/>
              <a:ext cx="1232407" cy="307777"/>
            </a:xfrm>
            <a:prstGeom prst="rect">
              <a:avLst/>
            </a:prstGeom>
            <a:noFill/>
          </p:spPr>
          <p:txBody>
            <a:bodyPr wrap="square">
              <a:spAutoFit/>
            </a:bodyPr>
            <a:lstStyle/>
            <a:p>
              <a:r>
                <a:rPr lang="en-GB" sz="1400" b="0" i="0" dirty="0">
                  <a:effectLst/>
                  <a:latin typeface="quote-cjk-patch"/>
                </a:rPr>
                <a:t>Local maxima</a:t>
              </a:r>
              <a:endParaRPr lang="en-US" sz="1400" dirty="0"/>
            </a:p>
          </p:txBody>
        </p:sp>
        <p:sp>
          <p:nvSpPr>
            <p:cNvPr id="7" name="TextBox 6">
              <a:extLst>
                <a:ext uri="{FF2B5EF4-FFF2-40B4-BE49-F238E27FC236}">
                  <a16:creationId xmlns:a16="http://schemas.microsoft.com/office/drawing/2014/main" id="{031A4373-E8C7-96C7-CCFB-5B92A184F1E3}"/>
                </a:ext>
              </a:extLst>
            </p:cNvPr>
            <p:cNvSpPr txBox="1"/>
            <p:nvPr/>
          </p:nvSpPr>
          <p:spPr>
            <a:xfrm>
              <a:off x="6569489" y="1466592"/>
              <a:ext cx="3547904" cy="338554"/>
            </a:xfrm>
            <a:prstGeom prst="rect">
              <a:avLst/>
            </a:prstGeom>
            <a:noFill/>
          </p:spPr>
          <p:txBody>
            <a:bodyPr wrap="square">
              <a:spAutoFit/>
            </a:bodyPr>
            <a:lstStyle/>
            <a:p>
              <a:r>
                <a:rPr lang="en-GB" sz="1600" b="0" i="0" dirty="0">
                  <a:effectLst/>
                  <a:latin typeface="quote-cjk-patch"/>
                </a:rPr>
                <a:t>H = number of misplaced tiles</a:t>
              </a:r>
              <a:endParaRPr lang="en-US" sz="1600" dirty="0"/>
            </a:p>
          </p:txBody>
        </p:sp>
      </p:grpSp>
    </p:spTree>
    <p:extLst>
      <p:ext uri="{BB962C8B-B14F-4D97-AF65-F5344CB8AC3E}">
        <p14:creationId xmlns:p14="http://schemas.microsoft.com/office/powerpoint/2010/main" val="17749047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Simulated annealing search</a:t>
            </a:r>
          </a:p>
        </p:txBody>
      </p:sp>
      <p:sp>
        <p:nvSpPr>
          <p:cNvPr id="27651" name="Rectangle 3"/>
          <p:cNvSpPr>
            <a:spLocks noGrp="1" noChangeArrowheads="1"/>
          </p:cNvSpPr>
          <p:nvPr>
            <p:ph type="body" idx="1"/>
          </p:nvPr>
        </p:nvSpPr>
        <p:spPr>
          <a:xfrm>
            <a:off x="838200" y="1332477"/>
            <a:ext cx="9773265" cy="5390865"/>
          </a:xfrm>
        </p:spPr>
        <p:txBody>
          <a:bodyPr>
            <a:noAutofit/>
          </a:bodyPr>
          <a:lstStyle/>
          <a:p>
            <a:pPr marL="0" indent="0">
              <a:buNone/>
            </a:pPr>
            <a:r>
              <a:rPr lang="en-US" sz="3200" b="0" i="0" dirty="0">
                <a:effectLst/>
                <a:latin typeface="KaTeX_Main"/>
              </a:rPr>
              <a:t>​</a:t>
            </a:r>
            <a:r>
              <a:rPr lang="en-US" altLang="en-US" sz="3200" dirty="0"/>
              <a:t>Idea: escape local maxima by allowing some "bad" moves but </a:t>
            </a:r>
            <a:r>
              <a:rPr lang="en-US" altLang="en-US" sz="3200" dirty="0">
                <a:solidFill>
                  <a:srgbClr val="FF0000"/>
                </a:solidFill>
              </a:rPr>
              <a:t>gradually decrease</a:t>
            </a:r>
            <a:r>
              <a:rPr lang="en-US" altLang="en-US" sz="3200" dirty="0"/>
              <a:t> their frequency</a:t>
            </a:r>
          </a:p>
          <a:p>
            <a:pPr marL="0" indent="0" algn="l">
              <a:buNone/>
            </a:pPr>
            <a:endParaRPr lang="en-US" altLang="en-US" sz="5400" dirty="0"/>
          </a:p>
        </p:txBody>
      </p:sp>
      <p:pic>
        <p:nvPicPr>
          <p:cNvPr id="5" name="Picture 4">
            <a:extLst>
              <a:ext uri="{FF2B5EF4-FFF2-40B4-BE49-F238E27FC236}">
                <a16:creationId xmlns:a16="http://schemas.microsoft.com/office/drawing/2014/main" id="{28026BAD-7D10-3F21-5B50-8B5CB4F8DD47}"/>
              </a:ext>
            </a:extLst>
          </p:cNvPr>
          <p:cNvPicPr>
            <a:picLocks noChangeAspect="1"/>
          </p:cNvPicPr>
          <p:nvPr/>
        </p:nvPicPr>
        <p:blipFill>
          <a:blip r:embed="rId2"/>
          <a:stretch>
            <a:fillRect/>
          </a:stretch>
        </p:blipFill>
        <p:spPr>
          <a:xfrm>
            <a:off x="5801360" y="2672046"/>
            <a:ext cx="4976329" cy="3381801"/>
          </a:xfrm>
          <a:prstGeom prst="rect">
            <a:avLst/>
          </a:prstGeom>
        </p:spPr>
      </p:pic>
      <p:grpSp>
        <p:nvGrpSpPr>
          <p:cNvPr id="8" name="Group 7">
            <a:extLst>
              <a:ext uri="{FF2B5EF4-FFF2-40B4-BE49-F238E27FC236}">
                <a16:creationId xmlns:a16="http://schemas.microsoft.com/office/drawing/2014/main" id="{27D73E3D-79CB-5320-3EFA-4DFA7A4ED607}"/>
              </a:ext>
            </a:extLst>
          </p:cNvPr>
          <p:cNvGrpSpPr/>
          <p:nvPr/>
        </p:nvGrpSpPr>
        <p:grpSpPr>
          <a:xfrm>
            <a:off x="838200" y="2416108"/>
            <a:ext cx="4302842" cy="3893676"/>
            <a:chOff x="868598" y="2151528"/>
            <a:chExt cx="4302842" cy="3893676"/>
          </a:xfrm>
        </p:grpSpPr>
        <p:pic>
          <p:nvPicPr>
            <p:cNvPr id="3" name="Picture 2">
              <a:extLst>
                <a:ext uri="{FF2B5EF4-FFF2-40B4-BE49-F238E27FC236}">
                  <a16:creationId xmlns:a16="http://schemas.microsoft.com/office/drawing/2014/main" id="{B11844D6-876B-F676-6943-2A134A623119}"/>
                </a:ext>
              </a:extLst>
            </p:cNvPr>
            <p:cNvPicPr>
              <a:picLocks noChangeAspect="1"/>
            </p:cNvPicPr>
            <p:nvPr/>
          </p:nvPicPr>
          <p:blipFill>
            <a:blip r:embed="rId3"/>
            <a:stretch>
              <a:fillRect/>
            </a:stretch>
          </p:blipFill>
          <p:spPr>
            <a:xfrm>
              <a:off x="868598" y="2551638"/>
              <a:ext cx="4302842" cy="3493566"/>
            </a:xfrm>
            <a:prstGeom prst="rect">
              <a:avLst/>
            </a:prstGeom>
          </p:spPr>
        </p:pic>
        <p:sp>
          <p:nvSpPr>
            <p:cNvPr id="7" name="TextBox 6">
              <a:extLst>
                <a:ext uri="{FF2B5EF4-FFF2-40B4-BE49-F238E27FC236}">
                  <a16:creationId xmlns:a16="http://schemas.microsoft.com/office/drawing/2014/main" id="{85FDC0AB-9AE7-388C-6280-BFFD70E5148C}"/>
                </a:ext>
              </a:extLst>
            </p:cNvPr>
            <p:cNvSpPr txBox="1"/>
            <p:nvPr/>
          </p:nvSpPr>
          <p:spPr>
            <a:xfrm>
              <a:off x="955040" y="2151528"/>
              <a:ext cx="1656080" cy="461665"/>
            </a:xfrm>
            <a:prstGeom prst="rect">
              <a:avLst/>
            </a:prstGeom>
            <a:noFill/>
          </p:spPr>
          <p:txBody>
            <a:bodyPr wrap="square">
              <a:spAutoFit/>
            </a:bodyPr>
            <a:lstStyle/>
            <a:p>
              <a:r>
                <a:rPr lang="en-US" sz="2400" b="1" dirty="0">
                  <a:solidFill>
                    <a:schemeClr val="accent2">
                      <a:lumMod val="75000"/>
                    </a:schemeClr>
                  </a:solidFill>
                </a:rPr>
                <a:t>Algorithm:</a:t>
              </a:r>
              <a:endParaRPr lang="en-US" sz="2400" b="1" dirty="0"/>
            </a:p>
          </p:txBody>
        </p:sp>
      </p:grpSp>
    </p:spTree>
    <p:extLst>
      <p:ext uri="{BB962C8B-B14F-4D97-AF65-F5344CB8AC3E}">
        <p14:creationId xmlns:p14="http://schemas.microsoft.com/office/powerpoint/2010/main" val="22637919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Genetic Algorithm</a:t>
            </a:r>
          </a:p>
        </p:txBody>
      </p:sp>
      <p:sp>
        <p:nvSpPr>
          <p:cNvPr id="27651" name="Rectangle 3"/>
          <p:cNvSpPr>
            <a:spLocks noGrp="1" noChangeArrowheads="1"/>
          </p:cNvSpPr>
          <p:nvPr>
            <p:ph type="body" idx="1"/>
          </p:nvPr>
        </p:nvSpPr>
        <p:spPr>
          <a:xfrm>
            <a:off x="838200" y="1332477"/>
            <a:ext cx="9773265" cy="5390865"/>
          </a:xfrm>
        </p:spPr>
        <p:txBody>
          <a:bodyPr>
            <a:noAutofit/>
          </a:bodyPr>
          <a:lstStyle/>
          <a:p>
            <a:pPr marL="0" indent="0">
              <a:buNone/>
            </a:pPr>
            <a:r>
              <a:rPr lang="en-US" sz="3200" b="0" i="0" dirty="0">
                <a:effectLst/>
                <a:latin typeface="KaTeX_Main"/>
              </a:rPr>
              <a:t>​</a:t>
            </a:r>
            <a:r>
              <a:rPr lang="en-GB" sz="2000" b="1" i="0" dirty="0">
                <a:effectLst/>
                <a:latin typeface="quote-cjk-patch"/>
              </a:rPr>
              <a:t>Genetic Algorithms (GAs)</a:t>
            </a:r>
            <a:r>
              <a:rPr lang="en-GB" sz="2000" b="0" i="0" dirty="0">
                <a:effectLst/>
                <a:latin typeface="quote-cjk-patch"/>
              </a:rPr>
              <a:t> are evolutionary computation techniques inspired by biological evolution, used to solve optimization and search problems. They mimic natural selection by evolving a population of candidate solutions over generations.</a:t>
            </a:r>
          </a:p>
          <a:p>
            <a:pPr marL="0" indent="0">
              <a:buNone/>
            </a:pPr>
            <a:endParaRPr lang="en-GB" sz="2000" b="0" i="0" dirty="0">
              <a:effectLst/>
              <a:latin typeface="quote-cjk-patch"/>
            </a:endParaRPr>
          </a:p>
          <a:p>
            <a:pPr marL="0" indent="0">
              <a:buNone/>
            </a:pPr>
            <a:r>
              <a:rPr lang="en-GB" altLang="en-US" sz="2400" b="1" dirty="0">
                <a:latin typeface="quote-cjk-patch"/>
              </a:rPr>
              <a:t>Steps</a:t>
            </a:r>
            <a:endParaRPr lang="en-US" altLang="en-US" sz="3600" b="1" dirty="0"/>
          </a:p>
          <a:p>
            <a:pPr lvl="1">
              <a:buFont typeface="+mj-lt"/>
              <a:buAutoNum type="arabicPeriod"/>
            </a:pPr>
            <a:r>
              <a:rPr lang="en-GB" sz="2000" b="1" i="0" dirty="0">
                <a:effectLst/>
                <a:latin typeface="quote-cjk-patch"/>
              </a:rPr>
              <a:t>Population</a:t>
            </a:r>
            <a:r>
              <a:rPr lang="en-GB" sz="2000" b="0" i="0" dirty="0">
                <a:effectLst/>
                <a:latin typeface="quote-cjk-patch"/>
              </a:rPr>
              <a:t>: </a:t>
            </a:r>
            <a:r>
              <a:rPr lang="en-GB" sz="1800" b="0" i="0" dirty="0">
                <a:effectLst/>
                <a:latin typeface="quote-cjk-patch"/>
              </a:rPr>
              <a:t>A set of potential solutions (chromosomes) encoded as strings (binary, real-valued, etc.).</a:t>
            </a:r>
          </a:p>
          <a:p>
            <a:pPr lvl="1">
              <a:buFont typeface="+mj-lt"/>
              <a:buAutoNum type="arabicPeriod"/>
            </a:pPr>
            <a:r>
              <a:rPr lang="en-GB" sz="2000" b="1" i="0" dirty="0">
                <a:effectLst/>
                <a:latin typeface="quote-cjk-patch"/>
              </a:rPr>
              <a:t>Fitness Function</a:t>
            </a:r>
            <a:r>
              <a:rPr lang="en-GB" sz="2000" b="0" i="0" dirty="0">
                <a:effectLst/>
                <a:latin typeface="quote-cjk-patch"/>
              </a:rPr>
              <a:t>: </a:t>
            </a:r>
            <a:r>
              <a:rPr lang="en-GB" sz="1800" b="0" i="0" dirty="0">
                <a:effectLst/>
                <a:latin typeface="quote-cjk-patch"/>
              </a:rPr>
              <a:t>Evaluates the quality of each solution (e.g., shorter tours in TSP get higher fitness).</a:t>
            </a:r>
          </a:p>
          <a:p>
            <a:pPr lvl="1">
              <a:buFont typeface="+mj-lt"/>
              <a:buAutoNum type="arabicPeriod"/>
            </a:pPr>
            <a:r>
              <a:rPr lang="en-GB" sz="2000" b="1" i="0" dirty="0">
                <a:effectLst/>
                <a:latin typeface="quote-cjk-patch"/>
              </a:rPr>
              <a:t>Selection</a:t>
            </a:r>
            <a:r>
              <a:rPr lang="en-GB" sz="2000" b="0" i="0" dirty="0">
                <a:effectLst/>
                <a:latin typeface="quote-cjk-patch"/>
              </a:rPr>
              <a:t>: </a:t>
            </a:r>
            <a:r>
              <a:rPr lang="en-GB" sz="1800" b="0" i="0" dirty="0">
                <a:effectLst/>
                <a:latin typeface="quote-cjk-patch"/>
              </a:rPr>
              <a:t>Fitter solutions are more likely to be chosen as parents.</a:t>
            </a:r>
          </a:p>
          <a:p>
            <a:pPr lvl="1">
              <a:buFont typeface="+mj-lt"/>
              <a:buAutoNum type="arabicPeriod"/>
            </a:pPr>
            <a:r>
              <a:rPr lang="en-GB" sz="2000" b="1" i="0" dirty="0">
                <a:effectLst/>
                <a:latin typeface="quote-cjk-patch"/>
              </a:rPr>
              <a:t>Crossover (Recombination)</a:t>
            </a:r>
            <a:r>
              <a:rPr lang="en-GB" sz="2000" b="0" i="0" dirty="0">
                <a:effectLst/>
                <a:latin typeface="quote-cjk-patch"/>
              </a:rPr>
              <a:t>: </a:t>
            </a:r>
            <a:r>
              <a:rPr lang="en-GB" sz="1800" b="0" i="0" dirty="0">
                <a:effectLst/>
                <a:latin typeface="quote-cjk-patch"/>
              </a:rPr>
              <a:t>Combines parts of two parent chromosomes to create offspring.</a:t>
            </a:r>
          </a:p>
          <a:p>
            <a:pPr lvl="1">
              <a:buFont typeface="+mj-lt"/>
              <a:buAutoNum type="arabicPeriod"/>
            </a:pPr>
            <a:r>
              <a:rPr lang="en-GB" sz="2000" b="1" i="0" dirty="0">
                <a:effectLst/>
                <a:latin typeface="quote-cjk-patch"/>
              </a:rPr>
              <a:t>Mutation</a:t>
            </a:r>
            <a:r>
              <a:rPr lang="en-GB" sz="2000" b="0" i="0" dirty="0">
                <a:effectLst/>
                <a:latin typeface="quote-cjk-patch"/>
              </a:rPr>
              <a:t>: </a:t>
            </a:r>
            <a:r>
              <a:rPr lang="en-GB" sz="1800" b="0" i="0" dirty="0">
                <a:effectLst/>
                <a:latin typeface="quote-cjk-patch"/>
              </a:rPr>
              <a:t>Introduces small random changes (e.g., flipping bits) to maintain diversity.</a:t>
            </a:r>
          </a:p>
          <a:p>
            <a:pPr lvl="1">
              <a:buFont typeface="+mj-lt"/>
              <a:buAutoNum type="arabicPeriod"/>
            </a:pPr>
            <a:r>
              <a:rPr lang="en-GB" sz="2000" b="1" i="0" dirty="0">
                <a:effectLst/>
                <a:latin typeface="quote-cjk-patch"/>
              </a:rPr>
              <a:t>Termination</a:t>
            </a:r>
            <a:r>
              <a:rPr lang="en-GB" sz="2000" b="0" i="0" dirty="0">
                <a:effectLst/>
                <a:latin typeface="quote-cjk-patch"/>
              </a:rPr>
              <a:t>: </a:t>
            </a:r>
            <a:r>
              <a:rPr lang="en-GB" sz="1800" b="0" i="0" dirty="0">
                <a:effectLst/>
                <a:latin typeface="quote-cjk-patch"/>
              </a:rPr>
              <a:t>Stops when a solution meets criteria or after a fixed number of generations.</a:t>
            </a:r>
          </a:p>
          <a:p>
            <a:pPr marL="0" indent="0" algn="l">
              <a:buNone/>
            </a:pPr>
            <a:endParaRPr lang="en-US" altLang="en-US" sz="2000" dirty="0"/>
          </a:p>
        </p:txBody>
      </p:sp>
    </p:spTree>
    <p:extLst>
      <p:ext uri="{BB962C8B-B14F-4D97-AF65-F5344CB8AC3E}">
        <p14:creationId xmlns:p14="http://schemas.microsoft.com/office/powerpoint/2010/main" val="3229039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Genetic Algorithm</a:t>
            </a:r>
          </a:p>
        </p:txBody>
      </p:sp>
      <p:pic>
        <p:nvPicPr>
          <p:cNvPr id="2050" name="Picture 2" descr="Reinforcement Learning vs Genetic Algorithm — AI for Simulations | by  Neelarghya | XRPractices | Medium">
            <a:extLst>
              <a:ext uri="{FF2B5EF4-FFF2-40B4-BE49-F238E27FC236}">
                <a16:creationId xmlns:a16="http://schemas.microsoft.com/office/drawing/2014/main" id="{153C911F-E8CC-7126-F319-A655CA90B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2617" y="1332476"/>
            <a:ext cx="7861140" cy="5053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965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Genetic Algorithm Example</a:t>
            </a:r>
          </a:p>
        </p:txBody>
      </p:sp>
      <p:pic>
        <p:nvPicPr>
          <p:cNvPr id="4" name="Picture 3">
            <a:extLst>
              <a:ext uri="{FF2B5EF4-FFF2-40B4-BE49-F238E27FC236}">
                <a16:creationId xmlns:a16="http://schemas.microsoft.com/office/drawing/2014/main" id="{E1DEE025-6F11-52EC-2A71-3CA42ECEADD5}"/>
              </a:ext>
            </a:extLst>
          </p:cNvPr>
          <p:cNvPicPr>
            <a:picLocks noChangeAspect="1"/>
          </p:cNvPicPr>
          <p:nvPr/>
        </p:nvPicPr>
        <p:blipFill>
          <a:blip r:embed="rId2"/>
          <a:srcRect r="1039"/>
          <a:stretch/>
        </p:blipFill>
        <p:spPr>
          <a:xfrm>
            <a:off x="838200" y="1441310"/>
            <a:ext cx="9982588" cy="1637556"/>
          </a:xfrm>
          <a:prstGeom prst="rect">
            <a:avLst/>
          </a:prstGeom>
        </p:spPr>
      </p:pic>
      <p:pic>
        <p:nvPicPr>
          <p:cNvPr id="6" name="Picture 5">
            <a:extLst>
              <a:ext uri="{FF2B5EF4-FFF2-40B4-BE49-F238E27FC236}">
                <a16:creationId xmlns:a16="http://schemas.microsoft.com/office/drawing/2014/main" id="{57CB055D-27FA-0BAD-0E6A-48E211B8DEB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748357" y="3341437"/>
            <a:ext cx="10431823" cy="2846358"/>
          </a:xfrm>
          <a:prstGeom prst="rect">
            <a:avLst/>
          </a:prstGeom>
        </p:spPr>
      </p:pic>
    </p:spTree>
    <p:extLst>
      <p:ext uri="{BB962C8B-B14F-4D97-AF65-F5344CB8AC3E}">
        <p14:creationId xmlns:p14="http://schemas.microsoft.com/office/powerpoint/2010/main" val="27094002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Genetic Algorithm Example</a:t>
            </a:r>
          </a:p>
        </p:txBody>
      </p:sp>
      <p:sp>
        <p:nvSpPr>
          <p:cNvPr id="2" name="Rectangle 3">
            <a:extLst>
              <a:ext uri="{FF2B5EF4-FFF2-40B4-BE49-F238E27FC236}">
                <a16:creationId xmlns:a16="http://schemas.microsoft.com/office/drawing/2014/main" id="{1999BB45-7109-E3B0-18D4-769473C3B187}"/>
              </a:ext>
            </a:extLst>
          </p:cNvPr>
          <p:cNvSpPr txBox="1">
            <a:spLocks noChangeArrowheads="1"/>
          </p:cNvSpPr>
          <p:nvPr/>
        </p:nvSpPr>
        <p:spPr>
          <a:xfrm>
            <a:off x="919223" y="4225123"/>
            <a:ext cx="8246962" cy="2224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400" dirty="0"/>
          </a:p>
          <a:p>
            <a:r>
              <a:rPr lang="en-US" altLang="en-US" sz="2400" dirty="0"/>
              <a:t>Fitness function: number of non-attacking pairs of queens (min = 0, max = 8 </a:t>
            </a:r>
            <a:r>
              <a:rPr lang="en-US" altLang="en-US" sz="2400" dirty="0">
                <a:cs typeface="Arial" panose="020B0604020202020204" pitchFamily="34" charset="0"/>
              </a:rPr>
              <a:t>× </a:t>
            </a:r>
            <a:r>
              <a:rPr lang="en-US" altLang="en-US" sz="2400" dirty="0"/>
              <a:t>7/2 = 28)</a:t>
            </a:r>
          </a:p>
          <a:p>
            <a:r>
              <a:rPr lang="en-US" altLang="en-US" sz="2400" dirty="0"/>
              <a:t>24/(24+23+20+11) = 31%</a:t>
            </a:r>
          </a:p>
          <a:p>
            <a:r>
              <a:rPr lang="en-US" altLang="en-US" sz="2400" dirty="0"/>
              <a:t>23/(24+23+20+11) = 29% </a:t>
            </a:r>
            <a:r>
              <a:rPr lang="en-US" altLang="en-US" sz="2400" dirty="0" err="1"/>
              <a:t>etc</a:t>
            </a:r>
            <a:endParaRPr lang="en-US" altLang="en-US" sz="2400" dirty="0"/>
          </a:p>
        </p:txBody>
      </p:sp>
      <p:pic>
        <p:nvPicPr>
          <p:cNvPr id="3074" name="Picture 2" descr="Genetic Algorithm: 8 Queens Problem | by Cheng Xi Tsou | Nerd For Tech |  Medium">
            <a:extLst>
              <a:ext uri="{FF2B5EF4-FFF2-40B4-BE49-F238E27FC236}">
                <a16:creationId xmlns:a16="http://schemas.microsoft.com/office/drawing/2014/main" id="{B47CA2BA-BECA-380A-174A-100FF4727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006" y="1300647"/>
            <a:ext cx="1034415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8582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3486"/>
            <a:ext cx="10515600" cy="968991"/>
          </a:xfrm>
        </p:spPr>
        <p:txBody>
          <a:bodyPr/>
          <a:lstStyle/>
          <a:p>
            <a:pPr eaLnBrk="1" hangingPunct="1"/>
            <a:r>
              <a:rPr lang="en-US" altLang="en-US" dirty="0">
                <a:solidFill>
                  <a:schemeClr val="accent2">
                    <a:lumMod val="75000"/>
                  </a:schemeClr>
                </a:solidFill>
              </a:rPr>
              <a:t>Genetic Algorithm Example</a:t>
            </a:r>
          </a:p>
        </p:txBody>
      </p:sp>
      <p:pic>
        <p:nvPicPr>
          <p:cNvPr id="3" name="Picture 4" descr="8queens-crossover">
            <a:extLst>
              <a:ext uri="{FF2B5EF4-FFF2-40B4-BE49-F238E27FC236}">
                <a16:creationId xmlns:a16="http://schemas.microsoft.com/office/drawing/2014/main" id="{D7C913CF-185F-3AB9-D5DB-07B961058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896" y="2109547"/>
            <a:ext cx="9638207" cy="282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338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6015</TotalTime>
  <Words>3614</Words>
  <Application>Microsoft Office PowerPoint</Application>
  <PresentationFormat>Widescreen</PresentationFormat>
  <Paragraphs>345</Paragraphs>
  <Slides>57</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Aptos</vt:lpstr>
      <vt:lpstr>Aptos Display</vt:lpstr>
      <vt:lpstr>Arial</vt:lpstr>
      <vt:lpstr>Calibri</vt:lpstr>
      <vt:lpstr>Courier New</vt:lpstr>
      <vt:lpstr>KaTeX_Main</vt:lpstr>
      <vt:lpstr>Menlo</vt:lpstr>
      <vt:lpstr>quote-cjk-patch</vt:lpstr>
      <vt:lpstr>Wingdings</vt:lpstr>
      <vt:lpstr>Office Theme</vt:lpstr>
      <vt:lpstr> Searching Algorithms </vt:lpstr>
      <vt:lpstr>A simple example:  traveling on a graph</vt:lpstr>
      <vt:lpstr>Generic search algorithm</vt:lpstr>
      <vt:lpstr> Uninformed Search  </vt:lpstr>
      <vt:lpstr>Uninformed search</vt:lpstr>
      <vt:lpstr>Breadth-first search</vt:lpstr>
      <vt:lpstr>Breadth-first search</vt:lpstr>
      <vt:lpstr>Properties of breadth-first search</vt:lpstr>
      <vt:lpstr>Depth-first search</vt:lpstr>
      <vt:lpstr>Depth-first search</vt:lpstr>
      <vt:lpstr>Properties of depth-first search</vt:lpstr>
      <vt:lpstr>Combining good properties of BFS and DFS</vt:lpstr>
      <vt:lpstr>Time complexity of DLS and IDS for b=10 and d=5</vt:lpstr>
      <vt:lpstr>Uniform cost search Uniform-cost search is a blind search approach which is the extension of BFS. It is optimal because, at every step the path with the least cost is chosen</vt:lpstr>
      <vt:lpstr>Uniform cost search Exercise:</vt:lpstr>
      <vt:lpstr>Uniform cost search Solution:</vt:lpstr>
      <vt:lpstr>Properties of uniform cost search</vt:lpstr>
      <vt:lpstr>PowerPoint Presentation</vt:lpstr>
      <vt:lpstr>PowerPoint Presentation</vt:lpstr>
      <vt:lpstr> Informed Search  </vt:lpstr>
      <vt:lpstr>Informed search</vt:lpstr>
      <vt:lpstr>Heuristics</vt:lpstr>
      <vt:lpstr>Best-first search</vt:lpstr>
      <vt:lpstr>Greedy best-first search</vt:lpstr>
      <vt:lpstr>Romania with step costs in km</vt:lpstr>
      <vt:lpstr>Greedy best-first search example</vt:lpstr>
      <vt:lpstr>Greedy best-first search example</vt:lpstr>
      <vt:lpstr>Greedy best-first search example</vt:lpstr>
      <vt:lpstr>Greedy best-first search example</vt:lpstr>
      <vt:lpstr>Greedy best first search evaluation  Complete? No – can get stuck in loops e.g., Iasi  Neamt  Iasi  Neamt  ……. Time? O(bm), but a good heuristic can give dramatic improvement Space? O(bm) -- keeps all nodes in memory Optimal? No</vt:lpstr>
      <vt:lpstr>A bad example for greedy</vt:lpstr>
      <vt:lpstr>A* Search</vt:lpstr>
      <vt:lpstr>A* search example</vt:lpstr>
      <vt:lpstr>A* search example</vt:lpstr>
      <vt:lpstr>A* search example</vt:lpstr>
      <vt:lpstr>A* search example</vt:lpstr>
      <vt:lpstr>A* search example</vt:lpstr>
      <vt:lpstr>A* search example</vt:lpstr>
      <vt:lpstr>Admissibility</vt:lpstr>
      <vt:lpstr>Optimality of A* (proof)</vt:lpstr>
      <vt:lpstr>Optimality of A* (proof)</vt:lpstr>
      <vt:lpstr>Consistent heuristics</vt:lpstr>
      <vt:lpstr>Relaxed Problems</vt:lpstr>
      <vt:lpstr>Admissible heuristics (8 puzzle)</vt:lpstr>
      <vt:lpstr>Admissible heuristics (8 puzzle)</vt:lpstr>
      <vt:lpstr>Local Search</vt:lpstr>
      <vt:lpstr>Hill Climbing Search</vt:lpstr>
      <vt:lpstr>Hill Climbing Algorithm</vt:lpstr>
      <vt:lpstr>Hill Climbing Example</vt:lpstr>
      <vt:lpstr>Hill Climbing Example</vt:lpstr>
      <vt:lpstr>Hill Climbing Example</vt:lpstr>
      <vt:lpstr>Simulated annealing search</vt:lpstr>
      <vt:lpstr>Genetic Algorithm</vt:lpstr>
      <vt:lpstr>Genetic Algorithm</vt:lpstr>
      <vt:lpstr>Genetic Algorithm Example</vt:lpstr>
      <vt:lpstr>Genetic Algorithm Example</vt:lpstr>
      <vt:lpstr>Genetic Algorithm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Kamrul Hasan Tuhin</dc:creator>
  <cp:lastModifiedBy>Md. Ehasan Mahmud</cp:lastModifiedBy>
  <cp:revision>29</cp:revision>
  <dcterms:created xsi:type="dcterms:W3CDTF">2025-07-07T06:29:20Z</dcterms:created>
  <dcterms:modified xsi:type="dcterms:W3CDTF">2025-08-16T19:54:38Z</dcterms:modified>
</cp:coreProperties>
</file>