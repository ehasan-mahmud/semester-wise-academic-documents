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37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264" r:id="rId10"/>
    <p:sldId id="381" r:id="rId11"/>
    <p:sldId id="347" r:id="rId12"/>
    <p:sldId id="266" r:id="rId13"/>
    <p:sldId id="273" r:id="rId14"/>
    <p:sldId id="268" r:id="rId15"/>
    <p:sldId id="269" r:id="rId16"/>
    <p:sldId id="267" r:id="rId17"/>
    <p:sldId id="3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AAA41-F9C2-4814-BC67-FECC0F847A2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7A815-BDC7-4BB5-B9EB-A1A481D89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93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2" name="Google Shape;782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3" name="Google Shape;783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184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8575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84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8836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3930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6527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9337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2443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4370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845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85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496F-C542-9A9B-1518-AA1ED1619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3CE81-3A90-5F4E-C1D3-5CB77AD61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7541D-4590-D255-A7D4-7FBFB612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20D67-503C-5ED1-3B1D-BFB1C865C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B7692-66FC-A979-B86C-334BAFD2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4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8784-EE06-6B5F-1C3F-13C620C4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49290-81AA-BBC6-8F33-83A50D976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DCE34-A225-850E-A2F1-769BEE36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DF026-EB9E-A16A-E759-09101EB2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81A8C-50C8-23B1-1EEB-C5A09EA8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0F26-2C71-D0F9-595F-FE6D2BEF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09474-9912-2C1A-8FDF-F7891A5EF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48336-FDCD-45E9-A78F-90719580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1F7AA-B207-3A39-F1EC-A46A6145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8A25-46E5-FFE1-F5CA-5E1A49B2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9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5EF7-5BA3-53B5-4104-5655C84F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2BBD-2478-79F4-9317-1451F6274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ED7A9-EBA4-A606-B90B-4D769E7C5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F0256-50AB-9A9E-7585-3E207C90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9C9E9-C96A-A547-ECD5-03FE5DF7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07696-E247-A7BA-F8A6-78E59447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9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FA10-F1B3-6099-6A8A-F3B5E35B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8DA11-98BA-0261-3767-1A7A71422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9022-389D-362E-78E1-0A127C9A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7F63F1-C97F-0500-3DA7-6B54EE7E3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E9A95-4140-E15E-705F-80A79B98C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5183A7-E486-CA66-8C11-F876CC5A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B254D-9063-BBD0-4FC7-D7184B4A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E14ED-BF10-F723-1733-6C96A08B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2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CDB1-E20A-6494-5219-72666504F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AAF16-C908-F77C-36DB-81343782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6149E-EC0E-6E68-F59A-3452AC6B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0329D-E635-C64E-ED39-796B7CE1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9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24960-A17E-C363-A96C-6F353D11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F62F5-33F8-C798-3B59-5D139627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B3C1B-F9A5-84BB-7AA4-0027025B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8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710C-95E1-629D-D38F-1FE645BF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A329-5CDA-BFE9-50F0-11698372B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0CDAA-367A-DA59-9123-4A2D09AE1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D9964-E453-CEA7-62E5-6B4DDF39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DFA1C-8A2C-A047-7262-9D5FE2E1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2E183-AAA7-1AD2-E263-218C7E13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B1D3-8DAB-4AC8-D3C7-DED27A8A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0984F-7CDA-76AF-71A8-AFA7CE05A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72E22-1B16-43B1-A9FD-EACE02B71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BD6C0-4317-06ED-A50B-2562E15D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C708F-D343-296F-D386-025A2936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61C45-4059-02B4-64B8-6AECE09E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7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68E0-8DA1-B604-C22F-D7210AB5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2BA07-CA9B-F573-D6EE-7F277C079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7D3F3-9406-3A59-2136-8B546CF2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8493A-D6A2-89DE-3153-9DE4EC84C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B274E-505D-03F6-71EC-1CE5F0DF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0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8A025-37AD-2ABD-8058-D67BD5677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DE5C0-E1EF-7F84-D768-EB1E594A0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1157-9F9D-E489-70FC-8701DA57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D8A21-04D0-D035-0E81-8711943A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3EFD7-3EB0-4E8A-4A91-8F528AEB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F10E8-CCD1-590A-E9A4-6D0D44D0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44C2D-0ABB-499C-7F84-AA2F12163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E0D3-DE23-2D04-024F-0AF79C762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D56AD-AF8D-44E6-A0F1-5B11915235F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3795D-C204-14AA-F8A4-608BA5444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865-B6BA-6B52-261C-4778A7D55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C026E-9470-4884-B6B2-0DA6777B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6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77"/>
          <p:cNvSpPr txBox="1">
            <a:spLocks noGrp="1"/>
          </p:cNvSpPr>
          <p:nvPr>
            <p:ph type="ctrTitle"/>
          </p:nvPr>
        </p:nvSpPr>
        <p:spPr>
          <a:xfrm>
            <a:off x="1690231" y="953270"/>
            <a:ext cx="8832496" cy="355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US" dirty="0"/>
            </a:br>
            <a:r>
              <a:rPr lang="en-US" sz="7301" b="1" dirty="0"/>
              <a:t>Game Theory</a:t>
            </a:r>
            <a:br>
              <a:rPr lang="en-US" sz="7301" b="1" dirty="0"/>
            </a:b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8"/>
          <p:cNvSpPr txBox="1">
            <a:spLocks noGrp="1"/>
          </p:cNvSpPr>
          <p:nvPr>
            <p:ph type="title"/>
          </p:nvPr>
        </p:nvSpPr>
        <p:spPr>
          <a:xfrm>
            <a:off x="961032" y="253182"/>
            <a:ext cx="8709772" cy="100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971"/>
              <a:buFont typeface="Calibri"/>
              <a:buNone/>
            </a:pPr>
            <a:r>
              <a:rPr lang="en-US" sz="3971">
                <a:solidFill>
                  <a:srgbClr val="C55A11"/>
                </a:solidFill>
              </a:rPr>
              <a:t>Why Game?</a:t>
            </a:r>
            <a:endParaRPr sz="1853">
              <a:solidFill>
                <a:srgbClr val="C55A11"/>
              </a:solidFill>
            </a:endParaRPr>
          </a:p>
        </p:txBody>
      </p:sp>
      <p:sp>
        <p:nvSpPr>
          <p:cNvPr id="792" name="Google Shape;792;p78"/>
          <p:cNvSpPr/>
          <p:nvPr/>
        </p:nvSpPr>
        <p:spPr>
          <a:xfrm>
            <a:off x="624005" y="1310183"/>
            <a:ext cx="10372298" cy="4995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75" tIns="44775" rIns="89875" bIns="44775" anchor="t" anchorCtr="0">
            <a:noAutofit/>
          </a:bodyPr>
          <a:lstStyle/>
          <a:p>
            <a:pPr marL="800100" marR="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Games are fun!</a:t>
            </a:r>
            <a:endParaRPr dirty="0"/>
          </a:p>
          <a:p>
            <a:pPr marL="800100" marR="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Studying games teaches us how to deal with other agents trying to foil our plans</a:t>
            </a:r>
            <a:endParaRPr dirty="0"/>
          </a:p>
          <a:p>
            <a:pPr marL="800100" marR="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Huge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spaces – Games are 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 dirty="0"/>
          </a:p>
          <a:p>
            <a:pPr marL="800100" marR="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Nice, clean environment with clear criteria for success.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78"/>
          <p:cNvSpPr txBox="1"/>
          <p:nvPr/>
        </p:nvSpPr>
        <p:spPr>
          <a:xfrm>
            <a:off x="961032" y="31449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Two-player games</a:t>
            </a:r>
            <a:endParaRPr/>
          </a:p>
        </p:txBody>
      </p:sp>
      <p:sp>
        <p:nvSpPr>
          <p:cNvPr id="794" name="Google Shape;794;p78"/>
          <p:cNvSpPr txBox="1">
            <a:spLocks noGrp="1"/>
          </p:cNvSpPr>
          <p:nvPr>
            <p:ph type="body" idx="1"/>
          </p:nvPr>
        </p:nvSpPr>
        <p:spPr>
          <a:xfrm>
            <a:off x="961032" y="4234455"/>
            <a:ext cx="10515600" cy="26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3" lvl="0" indent="-22860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The objective of a search is to find a path from the starting position to a goal position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In a two-player competitive game, you alternate moves with the other player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The other player doesn’t want you to reach 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your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goal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Your search technique must be very different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9"/>
          <p:cNvSpPr txBox="1">
            <a:spLocks noGrp="1"/>
          </p:cNvSpPr>
          <p:nvPr>
            <p:ph type="title"/>
          </p:nvPr>
        </p:nvSpPr>
        <p:spPr>
          <a:xfrm>
            <a:off x="1554164" y="485775"/>
            <a:ext cx="7056437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Calibri"/>
              <a:buNone/>
            </a:pPr>
            <a:r>
              <a:rPr lang="en-US">
                <a:solidFill>
                  <a:srgbClr val="C55A11"/>
                </a:solidFill>
              </a:rPr>
              <a:t>Payoffs</a:t>
            </a:r>
            <a:endParaRPr/>
          </a:p>
        </p:txBody>
      </p:sp>
      <p:sp>
        <p:nvSpPr>
          <p:cNvPr id="800" name="Google Shape;800;p79"/>
          <p:cNvSpPr txBox="1">
            <a:spLocks noGrp="1"/>
          </p:cNvSpPr>
          <p:nvPr>
            <p:ph type="body" idx="1"/>
          </p:nvPr>
        </p:nvSpPr>
        <p:spPr>
          <a:xfrm>
            <a:off x="1378424" y="1885950"/>
            <a:ext cx="9826388" cy="417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ct val="100000"/>
              <a:buNone/>
            </a:pPr>
            <a:r>
              <a:rPr lang="en-US" dirty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Payoff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= The value associated with a possible outcome of a game. </a:t>
            </a: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ct val="100000"/>
              <a:buNone/>
            </a:pPr>
            <a:r>
              <a:rPr lang="en-US" dirty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= A rule of action for playing a game. An optimal strategy is one that provides the best payoff for a player in a game.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Each game outcome has a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payoff,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which we can be represented as a number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By convention, we prefer positive numbers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 some games, the outcome is either a simple win </a:t>
            </a:r>
            <a:r>
              <a:rPr lang="en-US" dirty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(+1)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or a simple loss </a:t>
            </a:r>
            <a:r>
              <a:rPr lang="en-US" dirty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(-1)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 some games, you might also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tie,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draw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(0)</a:t>
            </a:r>
            <a:endParaRPr dirty="0"/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 other games, outcomes may be other numbers (say, the amount of money you win at Poker)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0"/>
          <p:cNvSpPr txBox="1">
            <a:spLocks noGrp="1"/>
          </p:cNvSpPr>
          <p:nvPr>
            <p:ph type="body" idx="1"/>
          </p:nvPr>
        </p:nvSpPr>
        <p:spPr>
          <a:xfrm>
            <a:off x="838201" y="682388"/>
            <a:ext cx="10515600" cy="567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None/>
            </a:pPr>
            <a:r>
              <a:rPr lang="en-GB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Properties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None/>
            </a:pPr>
            <a:endParaRPr lang="en-US" dirty="0">
              <a:solidFill>
                <a:srgbClr val="C55A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None/>
            </a:pPr>
            <a:r>
              <a:rPr lang="en-US" sz="26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Zero-sum games: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games are </a:t>
            </a:r>
            <a:r>
              <a:rPr lang="en-US" sz="24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zero-sum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What one player win </a:t>
            </a: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$12</a:t>
            </a: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what other player(opponent) win </a:t>
            </a: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-$12</a:t>
            </a: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equals zero.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games are zero-sum games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our point of view, positive numbers are good, negative numbers are bad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our opponents point of view, positive numbers are bad, negative numbers are good.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55A11"/>
              </a:buClr>
              <a:buSzPts val="2400"/>
              <a:buNone/>
            </a:pP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Perfect Information: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player knows the entire game state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55A11"/>
              </a:buClr>
              <a:buSzPts val="2400"/>
              <a:buNone/>
            </a:pP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element of chance. Clear set of legal moves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55A11"/>
              </a:buClr>
              <a:buSzPts val="2400"/>
              <a:buNone/>
            </a:pP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 function: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numerical value of terminal states. E.g. win (+1), lose (-1) and draw (0) in tic-tac-toe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55A11"/>
              </a:buClr>
              <a:buSzPts val="2400"/>
              <a:buNone/>
            </a:pPr>
            <a:r>
              <a:rPr lang="en-US" sz="2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function(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assigns real-number scores to each game state (board position)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762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6" name="Google Shape;806;p80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8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2" name="Google Shape;812;p81"/>
          <p:cNvSpPr txBox="1">
            <a:spLocks noGrp="1"/>
          </p:cNvSpPr>
          <p:nvPr>
            <p:ph type="title"/>
          </p:nvPr>
        </p:nvSpPr>
        <p:spPr>
          <a:xfrm>
            <a:off x="563562" y="361950"/>
            <a:ext cx="11049451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400"/>
              <a:buFont typeface="Calibri"/>
              <a:buNone/>
            </a:pPr>
            <a:r>
              <a:rPr lang="en-US" sz="340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Play a Game by Searching</a:t>
            </a:r>
            <a:endParaRPr dirty="0">
              <a:solidFill>
                <a:srgbClr val="C55A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3" name="Google Shape;813;p81"/>
          <p:cNvSpPr txBox="1"/>
          <p:nvPr/>
        </p:nvSpPr>
        <p:spPr>
          <a:xfrm>
            <a:off x="563562" y="1480167"/>
            <a:ext cx="10526973" cy="444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3" marR="0" lvl="0" indent="-22860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Arial"/>
              <a:buChar char="•"/>
            </a:pPr>
            <a:r>
              <a:rPr lang="en-US" sz="8000" b="1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General Scheme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Consider all legal moves, each of which will lead to some new state of the environment (‘board position’)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Arial"/>
              <a:buChar char="•"/>
            </a:pPr>
            <a:r>
              <a:rPr lang="en-US" sz="8000" b="1" i="0" u="none" strike="noStrike" cap="none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Evaluate</a:t>
            </a:r>
            <a:r>
              <a:rPr lang="en-US" sz="8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each possible resulting board position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Pick the move which leads to the best board position.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Wait for your opponent’s move, then </a:t>
            </a:r>
            <a:r>
              <a:rPr lang="en-US" sz="8000" b="1" i="0" u="none" strike="noStrike" cap="none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repeat</a:t>
            </a:r>
            <a:r>
              <a:rPr lang="en-US" sz="8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marR="0" lvl="0" indent="-104143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8000" dirty="0">
              <a:solidFill>
                <a:srgbClr val="C55A1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28603" marR="0" lvl="0" indent="-228603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Arial"/>
              <a:buChar char="•"/>
            </a:pPr>
            <a:r>
              <a:rPr lang="en-US" sz="8000" b="1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Key problems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Arial"/>
              <a:buChar char="•"/>
            </a:pPr>
            <a:r>
              <a:rPr lang="en-US" sz="8000" b="0" i="0" u="none" strike="noStrike" cap="none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Representing the ‘board’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Arial"/>
              <a:buChar char="•"/>
            </a:pPr>
            <a:r>
              <a:rPr lang="en-US" sz="8000" b="0" i="0" u="none" strike="noStrike" cap="none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Representing legal next boards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Arial"/>
              <a:buChar char="•"/>
            </a:pPr>
            <a:r>
              <a:rPr lang="en-US" sz="8000" b="0" i="0" u="none" strike="noStrike" cap="none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Evaluating positions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22860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Arial"/>
              <a:buChar char="•"/>
            </a:pPr>
            <a:r>
              <a:rPr lang="en-US" sz="8000" b="0" i="0" u="none" strike="noStrike" cap="none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Looking ahead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marR="0" lvl="1" indent="-14859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2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" name="Google Shape;819;p82"/>
          <p:cNvSpPr txBox="1">
            <a:spLocks noGrp="1"/>
          </p:cNvSpPr>
          <p:nvPr>
            <p:ph type="body" idx="1"/>
          </p:nvPr>
        </p:nvSpPr>
        <p:spPr>
          <a:xfrm>
            <a:off x="838202" y="1690688"/>
            <a:ext cx="9452212" cy="417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3" lvl="0" indent="-22860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large game, you don’t really know the payoffs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computes, for a given node, what the payoff will be.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heuristic function uses whatever knowledge you can build into the program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make two key assumptions: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lvl="1" indent="-22860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opponent uses the same heuristic function as you do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lvl="1" indent="-22860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moves ahead you look, the better your heuristic function will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0" name="Google Shape;820;p82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3"/>
          <p:cNvSpPr txBox="1">
            <a:spLocks noGrp="1"/>
          </p:cNvSpPr>
          <p:nvPr>
            <p:ph type="title"/>
          </p:nvPr>
        </p:nvSpPr>
        <p:spPr>
          <a:xfrm>
            <a:off x="838198" y="500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6" name="Google Shape;826;p83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3" lvl="0" indent="-22860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minimax, one player will choose maximum number and other player(opponent) will choose minimum number.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55A11"/>
              </a:buClr>
              <a:buSzPts val="2800"/>
              <a:buNone/>
            </a:pPr>
            <a:r>
              <a:rPr lang="en-US" b="1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down to a given level using depth-first search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you reach each lowest-level node, evaluate it using your heuristic function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up values to the next higher node, according to the following rules: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lvl="1" indent="-22860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it’s your move, bring up the largest value, possibly replacing a smaller value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8" lvl="1" indent="-22860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it’s your opponent’s move, bring up the smallest value, possibly replacing a larger value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your move, never reduce a value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3" lvl="0" indent="-22860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your opponent’s move, never increase a value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5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7" name="Google Shape;827;p83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4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Calibri"/>
              <a:buNone/>
            </a:pPr>
            <a:r>
              <a:rPr lang="en-US">
                <a:solidFill>
                  <a:srgbClr val="C55A11"/>
                </a:solidFill>
              </a:rPr>
              <a:t>Minimaxing</a:t>
            </a:r>
            <a:endParaRPr/>
          </a:p>
        </p:txBody>
      </p:sp>
      <p:sp>
        <p:nvSpPr>
          <p:cNvPr id="833" name="Google Shape;833;p84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34" name="Google Shape;834;p84"/>
          <p:cNvGrpSpPr/>
          <p:nvPr/>
        </p:nvGrpSpPr>
        <p:grpSpPr>
          <a:xfrm>
            <a:off x="1752600" y="2362200"/>
            <a:ext cx="4191000" cy="2743200"/>
            <a:chOff x="144" y="1488"/>
            <a:chExt cx="2640" cy="1728"/>
          </a:xfrm>
        </p:grpSpPr>
        <p:sp>
          <p:nvSpPr>
            <p:cNvPr id="835" name="Google Shape;835;p84"/>
            <p:cNvSpPr txBox="1"/>
            <p:nvPr/>
          </p:nvSpPr>
          <p:spPr>
            <a:xfrm>
              <a:off x="144" y="2448"/>
              <a:ext cx="960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Opponent’s move</a:t>
              </a:r>
              <a:endParaRPr/>
            </a:p>
          </p:txBody>
        </p:sp>
        <p:sp>
          <p:nvSpPr>
            <p:cNvPr id="836" name="Google Shape;836;p84"/>
            <p:cNvSpPr/>
            <p:nvPr/>
          </p:nvSpPr>
          <p:spPr>
            <a:xfrm>
              <a:off x="1056" y="2928"/>
              <a:ext cx="288" cy="288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1400" dirty="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7</a:t>
              </a:r>
              <a:endParaRPr sz="1200" dirty="0"/>
            </a:p>
          </p:txBody>
        </p:sp>
        <p:sp>
          <p:nvSpPr>
            <p:cNvPr id="837" name="Google Shape;837;p84"/>
            <p:cNvSpPr/>
            <p:nvPr/>
          </p:nvSpPr>
          <p:spPr>
            <a:xfrm>
              <a:off x="1536" y="2928"/>
              <a:ext cx="288" cy="288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1400" dirty="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  <a:endParaRPr sz="1200" dirty="0"/>
            </a:p>
          </p:txBody>
        </p:sp>
        <p:sp>
          <p:nvSpPr>
            <p:cNvPr id="838" name="Google Shape;838;p84"/>
            <p:cNvSpPr/>
            <p:nvPr/>
          </p:nvSpPr>
          <p:spPr>
            <a:xfrm>
              <a:off x="2016" y="2928"/>
              <a:ext cx="336" cy="288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1400" dirty="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-8</a:t>
              </a:r>
              <a:endParaRPr sz="1200" dirty="0"/>
            </a:p>
          </p:txBody>
        </p:sp>
        <p:sp>
          <p:nvSpPr>
            <p:cNvPr id="839" name="Google Shape;839;p84"/>
            <p:cNvSpPr/>
            <p:nvPr/>
          </p:nvSpPr>
          <p:spPr>
            <a:xfrm>
              <a:off x="2496" y="2928"/>
              <a:ext cx="288" cy="288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1400" dirty="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5</a:t>
              </a:r>
              <a:endParaRPr sz="1200" dirty="0"/>
            </a:p>
          </p:txBody>
        </p:sp>
        <p:sp>
          <p:nvSpPr>
            <p:cNvPr id="840" name="Google Shape;840;p84"/>
            <p:cNvSpPr/>
            <p:nvPr/>
          </p:nvSpPr>
          <p:spPr>
            <a:xfrm>
              <a:off x="1296" y="2208"/>
              <a:ext cx="288" cy="288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1" name="Google Shape;841;p84"/>
            <p:cNvSpPr/>
            <p:nvPr/>
          </p:nvSpPr>
          <p:spPr>
            <a:xfrm>
              <a:off x="2256" y="2208"/>
              <a:ext cx="288" cy="288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2" name="Google Shape;842;p84"/>
            <p:cNvSpPr/>
            <p:nvPr/>
          </p:nvSpPr>
          <p:spPr>
            <a:xfrm>
              <a:off x="1776" y="1488"/>
              <a:ext cx="288" cy="288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43" name="Google Shape;843;p84"/>
            <p:cNvCxnSpPr/>
            <p:nvPr/>
          </p:nvCxnSpPr>
          <p:spPr>
            <a:xfrm rot="10800000" flipH="1">
              <a:off x="1248" y="2496"/>
              <a:ext cx="144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4" name="Google Shape;844;p84"/>
            <p:cNvCxnSpPr/>
            <p:nvPr/>
          </p:nvCxnSpPr>
          <p:spPr>
            <a:xfrm rot="10800000">
              <a:off x="1488" y="2496"/>
              <a:ext cx="144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5" name="Google Shape;845;p84"/>
            <p:cNvCxnSpPr/>
            <p:nvPr/>
          </p:nvCxnSpPr>
          <p:spPr>
            <a:xfrm rot="10800000" flipH="1">
              <a:off x="2208" y="2496"/>
              <a:ext cx="144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6" name="Google Shape;846;p84"/>
            <p:cNvCxnSpPr/>
            <p:nvPr/>
          </p:nvCxnSpPr>
          <p:spPr>
            <a:xfrm rot="10800000">
              <a:off x="2448" y="2496"/>
              <a:ext cx="192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7" name="Google Shape;847;p84"/>
            <p:cNvCxnSpPr/>
            <p:nvPr/>
          </p:nvCxnSpPr>
          <p:spPr>
            <a:xfrm rot="10800000" flipH="1">
              <a:off x="1488" y="1776"/>
              <a:ext cx="384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8" name="Google Shape;848;p84"/>
            <p:cNvCxnSpPr/>
            <p:nvPr/>
          </p:nvCxnSpPr>
          <p:spPr>
            <a:xfrm rot="10800000">
              <a:off x="1968" y="1776"/>
              <a:ext cx="384" cy="43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9" name="Google Shape;849;p84"/>
            <p:cNvSpPr txBox="1"/>
            <p:nvPr/>
          </p:nvSpPr>
          <p:spPr>
            <a:xfrm>
              <a:off x="288" y="1814"/>
              <a:ext cx="96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Your move</a:t>
              </a:r>
              <a:endParaRPr/>
            </a:p>
          </p:txBody>
        </p:sp>
        <p:sp>
          <p:nvSpPr>
            <p:cNvPr id="850" name="Google Shape;850;p84"/>
            <p:cNvSpPr/>
            <p:nvPr/>
          </p:nvSpPr>
          <p:spPr>
            <a:xfrm>
              <a:off x="1152" y="1862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1" name="Google Shape;851;p84"/>
            <p:cNvSpPr/>
            <p:nvPr/>
          </p:nvSpPr>
          <p:spPr>
            <a:xfrm>
              <a:off x="1008" y="2544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52" name="Google Shape;852;p84"/>
            <p:cNvCxnSpPr/>
            <p:nvPr/>
          </p:nvCxnSpPr>
          <p:spPr>
            <a:xfrm>
              <a:off x="1536" y="1968"/>
              <a:ext cx="768" cy="0"/>
            </a:xfrm>
            <a:prstGeom prst="straightConnector1">
              <a:avLst/>
            </a:prstGeom>
            <a:noFill/>
            <a:ln w="38100" cap="rnd" cmpd="sng">
              <a:solidFill>
                <a:srgbClr val="66FF66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53" name="Google Shape;853;p84"/>
            <p:cNvCxnSpPr/>
            <p:nvPr/>
          </p:nvCxnSpPr>
          <p:spPr>
            <a:xfrm>
              <a:off x="1248" y="2640"/>
              <a:ext cx="1440" cy="0"/>
            </a:xfrm>
            <a:prstGeom prst="straightConnector1">
              <a:avLst/>
            </a:prstGeom>
            <a:noFill/>
            <a:ln w="38100" cap="flat" cmpd="sng">
              <a:solidFill>
                <a:srgbClr val="FF5050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854" name="Google Shape;854;p84"/>
          <p:cNvSpPr txBox="1"/>
          <p:nvPr/>
        </p:nvSpPr>
        <p:spPr>
          <a:xfrm>
            <a:off x="6324600" y="1965326"/>
            <a:ext cx="3962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Your opponent will choose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smaller numbers</a:t>
            </a:r>
            <a:endParaRPr/>
          </a:p>
        </p:txBody>
      </p:sp>
      <p:sp>
        <p:nvSpPr>
          <p:cNvPr id="855" name="Google Shape;855;p84"/>
          <p:cNvSpPr txBox="1"/>
          <p:nvPr/>
        </p:nvSpPr>
        <p:spPr>
          <a:xfrm>
            <a:off x="6324600" y="2574926"/>
            <a:ext cx="3962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If you move left, your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opponent will choose </a:t>
            </a:r>
            <a:r>
              <a:rPr lang="en-US" sz="1800">
                <a:solidFill>
                  <a:srgbClr val="C55A1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856" name="Google Shape;856;p84"/>
          <p:cNvSpPr txBox="1"/>
          <p:nvPr/>
        </p:nvSpPr>
        <p:spPr>
          <a:xfrm>
            <a:off x="6324600" y="3292476"/>
            <a:ext cx="3962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If you move right, your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opponent will choose </a:t>
            </a:r>
            <a:r>
              <a:rPr lang="en-US" sz="1800">
                <a:solidFill>
                  <a:srgbClr val="C55A11"/>
                </a:solidFill>
                <a:latin typeface="Verdana"/>
                <a:ea typeface="Verdana"/>
                <a:cs typeface="Verdana"/>
                <a:sym typeface="Verdana"/>
              </a:rPr>
              <a:t>-8</a:t>
            </a:r>
            <a:endParaRPr/>
          </a:p>
        </p:txBody>
      </p:sp>
      <p:sp>
        <p:nvSpPr>
          <p:cNvPr id="857" name="Google Shape;857;p84"/>
          <p:cNvSpPr txBox="1"/>
          <p:nvPr/>
        </p:nvSpPr>
        <p:spPr>
          <a:xfrm>
            <a:off x="6324600" y="4038601"/>
            <a:ext cx="3962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Therefore, your choices are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really </a:t>
            </a:r>
            <a:r>
              <a:rPr lang="en-US" sz="1800">
                <a:solidFill>
                  <a:srgbClr val="C55A1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sz="20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1800">
                <a:solidFill>
                  <a:srgbClr val="C55A11"/>
                </a:solidFill>
                <a:latin typeface="Verdana"/>
                <a:ea typeface="Verdana"/>
                <a:cs typeface="Verdana"/>
                <a:sym typeface="Verdana"/>
              </a:rPr>
              <a:t>-8</a:t>
            </a:r>
            <a:endParaRPr/>
          </a:p>
        </p:txBody>
      </p:sp>
      <p:sp>
        <p:nvSpPr>
          <p:cNvPr id="858" name="Google Shape;858;p84"/>
          <p:cNvSpPr txBox="1"/>
          <p:nvPr/>
        </p:nvSpPr>
        <p:spPr>
          <a:xfrm>
            <a:off x="6324600" y="4724401"/>
            <a:ext cx="3962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You should move left, and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play will be as shown</a:t>
            </a:r>
            <a:endParaRPr/>
          </a:p>
        </p:txBody>
      </p:sp>
      <p:sp>
        <p:nvSpPr>
          <p:cNvPr id="859" name="Google Shape;859;p84"/>
          <p:cNvSpPr/>
          <p:nvPr/>
        </p:nvSpPr>
        <p:spPr>
          <a:xfrm>
            <a:off x="3581400" y="3505200"/>
            <a:ext cx="457200" cy="45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FFFF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66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4989871" y="3505200"/>
            <a:ext cx="685799" cy="457200"/>
          </a:xfrm>
          <a:prstGeom prst="ellipse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FFFF"/>
              </a:buClr>
              <a:buSzPts val="2000"/>
              <a:buFont typeface="Noto Sans Symbols"/>
              <a:buNone/>
            </a:pPr>
            <a:r>
              <a:rPr lang="en-US" sz="1600" dirty="0">
                <a:solidFill>
                  <a:srgbClr val="66FFFF"/>
                </a:solidFill>
                <a:latin typeface="Verdana"/>
                <a:ea typeface="Verdana"/>
                <a:cs typeface="Verdana"/>
                <a:sym typeface="Verdana"/>
              </a:rPr>
              <a:t>-8</a:t>
            </a:r>
            <a:endParaRPr sz="1400" dirty="0"/>
          </a:p>
        </p:txBody>
      </p:sp>
      <p:sp>
        <p:nvSpPr>
          <p:cNvPr id="861" name="Google Shape;861;p84"/>
          <p:cNvSpPr/>
          <p:nvPr/>
        </p:nvSpPr>
        <p:spPr>
          <a:xfrm>
            <a:off x="4343400" y="2362200"/>
            <a:ext cx="457200" cy="45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FFFF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66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grpSp>
        <p:nvGrpSpPr>
          <p:cNvPr id="862" name="Google Shape;862;p84"/>
          <p:cNvGrpSpPr/>
          <p:nvPr/>
        </p:nvGrpSpPr>
        <p:grpSpPr>
          <a:xfrm>
            <a:off x="3886200" y="2819400"/>
            <a:ext cx="609600" cy="1828800"/>
            <a:chOff x="1488" y="1776"/>
            <a:chExt cx="384" cy="1152"/>
          </a:xfrm>
        </p:grpSpPr>
        <p:cxnSp>
          <p:nvCxnSpPr>
            <p:cNvPr id="863" name="Google Shape;863;p84"/>
            <p:cNvCxnSpPr/>
            <p:nvPr/>
          </p:nvCxnSpPr>
          <p:spPr>
            <a:xfrm flipH="1">
              <a:off x="1488" y="1776"/>
              <a:ext cx="384" cy="432"/>
            </a:xfrm>
            <a:prstGeom prst="straightConnector1">
              <a:avLst/>
            </a:prstGeom>
            <a:noFill/>
            <a:ln w="76200" cap="flat" cmpd="sng">
              <a:solidFill>
                <a:srgbClr val="66FF6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4" name="Google Shape;864;p84"/>
            <p:cNvCxnSpPr/>
            <p:nvPr/>
          </p:nvCxnSpPr>
          <p:spPr>
            <a:xfrm>
              <a:off x="1488" y="2496"/>
              <a:ext cx="144" cy="432"/>
            </a:xfrm>
            <a:prstGeom prst="straightConnector1">
              <a:avLst/>
            </a:prstGeom>
            <a:noFill/>
            <a:ln w="76200" cap="flat" cmpd="sng">
              <a:solidFill>
                <a:srgbClr val="FF505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26B2CF-E038-8A16-8512-E31A1045B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Minimax (animated)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9291B668-D122-B8F5-02B8-AC6336F7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2B2B15-99FD-4E77-8D5F-BC365CA6E052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15364" name="Group 44">
            <a:extLst>
              <a:ext uri="{FF2B5EF4-FFF2-40B4-BE49-F238E27FC236}">
                <a16:creationId xmlns:a16="http://schemas.microsoft.com/office/drawing/2014/main" id="{0882A1DD-A324-0036-84E1-B115E016B0E1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05000"/>
            <a:ext cx="4191000" cy="3276600"/>
            <a:chOff x="48" y="1200"/>
            <a:chExt cx="2640" cy="2064"/>
          </a:xfrm>
        </p:grpSpPr>
        <p:sp>
          <p:nvSpPr>
            <p:cNvPr id="15403" name="Oval 6">
              <a:extLst>
                <a:ext uri="{FF2B5EF4-FFF2-40B4-BE49-F238E27FC236}">
                  <a16:creationId xmlns:a16="http://schemas.microsoft.com/office/drawing/2014/main" id="{C38962C5-7AB3-5CB9-893C-A4BB2B937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04" name="Oval 7">
              <a:extLst>
                <a:ext uri="{FF2B5EF4-FFF2-40B4-BE49-F238E27FC236}">
                  <a16:creationId xmlns:a16="http://schemas.microsoft.com/office/drawing/2014/main" id="{30FF58AD-3C6C-3622-977A-2CFD4C851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05" name="Oval 8">
              <a:extLst>
                <a:ext uri="{FF2B5EF4-FFF2-40B4-BE49-F238E27FC236}">
                  <a16:creationId xmlns:a16="http://schemas.microsoft.com/office/drawing/2014/main" id="{98D34F88-8D47-5277-BD4A-9817B0849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06" name="Oval 9">
              <a:extLst>
                <a:ext uri="{FF2B5EF4-FFF2-40B4-BE49-F238E27FC236}">
                  <a16:creationId xmlns:a16="http://schemas.microsoft.com/office/drawing/2014/main" id="{5814C38D-03E3-A254-0D61-EBD02DC8C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07" name="Oval 10">
              <a:extLst>
                <a:ext uri="{FF2B5EF4-FFF2-40B4-BE49-F238E27FC236}">
                  <a16:creationId xmlns:a16="http://schemas.microsoft.com/office/drawing/2014/main" id="{6E803C74-BC53-4E50-09CE-21D215FB6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08" name="Oval 11">
              <a:extLst>
                <a:ext uri="{FF2B5EF4-FFF2-40B4-BE49-F238E27FC236}">
                  <a16:creationId xmlns:a16="http://schemas.microsoft.com/office/drawing/2014/main" id="{AD6BFAC2-F91C-F366-4989-F16191828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09" name="Oval 12">
              <a:extLst>
                <a:ext uri="{FF2B5EF4-FFF2-40B4-BE49-F238E27FC236}">
                  <a16:creationId xmlns:a16="http://schemas.microsoft.com/office/drawing/2014/main" id="{223E039B-4ADC-A1B9-DA2B-E4C831A63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0" name="Oval 13">
              <a:extLst>
                <a:ext uri="{FF2B5EF4-FFF2-40B4-BE49-F238E27FC236}">
                  <a16:creationId xmlns:a16="http://schemas.microsoft.com/office/drawing/2014/main" id="{F49BC730-7375-9182-F314-F072BDA13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1" name="Oval 14">
              <a:extLst>
                <a:ext uri="{FF2B5EF4-FFF2-40B4-BE49-F238E27FC236}">
                  <a16:creationId xmlns:a16="http://schemas.microsoft.com/office/drawing/2014/main" id="{C09AF46F-6693-08D9-7092-85243AFF7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2" name="Oval 16">
              <a:extLst>
                <a:ext uri="{FF2B5EF4-FFF2-40B4-BE49-F238E27FC236}">
                  <a16:creationId xmlns:a16="http://schemas.microsoft.com/office/drawing/2014/main" id="{7138FA8A-CD48-F7A8-8F15-9B32C2772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3" name="Oval 18">
              <a:extLst>
                <a:ext uri="{FF2B5EF4-FFF2-40B4-BE49-F238E27FC236}">
                  <a16:creationId xmlns:a16="http://schemas.microsoft.com/office/drawing/2014/main" id="{97D1A93A-3652-BF15-FB9C-E4E002892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4" name="Oval 20">
              <a:extLst>
                <a:ext uri="{FF2B5EF4-FFF2-40B4-BE49-F238E27FC236}">
                  <a16:creationId xmlns:a16="http://schemas.microsoft.com/office/drawing/2014/main" id="{15EB89C0-FDC1-CF61-2105-03BE1086B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5" name="Oval 22">
              <a:extLst>
                <a:ext uri="{FF2B5EF4-FFF2-40B4-BE49-F238E27FC236}">
                  <a16:creationId xmlns:a16="http://schemas.microsoft.com/office/drawing/2014/main" id="{CB63D25D-F0CA-EDDB-FE30-A105DB05F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8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6" name="Oval 23">
              <a:extLst>
                <a:ext uri="{FF2B5EF4-FFF2-40B4-BE49-F238E27FC236}">
                  <a16:creationId xmlns:a16="http://schemas.microsoft.com/office/drawing/2014/main" id="{E0779FF4-FA9A-AAFB-9CB4-E886C16E5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200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7" name="Oval 24">
              <a:extLst>
                <a:ext uri="{FF2B5EF4-FFF2-40B4-BE49-F238E27FC236}">
                  <a16:creationId xmlns:a16="http://schemas.microsoft.com/office/drawing/2014/main" id="{D7B82E7A-A3B9-7592-9D8D-8DB5421B5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8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5418" name="Line 26">
              <a:extLst>
                <a:ext uri="{FF2B5EF4-FFF2-40B4-BE49-F238E27FC236}">
                  <a16:creationId xmlns:a16="http://schemas.microsoft.com/office/drawing/2014/main" id="{422952E9-0E71-B2DA-76FF-AEAEE3DE2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Line 27">
              <a:extLst>
                <a:ext uri="{FF2B5EF4-FFF2-40B4-BE49-F238E27FC236}">
                  <a16:creationId xmlns:a16="http://schemas.microsoft.com/office/drawing/2014/main" id="{FFAD8B0C-790E-A7C1-247C-B631B49AD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Line 28">
              <a:extLst>
                <a:ext uri="{FF2B5EF4-FFF2-40B4-BE49-F238E27FC236}">
                  <a16:creationId xmlns:a16="http://schemas.microsoft.com/office/drawing/2014/main" id="{2EC39677-7383-F269-7335-3CDCD2C88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Line 29">
              <a:extLst>
                <a:ext uri="{FF2B5EF4-FFF2-40B4-BE49-F238E27FC236}">
                  <a16:creationId xmlns:a16="http://schemas.microsoft.com/office/drawing/2014/main" id="{37FF8B84-A05E-298C-9D82-FA9E99779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Line 30">
              <a:extLst>
                <a:ext uri="{FF2B5EF4-FFF2-40B4-BE49-F238E27FC236}">
                  <a16:creationId xmlns:a16="http://schemas.microsoft.com/office/drawing/2014/main" id="{644573F9-C383-B93B-0E49-8FCF881E6B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Line 31">
              <a:extLst>
                <a:ext uri="{FF2B5EF4-FFF2-40B4-BE49-F238E27FC236}">
                  <a16:creationId xmlns:a16="http://schemas.microsoft.com/office/drawing/2014/main" id="{D1BA0CDC-CB0D-B4EA-597A-1A868A833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Line 32">
              <a:extLst>
                <a:ext uri="{FF2B5EF4-FFF2-40B4-BE49-F238E27FC236}">
                  <a16:creationId xmlns:a16="http://schemas.microsoft.com/office/drawing/2014/main" id="{582703CA-E585-9AC4-1724-7262C4B55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Line 33">
              <a:extLst>
                <a:ext uri="{FF2B5EF4-FFF2-40B4-BE49-F238E27FC236}">
                  <a16:creationId xmlns:a16="http://schemas.microsoft.com/office/drawing/2014/main" id="{28527BFB-5BB7-7D25-2A0A-945C6090A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Line 34">
              <a:extLst>
                <a:ext uri="{FF2B5EF4-FFF2-40B4-BE49-F238E27FC236}">
                  <a16:creationId xmlns:a16="http://schemas.microsoft.com/office/drawing/2014/main" id="{3C858524-1CF9-FA7E-21C4-9F8E3BFB17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064"/>
              <a:ext cx="336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Line 35">
              <a:extLst>
                <a:ext uri="{FF2B5EF4-FFF2-40B4-BE49-F238E27FC236}">
                  <a16:creationId xmlns:a16="http://schemas.microsoft.com/office/drawing/2014/main" id="{A10F68D7-FF95-008D-D534-0DA500760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064"/>
              <a:ext cx="24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Line 36">
              <a:extLst>
                <a:ext uri="{FF2B5EF4-FFF2-40B4-BE49-F238E27FC236}">
                  <a16:creationId xmlns:a16="http://schemas.microsoft.com/office/drawing/2014/main" id="{1EB8B444-1BDF-877D-DAA3-21D8EA4FA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064"/>
              <a:ext cx="336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Line 37">
              <a:extLst>
                <a:ext uri="{FF2B5EF4-FFF2-40B4-BE49-F238E27FC236}">
                  <a16:creationId xmlns:a16="http://schemas.microsoft.com/office/drawing/2014/main" id="{A6645F83-0DCC-EF40-88AE-7CC8EB775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064"/>
              <a:ext cx="24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Line 38">
              <a:extLst>
                <a:ext uri="{FF2B5EF4-FFF2-40B4-BE49-F238E27FC236}">
                  <a16:creationId xmlns:a16="http://schemas.microsoft.com/office/drawing/2014/main" id="{D4ED2D1C-A99E-2B2F-6AC0-4DFDD855A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1392"/>
              <a:ext cx="576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Line 39">
              <a:extLst>
                <a:ext uri="{FF2B5EF4-FFF2-40B4-BE49-F238E27FC236}">
                  <a16:creationId xmlns:a16="http://schemas.microsoft.com/office/drawing/2014/main" id="{88266835-2663-D2F2-1D3A-4CCC5C7C0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392"/>
              <a:ext cx="576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Text Box 41">
              <a:extLst>
                <a:ext uri="{FF2B5EF4-FFF2-40B4-BE49-F238E27FC236}">
                  <a16:creationId xmlns:a16="http://schemas.microsoft.com/office/drawing/2014/main" id="{06D04BDB-D95F-1869-8B00-A270218DA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344"/>
              <a:ext cx="57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Verdana" panose="020B0604030504040204" pitchFamily="34" charset="0"/>
                </a:rPr>
                <a:t>Your</a:t>
              </a:r>
              <a:br>
                <a:rPr lang="en-US" altLang="en-US" sz="1400">
                  <a:latin typeface="Verdana" panose="020B0604030504040204" pitchFamily="34" charset="0"/>
                </a:rPr>
              </a:br>
              <a:r>
                <a:rPr lang="en-US" altLang="en-US" sz="1400">
                  <a:latin typeface="Verdana" panose="020B0604030504040204" pitchFamily="34" charset="0"/>
                </a:rPr>
                <a:t>move</a:t>
              </a:r>
            </a:p>
          </p:txBody>
        </p:sp>
        <p:sp>
          <p:nvSpPr>
            <p:cNvPr id="15433" name="Text Box 42">
              <a:extLst>
                <a:ext uri="{FF2B5EF4-FFF2-40B4-BE49-F238E27FC236}">
                  <a16:creationId xmlns:a16="http://schemas.microsoft.com/office/drawing/2014/main" id="{4F12BA12-5814-916A-8847-FEE1C6F94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2640"/>
              <a:ext cx="57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Verdana" panose="020B0604030504040204" pitchFamily="34" charset="0"/>
                </a:rPr>
                <a:t>Your</a:t>
              </a:r>
              <a:br>
                <a:rPr lang="en-US" altLang="en-US" sz="1400">
                  <a:latin typeface="Verdana" panose="020B0604030504040204" pitchFamily="34" charset="0"/>
                </a:rPr>
              </a:br>
              <a:r>
                <a:rPr lang="en-US" altLang="en-US" sz="1400">
                  <a:latin typeface="Verdana" panose="020B0604030504040204" pitchFamily="34" charset="0"/>
                </a:rPr>
                <a:t>move</a:t>
              </a:r>
            </a:p>
          </p:txBody>
        </p:sp>
        <p:sp>
          <p:nvSpPr>
            <p:cNvPr id="15434" name="Text Box 43">
              <a:extLst>
                <a:ext uri="{FF2B5EF4-FFF2-40B4-BE49-F238E27FC236}">
                  <a16:creationId xmlns:a16="http://schemas.microsoft.com/office/drawing/2014/main" id="{97BA4408-0FC8-8711-4E72-19EB2CBE7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996"/>
              <a:ext cx="10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Verdana" panose="020B0604030504040204" pitchFamily="34" charset="0"/>
                </a:rPr>
                <a:t>Opponents</a:t>
              </a:r>
              <a:br>
                <a:rPr lang="en-US" altLang="en-US" sz="1400">
                  <a:latin typeface="Verdana" panose="020B0604030504040204" pitchFamily="34" charset="0"/>
                </a:rPr>
              </a:br>
              <a:r>
                <a:rPr lang="en-US" altLang="en-US" sz="1400">
                  <a:latin typeface="Verdana" panose="020B0604030504040204" pitchFamily="34" charset="0"/>
                </a:rPr>
                <a:t>move</a:t>
              </a:r>
            </a:p>
          </p:txBody>
        </p:sp>
      </p:grpSp>
      <p:sp>
        <p:nvSpPr>
          <p:cNvPr id="13357" name="Text Box 45">
            <a:extLst>
              <a:ext uri="{FF2B5EF4-FFF2-40B4-BE49-F238E27FC236}">
                <a16:creationId xmlns:a16="http://schemas.microsoft.com/office/drawing/2014/main" id="{593E77DF-76BD-98F6-D030-D007D35CA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828800"/>
            <a:ext cx="403860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Do a DFS; find an 8 and bring it up</a:t>
            </a:r>
          </a:p>
        </p:txBody>
      </p:sp>
      <p:sp>
        <p:nvSpPr>
          <p:cNvPr id="13358" name="Line 46">
            <a:extLst>
              <a:ext uri="{FF2B5EF4-FFF2-40B4-BE49-F238E27FC236}">
                <a16:creationId xmlns:a16="http://schemas.microsoft.com/office/drawing/2014/main" id="{145E40C2-6030-AAC6-0E3B-D8FF296D5B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400" y="2209800"/>
            <a:ext cx="9144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9" name="Line 47">
            <a:extLst>
              <a:ext uri="{FF2B5EF4-FFF2-40B4-BE49-F238E27FC236}">
                <a16:creationId xmlns:a16="http://schemas.microsoft.com/office/drawing/2014/main" id="{470A6D9B-E756-BB58-62F3-6DE304CE82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3276600"/>
            <a:ext cx="5334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0" name="Line 48">
            <a:extLst>
              <a:ext uri="{FF2B5EF4-FFF2-40B4-BE49-F238E27FC236}">
                <a16:creationId xmlns:a16="http://schemas.microsoft.com/office/drawing/2014/main" id="{126D62CD-2E28-6123-C45E-540F3B5E44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4267200"/>
            <a:ext cx="228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1" name="Oval 49">
            <a:extLst>
              <a:ext uri="{FF2B5EF4-FFF2-40B4-BE49-F238E27FC236}">
                <a16:creationId xmlns:a16="http://schemas.microsoft.com/office/drawing/2014/main" id="{E4FBC756-EBCF-B95E-C625-7002B7DAC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876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13362" name="Freeform 50">
            <a:extLst>
              <a:ext uri="{FF2B5EF4-FFF2-40B4-BE49-F238E27FC236}">
                <a16:creationId xmlns:a16="http://schemas.microsoft.com/office/drawing/2014/main" id="{2541E5A3-EBDA-8A0E-6767-0BBF7AE0A4F3}"/>
              </a:ext>
            </a:extLst>
          </p:cNvPr>
          <p:cNvSpPr>
            <a:spLocks/>
          </p:cNvSpPr>
          <p:nvPr/>
        </p:nvSpPr>
        <p:spPr bwMode="auto">
          <a:xfrm>
            <a:off x="2336800" y="4191000"/>
            <a:ext cx="177800" cy="685800"/>
          </a:xfrm>
          <a:custGeom>
            <a:avLst/>
            <a:gdLst>
              <a:gd name="T0" fmla="*/ 2147483646 w 112"/>
              <a:gd name="T1" fmla="*/ 2147483646 h 432"/>
              <a:gd name="T2" fmla="*/ 2147483646 w 112"/>
              <a:gd name="T3" fmla="*/ 2147483646 h 432"/>
              <a:gd name="T4" fmla="*/ 2147483646 w 11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" h="432">
                <a:moveTo>
                  <a:pt x="16" y="432"/>
                </a:moveTo>
                <a:cubicBezTo>
                  <a:pt x="8" y="324"/>
                  <a:pt x="0" y="216"/>
                  <a:pt x="16" y="144"/>
                </a:cubicBezTo>
                <a:cubicBezTo>
                  <a:pt x="32" y="72"/>
                  <a:pt x="72" y="36"/>
                  <a:pt x="112" y="0"/>
                </a:cubicBezTo>
              </a:path>
            </a:pathLst>
          </a:custGeom>
          <a:noFill/>
          <a:ln w="19050" cap="flat" cmpd="sng">
            <a:solidFill>
              <a:srgbClr val="FF99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3" name="Oval 51">
            <a:extLst>
              <a:ext uri="{FF2B5EF4-FFF2-40B4-BE49-F238E27FC236}">
                <a16:creationId xmlns:a16="http://schemas.microsoft.com/office/drawing/2014/main" id="{C94C6AE1-F069-63D0-1F9A-71DE381F3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962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13364" name="Text Box 52">
            <a:extLst>
              <a:ext uri="{FF2B5EF4-FFF2-40B4-BE49-F238E27FC236}">
                <a16:creationId xmlns:a16="http://schemas.microsoft.com/office/drawing/2014/main" id="{D67529FD-39D6-7D3C-C391-4474B336C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193925"/>
            <a:ext cx="426720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Explore 5; smaller than 8, so ignore it</a:t>
            </a:r>
          </a:p>
        </p:txBody>
      </p:sp>
      <p:sp>
        <p:nvSpPr>
          <p:cNvPr id="13365" name="Line 53">
            <a:extLst>
              <a:ext uri="{FF2B5EF4-FFF2-40B4-BE49-F238E27FC236}">
                <a16:creationId xmlns:a16="http://schemas.microsoft.com/office/drawing/2014/main" id="{47FF0FA4-CEF0-9261-018F-79DB5C5DE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267200"/>
            <a:ext cx="228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6" name="Oval 54">
            <a:extLst>
              <a:ext uri="{FF2B5EF4-FFF2-40B4-BE49-F238E27FC236}">
                <a16:creationId xmlns:a16="http://schemas.microsoft.com/office/drawing/2014/main" id="{B109777D-D00C-F157-C713-43F820467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876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13367" name="Line 55">
            <a:extLst>
              <a:ext uri="{FF2B5EF4-FFF2-40B4-BE49-F238E27FC236}">
                <a16:creationId xmlns:a16="http://schemas.microsoft.com/office/drawing/2014/main" id="{7ADD30D4-3D67-5262-B31B-FAD79827BE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4267200"/>
            <a:ext cx="228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8" name="Line 56">
            <a:extLst>
              <a:ext uri="{FF2B5EF4-FFF2-40B4-BE49-F238E27FC236}">
                <a16:creationId xmlns:a16="http://schemas.microsoft.com/office/drawing/2014/main" id="{329A35B2-608D-8831-CE2F-7C9456E581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67000" y="4267200"/>
            <a:ext cx="228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9" name="Line 57">
            <a:extLst>
              <a:ext uri="{FF2B5EF4-FFF2-40B4-BE49-F238E27FC236}">
                <a16:creationId xmlns:a16="http://schemas.microsoft.com/office/drawing/2014/main" id="{B51EB5A1-397D-A430-F195-91D3C43E88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276600"/>
            <a:ext cx="5334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0" name="Oval 58">
            <a:extLst>
              <a:ext uri="{FF2B5EF4-FFF2-40B4-BE49-F238E27FC236}">
                <a16:creationId xmlns:a16="http://schemas.microsoft.com/office/drawing/2014/main" id="{B6347751-4578-8944-4844-3368A5972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971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13371" name="Text Box 59">
            <a:extLst>
              <a:ext uri="{FF2B5EF4-FFF2-40B4-BE49-F238E27FC236}">
                <a16:creationId xmlns:a16="http://schemas.microsoft.com/office/drawing/2014/main" id="{165C7E0F-45E9-704A-0A28-C66C32BED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574925"/>
            <a:ext cx="426720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Backtrack; bring 8 up another level</a:t>
            </a:r>
          </a:p>
        </p:txBody>
      </p:sp>
      <p:sp>
        <p:nvSpPr>
          <p:cNvPr id="13372" name="Freeform 60">
            <a:extLst>
              <a:ext uri="{FF2B5EF4-FFF2-40B4-BE49-F238E27FC236}">
                <a16:creationId xmlns:a16="http://schemas.microsoft.com/office/drawing/2014/main" id="{28969788-4D3C-88E4-D12D-36F9108A98B7}"/>
              </a:ext>
            </a:extLst>
          </p:cNvPr>
          <p:cNvSpPr>
            <a:spLocks/>
          </p:cNvSpPr>
          <p:nvPr/>
        </p:nvSpPr>
        <p:spPr bwMode="auto">
          <a:xfrm>
            <a:off x="2590800" y="3168650"/>
            <a:ext cx="407988" cy="793750"/>
          </a:xfrm>
          <a:custGeom>
            <a:avLst/>
            <a:gdLst>
              <a:gd name="T0" fmla="*/ 0 w 257"/>
              <a:gd name="T1" fmla="*/ 2147483646 h 500"/>
              <a:gd name="T2" fmla="*/ 2147483646 w 257"/>
              <a:gd name="T3" fmla="*/ 2147483646 h 500"/>
              <a:gd name="T4" fmla="*/ 2147483646 w 257"/>
              <a:gd name="T5" fmla="*/ 0 h 5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7" h="500">
                <a:moveTo>
                  <a:pt x="0" y="500"/>
                </a:moveTo>
                <a:cubicBezTo>
                  <a:pt x="10" y="456"/>
                  <a:pt x="20" y="321"/>
                  <a:pt x="63" y="238"/>
                </a:cubicBezTo>
                <a:cubicBezTo>
                  <a:pt x="106" y="155"/>
                  <a:pt x="217" y="50"/>
                  <a:pt x="257" y="0"/>
                </a:cubicBezTo>
              </a:path>
            </a:pathLst>
          </a:custGeom>
          <a:noFill/>
          <a:ln w="19050" cap="flat" cmpd="sng">
            <a:solidFill>
              <a:srgbClr val="FF99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3" name="Line 61">
            <a:extLst>
              <a:ext uri="{FF2B5EF4-FFF2-40B4-BE49-F238E27FC236}">
                <a16:creationId xmlns:a16="http://schemas.microsoft.com/office/drawing/2014/main" id="{009D63FD-DCFB-160D-677D-ACF511626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76600"/>
            <a:ext cx="3810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4" name="Line 62">
            <a:extLst>
              <a:ext uri="{FF2B5EF4-FFF2-40B4-BE49-F238E27FC236}">
                <a16:creationId xmlns:a16="http://schemas.microsoft.com/office/drawing/2014/main" id="{1D39D20B-1F6E-B1E8-2343-83B7CF44CF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4267200"/>
            <a:ext cx="228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5" name="Oval 63">
            <a:extLst>
              <a:ext uri="{FF2B5EF4-FFF2-40B4-BE49-F238E27FC236}">
                <a16:creationId xmlns:a16="http://schemas.microsoft.com/office/drawing/2014/main" id="{740F160A-33F9-3615-D443-7148A086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876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2</a:t>
            </a:r>
          </a:p>
        </p:txBody>
      </p:sp>
      <p:sp>
        <p:nvSpPr>
          <p:cNvPr id="13376" name="Freeform 64">
            <a:extLst>
              <a:ext uri="{FF2B5EF4-FFF2-40B4-BE49-F238E27FC236}">
                <a16:creationId xmlns:a16="http://schemas.microsoft.com/office/drawing/2014/main" id="{42C90691-6761-6001-25FE-D6408773A6F8}"/>
              </a:ext>
            </a:extLst>
          </p:cNvPr>
          <p:cNvSpPr>
            <a:spLocks/>
          </p:cNvSpPr>
          <p:nvPr/>
        </p:nvSpPr>
        <p:spPr bwMode="auto">
          <a:xfrm>
            <a:off x="3175000" y="4191000"/>
            <a:ext cx="254000" cy="685800"/>
          </a:xfrm>
          <a:custGeom>
            <a:avLst/>
            <a:gdLst>
              <a:gd name="T0" fmla="*/ 2147483646 w 160"/>
              <a:gd name="T1" fmla="*/ 2147483646 h 432"/>
              <a:gd name="T2" fmla="*/ 2147483646 w 160"/>
              <a:gd name="T3" fmla="*/ 2147483646 h 432"/>
              <a:gd name="T4" fmla="*/ 2147483646 w 160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432">
                <a:moveTo>
                  <a:pt x="64" y="432"/>
                </a:moveTo>
                <a:cubicBezTo>
                  <a:pt x="32" y="348"/>
                  <a:pt x="0" y="264"/>
                  <a:pt x="16" y="192"/>
                </a:cubicBezTo>
                <a:cubicBezTo>
                  <a:pt x="32" y="120"/>
                  <a:pt x="96" y="60"/>
                  <a:pt x="160" y="0"/>
                </a:cubicBezTo>
              </a:path>
            </a:pathLst>
          </a:custGeom>
          <a:noFill/>
          <a:ln w="19050" cap="flat" cmpd="sng">
            <a:solidFill>
              <a:srgbClr val="FF99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7" name="Oval 65">
            <a:extLst>
              <a:ext uri="{FF2B5EF4-FFF2-40B4-BE49-F238E27FC236}">
                <a16:creationId xmlns:a16="http://schemas.microsoft.com/office/drawing/2014/main" id="{CF3DF477-D7B2-8106-5ED1-3DC6725B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962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2</a:t>
            </a:r>
          </a:p>
        </p:txBody>
      </p:sp>
      <p:sp>
        <p:nvSpPr>
          <p:cNvPr id="13378" name="Text Box 66">
            <a:extLst>
              <a:ext uri="{FF2B5EF4-FFF2-40B4-BE49-F238E27FC236}">
                <a16:creationId xmlns:a16="http://schemas.microsoft.com/office/drawing/2014/main" id="{428ECCAD-440A-76C6-4E2F-401BF9C88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955925"/>
            <a:ext cx="426720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Explore 2; bring it up</a:t>
            </a:r>
          </a:p>
        </p:txBody>
      </p:sp>
      <p:sp>
        <p:nvSpPr>
          <p:cNvPr id="13379" name="Line 67">
            <a:extLst>
              <a:ext uri="{FF2B5EF4-FFF2-40B4-BE49-F238E27FC236}">
                <a16:creationId xmlns:a16="http://schemas.microsoft.com/office/drawing/2014/main" id="{1AA82050-61A2-6E1E-DCEB-11CA02BD6E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343400"/>
            <a:ext cx="22860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0" name="Oval 68">
            <a:extLst>
              <a:ext uri="{FF2B5EF4-FFF2-40B4-BE49-F238E27FC236}">
                <a16:creationId xmlns:a16="http://schemas.microsoft.com/office/drawing/2014/main" id="{4630A8D4-94AF-9DC9-CC03-3C5C1751D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876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13381" name="Text Box 69">
            <a:extLst>
              <a:ext uri="{FF2B5EF4-FFF2-40B4-BE49-F238E27FC236}">
                <a16:creationId xmlns:a16="http://schemas.microsoft.com/office/drawing/2014/main" id="{62186CC1-53D8-0FD7-A748-E3AE12EA4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260725"/>
            <a:ext cx="42672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Explore 9; better than 2, so bring it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   up, replacing 2</a:t>
            </a:r>
          </a:p>
        </p:txBody>
      </p:sp>
      <p:sp>
        <p:nvSpPr>
          <p:cNvPr id="13382" name="Freeform 70">
            <a:extLst>
              <a:ext uri="{FF2B5EF4-FFF2-40B4-BE49-F238E27FC236}">
                <a16:creationId xmlns:a16="http://schemas.microsoft.com/office/drawing/2014/main" id="{39751FE0-12DD-FA10-9D60-C26034DDE9CB}"/>
              </a:ext>
            </a:extLst>
          </p:cNvPr>
          <p:cNvSpPr>
            <a:spLocks/>
          </p:cNvSpPr>
          <p:nvPr/>
        </p:nvSpPr>
        <p:spPr bwMode="auto">
          <a:xfrm>
            <a:off x="3733800" y="4191000"/>
            <a:ext cx="254000" cy="685800"/>
          </a:xfrm>
          <a:custGeom>
            <a:avLst/>
            <a:gdLst>
              <a:gd name="T0" fmla="*/ 2147483646 w 160"/>
              <a:gd name="T1" fmla="*/ 2147483646 h 432"/>
              <a:gd name="T2" fmla="*/ 2147483646 w 160"/>
              <a:gd name="T3" fmla="*/ 2147483646 h 432"/>
              <a:gd name="T4" fmla="*/ 0 w 160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432">
                <a:moveTo>
                  <a:pt x="96" y="432"/>
                </a:moveTo>
                <a:cubicBezTo>
                  <a:pt x="128" y="348"/>
                  <a:pt x="160" y="264"/>
                  <a:pt x="144" y="192"/>
                </a:cubicBezTo>
                <a:cubicBezTo>
                  <a:pt x="128" y="120"/>
                  <a:pt x="64" y="60"/>
                  <a:pt x="0" y="0"/>
                </a:cubicBezTo>
              </a:path>
            </a:pathLst>
          </a:custGeom>
          <a:noFill/>
          <a:ln w="19050" cap="flat" cmpd="sng">
            <a:solidFill>
              <a:srgbClr val="FF99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3" name="Oval 71">
            <a:extLst>
              <a:ext uri="{FF2B5EF4-FFF2-40B4-BE49-F238E27FC236}">
                <a16:creationId xmlns:a16="http://schemas.microsoft.com/office/drawing/2014/main" id="{2938A990-20A5-2115-B8C2-053C2E98D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962400"/>
            <a:ext cx="304800" cy="3048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13384" name="Line 72">
            <a:extLst>
              <a:ext uri="{FF2B5EF4-FFF2-40B4-BE49-F238E27FC236}">
                <a16:creationId xmlns:a16="http://schemas.microsoft.com/office/drawing/2014/main" id="{3D9AB1A4-67C7-B870-1A26-C842F2CCA4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1400" y="4267200"/>
            <a:ext cx="228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5" name="Line 73">
            <a:extLst>
              <a:ext uri="{FF2B5EF4-FFF2-40B4-BE49-F238E27FC236}">
                <a16:creationId xmlns:a16="http://schemas.microsoft.com/office/drawing/2014/main" id="{14A98C36-BA8F-7F89-908C-96E6492BA3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0400" y="3276600"/>
            <a:ext cx="3810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6" name="Line 74">
            <a:extLst>
              <a:ext uri="{FF2B5EF4-FFF2-40B4-BE49-F238E27FC236}">
                <a16:creationId xmlns:a16="http://schemas.microsoft.com/office/drawing/2014/main" id="{A34FA205-3079-09BF-4A54-C9F3103D8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2209800"/>
            <a:ext cx="9144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7" name="Line 75">
            <a:extLst>
              <a:ext uri="{FF2B5EF4-FFF2-40B4-BE49-F238E27FC236}">
                <a16:creationId xmlns:a16="http://schemas.microsoft.com/office/drawing/2014/main" id="{BD6A4462-9575-EE75-7FD9-9207AE638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209800"/>
            <a:ext cx="9144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8" name="Line 76">
            <a:extLst>
              <a:ext uri="{FF2B5EF4-FFF2-40B4-BE49-F238E27FC236}">
                <a16:creationId xmlns:a16="http://schemas.microsoft.com/office/drawing/2014/main" id="{6ADCB98C-DA8F-D504-088B-E9A23EE5BB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3276600"/>
            <a:ext cx="5334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9" name="Line 77">
            <a:extLst>
              <a:ext uri="{FF2B5EF4-FFF2-40B4-BE49-F238E27FC236}">
                <a16:creationId xmlns:a16="http://schemas.microsoft.com/office/drawing/2014/main" id="{9233D6FB-B21F-174F-DF71-37FBFBB26E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267200"/>
            <a:ext cx="2286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0" name="Oval 78">
            <a:extLst>
              <a:ext uri="{FF2B5EF4-FFF2-40B4-BE49-F238E27FC236}">
                <a16:creationId xmlns:a16="http://schemas.microsoft.com/office/drawing/2014/main" id="{4EA517BC-4481-9C5E-164A-A2CDCE232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76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-3</a:t>
            </a:r>
          </a:p>
        </p:txBody>
      </p:sp>
      <p:sp>
        <p:nvSpPr>
          <p:cNvPr id="13391" name="Text Box 79">
            <a:extLst>
              <a:ext uri="{FF2B5EF4-FFF2-40B4-BE49-F238E27FC236}">
                <a16:creationId xmlns:a16="http://schemas.microsoft.com/office/drawing/2014/main" id="{699E5916-30E4-25A0-6321-F9D8E1C99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962400"/>
            <a:ext cx="42672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9 is not better than 8 (for your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   opponent), so ignore it</a:t>
            </a:r>
          </a:p>
        </p:txBody>
      </p:sp>
      <p:sp>
        <p:nvSpPr>
          <p:cNvPr id="13392" name="Text Box 80">
            <a:extLst>
              <a:ext uri="{FF2B5EF4-FFF2-40B4-BE49-F238E27FC236}">
                <a16:creationId xmlns:a16="http://schemas.microsoft.com/office/drawing/2014/main" id="{7A2B0EBC-4089-1CC2-723A-AF4CDDC2A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632325"/>
            <a:ext cx="426720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Explore –3, bring it up</a:t>
            </a:r>
          </a:p>
        </p:txBody>
      </p:sp>
      <p:sp>
        <p:nvSpPr>
          <p:cNvPr id="13393" name="Text Box 81">
            <a:extLst>
              <a:ext uri="{FF2B5EF4-FFF2-40B4-BE49-F238E27FC236}">
                <a16:creationId xmlns:a16="http://schemas.microsoft.com/office/drawing/2014/main" id="{FA3F5AD0-4B3D-744A-473A-7A6ED495E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013325"/>
            <a:ext cx="426720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latin typeface="Verdana" panose="020B0604030504040204" pitchFamily="34" charset="0"/>
              </a:rPr>
              <a:t>•</a:t>
            </a:r>
            <a:r>
              <a:rPr lang="en-US" altLang="en-US">
                <a:latin typeface="Times New Roman" panose="02020603050405020304" pitchFamily="18" charset="0"/>
              </a:rPr>
              <a:t> Etc.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659A4C-DE01-429E-A08E-DF5B8549C9A0}"/>
              </a:ext>
            </a:extLst>
          </p:cNvPr>
          <p:cNvSpPr/>
          <p:nvPr/>
        </p:nvSpPr>
        <p:spPr>
          <a:xfrm>
            <a:off x="1426078" y="5372101"/>
            <a:ext cx="49519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ln w="0"/>
              </a:rPr>
              <a:t>Use heuristic function at leap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3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3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3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33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33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3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33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3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3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3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57" grpId="0" autoUpdateAnimBg="0"/>
      <p:bldP spid="13361" grpId="0" animBg="1" autoUpdateAnimBg="0"/>
      <p:bldP spid="13363" grpId="0" animBg="1" autoUpdateAnimBg="0"/>
      <p:bldP spid="13364" grpId="0" autoUpdateAnimBg="0"/>
      <p:bldP spid="13366" grpId="0" animBg="1" autoUpdateAnimBg="0"/>
      <p:bldP spid="13370" grpId="0" animBg="1" autoUpdateAnimBg="0"/>
      <p:bldP spid="13371" grpId="0" autoUpdateAnimBg="0"/>
      <p:bldP spid="13375" grpId="0" animBg="1" autoUpdateAnimBg="0"/>
      <p:bldP spid="13377" grpId="0" animBg="1" autoUpdateAnimBg="0"/>
      <p:bldP spid="13378" grpId="0" autoUpdateAnimBg="0"/>
      <p:bldP spid="13380" grpId="0" animBg="1" autoUpdateAnimBg="0"/>
      <p:bldP spid="13381" grpId="0" autoUpdateAnimBg="0"/>
      <p:bldP spid="13383" grpId="0" animBg="1" autoUpdateAnimBg="0"/>
      <p:bldP spid="13390" grpId="0" animBg="1" autoUpdateAnimBg="0"/>
      <p:bldP spid="13391" grpId="0" autoUpdateAnimBg="0"/>
      <p:bldP spid="13392" grpId="0" autoUpdateAnimBg="0"/>
      <p:bldP spid="1339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6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94168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Calibri"/>
              <a:buNone/>
            </a:pPr>
            <a:r>
              <a:rPr lang="en-US" sz="4000" dirty="0">
                <a:solidFill>
                  <a:srgbClr val="C55A11"/>
                </a:solidFill>
              </a:rPr>
              <a:t>Example</a:t>
            </a:r>
            <a:br>
              <a:rPr lang="en-US" dirty="0">
                <a:solidFill>
                  <a:srgbClr val="C55A11"/>
                </a:solidFill>
              </a:rPr>
            </a:br>
            <a:r>
              <a:rPr lang="en-US" sz="2200" dirty="0"/>
              <a:t>Find the utility value and the direction of the next move for the MAX player at the root using minimax.</a:t>
            </a:r>
            <a:endParaRPr dirty="0"/>
          </a:p>
        </p:txBody>
      </p:sp>
      <p:pic>
        <p:nvPicPr>
          <p:cNvPr id="7" name="Picture 6" descr="A diagram of a tree&#10;&#10;AI-generated content may be incorrect.">
            <a:extLst>
              <a:ext uri="{FF2B5EF4-FFF2-40B4-BE49-F238E27FC236}">
                <a16:creationId xmlns:a16="http://schemas.microsoft.com/office/drawing/2014/main" id="{6F35262E-4014-3E46-533A-80BCB0E57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575" y="1566556"/>
            <a:ext cx="7508850" cy="451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6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7"/>
          <p:cNvSpPr/>
          <p:nvPr/>
        </p:nvSpPr>
        <p:spPr>
          <a:xfrm>
            <a:off x="941696" y="771660"/>
            <a:ext cx="10003808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Alpha-beta pruning: </a:t>
            </a:r>
            <a:endParaRPr sz="3600" dirty="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 with minimax search is that the number of game states is to examine is exponentially large.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 pruning to eliminate large parts of the tree from consideration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Alpha-beta pruning returns appropriate minimax decision without exploring entire tree.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Strategy:</a:t>
            </a:r>
            <a:endParaRPr sz="2800" b="1" dirty="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Alpha = the value of the best choice we’ve found so far for MAX (highest)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Beta = the value of the best choice we’ve found so far for MIN  (lowest)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maximizing, cut off values lower than Alpha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minimizing, cut off values greater than Beta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7FAB5B3-77B9-46DB-AF16-D57744EFE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Alpha cutoffs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A8DD416-ABF9-4A6E-3535-697799FAA5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24600" y="1885950"/>
            <a:ext cx="4191000" cy="4171950"/>
          </a:xfrm>
        </p:spPr>
        <p:txBody>
          <a:bodyPr/>
          <a:lstStyle/>
          <a:p>
            <a:pPr eaLnBrk="1" hangingPunct="1"/>
            <a:r>
              <a:rPr lang="en-US" altLang="en-US" sz="2400"/>
              <a:t>The value at your move is </a:t>
            </a:r>
            <a:r>
              <a:rPr lang="en-US" altLang="en-US" sz="2400">
                <a:latin typeface="Comic Sans MS" panose="030F0702030302020204" pitchFamily="66" charset="0"/>
              </a:rPr>
              <a:t>8</a:t>
            </a:r>
            <a:r>
              <a:rPr lang="en-US" altLang="en-US" sz="2400"/>
              <a:t> (so far)</a:t>
            </a:r>
          </a:p>
          <a:p>
            <a:pPr eaLnBrk="1" hangingPunct="1"/>
            <a:r>
              <a:rPr lang="en-US" altLang="en-US" sz="2400"/>
              <a:t>If you move right, the value there is</a:t>
            </a:r>
            <a:r>
              <a:rPr lang="en-US" altLang="en-US" sz="2400">
                <a:latin typeface="Comic Sans MS" panose="030F0702030302020204" pitchFamily="66" charset="0"/>
              </a:rPr>
              <a:t> 1</a:t>
            </a:r>
            <a:r>
              <a:rPr lang="en-US" altLang="en-US" sz="2400"/>
              <a:t> (so far)</a:t>
            </a:r>
          </a:p>
          <a:p>
            <a:pPr eaLnBrk="1" hangingPunct="1"/>
            <a:r>
              <a:rPr lang="en-US" altLang="en-US" sz="2400"/>
              <a:t>Your opponent will </a:t>
            </a:r>
            <a:r>
              <a:rPr lang="en-US" altLang="en-US" sz="2400" i="1"/>
              <a:t>never increase</a:t>
            </a:r>
            <a:r>
              <a:rPr lang="en-US" altLang="en-US" sz="2400"/>
              <a:t> the value at this node; it will always be less than 8</a:t>
            </a:r>
          </a:p>
          <a:p>
            <a:pPr eaLnBrk="1" hangingPunct="1"/>
            <a:r>
              <a:rPr lang="en-US" altLang="en-US" sz="2400"/>
              <a:t>You can </a:t>
            </a:r>
            <a:r>
              <a:rPr lang="en-US" altLang="en-US" sz="2400" i="1"/>
              <a:t>ignore</a:t>
            </a:r>
            <a:r>
              <a:rPr lang="en-US" altLang="en-US" sz="2400"/>
              <a:t> the remaining nodes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6B8E0D8E-2B86-B441-0C23-7D624799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0FFD02-A8C1-49B0-BE6C-E1EA4DBFDF6E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15398" name="Group 38">
            <a:extLst>
              <a:ext uri="{FF2B5EF4-FFF2-40B4-BE49-F238E27FC236}">
                <a16:creationId xmlns:a16="http://schemas.microsoft.com/office/drawing/2014/main" id="{8858F4F4-6475-95A0-0D8A-491FAFF4E928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05000"/>
            <a:ext cx="4191000" cy="3276600"/>
            <a:chOff x="48" y="1200"/>
            <a:chExt cx="2640" cy="2064"/>
          </a:xfrm>
        </p:grpSpPr>
        <p:sp>
          <p:nvSpPr>
            <p:cNvPr id="17417" name="Oval 6">
              <a:extLst>
                <a:ext uri="{FF2B5EF4-FFF2-40B4-BE49-F238E27FC236}">
                  <a16:creationId xmlns:a16="http://schemas.microsoft.com/office/drawing/2014/main" id="{30C50014-2866-5913-1E76-0FE3644DF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8</a:t>
              </a:r>
            </a:p>
          </p:txBody>
        </p:sp>
        <p:sp>
          <p:nvSpPr>
            <p:cNvPr id="17418" name="Oval 7">
              <a:extLst>
                <a:ext uri="{FF2B5EF4-FFF2-40B4-BE49-F238E27FC236}">
                  <a16:creationId xmlns:a16="http://schemas.microsoft.com/office/drawing/2014/main" id="{2094E5E3-9362-5CB4-A374-623F51F68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5</a:t>
              </a:r>
            </a:p>
          </p:txBody>
        </p:sp>
        <p:sp>
          <p:nvSpPr>
            <p:cNvPr id="17419" name="Oval 8">
              <a:extLst>
                <a:ext uri="{FF2B5EF4-FFF2-40B4-BE49-F238E27FC236}">
                  <a16:creationId xmlns:a16="http://schemas.microsoft.com/office/drawing/2014/main" id="{D7F2A2C4-BE04-EBE4-0AD3-4B556898A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2</a:t>
              </a:r>
            </a:p>
          </p:txBody>
        </p:sp>
        <p:sp>
          <p:nvSpPr>
            <p:cNvPr id="17420" name="Oval 9">
              <a:extLst>
                <a:ext uri="{FF2B5EF4-FFF2-40B4-BE49-F238E27FC236}">
                  <a16:creationId xmlns:a16="http://schemas.microsoft.com/office/drawing/2014/main" id="{F47AB025-E49F-E690-5E75-F914EC508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9</a:t>
              </a:r>
            </a:p>
          </p:txBody>
        </p:sp>
        <p:sp>
          <p:nvSpPr>
            <p:cNvPr id="17421" name="Oval 10">
              <a:extLst>
                <a:ext uri="{FF2B5EF4-FFF2-40B4-BE49-F238E27FC236}">
                  <a16:creationId xmlns:a16="http://schemas.microsoft.com/office/drawing/2014/main" id="{8B496F61-B923-1AC0-CC28-D95AB6F59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-3</a:t>
              </a:r>
            </a:p>
          </p:txBody>
        </p:sp>
        <p:sp>
          <p:nvSpPr>
            <p:cNvPr id="17422" name="Oval 11">
              <a:extLst>
                <a:ext uri="{FF2B5EF4-FFF2-40B4-BE49-F238E27FC236}">
                  <a16:creationId xmlns:a16="http://schemas.microsoft.com/office/drawing/2014/main" id="{01C11C24-5A58-DA9B-F783-EFA958FB8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17423" name="Oval 12">
              <a:extLst>
                <a:ext uri="{FF2B5EF4-FFF2-40B4-BE49-F238E27FC236}">
                  <a16:creationId xmlns:a16="http://schemas.microsoft.com/office/drawing/2014/main" id="{A9E2E162-0D35-C6E5-0E1A-630944A0D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7424" name="Oval 13">
              <a:extLst>
                <a:ext uri="{FF2B5EF4-FFF2-40B4-BE49-F238E27FC236}">
                  <a16:creationId xmlns:a16="http://schemas.microsoft.com/office/drawing/2014/main" id="{DC3BE2AB-DB91-20C3-11CA-540AF6F29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7425" name="Oval 14">
              <a:extLst>
                <a:ext uri="{FF2B5EF4-FFF2-40B4-BE49-F238E27FC236}">
                  <a16:creationId xmlns:a16="http://schemas.microsoft.com/office/drawing/2014/main" id="{D691A219-0378-81C2-4E29-B1C940D5F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8</a:t>
              </a:r>
            </a:p>
          </p:txBody>
        </p:sp>
        <p:sp>
          <p:nvSpPr>
            <p:cNvPr id="17426" name="Oval 15">
              <a:extLst>
                <a:ext uri="{FF2B5EF4-FFF2-40B4-BE49-F238E27FC236}">
                  <a16:creationId xmlns:a16="http://schemas.microsoft.com/office/drawing/2014/main" id="{928FE9A8-D58D-78D9-0993-BCD9902A3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9</a:t>
              </a:r>
            </a:p>
          </p:txBody>
        </p:sp>
        <p:sp>
          <p:nvSpPr>
            <p:cNvPr id="17427" name="Oval 16">
              <a:extLst>
                <a:ext uri="{FF2B5EF4-FFF2-40B4-BE49-F238E27FC236}">
                  <a16:creationId xmlns:a16="http://schemas.microsoft.com/office/drawing/2014/main" id="{8693A610-1BA3-F6DF-DD0D-B296B0CFF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17428" name="Oval 17">
              <a:extLst>
                <a:ext uri="{FF2B5EF4-FFF2-40B4-BE49-F238E27FC236}">
                  <a16:creationId xmlns:a16="http://schemas.microsoft.com/office/drawing/2014/main" id="{F006E5B9-31AD-9F16-C91B-B27560AE6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496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7429" name="Oval 18">
              <a:extLst>
                <a:ext uri="{FF2B5EF4-FFF2-40B4-BE49-F238E27FC236}">
                  <a16:creationId xmlns:a16="http://schemas.microsoft.com/office/drawing/2014/main" id="{E5207490-5B99-1A47-8202-6F32C9AC5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8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8</a:t>
              </a:r>
            </a:p>
          </p:txBody>
        </p:sp>
        <p:sp>
          <p:nvSpPr>
            <p:cNvPr id="17430" name="Oval 19">
              <a:extLst>
                <a:ext uri="{FF2B5EF4-FFF2-40B4-BE49-F238E27FC236}">
                  <a16:creationId xmlns:a16="http://schemas.microsoft.com/office/drawing/2014/main" id="{A663B95C-EB19-1E89-5D94-5059DD009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200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8</a:t>
              </a:r>
            </a:p>
          </p:txBody>
        </p:sp>
        <p:sp>
          <p:nvSpPr>
            <p:cNvPr id="17431" name="Oval 20">
              <a:extLst>
                <a:ext uri="{FF2B5EF4-FFF2-40B4-BE49-F238E27FC236}">
                  <a16:creationId xmlns:a16="http://schemas.microsoft.com/office/drawing/2014/main" id="{CFFE8959-4BBB-829C-9F93-19840ACFF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872"/>
              <a:ext cx="192" cy="19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17432" name="Line 21">
              <a:extLst>
                <a:ext uri="{FF2B5EF4-FFF2-40B4-BE49-F238E27FC236}">
                  <a16:creationId xmlns:a16="http://schemas.microsoft.com/office/drawing/2014/main" id="{B3DF7017-D5EB-3AC9-EBAA-38BBCCF34B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Line 22">
              <a:extLst>
                <a:ext uri="{FF2B5EF4-FFF2-40B4-BE49-F238E27FC236}">
                  <a16:creationId xmlns:a16="http://schemas.microsoft.com/office/drawing/2014/main" id="{4BBF86E3-0A09-1F0A-6165-5E54197F4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Line 23">
              <a:extLst>
                <a:ext uri="{FF2B5EF4-FFF2-40B4-BE49-F238E27FC236}">
                  <a16:creationId xmlns:a16="http://schemas.microsoft.com/office/drawing/2014/main" id="{BDB8B10E-6456-0D8B-E562-A4FBC4930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Line 24">
              <a:extLst>
                <a:ext uri="{FF2B5EF4-FFF2-40B4-BE49-F238E27FC236}">
                  <a16:creationId xmlns:a16="http://schemas.microsoft.com/office/drawing/2014/main" id="{E744B4B1-808F-7EA9-1767-B7C929DA65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Line 25">
              <a:extLst>
                <a:ext uri="{FF2B5EF4-FFF2-40B4-BE49-F238E27FC236}">
                  <a16:creationId xmlns:a16="http://schemas.microsoft.com/office/drawing/2014/main" id="{A6A1788F-DBC7-EAD4-B585-5956FF34E6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Line 26">
              <a:extLst>
                <a:ext uri="{FF2B5EF4-FFF2-40B4-BE49-F238E27FC236}">
                  <a16:creationId xmlns:a16="http://schemas.microsoft.com/office/drawing/2014/main" id="{161CD360-973A-79AC-EA5D-259BBDFED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Line 27">
              <a:extLst>
                <a:ext uri="{FF2B5EF4-FFF2-40B4-BE49-F238E27FC236}">
                  <a16:creationId xmlns:a16="http://schemas.microsoft.com/office/drawing/2014/main" id="{CD7C8010-0C59-E0A9-5781-EDAA3B1FF0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Line 28">
              <a:extLst>
                <a:ext uri="{FF2B5EF4-FFF2-40B4-BE49-F238E27FC236}">
                  <a16:creationId xmlns:a16="http://schemas.microsoft.com/office/drawing/2014/main" id="{97E1AEC7-A96B-99F6-3266-3041B8A76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688"/>
              <a:ext cx="14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Line 29">
              <a:extLst>
                <a:ext uri="{FF2B5EF4-FFF2-40B4-BE49-F238E27FC236}">
                  <a16:creationId xmlns:a16="http://schemas.microsoft.com/office/drawing/2014/main" id="{A6C62D3F-E634-86AB-D661-34C05AA36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064"/>
              <a:ext cx="336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Line 30">
              <a:extLst>
                <a:ext uri="{FF2B5EF4-FFF2-40B4-BE49-F238E27FC236}">
                  <a16:creationId xmlns:a16="http://schemas.microsoft.com/office/drawing/2014/main" id="{070F8479-E525-6010-4A6A-B7448BA84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064"/>
              <a:ext cx="24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2" name="Line 31">
              <a:extLst>
                <a:ext uri="{FF2B5EF4-FFF2-40B4-BE49-F238E27FC236}">
                  <a16:creationId xmlns:a16="http://schemas.microsoft.com/office/drawing/2014/main" id="{DDA0A7F6-9756-04BD-8104-286E0374F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064"/>
              <a:ext cx="336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Line 32">
              <a:extLst>
                <a:ext uri="{FF2B5EF4-FFF2-40B4-BE49-F238E27FC236}">
                  <a16:creationId xmlns:a16="http://schemas.microsoft.com/office/drawing/2014/main" id="{BBC1AD8B-C742-6FB3-B8D8-BB7F7AD87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064"/>
              <a:ext cx="24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Line 33">
              <a:extLst>
                <a:ext uri="{FF2B5EF4-FFF2-40B4-BE49-F238E27FC236}">
                  <a16:creationId xmlns:a16="http://schemas.microsoft.com/office/drawing/2014/main" id="{8E373048-6133-9398-8494-FDFF17142B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1392"/>
              <a:ext cx="576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Line 34">
              <a:extLst>
                <a:ext uri="{FF2B5EF4-FFF2-40B4-BE49-F238E27FC236}">
                  <a16:creationId xmlns:a16="http://schemas.microsoft.com/office/drawing/2014/main" id="{F6AC425E-42B6-7DD2-4176-0F6110249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392"/>
              <a:ext cx="576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6" name="Text Box 35">
              <a:extLst>
                <a:ext uri="{FF2B5EF4-FFF2-40B4-BE49-F238E27FC236}">
                  <a16:creationId xmlns:a16="http://schemas.microsoft.com/office/drawing/2014/main" id="{F88A31F0-4FC9-9ADF-5849-EEB87F494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344"/>
              <a:ext cx="57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Verdana" panose="020B0604030504040204" pitchFamily="34" charset="0"/>
                </a:rPr>
                <a:t>Your</a:t>
              </a:r>
              <a:br>
                <a:rPr lang="en-US" altLang="en-US" sz="1400">
                  <a:latin typeface="Verdana" panose="020B0604030504040204" pitchFamily="34" charset="0"/>
                </a:rPr>
              </a:br>
              <a:r>
                <a:rPr lang="en-US" altLang="en-US" sz="1400">
                  <a:latin typeface="Verdana" panose="020B0604030504040204" pitchFamily="34" charset="0"/>
                </a:rPr>
                <a:t>move</a:t>
              </a:r>
            </a:p>
          </p:txBody>
        </p:sp>
        <p:sp>
          <p:nvSpPr>
            <p:cNvPr id="17447" name="Text Box 36">
              <a:extLst>
                <a:ext uri="{FF2B5EF4-FFF2-40B4-BE49-F238E27FC236}">
                  <a16:creationId xmlns:a16="http://schemas.microsoft.com/office/drawing/2014/main" id="{AF5A61B0-934F-422B-0A62-9528DA05A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2640"/>
              <a:ext cx="57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Verdana" panose="020B0604030504040204" pitchFamily="34" charset="0"/>
                </a:rPr>
                <a:t>Your</a:t>
              </a:r>
              <a:br>
                <a:rPr lang="en-US" altLang="en-US" sz="1400">
                  <a:latin typeface="Verdana" panose="020B0604030504040204" pitchFamily="34" charset="0"/>
                </a:rPr>
              </a:br>
              <a:r>
                <a:rPr lang="en-US" altLang="en-US" sz="1400">
                  <a:latin typeface="Verdana" panose="020B0604030504040204" pitchFamily="34" charset="0"/>
                </a:rPr>
                <a:t>move</a:t>
              </a:r>
            </a:p>
          </p:txBody>
        </p:sp>
        <p:sp>
          <p:nvSpPr>
            <p:cNvPr id="17448" name="Text Box 37">
              <a:extLst>
                <a:ext uri="{FF2B5EF4-FFF2-40B4-BE49-F238E27FC236}">
                  <a16:creationId xmlns:a16="http://schemas.microsoft.com/office/drawing/2014/main" id="{97139D09-FAA4-80D9-2116-C36FF4741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996"/>
              <a:ext cx="10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Verdana" panose="020B0604030504040204" pitchFamily="34" charset="0"/>
                </a:rPr>
                <a:t>Opponents</a:t>
              </a:r>
              <a:br>
                <a:rPr lang="en-US" altLang="en-US" sz="1400">
                  <a:latin typeface="Verdana" panose="020B0604030504040204" pitchFamily="34" charset="0"/>
                </a:rPr>
              </a:br>
              <a:r>
                <a:rPr lang="en-US" altLang="en-US" sz="1400">
                  <a:latin typeface="Verdana" panose="020B0604030504040204" pitchFamily="34" charset="0"/>
                </a:rPr>
                <a:t>move</a:t>
              </a:r>
            </a:p>
          </p:txBody>
        </p:sp>
      </p:grpSp>
      <p:grpSp>
        <p:nvGrpSpPr>
          <p:cNvPr id="15401" name="Group 41">
            <a:extLst>
              <a:ext uri="{FF2B5EF4-FFF2-40B4-BE49-F238E27FC236}">
                <a16:creationId xmlns:a16="http://schemas.microsoft.com/office/drawing/2014/main" id="{12BBF896-ABCD-975B-BAEB-B999FECD0AE5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590800"/>
            <a:ext cx="1524000" cy="1600200"/>
            <a:chOff x="2112" y="1632"/>
            <a:chExt cx="960" cy="1008"/>
          </a:xfrm>
        </p:grpSpPr>
        <p:sp>
          <p:nvSpPr>
            <p:cNvPr id="17415" name="Freeform 39">
              <a:extLst>
                <a:ext uri="{FF2B5EF4-FFF2-40B4-BE49-F238E27FC236}">
                  <a16:creationId xmlns:a16="http://schemas.microsoft.com/office/drawing/2014/main" id="{9773E285-5AB2-24AC-B618-291B74737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048"/>
              <a:ext cx="624" cy="592"/>
            </a:xfrm>
            <a:custGeom>
              <a:avLst/>
              <a:gdLst>
                <a:gd name="T0" fmla="*/ 0 w 624"/>
                <a:gd name="T1" fmla="*/ 592 h 592"/>
                <a:gd name="T2" fmla="*/ 96 w 624"/>
                <a:gd name="T3" fmla="*/ 352 h 592"/>
                <a:gd name="T4" fmla="*/ 288 w 624"/>
                <a:gd name="T5" fmla="*/ 112 h 592"/>
                <a:gd name="T6" fmla="*/ 528 w 624"/>
                <a:gd name="T7" fmla="*/ 16 h 592"/>
                <a:gd name="T8" fmla="*/ 624 w 624"/>
                <a:gd name="T9" fmla="*/ 16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4" h="592">
                  <a:moveTo>
                    <a:pt x="0" y="592"/>
                  </a:moveTo>
                  <a:cubicBezTo>
                    <a:pt x="24" y="512"/>
                    <a:pt x="48" y="432"/>
                    <a:pt x="96" y="352"/>
                  </a:cubicBezTo>
                  <a:cubicBezTo>
                    <a:pt x="144" y="272"/>
                    <a:pt x="216" y="168"/>
                    <a:pt x="288" y="112"/>
                  </a:cubicBezTo>
                  <a:cubicBezTo>
                    <a:pt x="360" y="56"/>
                    <a:pt x="472" y="32"/>
                    <a:pt x="528" y="16"/>
                  </a:cubicBezTo>
                  <a:cubicBezTo>
                    <a:pt x="584" y="0"/>
                    <a:pt x="604" y="8"/>
                    <a:pt x="624" y="16"/>
                  </a:cubicBezTo>
                </a:path>
              </a:pathLst>
            </a:custGeom>
            <a:noFill/>
            <a:ln w="57150" cap="flat" cmpd="sng">
              <a:solidFill>
                <a:srgbClr val="FF99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Text Box 40">
              <a:extLst>
                <a:ext uri="{FF2B5EF4-FFF2-40B4-BE49-F238E27FC236}">
                  <a16:creationId xmlns:a16="http://schemas.microsoft.com/office/drawing/2014/main" id="{0EFB839F-F24A-108D-A4F8-31BC38108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632"/>
              <a:ext cx="62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FF9999"/>
                  </a:solidFill>
                  <a:latin typeface="Times New Roman" panose="02020603050405020304" pitchFamily="18" charset="0"/>
                </a:rPr>
                <a:t>alpha</a:t>
              </a:r>
              <a:br>
                <a:rPr lang="en-US" altLang="en-US">
                  <a:solidFill>
                    <a:srgbClr val="FF9999"/>
                  </a:solidFill>
                  <a:latin typeface="Times New Roman" panose="02020603050405020304" pitchFamily="18" charset="0"/>
                </a:rPr>
              </a:br>
              <a:r>
                <a:rPr lang="en-US" altLang="en-US">
                  <a:solidFill>
                    <a:srgbClr val="FF9999"/>
                  </a:solidFill>
                  <a:latin typeface="Times New Roman" panose="02020603050405020304" pitchFamily="18" charset="0"/>
                </a:rPr>
                <a:t>cutoff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3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3F3C7AF-66F1-6DB0-CBED-CC2BD640C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solidFill>
                  <a:schemeClr val="accent2">
                    <a:lumMod val="75000"/>
                  </a:schemeClr>
                </a:solidFill>
              </a:rPr>
              <a:t>Alpha cutoffs, in more detail</a:t>
            </a:r>
            <a:br>
              <a:rPr lang="en-US" altLang="en-US" sz="36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US" altLang="en-US" sz="1600" dirty="0">
                <a:solidFill>
                  <a:schemeClr val="tx2"/>
                </a:solidFill>
              </a:rPr>
            </a:br>
            <a:r>
              <a:rPr lang="en-US" altLang="en-US" sz="2000" dirty="0">
                <a:solidFill>
                  <a:schemeClr val="tx2"/>
                </a:solidFill>
              </a:rPr>
              <a:t>PAV = preliminary backed-up value</a:t>
            </a:r>
            <a:endParaRPr lang="en-US" alt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BFE32B8-4EC2-01B1-7153-6AA0FDDE59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24600" y="1885950"/>
            <a:ext cx="4191000" cy="4171950"/>
          </a:xfrm>
        </p:spPr>
        <p:txBody>
          <a:bodyPr rtlCol="0">
            <a:normAutofit/>
          </a:bodyPr>
          <a:lstStyle/>
          <a:p>
            <a:pPr marL="342906" indent="-342906" defTabSz="457207"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400"/>
              <a:t>You have an alpha cutoff when:</a:t>
            </a:r>
          </a:p>
          <a:p>
            <a:pPr marL="742962" lvl="1" indent="-285755" defTabSz="457207"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000"/>
              <a:t>You are examining a node at which it is your opponent’s move, </a:t>
            </a:r>
            <a:r>
              <a:rPr lang="en-US" altLang="en-US" sz="2000" i="1"/>
              <a:t>and</a:t>
            </a:r>
          </a:p>
          <a:p>
            <a:pPr marL="742962" lvl="1" indent="-285755" defTabSz="457207"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000"/>
              <a:t>You have a PBV for the node’s parent, </a:t>
            </a:r>
            <a:r>
              <a:rPr lang="en-US" altLang="en-US" sz="2000" i="1"/>
              <a:t>and</a:t>
            </a:r>
            <a:endParaRPr lang="en-US" altLang="en-US" sz="2000"/>
          </a:p>
          <a:p>
            <a:pPr marL="742962" lvl="1" indent="-285755" defTabSz="457207"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000"/>
              <a:t>You have brought up a PBV that is less than the PBV of the node’s parent, </a:t>
            </a:r>
            <a:r>
              <a:rPr lang="en-US" altLang="en-US" sz="2000" i="1"/>
              <a:t>and</a:t>
            </a:r>
            <a:endParaRPr lang="en-US" altLang="en-US" sz="2000"/>
          </a:p>
          <a:p>
            <a:pPr marL="742962" lvl="1" indent="-285755" defTabSz="457207"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000"/>
              <a:t>The node has other children (which we can now “prune”)</a:t>
            </a:r>
          </a:p>
          <a:p>
            <a:pPr marL="742962" lvl="1" indent="-285755" defTabSz="457207"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altLang="en-US" sz="2000"/>
          </a:p>
          <a:p>
            <a:pPr marL="742962" lvl="1" indent="-285755" defTabSz="457207"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altLang="en-US" sz="2000"/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9CD1386F-E705-C050-17D9-175DBE0A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5CC4E4-9DE0-40F1-9A95-F42DDA319A15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27693" name="Group 45">
            <a:extLst>
              <a:ext uri="{FF2B5EF4-FFF2-40B4-BE49-F238E27FC236}">
                <a16:creationId xmlns:a16="http://schemas.microsoft.com/office/drawing/2014/main" id="{18B1FACF-14EE-6A43-A0F5-016E53EE4C22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752600"/>
            <a:ext cx="4800600" cy="4191000"/>
            <a:chOff x="48" y="1104"/>
            <a:chExt cx="3024" cy="2640"/>
          </a:xfrm>
        </p:grpSpPr>
        <p:grpSp>
          <p:nvGrpSpPr>
            <p:cNvPr id="18438" name="Group 4">
              <a:extLst>
                <a:ext uri="{FF2B5EF4-FFF2-40B4-BE49-F238E27FC236}">
                  <a16:creationId xmlns:a16="http://schemas.microsoft.com/office/drawing/2014/main" id="{A6D1857C-5A41-4FAC-C553-EA5BF8BF8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1680"/>
              <a:ext cx="2640" cy="2064"/>
              <a:chOff x="48" y="1200"/>
              <a:chExt cx="2640" cy="2064"/>
            </a:xfrm>
          </p:grpSpPr>
          <p:sp>
            <p:nvSpPr>
              <p:cNvPr id="18446" name="Oval 5">
                <a:extLst>
                  <a:ext uri="{FF2B5EF4-FFF2-40B4-BE49-F238E27FC236}">
                    <a16:creationId xmlns:a16="http://schemas.microsoft.com/office/drawing/2014/main" id="{741D8E89-E6B9-E146-E567-C858934EB2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18447" name="Oval 6">
                <a:extLst>
                  <a:ext uri="{FF2B5EF4-FFF2-40B4-BE49-F238E27FC236}">
                    <a16:creationId xmlns:a16="http://schemas.microsoft.com/office/drawing/2014/main" id="{66E8805A-E5B3-2F49-5FB7-FADA53305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18448" name="Oval 7">
                <a:extLst>
                  <a:ext uri="{FF2B5EF4-FFF2-40B4-BE49-F238E27FC236}">
                    <a16:creationId xmlns:a16="http://schemas.microsoft.com/office/drawing/2014/main" id="{ACC12C2A-7A56-C259-860F-9F7DE76C0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18449" name="Oval 8">
                <a:extLst>
                  <a:ext uri="{FF2B5EF4-FFF2-40B4-BE49-F238E27FC236}">
                    <a16:creationId xmlns:a16="http://schemas.microsoft.com/office/drawing/2014/main" id="{BAB37C21-2FA0-3234-D364-9E168D5EB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18450" name="Oval 9">
                <a:extLst>
                  <a:ext uri="{FF2B5EF4-FFF2-40B4-BE49-F238E27FC236}">
                    <a16:creationId xmlns:a16="http://schemas.microsoft.com/office/drawing/2014/main" id="{D258B9B4-2B96-31AA-9BC6-B832F58C4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-3</a:t>
                </a:r>
              </a:p>
            </p:txBody>
          </p:sp>
          <p:sp>
            <p:nvSpPr>
              <p:cNvPr id="18451" name="Oval 10">
                <a:extLst>
                  <a:ext uri="{FF2B5EF4-FFF2-40B4-BE49-F238E27FC236}">
                    <a16:creationId xmlns:a16="http://schemas.microsoft.com/office/drawing/2014/main" id="{D24D2556-BE11-20D4-3174-87D851055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18452" name="Oval 11">
                <a:extLst>
                  <a:ext uri="{FF2B5EF4-FFF2-40B4-BE49-F238E27FC236}">
                    <a16:creationId xmlns:a16="http://schemas.microsoft.com/office/drawing/2014/main" id="{60BEFFEA-6A58-CDFD-C215-951B86E0C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53" name="Oval 12">
                <a:extLst>
                  <a:ext uri="{FF2B5EF4-FFF2-40B4-BE49-F238E27FC236}">
                    <a16:creationId xmlns:a16="http://schemas.microsoft.com/office/drawing/2014/main" id="{04AC7560-038F-21C9-8EF8-8A9BBB790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0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54" name="Oval 13">
                <a:extLst>
                  <a:ext uri="{FF2B5EF4-FFF2-40B4-BE49-F238E27FC236}">
                    <a16:creationId xmlns:a16="http://schemas.microsoft.com/office/drawing/2014/main" id="{5294F301-9A55-8CFC-C9AE-5F1BF314F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496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18455" name="Oval 14">
                <a:extLst>
                  <a:ext uri="{FF2B5EF4-FFF2-40B4-BE49-F238E27FC236}">
                    <a16:creationId xmlns:a16="http://schemas.microsoft.com/office/drawing/2014/main" id="{C67BA759-BCE0-31C2-374B-03850D587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496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18456" name="Oval 15">
                <a:extLst>
                  <a:ext uri="{FF2B5EF4-FFF2-40B4-BE49-F238E27FC236}">
                    <a16:creationId xmlns:a16="http://schemas.microsoft.com/office/drawing/2014/main" id="{C3551200-D12C-4183-C9C7-540B12B1A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496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18457" name="Oval 16">
                <a:extLst>
                  <a:ext uri="{FF2B5EF4-FFF2-40B4-BE49-F238E27FC236}">
                    <a16:creationId xmlns:a16="http://schemas.microsoft.com/office/drawing/2014/main" id="{CE1A821B-9FE4-6F1D-C8B2-92BC1404D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496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58" name="Oval 17">
                <a:extLst>
                  <a:ext uri="{FF2B5EF4-FFF2-40B4-BE49-F238E27FC236}">
                    <a16:creationId xmlns:a16="http://schemas.microsoft.com/office/drawing/2014/main" id="{470691A4-2BAF-A8C2-2E23-B06972B91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8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18459" name="Oval 18">
                <a:extLst>
                  <a:ext uri="{FF2B5EF4-FFF2-40B4-BE49-F238E27FC236}">
                    <a16:creationId xmlns:a16="http://schemas.microsoft.com/office/drawing/2014/main" id="{2DBB7858-43E8-E74E-D596-1D8CDC746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200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18460" name="Oval 19">
                <a:extLst>
                  <a:ext uri="{FF2B5EF4-FFF2-40B4-BE49-F238E27FC236}">
                    <a16:creationId xmlns:a16="http://schemas.microsoft.com/office/drawing/2014/main" id="{261DB3FD-A516-A757-BC2F-81F67DFCA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72"/>
                <a:ext cx="192" cy="19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18461" name="Line 20">
                <a:extLst>
                  <a:ext uri="{FF2B5EF4-FFF2-40B4-BE49-F238E27FC236}">
                    <a16:creationId xmlns:a16="http://schemas.microsoft.com/office/drawing/2014/main" id="{354A72C4-1ECB-BE11-5382-B1E1E2085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2" name="Line 21">
                <a:extLst>
                  <a:ext uri="{FF2B5EF4-FFF2-40B4-BE49-F238E27FC236}">
                    <a16:creationId xmlns:a16="http://schemas.microsoft.com/office/drawing/2014/main" id="{58CC0313-A6F0-81C1-61A2-158021813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3" name="Line 22">
                <a:extLst>
                  <a:ext uri="{FF2B5EF4-FFF2-40B4-BE49-F238E27FC236}">
                    <a16:creationId xmlns:a16="http://schemas.microsoft.com/office/drawing/2014/main" id="{E4206D0C-6D35-401F-FDC3-2A1208C8C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4" name="Line 23">
                <a:extLst>
                  <a:ext uri="{FF2B5EF4-FFF2-40B4-BE49-F238E27FC236}">
                    <a16:creationId xmlns:a16="http://schemas.microsoft.com/office/drawing/2014/main" id="{85FB924E-55DA-70DF-CFF2-D07292F89B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5" name="Line 24">
                <a:extLst>
                  <a:ext uri="{FF2B5EF4-FFF2-40B4-BE49-F238E27FC236}">
                    <a16:creationId xmlns:a16="http://schemas.microsoft.com/office/drawing/2014/main" id="{F19EA6FB-C937-23D3-2C99-4CF6B9088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6" name="Line 25">
                <a:extLst>
                  <a:ext uri="{FF2B5EF4-FFF2-40B4-BE49-F238E27FC236}">
                    <a16:creationId xmlns:a16="http://schemas.microsoft.com/office/drawing/2014/main" id="{E4AC612F-6861-BFF5-4DFD-CBC10C4237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7" name="Line 26">
                <a:extLst>
                  <a:ext uri="{FF2B5EF4-FFF2-40B4-BE49-F238E27FC236}">
                    <a16:creationId xmlns:a16="http://schemas.microsoft.com/office/drawing/2014/main" id="{52321A72-4A83-5FBB-AF63-61D66A076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8" name="Line 27">
                <a:extLst>
                  <a:ext uri="{FF2B5EF4-FFF2-40B4-BE49-F238E27FC236}">
                    <a16:creationId xmlns:a16="http://schemas.microsoft.com/office/drawing/2014/main" id="{295838E2-2929-C2F0-AA31-14A4D034A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688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9" name="Line 28">
                <a:extLst>
                  <a:ext uri="{FF2B5EF4-FFF2-40B4-BE49-F238E27FC236}">
                    <a16:creationId xmlns:a16="http://schemas.microsoft.com/office/drawing/2014/main" id="{B1B0B28E-AF1D-3D5A-A0BF-F79B585EF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2064"/>
                <a:ext cx="336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0" name="Line 29">
                <a:extLst>
                  <a:ext uri="{FF2B5EF4-FFF2-40B4-BE49-F238E27FC236}">
                    <a16:creationId xmlns:a16="http://schemas.microsoft.com/office/drawing/2014/main" id="{0C29B81A-1DBD-6C58-E4FC-E957C6F121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064"/>
                <a:ext cx="24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1" name="Line 30">
                <a:extLst>
                  <a:ext uri="{FF2B5EF4-FFF2-40B4-BE49-F238E27FC236}">
                    <a16:creationId xmlns:a16="http://schemas.microsoft.com/office/drawing/2014/main" id="{8952E11C-F3F9-0B95-CCB6-FA969AAE4D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72" y="2064"/>
                <a:ext cx="336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2" name="Line 31">
                <a:extLst>
                  <a:ext uri="{FF2B5EF4-FFF2-40B4-BE49-F238E27FC236}">
                    <a16:creationId xmlns:a16="http://schemas.microsoft.com/office/drawing/2014/main" id="{95E39EE3-7674-0839-BF68-D0D65F29B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064"/>
                <a:ext cx="24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3" name="Line 32">
                <a:extLst>
                  <a:ext uri="{FF2B5EF4-FFF2-40B4-BE49-F238E27FC236}">
                    <a16:creationId xmlns:a16="http://schemas.microsoft.com/office/drawing/2014/main" id="{F9D45625-23B3-E0CD-0712-C485D5FF10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1392"/>
                <a:ext cx="576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4" name="Line 33">
                <a:extLst>
                  <a:ext uri="{FF2B5EF4-FFF2-40B4-BE49-F238E27FC236}">
                    <a16:creationId xmlns:a16="http://schemas.microsoft.com/office/drawing/2014/main" id="{C5DA8E5D-79D6-0506-76B3-14E71CCB5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576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5" name="Text Box 34">
                <a:extLst>
                  <a:ext uri="{FF2B5EF4-FFF2-40B4-BE49-F238E27FC236}">
                    <a16:creationId xmlns:a16="http://schemas.microsoft.com/office/drawing/2014/main" id="{54CA706C-024B-1625-8212-1EA530DFF9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1344"/>
                <a:ext cx="57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Your</a:t>
                </a:r>
                <a:br>
                  <a:rPr lang="en-US" altLang="en-US" sz="1400">
                    <a:latin typeface="Verdana" panose="020B0604030504040204" pitchFamily="34" charset="0"/>
                  </a:rPr>
                </a:br>
                <a:r>
                  <a:rPr lang="en-US" altLang="en-US" sz="1400">
                    <a:latin typeface="Verdana" panose="020B0604030504040204" pitchFamily="34" charset="0"/>
                  </a:rPr>
                  <a:t>move</a:t>
                </a:r>
              </a:p>
            </p:txBody>
          </p:sp>
          <p:sp>
            <p:nvSpPr>
              <p:cNvPr id="18476" name="Text Box 35">
                <a:extLst>
                  <a:ext uri="{FF2B5EF4-FFF2-40B4-BE49-F238E27FC236}">
                    <a16:creationId xmlns:a16="http://schemas.microsoft.com/office/drawing/2014/main" id="{B871ADE5-E4EE-48C2-9092-A5EFF1EBF9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2640"/>
                <a:ext cx="57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Your</a:t>
                </a:r>
                <a:br>
                  <a:rPr lang="en-US" altLang="en-US" sz="1400">
                    <a:latin typeface="Verdana" panose="020B0604030504040204" pitchFamily="34" charset="0"/>
                  </a:rPr>
                </a:br>
                <a:r>
                  <a:rPr lang="en-US" altLang="en-US" sz="1400">
                    <a:latin typeface="Verdana" panose="020B0604030504040204" pitchFamily="34" charset="0"/>
                  </a:rPr>
                  <a:t>move</a:t>
                </a:r>
              </a:p>
            </p:txBody>
          </p:sp>
          <p:sp>
            <p:nvSpPr>
              <p:cNvPr id="18477" name="Text Box 36">
                <a:extLst>
                  <a:ext uri="{FF2B5EF4-FFF2-40B4-BE49-F238E27FC236}">
                    <a16:creationId xmlns:a16="http://schemas.microsoft.com/office/drawing/2014/main" id="{65F6A629-7092-4232-4123-69313A7DF9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1996"/>
                <a:ext cx="100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Opponents</a:t>
                </a:r>
                <a:br>
                  <a:rPr lang="en-US" altLang="en-US" sz="1400">
                    <a:latin typeface="Verdana" panose="020B0604030504040204" pitchFamily="34" charset="0"/>
                  </a:rPr>
                </a:br>
                <a:r>
                  <a:rPr lang="en-US" altLang="en-US" sz="1400">
                    <a:latin typeface="Verdana" panose="020B0604030504040204" pitchFamily="34" charset="0"/>
                  </a:rPr>
                  <a:t>move</a:t>
                </a:r>
              </a:p>
            </p:txBody>
          </p:sp>
        </p:grpSp>
        <p:grpSp>
          <p:nvGrpSpPr>
            <p:cNvPr id="18439" name="Group 37">
              <a:extLst>
                <a:ext uri="{FF2B5EF4-FFF2-40B4-BE49-F238E27FC236}">
                  <a16:creationId xmlns:a16="http://schemas.microsoft.com/office/drawing/2014/main" id="{3F209F3F-4B3B-B6B8-F173-216E69862D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112"/>
              <a:ext cx="960" cy="1008"/>
              <a:chOff x="2112" y="1632"/>
              <a:chExt cx="960" cy="1008"/>
            </a:xfrm>
          </p:grpSpPr>
          <p:sp>
            <p:nvSpPr>
              <p:cNvPr id="18444" name="Freeform 38">
                <a:extLst>
                  <a:ext uri="{FF2B5EF4-FFF2-40B4-BE49-F238E27FC236}">
                    <a16:creationId xmlns:a16="http://schemas.microsoft.com/office/drawing/2014/main" id="{0AA72FEF-BE7A-ACE8-A4F5-BD24C5077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2" y="2048"/>
                <a:ext cx="624" cy="592"/>
              </a:xfrm>
              <a:custGeom>
                <a:avLst/>
                <a:gdLst>
                  <a:gd name="T0" fmla="*/ 0 w 624"/>
                  <a:gd name="T1" fmla="*/ 592 h 592"/>
                  <a:gd name="T2" fmla="*/ 96 w 624"/>
                  <a:gd name="T3" fmla="*/ 352 h 592"/>
                  <a:gd name="T4" fmla="*/ 288 w 624"/>
                  <a:gd name="T5" fmla="*/ 112 h 592"/>
                  <a:gd name="T6" fmla="*/ 528 w 624"/>
                  <a:gd name="T7" fmla="*/ 16 h 592"/>
                  <a:gd name="T8" fmla="*/ 624 w 624"/>
                  <a:gd name="T9" fmla="*/ 16 h 5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592">
                    <a:moveTo>
                      <a:pt x="0" y="592"/>
                    </a:moveTo>
                    <a:cubicBezTo>
                      <a:pt x="24" y="512"/>
                      <a:pt x="48" y="432"/>
                      <a:pt x="96" y="352"/>
                    </a:cubicBezTo>
                    <a:cubicBezTo>
                      <a:pt x="144" y="272"/>
                      <a:pt x="216" y="168"/>
                      <a:pt x="288" y="112"/>
                    </a:cubicBezTo>
                    <a:cubicBezTo>
                      <a:pt x="360" y="56"/>
                      <a:pt x="472" y="32"/>
                      <a:pt x="528" y="16"/>
                    </a:cubicBezTo>
                    <a:cubicBezTo>
                      <a:pt x="584" y="0"/>
                      <a:pt x="604" y="8"/>
                      <a:pt x="624" y="16"/>
                    </a:cubicBezTo>
                  </a:path>
                </a:pathLst>
              </a:custGeom>
              <a:noFill/>
              <a:ln w="57150" cap="flat" cmpd="sng">
                <a:solidFill>
                  <a:srgbClr val="FF9999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5" name="Text Box 39">
                <a:extLst>
                  <a:ext uri="{FF2B5EF4-FFF2-40B4-BE49-F238E27FC236}">
                    <a16:creationId xmlns:a16="http://schemas.microsoft.com/office/drawing/2014/main" id="{8672F213-9C05-121C-1A79-9AB99F3C42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1632"/>
                <a:ext cx="624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rgbClr val="FF9999"/>
                    </a:solidFill>
                    <a:latin typeface="Times New Roman" panose="02020603050405020304" pitchFamily="18" charset="0"/>
                  </a:rPr>
                  <a:t>alpha</a:t>
                </a:r>
                <a:br>
                  <a:rPr lang="en-US" altLang="en-US" sz="1600">
                    <a:solidFill>
                      <a:srgbClr val="FF9999"/>
                    </a:solidFill>
                    <a:latin typeface="Times New Roman" panose="02020603050405020304" pitchFamily="18" charset="0"/>
                  </a:rPr>
                </a:br>
                <a:r>
                  <a:rPr lang="en-US" altLang="en-US" sz="1600">
                    <a:solidFill>
                      <a:srgbClr val="FF9999"/>
                    </a:solidFill>
                    <a:latin typeface="Times New Roman" panose="02020603050405020304" pitchFamily="18" charset="0"/>
                  </a:rPr>
                  <a:t>cutoff</a:t>
                </a:r>
              </a:p>
            </p:txBody>
          </p:sp>
        </p:grpSp>
        <p:sp>
          <p:nvSpPr>
            <p:cNvPr id="18440" name="Oval 40">
              <a:extLst>
                <a:ext uri="{FF2B5EF4-FFF2-40B4-BE49-F238E27FC236}">
                  <a16:creationId xmlns:a16="http://schemas.microsoft.com/office/drawing/2014/main" id="{0051E1D7-7EAA-FBE1-CFEF-6103418D6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256"/>
              <a:ext cx="384" cy="384"/>
            </a:xfrm>
            <a:prstGeom prst="ellipse">
              <a:avLst/>
            </a:prstGeom>
            <a:noFill/>
            <a:ln w="38100">
              <a:solidFill>
                <a:srgbClr val="66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8441" name="AutoShape 42">
              <a:extLst>
                <a:ext uri="{FF2B5EF4-FFF2-40B4-BE49-F238E27FC236}">
                  <a16:creationId xmlns:a16="http://schemas.microsoft.com/office/drawing/2014/main" id="{F8F4AD4F-69E8-4C8F-FF19-6B80A81D3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104"/>
              <a:ext cx="912" cy="528"/>
            </a:xfrm>
            <a:prstGeom prst="wedgeRoundRectCallout">
              <a:avLst>
                <a:gd name="adj1" fmla="val -25218"/>
                <a:gd name="adj2" fmla="val 156819"/>
                <a:gd name="adj3" fmla="val 16667"/>
              </a:avLst>
            </a:prstGeom>
            <a:noFill/>
            <a:ln w="19050">
              <a:solidFill>
                <a:srgbClr val="66FF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66FF66"/>
                  </a:solidFill>
                  <a:latin typeface="Times New Roman" panose="02020603050405020304" pitchFamily="18" charset="0"/>
                </a:rPr>
                <a:t>node being examined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solidFill>
                  <a:srgbClr val="66FF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42" name="AutoShape 43">
              <a:extLst>
                <a:ext uri="{FF2B5EF4-FFF2-40B4-BE49-F238E27FC236}">
                  <a16:creationId xmlns:a16="http://schemas.microsoft.com/office/drawing/2014/main" id="{B7D78C13-CAC2-C4D4-FC9E-A156C4FB4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" y="1114"/>
              <a:ext cx="1152" cy="528"/>
            </a:xfrm>
            <a:prstGeom prst="wedgeRoundRectCallout">
              <a:avLst>
                <a:gd name="adj1" fmla="val 67958"/>
                <a:gd name="adj2" fmla="val 65097"/>
                <a:gd name="adj3" fmla="val 16667"/>
              </a:avLst>
            </a:prstGeom>
            <a:noFill/>
            <a:ln w="19050">
              <a:solidFill>
                <a:srgbClr val="66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rgbClr val="66FFFF"/>
                  </a:solidFill>
                  <a:latin typeface="Times New Roman" panose="02020603050405020304" pitchFamily="18" charset="0"/>
                </a:rPr>
                <a:t>parent (has PBV of 8)</a:t>
              </a:r>
            </a:p>
          </p:txBody>
        </p:sp>
        <p:sp>
          <p:nvSpPr>
            <p:cNvPr id="18443" name="Oval 44">
              <a:extLst>
                <a:ext uri="{FF2B5EF4-FFF2-40B4-BE49-F238E27FC236}">
                  <a16:creationId xmlns:a16="http://schemas.microsoft.com/office/drawing/2014/main" id="{F32233FF-C19D-A888-3B15-2A36F5F2C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584"/>
              <a:ext cx="384" cy="384"/>
            </a:xfrm>
            <a:prstGeom prst="ellips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250004E-9F54-347D-80DF-58A653EDD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Beta cutoffs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3BC21CD-C35C-B791-1A9D-DFB85F0E5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885950"/>
            <a:ext cx="8458200" cy="4171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An </a:t>
            </a:r>
            <a:r>
              <a:rPr lang="en-US" altLang="en-US">
                <a:solidFill>
                  <a:schemeClr val="tx2"/>
                </a:solidFill>
              </a:rPr>
              <a:t>alpha cutoff</a:t>
            </a:r>
            <a:r>
              <a:rPr lang="en-US" altLang="en-US"/>
              <a:t> occurs 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It is </a:t>
            </a:r>
            <a:r>
              <a:rPr lang="en-US" altLang="en-US" i="1"/>
              <a:t>your opponent’s turn</a:t>
            </a:r>
            <a:r>
              <a:rPr lang="en-US" altLang="en-US"/>
              <a:t> to move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You have computed a PBV for this node’s parent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node’s parent has a </a:t>
            </a:r>
            <a:r>
              <a:rPr lang="en-US" altLang="en-US" i="1"/>
              <a:t>higher PBV</a:t>
            </a:r>
            <a:r>
              <a:rPr lang="en-US" altLang="en-US"/>
              <a:t> than this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This node has other children you haven’t yet considered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</a:t>
            </a:r>
            <a:r>
              <a:rPr lang="en-US" altLang="en-US">
                <a:solidFill>
                  <a:schemeClr val="tx2"/>
                </a:solidFill>
              </a:rPr>
              <a:t>beta cutoff</a:t>
            </a:r>
            <a:r>
              <a:rPr lang="en-US" altLang="en-US"/>
              <a:t> occurs 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It is </a:t>
            </a:r>
            <a:r>
              <a:rPr lang="en-US" altLang="en-US" i="1"/>
              <a:t>your turn</a:t>
            </a:r>
            <a:r>
              <a:rPr lang="en-US" altLang="en-US"/>
              <a:t> to move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You have computed a PBV for this node’s parent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node’s parent has a </a:t>
            </a:r>
            <a:r>
              <a:rPr lang="en-US" altLang="en-US" i="1"/>
              <a:t>lower PBV</a:t>
            </a:r>
            <a:r>
              <a:rPr lang="en-US" altLang="en-US"/>
              <a:t> than this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This node has other children you haven’t yet considered</a:t>
            </a:r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582FC224-0BBD-9958-462C-BAE91472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815BCD-068B-4B92-9DA9-AD27CCBBA0F7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7204A3C-2E3F-13DE-3310-46564EE87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Using beta cutoffs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192EFE8-0906-0325-77F0-0C63197C7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Beta cutoffs are harder to understand, because you have to see things from your opponent’s point of view</a:t>
            </a:r>
          </a:p>
          <a:p>
            <a:pPr eaLnBrk="1" hangingPunct="1"/>
            <a:r>
              <a:rPr lang="en-US" altLang="en-US"/>
              <a:t>Your opponent’s alpha cutoff is your beta cutoff</a:t>
            </a:r>
          </a:p>
          <a:p>
            <a:pPr eaLnBrk="1" hangingPunct="1"/>
            <a:r>
              <a:rPr lang="en-US" altLang="en-US"/>
              <a:t>We assume your opponent is rational, and is using a heuristic function similar to yours</a:t>
            </a:r>
          </a:p>
          <a:p>
            <a:pPr eaLnBrk="1" hangingPunct="1"/>
            <a:r>
              <a:rPr lang="en-US" altLang="en-US"/>
              <a:t>Even if this assumption is incorrect, it’s still the best we can do</a:t>
            </a:r>
          </a:p>
        </p:txBody>
      </p:sp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03575BFD-DC4C-B5CC-25EC-C1579040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2AA9F2-4463-4B76-AFBB-D2D31D499608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88885AE-EA7B-A2EC-B8C0-3D4577403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The importance of cutoffs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B5EDB4C-5554-476D-1DF1-0BAF95FD6B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885950"/>
            <a:ext cx="8305800" cy="4171950"/>
          </a:xfrm>
        </p:spPr>
        <p:txBody>
          <a:bodyPr/>
          <a:lstStyle/>
          <a:p>
            <a:pPr eaLnBrk="1" hangingPunct="1"/>
            <a:r>
              <a:rPr lang="en-US" altLang="en-US"/>
              <a:t>If you can search to the end of the game, you know exactly how to play</a:t>
            </a:r>
          </a:p>
          <a:p>
            <a:pPr eaLnBrk="1" hangingPunct="1"/>
            <a:r>
              <a:rPr lang="en-US" altLang="en-US"/>
              <a:t>The further ahead you can search, the better</a:t>
            </a:r>
          </a:p>
          <a:p>
            <a:pPr eaLnBrk="1" hangingPunct="1"/>
            <a:r>
              <a:rPr lang="en-US" altLang="en-US"/>
              <a:t>If you can </a:t>
            </a:r>
            <a:r>
              <a:rPr lang="en-US" altLang="en-US" i="1"/>
              <a:t>prune</a:t>
            </a:r>
            <a:r>
              <a:rPr lang="en-US" altLang="en-US"/>
              <a:t> (ignore) large parts of the tree, you can search deeper on the other parts</a:t>
            </a:r>
          </a:p>
          <a:p>
            <a:pPr eaLnBrk="1" hangingPunct="1"/>
            <a:r>
              <a:rPr lang="en-US" altLang="en-US"/>
              <a:t>Since the number of nodes at each level grows exponentially, the higher you can prune, the better</a:t>
            </a:r>
          </a:p>
          <a:p>
            <a:pPr eaLnBrk="1" hangingPunct="1"/>
            <a:r>
              <a:rPr lang="en-US" altLang="en-US"/>
              <a:t>You can save exponential time</a:t>
            </a:r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4E82D496-8846-6AAA-5B20-9D51E656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B19E55-FBFA-4FB5-B1D3-F2124FB1CF32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6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Calibri"/>
              <a:buNone/>
            </a:pPr>
            <a:r>
              <a:rPr lang="en-US" sz="4000" dirty="0">
                <a:solidFill>
                  <a:srgbClr val="C55A11"/>
                </a:solidFill>
              </a:rPr>
              <a:t>Example</a:t>
            </a:r>
            <a:br>
              <a:rPr lang="en-US" dirty="0">
                <a:solidFill>
                  <a:srgbClr val="C55A11"/>
                </a:solidFill>
              </a:rPr>
            </a:br>
            <a:r>
              <a:rPr lang="en-US" sz="2200" dirty="0"/>
              <a:t>Find the utility value and the direction of the next move for the MAX player at the root using Alpha-beta pruning.</a:t>
            </a:r>
            <a:endParaRPr dirty="0"/>
          </a:p>
        </p:txBody>
      </p:sp>
      <p:pic>
        <p:nvPicPr>
          <p:cNvPr id="7" name="Picture 6" descr="A diagram of a tree&#10;&#10;AI-generated content may be incorrect.">
            <a:extLst>
              <a:ext uri="{FF2B5EF4-FFF2-40B4-BE49-F238E27FC236}">
                <a16:creationId xmlns:a16="http://schemas.microsoft.com/office/drawing/2014/main" id="{6F35262E-4014-3E46-533A-80BCB0E57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596" y="1696083"/>
            <a:ext cx="7381031" cy="443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60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13059</TotalTime>
  <Words>1354</Words>
  <Application>Microsoft Office PowerPoint</Application>
  <PresentationFormat>Widescreen</PresentationFormat>
  <Paragraphs>187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Comic Sans MS</vt:lpstr>
      <vt:lpstr>Noto Sans Symbols</vt:lpstr>
      <vt:lpstr>Times New Roman</vt:lpstr>
      <vt:lpstr>Verdana</vt:lpstr>
      <vt:lpstr>Wingdings 3</vt:lpstr>
      <vt:lpstr>Office Theme</vt:lpstr>
      <vt:lpstr> Game Theory </vt:lpstr>
      <vt:lpstr>Why Game?</vt:lpstr>
      <vt:lpstr>Payoffs</vt:lpstr>
      <vt:lpstr>PowerPoint Presentation</vt:lpstr>
      <vt:lpstr>How to Play a Game by Searching</vt:lpstr>
      <vt:lpstr>Heuristics</vt:lpstr>
      <vt:lpstr>Minimax strategy</vt:lpstr>
      <vt:lpstr>Minimaxing</vt:lpstr>
      <vt:lpstr>Minimax (animated)</vt:lpstr>
      <vt:lpstr>Example Find the utility value and the direction of the next move for the MAX player at the root using minimax.</vt:lpstr>
      <vt:lpstr>PowerPoint Presentation</vt:lpstr>
      <vt:lpstr>Alpha cutoffs</vt:lpstr>
      <vt:lpstr>Alpha cutoffs, in more detail  PAV = preliminary backed-up value</vt:lpstr>
      <vt:lpstr>Beta cutoffs</vt:lpstr>
      <vt:lpstr>Using beta cutoffs</vt:lpstr>
      <vt:lpstr>The importance of cutoffs</vt:lpstr>
      <vt:lpstr>Example Find the utility value and the direction of the next move for the MAX player at the root using Alpha-beta pruning.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Kamrul Hasan Tuhin</dc:creator>
  <cp:lastModifiedBy>Kamrul Hasan Tuhin</cp:lastModifiedBy>
  <cp:revision>11</cp:revision>
  <dcterms:created xsi:type="dcterms:W3CDTF">2025-08-10T15:38:06Z</dcterms:created>
  <dcterms:modified xsi:type="dcterms:W3CDTF">2025-08-20T17:15:27Z</dcterms:modified>
</cp:coreProperties>
</file>