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422" r:id="rId2"/>
    <p:sldId id="267" r:id="rId3"/>
    <p:sldId id="455" r:id="rId4"/>
    <p:sldId id="423" r:id="rId5"/>
    <p:sldId id="427" r:id="rId6"/>
    <p:sldId id="428" r:id="rId7"/>
    <p:sldId id="429" r:id="rId8"/>
    <p:sldId id="430" r:id="rId9"/>
    <p:sldId id="431" r:id="rId10"/>
    <p:sldId id="432" r:id="rId11"/>
    <p:sldId id="433" r:id="rId12"/>
    <p:sldId id="434" r:id="rId13"/>
    <p:sldId id="435" r:id="rId14"/>
    <p:sldId id="436" r:id="rId15"/>
    <p:sldId id="437" r:id="rId16"/>
    <p:sldId id="438" r:id="rId17"/>
    <p:sldId id="439" r:id="rId18"/>
    <p:sldId id="440" r:id="rId19"/>
    <p:sldId id="454" r:id="rId20"/>
    <p:sldId id="441" r:id="rId21"/>
    <p:sldId id="442" r:id="rId22"/>
    <p:sldId id="443" r:id="rId23"/>
    <p:sldId id="445" r:id="rId24"/>
    <p:sldId id="446" r:id="rId25"/>
    <p:sldId id="447" r:id="rId26"/>
    <p:sldId id="448" r:id="rId27"/>
    <p:sldId id="449" r:id="rId28"/>
    <p:sldId id="450" r:id="rId29"/>
    <p:sldId id="451" r:id="rId30"/>
    <p:sldId id="456" r:id="rId31"/>
    <p:sldId id="457" r:id="rId32"/>
    <p:sldId id="45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3864"/>
    <a:srgbClr val="3058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19277B-3E9B-4C04-9508-04340FCAE56F}" type="datetimeFigureOut">
              <a:rPr lang="en-US" smtClean="0"/>
              <a:t>04-Oct-25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209CE-F2EE-43D7-A413-574C98FA5B30}" type="slidenum">
              <a:rPr lang="en-US" smtClean="0"/>
              <a:t>‹#›</a:t>
            </a:fld>
            <a:endParaRPr lang="en-US"/>
          </a:p>
        </p:txBody>
      </p:sp>
    </p:spTree>
    <p:extLst>
      <p:ext uri="{BB962C8B-B14F-4D97-AF65-F5344CB8AC3E}">
        <p14:creationId xmlns:p14="http://schemas.microsoft.com/office/powerpoint/2010/main" val="2139898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14797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14</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12557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15</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32454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16</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02952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17</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01000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18</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06014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19</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24152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20</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35388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21</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196112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22</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7353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23</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86283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24</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71630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25</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75696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26</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22803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27</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90105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28</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36404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29</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92011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30</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8541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31</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802925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32</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86903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77320-2A2D-BF6E-A74D-DC1BAE4024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2C25DE-394D-0544-40D0-FD82AB423E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197295-E3B9-0AF4-A709-275B5F9F220F}"/>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5" name="Footer Placeholder 4">
            <a:extLst>
              <a:ext uri="{FF2B5EF4-FFF2-40B4-BE49-F238E27FC236}">
                <a16:creationId xmlns:a16="http://schemas.microsoft.com/office/drawing/2014/main" id="{A99F92E7-CBAD-FB26-6B36-459E3AF800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6106B-2048-0DE9-956F-D5004BBA3F65}"/>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1218031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AAEBC-B690-37BD-DAEF-C1C1FACAA3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25BDFF-8734-8C77-35A1-0114E09AFA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7D8C4B-B255-70D0-C897-8CB5AF03EAB7}"/>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5" name="Footer Placeholder 4">
            <a:extLst>
              <a:ext uri="{FF2B5EF4-FFF2-40B4-BE49-F238E27FC236}">
                <a16:creationId xmlns:a16="http://schemas.microsoft.com/office/drawing/2014/main" id="{54462020-2FCE-20B3-2B44-FB7C58C791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206B8-1260-1011-0A09-F66820B2CCCB}"/>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2445372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34C76-C92B-9110-330A-CF0045160A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026FAD-0BD3-A1E7-4340-D99A49CF10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65E17F-FA8A-5577-EFB8-53AC9AF9B4F0}"/>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5" name="Footer Placeholder 4">
            <a:extLst>
              <a:ext uri="{FF2B5EF4-FFF2-40B4-BE49-F238E27FC236}">
                <a16:creationId xmlns:a16="http://schemas.microsoft.com/office/drawing/2014/main" id="{C732BAF2-B0B7-A5BE-B822-A2D704915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71B94-AD7D-45E0-8EDD-305C6760816B}"/>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1602489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7ED2A-3EA8-29D8-90CE-AF6E74E208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B603C5-0206-6074-1DAD-01E9425FE7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2647FF-DF39-A5FA-91EF-853292A594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5ACB59-3672-4753-A6FB-C7E6A43474C8}"/>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6" name="Footer Placeholder 5">
            <a:extLst>
              <a:ext uri="{FF2B5EF4-FFF2-40B4-BE49-F238E27FC236}">
                <a16:creationId xmlns:a16="http://schemas.microsoft.com/office/drawing/2014/main" id="{0A907492-2251-639D-12AE-C3363DC2F0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77F356-EB0F-762D-5285-FA27E0F1557F}"/>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3738513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5181-BD14-9FB1-EAAF-A1DB1C3DA3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4AC4B3-836C-2C0D-5269-F1FE23B466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D26877-4849-7482-BAF8-6A95AFDC5B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E08D25-38EF-2047-1634-7A9FF615F0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86B08A-2B6A-80A6-F92C-A353816E6E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58F6C1-81F5-3F1B-88F8-5446A9463DCB}"/>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8" name="Footer Placeholder 7">
            <a:extLst>
              <a:ext uri="{FF2B5EF4-FFF2-40B4-BE49-F238E27FC236}">
                <a16:creationId xmlns:a16="http://schemas.microsoft.com/office/drawing/2014/main" id="{601B406B-69ED-7E97-CD91-5E9EB72DC9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C2C94A-E39F-6BBC-9BE1-3E2C31D4C4A7}"/>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467201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7F287-DB36-6543-93BB-7E55866F00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5C22E2-58F1-CFC0-A722-4975AAC86A0B}"/>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4" name="Footer Placeholder 3">
            <a:extLst>
              <a:ext uri="{FF2B5EF4-FFF2-40B4-BE49-F238E27FC236}">
                <a16:creationId xmlns:a16="http://schemas.microsoft.com/office/drawing/2014/main" id="{768DDDC5-3FDF-1466-48FC-A50FB9740F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1BB366-2A14-217B-72CE-FAA2F9191D21}"/>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2770177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DFEEDF-4C8A-F41F-F4B6-834408A60B71}"/>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3" name="Footer Placeholder 2">
            <a:extLst>
              <a:ext uri="{FF2B5EF4-FFF2-40B4-BE49-F238E27FC236}">
                <a16:creationId xmlns:a16="http://schemas.microsoft.com/office/drawing/2014/main" id="{3C20E2E4-9A19-4852-EEA3-F84C23FD80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4A2445-D233-95EF-D5C4-D06A3F5F7E40}"/>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430520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496C9-2D0B-6800-FF68-FE89B705DA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0EB0A9-54A0-C7F2-B2A5-DE11B90538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83218-E257-D0A7-64DD-35F405DB68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498B8F-D532-5B00-F0EC-9F9AA3962B5B}"/>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6" name="Footer Placeholder 5">
            <a:extLst>
              <a:ext uri="{FF2B5EF4-FFF2-40B4-BE49-F238E27FC236}">
                <a16:creationId xmlns:a16="http://schemas.microsoft.com/office/drawing/2014/main" id="{459B19F2-2D26-9653-4C86-2D00F59312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2897B0-B64B-BA69-E801-10008DC125A3}"/>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3402893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2501-D75F-DBF1-AD7E-8A0BCB700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F0C269-9AA4-6D2F-EB9F-D6454BD4B2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349542-6AF0-5EAD-1EE3-47FB231046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6836AF-0056-EAF0-45A7-F85AF8A766AF}"/>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6" name="Footer Placeholder 5">
            <a:extLst>
              <a:ext uri="{FF2B5EF4-FFF2-40B4-BE49-F238E27FC236}">
                <a16:creationId xmlns:a16="http://schemas.microsoft.com/office/drawing/2014/main" id="{17D8F6EC-F93A-8DF9-A420-2E2E3DA9C3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A4FF9-C8DD-4EB8-DC16-1A37EA029B53}"/>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2471874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3F43-751C-230F-B84D-1ED2589C5D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A93A22-60E1-6918-FBCF-F84F7B6FA7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BCA6DC-F5C2-456E-CEE1-E3DA74C5EC7A}"/>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5" name="Footer Placeholder 4">
            <a:extLst>
              <a:ext uri="{FF2B5EF4-FFF2-40B4-BE49-F238E27FC236}">
                <a16:creationId xmlns:a16="http://schemas.microsoft.com/office/drawing/2014/main" id="{5CBEDE1E-AF4F-B1C2-41EA-7C41B4F217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2E0FD-39EF-A1A4-D76B-07869373F1FB}"/>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1860468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AC6E32-8296-AFA2-71EA-6C701C1BDA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B9B367-1443-E991-7FA7-31BEAB2F78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10C7C-5612-9A3A-3048-AB724F911CA2}"/>
              </a:ext>
            </a:extLst>
          </p:cNvPr>
          <p:cNvSpPr>
            <a:spLocks noGrp="1"/>
          </p:cNvSpPr>
          <p:nvPr>
            <p:ph type="dt" sz="half" idx="10"/>
          </p:nvPr>
        </p:nvSpPr>
        <p:spPr/>
        <p:txBody>
          <a:bodyPr/>
          <a:lstStyle/>
          <a:p>
            <a:fld id="{1AEB1D52-7A3B-4B55-9978-325417314330}" type="datetimeFigureOut">
              <a:rPr lang="en-US" smtClean="0"/>
              <a:t>04-Oct-25</a:t>
            </a:fld>
            <a:endParaRPr lang="en-US"/>
          </a:p>
        </p:txBody>
      </p:sp>
      <p:sp>
        <p:nvSpPr>
          <p:cNvPr id="5" name="Footer Placeholder 4">
            <a:extLst>
              <a:ext uri="{FF2B5EF4-FFF2-40B4-BE49-F238E27FC236}">
                <a16:creationId xmlns:a16="http://schemas.microsoft.com/office/drawing/2014/main" id="{628DFCEC-659C-0B90-7F1A-D4D6AFCDD0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9E86A-CB6C-0569-36C5-EB2FE48B68F8}"/>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3327993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62F3C2-B09E-4D25-B880-E7BB5B42E7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0024AA-434A-6A0C-90DF-F9B7186AB7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E575C5-CE37-F925-8C51-9BA8FEFF6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EB1D52-7A3B-4B55-9978-325417314330}" type="datetimeFigureOut">
              <a:rPr lang="en-US" smtClean="0"/>
              <a:t>04-Oct-25</a:t>
            </a:fld>
            <a:endParaRPr lang="en-US"/>
          </a:p>
        </p:txBody>
      </p:sp>
      <p:sp>
        <p:nvSpPr>
          <p:cNvPr id="5" name="Footer Placeholder 4">
            <a:extLst>
              <a:ext uri="{FF2B5EF4-FFF2-40B4-BE49-F238E27FC236}">
                <a16:creationId xmlns:a16="http://schemas.microsoft.com/office/drawing/2014/main" id="{D496A7CB-652F-289E-F9BF-459E10264D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D78D10-DB09-166F-0D4A-C69AF4DA35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F62474-F0E3-4C04-AD95-A54FE593AA6B}" type="slidenum">
              <a:rPr lang="en-US" smtClean="0"/>
              <a:t>‹#›</a:t>
            </a:fld>
            <a:endParaRPr lang="en-US"/>
          </a:p>
        </p:txBody>
      </p:sp>
    </p:spTree>
    <p:extLst>
      <p:ext uri="{BB962C8B-B14F-4D97-AF65-F5344CB8AC3E}">
        <p14:creationId xmlns:p14="http://schemas.microsoft.com/office/powerpoint/2010/main" val="2707094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C103CAEC-EFA1-47CE-BACF-9A92008C31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3013" indent="-285774">
              <a:spcBef>
                <a:spcPct val="20000"/>
              </a:spcBef>
              <a:buChar char="–"/>
              <a:defRPr sz="2800">
                <a:solidFill>
                  <a:schemeClr val="tx1"/>
                </a:solidFill>
                <a:latin typeface="Times New Roman" panose="02020603050405020304" pitchFamily="18" charset="0"/>
              </a:defRPr>
            </a:lvl2pPr>
            <a:lvl3pPr marL="1143096" indent="-228619">
              <a:spcBef>
                <a:spcPct val="20000"/>
              </a:spcBef>
              <a:buChar char="•"/>
              <a:defRPr sz="1600">
                <a:solidFill>
                  <a:schemeClr val="tx1"/>
                </a:solidFill>
                <a:latin typeface="Times New Roman" panose="02020603050405020304" pitchFamily="18" charset="0"/>
              </a:defRPr>
            </a:lvl3pPr>
            <a:lvl4pPr marL="1600335" indent="-228619">
              <a:spcBef>
                <a:spcPct val="20000"/>
              </a:spcBef>
              <a:buChar char="–"/>
              <a:defRPr sz="1400">
                <a:solidFill>
                  <a:schemeClr val="tx1"/>
                </a:solidFill>
                <a:latin typeface="Times New Roman" panose="02020603050405020304" pitchFamily="18" charset="0"/>
              </a:defRPr>
            </a:lvl4pPr>
            <a:lvl5pPr marL="2057573" indent="-228619">
              <a:spcBef>
                <a:spcPct val="20000"/>
              </a:spcBef>
              <a:buChar char="»"/>
              <a:defRPr sz="1200">
                <a:solidFill>
                  <a:schemeClr val="tx1"/>
                </a:solidFill>
                <a:latin typeface="Times New Roman" panose="02020603050405020304" pitchFamily="18" charset="0"/>
              </a:defRPr>
            </a:lvl5pPr>
            <a:lvl6pPr marL="2514812" indent="-228619"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2050" indent="-228619"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289" indent="-228619"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527" indent="-228619"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425666B-B9E6-4D06-A4F9-06813418CEAE}" type="slidenum">
              <a:rPr lang="en-US" altLang="en-US" sz="800"/>
              <a:pPr>
                <a:spcBef>
                  <a:spcPct val="0"/>
                </a:spcBef>
                <a:buFontTx/>
                <a:buNone/>
              </a:pPr>
              <a:t>1</a:t>
            </a:fld>
            <a:endParaRPr lang="en-US" altLang="en-US" sz="800"/>
          </a:p>
        </p:txBody>
      </p:sp>
      <p:sp>
        <p:nvSpPr>
          <p:cNvPr id="4099" name="Rectangle 2">
            <a:extLst>
              <a:ext uri="{FF2B5EF4-FFF2-40B4-BE49-F238E27FC236}">
                <a16:creationId xmlns:a16="http://schemas.microsoft.com/office/drawing/2014/main" id="{F2724EA0-CABE-47D1-954E-AD8DE13BDA47}"/>
              </a:ext>
            </a:extLst>
          </p:cNvPr>
          <p:cNvSpPr>
            <a:spLocks noGrp="1" noChangeArrowheads="1"/>
          </p:cNvSpPr>
          <p:nvPr>
            <p:ph type="ctrTitle"/>
          </p:nvPr>
        </p:nvSpPr>
        <p:spPr>
          <a:xfrm>
            <a:off x="1690231" y="953270"/>
            <a:ext cx="8832496" cy="3550491"/>
          </a:xfrm>
        </p:spPr>
        <p:txBody>
          <a:bodyPr>
            <a:normAutofit/>
          </a:bodyPr>
          <a:lstStyle/>
          <a:p>
            <a:pPr defTabSz="914400" eaLnBrk="0" fontAlgn="base" hangingPunct="0">
              <a:lnSpc>
                <a:spcPct val="100000"/>
              </a:lnSpc>
              <a:spcAft>
                <a:spcPct val="0"/>
              </a:spcAft>
            </a:pPr>
            <a:br>
              <a:rPr lang="en-US" altLang="en-US" dirty="0"/>
            </a:br>
            <a:br>
              <a:rPr lang="en-US" altLang="en-US" sz="7301" b="1" dirty="0"/>
            </a:br>
            <a:endParaRPr lang="en-US" altLang="en-US" sz="3601" dirty="0"/>
          </a:p>
        </p:txBody>
      </p:sp>
      <p:sp>
        <p:nvSpPr>
          <p:cNvPr id="3" name="TextBox 2">
            <a:extLst>
              <a:ext uri="{FF2B5EF4-FFF2-40B4-BE49-F238E27FC236}">
                <a16:creationId xmlns:a16="http://schemas.microsoft.com/office/drawing/2014/main" id="{D2D8E6EE-2583-51BC-3F1B-78CD79B03A24}"/>
              </a:ext>
            </a:extLst>
          </p:cNvPr>
          <p:cNvSpPr txBox="1"/>
          <p:nvPr/>
        </p:nvSpPr>
        <p:spPr>
          <a:xfrm>
            <a:off x="3501704" y="2858441"/>
            <a:ext cx="6094602" cy="923330"/>
          </a:xfrm>
          <a:prstGeom prst="rect">
            <a:avLst/>
          </a:prstGeom>
          <a:noFill/>
        </p:spPr>
        <p:txBody>
          <a:bodyPr wrap="square">
            <a:spAutoFit/>
          </a:bodyPr>
          <a:lstStyle/>
          <a:p>
            <a:r>
              <a:rPr lang="en-US" sz="5400" b="1" dirty="0">
                <a:solidFill>
                  <a:schemeClr val="accent2">
                    <a:lumMod val="75000"/>
                  </a:schemeClr>
                </a:solidFill>
              </a:rPr>
              <a:t>Machine Learning</a:t>
            </a:r>
            <a:endParaRPr lang="en-US" sz="5400" dirty="0"/>
          </a:p>
        </p:txBody>
      </p:sp>
    </p:spTree>
    <p:extLst>
      <p:ext uri="{BB962C8B-B14F-4D97-AF65-F5344CB8AC3E}">
        <p14:creationId xmlns:p14="http://schemas.microsoft.com/office/powerpoint/2010/main" val="305428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3732" y="692126"/>
            <a:ext cx="10081651" cy="5693866"/>
          </a:xfrm>
          <a:prstGeom prst="rect">
            <a:avLst/>
          </a:prstGeom>
          <a:noFill/>
        </p:spPr>
        <p:txBody>
          <a:bodyPr wrap="square" lIns="91440" tIns="45720" rIns="91440" bIns="45720">
            <a:spAutoFit/>
          </a:bodyPr>
          <a:lstStyle/>
          <a:p>
            <a:r>
              <a:rPr lang="en-GB" sz="2400" b="1" dirty="0">
                <a:solidFill>
                  <a:schemeClr val="accent2">
                    <a:lumMod val="75000"/>
                  </a:schemeClr>
                </a:solidFill>
              </a:rPr>
              <a:t>Machine Learning</a:t>
            </a:r>
            <a:br>
              <a:rPr lang="en-GB" sz="2000" dirty="0"/>
            </a:br>
            <a:r>
              <a:rPr lang="en-GB" sz="2000" dirty="0"/>
              <a:t>Machine Learning (ML) is a branch of Artificial Intelligence (AI) that focuses on building systems capable of </a:t>
            </a:r>
            <a:r>
              <a:rPr lang="en-GB" sz="2000" b="1" dirty="0"/>
              <a:t>learning from data and improving their performance over time</a:t>
            </a:r>
            <a:r>
              <a:rPr lang="en-GB" sz="2000" dirty="0"/>
              <a:t> without being explicitly programmed with fixed rules. Instead of following step-by-step instructions, these systems identify </a:t>
            </a:r>
            <a:r>
              <a:rPr lang="en-GB" sz="2000" b="1" dirty="0"/>
              <a:t>patterns, relationships, and insights</a:t>
            </a:r>
            <a:r>
              <a:rPr lang="en-GB" sz="2000" dirty="0"/>
              <a:t> within data and use them to make predictions or decisions.</a:t>
            </a:r>
          </a:p>
          <a:p>
            <a:endParaRPr lang="en-GB" sz="2000" dirty="0"/>
          </a:p>
          <a:p>
            <a:r>
              <a:rPr lang="en-GB" sz="2000" b="1" dirty="0">
                <a:solidFill>
                  <a:schemeClr val="accent2">
                    <a:lumMod val="75000"/>
                  </a:schemeClr>
                </a:solidFill>
              </a:rPr>
              <a:t>Key Idea</a:t>
            </a:r>
            <a:endParaRPr lang="en-GB" sz="2000" dirty="0">
              <a:solidFill>
                <a:schemeClr val="accent2">
                  <a:lumMod val="75000"/>
                </a:schemeClr>
              </a:solidFill>
            </a:endParaRPr>
          </a:p>
          <a:p>
            <a:pPr marL="342900" indent="-342900">
              <a:buFont typeface="Arial" panose="020B0604020202020204" pitchFamily="34" charset="0"/>
              <a:buChar char="•"/>
            </a:pPr>
            <a:r>
              <a:rPr lang="en-GB" sz="2000" dirty="0">
                <a:highlight>
                  <a:srgbClr val="FFFF00"/>
                </a:highlight>
              </a:rPr>
              <a:t>Traditional programming → Programmer writes rules + inputs → computer produces outputs</a:t>
            </a:r>
            <a:r>
              <a:rPr lang="en-GB" sz="2000" dirty="0"/>
              <a:t>.</a:t>
            </a:r>
          </a:p>
          <a:p>
            <a:pPr marL="342900" indent="-342900">
              <a:buFont typeface="Arial" panose="020B0604020202020204" pitchFamily="34" charset="0"/>
              <a:buChar char="•"/>
            </a:pPr>
            <a:r>
              <a:rPr lang="en-GB" sz="2000" dirty="0">
                <a:highlight>
                  <a:srgbClr val="FFFF00"/>
                </a:highlight>
              </a:rPr>
              <a:t>Machine Learning → Programmer provides data + expected outputs (or just data) → computer learns the rules (model) on its own.</a:t>
            </a:r>
          </a:p>
          <a:p>
            <a:pPr marL="342900" indent="-342900">
              <a:buFont typeface="Arial" panose="020B0604020202020204" pitchFamily="34" charset="0"/>
              <a:buChar char="•"/>
            </a:pPr>
            <a:endParaRPr lang="en-GB" sz="2000" dirty="0"/>
          </a:p>
          <a:p>
            <a:r>
              <a:rPr lang="en-GB" sz="2000" b="1" dirty="0">
                <a:solidFill>
                  <a:schemeClr val="accent2">
                    <a:lumMod val="75000"/>
                  </a:schemeClr>
                </a:solidFill>
                <a:highlight>
                  <a:srgbClr val="FFFF00"/>
                </a:highlight>
              </a:rPr>
              <a:t>Applications</a:t>
            </a:r>
            <a:endParaRPr lang="en-GB" sz="2000" dirty="0">
              <a:solidFill>
                <a:schemeClr val="accent2">
                  <a:lumMod val="75000"/>
                </a:schemeClr>
              </a:solidFill>
              <a:highlight>
                <a:srgbClr val="FFFF00"/>
              </a:highlight>
            </a:endParaRPr>
          </a:p>
          <a:p>
            <a:pPr marL="342900" indent="-342900">
              <a:buFont typeface="Arial" panose="020B0604020202020204" pitchFamily="34" charset="0"/>
              <a:buChar char="•"/>
            </a:pPr>
            <a:r>
              <a:rPr lang="en-GB" sz="2000" dirty="0"/>
              <a:t>Email spam detection</a:t>
            </a:r>
          </a:p>
          <a:p>
            <a:pPr marL="342900" indent="-342900">
              <a:buFont typeface="Arial" panose="020B0604020202020204" pitchFamily="34" charset="0"/>
              <a:buChar char="•"/>
            </a:pPr>
            <a:r>
              <a:rPr lang="en-GB" sz="2000" dirty="0"/>
              <a:t>Speech and image recognition</a:t>
            </a:r>
          </a:p>
          <a:p>
            <a:pPr marL="342900" indent="-342900">
              <a:buFont typeface="Arial" panose="020B0604020202020204" pitchFamily="34" charset="0"/>
              <a:buChar char="•"/>
            </a:pPr>
            <a:r>
              <a:rPr lang="en-GB" sz="2000" dirty="0"/>
              <a:t>Medical diagnosis</a:t>
            </a:r>
          </a:p>
          <a:p>
            <a:pPr marL="342900" indent="-342900">
              <a:buFont typeface="Arial" panose="020B0604020202020204" pitchFamily="34" charset="0"/>
              <a:buChar char="•"/>
            </a:pPr>
            <a:r>
              <a:rPr lang="en-GB" sz="2000" dirty="0"/>
              <a:t>Recommendation systems (e.g., Netflix, YouTube, Amazon) and so on.</a:t>
            </a:r>
          </a:p>
        </p:txBody>
      </p:sp>
    </p:spTree>
    <p:extLst>
      <p:ext uri="{BB962C8B-B14F-4D97-AF65-F5344CB8AC3E}">
        <p14:creationId xmlns:p14="http://schemas.microsoft.com/office/powerpoint/2010/main" val="4191681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3732" y="692126"/>
            <a:ext cx="10081651" cy="4770537"/>
          </a:xfrm>
          <a:prstGeom prst="rect">
            <a:avLst/>
          </a:prstGeom>
          <a:noFill/>
        </p:spPr>
        <p:txBody>
          <a:bodyPr wrap="square" lIns="91440" tIns="45720" rIns="91440" bIns="45720">
            <a:spAutoFit/>
          </a:bodyPr>
          <a:lstStyle/>
          <a:p>
            <a:r>
              <a:rPr lang="en-GB" sz="2400" b="1" dirty="0">
                <a:solidFill>
                  <a:schemeClr val="accent2">
                    <a:lumMod val="75000"/>
                  </a:schemeClr>
                </a:solidFill>
                <a:highlight>
                  <a:srgbClr val="FFFF00"/>
                </a:highlight>
              </a:rPr>
              <a:t>Types of Machine Learning</a:t>
            </a:r>
            <a:br>
              <a:rPr lang="en-GB" sz="2000" dirty="0"/>
            </a:br>
            <a:endParaRPr lang="en-GB" sz="2000" dirty="0"/>
          </a:p>
          <a:p>
            <a:pPr marL="342900" indent="-342900">
              <a:buFont typeface="Arial" panose="020B0604020202020204" pitchFamily="34" charset="0"/>
              <a:buChar char="•"/>
            </a:pPr>
            <a:r>
              <a:rPr lang="en-GB" sz="2000" b="1" dirty="0">
                <a:solidFill>
                  <a:schemeClr val="accent2">
                    <a:lumMod val="75000"/>
                  </a:schemeClr>
                </a:solidFill>
                <a:highlight>
                  <a:srgbClr val="FFFF00"/>
                </a:highlight>
              </a:rPr>
              <a:t>Supervised Learning</a:t>
            </a:r>
            <a:r>
              <a:rPr lang="en-GB" sz="2000" b="1" dirty="0">
                <a:solidFill>
                  <a:schemeClr val="accent2">
                    <a:lumMod val="75000"/>
                  </a:schemeClr>
                </a:solidFill>
              </a:rPr>
              <a:t>: </a:t>
            </a:r>
            <a:r>
              <a:rPr lang="en-GB" sz="2000" dirty="0"/>
              <a:t>A type of machine learning where models are trained using </a:t>
            </a:r>
            <a:r>
              <a:rPr lang="en-GB" sz="2000" dirty="0" err="1"/>
              <a:t>labeled</a:t>
            </a:r>
            <a:r>
              <a:rPr lang="en-GB" sz="2000" dirty="0"/>
              <a:t> data (input-output pairs). Examples: Classification (e.g., spam email detection), Regression (e.g., predicting house prices).</a:t>
            </a:r>
          </a:p>
          <a:p>
            <a:endParaRPr lang="en-GB" sz="2000" dirty="0"/>
          </a:p>
          <a:p>
            <a:pPr marL="342900" indent="-342900">
              <a:buFont typeface="Arial" panose="020B0604020202020204" pitchFamily="34" charset="0"/>
              <a:buChar char="•"/>
            </a:pPr>
            <a:r>
              <a:rPr lang="en-GB" sz="2000" b="1" dirty="0">
                <a:solidFill>
                  <a:schemeClr val="accent2">
                    <a:lumMod val="75000"/>
                  </a:schemeClr>
                </a:solidFill>
              </a:rPr>
              <a:t>Unsupervised Learning:</a:t>
            </a:r>
            <a:r>
              <a:rPr lang="en-GB" sz="2000" dirty="0"/>
              <a:t> A type of machine learning where models are trained using </a:t>
            </a:r>
            <a:r>
              <a:rPr lang="en-GB" sz="2000" dirty="0" err="1"/>
              <a:t>unlabeled</a:t>
            </a:r>
            <a:r>
              <a:rPr lang="en-GB" sz="2000" dirty="0"/>
              <a:t> data (no predefined output). Examples: Clustering (e.g., customer segmentation), Dimensionality reduction.</a:t>
            </a:r>
          </a:p>
          <a:p>
            <a:pPr marL="457200" indent="-457200">
              <a:buFont typeface="Arial" panose="020B0604020202020204" pitchFamily="34" charset="0"/>
              <a:buChar char="•"/>
            </a:pPr>
            <a:endParaRPr lang="en-GB" sz="2000" dirty="0"/>
          </a:p>
          <a:p>
            <a:pPr marL="342900" indent="-342900">
              <a:buFont typeface="Arial" panose="020B0604020202020204" pitchFamily="34" charset="0"/>
              <a:buChar char="•"/>
            </a:pPr>
            <a:r>
              <a:rPr lang="en-GB" sz="2000" b="1" dirty="0">
                <a:solidFill>
                  <a:schemeClr val="accent2">
                    <a:lumMod val="75000"/>
                  </a:schemeClr>
                </a:solidFill>
              </a:rPr>
              <a:t>Semi-Supervised Learning:</a:t>
            </a:r>
            <a:r>
              <a:rPr lang="en-GB" sz="2000" dirty="0"/>
              <a:t> A hybrid approach that uses a small amount of </a:t>
            </a:r>
            <a:r>
              <a:rPr lang="en-GB" sz="2000" dirty="0" err="1"/>
              <a:t>labeled</a:t>
            </a:r>
            <a:r>
              <a:rPr lang="en-GB" sz="2000" dirty="0"/>
              <a:t> data together with a large amount of </a:t>
            </a:r>
            <a:r>
              <a:rPr lang="en-GB" sz="2000" dirty="0" err="1"/>
              <a:t>unlabeled</a:t>
            </a:r>
            <a:r>
              <a:rPr lang="en-GB" sz="2000" dirty="0"/>
              <a:t> data for training. Model is first trained using small set of </a:t>
            </a:r>
            <a:r>
              <a:rPr lang="en-GB" sz="2000" dirty="0" err="1"/>
              <a:t>labeled</a:t>
            </a:r>
            <a:r>
              <a:rPr lang="en-GB" sz="2000" dirty="0"/>
              <a:t> data. Then the trained model is used to predict the labels(pseudo) of </a:t>
            </a:r>
            <a:r>
              <a:rPr lang="en-GB" sz="2000" dirty="0" err="1"/>
              <a:t>unlabeled</a:t>
            </a:r>
            <a:r>
              <a:rPr lang="en-GB" sz="2000" dirty="0"/>
              <a:t> data. Then all data are combined and trained the model with huge </a:t>
            </a:r>
            <a:r>
              <a:rPr lang="en-GB" sz="2000" dirty="0" err="1"/>
              <a:t>labeled</a:t>
            </a:r>
            <a:r>
              <a:rPr lang="en-GB" sz="2000" dirty="0"/>
              <a:t>(true + pseudo) data.</a:t>
            </a:r>
          </a:p>
        </p:txBody>
      </p:sp>
    </p:spTree>
    <p:extLst>
      <p:ext uri="{BB962C8B-B14F-4D97-AF65-F5344CB8AC3E}">
        <p14:creationId xmlns:p14="http://schemas.microsoft.com/office/powerpoint/2010/main" val="1158145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52110" y="317099"/>
            <a:ext cx="10212280" cy="5940088"/>
          </a:xfrm>
          <a:prstGeom prst="rect">
            <a:avLst/>
          </a:prstGeom>
          <a:noFill/>
        </p:spPr>
        <p:txBody>
          <a:bodyPr wrap="square" lIns="91440" tIns="45720" rIns="91440" bIns="45720">
            <a:spAutoFit/>
          </a:bodyPr>
          <a:lstStyle/>
          <a:p>
            <a:pPr marL="342900" indent="-342900">
              <a:buFont typeface="Arial" panose="020B0604020202020204" pitchFamily="34" charset="0"/>
              <a:buChar char="•"/>
            </a:pPr>
            <a:r>
              <a:rPr lang="en-US" sz="2000" b="1" dirty="0">
                <a:solidFill>
                  <a:schemeClr val="accent2">
                    <a:lumMod val="75000"/>
                  </a:schemeClr>
                </a:solidFill>
              </a:rPr>
              <a:t>Reinforcement learning: </a:t>
            </a:r>
            <a:r>
              <a:rPr lang="en-US" sz="2000" dirty="0"/>
              <a:t>Reinforcement learning is a machine learning training method based on rewarding desired behaviors and/or punishing undesired ones. It helps an agent to maximize its cumulative reward. Example: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lvl="1"/>
            <a:r>
              <a:rPr lang="en-US" sz="2000" dirty="0"/>
              <a:t>The above image shows the robot, diamond, and fire. The goal of the robot is to get the reward that is the diamond and avoid the hurdles that are fire. The robot learns by trying all the possible paths and then choosing the path which gives him the reward with the least hurdles. Each right step will give the robot a reward and each wrong step will subtract the reward of the robot. The total reward will be calculated when it reaches the final reward that is the diamond.</a:t>
            </a:r>
          </a:p>
        </p:txBody>
      </p:sp>
      <p:pic>
        <p:nvPicPr>
          <p:cNvPr id="2" name="Picture 1"/>
          <p:cNvPicPr>
            <a:picLocks noChangeAspect="1"/>
          </p:cNvPicPr>
          <p:nvPr/>
        </p:nvPicPr>
        <p:blipFill>
          <a:blip r:embed="rId2"/>
          <a:stretch>
            <a:fillRect/>
          </a:stretch>
        </p:blipFill>
        <p:spPr>
          <a:xfrm>
            <a:off x="3973596" y="1473199"/>
            <a:ext cx="4007899" cy="2683401"/>
          </a:xfrm>
          <a:prstGeom prst="rect">
            <a:avLst/>
          </a:prstGeom>
        </p:spPr>
      </p:pic>
    </p:spTree>
    <p:extLst>
      <p:ext uri="{BB962C8B-B14F-4D97-AF65-F5344CB8AC3E}">
        <p14:creationId xmlns:p14="http://schemas.microsoft.com/office/powerpoint/2010/main" val="3198376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13906" y="970326"/>
            <a:ext cx="9372600" cy="5248275"/>
          </a:xfrm>
          <a:prstGeom prst="rect">
            <a:avLst/>
          </a:prstGeom>
        </p:spPr>
      </p:pic>
    </p:spTree>
    <p:extLst>
      <p:ext uri="{BB962C8B-B14F-4D97-AF65-F5344CB8AC3E}">
        <p14:creationId xmlns:p14="http://schemas.microsoft.com/office/powerpoint/2010/main" val="2705450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029096" y="463050"/>
            <a:ext cx="7423921" cy="6111917"/>
            <a:chOff x="2029096" y="463050"/>
            <a:chExt cx="7423921" cy="6111917"/>
          </a:xfrm>
        </p:grpSpPr>
        <p:pic>
          <p:nvPicPr>
            <p:cNvPr id="2" name="Picture 1"/>
            <p:cNvPicPr>
              <a:picLocks noChangeAspect="1"/>
            </p:cNvPicPr>
            <p:nvPr/>
          </p:nvPicPr>
          <p:blipFill>
            <a:blip r:embed="rId2"/>
            <a:stretch>
              <a:fillRect/>
            </a:stretch>
          </p:blipFill>
          <p:spPr>
            <a:xfrm>
              <a:off x="2029096" y="463050"/>
              <a:ext cx="7423921" cy="3386017"/>
            </a:xfrm>
            <a:prstGeom prst="rect">
              <a:avLst/>
            </a:prstGeom>
          </p:spPr>
        </p:pic>
        <p:pic>
          <p:nvPicPr>
            <p:cNvPr id="4" name="Picture 3"/>
            <p:cNvPicPr>
              <a:picLocks noChangeAspect="1"/>
            </p:cNvPicPr>
            <p:nvPr/>
          </p:nvPicPr>
          <p:blipFill>
            <a:blip r:embed="rId3"/>
            <a:stretch>
              <a:fillRect/>
            </a:stretch>
          </p:blipFill>
          <p:spPr>
            <a:xfrm>
              <a:off x="2515755" y="3816929"/>
              <a:ext cx="6797714" cy="2758038"/>
            </a:xfrm>
            <a:prstGeom prst="rect">
              <a:avLst/>
            </a:prstGeom>
          </p:spPr>
        </p:pic>
      </p:grpSp>
    </p:spTree>
    <p:extLst>
      <p:ext uri="{BB962C8B-B14F-4D97-AF65-F5344CB8AC3E}">
        <p14:creationId xmlns:p14="http://schemas.microsoft.com/office/powerpoint/2010/main" val="4148854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080397" y="505505"/>
            <a:ext cx="7917044" cy="2465431"/>
          </a:xfrm>
          <a:prstGeom prst="rect">
            <a:avLst/>
          </a:prstGeom>
        </p:spPr>
      </p:pic>
      <p:pic>
        <p:nvPicPr>
          <p:cNvPr id="6" name="Picture 5"/>
          <p:cNvPicPr>
            <a:picLocks noChangeAspect="1"/>
          </p:cNvPicPr>
          <p:nvPr/>
        </p:nvPicPr>
        <p:blipFill>
          <a:blip r:embed="rId3"/>
          <a:stretch>
            <a:fillRect/>
          </a:stretch>
        </p:blipFill>
        <p:spPr>
          <a:xfrm>
            <a:off x="2224564" y="2970936"/>
            <a:ext cx="7489372" cy="3756401"/>
          </a:xfrm>
          <a:prstGeom prst="rect">
            <a:avLst/>
          </a:prstGeom>
        </p:spPr>
      </p:pic>
    </p:spTree>
    <p:extLst>
      <p:ext uri="{BB962C8B-B14F-4D97-AF65-F5344CB8AC3E}">
        <p14:creationId xmlns:p14="http://schemas.microsoft.com/office/powerpoint/2010/main" val="3542430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15886" y="954294"/>
            <a:ext cx="8215521" cy="4593066"/>
          </a:xfrm>
          <a:prstGeom prst="rect">
            <a:avLst/>
          </a:prstGeom>
        </p:spPr>
      </p:pic>
    </p:spTree>
    <p:extLst>
      <p:ext uri="{BB962C8B-B14F-4D97-AF65-F5344CB8AC3E}">
        <p14:creationId xmlns:p14="http://schemas.microsoft.com/office/powerpoint/2010/main" val="3725993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103129" y="714103"/>
            <a:ext cx="7983030" cy="4811349"/>
          </a:xfrm>
          <a:prstGeom prst="rect">
            <a:avLst/>
          </a:prstGeom>
        </p:spPr>
      </p:pic>
    </p:spTree>
    <p:extLst>
      <p:ext uri="{BB962C8B-B14F-4D97-AF65-F5344CB8AC3E}">
        <p14:creationId xmlns:p14="http://schemas.microsoft.com/office/powerpoint/2010/main" val="1530055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38980" y="513669"/>
            <a:ext cx="8391525" cy="5133975"/>
          </a:xfrm>
          <a:prstGeom prst="rect">
            <a:avLst/>
          </a:prstGeom>
        </p:spPr>
      </p:pic>
    </p:spTree>
    <p:extLst>
      <p:ext uri="{BB962C8B-B14F-4D97-AF65-F5344CB8AC3E}">
        <p14:creationId xmlns:p14="http://schemas.microsoft.com/office/powerpoint/2010/main" val="1191338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52525" y="900112"/>
            <a:ext cx="9886950" cy="5057775"/>
          </a:xfrm>
          <a:prstGeom prst="rect">
            <a:avLst/>
          </a:prstGeom>
        </p:spPr>
      </p:pic>
    </p:spTree>
    <p:extLst>
      <p:ext uri="{BB962C8B-B14F-4D97-AF65-F5344CB8AC3E}">
        <p14:creationId xmlns:p14="http://schemas.microsoft.com/office/powerpoint/2010/main" val="3239075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00175" y="819150"/>
            <a:ext cx="9196766" cy="5111387"/>
          </a:xfrm>
          <a:prstGeom prst="rect">
            <a:avLst/>
          </a:prstGeom>
        </p:spPr>
      </p:pic>
    </p:spTree>
    <p:extLst>
      <p:ext uri="{BB962C8B-B14F-4D97-AF65-F5344CB8AC3E}">
        <p14:creationId xmlns:p14="http://schemas.microsoft.com/office/powerpoint/2010/main" val="1515596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502353" y="287519"/>
            <a:ext cx="6087653" cy="3030447"/>
          </a:xfrm>
          <a:prstGeom prst="rect">
            <a:avLst/>
          </a:prstGeom>
        </p:spPr>
      </p:pic>
      <p:sp>
        <p:nvSpPr>
          <p:cNvPr id="4" name="Rectangle 3"/>
          <p:cNvSpPr/>
          <p:nvPr/>
        </p:nvSpPr>
        <p:spPr>
          <a:xfrm>
            <a:off x="2612571" y="4258202"/>
            <a:ext cx="1991269" cy="1569660"/>
          </a:xfrm>
          <a:prstGeom prst="rect">
            <a:avLst/>
          </a:prstGeom>
        </p:spPr>
        <p:txBody>
          <a:bodyPr wrap="square">
            <a:spAutoFit/>
          </a:bodyPr>
          <a:lstStyle/>
          <a:p>
            <a:r>
              <a:rPr lang="en-GB" sz="1600" dirty="0">
                <a:latin typeface="arial" panose="020B0604020202020204" pitchFamily="34" charset="0"/>
              </a:rPr>
              <a:t>Big Data is a collection of data that is huge in volume, yet growing exponentially with time.</a:t>
            </a:r>
            <a:endParaRPr lang="en-GB" sz="1600" dirty="0"/>
          </a:p>
        </p:txBody>
      </p:sp>
      <p:pic>
        <p:nvPicPr>
          <p:cNvPr id="5" name="Picture 4"/>
          <p:cNvPicPr>
            <a:picLocks noChangeAspect="1"/>
          </p:cNvPicPr>
          <p:nvPr/>
        </p:nvPicPr>
        <p:blipFill>
          <a:blip r:embed="rId3"/>
          <a:stretch>
            <a:fillRect/>
          </a:stretch>
        </p:blipFill>
        <p:spPr>
          <a:xfrm>
            <a:off x="2612571" y="3393420"/>
            <a:ext cx="5977435" cy="789328"/>
          </a:xfrm>
          <a:prstGeom prst="rect">
            <a:avLst/>
          </a:prstGeom>
        </p:spPr>
      </p:pic>
      <p:pic>
        <p:nvPicPr>
          <p:cNvPr id="1026" name="Picture 2" descr="Top 9 Real-Time Big Data Applications in Today's World in 2023 | Big data, Cloud computing services, Big data analytics"/>
          <p:cNvPicPr>
            <a:picLocks noChangeAspect="1" noChangeArrowheads="1"/>
          </p:cNvPicPr>
          <p:nvPr/>
        </p:nvPicPr>
        <p:blipFill rotWithShape="1">
          <a:blip r:embed="rId4">
            <a:extLst>
              <a:ext uri="{28A0092B-C50C-407E-A947-70E740481C1C}">
                <a14:useLocalDpi xmlns:a14="http://schemas.microsoft.com/office/drawing/2010/main" val="0"/>
              </a:ext>
            </a:extLst>
          </a:blip>
          <a:srcRect l="15560" r="11582"/>
          <a:stretch/>
        </p:blipFill>
        <p:spPr bwMode="auto">
          <a:xfrm>
            <a:off x="4836249" y="4182748"/>
            <a:ext cx="3140802" cy="2256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0732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C103CAEC-EFA1-47CE-BACF-9A92008C31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3013" indent="-285774">
              <a:spcBef>
                <a:spcPct val="20000"/>
              </a:spcBef>
              <a:buChar char="–"/>
              <a:defRPr sz="2800">
                <a:solidFill>
                  <a:schemeClr val="tx1"/>
                </a:solidFill>
                <a:latin typeface="Times New Roman" panose="02020603050405020304" pitchFamily="18" charset="0"/>
              </a:defRPr>
            </a:lvl2pPr>
            <a:lvl3pPr marL="1143096" indent="-228619">
              <a:spcBef>
                <a:spcPct val="20000"/>
              </a:spcBef>
              <a:buChar char="•"/>
              <a:defRPr sz="1600">
                <a:solidFill>
                  <a:schemeClr val="tx1"/>
                </a:solidFill>
                <a:latin typeface="Times New Roman" panose="02020603050405020304" pitchFamily="18" charset="0"/>
              </a:defRPr>
            </a:lvl3pPr>
            <a:lvl4pPr marL="1600335" indent="-228619">
              <a:spcBef>
                <a:spcPct val="20000"/>
              </a:spcBef>
              <a:buChar char="–"/>
              <a:defRPr sz="1400">
                <a:solidFill>
                  <a:schemeClr val="tx1"/>
                </a:solidFill>
                <a:latin typeface="Times New Roman" panose="02020603050405020304" pitchFamily="18" charset="0"/>
              </a:defRPr>
            </a:lvl4pPr>
            <a:lvl5pPr marL="2057573" indent="-228619">
              <a:spcBef>
                <a:spcPct val="20000"/>
              </a:spcBef>
              <a:buChar char="»"/>
              <a:defRPr sz="1200">
                <a:solidFill>
                  <a:schemeClr val="tx1"/>
                </a:solidFill>
                <a:latin typeface="Times New Roman" panose="02020603050405020304" pitchFamily="18" charset="0"/>
              </a:defRPr>
            </a:lvl5pPr>
            <a:lvl6pPr marL="2514812" indent="-228619"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2050" indent="-228619"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289" indent="-228619"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527" indent="-228619"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425666B-B9E6-4D06-A4F9-06813418CEAE}" type="slidenum">
              <a:rPr lang="en-US" altLang="en-US" sz="800"/>
              <a:pPr>
                <a:spcBef>
                  <a:spcPct val="0"/>
                </a:spcBef>
                <a:buFontTx/>
                <a:buNone/>
              </a:pPr>
              <a:t>14</a:t>
            </a:fld>
            <a:endParaRPr lang="en-US" altLang="en-US" sz="800"/>
          </a:p>
        </p:txBody>
      </p:sp>
      <p:sp>
        <p:nvSpPr>
          <p:cNvPr id="4099" name="Rectangle 2">
            <a:extLst>
              <a:ext uri="{FF2B5EF4-FFF2-40B4-BE49-F238E27FC236}">
                <a16:creationId xmlns:a16="http://schemas.microsoft.com/office/drawing/2014/main" id="{F2724EA0-CABE-47D1-954E-AD8DE13BDA47}"/>
              </a:ext>
            </a:extLst>
          </p:cNvPr>
          <p:cNvSpPr>
            <a:spLocks noGrp="1" noChangeArrowheads="1"/>
          </p:cNvSpPr>
          <p:nvPr>
            <p:ph type="ctrTitle"/>
          </p:nvPr>
        </p:nvSpPr>
        <p:spPr>
          <a:xfrm>
            <a:off x="1690231" y="953270"/>
            <a:ext cx="8832496" cy="3550491"/>
          </a:xfrm>
        </p:spPr>
        <p:txBody>
          <a:bodyPr>
            <a:normAutofit/>
          </a:bodyPr>
          <a:lstStyle/>
          <a:p>
            <a:pPr defTabSz="914400" eaLnBrk="0" fontAlgn="base" hangingPunct="0">
              <a:lnSpc>
                <a:spcPct val="100000"/>
              </a:lnSpc>
              <a:spcAft>
                <a:spcPct val="0"/>
              </a:spcAft>
            </a:pPr>
            <a:br>
              <a:rPr lang="en-US" altLang="en-US" dirty="0"/>
            </a:br>
            <a:br>
              <a:rPr lang="en-US" altLang="en-US" sz="7301" b="1" dirty="0"/>
            </a:br>
            <a:endParaRPr lang="en-US" altLang="en-US" sz="3601" dirty="0"/>
          </a:p>
        </p:txBody>
      </p:sp>
      <p:pic>
        <p:nvPicPr>
          <p:cNvPr id="3" name="Picture 2"/>
          <p:cNvPicPr>
            <a:picLocks noChangeAspect="1"/>
          </p:cNvPicPr>
          <p:nvPr/>
        </p:nvPicPr>
        <p:blipFill>
          <a:blip r:embed="rId3"/>
          <a:stretch>
            <a:fillRect/>
          </a:stretch>
        </p:blipFill>
        <p:spPr>
          <a:xfrm>
            <a:off x="1271587" y="2514600"/>
            <a:ext cx="9648825" cy="1828800"/>
          </a:xfrm>
          <a:prstGeom prst="rect">
            <a:avLst/>
          </a:prstGeom>
        </p:spPr>
      </p:pic>
    </p:spTree>
    <p:extLst>
      <p:ext uri="{BB962C8B-B14F-4D97-AF65-F5344CB8AC3E}">
        <p14:creationId xmlns:p14="http://schemas.microsoft.com/office/powerpoint/2010/main" val="19931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2994012" y="120759"/>
            <a:ext cx="5898734" cy="6584729"/>
            <a:chOff x="2994012" y="120759"/>
            <a:chExt cx="5898734" cy="6584729"/>
          </a:xfrm>
        </p:grpSpPr>
        <p:pic>
          <p:nvPicPr>
            <p:cNvPr id="2" name="Picture 1"/>
            <p:cNvPicPr>
              <a:picLocks noChangeAspect="1"/>
            </p:cNvPicPr>
            <p:nvPr/>
          </p:nvPicPr>
          <p:blipFill>
            <a:blip r:embed="rId3"/>
            <a:stretch>
              <a:fillRect/>
            </a:stretch>
          </p:blipFill>
          <p:spPr>
            <a:xfrm>
              <a:off x="2994012" y="120759"/>
              <a:ext cx="5898734" cy="3186518"/>
            </a:xfrm>
            <a:prstGeom prst="rect">
              <a:avLst/>
            </a:prstGeom>
          </p:spPr>
        </p:pic>
        <p:pic>
          <p:nvPicPr>
            <p:cNvPr id="4" name="Picture 3"/>
            <p:cNvPicPr>
              <a:picLocks noChangeAspect="1"/>
            </p:cNvPicPr>
            <p:nvPr/>
          </p:nvPicPr>
          <p:blipFill>
            <a:blip r:embed="rId4"/>
            <a:stretch>
              <a:fillRect/>
            </a:stretch>
          </p:blipFill>
          <p:spPr>
            <a:xfrm>
              <a:off x="2994012" y="3464011"/>
              <a:ext cx="5898734" cy="3241477"/>
            </a:xfrm>
            <a:prstGeom prst="rect">
              <a:avLst/>
            </a:prstGeom>
          </p:spPr>
        </p:pic>
      </p:grpSp>
    </p:spTree>
    <p:extLst>
      <p:ext uri="{BB962C8B-B14F-4D97-AF65-F5344CB8AC3E}">
        <p14:creationId xmlns:p14="http://schemas.microsoft.com/office/powerpoint/2010/main" val="424478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378121" y="335961"/>
            <a:ext cx="6913926" cy="3146586"/>
          </a:xfrm>
          <a:prstGeom prst="rect">
            <a:avLst/>
          </a:prstGeom>
        </p:spPr>
      </p:pic>
      <p:grpSp>
        <p:nvGrpSpPr>
          <p:cNvPr id="11" name="Group 10"/>
          <p:cNvGrpSpPr/>
          <p:nvPr/>
        </p:nvGrpSpPr>
        <p:grpSpPr>
          <a:xfrm>
            <a:off x="2378121" y="3992401"/>
            <a:ext cx="7192599" cy="1981680"/>
            <a:chOff x="2378121" y="3722434"/>
            <a:chExt cx="7192599" cy="1981680"/>
          </a:xfrm>
        </p:grpSpPr>
        <p:grpSp>
          <p:nvGrpSpPr>
            <p:cNvPr id="10" name="Group 9"/>
            <p:cNvGrpSpPr/>
            <p:nvPr/>
          </p:nvGrpSpPr>
          <p:grpSpPr>
            <a:xfrm>
              <a:off x="2439081" y="4583866"/>
              <a:ext cx="7131639" cy="1120248"/>
              <a:chOff x="1589449" y="4765271"/>
              <a:chExt cx="8734425" cy="1323975"/>
            </a:xfrm>
          </p:grpSpPr>
          <p:pic>
            <p:nvPicPr>
              <p:cNvPr id="7" name="Picture 6"/>
              <p:cNvPicPr>
                <a:picLocks noChangeAspect="1"/>
              </p:cNvPicPr>
              <p:nvPr/>
            </p:nvPicPr>
            <p:blipFill>
              <a:blip r:embed="rId4"/>
              <a:stretch>
                <a:fillRect/>
              </a:stretch>
            </p:blipFill>
            <p:spPr>
              <a:xfrm>
                <a:off x="1589449" y="4765271"/>
                <a:ext cx="8620125" cy="657225"/>
              </a:xfrm>
              <a:prstGeom prst="rect">
                <a:avLst/>
              </a:prstGeom>
            </p:spPr>
          </p:pic>
          <p:pic>
            <p:nvPicPr>
              <p:cNvPr id="8" name="Picture 7"/>
              <p:cNvPicPr>
                <a:picLocks noChangeAspect="1"/>
              </p:cNvPicPr>
              <p:nvPr/>
            </p:nvPicPr>
            <p:blipFill>
              <a:blip r:embed="rId5"/>
              <a:stretch>
                <a:fillRect/>
              </a:stretch>
            </p:blipFill>
            <p:spPr>
              <a:xfrm>
                <a:off x="1589449" y="5422496"/>
                <a:ext cx="8734425" cy="666750"/>
              </a:xfrm>
              <a:prstGeom prst="rect">
                <a:avLst/>
              </a:prstGeom>
            </p:spPr>
          </p:pic>
        </p:grpSp>
        <p:pic>
          <p:nvPicPr>
            <p:cNvPr id="9" name="Picture 8"/>
            <p:cNvPicPr>
              <a:picLocks noChangeAspect="1"/>
            </p:cNvPicPr>
            <p:nvPr/>
          </p:nvPicPr>
          <p:blipFill>
            <a:blip r:embed="rId6"/>
            <a:stretch>
              <a:fillRect/>
            </a:stretch>
          </p:blipFill>
          <p:spPr>
            <a:xfrm>
              <a:off x="2378121" y="3722434"/>
              <a:ext cx="6913926" cy="752174"/>
            </a:xfrm>
            <a:prstGeom prst="rect">
              <a:avLst/>
            </a:prstGeom>
          </p:spPr>
        </p:pic>
      </p:grpSp>
    </p:spTree>
    <p:extLst>
      <p:ext uri="{BB962C8B-B14F-4D97-AF65-F5344CB8AC3E}">
        <p14:creationId xmlns:p14="http://schemas.microsoft.com/office/powerpoint/2010/main" val="889165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642258" y="768938"/>
            <a:ext cx="10121536" cy="5117118"/>
            <a:chOff x="642258" y="768938"/>
            <a:chExt cx="10121536" cy="5117118"/>
          </a:xfrm>
        </p:grpSpPr>
        <p:pic>
          <p:nvPicPr>
            <p:cNvPr id="2" name="Picture 1"/>
            <p:cNvPicPr>
              <a:picLocks noChangeAspect="1"/>
            </p:cNvPicPr>
            <p:nvPr/>
          </p:nvPicPr>
          <p:blipFill>
            <a:blip r:embed="rId3"/>
            <a:stretch>
              <a:fillRect/>
            </a:stretch>
          </p:blipFill>
          <p:spPr>
            <a:xfrm>
              <a:off x="642258" y="768938"/>
              <a:ext cx="5780952" cy="3759517"/>
            </a:xfrm>
            <a:prstGeom prst="rect">
              <a:avLst/>
            </a:prstGeom>
          </p:spPr>
        </p:pic>
        <p:sp>
          <p:nvSpPr>
            <p:cNvPr id="4" name="Rectangle 3"/>
            <p:cNvSpPr/>
            <p:nvPr/>
          </p:nvSpPr>
          <p:spPr>
            <a:xfrm>
              <a:off x="6714308" y="1053964"/>
              <a:ext cx="4049486" cy="4832092"/>
            </a:xfrm>
            <a:prstGeom prst="rect">
              <a:avLst/>
            </a:prstGeom>
          </p:spPr>
          <p:txBody>
            <a:bodyPr wrap="square">
              <a:spAutoFit/>
            </a:bodyPr>
            <a:lstStyle/>
            <a:p>
              <a:r>
                <a:rPr lang="en-GB" sz="1400" b="1" dirty="0">
                  <a:latin typeface="Söhne"/>
                </a:rPr>
                <a:t>Precision</a:t>
              </a:r>
              <a:r>
                <a:rPr lang="en-GB" sz="1400" dirty="0">
                  <a:latin typeface="Söhne"/>
                </a:rPr>
                <a:t> is biased toward false positives (FP).</a:t>
              </a:r>
            </a:p>
            <a:p>
              <a:pPr marL="285750" indent="-285750">
                <a:buFont typeface="Arial" panose="020B0604020202020204" pitchFamily="34" charset="0"/>
                <a:buChar char="•"/>
              </a:pPr>
              <a:r>
                <a:rPr lang="en-GB" sz="1400" dirty="0">
                  <a:latin typeface="Söhne"/>
                </a:rPr>
                <a:t>High precision = very few false positives.</a:t>
              </a:r>
            </a:p>
            <a:p>
              <a:pPr marL="285750" indent="-285750">
                <a:buFont typeface="Arial" panose="020B0604020202020204" pitchFamily="34" charset="0"/>
                <a:buChar char="•"/>
              </a:pPr>
              <a:r>
                <a:rPr lang="en-GB" sz="1400" dirty="0">
                  <a:latin typeface="Söhne"/>
                </a:rPr>
                <a:t>If your model predicts “positive,” you can trust it more.</a:t>
              </a:r>
            </a:p>
            <a:p>
              <a:pPr marL="285750" indent="-285750">
                <a:buFont typeface="Arial" panose="020B0604020202020204" pitchFamily="34" charset="0"/>
                <a:buChar char="•"/>
              </a:pPr>
              <a:r>
                <a:rPr lang="en-GB" sz="1400" dirty="0">
                  <a:latin typeface="Söhne"/>
                </a:rPr>
                <a:t>Example: In spam detection → high precision means very few legitimate emails are wrongly flagged as spam.</a:t>
              </a:r>
            </a:p>
            <a:p>
              <a:pPr marL="285750" indent="-285750">
                <a:buFont typeface="Arial" panose="020B0604020202020204" pitchFamily="34" charset="0"/>
                <a:buChar char="•"/>
              </a:pPr>
              <a:endParaRPr lang="en-GB" sz="1400" dirty="0"/>
            </a:p>
            <a:p>
              <a:r>
                <a:rPr lang="en-GB" sz="1400" b="1" dirty="0">
                  <a:latin typeface="Söhne"/>
                </a:rPr>
                <a:t>Recall</a:t>
              </a:r>
              <a:r>
                <a:rPr lang="en-GB" sz="1400" dirty="0">
                  <a:latin typeface="Söhne"/>
                </a:rPr>
                <a:t> is biased toward false negatives (FN).</a:t>
              </a:r>
            </a:p>
            <a:p>
              <a:pPr marL="285750" indent="-285750">
                <a:buFont typeface="Arial" panose="020B0604020202020204" pitchFamily="34" charset="0"/>
                <a:buChar char="•"/>
              </a:pPr>
              <a:r>
                <a:rPr lang="en-GB" sz="1400" dirty="0">
                  <a:latin typeface="Söhne"/>
                </a:rPr>
                <a:t>High recall = very few false negatives.</a:t>
              </a:r>
            </a:p>
            <a:p>
              <a:pPr marL="285750" indent="-285750">
                <a:buFont typeface="Arial" panose="020B0604020202020204" pitchFamily="34" charset="0"/>
                <a:buChar char="•"/>
              </a:pPr>
              <a:r>
                <a:rPr lang="en-GB" sz="1400" dirty="0">
                  <a:latin typeface="Söhne"/>
                </a:rPr>
                <a:t>If something is positive, the model rarely misses it.</a:t>
              </a:r>
            </a:p>
            <a:p>
              <a:pPr marL="285750" indent="-285750">
                <a:buFont typeface="Arial" panose="020B0604020202020204" pitchFamily="34" charset="0"/>
                <a:buChar char="•"/>
              </a:pPr>
              <a:r>
                <a:rPr lang="en-GB" sz="1400" dirty="0">
                  <a:latin typeface="Söhne"/>
                </a:rPr>
                <a:t>Example: In disease detection → high recall means you catch most sick patients, even if you sometimes wrongly classify healthy people.</a:t>
              </a:r>
            </a:p>
            <a:p>
              <a:pPr marL="285750" indent="-285750">
                <a:buFont typeface="Arial" panose="020B0604020202020204" pitchFamily="34" charset="0"/>
                <a:buChar char="•"/>
              </a:pPr>
              <a:endParaRPr lang="en-GB" sz="1400" dirty="0">
                <a:latin typeface="Söhne"/>
              </a:endParaRPr>
            </a:p>
            <a:p>
              <a:r>
                <a:rPr lang="en-GB" sz="1400" dirty="0">
                  <a:latin typeface="Söhne"/>
                </a:rPr>
                <a:t>If the model makes a lot of false positives, using </a:t>
              </a:r>
              <a:r>
                <a:rPr lang="en-GB" sz="1400" b="1" dirty="0">
                  <a:latin typeface="Söhne"/>
                </a:rPr>
                <a:t>F1-score</a:t>
              </a:r>
              <a:r>
                <a:rPr lang="en-GB" sz="1400" dirty="0">
                  <a:latin typeface="Söhne"/>
                </a:rPr>
                <a:t> can be useful in evaluating its performance. F1-score combines both precision and recall into a single metric, providing a balanced measure of the model's accuracy that accounts for both false positives and false negatives.</a:t>
              </a:r>
            </a:p>
          </p:txBody>
        </p:sp>
      </p:grpSp>
    </p:spTree>
    <p:extLst>
      <p:ext uri="{BB962C8B-B14F-4D97-AF65-F5344CB8AC3E}">
        <p14:creationId xmlns:p14="http://schemas.microsoft.com/office/powerpoint/2010/main" val="1128353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099457" y="834661"/>
            <a:ext cx="9890760" cy="5168327"/>
          </a:xfrm>
          <a:prstGeom prst="rect">
            <a:avLst/>
          </a:prstGeom>
        </p:spPr>
      </p:pic>
    </p:spTree>
    <p:extLst>
      <p:ext uri="{BB962C8B-B14F-4D97-AF65-F5344CB8AC3E}">
        <p14:creationId xmlns:p14="http://schemas.microsoft.com/office/powerpoint/2010/main" val="1636045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772678" y="1230493"/>
            <a:ext cx="7455788" cy="4177530"/>
          </a:xfrm>
          <a:prstGeom prst="rect">
            <a:avLst/>
          </a:prstGeom>
        </p:spPr>
      </p:pic>
    </p:spTree>
    <p:extLst>
      <p:ext uri="{BB962C8B-B14F-4D97-AF65-F5344CB8AC3E}">
        <p14:creationId xmlns:p14="http://schemas.microsoft.com/office/powerpoint/2010/main" val="4098680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795890" y="487679"/>
            <a:ext cx="5967624" cy="3361510"/>
          </a:xfrm>
          <a:prstGeom prst="rect">
            <a:avLst/>
          </a:prstGeom>
        </p:spPr>
      </p:pic>
      <p:pic>
        <p:nvPicPr>
          <p:cNvPr id="4" name="Picture 3"/>
          <p:cNvPicPr>
            <a:picLocks noChangeAspect="1"/>
          </p:cNvPicPr>
          <p:nvPr/>
        </p:nvPicPr>
        <p:blipFill>
          <a:blip r:embed="rId4"/>
          <a:stretch>
            <a:fillRect/>
          </a:stretch>
        </p:blipFill>
        <p:spPr>
          <a:xfrm>
            <a:off x="2795890" y="4071871"/>
            <a:ext cx="5860430" cy="2601050"/>
          </a:xfrm>
          <a:prstGeom prst="rect">
            <a:avLst/>
          </a:prstGeom>
        </p:spPr>
      </p:pic>
    </p:spTree>
    <p:extLst>
      <p:ext uri="{BB962C8B-B14F-4D97-AF65-F5344CB8AC3E}">
        <p14:creationId xmlns:p14="http://schemas.microsoft.com/office/powerpoint/2010/main" val="1598727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2843758" y="467162"/>
            <a:ext cx="6396035" cy="5881250"/>
            <a:chOff x="2843758" y="467162"/>
            <a:chExt cx="6396035" cy="5881250"/>
          </a:xfrm>
        </p:grpSpPr>
        <p:pic>
          <p:nvPicPr>
            <p:cNvPr id="3" name="Picture 2"/>
            <p:cNvPicPr>
              <a:picLocks noChangeAspect="1"/>
            </p:cNvPicPr>
            <p:nvPr/>
          </p:nvPicPr>
          <p:blipFill>
            <a:blip r:embed="rId3"/>
            <a:stretch>
              <a:fillRect/>
            </a:stretch>
          </p:blipFill>
          <p:spPr>
            <a:xfrm>
              <a:off x="2939550" y="467162"/>
              <a:ext cx="6300243" cy="2667924"/>
            </a:xfrm>
            <a:prstGeom prst="rect">
              <a:avLst/>
            </a:prstGeom>
          </p:spPr>
        </p:pic>
        <p:pic>
          <p:nvPicPr>
            <p:cNvPr id="5" name="Picture 4"/>
            <p:cNvPicPr>
              <a:picLocks noChangeAspect="1"/>
            </p:cNvPicPr>
            <p:nvPr/>
          </p:nvPicPr>
          <p:blipFill>
            <a:blip r:embed="rId4"/>
            <a:stretch>
              <a:fillRect/>
            </a:stretch>
          </p:blipFill>
          <p:spPr>
            <a:xfrm>
              <a:off x="2843758" y="3587932"/>
              <a:ext cx="6143871" cy="2760480"/>
            </a:xfrm>
            <a:prstGeom prst="rect">
              <a:avLst/>
            </a:prstGeom>
          </p:spPr>
        </p:pic>
        <p:pic>
          <p:nvPicPr>
            <p:cNvPr id="6" name="Picture 5"/>
            <p:cNvPicPr>
              <a:picLocks noChangeAspect="1"/>
            </p:cNvPicPr>
            <p:nvPr/>
          </p:nvPicPr>
          <p:blipFill rotWithShape="1">
            <a:blip r:embed="rId5"/>
            <a:srcRect b="17159"/>
            <a:stretch/>
          </p:blipFill>
          <p:spPr>
            <a:xfrm>
              <a:off x="2843758" y="3450090"/>
              <a:ext cx="5391150" cy="686481"/>
            </a:xfrm>
            <a:prstGeom prst="rect">
              <a:avLst/>
            </a:prstGeom>
          </p:spPr>
        </p:pic>
      </p:grpSp>
    </p:spTree>
    <p:extLst>
      <p:ext uri="{BB962C8B-B14F-4D97-AF65-F5344CB8AC3E}">
        <p14:creationId xmlns:p14="http://schemas.microsoft.com/office/powerpoint/2010/main" val="3106229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738439" y="570546"/>
            <a:ext cx="6083344" cy="2139759"/>
          </a:xfrm>
          <a:prstGeom prst="rect">
            <a:avLst/>
          </a:prstGeom>
        </p:spPr>
      </p:pic>
      <p:pic>
        <p:nvPicPr>
          <p:cNvPr id="4" name="Picture 3"/>
          <p:cNvPicPr>
            <a:picLocks noChangeAspect="1"/>
          </p:cNvPicPr>
          <p:nvPr/>
        </p:nvPicPr>
        <p:blipFill>
          <a:blip r:embed="rId4"/>
          <a:stretch>
            <a:fillRect/>
          </a:stretch>
        </p:blipFill>
        <p:spPr>
          <a:xfrm>
            <a:off x="2508068" y="3283131"/>
            <a:ext cx="7137982" cy="3435531"/>
          </a:xfrm>
          <a:prstGeom prst="rect">
            <a:avLst/>
          </a:prstGeom>
        </p:spPr>
      </p:pic>
    </p:spTree>
    <p:extLst>
      <p:ext uri="{BB962C8B-B14F-4D97-AF65-F5344CB8AC3E}">
        <p14:creationId xmlns:p14="http://schemas.microsoft.com/office/powerpoint/2010/main" val="2213718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183810" y="330907"/>
            <a:ext cx="7308532" cy="1793841"/>
          </a:xfrm>
          <a:prstGeom prst="rect">
            <a:avLst/>
          </a:prstGeom>
        </p:spPr>
      </p:pic>
      <p:pic>
        <p:nvPicPr>
          <p:cNvPr id="4" name="Picture 3"/>
          <p:cNvPicPr>
            <a:picLocks noChangeAspect="1"/>
          </p:cNvPicPr>
          <p:nvPr/>
        </p:nvPicPr>
        <p:blipFill>
          <a:blip r:embed="rId4"/>
          <a:stretch>
            <a:fillRect/>
          </a:stretch>
        </p:blipFill>
        <p:spPr>
          <a:xfrm>
            <a:off x="1972085" y="2560319"/>
            <a:ext cx="6809954" cy="3826329"/>
          </a:xfrm>
          <a:prstGeom prst="rect">
            <a:avLst/>
          </a:prstGeom>
        </p:spPr>
      </p:pic>
    </p:spTree>
    <p:extLst>
      <p:ext uri="{BB962C8B-B14F-4D97-AF65-F5344CB8AC3E}">
        <p14:creationId xmlns:p14="http://schemas.microsoft.com/office/powerpoint/2010/main" val="3995776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115774" y="111346"/>
            <a:ext cx="6592797" cy="2817374"/>
          </a:xfrm>
          <a:prstGeom prst="rect">
            <a:avLst/>
          </a:prstGeom>
        </p:spPr>
      </p:pic>
      <p:pic>
        <p:nvPicPr>
          <p:cNvPr id="5" name="Picture 4"/>
          <p:cNvPicPr>
            <a:picLocks noChangeAspect="1"/>
          </p:cNvPicPr>
          <p:nvPr/>
        </p:nvPicPr>
        <p:blipFill>
          <a:blip r:embed="rId4"/>
          <a:stretch>
            <a:fillRect/>
          </a:stretch>
        </p:blipFill>
        <p:spPr>
          <a:xfrm>
            <a:off x="2121357" y="3041931"/>
            <a:ext cx="6501098" cy="3695520"/>
          </a:xfrm>
          <a:prstGeom prst="rect">
            <a:avLst/>
          </a:prstGeom>
        </p:spPr>
      </p:pic>
    </p:spTree>
    <p:extLst>
      <p:ext uri="{BB962C8B-B14F-4D97-AF65-F5344CB8AC3E}">
        <p14:creationId xmlns:p14="http://schemas.microsoft.com/office/powerpoint/2010/main" val="1769902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1585143" y="364559"/>
            <a:ext cx="8220790" cy="3667603"/>
            <a:chOff x="1114881" y="268765"/>
            <a:chExt cx="8220790" cy="3667603"/>
          </a:xfrm>
        </p:grpSpPr>
        <p:grpSp>
          <p:nvGrpSpPr>
            <p:cNvPr id="9" name="Group 8"/>
            <p:cNvGrpSpPr/>
            <p:nvPr/>
          </p:nvGrpSpPr>
          <p:grpSpPr>
            <a:xfrm>
              <a:off x="1114881" y="268765"/>
              <a:ext cx="8220790" cy="3667603"/>
              <a:chOff x="2208575" y="358412"/>
              <a:chExt cx="8220790" cy="3667603"/>
            </a:xfrm>
          </p:grpSpPr>
          <p:grpSp>
            <p:nvGrpSpPr>
              <p:cNvPr id="8" name="Group 7"/>
              <p:cNvGrpSpPr/>
              <p:nvPr/>
            </p:nvGrpSpPr>
            <p:grpSpPr>
              <a:xfrm>
                <a:off x="2208575" y="358412"/>
                <a:ext cx="7032916" cy="3667603"/>
                <a:chOff x="2208575" y="358412"/>
                <a:chExt cx="7032916" cy="3667603"/>
              </a:xfrm>
            </p:grpSpPr>
            <p:pic>
              <p:nvPicPr>
                <p:cNvPr id="2" name="Picture 1"/>
                <p:cNvPicPr>
                  <a:picLocks noChangeAspect="1"/>
                </p:cNvPicPr>
                <p:nvPr/>
              </p:nvPicPr>
              <p:blipFill>
                <a:blip r:embed="rId3"/>
                <a:stretch>
                  <a:fillRect/>
                </a:stretch>
              </p:blipFill>
              <p:spPr>
                <a:xfrm>
                  <a:off x="2208575" y="358412"/>
                  <a:ext cx="6848339" cy="3607540"/>
                </a:xfrm>
                <a:prstGeom prst="rect">
                  <a:avLst/>
                </a:prstGeom>
              </p:spPr>
            </p:pic>
            <p:pic>
              <p:nvPicPr>
                <p:cNvPr id="7" name="Picture 6"/>
                <p:cNvPicPr>
                  <a:picLocks noChangeAspect="1"/>
                </p:cNvPicPr>
                <p:nvPr/>
              </p:nvPicPr>
              <p:blipFill>
                <a:blip r:embed="rId4"/>
                <a:stretch>
                  <a:fillRect/>
                </a:stretch>
              </p:blipFill>
              <p:spPr>
                <a:xfrm>
                  <a:off x="6231591" y="1197090"/>
                  <a:ext cx="3009900" cy="2828925"/>
                </a:xfrm>
                <a:prstGeom prst="rect">
                  <a:avLst/>
                </a:prstGeom>
              </p:spPr>
            </p:pic>
          </p:grpSp>
          <p:pic>
            <p:nvPicPr>
              <p:cNvPr id="6" name="Picture 5"/>
              <p:cNvPicPr>
                <a:picLocks noChangeAspect="1"/>
              </p:cNvPicPr>
              <p:nvPr/>
            </p:nvPicPr>
            <p:blipFill>
              <a:blip r:embed="rId5"/>
              <a:stretch>
                <a:fillRect/>
              </a:stretch>
            </p:blipFill>
            <p:spPr>
              <a:xfrm>
                <a:off x="8010079" y="1374218"/>
                <a:ext cx="2419286" cy="2292348"/>
              </a:xfrm>
              <a:prstGeom prst="rect">
                <a:avLst/>
              </a:prstGeom>
            </p:spPr>
          </p:pic>
        </p:grpSp>
        <p:pic>
          <p:nvPicPr>
            <p:cNvPr id="4" name="Picture 3"/>
            <p:cNvPicPr>
              <a:picLocks noChangeAspect="1"/>
            </p:cNvPicPr>
            <p:nvPr/>
          </p:nvPicPr>
          <p:blipFill>
            <a:blip r:embed="rId6"/>
            <a:stretch>
              <a:fillRect/>
            </a:stretch>
          </p:blipFill>
          <p:spPr>
            <a:xfrm>
              <a:off x="1114881" y="2664823"/>
              <a:ext cx="6137564" cy="993768"/>
            </a:xfrm>
            <a:prstGeom prst="rect">
              <a:avLst/>
            </a:prstGeom>
          </p:spPr>
        </p:pic>
      </p:grpSp>
    </p:spTree>
    <p:extLst>
      <p:ext uri="{BB962C8B-B14F-4D97-AF65-F5344CB8AC3E}">
        <p14:creationId xmlns:p14="http://schemas.microsoft.com/office/powerpoint/2010/main" val="1830735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368884" y="879658"/>
            <a:ext cx="8687491" cy="4493530"/>
          </a:xfrm>
          <a:prstGeom prst="rect">
            <a:avLst/>
          </a:prstGeom>
        </p:spPr>
      </p:pic>
    </p:spTree>
    <p:extLst>
      <p:ext uri="{BB962C8B-B14F-4D97-AF65-F5344CB8AC3E}">
        <p14:creationId xmlns:p14="http://schemas.microsoft.com/office/powerpoint/2010/main" val="75472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214437" y="790575"/>
            <a:ext cx="9763125" cy="5276850"/>
          </a:xfrm>
          <a:prstGeom prst="rect">
            <a:avLst/>
          </a:prstGeom>
        </p:spPr>
      </p:pic>
    </p:spTree>
    <p:extLst>
      <p:ext uri="{BB962C8B-B14F-4D97-AF65-F5344CB8AC3E}">
        <p14:creationId xmlns:p14="http://schemas.microsoft.com/office/powerpoint/2010/main" val="2524355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860913" y="547824"/>
            <a:ext cx="8191500" cy="2609850"/>
          </a:xfrm>
          <a:prstGeom prst="rect">
            <a:avLst/>
          </a:prstGeom>
        </p:spPr>
      </p:pic>
      <p:pic>
        <p:nvPicPr>
          <p:cNvPr id="4" name="Picture 3"/>
          <p:cNvPicPr>
            <a:picLocks noChangeAspect="1"/>
          </p:cNvPicPr>
          <p:nvPr/>
        </p:nvPicPr>
        <p:blipFill>
          <a:blip r:embed="rId4"/>
          <a:stretch>
            <a:fillRect/>
          </a:stretch>
        </p:blipFill>
        <p:spPr>
          <a:xfrm>
            <a:off x="1860913" y="3759110"/>
            <a:ext cx="6724650" cy="2457450"/>
          </a:xfrm>
          <a:prstGeom prst="rect">
            <a:avLst/>
          </a:prstGeom>
        </p:spPr>
      </p:pic>
    </p:spTree>
    <p:extLst>
      <p:ext uri="{BB962C8B-B14F-4D97-AF65-F5344CB8AC3E}">
        <p14:creationId xmlns:p14="http://schemas.microsoft.com/office/powerpoint/2010/main" val="3741586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212471" y="187674"/>
            <a:ext cx="7610390" cy="3492137"/>
          </a:xfrm>
          <a:prstGeom prst="rect">
            <a:avLst/>
          </a:prstGeom>
        </p:spPr>
      </p:pic>
      <p:sp>
        <p:nvSpPr>
          <p:cNvPr id="4" name="TextBox 3">
            <a:extLst>
              <a:ext uri="{FF2B5EF4-FFF2-40B4-BE49-F238E27FC236}">
                <a16:creationId xmlns:a16="http://schemas.microsoft.com/office/drawing/2014/main" id="{630E6541-4E84-87D8-49EA-32F5489FDB33}"/>
              </a:ext>
            </a:extLst>
          </p:cNvPr>
          <p:cNvSpPr txBox="1"/>
          <p:nvPr/>
        </p:nvSpPr>
        <p:spPr>
          <a:xfrm>
            <a:off x="2409737" y="3808169"/>
            <a:ext cx="7472494" cy="3046988"/>
          </a:xfrm>
          <a:prstGeom prst="rect">
            <a:avLst/>
          </a:prstGeom>
          <a:noFill/>
        </p:spPr>
        <p:txBody>
          <a:bodyPr wrap="square">
            <a:spAutoFit/>
          </a:bodyPr>
          <a:lstStyle/>
          <a:p>
            <a:r>
              <a:rPr lang="en-GB" sz="1600" b="1" dirty="0"/>
              <a:t>Typical approach:</a:t>
            </a:r>
            <a:endParaRPr lang="en-GB" sz="1600" dirty="0"/>
          </a:p>
          <a:p>
            <a:pPr marL="285750" indent="-285750">
              <a:buFont typeface="Arial" panose="020B0604020202020204" pitchFamily="34" charset="0"/>
              <a:buChar char="•"/>
            </a:pPr>
            <a:r>
              <a:rPr lang="en-GB" sz="1600" dirty="0"/>
              <a:t>Use 10-fold cross-validation to get stable performance estimates for each model.</a:t>
            </a:r>
          </a:p>
          <a:p>
            <a:pPr marL="285750" indent="-285750">
              <a:buFont typeface="Arial" panose="020B0604020202020204" pitchFamily="34" charset="0"/>
              <a:buChar char="•"/>
            </a:pPr>
            <a:r>
              <a:rPr lang="en-GB" sz="1600" dirty="0"/>
              <a:t>Then, apply a Student’s t-test to check if the difference in their mean performances is statistically significant.</a:t>
            </a:r>
          </a:p>
          <a:p>
            <a:pPr>
              <a:buFont typeface="Arial" panose="020B0604020202020204" pitchFamily="34" charset="0"/>
              <a:buChar char="•"/>
            </a:pPr>
            <a:endParaRPr lang="en-GB" sz="1600" dirty="0"/>
          </a:p>
          <a:p>
            <a:r>
              <a:rPr lang="en-GB" sz="1600" b="1" dirty="0"/>
              <a:t>Bottom Line</a:t>
            </a:r>
          </a:p>
          <a:p>
            <a:pPr marL="285750" indent="-285750">
              <a:buFont typeface="Arial" panose="020B0604020202020204" pitchFamily="34" charset="0"/>
              <a:buChar char="•"/>
            </a:pPr>
            <a:r>
              <a:rPr lang="en-GB" sz="1600" dirty="0"/>
              <a:t>M1 looks better (85% vs. 75%), but since it’s tested on only 30 cases, we cannot trust it yet.</a:t>
            </a:r>
          </a:p>
          <a:p>
            <a:pPr marL="285750" indent="-285750">
              <a:buFont typeface="Arial" panose="020B0604020202020204" pitchFamily="34" charset="0"/>
              <a:buChar char="•"/>
            </a:pPr>
            <a:r>
              <a:rPr lang="en-GB" sz="1600" dirty="0"/>
              <a:t>We should use cross-validation + statistical significance test (t-test) to decide which model is actually better.</a:t>
            </a:r>
          </a:p>
          <a:p>
            <a:pPr>
              <a:buFont typeface="Arial" panose="020B0604020202020204" pitchFamily="34" charset="0"/>
              <a:buChar char="•"/>
            </a:pPr>
            <a:endParaRPr lang="en-GB" sz="1600" dirty="0"/>
          </a:p>
        </p:txBody>
      </p:sp>
    </p:spTree>
    <p:extLst>
      <p:ext uri="{BB962C8B-B14F-4D97-AF65-F5344CB8AC3E}">
        <p14:creationId xmlns:p14="http://schemas.microsoft.com/office/powerpoint/2010/main" val="2793333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0E6541-4E84-87D8-49EA-32F5489FDB33}"/>
              </a:ext>
            </a:extLst>
          </p:cNvPr>
          <p:cNvSpPr txBox="1"/>
          <p:nvPr/>
        </p:nvSpPr>
        <p:spPr>
          <a:xfrm>
            <a:off x="2275513" y="1928114"/>
            <a:ext cx="7472494" cy="2708434"/>
          </a:xfrm>
          <a:prstGeom prst="rect">
            <a:avLst/>
          </a:prstGeom>
          <a:noFill/>
        </p:spPr>
        <p:txBody>
          <a:bodyPr wrap="square">
            <a:spAutoFit/>
          </a:bodyPr>
          <a:lstStyle/>
          <a:p>
            <a:r>
              <a:rPr lang="en-US" b="1" dirty="0"/>
              <a:t>Bias:</a:t>
            </a:r>
            <a:r>
              <a:rPr lang="en-US" dirty="0"/>
              <a:t> Error from </a:t>
            </a:r>
            <a:r>
              <a:rPr lang="en-US" b="1" dirty="0"/>
              <a:t>wrong assumptions</a:t>
            </a:r>
            <a:r>
              <a:rPr lang="en-US" dirty="0"/>
              <a:t> in the model.</a:t>
            </a:r>
          </a:p>
          <a:p>
            <a:pPr marL="742950" lvl="1" indent="-285750">
              <a:buFont typeface="Arial" panose="020B0604020202020204" pitchFamily="34" charset="0"/>
              <a:buChar char="•"/>
            </a:pPr>
            <a:r>
              <a:rPr lang="en-US" dirty="0"/>
              <a:t>High bias → model is too simple, underfits (misses important patterns).</a:t>
            </a:r>
          </a:p>
          <a:p>
            <a:pPr marL="742950" lvl="1" indent="-285750">
              <a:buFont typeface="Arial" panose="020B0604020202020204" pitchFamily="34" charset="0"/>
              <a:buChar char="•"/>
            </a:pPr>
            <a:endParaRPr lang="en-US" sz="1200" dirty="0"/>
          </a:p>
          <a:p>
            <a:r>
              <a:rPr lang="en-US" b="1" dirty="0"/>
              <a:t>Variance:</a:t>
            </a:r>
            <a:r>
              <a:rPr lang="en-US" dirty="0"/>
              <a:t> Error from </a:t>
            </a:r>
            <a:r>
              <a:rPr lang="en-US" b="1" dirty="0"/>
              <a:t>sensitivity to training data</a:t>
            </a:r>
            <a:r>
              <a:rPr lang="en-US" dirty="0"/>
              <a:t>.</a:t>
            </a:r>
          </a:p>
          <a:p>
            <a:pPr marL="742950" lvl="1" indent="-285750">
              <a:buFont typeface="Arial" panose="020B0604020202020204" pitchFamily="34" charset="0"/>
              <a:buChar char="•"/>
            </a:pPr>
            <a:r>
              <a:rPr lang="en-US" dirty="0"/>
              <a:t>High variance → model is too complex, overfits (captures noise).</a:t>
            </a:r>
          </a:p>
          <a:p>
            <a:endParaRPr lang="en-US" sz="1200" b="1" dirty="0"/>
          </a:p>
          <a:p>
            <a:r>
              <a:rPr lang="en-US" b="1" dirty="0"/>
              <a:t>Bias–Variance Tradeoff: </a:t>
            </a:r>
            <a:r>
              <a:rPr lang="en-US" dirty="0"/>
              <a:t>We want a balance- not too simple (high bias), not too complex (high variance).</a:t>
            </a:r>
          </a:p>
          <a:p>
            <a:pPr>
              <a:buFont typeface="Arial" panose="020B0604020202020204" pitchFamily="34" charset="0"/>
              <a:buChar char="•"/>
            </a:pPr>
            <a:endParaRPr lang="en-GB" sz="1600" dirty="0"/>
          </a:p>
        </p:txBody>
      </p:sp>
      <p:pic>
        <p:nvPicPr>
          <p:cNvPr id="7" name="Picture 6">
            <a:extLst>
              <a:ext uri="{FF2B5EF4-FFF2-40B4-BE49-F238E27FC236}">
                <a16:creationId xmlns:a16="http://schemas.microsoft.com/office/drawing/2014/main" id="{C2930748-4B28-5EEC-F81C-70BFB1651712}"/>
              </a:ext>
            </a:extLst>
          </p:cNvPr>
          <p:cNvPicPr>
            <a:picLocks noChangeAspect="1"/>
          </p:cNvPicPr>
          <p:nvPr/>
        </p:nvPicPr>
        <p:blipFill>
          <a:blip r:embed="rId3"/>
          <a:stretch>
            <a:fillRect/>
          </a:stretch>
        </p:blipFill>
        <p:spPr>
          <a:xfrm>
            <a:off x="2069460" y="611182"/>
            <a:ext cx="8153048" cy="1082040"/>
          </a:xfrm>
          <a:prstGeom prst="rect">
            <a:avLst/>
          </a:prstGeom>
        </p:spPr>
      </p:pic>
    </p:spTree>
    <p:extLst>
      <p:ext uri="{BB962C8B-B14F-4D97-AF65-F5344CB8AC3E}">
        <p14:creationId xmlns:p14="http://schemas.microsoft.com/office/powerpoint/2010/main" val="2441475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930748-4B28-5EEC-F81C-70BFB1651712}"/>
              </a:ext>
            </a:extLst>
          </p:cNvPr>
          <p:cNvPicPr>
            <a:picLocks noChangeAspect="1"/>
          </p:cNvPicPr>
          <p:nvPr/>
        </p:nvPicPr>
        <p:blipFill>
          <a:blip r:embed="rId3"/>
          <a:stretch>
            <a:fillRect/>
          </a:stretch>
        </p:blipFill>
        <p:spPr>
          <a:xfrm>
            <a:off x="2069460" y="611182"/>
            <a:ext cx="8153048" cy="1082040"/>
          </a:xfrm>
          <a:prstGeom prst="rect">
            <a:avLst/>
          </a:prstGeom>
        </p:spPr>
      </p:pic>
      <p:pic>
        <p:nvPicPr>
          <p:cNvPr id="3" name="Picture 2">
            <a:extLst>
              <a:ext uri="{FF2B5EF4-FFF2-40B4-BE49-F238E27FC236}">
                <a16:creationId xmlns:a16="http://schemas.microsoft.com/office/drawing/2014/main" id="{D45AB2C4-20A2-C4E5-A4C1-8D26744ECACF}"/>
              </a:ext>
            </a:extLst>
          </p:cNvPr>
          <p:cNvPicPr>
            <a:picLocks noChangeAspect="1"/>
          </p:cNvPicPr>
          <p:nvPr/>
        </p:nvPicPr>
        <p:blipFill>
          <a:blip r:embed="rId4"/>
          <a:stretch>
            <a:fillRect/>
          </a:stretch>
        </p:blipFill>
        <p:spPr>
          <a:xfrm>
            <a:off x="2625371" y="1886882"/>
            <a:ext cx="7180273" cy="3800853"/>
          </a:xfrm>
          <a:prstGeom prst="rect">
            <a:avLst/>
          </a:prstGeom>
        </p:spPr>
      </p:pic>
    </p:spTree>
    <p:extLst>
      <p:ext uri="{BB962C8B-B14F-4D97-AF65-F5344CB8AC3E}">
        <p14:creationId xmlns:p14="http://schemas.microsoft.com/office/powerpoint/2010/main" val="1107103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930748-4B28-5EEC-F81C-70BFB1651712}"/>
              </a:ext>
            </a:extLst>
          </p:cNvPr>
          <p:cNvPicPr>
            <a:picLocks noChangeAspect="1"/>
          </p:cNvPicPr>
          <p:nvPr/>
        </p:nvPicPr>
        <p:blipFill>
          <a:blip r:embed="rId3"/>
          <a:stretch>
            <a:fillRect/>
          </a:stretch>
        </p:blipFill>
        <p:spPr>
          <a:xfrm>
            <a:off x="2069460" y="611182"/>
            <a:ext cx="8153048" cy="1082040"/>
          </a:xfrm>
          <a:prstGeom prst="rect">
            <a:avLst/>
          </a:prstGeom>
        </p:spPr>
      </p:pic>
      <p:pic>
        <p:nvPicPr>
          <p:cNvPr id="5" name="Picture 4" descr="A diagram of a model&#10;&#10;AI-generated content may be incorrect.">
            <a:extLst>
              <a:ext uri="{FF2B5EF4-FFF2-40B4-BE49-F238E27FC236}">
                <a16:creationId xmlns:a16="http://schemas.microsoft.com/office/drawing/2014/main" id="{34F6E998-78BD-E354-A76C-EB4C77E790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2983" y="1771805"/>
            <a:ext cx="6107186" cy="4535630"/>
          </a:xfrm>
          <a:prstGeom prst="rect">
            <a:avLst/>
          </a:prstGeom>
        </p:spPr>
      </p:pic>
    </p:spTree>
    <p:extLst>
      <p:ext uri="{BB962C8B-B14F-4D97-AF65-F5344CB8AC3E}">
        <p14:creationId xmlns:p14="http://schemas.microsoft.com/office/powerpoint/2010/main" val="1771121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TotalTime>
  <Words>764</Words>
  <Application>Microsoft Office PowerPoint</Application>
  <PresentationFormat>Widescreen</PresentationFormat>
  <Paragraphs>80</Paragraphs>
  <Slides>32</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Aptos Display</vt:lpstr>
      <vt:lpstr>Arial</vt:lpstr>
      <vt:lpstr>Arial</vt:lpstr>
      <vt:lpstr>Söhne</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Kamrul Hasan Tuhin</dc:creator>
  <cp:lastModifiedBy>Md. Ehasan Mahmud</cp:lastModifiedBy>
  <cp:revision>7</cp:revision>
  <dcterms:created xsi:type="dcterms:W3CDTF">2025-08-20T18:52:33Z</dcterms:created>
  <dcterms:modified xsi:type="dcterms:W3CDTF">2025-10-04T19:26:15Z</dcterms:modified>
</cp:coreProperties>
</file>