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17" r:id="rId2"/>
    <p:sldId id="420" r:id="rId3"/>
    <p:sldId id="427" r:id="rId4"/>
    <p:sldId id="428" r:id="rId5"/>
    <p:sldId id="419" r:id="rId6"/>
    <p:sldId id="418" r:id="rId7"/>
    <p:sldId id="421" r:id="rId8"/>
    <p:sldId id="422" r:id="rId9"/>
    <p:sldId id="429" r:id="rId10"/>
    <p:sldId id="431" r:id="rId11"/>
    <p:sldId id="432" r:id="rId12"/>
    <p:sldId id="434" r:id="rId13"/>
    <p:sldId id="435" r:id="rId14"/>
    <p:sldId id="436" r:id="rId15"/>
    <p:sldId id="437" r:id="rId16"/>
    <p:sldId id="43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4:31:27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1 308 24575,'22'-2'0,"1"0"0,-1-2 0,32-8 0,10-3 0,-10 8 0,95 1 0,5 0 0,-104-2 0,75-21 0,-87 19 0,0 0 0,0 3 0,0 1 0,46-1 0,-24 8 0,108-14 0,4-13 0,2 1 0,-40 9 0,-40 7 0,27-1 0,167 9 0,-138 3 0,1350-2 0,-1441-4 0,0-1 0,89-22 0,29-3 0,379 16 0,-358 17 0,1353-3 0,-1521 2 0,-1 2 0,1 1 0,-1 1 0,43 15 0,43 9 0,259 25 0,-332-51 0,96 12 0,-4 18 0,-58-14 0,230 35 0,-67-16 0,-140-21 0,135 7 0,-22-3 0,-171-13 0,46 16 0,39 8 0,-85-25-101,75 13-531,220 11 0,-310-32-6194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4:31:4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24575,'3'-2'0,"-1"0"0,1 0 0,0 0 0,-1 1 0,1-1 0,0 1 0,0 0 0,0 0 0,0 0 0,1 0 0,-1 0 0,0 1 0,0-1 0,0 1 0,0 0 0,1 0 0,-1 0 0,6 1 0,6 2 0,-1 0 0,25 9 0,-27-8 0,153 64 0,-81-30 0,-75-34 0,4 1 0,-1 0 0,0 1 0,0 0 0,-1 1 0,14 10 0,-23-15 0,0 0 0,0 0 0,0-1 0,0 1 0,-1 1 0,1-1 0,0 0 0,-1 0 0,0 0 0,0 1 0,1-1 0,-2 1 0,1-1 0,0 1 0,0-1 0,-1 1 0,1 0 0,-1-1 0,0 1 0,0 0 0,0-1 0,0 1 0,0 0 0,-1-1 0,1 1 0,-1-1 0,1 1 0,-1-1 0,0 1 0,0-1 0,0 1 0,-1-1 0,-1 3 0,-2 3 0,-1 0 0,0 0 0,-1 0 0,1 0 0,-2-1 0,1-1 0,-1 1 0,-15 9 0,-10 4 0,-36 15 0,-19 12 0,61-29-682,-28 26-1,33-25-6143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4:31:4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24575,'9'-5'0,"7"0"0,5-1 0,3 2 0,3 1 0,-1-4 0,2 1 0,-1 0 0,3 2 0,2 1 0,0 1 0,-2 1 0,-2 1 0,0 0 0,-6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4:33:0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1 670 24575,'4'-2'0,"0"-1"0,0 1 0,0 0 0,1 0 0,-1 0 0,1 1 0,-1 0 0,1 0 0,-1 0 0,1 0 0,0 1 0,0-1 0,6 2 0,5-2 0,23-2 0,0 3 0,0 1 0,0 2 0,0 2 0,49 12 0,-33-8 0,1-2 0,1-2 0,70-4 0,-108 0 0,1 1 0,-1 2 0,0 0 0,0 0 0,21 10 0,29 6 0,233 34 0,-293-53 0,0 2 0,0-1 0,0 1 0,-1 0 0,1 1 0,-1 0 0,0 0 0,11 8 0,-10-6 0,0 0 0,1-1 0,0-1 0,-1 1 0,1-1 0,1-1 0,11 3 0,59 6 0,141 1 0,-180-11 0,50 8 0,19 2 0,548-9 0,-338-6 0,1176 3 0,-1309-13 0,7 0 0,-163 12 0,1-1 0,0-1 0,-1-2 0,61-18 0,-12 3 0,0 4 0,1 3 0,107-4 0,254 15 0,-222 4 0,-191-2 0,18 1 0,0-3 0,47-7 0,-4-3 0,58-12 0,-68 5 0,0 4 0,2 4 0,156-1 0,-146 14 0,0-4 0,136-21 0,57-40 0,-231 49 0,108-10 0,-91 15 0,189-29 0,-257 37 0,1 0 0,0 0 0,0 0 0,-1-1 0,1 1 0,-1-1 0,0 0 0,1 0 0,4-4 0,16-8 0,-18 13 0,0-1 0,0 1 0,1 0 0,-1 1 0,0-1 0,0 2 0,1-1 0,-1 1 0,8 2 0,18 0 0,39-5 0,144-21 0,-88 6 0,36-15 0,-68 10 0,297-31 0,-374 51 0,0-2 0,-1 0 0,36-13 0,-38 10 0,1 2 0,0 0 0,0 1 0,33-4 0,289 7 0,-153 4 0,-49-1 0,193-9 0,-263-1 0,-22 1 0,50 0 0,432 8 0,-479-4 0,0-2 0,1-3 0,55-15 0,-95 20 0,8-2 0,-1 0 0,0-2 0,21-11 0,30-12 0,2-1 0,-55 24 0,0 0 0,1 1 0,-1 0 0,1 1 0,18-4 0,118-14 0,-151 23 0,0 0 0,0 1 0,0-1 0,1 0 0,-1 0 0,0 0 0,0 0 0,0 0 0,1 0 0,-1 0 0,0 0 0,0 0 0,1 0 0,-1 0 0,0 0 0,0 0 0,0 0 0,1 0 0,-1 0 0,0 0 0,0 0 0,0 0 0,1 0 0,-1 0 0,0 0 0,0 0 0,0 0 0,1-1 0,-1 1 0,0 0 0,0 0 0,0 0 0,0 0 0,1 0 0,-1-1 0,0 1 0,0 0 0,0 0 0,0 0 0,0-1 0,0 1 0,1 0 0,-1 0 0,0 0 0,0-1 0,0 1 0,0 0 0,0 0 0,0 0 0,0-1 0,0 1 0,0 0 0,0 0 0,0-1 0,0 1 0,0 0 0,0 0 0,0 0 0,0-1 0,-1 1 0,1 0 0,0 0 0,0 0 0,0-1 0,0 1 0,-1 0 0,1-1 0,0 1 0,0 0 0,0 0 0,0-1 0,-1 1 0,1 0 0,0-1 0,0 1 0,0 0 0,0-1 0,0 1 0,0-1 0,0 1 0,0 0 0,0-1 0,0 1 0,0 0 0,0-1 0,0 1 0,0 0 0,0-1 0,0 1 0,0 0 0,1-1 0,-1 1 0,0 0 0,0-1 0,0 1 0,0 0 0,1 0 0,-1-1 0,1 1 0,40-29-269,-31 24-827,5-5-5730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4:33:07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24575,'14'1'0,"0"2"0,0-1 0,0 2 0,0 0 0,-1 0 0,0 1 0,19 10 0,8 3 0,21 5 0,-30-12 0,0 1 0,-1 1 0,-1 1 0,0 2 0,30 22 0,-16-8 0,1-2 0,63 28 0,-67-35 0,22 9 0,-54-22 0,-14-5 0,6-3 0,0 0 0,-1 0 0,1 0 0,0 0 0,-1 0 0,1 0 0,0 0 0,-1 0 0,1 0 0,0 0 0,-1 0 0,1 1 0,0-1 0,0 0 0,-1 0 0,1 0 0,0 1 0,-1-1 0,1 0 0,0 0 0,0 1 0,0-1 0,-1 0 0,1 0 0,0 1 0,0-1 0,0 0 0,-1 1 0,1 3 0,0 1 0,0-1 0,-1 0 0,1 1 0,-1-1 0,-1 0 0,1 0 0,0 1 0,-1-1 0,0 0 0,0-1 0,0 1 0,0 0 0,-5 5 0,-44 48 0,45-51 0,-23 21 0,-2-2 0,-46 30 0,12-9 0,59-40 2,1-1 0,-1 1-1,1 0 1,-7 11 0,-20 21 48,30-37-139,0 1 0,0 0 0,0-1 0,-1 1 0,1-1 0,0 0 0,-1 0 0,1 0 0,-1 0 0,1 0 0,-1 0 0,0-1 0,1 1 0,-1-1 0,-4 0 0,-5 0-6737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4:34:45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15:26:08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1592 1831 24575,'74'-1'0,"92"-14"0,205-46 0,-333 52 0,-1-2 0,36-17 0,-46 17 0,0 1 0,0 1 0,0 1 0,1 2 0,43-5 0,44-1 0,25-1 0,369 14 0,-478 1 0,-1 2 0,0 0 0,0 2 0,54 18 0,-55-14 0,2-2 0,-1 0 0,1-3 0,43 4 0,333-10 0,-153-1 0,-218 0 0,51-8 0,-6-1 0,-59 8 0,-1-1 0,0-1 0,0-1 0,31-14 0,-29 10 0,0 2 0,1 1 0,29-6 0,-19 8 0,39-6 0,114-2 0,-135 10 0,0-1 0,63-15 0,-63 10 0,1 1 0,55 0 0,456 9 0,-543 1 0,-1 0 0,1 1 0,0 1 0,-1 1 0,0 1 0,0 1 0,31 15 0,52 17 0,-70-32 0,0-2 0,0-1 0,0-2 0,1-1 0,53-5 0,9 0 0,23 3 0,177 3 0,-174 10 0,52 1 0,-37-12 0,152-3 0,-167-11 0,41 0 0,1389 14 0,-1522 1 0,0 2 0,0 1 0,0 1 0,30 10 0,34 8 0,-30-14 0,115 4 0,68-15 0,-81-2 0,120 3 0,-274-1 0,0 0 0,1-1 0,-1 0 0,0-1 0,0 0 0,0-1 0,12-6 0,80-43 0,-66 32 0,-15 8 0,119-59 0,-116 61 0,0 1 0,1 1 0,45-8 0,-49 13 0,0 0 0,-1-1 0,0-1 0,0-2 0,-1 0 0,0-1 0,25-15 0,-8 2 0,-24 15 0,0-1 0,-1 0 0,-1-1 0,1 0 0,12-13 0,-22 18 0,0 1 0,0-1 0,0 0 0,-1 0 0,0 1 0,0-1 0,0-1 0,0 1 0,-1 0 0,1 0 0,-1-1 0,0 1 0,0-1 0,-1 1 0,0-1 0,1 1 0,-1-1 0,-1 1 0,1-1 0,-1 1 0,1-1 0,-3-5 0,-2-3 0,-1 0 0,0 0 0,-1 1 0,0 0 0,-1 0 0,0 1 0,-14-15 0,-7-10 0,-27-48 0,36 52 0,-1 1 0,-46-52 0,38 53 0,-3-4 0,0 2 0,-3 1 0,-62-43 0,80 64 0,-35-24 0,-2 3 0,-69-30 0,72 41 0,-93-34 0,122 48 0,-1 1 0,1 1 0,-1 1 0,-42-1 0,-700 7 0,532-16 0,-3 0 0,-973 14 0,1151-5 0,1-2 0,0-2 0,-84-25 0,-28-3 0,-209-36 0,306 57 0,-135-9 0,-74 19 0,100 5 0,-239-29 0,-105-15 0,-3 39 0,474 3 0,1-3 0,0-3 0,-69-17 0,-29-6 0,-223 1 0,-3 30 0,178 2 0,169-1 0,0 1 0,1 2 0,0 1 0,0 2 0,0 1 0,1 0 0,0 3 0,0 0 0,-37 22 0,23-15 0,-2-1 0,0-2 0,0-3 0,-55 9 0,80-17 0,-93 21 0,-365 62 0,281-57 0,119-16 0,-1-3 0,-116 2 0,-486-15 0,558 8 0,0 4 0,-147 34 0,133-17 0,52-12 0,1 4 0,-118 43 0,153-43 0,-48 28 0,77-36 0,0 1 0,1 1 0,1 0 0,0 2 0,-17 18 0,4-1 0,-52 60 0,72-78 0,1 0 0,0 1 0,1-1 0,1 2 0,-9 21 0,13-28 0,-1 2 0,0 1 0,1-1 0,0 1 0,-2 24 0,5-32 0,0-1 0,0 1 0,1 0 0,-1 0 0,1-1 0,0 1 0,0 0 0,0-1 0,1 1 0,-1-1 0,1 0 0,0 1 0,0-1 0,0 0 0,0 0 0,1 0 0,-1 0 0,1-1 0,0 1 0,3 2 0,3 1 0,0 0 0,0-1 0,0 0 0,0 0 0,1-1 0,0 0 0,18 4 0,77 10 0,-51-11 0,155 40 0,-133-27 0,1-4 0,89 8 0,-85-14 0,-1 4 0,156 48 0,-172-43 0,-7-6 0,2-2 0,59 3 0,12 2 0,-61-1 0,-1 2 0,83 34 0,-37-11 0,-80-32 0,0-1 0,1-1 0,47 1 0,-3 0 0,116 34 0,-28-4 0,-109-28-112,5 1-515,115 5 1,-156-15-6200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80771-8197-44B8-9E01-71953112272F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2BD62-2ACA-4C5F-B32F-96A2BFC99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6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F72DAF0D-CF38-4A4C-BFBA-E97C5CF80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680EFB-304C-4653-8C7D-74FDC3BAFBC3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2E341B5-4ADC-4F89-8D23-CC67DEEF8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6287932-41EE-4E8C-9145-DB8F7AE4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47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631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4875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819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447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0290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D240-5906-1EE2-6F21-62525D4E8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D80C5-BF3C-E919-2399-4F2AC03F1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28458-60B0-3609-33EA-6FEA251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1406A-7F1E-45F9-F364-7B914AB6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8176A-C566-7EF7-7163-2D2518D5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7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0E9F-FE24-181C-E43E-F4C36EE5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18AEB-33F0-25FF-E0A4-7DE20921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CDB86-E100-7F53-64C2-D9EBE3E4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78491-74F1-02CB-9DB8-9615723E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5A252-393C-A1D7-B001-EA93ABB6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6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D55D-9D0D-E320-BA5D-D104BBA1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C26C3-D9A9-C8E9-EEEF-3FCAA8099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EF94E-D537-992C-142E-AE05178F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686D1-2520-240D-A79F-CF89AC89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FFE27-691A-C51C-1A14-22DCFD07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9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4583-8953-FDE2-CB67-9B1A42A3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EF6C-9997-89FC-FBD2-A5906D1C1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6EAEC-96EA-4525-4344-2088AA62A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F44C-1C55-A21D-243D-1A2504B1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EA92F-519C-8B78-61FB-4BE8F6C1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584E6-90BD-67D5-2F32-C37DB985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F829-33E5-154B-0BA8-50192BDC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2FD8D-47C2-D140-6752-78605E184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F9257-53B3-CA6D-C8D8-CDD4FBFDE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969C0-5DF9-E659-8DCA-98116E562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919E01-55D4-F539-70D3-17602E6D2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B88A8-999E-C06B-DC2F-23E19773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1ECB2-0B14-1F52-A8C0-5990A213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07FDE-AE9E-1ED3-BC73-E57177AA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6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8DC8-B7D8-3DD7-9196-CF21A7D7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68B41-F2C1-B836-6171-ACD6C7493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F6EDE-E412-E3BB-B84E-70FBF979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E829A-DDBE-E779-AB73-BD88E9C2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6B32A-92B3-FCF2-5539-5CC8214E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B0744-D946-178C-6B4C-2FA34E9A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FB8B9-E468-70A6-C7A5-3C3075D1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0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241C-7F0B-6CE5-9A17-71E8B665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3CDE8-10E2-D306-6D37-28800D5FC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1AD95-99D5-D8F0-FF60-188AA25C7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7A807-8201-52A2-9EED-39173D2B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6B0DA-79DE-46C5-935F-10F5D38A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1539D-D1E0-C2C0-72F3-5049C084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A49E-4FD4-ED37-3C65-D8B4D276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0946-F75D-0BFB-11BB-6345A3533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84410-3791-64DF-0F6F-151D4EA2B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4EFFB-5320-8FB7-6F35-46922695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256D7-7821-E275-8E0C-7F6D07AE4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0070F-5DD2-8BAB-EDF5-13EF4A74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0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023B-9D98-07C2-2654-BDB1C120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3A403-DD2A-190A-20C3-3122F52C0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1E43-3B7C-7A75-F8D2-45257198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F81DE-4597-BA23-316F-324FC820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C0E80-27B9-C68A-DA2B-7DC4C8F5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3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9430F0-4FE9-D2BC-A03A-D2B010101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5EFA2-F4F0-49CE-E245-CDD47107E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DD9DF-3699-BCC2-BE03-D1CFB409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C67DD-20F8-1186-5C40-C4CE43554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50C49-D946-D81D-1AD7-45B18FC5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1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06D67-2389-7CD0-157A-9ADEDAA0E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BA491-3656-0ED1-6A94-FB57C2900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E2A41-73D7-A82C-2572-D5DBAA075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E2F55-2B04-4E9A-9169-68E3D5E899BA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2FED0-1F04-2992-7260-B451D4450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50A2-0904-98D8-379A-2D6535E55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8E71B-29D8-447D-9FA3-8579E6BC9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78987" y="423656"/>
            <a:ext cx="11049451" cy="1108075"/>
          </a:xfrm>
        </p:spPr>
        <p:txBody>
          <a:bodyPr/>
          <a:lstStyle/>
          <a:p>
            <a:r>
              <a:rPr lang="en-US" altLang="en-US" sz="3200" dirty="0">
                <a:solidFill>
                  <a:schemeClr val="accent2">
                    <a:lumMod val="75000"/>
                  </a:schemeClr>
                </a:solidFill>
                <a:latin typeface="Calibri (Body)"/>
              </a:rPr>
              <a:t>Introduction</a:t>
            </a:r>
            <a:endParaRPr lang="en-US" altLang="en-US" dirty="0">
              <a:solidFill>
                <a:schemeClr val="accent2">
                  <a:lumMod val="75000"/>
                </a:schemeClr>
              </a:solidFill>
              <a:latin typeface="Calibri (Body)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63562" y="1235822"/>
            <a:ext cx="10526973" cy="4745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1" dirty="0"/>
              <a:t>Approximation (“granulation”): </a:t>
            </a:r>
            <a:r>
              <a:rPr lang="en-US" sz="2000" dirty="0"/>
              <a:t>A color can be described precisely using RGB values, or it can be approximately described as “red”, “blue”, etc. 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Degree (“graduation”): </a:t>
            </a:r>
            <a:r>
              <a:rPr lang="en-US" sz="2000" dirty="0"/>
              <a:t>Two different colors may both be described as “red”, but one is considered to be more red than the other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Fuzzy logic attempts to reflect the human way of thinking</a:t>
            </a: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000" b="1" dirty="0">
                <a:highlight>
                  <a:srgbClr val="FFFF00"/>
                </a:highlight>
              </a:rPr>
              <a:t>Fuzzy logic </a:t>
            </a:r>
            <a:r>
              <a:rPr lang="en-US" altLang="en-US" sz="2000" dirty="0">
                <a:highlight>
                  <a:srgbClr val="FFFF00"/>
                </a:highlight>
              </a:rPr>
              <a:t>is a generalization of standard logic, in which a concept can possess a degree of truth anywhere between 0.0 and 1.0.</a:t>
            </a:r>
          </a:p>
          <a:p>
            <a:pPr>
              <a:lnSpc>
                <a:spcPct val="110000"/>
              </a:lnSpc>
            </a:pPr>
            <a:r>
              <a:rPr lang="en-US" altLang="en-US" sz="2000" dirty="0"/>
              <a:t> </a:t>
            </a:r>
            <a:r>
              <a:rPr lang="en-US" altLang="en-US" sz="2000" dirty="0">
                <a:highlight>
                  <a:srgbClr val="FFFF00"/>
                </a:highlight>
              </a:rPr>
              <a:t>Standard logic applies only to concepts that are completely true or completely false. 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highlight>
                  <a:srgbClr val="FFFF00"/>
                </a:highlight>
              </a:rPr>
              <a:t>We can have fuzzy propositional logic and fuzzy predicate logic.</a:t>
            </a:r>
            <a:endParaRPr lang="en-US" altLang="en-US" sz="1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0243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63562" y="1480167"/>
            <a:ext cx="10526973" cy="4445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900" dirty="0">
                <a:solidFill>
                  <a:schemeClr val="accent2">
                    <a:lumMod val="75000"/>
                  </a:schemeClr>
                </a:solidFill>
              </a:rPr>
              <a:t>Fuzzy set: </a:t>
            </a:r>
            <a:r>
              <a:rPr lang="en-US" altLang="en-US" sz="2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set X in which each element y has a grade of membership µX(y) in the range 0 to 1, i.e. set membership may be partial is called fuzzy set. e.g. if cold is a fuzzy set, exact temperature values might be mapped to the fuzzy set as follows:</a:t>
            </a:r>
          </a:p>
          <a:p>
            <a:pPr lvl="1">
              <a:lnSpc>
                <a:spcPct val="110000"/>
              </a:lnSpc>
            </a:pPr>
            <a:r>
              <a:rPr lang="en-US" altLang="en-US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 degrees → 0.2 (slightly cold)</a:t>
            </a:r>
          </a:p>
          <a:p>
            <a:pPr lvl="1">
              <a:lnSpc>
                <a:spcPct val="110000"/>
              </a:lnSpc>
            </a:pPr>
            <a:r>
              <a:rPr lang="en-US" altLang="en-US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 degrees → 0.5 (quite cold)</a:t>
            </a:r>
          </a:p>
          <a:p>
            <a:pPr lvl="1">
              <a:lnSpc>
                <a:spcPct val="110000"/>
              </a:lnSpc>
            </a:pPr>
            <a:r>
              <a:rPr lang="en-US" altLang="en-US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 degrees → 1 (totally cold)</a:t>
            </a:r>
            <a:endParaRPr lang="en-US" sz="2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Crisp set: </a:t>
            </a:r>
            <a:r>
              <a:rPr lang="en-US" dirty="0">
                <a:highlight>
                  <a:srgbClr val="FFFF00"/>
                </a:highlight>
              </a:rPr>
              <a:t>In crisp set, elements are either the member of a set or not, partial membership is not allowed.</a:t>
            </a:r>
            <a:endParaRPr lang="en-US" altLang="en-US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Fuzzy variable:</a:t>
            </a:r>
            <a:r>
              <a:rPr lang="en-US" altLang="en-US" dirty="0"/>
              <a:t> Variable with (labels of) fuzzy sets as its values.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Linguistic variable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: </a:t>
            </a:r>
            <a:r>
              <a:rPr lang="en-US" altLang="en-US" dirty="0">
                <a:highlight>
                  <a:srgbClr val="FFFF00"/>
                </a:highlight>
              </a:rPr>
              <a:t>Fuzzy variable with values that are words or sentences in a language.</a:t>
            </a:r>
            <a:r>
              <a:rPr lang="en-US" altLang="en-US" dirty="0"/>
              <a:t> e.g. variable color with values red, blue, yellow, green…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 Linguistic hedge: </a:t>
            </a:r>
            <a:r>
              <a:rPr lang="en-US" altLang="en-US" dirty="0">
                <a:highlight>
                  <a:srgbClr val="FFFF00"/>
                </a:highlight>
              </a:rPr>
              <a:t>Term used as a modifier for basic terms in linguistic values </a:t>
            </a:r>
            <a:r>
              <a:rPr lang="en-US" altLang="en-US" dirty="0"/>
              <a:t>e.g. words such as very, a bit, rather, somewhat, etc.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Fuzzy Membership Function: </a:t>
            </a:r>
            <a:r>
              <a:rPr lang="en-US" dirty="0">
                <a:highlight>
                  <a:srgbClr val="FFFF00"/>
                </a:highlight>
              </a:rPr>
              <a:t>Fuzzy Membership Function transforms the input data to a 0 to 1 scale based on the possibility of being a member of a specified set.</a:t>
            </a: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07473-A02B-9ACF-7DD1-C558C461AB3E}"/>
              </a:ext>
            </a:extLst>
          </p:cNvPr>
          <p:cNvSpPr txBox="1"/>
          <p:nvPr/>
        </p:nvSpPr>
        <p:spPr>
          <a:xfrm>
            <a:off x="765496" y="747409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Terminology (Contd.)</a:t>
            </a:r>
          </a:p>
        </p:txBody>
      </p:sp>
    </p:spTree>
    <p:extLst>
      <p:ext uri="{BB962C8B-B14F-4D97-AF65-F5344CB8AC3E}">
        <p14:creationId xmlns:p14="http://schemas.microsoft.com/office/powerpoint/2010/main" val="51128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2A24E-3B38-6A40-9577-5A542DDB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2459FA4A-0D77-CFC9-C855-83B036D3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EB0CE36-BF7B-6F63-2E31-A8B55F89DF82}"/>
              </a:ext>
            </a:extLst>
          </p:cNvPr>
          <p:cNvSpPr txBox="1">
            <a:spLocks noChangeArrowheads="1"/>
          </p:cNvSpPr>
          <p:nvPr/>
        </p:nvSpPr>
        <p:spPr>
          <a:xfrm>
            <a:off x="899121" y="1421444"/>
            <a:ext cx="10526973" cy="4445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en-US" sz="2400" dirty="0"/>
              <a:t>As described by Zadeh (1973)…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NOT X = 1 - µX(y)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e.g. 0.8 cold → (1 – 0.8) = 0.2 NOT cold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X OR Y (union) = max(µX(y), µY(y))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e.g. 0.8 cold, 0.5 rainy → 0.8 (cold OR rainy)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X AND Y (intersection) = min(µX(y), µY(y))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e.g. 0.9 hot, 0.7 humid → 0.7 (hot AND humid)</a:t>
            </a:r>
            <a:endParaRPr lang="en-US" altLang="en-US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547A6-8699-E430-FE8A-0D31C8D3EE09}"/>
              </a:ext>
            </a:extLst>
          </p:cNvPr>
          <p:cNvSpPr txBox="1"/>
          <p:nvPr/>
        </p:nvSpPr>
        <p:spPr>
          <a:xfrm>
            <a:off x="765496" y="747409"/>
            <a:ext cx="6094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Simple Fuzzy Operators</a:t>
            </a:r>
          </a:p>
        </p:txBody>
      </p:sp>
    </p:spTree>
    <p:extLst>
      <p:ext uri="{BB962C8B-B14F-4D97-AF65-F5344CB8AC3E}">
        <p14:creationId xmlns:p14="http://schemas.microsoft.com/office/powerpoint/2010/main" val="376268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8093-0760-8B7B-E8E9-28E93B51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FDA908E6-4E09-EB05-700D-5B408F49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640528A-2DB6-D342-1AC2-8A851ADE1798}"/>
              </a:ext>
            </a:extLst>
          </p:cNvPr>
          <p:cNvSpPr txBox="1">
            <a:spLocks noChangeArrowheads="1"/>
          </p:cNvSpPr>
          <p:nvPr/>
        </p:nvSpPr>
        <p:spPr>
          <a:xfrm>
            <a:off x="563562" y="1480167"/>
            <a:ext cx="10526973" cy="4445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200" dirty="0"/>
              <a:t>Zadeh’s definition of AND used the Gödel t-norm, but other definitions are possible using different t-norms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/>
              <a:t>Common examples: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highlight>
                  <a:srgbClr val="FFFF00"/>
                </a:highlight>
              </a:rPr>
              <a:t>Product t-norm: µX (y) * µY (y)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highlight>
                  <a:srgbClr val="FFFF00"/>
                </a:highlight>
              </a:rPr>
              <a:t>e.g. 0.9 hot, 0.7 humid → 0.63 hot AND humid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highlight>
                  <a:srgbClr val="FFFF00"/>
                </a:highlight>
              </a:rPr>
              <a:t>Lukasiewicz t-norm: max(µX (y) + µY (y) - 1, 0)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highlight>
                  <a:srgbClr val="FFFF00"/>
                </a:highlight>
              </a:rPr>
              <a:t>e.g. 0.9 hot, 0.7 humid → 0.6 hot AND humid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/>
              <a:t>Similar possibilities for OR using corresponding t-conorms: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highlight>
                  <a:srgbClr val="FFFF00"/>
                </a:highlight>
              </a:rPr>
              <a:t>Product t-conorm: µX (y) + µY (y) - µX (y) * µY (y)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highlight>
                  <a:srgbClr val="FFFF00"/>
                </a:highlight>
              </a:rPr>
              <a:t>e.g. 0.8 cold, 0.5 rainy → 0.9 cold OR rainy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highlight>
                  <a:srgbClr val="FFFF00"/>
                </a:highlight>
              </a:rPr>
              <a:t>Lukasiewicz t-conorm: min(µX (y) + µY (y), 1)</a:t>
            </a:r>
          </a:p>
          <a:p>
            <a:pPr lvl="1">
              <a:lnSpc>
                <a:spcPct val="110000"/>
              </a:lnSpc>
            </a:pPr>
            <a:r>
              <a:rPr lang="en-US" sz="2000" dirty="0">
                <a:highlight>
                  <a:srgbClr val="FFFF00"/>
                </a:highlight>
              </a:rPr>
              <a:t>e.g. 0.8 cold, 0.5 rainy → 1 cold OR rainy</a:t>
            </a:r>
            <a:endParaRPr lang="en-US" altLang="en-US" sz="18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43038-9864-95FA-68C8-CF49785629C3}"/>
              </a:ext>
            </a:extLst>
          </p:cNvPr>
          <p:cNvSpPr txBox="1"/>
          <p:nvPr/>
        </p:nvSpPr>
        <p:spPr>
          <a:xfrm>
            <a:off x="765496" y="747409"/>
            <a:ext cx="8814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Alternative Interpretations of AND </a:t>
            </a:r>
            <a:r>
              <a:rPr lang="en-US" sz="3200" dirty="0" err="1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F169CF-BDE4-C689-C76B-082806320B08}"/>
              </a:ext>
            </a:extLst>
          </p:cNvPr>
          <p:cNvSpPr txBox="1"/>
          <p:nvPr/>
        </p:nvSpPr>
        <p:spPr>
          <a:xfrm>
            <a:off x="7397496" y="2816352"/>
            <a:ext cx="18288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0.9x0.7=0.63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EFDE76-3E29-630F-9E3E-F4C0A3AC5CD5}"/>
                  </a:ext>
                </a:extLst>
              </p14:cNvPr>
              <p14:cNvContentPartPr/>
              <p14:nvPr/>
            </p14:nvContentPartPr>
            <p14:xfrm>
              <a:off x="3858408" y="2824416"/>
              <a:ext cx="3418200" cy="17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EFDE76-3E29-630F-9E3E-F4C0A3AC5C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9768" y="2815416"/>
                <a:ext cx="343584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A03EE25-0387-D3F0-72DF-8C2622D7710D}"/>
              </a:ext>
            </a:extLst>
          </p:cNvPr>
          <p:cNvGrpSpPr/>
          <p:nvPr/>
        </p:nvGrpSpPr>
        <p:grpSpPr>
          <a:xfrm>
            <a:off x="7251048" y="2919456"/>
            <a:ext cx="183960" cy="188280"/>
            <a:chOff x="7251048" y="2919456"/>
            <a:chExt cx="18396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AE6972-306E-412D-68F8-28385246F8EC}"/>
                    </a:ext>
                  </a:extLst>
                </p14:cNvPr>
                <p14:cNvContentPartPr/>
                <p14:nvPr/>
              </p14:nvContentPartPr>
              <p14:xfrm>
                <a:off x="7251048" y="2919456"/>
                <a:ext cx="183960" cy="18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AE6972-306E-412D-68F8-28385246F8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42048" y="2910816"/>
                  <a:ext cx="201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40D5F8-B5F5-5E5A-2868-28730A50F6D0}"/>
                    </a:ext>
                  </a:extLst>
                </p14:cNvPr>
                <p14:cNvContentPartPr/>
                <p14:nvPr/>
              </p14:nvContentPartPr>
              <p14:xfrm>
                <a:off x="7251048" y="2989296"/>
                <a:ext cx="137160" cy="19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40D5F8-B5F5-5E5A-2868-28730A50F6D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42048" y="2980656"/>
                  <a:ext cx="154800" cy="36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2F6CE86-8A27-FB38-FD7C-9849DF874F5E}"/>
              </a:ext>
            </a:extLst>
          </p:cNvPr>
          <p:cNvSpPr txBox="1"/>
          <p:nvPr/>
        </p:nvSpPr>
        <p:spPr>
          <a:xfrm>
            <a:off x="8311896" y="3292943"/>
            <a:ext cx="1989904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0.9+0.7=1.6-1=0.6</a:t>
            </a:r>
            <a:br>
              <a:rPr lang="en-US" dirty="0"/>
            </a:br>
            <a:r>
              <a:rPr lang="en-US" dirty="0"/>
              <a:t>max(0.6,0)=0.6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EE7B3CB-B0CF-90CD-8CF7-CC0D0D47B0A5}"/>
              </a:ext>
            </a:extLst>
          </p:cNvPr>
          <p:cNvGrpSpPr/>
          <p:nvPr/>
        </p:nvGrpSpPr>
        <p:grpSpPr>
          <a:xfrm>
            <a:off x="3822048" y="3520296"/>
            <a:ext cx="4473720" cy="421560"/>
            <a:chOff x="3822048" y="3520296"/>
            <a:chExt cx="447372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C68A1D-BB55-CF45-A43B-828D77AE0749}"/>
                    </a:ext>
                  </a:extLst>
                </p14:cNvPr>
                <p14:cNvContentPartPr/>
                <p14:nvPr/>
              </p14:nvContentPartPr>
              <p14:xfrm>
                <a:off x="3822048" y="3608496"/>
                <a:ext cx="4425840" cy="333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C68A1D-BB55-CF45-A43B-828D77AE07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13408" y="3599496"/>
                  <a:ext cx="44434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16CAB4-2192-D95D-B1B4-E75CD391A154}"/>
                    </a:ext>
                  </a:extLst>
                </p14:cNvPr>
                <p14:cNvContentPartPr/>
                <p14:nvPr/>
              </p14:nvContentPartPr>
              <p14:xfrm>
                <a:off x="8028288" y="3520296"/>
                <a:ext cx="267480" cy="267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16CAB4-2192-D95D-B1B4-E75CD391A1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19288" y="3511656"/>
                  <a:ext cx="28512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904EA84-9AC9-F157-5733-4EF1E5831C03}"/>
                  </a:ext>
                </a:extLst>
              </p14:cNvPr>
              <p14:cNvContentPartPr/>
              <p14:nvPr/>
            </p14:nvContentPartPr>
            <p14:xfrm>
              <a:off x="-640512" y="198417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904EA84-9AC9-F157-5733-4EF1E5831C0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649152" y="19755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748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95459" y="1158196"/>
            <a:ext cx="5615189" cy="4445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Fuzzification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highlight>
                  <a:srgbClr val="FFFF00"/>
                </a:highlight>
              </a:rPr>
              <a:t>The process of converting crisp numerical input values into fuzzy linguistic values by mapping them to appropriate membership functions. </a:t>
            </a:r>
            <a:r>
              <a:rPr lang="en-US" sz="2000" dirty="0"/>
              <a:t>The result is a degree of membership (between 0 and 1) in corresponding fuzzy sets.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Defuzzification: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The process of converting fuzzy output values (represented by fuzzy sets and their degrees of membership) back into a single crisp numerical value for decision-making or control purposes.</a:t>
            </a:r>
            <a:br>
              <a:rPr lang="en-US" sz="2400" dirty="0"/>
            </a:br>
            <a:endParaRPr lang="en-US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1" y="913497"/>
            <a:ext cx="4667250" cy="4552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33154" y="234410"/>
            <a:ext cx="41428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Fuzzy System Overview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9917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24925" y="677626"/>
            <a:ext cx="10526973" cy="4445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Fuzzification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 methods: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singleton fuzzifier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Gaussian fuzzifier, and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trapezoidal or triangular </a:t>
            </a:r>
            <a:r>
              <a:rPr lang="en-US" dirty="0" err="1">
                <a:highlight>
                  <a:srgbClr val="FFFF00"/>
                </a:highlight>
              </a:rPr>
              <a:t>fuzzifier</a:t>
            </a:r>
            <a:endParaRPr lang="en-US" dirty="0">
              <a:highlight>
                <a:srgbClr val="FFFF00"/>
              </a:highlight>
            </a:endParaRPr>
          </a:p>
          <a:p>
            <a:pPr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 </a:t>
            </a:r>
            <a:br>
              <a:rPr lang="en-US" dirty="0"/>
            </a:b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6" y="3284363"/>
            <a:ext cx="9896866" cy="307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1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167" y="991673"/>
            <a:ext cx="7251833" cy="5063410"/>
          </a:xfrm>
          <a:prstGeom prst="rect">
            <a:avLst/>
          </a:prstGeom>
        </p:spPr>
      </p:pic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24926" y="677626"/>
            <a:ext cx="5012990" cy="4445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9600" b="1" dirty="0" err="1">
                <a:solidFill>
                  <a:schemeClr val="accent2">
                    <a:lumMod val="75000"/>
                  </a:schemeClr>
                </a:solidFill>
              </a:rPr>
              <a:t>Defuzzification</a:t>
            </a:r>
            <a:r>
              <a:rPr lang="en-US" sz="9600" b="1" dirty="0">
                <a:solidFill>
                  <a:schemeClr val="accent2">
                    <a:lumMod val="75000"/>
                  </a:schemeClr>
                </a:solidFill>
              </a:rPr>
              <a:t> methods: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9600" dirty="0"/>
              <a:t>First of maximum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9600" dirty="0"/>
              <a:t>Middle of maximum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9600" dirty="0"/>
              <a:t>Last of maximum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9600" dirty="0"/>
              <a:t>Mean of maxima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9600" dirty="0"/>
              <a:t>Random choice of maximum </a:t>
            </a:r>
            <a:br>
              <a:rPr lang="en-US" sz="9600" dirty="0"/>
            </a:br>
            <a:endParaRPr lang="en-US" sz="9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600" dirty="0"/>
              <a:t> </a:t>
            </a:r>
            <a:r>
              <a:rPr lang="en-US" sz="9600" dirty="0">
                <a:highlight>
                  <a:srgbClr val="FFFF00"/>
                </a:highlight>
              </a:rPr>
              <a:t>The first of maximum, middle of maximum, and last of maximum would be -2, -5, and -8 respectively as seen in the diagram.</a:t>
            </a:r>
            <a:br>
              <a:rPr lang="en-US" sz="5600" dirty="0">
                <a:highlight>
                  <a:srgbClr val="FFFF00"/>
                </a:highlight>
              </a:rPr>
            </a:br>
            <a:br>
              <a:rPr lang="en-US" dirty="0"/>
            </a:b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85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C103CAEC-EFA1-47CE-BACF-9A92008C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013" indent="-285774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96" indent="-228619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335" indent="-228619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573" indent="-228619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812" indent="-228619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2050" indent="-228619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289" indent="-228619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527" indent="-228619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25666B-B9E6-4D06-A4F9-06813418CEAE}" type="slidenum">
              <a:rPr lang="en-US" altLang="en-US" sz="8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8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F2724EA0-CABE-47D1-954E-AD8DE13BDA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79752" y="1318396"/>
            <a:ext cx="8832496" cy="2318436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7301" b="1" dirty="0"/>
              <a:t>Examples</a:t>
            </a:r>
            <a:endParaRPr lang="en-US" altLang="en-US" sz="3601" dirty="0"/>
          </a:p>
        </p:txBody>
      </p:sp>
    </p:spTree>
    <p:extLst>
      <p:ext uri="{BB962C8B-B14F-4D97-AF65-F5344CB8AC3E}">
        <p14:creationId xmlns:p14="http://schemas.microsoft.com/office/powerpoint/2010/main" val="30542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8733-AF92-065D-E9B3-3C7EE4F4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BB817C0B-3B9F-DC2F-630C-5633120D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A627967-907C-1A78-8B11-D0CBB503EBCA}"/>
              </a:ext>
            </a:extLst>
          </p:cNvPr>
          <p:cNvSpPr txBox="1">
            <a:spLocks noChangeArrowheads="1"/>
          </p:cNvSpPr>
          <p:nvPr/>
        </p:nvSpPr>
        <p:spPr>
          <a:xfrm>
            <a:off x="524926" y="677626"/>
            <a:ext cx="3979962" cy="580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Fuzzy Control Systems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US" sz="2400" dirty="0"/>
            </a:br>
            <a:br>
              <a:rPr lang="en-US" sz="2000" dirty="0"/>
            </a:b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84D75-2E08-1482-61E0-4C12831D2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6" y="1357049"/>
            <a:ext cx="84677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9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962C-2022-2293-11A6-6EBCE2BD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3FEB6A27-7682-DCEB-FED4-ED4FDEFD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A9C2B81-65BA-58BE-487A-5C7598080006}"/>
              </a:ext>
            </a:extLst>
          </p:cNvPr>
          <p:cNvSpPr txBox="1">
            <a:spLocks noChangeArrowheads="1"/>
          </p:cNvSpPr>
          <p:nvPr/>
        </p:nvSpPr>
        <p:spPr>
          <a:xfrm>
            <a:off x="524925" y="576958"/>
            <a:ext cx="6035266" cy="580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Fuzzy Logic in Washing Machine</a:t>
            </a:r>
            <a:endParaRPr lang="en-US" sz="20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000" b="1" dirty="0"/>
              <a:t>1. Inputs (sensed values)</a:t>
            </a:r>
          </a:p>
          <a:p>
            <a:pPr lvl="1"/>
            <a:r>
              <a:rPr lang="en-US" sz="1600" dirty="0"/>
              <a:t>The machine uses sensors to collect data such as:</a:t>
            </a:r>
          </a:p>
          <a:p>
            <a:pPr lvl="1"/>
            <a:r>
              <a:rPr lang="en-US" sz="1600" b="1" dirty="0"/>
              <a:t>Load weight</a:t>
            </a:r>
            <a:r>
              <a:rPr lang="en-US" sz="1600" dirty="0"/>
              <a:t> (how many clothes)</a:t>
            </a:r>
          </a:p>
          <a:p>
            <a:pPr lvl="1"/>
            <a:r>
              <a:rPr lang="en-US" sz="1600" b="1" dirty="0"/>
              <a:t>Fabric type</a:t>
            </a:r>
            <a:r>
              <a:rPr lang="en-US" sz="1600" dirty="0"/>
              <a:t> (cotton, synthetic, wool, etc.)</a:t>
            </a:r>
          </a:p>
          <a:p>
            <a:pPr lvl="1"/>
            <a:r>
              <a:rPr lang="en-US" sz="1600" b="1" dirty="0"/>
              <a:t>Dirt level</a:t>
            </a:r>
            <a:r>
              <a:rPr lang="en-US" sz="1600" dirty="0"/>
              <a:t> (how dirty the clothes are)</a:t>
            </a:r>
          </a:p>
          <a:p>
            <a:pPr lvl="1"/>
            <a:r>
              <a:rPr lang="en-US" sz="1600" b="1" dirty="0"/>
              <a:t>Water temperature</a:t>
            </a:r>
            <a:endParaRPr lang="en-US" sz="1600" dirty="0"/>
          </a:p>
          <a:p>
            <a:pPr lvl="1"/>
            <a:r>
              <a:rPr lang="en-US" sz="1600" b="1" dirty="0"/>
              <a:t>Detergent amount</a:t>
            </a:r>
            <a:endParaRPr lang="en-US" sz="1600" dirty="0"/>
          </a:p>
          <a:p>
            <a:r>
              <a:rPr lang="en-US" sz="1800" dirty="0"/>
              <a:t>These inputs are often </a:t>
            </a:r>
            <a:r>
              <a:rPr lang="en-US" sz="1800" b="1" dirty="0"/>
              <a:t>uncertain or imprecise</a:t>
            </a:r>
            <a:r>
              <a:rPr lang="en-US" sz="1800" dirty="0"/>
              <a:t>, making them perfect for fuzzy logic.</a:t>
            </a:r>
          </a:p>
          <a:p>
            <a:pPr marL="0" indent="0">
              <a:buNone/>
            </a:pPr>
            <a:r>
              <a:rPr lang="en-US" sz="2000" b="1" dirty="0"/>
              <a:t>2. Fuzzification</a:t>
            </a:r>
          </a:p>
          <a:p>
            <a:pPr lvl="1"/>
            <a:r>
              <a:rPr lang="en-US" sz="1600" dirty="0"/>
              <a:t>The crisp sensor values are converted into </a:t>
            </a:r>
            <a:r>
              <a:rPr lang="en-US" sz="1600" b="1" dirty="0"/>
              <a:t>linguistic variables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Load → </a:t>
            </a:r>
            <a:r>
              <a:rPr lang="en-US" sz="1600" i="1" dirty="0"/>
              <a:t>Small, Medium, Large</a:t>
            </a:r>
            <a:endParaRPr lang="en-US" sz="1600" dirty="0"/>
          </a:p>
          <a:p>
            <a:pPr lvl="1"/>
            <a:r>
              <a:rPr lang="en-US" sz="1600" dirty="0"/>
              <a:t>Dirt level → </a:t>
            </a:r>
            <a:r>
              <a:rPr lang="en-US" sz="1600" i="1" dirty="0"/>
              <a:t>Light, Medium, Heavy</a:t>
            </a:r>
            <a:endParaRPr lang="en-US" sz="1600" dirty="0"/>
          </a:p>
          <a:p>
            <a:pPr lvl="1"/>
            <a:r>
              <a:rPr lang="en-US" sz="1600" dirty="0"/>
              <a:t>Fabric → </a:t>
            </a:r>
            <a:r>
              <a:rPr lang="en-US" sz="1600" i="1" dirty="0"/>
              <a:t>Delicate, Normal, Sturdy</a:t>
            </a:r>
            <a:endParaRPr lang="en-US" sz="1600" dirty="0"/>
          </a:p>
          <a:p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br>
              <a:rPr lang="en-US" sz="2000" dirty="0"/>
            </a:b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5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02C7-2EE4-55E1-BD18-7D28C0F4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Slide Number Placeholder 5">
            <a:extLst>
              <a:ext uri="{FF2B5EF4-FFF2-40B4-BE49-F238E27FC236}">
                <a16:creationId xmlns:a16="http://schemas.microsoft.com/office/drawing/2014/main" id="{17771079-7F69-E7E6-7D67-4C056A46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CFAC1B-87D5-41C8-B823-EE28A5EF4EA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01A9D70-30AA-1ADF-531D-69204888FA29}"/>
              </a:ext>
            </a:extLst>
          </p:cNvPr>
          <p:cNvSpPr txBox="1">
            <a:spLocks noChangeArrowheads="1"/>
          </p:cNvSpPr>
          <p:nvPr/>
        </p:nvSpPr>
        <p:spPr>
          <a:xfrm>
            <a:off x="524925" y="576958"/>
            <a:ext cx="6035266" cy="580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Fuzzy Logic in Washing Machine</a:t>
            </a:r>
            <a:br>
              <a:rPr lang="en-US" sz="2000" dirty="0"/>
            </a:b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3. Fuzzy Rule Base (IF–THEN rules)</a:t>
            </a:r>
          </a:p>
          <a:p>
            <a:pPr lvl="1"/>
            <a:r>
              <a:rPr lang="en-US" sz="1600" dirty="0"/>
              <a:t>The washing machine applies rules like:</a:t>
            </a:r>
          </a:p>
          <a:p>
            <a:pPr lvl="1"/>
            <a:r>
              <a:rPr lang="en-US" sz="1600" dirty="0"/>
              <a:t>IF </a:t>
            </a:r>
            <a:r>
              <a:rPr lang="en-US" sz="1600" i="1" dirty="0"/>
              <a:t>load is Large</a:t>
            </a:r>
            <a:r>
              <a:rPr lang="en-US" sz="1600" dirty="0"/>
              <a:t> AND </a:t>
            </a:r>
            <a:r>
              <a:rPr lang="en-US" sz="1600" i="1" dirty="0"/>
              <a:t>dirt is Heavy</a:t>
            </a:r>
            <a:r>
              <a:rPr lang="en-US" sz="1600" dirty="0"/>
              <a:t> → THEN </a:t>
            </a:r>
            <a:r>
              <a:rPr lang="en-US" sz="1600" i="1" dirty="0"/>
              <a:t>wash time is Long</a:t>
            </a:r>
            <a:endParaRPr lang="en-US" sz="1600" dirty="0"/>
          </a:p>
          <a:p>
            <a:pPr lvl="1"/>
            <a:r>
              <a:rPr lang="en-US" sz="1600" dirty="0"/>
              <a:t>IF </a:t>
            </a:r>
            <a:r>
              <a:rPr lang="en-US" sz="1600" i="1" dirty="0"/>
              <a:t>fabric is Delicate</a:t>
            </a:r>
            <a:r>
              <a:rPr lang="en-US" sz="1600" dirty="0"/>
              <a:t> → THEN </a:t>
            </a:r>
            <a:r>
              <a:rPr lang="en-US" sz="1600" i="1" dirty="0"/>
              <a:t>spin speed is Low</a:t>
            </a:r>
            <a:endParaRPr lang="en-US" sz="1600" dirty="0"/>
          </a:p>
          <a:p>
            <a:pPr lvl="1"/>
            <a:r>
              <a:rPr lang="en-US" sz="1600" dirty="0"/>
              <a:t>IF </a:t>
            </a:r>
            <a:r>
              <a:rPr lang="en-US" sz="1600" i="1" dirty="0"/>
              <a:t>dirt is Light</a:t>
            </a:r>
            <a:r>
              <a:rPr lang="en-US" sz="1600" dirty="0"/>
              <a:t> AND </a:t>
            </a:r>
            <a:r>
              <a:rPr lang="en-US" sz="1600" i="1" dirty="0"/>
              <a:t>load is Small</a:t>
            </a:r>
            <a:r>
              <a:rPr lang="en-US" sz="1600" dirty="0"/>
              <a:t> → THEN </a:t>
            </a:r>
            <a:r>
              <a:rPr lang="en-US" sz="1600" i="1" dirty="0"/>
              <a:t>water usage is Low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4. Inference Engine</a:t>
            </a:r>
          </a:p>
          <a:p>
            <a:pPr lvl="1"/>
            <a:r>
              <a:rPr lang="en-US" sz="1600" dirty="0"/>
              <a:t>The fuzzy controller evaluates all rules and determines suitable washing parameters.</a:t>
            </a:r>
          </a:p>
          <a:p>
            <a:pPr marL="0" indent="0">
              <a:buNone/>
            </a:pPr>
            <a:r>
              <a:rPr lang="en-US" sz="2000" b="1" dirty="0"/>
              <a:t>5. Defuzzification</a:t>
            </a:r>
          </a:p>
          <a:p>
            <a:pPr lvl="1"/>
            <a:r>
              <a:rPr lang="en-US" sz="1600" dirty="0"/>
              <a:t>The fuzzy results are converted back to </a:t>
            </a:r>
            <a:r>
              <a:rPr lang="en-US" sz="1600" b="1" dirty="0"/>
              <a:t>crisp control actions</a:t>
            </a:r>
            <a:r>
              <a:rPr lang="en-US" sz="1600" dirty="0"/>
              <a:t> such as:</a:t>
            </a:r>
          </a:p>
          <a:p>
            <a:pPr lvl="1"/>
            <a:r>
              <a:rPr lang="en-US" sz="1600" dirty="0"/>
              <a:t>Exact </a:t>
            </a:r>
            <a:r>
              <a:rPr lang="en-US" sz="1600" b="1" dirty="0"/>
              <a:t>wash time</a:t>
            </a:r>
            <a:r>
              <a:rPr lang="en-US" sz="1600" dirty="0"/>
              <a:t> (e.g., 42 minutes)</a:t>
            </a:r>
          </a:p>
          <a:p>
            <a:pPr lvl="1"/>
            <a:r>
              <a:rPr lang="en-US" sz="1600" b="1" dirty="0"/>
              <a:t>Water level</a:t>
            </a:r>
            <a:r>
              <a:rPr lang="en-US" sz="1600" dirty="0"/>
              <a:t> (e.g., 35 liters)</a:t>
            </a:r>
          </a:p>
          <a:p>
            <a:pPr lvl="1"/>
            <a:r>
              <a:rPr lang="en-US" sz="1600" b="1" dirty="0"/>
              <a:t>Spin speed</a:t>
            </a:r>
            <a:r>
              <a:rPr lang="en-US" sz="1600" dirty="0"/>
              <a:t> (e.g., 600 RPM)</a:t>
            </a:r>
          </a:p>
          <a:p>
            <a:pPr lvl="1"/>
            <a:r>
              <a:rPr lang="en-US" sz="1600" b="1" dirty="0"/>
              <a:t>Detergent amount</a:t>
            </a:r>
            <a:endParaRPr lang="en-US" sz="1600" dirty="0"/>
          </a:p>
          <a:p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br>
              <a:rPr lang="en-US" sz="2000" dirty="0"/>
            </a:b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004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404" y="4863207"/>
            <a:ext cx="3886352" cy="1291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775" y="1467144"/>
            <a:ext cx="5143158" cy="3106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C64CBC-CC11-4CCC-EC6E-827911662172}"/>
              </a:ext>
            </a:extLst>
          </p:cNvPr>
          <p:cNvSpPr txBox="1"/>
          <p:nvPr/>
        </p:nvSpPr>
        <p:spPr>
          <a:xfrm>
            <a:off x="2034331" y="887492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C55A1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Vehicle Speed (Example)</a:t>
            </a:r>
            <a:endParaRPr 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84BCE7-4140-537E-D52B-65CC40E9807B}"/>
                  </a:ext>
                </a:extLst>
              </p14:cNvPr>
              <p14:cNvContentPartPr/>
              <p14:nvPr/>
            </p14:nvContentPartPr>
            <p14:xfrm>
              <a:off x="2727576" y="4717656"/>
              <a:ext cx="4283280" cy="65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84BCE7-4140-537E-D52B-65CC40E980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8936" y="4709016"/>
                <a:ext cx="4300920" cy="6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2030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395" y="819428"/>
            <a:ext cx="7333978" cy="536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8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613" y="842511"/>
            <a:ext cx="6876207" cy="517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61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593" y="704088"/>
            <a:ext cx="6831552" cy="539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4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928" y="497319"/>
            <a:ext cx="6476907" cy="44386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928" y="4935979"/>
            <a:ext cx="6190580" cy="147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6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1013</Words>
  <Application>Microsoft Office PowerPoint</Application>
  <PresentationFormat>Widescreen</PresentationFormat>
  <Paragraphs>105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(Body)</vt:lpstr>
      <vt:lpstr>Times New Roman</vt:lpstr>
      <vt:lpstr>Office Theme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Kamrul Hasan Tuhin</dc:creator>
  <cp:lastModifiedBy>Md. Ehasan Mahmud</cp:lastModifiedBy>
  <cp:revision>8</cp:revision>
  <dcterms:created xsi:type="dcterms:W3CDTF">2025-08-12T08:39:02Z</dcterms:created>
  <dcterms:modified xsi:type="dcterms:W3CDTF">2025-09-13T19:29:55Z</dcterms:modified>
</cp:coreProperties>
</file>