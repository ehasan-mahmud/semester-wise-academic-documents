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9"/>
  </p:notesMasterIdLst>
  <p:sldIdLst>
    <p:sldId id="256" r:id="rId2"/>
    <p:sldId id="286" r:id="rId3"/>
    <p:sldId id="309" r:id="rId4"/>
    <p:sldId id="318" r:id="rId5"/>
    <p:sldId id="314" r:id="rId6"/>
    <p:sldId id="315" r:id="rId7"/>
    <p:sldId id="316" r:id="rId8"/>
    <p:sldId id="319" r:id="rId9"/>
    <p:sldId id="310" r:id="rId10"/>
    <p:sldId id="311" r:id="rId11"/>
    <p:sldId id="312" r:id="rId12"/>
    <p:sldId id="313" r:id="rId13"/>
    <p:sldId id="321" r:id="rId14"/>
    <p:sldId id="322" r:id="rId15"/>
    <p:sldId id="323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6" r:id="rId27"/>
    <p:sldId id="335" r:id="rId28"/>
    <p:sldId id="344" r:id="rId29"/>
    <p:sldId id="337" r:id="rId30"/>
    <p:sldId id="338" r:id="rId31"/>
    <p:sldId id="339" r:id="rId32"/>
    <p:sldId id="340" r:id="rId33"/>
    <p:sldId id="341" r:id="rId34"/>
    <p:sldId id="342" r:id="rId35"/>
    <p:sldId id="343" r:id="rId36"/>
    <p:sldId id="345" r:id="rId37"/>
    <p:sldId id="31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27" autoAdjust="0"/>
    <p:restoredTop sz="94660"/>
  </p:normalViewPr>
  <p:slideViewPr>
    <p:cSldViewPr snapToGrid="0">
      <p:cViewPr varScale="1">
        <p:scale>
          <a:sx n="93" d="100"/>
          <a:sy n="93" d="100"/>
        </p:scale>
        <p:origin x="53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692DD-F94A-4F3B-8B3A-9C98FB5EDD83}" type="datetimeFigureOut">
              <a:rPr lang="en-US" smtClean="0"/>
              <a:t>23-Mar-24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2186B3-71E0-43CD-B31B-C58646581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15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754183"/>
            <a:ext cx="10058400" cy="1056979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A8FDA3C-E952-47CD-A85C-0752DFDE56CA}" type="datetime4">
              <a:rPr lang="en-US" smtClean="0"/>
              <a:t>23 March,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B50B40B-4036-4F81-8802-F73264B7193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188720" y="4199467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05467" y="4673600"/>
            <a:ext cx="22573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PREPARED  BY</a:t>
            </a:r>
          </a:p>
          <a:p>
            <a:r>
              <a:rPr lang="en-US" sz="1600" b="1" dirty="0">
                <a:latin typeface="Georgia" panose="02040502050405020303" pitchFamily="18" charset="0"/>
              </a:rPr>
              <a:t>SWAPNIL  BISWAS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BBA4AD8-7FD3-0760-78CB-2BD9152908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089" y="1235883"/>
            <a:ext cx="1566675" cy="147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27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B6959-84AB-4A3B-BC4E-A49D75991CDB}" type="datetime4">
              <a:rPr lang="en-US" smtClean="0"/>
              <a:t>23 March, 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638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hank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060852"/>
            <a:ext cx="10058400" cy="891726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48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1215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2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BD8D-88BD-439D-9D6B-2DE6F925F731}" type="datetime4">
              <a:rPr lang="en-US" smtClean="0"/>
              <a:t>23 March,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188720" y="4182533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83179933-F97F-97BF-A524-751FF8727B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142" y="1513381"/>
            <a:ext cx="1566675" cy="147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062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57737-CB90-44CB-B98B-98940CA3CBCF}" type="datetime4">
              <a:rPr lang="en-US" smtClean="0"/>
              <a:t>23 March,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3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A7F39-51EF-43BA-96D1-5FA0DE6807FD}" type="datetime4">
              <a:rPr lang="en-US" smtClean="0"/>
              <a:t>23 March, 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561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9007-1E11-4CD3-A3C8-F52E4A2ADA60}" type="datetime4">
              <a:rPr lang="en-US" smtClean="0"/>
              <a:t>23 March, 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848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4FCD2-0399-4F7F-A46D-AFCA48A1266C}" type="datetime4">
              <a:rPr lang="en-US" smtClean="0"/>
              <a:t>23 March, 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32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5952954-3DD7-4401-8C04-4C18EB25EFDB}" type="datetime4">
              <a:rPr lang="en-US" smtClean="0"/>
              <a:t>23 March,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50B40B-4036-4F81-8802-F73264B71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579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FF810-A37B-4E48-BCCF-0B275D99973B}" type="datetime4">
              <a:rPr lang="en-US" smtClean="0"/>
              <a:t>23 March,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75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CD61A-5F03-4650-8832-C95CF430AD30}" type="datetime4">
              <a:rPr lang="en-US" smtClean="0"/>
              <a:t>23 March,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23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23EED-27FC-4594-834C-0137555A2954}" type="datetime4">
              <a:rPr lang="en-US" smtClean="0"/>
              <a:t>23 March,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280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5EC3C-A4E2-449D-858F-3C9569B3AE2C}" type="datetime4">
              <a:rPr lang="en-US" smtClean="0"/>
              <a:t>23 March,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47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C16218F-7B3C-4707-9AF6-D328B5603A70}" type="datetime4">
              <a:rPr lang="en-US" smtClean="0"/>
              <a:t>23 March, 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B50B40B-4036-4F81-8802-F73264B7193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Content Placeholder 3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392" y="407469"/>
            <a:ext cx="1117546" cy="1039318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5046133" y="6503847"/>
            <a:ext cx="3073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SWAPNIL BISWAS, DEPT OF CSE, BSMRU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9763AE-B170-9E1F-12D0-604A3A2152A2}"/>
              </a:ext>
            </a:extLst>
          </p:cNvPr>
          <p:cNvSpPr/>
          <p:nvPr userDrawn="1"/>
        </p:nvSpPr>
        <p:spPr>
          <a:xfrm>
            <a:off x="10708633" y="299581"/>
            <a:ext cx="1269063" cy="1147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54477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2E9E0C-C7F8-4F53-10FC-35BAEF057B0A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633" y="191842"/>
            <a:ext cx="1268247" cy="11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35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Doubly Linked List</a:t>
            </a:r>
          </a:p>
        </p:txBody>
      </p:sp>
    </p:spTree>
    <p:extLst>
      <p:ext uri="{BB962C8B-B14F-4D97-AF65-F5344CB8AC3E}">
        <p14:creationId xmlns:p14="http://schemas.microsoft.com/office/powerpoint/2010/main" val="3092231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r>
              <a:rPr lang="en-US" b="1" dirty="0"/>
              <a:t>Structure of DLL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3372855" y="3132072"/>
            <a:ext cx="548893" cy="548893"/>
            <a:chOff x="11643107" y="2158069"/>
            <a:chExt cx="548893" cy="548893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28" name="Rectangle 2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919804" y="3128268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1" name="Rectangle 3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820079" y="312826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2" name="Rectangle 4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568422" y="3128267"/>
            <a:ext cx="548893" cy="548893"/>
            <a:chOff x="11643107" y="2158069"/>
            <a:chExt cx="548893" cy="548893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45" name="Rectangle 4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6115371" y="3124463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9" name="Rectangle 4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5015646" y="312446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52" name="Rectangle 5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7757964" y="3124462"/>
            <a:ext cx="548893" cy="548893"/>
            <a:chOff x="11643107" y="2158069"/>
            <a:chExt cx="548893" cy="548893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74" name="Rectangle 17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grpSp>
        <p:nvGrpSpPr>
          <p:cNvPr id="176" name="Group 175"/>
          <p:cNvGrpSpPr/>
          <p:nvPr/>
        </p:nvGrpSpPr>
        <p:grpSpPr>
          <a:xfrm>
            <a:off x="8304913" y="3120658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77" name="Rectangle 17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79" name="Group 178"/>
          <p:cNvGrpSpPr/>
          <p:nvPr/>
        </p:nvGrpSpPr>
        <p:grpSpPr>
          <a:xfrm>
            <a:off x="7205188" y="312065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0" name="Rectangle 17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82" name="Group 181"/>
          <p:cNvGrpSpPr/>
          <p:nvPr/>
        </p:nvGrpSpPr>
        <p:grpSpPr>
          <a:xfrm>
            <a:off x="9953531" y="3120657"/>
            <a:ext cx="548893" cy="548893"/>
            <a:chOff x="11643107" y="2158069"/>
            <a:chExt cx="548893" cy="548893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83" name="Rectangle 182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grpSp>
        <p:nvGrpSpPr>
          <p:cNvPr id="185" name="Group 184"/>
          <p:cNvGrpSpPr/>
          <p:nvPr/>
        </p:nvGrpSpPr>
        <p:grpSpPr>
          <a:xfrm>
            <a:off x="10500480" y="3116853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6" name="Rectangle 185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88" name="Group 187"/>
          <p:cNvGrpSpPr/>
          <p:nvPr/>
        </p:nvGrpSpPr>
        <p:grpSpPr>
          <a:xfrm>
            <a:off x="9400755" y="311685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9" name="Rectangle 18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TextBox 18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242" name="Group 241"/>
          <p:cNvGrpSpPr/>
          <p:nvPr/>
        </p:nvGrpSpPr>
        <p:grpSpPr>
          <a:xfrm>
            <a:off x="3258060" y="1817094"/>
            <a:ext cx="729688" cy="1299758"/>
            <a:chOff x="2491874" y="1750121"/>
            <a:chExt cx="729688" cy="1299758"/>
          </a:xfrm>
        </p:grpSpPr>
        <p:cxnSp>
          <p:nvCxnSpPr>
            <p:cNvPr id="161" name="Straight Arrow Connector 160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TextBox 227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sp>
        <p:nvSpPr>
          <p:cNvPr id="230" name="TextBox 229"/>
          <p:cNvSpPr txBox="1"/>
          <p:nvPr/>
        </p:nvSpPr>
        <p:spPr>
          <a:xfrm>
            <a:off x="1003736" y="3775535"/>
            <a:ext cx="3245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Consists of a series of nodes          </a:t>
            </a:r>
          </a:p>
        </p:txBody>
      </p:sp>
      <p:grpSp>
        <p:nvGrpSpPr>
          <p:cNvPr id="245" name="Group 244"/>
          <p:cNvGrpSpPr/>
          <p:nvPr/>
        </p:nvGrpSpPr>
        <p:grpSpPr>
          <a:xfrm>
            <a:off x="10081474" y="1817094"/>
            <a:ext cx="617280" cy="1299758"/>
            <a:chOff x="9315288" y="1750121"/>
            <a:chExt cx="617280" cy="1299758"/>
          </a:xfrm>
        </p:grpSpPr>
        <p:cxnSp>
          <p:nvCxnSpPr>
            <p:cNvPr id="232" name="Straight Arrow Connector 231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Box 232"/>
            <p:cNvSpPr txBox="1"/>
            <p:nvPr/>
          </p:nvSpPr>
          <p:spPr>
            <a:xfrm>
              <a:off x="9315288" y="1750121"/>
              <a:ext cx="61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  <p:cxnSp>
        <p:nvCxnSpPr>
          <p:cNvPr id="235" name="Straight Arrow Connector 234"/>
          <p:cNvCxnSpPr/>
          <p:nvPr/>
        </p:nvCxnSpPr>
        <p:spPr>
          <a:xfrm flipV="1">
            <a:off x="10970659" y="3391298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TextBox 235"/>
          <p:cNvSpPr txBox="1"/>
          <p:nvPr/>
        </p:nvSpPr>
        <p:spPr>
          <a:xfrm>
            <a:off x="11244758" y="3184328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768079" y="3214242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241" name="Straight Arrow Connector 240"/>
          <p:cNvCxnSpPr/>
          <p:nvPr/>
        </p:nvCxnSpPr>
        <p:spPr>
          <a:xfrm flipH="1">
            <a:off x="2577894" y="3391298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/>
          <p:cNvSpPr txBox="1"/>
          <p:nvPr/>
        </p:nvSpPr>
        <p:spPr>
          <a:xfrm>
            <a:off x="1001893" y="4139516"/>
            <a:ext cx="4226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First node is pointed by a head pointer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001893" y="4492339"/>
            <a:ext cx="4226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Last node is pointed by a tail pointer</a:t>
            </a:r>
          </a:p>
        </p:txBody>
      </p:sp>
      <p:grpSp>
        <p:nvGrpSpPr>
          <p:cNvPr id="247" name="Group 246"/>
          <p:cNvGrpSpPr/>
          <p:nvPr/>
        </p:nvGrpSpPr>
        <p:grpSpPr>
          <a:xfrm>
            <a:off x="4357402" y="2399881"/>
            <a:ext cx="1400614" cy="1209475"/>
            <a:chOff x="3591216" y="2332908"/>
            <a:chExt cx="1400614" cy="1209475"/>
          </a:xfrm>
        </p:grpSpPr>
        <p:grpSp>
          <p:nvGrpSpPr>
            <p:cNvPr id="168" name="Group 167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166" name="Group 165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13" name="Group 112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6" name="Straight Connector 25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Straight Connector 109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Arrow Connector 111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4" name="Rectangle 163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7" name="Rectangle 166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6" name="Rectangle 245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1" name="Group 250"/>
          <p:cNvGrpSpPr/>
          <p:nvPr/>
        </p:nvGrpSpPr>
        <p:grpSpPr>
          <a:xfrm>
            <a:off x="8742511" y="2392271"/>
            <a:ext cx="1400614" cy="1220856"/>
            <a:chOff x="7976325" y="2325298"/>
            <a:chExt cx="1400614" cy="1220856"/>
          </a:xfrm>
        </p:grpSpPr>
        <p:grpSp>
          <p:nvGrpSpPr>
            <p:cNvPr id="191" name="Group 190"/>
            <p:cNvGrpSpPr/>
            <p:nvPr/>
          </p:nvGrpSpPr>
          <p:grpSpPr>
            <a:xfrm>
              <a:off x="7976325" y="2325298"/>
              <a:ext cx="1400614" cy="1183693"/>
              <a:chOff x="3599762" y="2132867"/>
              <a:chExt cx="1400614" cy="1183693"/>
            </a:xfrm>
          </p:grpSpPr>
          <p:grpSp>
            <p:nvGrpSpPr>
              <p:cNvPr id="192" name="Group 191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94" name="Group 193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96" name="Straight Connector 195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7" name="Straight Connector 196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Straight Connector 197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" name="Straight Arrow Connector 198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5" name="Rectangle 194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3" name="Rectangle 192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0" name="Rectangle 249"/>
            <p:cNvSpPr/>
            <p:nvPr/>
          </p:nvSpPr>
          <p:spPr>
            <a:xfrm>
              <a:off x="8194911" y="3432994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2" name="TextBox 251"/>
          <p:cNvSpPr txBox="1"/>
          <p:nvPr/>
        </p:nvSpPr>
        <p:spPr>
          <a:xfrm>
            <a:off x="1001894" y="4856126"/>
            <a:ext cx="5650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Links between the nodes are maintained as following:</a:t>
            </a:r>
          </a:p>
        </p:txBody>
      </p:sp>
      <p:grpSp>
        <p:nvGrpSpPr>
          <p:cNvPr id="254" name="Group 253"/>
          <p:cNvGrpSpPr/>
          <p:nvPr/>
        </p:nvGrpSpPr>
        <p:grpSpPr>
          <a:xfrm>
            <a:off x="3679967" y="2744712"/>
            <a:ext cx="1395501" cy="528191"/>
            <a:chOff x="2913781" y="2677739"/>
            <a:chExt cx="1395501" cy="528191"/>
          </a:xfrm>
        </p:grpSpPr>
        <p:grpSp>
          <p:nvGrpSpPr>
            <p:cNvPr id="172" name="Group 171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170" name="Group 16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122" name="Group 12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15" name="Straight Connector 114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Straight Connector 116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Straight Connector 118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Arrow Connector 120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9" name="Rectangle 168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1" name="Rectangle 17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3" name="Rectangle 252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6544015" y="2399276"/>
            <a:ext cx="1400614" cy="1226567"/>
            <a:chOff x="5777829" y="2332303"/>
            <a:chExt cx="1400614" cy="1226567"/>
          </a:xfrm>
        </p:grpSpPr>
        <p:grpSp>
          <p:nvGrpSpPr>
            <p:cNvPr id="218" name="Group 217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219" name="Group 21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21" name="Group 220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23" name="Straight Connector 222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Straight Connector 223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Straight Connector 224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Straight Arrow Connector 225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2" name="Rectangle 221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0" name="Rectangle 219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8" name="Rectangle 247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8" name="Group 257"/>
          <p:cNvGrpSpPr/>
          <p:nvPr/>
        </p:nvGrpSpPr>
        <p:grpSpPr>
          <a:xfrm>
            <a:off x="8065076" y="2737102"/>
            <a:ext cx="1395501" cy="533259"/>
            <a:chOff x="7298890" y="2670129"/>
            <a:chExt cx="1395501" cy="533259"/>
          </a:xfrm>
          <a:solidFill>
            <a:srgbClr val="7030A0"/>
          </a:solidFill>
        </p:grpSpPr>
        <p:grpSp>
          <p:nvGrpSpPr>
            <p:cNvPr id="200" name="Group 199"/>
            <p:cNvGrpSpPr/>
            <p:nvPr/>
          </p:nvGrpSpPr>
          <p:grpSpPr>
            <a:xfrm>
              <a:off x="7298890" y="2670129"/>
              <a:ext cx="1395501" cy="477140"/>
              <a:chOff x="2922327" y="2477698"/>
              <a:chExt cx="1395501" cy="477140"/>
            </a:xfrm>
            <a:grpFill/>
          </p:grpSpPr>
          <p:grpSp>
            <p:nvGrpSpPr>
              <p:cNvPr id="201" name="Group 200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03" name="Group 202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05" name="Straight Connector 204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6" name="Straight Connector 205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7" name="Straight Connector 206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8" name="Straight Arrow Connector 207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04" name="Rectangle 203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02" name="Rectangle 201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57" name="Rectangle 256"/>
            <p:cNvSpPr/>
            <p:nvPr/>
          </p:nvSpPr>
          <p:spPr>
            <a:xfrm>
              <a:off x="8423999" y="3090228"/>
              <a:ext cx="113160" cy="113160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7030A0"/>
                  </a:solidFill>
                </a:ln>
              </a:endParaRPr>
            </a:p>
          </p:txBody>
        </p:sp>
      </p:grpSp>
      <p:sp>
        <p:nvSpPr>
          <p:cNvPr id="260" name="TextBox 259"/>
          <p:cNvSpPr txBox="1"/>
          <p:nvPr/>
        </p:nvSpPr>
        <p:spPr>
          <a:xfrm>
            <a:off x="1372022" y="5519296"/>
            <a:ext cx="716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Calisto MT" panose="02040603050505030304" pitchFamily="18" charset="0"/>
              </a:rPr>
              <a:t>L</a:t>
            </a:r>
            <a:r>
              <a:rPr lang="en-US" dirty="0">
                <a:latin typeface="Calisto MT" panose="02040603050505030304" pitchFamily="18" charset="0"/>
              </a:rPr>
              <a:t> pointer of a node points it’s previous node (Left node) in the series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372022" y="5184064"/>
            <a:ext cx="6878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Calisto MT" panose="02040603050505030304" pitchFamily="18" charset="0"/>
              </a:rPr>
              <a:t>R</a:t>
            </a:r>
            <a:r>
              <a:rPr lang="en-US" dirty="0">
                <a:latin typeface="Calisto MT" panose="02040603050505030304" pitchFamily="18" charset="0"/>
              </a:rPr>
              <a:t> pointer of a node points it’s next node (Right node) in the series</a:t>
            </a:r>
          </a:p>
        </p:txBody>
      </p:sp>
      <p:grpSp>
        <p:nvGrpSpPr>
          <p:cNvPr id="263" name="Group 262"/>
          <p:cNvGrpSpPr/>
          <p:nvPr/>
        </p:nvGrpSpPr>
        <p:grpSpPr>
          <a:xfrm>
            <a:off x="5934832" y="2737102"/>
            <a:ext cx="1395501" cy="529915"/>
            <a:chOff x="5168646" y="2670129"/>
            <a:chExt cx="1395501" cy="529915"/>
          </a:xfrm>
        </p:grpSpPr>
        <p:grpSp>
          <p:nvGrpSpPr>
            <p:cNvPr id="209" name="Group 208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210" name="Group 20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12" name="Group 21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14" name="Straight Connector 213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" name="Straight Connector 214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Straight Connector 215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Straight Arrow Connector 216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3" name="Rectangle 212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11" name="Rectangle 21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62" name="Rectangle 261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4" name="TextBox 263"/>
          <p:cNvSpPr txBox="1"/>
          <p:nvPr/>
        </p:nvSpPr>
        <p:spPr>
          <a:xfrm>
            <a:off x="1001893" y="5888628"/>
            <a:ext cx="580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alisto MT" panose="02040603050505030304" pitchFamily="18" charset="0"/>
              </a:rPr>
              <a:t>L </a:t>
            </a:r>
            <a:r>
              <a:rPr lang="en-US" dirty="0">
                <a:latin typeface="Calisto MT" panose="02040603050505030304" pitchFamily="18" charset="0"/>
              </a:rPr>
              <a:t>pointer of head and </a:t>
            </a:r>
            <a:r>
              <a:rPr lang="en-US" b="1" dirty="0">
                <a:latin typeface="Calisto MT" panose="02040603050505030304" pitchFamily="18" charset="0"/>
              </a:rPr>
              <a:t>R </a:t>
            </a:r>
            <a:r>
              <a:rPr lang="en-US" dirty="0">
                <a:latin typeface="Calisto MT" panose="02040603050505030304" pitchFamily="18" charset="0"/>
              </a:rPr>
              <a:t>pointer of tail point at NULL</a:t>
            </a:r>
            <a:endParaRPr lang="en-US" b="1" dirty="0">
              <a:latin typeface="Calisto MT" panose="0204060305050503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91A4-B40E-4264-BFFF-1CDDE1A3A9D0}" type="datetime4">
              <a:rPr lang="en-US" smtClean="0"/>
              <a:t>23 March, 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860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/>
      <p:bldP spid="236" grpId="0"/>
      <p:bldP spid="237" grpId="0"/>
      <p:bldP spid="243" grpId="0"/>
      <p:bldP spid="244" grpId="0"/>
      <p:bldP spid="252" grpId="0"/>
      <p:bldP spid="260" grpId="0"/>
      <p:bldP spid="261" grpId="0"/>
      <p:bldP spid="26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229"/>
          <p:cNvSpPr txBox="1"/>
          <p:nvPr/>
        </p:nvSpPr>
        <p:spPr>
          <a:xfrm>
            <a:off x="1003736" y="4014832"/>
            <a:ext cx="3245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Required data structures: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285142" y="4378812"/>
            <a:ext cx="2518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sto MT" panose="02040603050505030304" pitchFamily="18" charset="0"/>
              </a:rPr>
              <a:t>A structure of Node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552809" y="4718203"/>
            <a:ext cx="1474132" cy="1135038"/>
            <a:chOff x="1552809" y="4478906"/>
            <a:chExt cx="1474132" cy="1135038"/>
          </a:xfrm>
        </p:grpSpPr>
        <p:sp>
          <p:nvSpPr>
            <p:cNvPr id="123" name="TextBox 122"/>
            <p:cNvSpPr txBox="1"/>
            <p:nvPr/>
          </p:nvSpPr>
          <p:spPr>
            <a:xfrm>
              <a:off x="1552810" y="4478906"/>
              <a:ext cx="14741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sto MT" panose="02040603050505030304" pitchFamily="18" charset="0"/>
                </a:rPr>
                <a:t>struct</a:t>
              </a:r>
              <a:r>
                <a:rPr lang="en-US" dirty="0">
                  <a:latin typeface="Calisto MT" panose="02040603050505030304" pitchFamily="18" charset="0"/>
                </a:rPr>
                <a:t> Node{ 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1552809" y="5244612"/>
              <a:ext cx="3785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}; </a:t>
              </a:r>
            </a:p>
          </p:txBody>
        </p:sp>
      </p:grpSp>
      <p:sp>
        <p:nvSpPr>
          <p:cNvPr id="125" name="TextBox 124"/>
          <p:cNvSpPr txBox="1"/>
          <p:nvPr/>
        </p:nvSpPr>
        <p:spPr>
          <a:xfrm>
            <a:off x="1924478" y="4970292"/>
            <a:ext cx="677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sto MT" panose="02040603050505030304" pitchFamily="18" charset="0"/>
              </a:rPr>
              <a:t>int</a:t>
            </a:r>
            <a:r>
              <a:rPr lang="en-US" dirty="0">
                <a:latin typeface="Calisto MT" panose="02040603050505030304" pitchFamily="18" charset="0"/>
              </a:rPr>
              <a:t> v;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924477" y="5249641"/>
            <a:ext cx="151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*L, *R;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052285" y="4378812"/>
            <a:ext cx="350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sto MT" panose="02040603050505030304" pitchFamily="18" charset="0"/>
              </a:rPr>
              <a:t>A pointer of Node named </a:t>
            </a:r>
            <a:r>
              <a:rPr lang="en-US" b="1" i="1" dirty="0">
                <a:latin typeface="Calisto MT" panose="02040603050505030304" pitchFamily="18" charset="0"/>
              </a:rPr>
              <a:t>head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052285" y="4775564"/>
            <a:ext cx="350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sto MT" panose="02040603050505030304" pitchFamily="18" charset="0"/>
              </a:rPr>
              <a:t>A pointer of Node named </a:t>
            </a:r>
            <a:r>
              <a:rPr lang="en-US" b="1" i="1" dirty="0">
                <a:latin typeface="Calisto MT" panose="02040603050505030304" pitchFamily="18" charset="0"/>
              </a:rPr>
              <a:t>tail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674A8-4F79-453B-94AE-73D6005E9F2B}" type="datetime4">
              <a:rPr lang="en-US" smtClean="0"/>
              <a:t>23 March, 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3</a:t>
            </a:fld>
            <a:endParaRPr lang="en-US"/>
          </a:p>
        </p:txBody>
      </p:sp>
      <p:grpSp>
        <p:nvGrpSpPr>
          <p:cNvPr id="130" name="Group 129"/>
          <p:cNvGrpSpPr/>
          <p:nvPr/>
        </p:nvGrpSpPr>
        <p:grpSpPr>
          <a:xfrm>
            <a:off x="3372855" y="3132072"/>
            <a:ext cx="548893" cy="548893"/>
            <a:chOff x="11643107" y="2158069"/>
            <a:chExt cx="548893" cy="548893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31" name="Rectangle 13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grpSp>
        <p:nvGrpSpPr>
          <p:cNvPr id="133" name="Group 132"/>
          <p:cNvGrpSpPr/>
          <p:nvPr/>
        </p:nvGrpSpPr>
        <p:grpSpPr>
          <a:xfrm>
            <a:off x="3919804" y="3128268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34" name="Rectangle 13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36" name="Group 135"/>
          <p:cNvGrpSpPr/>
          <p:nvPr/>
        </p:nvGrpSpPr>
        <p:grpSpPr>
          <a:xfrm>
            <a:off x="2820079" y="312826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37" name="Rectangle 13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39" name="Group 138"/>
          <p:cNvGrpSpPr/>
          <p:nvPr/>
        </p:nvGrpSpPr>
        <p:grpSpPr>
          <a:xfrm>
            <a:off x="5568422" y="3128267"/>
            <a:ext cx="548893" cy="548893"/>
            <a:chOff x="11643107" y="2158069"/>
            <a:chExt cx="548893" cy="548893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40" name="Rectangle 13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6115371" y="3124463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43" name="Rectangle 142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45" name="Group 144"/>
          <p:cNvGrpSpPr/>
          <p:nvPr/>
        </p:nvGrpSpPr>
        <p:grpSpPr>
          <a:xfrm>
            <a:off x="5015646" y="312446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46" name="Rectangle 145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48" name="Group 147"/>
          <p:cNvGrpSpPr/>
          <p:nvPr/>
        </p:nvGrpSpPr>
        <p:grpSpPr>
          <a:xfrm>
            <a:off x="7757964" y="3124462"/>
            <a:ext cx="548893" cy="548893"/>
            <a:chOff x="11643107" y="2158069"/>
            <a:chExt cx="548893" cy="548893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49" name="Rectangle 14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grpSp>
        <p:nvGrpSpPr>
          <p:cNvPr id="151" name="Group 150"/>
          <p:cNvGrpSpPr/>
          <p:nvPr/>
        </p:nvGrpSpPr>
        <p:grpSpPr>
          <a:xfrm>
            <a:off x="8304913" y="3120658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52" name="Rectangle 15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54" name="Group 153"/>
          <p:cNvGrpSpPr/>
          <p:nvPr/>
        </p:nvGrpSpPr>
        <p:grpSpPr>
          <a:xfrm>
            <a:off x="7205188" y="312065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55" name="Rectangle 15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9953531" y="3120657"/>
            <a:ext cx="548893" cy="548893"/>
            <a:chOff x="11643107" y="2158069"/>
            <a:chExt cx="548893" cy="548893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58" name="Rectangle 15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grpSp>
        <p:nvGrpSpPr>
          <p:cNvPr id="160" name="Group 159"/>
          <p:cNvGrpSpPr/>
          <p:nvPr/>
        </p:nvGrpSpPr>
        <p:grpSpPr>
          <a:xfrm>
            <a:off x="10500480" y="3116853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62" name="Rectangle 16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65" name="Group 164"/>
          <p:cNvGrpSpPr/>
          <p:nvPr/>
        </p:nvGrpSpPr>
        <p:grpSpPr>
          <a:xfrm>
            <a:off x="9400755" y="311685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27" name="Rectangle 22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231" name="Group 230"/>
          <p:cNvGrpSpPr/>
          <p:nvPr/>
        </p:nvGrpSpPr>
        <p:grpSpPr>
          <a:xfrm>
            <a:off x="3258060" y="1817094"/>
            <a:ext cx="729688" cy="1299758"/>
            <a:chOff x="2491874" y="1750121"/>
            <a:chExt cx="729688" cy="1299758"/>
          </a:xfrm>
        </p:grpSpPr>
        <p:cxnSp>
          <p:nvCxnSpPr>
            <p:cNvPr id="234" name="Straight Arrow Connector 233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TextBox 237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grpSp>
        <p:nvGrpSpPr>
          <p:cNvPr id="239" name="Group 238"/>
          <p:cNvGrpSpPr/>
          <p:nvPr/>
        </p:nvGrpSpPr>
        <p:grpSpPr>
          <a:xfrm>
            <a:off x="10081474" y="1817094"/>
            <a:ext cx="617280" cy="1299758"/>
            <a:chOff x="9315288" y="1750121"/>
            <a:chExt cx="617280" cy="1299758"/>
          </a:xfrm>
        </p:grpSpPr>
        <p:cxnSp>
          <p:nvCxnSpPr>
            <p:cNvPr id="240" name="Straight Arrow Connector 239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" name="TextBox 243"/>
            <p:cNvSpPr txBox="1"/>
            <p:nvPr/>
          </p:nvSpPr>
          <p:spPr>
            <a:xfrm>
              <a:off x="9315288" y="1750121"/>
              <a:ext cx="61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  <p:cxnSp>
        <p:nvCxnSpPr>
          <p:cNvPr id="252" name="Straight Arrow Connector 251"/>
          <p:cNvCxnSpPr/>
          <p:nvPr/>
        </p:nvCxnSpPr>
        <p:spPr>
          <a:xfrm flipV="1">
            <a:off x="10970659" y="3391298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Box 254"/>
          <p:cNvSpPr txBox="1"/>
          <p:nvPr/>
        </p:nvSpPr>
        <p:spPr>
          <a:xfrm>
            <a:off x="11244758" y="3184328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768079" y="3214242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259" name="Straight Arrow Connector 258"/>
          <p:cNvCxnSpPr/>
          <p:nvPr/>
        </p:nvCxnSpPr>
        <p:spPr>
          <a:xfrm flipH="1">
            <a:off x="2577894" y="3391298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0" name="Group 259"/>
          <p:cNvGrpSpPr/>
          <p:nvPr/>
        </p:nvGrpSpPr>
        <p:grpSpPr>
          <a:xfrm>
            <a:off x="4357402" y="2399881"/>
            <a:ext cx="1400614" cy="1209475"/>
            <a:chOff x="3591216" y="2332908"/>
            <a:chExt cx="1400614" cy="1209475"/>
          </a:xfrm>
        </p:grpSpPr>
        <p:grpSp>
          <p:nvGrpSpPr>
            <p:cNvPr id="261" name="Group 260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265" name="Group 264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67" name="Group 266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69" name="Straight Connector 268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0" name="Straight Connector 269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1" name="Straight Connector 270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2" name="Straight Arrow Connector 271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68" name="Rectangle 267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66" name="Rectangle 265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4" name="Rectangle 263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3" name="Group 272"/>
          <p:cNvGrpSpPr/>
          <p:nvPr/>
        </p:nvGrpSpPr>
        <p:grpSpPr>
          <a:xfrm>
            <a:off x="8742511" y="2392271"/>
            <a:ext cx="1400614" cy="1220856"/>
            <a:chOff x="7976325" y="2325298"/>
            <a:chExt cx="1400614" cy="1220856"/>
          </a:xfrm>
        </p:grpSpPr>
        <p:grpSp>
          <p:nvGrpSpPr>
            <p:cNvPr id="274" name="Group 273"/>
            <p:cNvGrpSpPr/>
            <p:nvPr/>
          </p:nvGrpSpPr>
          <p:grpSpPr>
            <a:xfrm>
              <a:off x="7976325" y="2325298"/>
              <a:ext cx="1400614" cy="1183693"/>
              <a:chOff x="3599762" y="2132867"/>
              <a:chExt cx="1400614" cy="1183693"/>
            </a:xfrm>
          </p:grpSpPr>
          <p:grpSp>
            <p:nvGrpSpPr>
              <p:cNvPr id="276" name="Group 275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78" name="Group 277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80" name="Straight Connector 279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1" name="Straight Connector 280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2" name="Straight Connector 281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3" name="Straight Arrow Connector 282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79" name="Rectangle 278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77" name="Rectangle 276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5" name="Rectangle 274"/>
            <p:cNvSpPr/>
            <p:nvPr/>
          </p:nvSpPr>
          <p:spPr>
            <a:xfrm>
              <a:off x="8194911" y="3432994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4" name="Group 283"/>
          <p:cNvGrpSpPr/>
          <p:nvPr/>
        </p:nvGrpSpPr>
        <p:grpSpPr>
          <a:xfrm>
            <a:off x="3679967" y="2744712"/>
            <a:ext cx="1395501" cy="528191"/>
            <a:chOff x="2913781" y="2677739"/>
            <a:chExt cx="1395501" cy="528191"/>
          </a:xfrm>
        </p:grpSpPr>
        <p:grpSp>
          <p:nvGrpSpPr>
            <p:cNvPr id="285" name="Group 284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287" name="Group 286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289" name="Group 288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291" name="Straight Connector 290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2" name="Straight Connector 291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3" name="Straight Connector 292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4" name="Straight Arrow Connector 293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90" name="Rectangle 289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88" name="Rectangle 287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6" name="Rectangle 285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5" name="Group 294"/>
          <p:cNvGrpSpPr/>
          <p:nvPr/>
        </p:nvGrpSpPr>
        <p:grpSpPr>
          <a:xfrm>
            <a:off x="6544015" y="2399276"/>
            <a:ext cx="1400614" cy="1226567"/>
            <a:chOff x="5777829" y="2332303"/>
            <a:chExt cx="1400614" cy="1226567"/>
          </a:xfrm>
        </p:grpSpPr>
        <p:grpSp>
          <p:nvGrpSpPr>
            <p:cNvPr id="296" name="Group 295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298" name="Group 297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300" name="Group 299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302" name="Straight Connector 301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3" name="Straight Connector 302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4" name="Straight Connector 303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5" name="Straight Arrow Connector 304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01" name="Rectangle 300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99" name="Rectangle 298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7" name="Rectangle 296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6" name="Group 305"/>
          <p:cNvGrpSpPr/>
          <p:nvPr/>
        </p:nvGrpSpPr>
        <p:grpSpPr>
          <a:xfrm>
            <a:off x="8065076" y="2737102"/>
            <a:ext cx="1395501" cy="533259"/>
            <a:chOff x="7298890" y="2670129"/>
            <a:chExt cx="1395501" cy="533259"/>
          </a:xfrm>
          <a:solidFill>
            <a:srgbClr val="7030A0"/>
          </a:solidFill>
        </p:grpSpPr>
        <p:grpSp>
          <p:nvGrpSpPr>
            <p:cNvPr id="307" name="Group 306"/>
            <p:cNvGrpSpPr/>
            <p:nvPr/>
          </p:nvGrpSpPr>
          <p:grpSpPr>
            <a:xfrm>
              <a:off x="7298890" y="2670129"/>
              <a:ext cx="1395501" cy="477140"/>
              <a:chOff x="2922327" y="2477698"/>
              <a:chExt cx="1395501" cy="477140"/>
            </a:xfrm>
            <a:grpFill/>
          </p:grpSpPr>
          <p:grpSp>
            <p:nvGrpSpPr>
              <p:cNvPr id="309" name="Group 308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311" name="Group 310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313" name="Straight Connector 312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" name="Straight Connector 313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5" name="Straight Connector 314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6" name="Straight Arrow Connector 315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12" name="Rectangle 311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310" name="Rectangle 309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308" name="Rectangle 307"/>
            <p:cNvSpPr/>
            <p:nvPr/>
          </p:nvSpPr>
          <p:spPr>
            <a:xfrm>
              <a:off x="8423999" y="3090228"/>
              <a:ext cx="113160" cy="113160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7030A0"/>
                  </a:solidFill>
                </a:ln>
              </a:endParaRPr>
            </a:p>
          </p:txBody>
        </p:sp>
      </p:grpSp>
      <p:grpSp>
        <p:nvGrpSpPr>
          <p:cNvPr id="317" name="Group 316"/>
          <p:cNvGrpSpPr/>
          <p:nvPr/>
        </p:nvGrpSpPr>
        <p:grpSpPr>
          <a:xfrm>
            <a:off x="5934832" y="2737102"/>
            <a:ext cx="1395501" cy="529915"/>
            <a:chOff x="5168646" y="2670129"/>
            <a:chExt cx="1395501" cy="529915"/>
          </a:xfrm>
        </p:grpSpPr>
        <p:grpSp>
          <p:nvGrpSpPr>
            <p:cNvPr id="318" name="Group 317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320" name="Group 31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322" name="Group 32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324" name="Straight Connector 323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5" name="Straight Connector 324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6" name="Straight Connector 325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7" name="Straight Arrow Connector 326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23" name="Rectangle 322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321" name="Rectangle 32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319" name="Rectangle 318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8" name="Title 1"/>
          <p:cNvSpPr txBox="1">
            <a:spLocks/>
          </p:cNvSpPr>
          <p:nvPr/>
        </p:nvSpPr>
        <p:spPr>
          <a:xfrm>
            <a:off x="1249680" y="206877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br>
              <a:rPr lang="en-US" b="1"/>
            </a:br>
            <a:r>
              <a:rPr lang="en-US" b="1"/>
              <a:t>Structure of DLL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4072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/>
      <p:bldP spid="243" grpId="0"/>
      <p:bldP spid="125" grpId="0"/>
      <p:bldP spid="126" grpId="0"/>
      <p:bldP spid="127" grpId="0"/>
      <p:bldP spid="1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Operations of DLL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B6959-84AB-4A3B-BC4E-A49D75991CDB}" type="datetime4">
              <a:rPr lang="en-US" smtClean="0"/>
              <a:t>23 March, 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97279" y="1895475"/>
            <a:ext cx="1466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Insertion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1870" y="2285716"/>
            <a:ext cx="185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sto MT" panose="02040603050505030304" pitchFamily="18" charset="0"/>
              </a:rPr>
              <a:t>Insert at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1870" y="2675957"/>
            <a:ext cx="185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sto MT" panose="02040603050505030304" pitchFamily="18" charset="0"/>
              </a:rPr>
              <a:t>Insert at last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1869" y="3066198"/>
            <a:ext cx="2097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sto MT" panose="02040603050505030304" pitchFamily="18" charset="0"/>
              </a:rPr>
              <a:t>Insert at interior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79" y="3641105"/>
            <a:ext cx="1466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Deletion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1869" y="4031346"/>
            <a:ext cx="2459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sto MT" panose="02040603050505030304" pitchFamily="18" charset="0"/>
              </a:rPr>
              <a:t>Delete first element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1869" y="4421587"/>
            <a:ext cx="2373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sto MT" panose="02040603050505030304" pitchFamily="18" charset="0"/>
              </a:rPr>
              <a:t>Delete last element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1869" y="4811828"/>
            <a:ext cx="3296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sto MT" panose="02040603050505030304" pitchFamily="18" charset="0"/>
              </a:rPr>
              <a:t>Delete any interior element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78" y="5309971"/>
            <a:ext cx="1466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Find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1868" y="5721121"/>
            <a:ext cx="4382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>
                <a:latin typeface="Calisto MT" panose="02040603050505030304" pitchFamily="18" charset="0"/>
              </a:rPr>
              <a:t>Note: Returns the reference of the node</a:t>
            </a:r>
          </a:p>
        </p:txBody>
      </p:sp>
    </p:spTree>
    <p:extLst>
      <p:ext uri="{BB962C8B-B14F-4D97-AF65-F5344CB8AC3E}">
        <p14:creationId xmlns:p14="http://schemas.microsoft.com/office/powerpoint/2010/main" val="104922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658" y="192965"/>
            <a:ext cx="11422309" cy="1450757"/>
          </a:xfrm>
        </p:spPr>
        <p:txBody>
          <a:bodyPr>
            <a:normAutofit/>
          </a:bodyPr>
          <a:lstStyle/>
          <a:p>
            <a:r>
              <a:rPr lang="en-US" sz="4400" b="1" dirty="0"/>
              <a:t>Find an Element (First Occurrence)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0478572" y="3296817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001893" y="3326731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241" name="Straight Arrow Connector 240"/>
          <p:cNvCxnSpPr/>
          <p:nvPr/>
        </p:nvCxnSpPr>
        <p:spPr>
          <a:xfrm flipH="1">
            <a:off x="1811708" y="3503787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971160" y="4127205"/>
            <a:ext cx="217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Is temp-&gt;v = x?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150138" y="4132159"/>
            <a:ext cx="797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sto MT" panose="02040603050505030304" pitchFamily="18" charset="0"/>
              </a:rPr>
              <a:t>No</a:t>
            </a:r>
          </a:p>
        </p:txBody>
      </p:sp>
      <p:grpSp>
        <p:nvGrpSpPr>
          <p:cNvPr id="118" name="Group 117"/>
          <p:cNvGrpSpPr/>
          <p:nvPr/>
        </p:nvGrpSpPr>
        <p:grpSpPr>
          <a:xfrm>
            <a:off x="525854" y="4027555"/>
            <a:ext cx="3604969" cy="2220749"/>
            <a:chOff x="1000860" y="4017182"/>
            <a:chExt cx="3463381" cy="2220749"/>
          </a:xfrm>
        </p:grpSpPr>
        <p:sp>
          <p:nvSpPr>
            <p:cNvPr id="120" name="TextBox 119"/>
            <p:cNvSpPr txBox="1"/>
            <p:nvPr/>
          </p:nvSpPr>
          <p:spPr>
            <a:xfrm>
              <a:off x="1002939" y="4017182"/>
              <a:ext cx="34613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Node*  </a:t>
              </a:r>
              <a:r>
                <a:rPr lang="en-US" dirty="0" err="1">
                  <a:latin typeface="Calisto MT" panose="02040603050505030304" pitchFamily="18" charset="0"/>
                </a:rPr>
                <a:t>findFirstOccurrence</a:t>
              </a:r>
              <a:r>
                <a:rPr lang="en-US" dirty="0">
                  <a:latin typeface="Calisto MT" panose="02040603050505030304" pitchFamily="18" charset="0"/>
                </a:rPr>
                <a:t>(</a:t>
              </a:r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x){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1000860" y="5868599"/>
              <a:ext cx="41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sp>
        <p:nvSpPr>
          <p:cNvPr id="128" name="TextBox 127"/>
          <p:cNvSpPr txBox="1"/>
          <p:nvPr/>
        </p:nvSpPr>
        <p:spPr>
          <a:xfrm>
            <a:off x="3777237" y="1795126"/>
            <a:ext cx="475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i="1" u="sng" dirty="0">
                <a:solidFill>
                  <a:srgbClr val="FF0000"/>
                </a:solidFill>
                <a:latin typeface="Calisto MT" panose="02040603050505030304" pitchFamily="18" charset="0"/>
              </a:rPr>
              <a:t>Case 1: x is not present in the list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0227000" y="2386519"/>
            <a:ext cx="1209647" cy="992987"/>
            <a:chOff x="10227000" y="2386519"/>
            <a:chExt cx="1209647" cy="992987"/>
          </a:xfrm>
        </p:grpSpPr>
        <p:sp>
          <p:nvSpPr>
            <p:cNvPr id="6" name="Rectangle 5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5" name="Group 124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126" name="Straight Arrow Connector 125"/>
              <p:cNvCxnSpPr>
                <a:stCxn id="127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TextBox 126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132" name="Group 131"/>
          <p:cNvGrpSpPr/>
          <p:nvPr/>
        </p:nvGrpSpPr>
        <p:grpSpPr>
          <a:xfrm>
            <a:off x="9311163" y="2230972"/>
            <a:ext cx="1209647" cy="992987"/>
            <a:chOff x="10227000" y="2386519"/>
            <a:chExt cx="1209647" cy="992987"/>
          </a:xfrm>
        </p:grpSpPr>
        <p:sp>
          <p:nvSpPr>
            <p:cNvPr id="133" name="Rectangle 132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4" name="Group 133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135" name="Straight Arrow Connector 134"/>
              <p:cNvCxnSpPr>
                <a:stCxn id="136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TextBox 135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137" name="Group 136"/>
          <p:cNvGrpSpPr/>
          <p:nvPr/>
        </p:nvGrpSpPr>
        <p:grpSpPr>
          <a:xfrm>
            <a:off x="6934918" y="2256087"/>
            <a:ext cx="1209647" cy="992987"/>
            <a:chOff x="10227000" y="2386519"/>
            <a:chExt cx="1209647" cy="992987"/>
          </a:xfrm>
        </p:grpSpPr>
        <p:sp>
          <p:nvSpPr>
            <p:cNvPr id="138" name="Rectangle 137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9" name="Group 138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140" name="Straight Arrow Connector 139"/>
              <p:cNvCxnSpPr>
                <a:stCxn id="141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TextBox 140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142" name="Group 141"/>
          <p:cNvGrpSpPr/>
          <p:nvPr/>
        </p:nvGrpSpPr>
        <p:grpSpPr>
          <a:xfrm>
            <a:off x="4762556" y="2269462"/>
            <a:ext cx="1209647" cy="992987"/>
            <a:chOff x="10227000" y="2386519"/>
            <a:chExt cx="1209647" cy="992987"/>
          </a:xfrm>
        </p:grpSpPr>
        <p:sp>
          <p:nvSpPr>
            <p:cNvPr id="143" name="Rectangle 142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4" name="Group 143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145" name="Straight Arrow Connector 144"/>
              <p:cNvCxnSpPr>
                <a:stCxn id="146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TextBox 145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147" name="Group 146"/>
          <p:cNvGrpSpPr/>
          <p:nvPr/>
        </p:nvGrpSpPr>
        <p:grpSpPr>
          <a:xfrm>
            <a:off x="2589715" y="2267635"/>
            <a:ext cx="1209647" cy="992987"/>
            <a:chOff x="10227000" y="2386519"/>
            <a:chExt cx="1209647" cy="992987"/>
          </a:xfrm>
        </p:grpSpPr>
        <p:sp>
          <p:nvSpPr>
            <p:cNvPr id="148" name="Rectangle 147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9" name="Group 148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150" name="Straight Arrow Connector 149"/>
              <p:cNvCxnSpPr>
                <a:stCxn id="151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" name="TextBox 150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27" name="Group 26"/>
          <p:cNvGrpSpPr/>
          <p:nvPr/>
        </p:nvGrpSpPr>
        <p:grpSpPr>
          <a:xfrm>
            <a:off x="2606669" y="3244561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8" name="Rectangle 2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153618" y="324075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1" name="Rectangle 3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053893" y="324075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2" name="Rectangle 4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4802236" y="3240756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5" name="Rectangle 4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b           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5349185" y="323695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9" name="Rectangle 4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4249460" y="323695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52" name="Rectangle 5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6991778" y="3236951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74" name="Rectangle 17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grpSp>
        <p:nvGrpSpPr>
          <p:cNvPr id="176" name="Group 175"/>
          <p:cNvGrpSpPr/>
          <p:nvPr/>
        </p:nvGrpSpPr>
        <p:grpSpPr>
          <a:xfrm>
            <a:off x="7538727" y="323314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77" name="Rectangle 17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79" name="Group 178"/>
          <p:cNvGrpSpPr/>
          <p:nvPr/>
        </p:nvGrpSpPr>
        <p:grpSpPr>
          <a:xfrm>
            <a:off x="6439002" y="323314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0" name="Rectangle 17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82" name="Group 181"/>
          <p:cNvGrpSpPr/>
          <p:nvPr/>
        </p:nvGrpSpPr>
        <p:grpSpPr>
          <a:xfrm>
            <a:off x="9187345" y="3233146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83" name="Rectangle 182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d           </a:t>
              </a:r>
            </a:p>
          </p:txBody>
        </p:sp>
      </p:grpSp>
      <p:grpSp>
        <p:nvGrpSpPr>
          <p:cNvPr id="185" name="Group 184"/>
          <p:cNvGrpSpPr/>
          <p:nvPr/>
        </p:nvGrpSpPr>
        <p:grpSpPr>
          <a:xfrm>
            <a:off x="9734294" y="322934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6" name="Rectangle 185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88" name="Group 187"/>
          <p:cNvGrpSpPr/>
          <p:nvPr/>
        </p:nvGrpSpPr>
        <p:grpSpPr>
          <a:xfrm>
            <a:off x="8634569" y="322934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9" name="Rectangle 18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TextBox 18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245" name="Group 244"/>
          <p:cNvGrpSpPr/>
          <p:nvPr/>
        </p:nvGrpSpPr>
        <p:grpSpPr>
          <a:xfrm>
            <a:off x="9315288" y="1929583"/>
            <a:ext cx="617280" cy="1299758"/>
            <a:chOff x="9315288" y="1750121"/>
            <a:chExt cx="617280" cy="1299758"/>
          </a:xfrm>
        </p:grpSpPr>
        <p:cxnSp>
          <p:nvCxnSpPr>
            <p:cNvPr id="232" name="Straight Arrow Connector 231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Box 232"/>
            <p:cNvSpPr txBox="1"/>
            <p:nvPr/>
          </p:nvSpPr>
          <p:spPr>
            <a:xfrm>
              <a:off x="9315288" y="1750121"/>
              <a:ext cx="61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  <p:grpSp>
        <p:nvGrpSpPr>
          <p:cNvPr id="247" name="Group 246"/>
          <p:cNvGrpSpPr/>
          <p:nvPr/>
        </p:nvGrpSpPr>
        <p:grpSpPr>
          <a:xfrm>
            <a:off x="3591216" y="2512370"/>
            <a:ext cx="1400614" cy="1209475"/>
            <a:chOff x="3591216" y="2332908"/>
            <a:chExt cx="1400614" cy="1209475"/>
          </a:xfrm>
        </p:grpSpPr>
        <p:grpSp>
          <p:nvGrpSpPr>
            <p:cNvPr id="168" name="Group 167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166" name="Group 165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13" name="Group 112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6" name="Straight Connector 25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Straight Connector 109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Arrow Connector 111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4" name="Rectangle 163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7" name="Rectangle 166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6" name="Rectangle 245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1" name="Group 250"/>
          <p:cNvGrpSpPr/>
          <p:nvPr/>
        </p:nvGrpSpPr>
        <p:grpSpPr>
          <a:xfrm>
            <a:off x="7976325" y="2504760"/>
            <a:ext cx="1400614" cy="1220856"/>
            <a:chOff x="7976325" y="2325298"/>
            <a:chExt cx="1400614" cy="1220856"/>
          </a:xfrm>
        </p:grpSpPr>
        <p:grpSp>
          <p:nvGrpSpPr>
            <p:cNvPr id="191" name="Group 190"/>
            <p:cNvGrpSpPr/>
            <p:nvPr/>
          </p:nvGrpSpPr>
          <p:grpSpPr>
            <a:xfrm>
              <a:off x="7976325" y="2325298"/>
              <a:ext cx="1400614" cy="1183693"/>
              <a:chOff x="3599762" y="2132867"/>
              <a:chExt cx="1400614" cy="1183693"/>
            </a:xfrm>
          </p:grpSpPr>
          <p:grpSp>
            <p:nvGrpSpPr>
              <p:cNvPr id="192" name="Group 191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94" name="Group 193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96" name="Straight Connector 195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7" name="Straight Connector 196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Straight Connector 197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" name="Straight Arrow Connector 198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5" name="Rectangle 194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3" name="Rectangle 192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0" name="Rectangle 249"/>
            <p:cNvSpPr/>
            <p:nvPr/>
          </p:nvSpPr>
          <p:spPr>
            <a:xfrm>
              <a:off x="8194911" y="3432994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5777829" y="2511765"/>
            <a:ext cx="1400614" cy="1226567"/>
            <a:chOff x="5777829" y="2332303"/>
            <a:chExt cx="1400614" cy="1226567"/>
          </a:xfrm>
        </p:grpSpPr>
        <p:grpSp>
          <p:nvGrpSpPr>
            <p:cNvPr id="218" name="Group 217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219" name="Group 21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21" name="Group 220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23" name="Straight Connector 222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Straight Connector 223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Straight Connector 224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Straight Arrow Connector 225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2" name="Rectangle 221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0" name="Rectangle 219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8" name="Rectangle 247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7104105" y="4130295"/>
            <a:ext cx="227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sto MT" panose="02040603050505030304" pitchFamily="18" charset="0"/>
              </a:rPr>
              <a:t>Shift temp to right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3585" y="2386519"/>
            <a:ext cx="667120" cy="8428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2" name="Group 241"/>
          <p:cNvGrpSpPr/>
          <p:nvPr/>
        </p:nvGrpSpPr>
        <p:grpSpPr>
          <a:xfrm>
            <a:off x="2491874" y="1929583"/>
            <a:ext cx="729688" cy="1299758"/>
            <a:chOff x="2491874" y="1750121"/>
            <a:chExt cx="729688" cy="1299758"/>
          </a:xfrm>
        </p:grpSpPr>
        <p:cxnSp>
          <p:nvCxnSpPr>
            <p:cNvPr id="161" name="Straight Arrow Connector 160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TextBox 227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grpSp>
        <p:nvGrpSpPr>
          <p:cNvPr id="254" name="Group 253"/>
          <p:cNvGrpSpPr/>
          <p:nvPr/>
        </p:nvGrpSpPr>
        <p:grpSpPr>
          <a:xfrm>
            <a:off x="2913781" y="2857201"/>
            <a:ext cx="1395501" cy="528191"/>
            <a:chOff x="2913781" y="2677739"/>
            <a:chExt cx="1395501" cy="528191"/>
          </a:xfrm>
        </p:grpSpPr>
        <p:grpSp>
          <p:nvGrpSpPr>
            <p:cNvPr id="172" name="Group 171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170" name="Group 16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122" name="Group 12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15" name="Straight Connector 114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Straight Connector 116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Straight Connector 118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Arrow Connector 120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9" name="Rectangle 168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1" name="Rectangle 17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3" name="Rectangle 252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5" name="TextBox 154"/>
          <p:cNvSpPr txBox="1"/>
          <p:nvPr/>
        </p:nvSpPr>
        <p:spPr>
          <a:xfrm>
            <a:off x="3971160" y="4536544"/>
            <a:ext cx="217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Is temp-&gt;v = x?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150138" y="4541498"/>
            <a:ext cx="797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sto MT" panose="02040603050505030304" pitchFamily="18" charset="0"/>
              </a:rPr>
              <a:t>No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104105" y="4539634"/>
            <a:ext cx="227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sto MT" panose="02040603050505030304" pitchFamily="18" charset="0"/>
              </a:rPr>
              <a:t>Shift temp to right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59110" y="2365079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/>
          <p:cNvSpPr txBox="1"/>
          <p:nvPr/>
        </p:nvSpPr>
        <p:spPr>
          <a:xfrm>
            <a:off x="3971160" y="4927904"/>
            <a:ext cx="217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Is temp-&gt;v = x?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150138" y="4932858"/>
            <a:ext cx="797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sto MT" panose="02040603050505030304" pitchFamily="18" charset="0"/>
              </a:rPr>
              <a:t>No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104105" y="4930994"/>
            <a:ext cx="227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sto MT" panose="02040603050505030304" pitchFamily="18" charset="0"/>
              </a:rPr>
              <a:t>Shift temp to right</a:t>
            </a:r>
          </a:p>
        </p:txBody>
      </p:sp>
      <p:grpSp>
        <p:nvGrpSpPr>
          <p:cNvPr id="263" name="Group 262"/>
          <p:cNvGrpSpPr/>
          <p:nvPr/>
        </p:nvGrpSpPr>
        <p:grpSpPr>
          <a:xfrm>
            <a:off x="5168646" y="2849591"/>
            <a:ext cx="1395501" cy="529915"/>
            <a:chOff x="5168646" y="2670129"/>
            <a:chExt cx="1395501" cy="529915"/>
          </a:xfrm>
        </p:grpSpPr>
        <p:grpSp>
          <p:nvGrpSpPr>
            <p:cNvPr id="209" name="Group 208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210" name="Group 20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12" name="Group 21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14" name="Straight Connector 213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" name="Straight Connector 214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Straight Connector 215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Straight Arrow Connector 216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3" name="Rectangle 212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11" name="Rectangle 21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62" name="Rectangle 261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3" name="Rectangle 162"/>
          <p:cNvSpPr/>
          <p:nvPr/>
        </p:nvSpPr>
        <p:spPr>
          <a:xfrm>
            <a:off x="7237292" y="2364112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8" name="Group 257"/>
          <p:cNvGrpSpPr/>
          <p:nvPr/>
        </p:nvGrpSpPr>
        <p:grpSpPr>
          <a:xfrm>
            <a:off x="7298890" y="2849591"/>
            <a:ext cx="1395501" cy="533259"/>
            <a:chOff x="7298890" y="2670129"/>
            <a:chExt cx="1395501" cy="533259"/>
          </a:xfrm>
          <a:solidFill>
            <a:srgbClr val="7030A0"/>
          </a:solidFill>
        </p:grpSpPr>
        <p:grpSp>
          <p:nvGrpSpPr>
            <p:cNvPr id="200" name="Group 199"/>
            <p:cNvGrpSpPr/>
            <p:nvPr/>
          </p:nvGrpSpPr>
          <p:grpSpPr>
            <a:xfrm>
              <a:off x="7298890" y="2670129"/>
              <a:ext cx="1395501" cy="477140"/>
              <a:chOff x="2922327" y="2477698"/>
              <a:chExt cx="1395501" cy="477140"/>
            </a:xfrm>
            <a:grpFill/>
          </p:grpSpPr>
          <p:grpSp>
            <p:nvGrpSpPr>
              <p:cNvPr id="201" name="Group 200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03" name="Group 202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05" name="Straight Connector 204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6" name="Straight Connector 205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7" name="Straight Connector 206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8" name="Straight Arrow Connector 207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04" name="Rectangle 203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02" name="Rectangle 201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57" name="Rectangle 256"/>
            <p:cNvSpPr/>
            <p:nvPr/>
          </p:nvSpPr>
          <p:spPr>
            <a:xfrm>
              <a:off x="8423999" y="3090228"/>
              <a:ext cx="113160" cy="113160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7030A0"/>
                  </a:solidFill>
                </a:ln>
              </a:endParaRPr>
            </a:p>
          </p:txBody>
        </p:sp>
      </p:grpSp>
      <p:sp>
        <p:nvSpPr>
          <p:cNvPr id="165" name="TextBox 164"/>
          <p:cNvSpPr txBox="1"/>
          <p:nvPr/>
        </p:nvSpPr>
        <p:spPr>
          <a:xfrm>
            <a:off x="3966119" y="5322354"/>
            <a:ext cx="217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Is temp-&gt;v = x?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6145097" y="5327308"/>
            <a:ext cx="797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sto MT" panose="02040603050505030304" pitchFamily="18" charset="0"/>
              </a:rPr>
              <a:t>No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7099064" y="5325444"/>
            <a:ext cx="227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sto MT" panose="02040603050505030304" pitchFamily="18" charset="0"/>
              </a:rPr>
              <a:t>Shift temp to right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9626420" y="2353531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TextBox 230"/>
          <p:cNvSpPr txBox="1"/>
          <p:nvPr/>
        </p:nvSpPr>
        <p:spPr>
          <a:xfrm>
            <a:off x="3974239" y="5721758"/>
            <a:ext cx="5765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temp has reached to NULL, means element not found 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9692915" y="5721758"/>
            <a:ext cx="2606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sto MT" panose="02040603050505030304" pitchFamily="18" charset="0"/>
              </a:rPr>
              <a:t>Return temp (NULL)</a:t>
            </a:r>
          </a:p>
        </p:txBody>
      </p:sp>
      <p:cxnSp>
        <p:nvCxnSpPr>
          <p:cNvPr id="235" name="Straight Arrow Connector 234"/>
          <p:cNvCxnSpPr/>
          <p:nvPr/>
        </p:nvCxnSpPr>
        <p:spPr>
          <a:xfrm flipV="1">
            <a:off x="10204473" y="3503787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E420B-7FD9-47C8-BF34-850735ED5BE4}" type="datetime4">
              <a:rPr lang="en-US" smtClean="0"/>
              <a:t>23 March, 2024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43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/>
      <p:bldP spid="116" grpId="0"/>
      <p:bldP spid="153" grpId="0"/>
      <p:bldP spid="9" grpId="0" animBg="1"/>
      <p:bldP spid="155" grpId="0"/>
      <p:bldP spid="156" grpId="0"/>
      <p:bldP spid="157" grpId="0"/>
      <p:bldP spid="10" grpId="0" animBg="1"/>
      <p:bldP spid="159" grpId="0"/>
      <p:bldP spid="160" grpId="0"/>
      <p:bldP spid="162" grpId="0"/>
      <p:bldP spid="163" grpId="0" animBg="1"/>
      <p:bldP spid="165" grpId="0"/>
      <p:bldP spid="227" grpId="0"/>
      <p:bldP spid="229" grpId="0"/>
      <p:bldP spid="230" grpId="0" animBg="1"/>
      <p:bldP spid="231" grpId="0"/>
      <p:bldP spid="2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Box 235"/>
          <p:cNvSpPr txBox="1"/>
          <p:nvPr/>
        </p:nvSpPr>
        <p:spPr>
          <a:xfrm>
            <a:off x="10478572" y="3296817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001893" y="3326731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241" name="Straight Arrow Connector 240"/>
          <p:cNvCxnSpPr/>
          <p:nvPr/>
        </p:nvCxnSpPr>
        <p:spPr>
          <a:xfrm flipH="1">
            <a:off x="1811708" y="3503787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4234069" y="4136830"/>
            <a:ext cx="217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Is temp-&gt;v = x?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13047" y="4141784"/>
            <a:ext cx="797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sto MT" panose="02040603050505030304" pitchFamily="18" charset="0"/>
              </a:rPr>
              <a:t>No</a:t>
            </a:r>
          </a:p>
        </p:txBody>
      </p:sp>
      <p:grpSp>
        <p:nvGrpSpPr>
          <p:cNvPr id="118" name="Group 117"/>
          <p:cNvGrpSpPr/>
          <p:nvPr/>
        </p:nvGrpSpPr>
        <p:grpSpPr>
          <a:xfrm>
            <a:off x="813207" y="4084868"/>
            <a:ext cx="3553015" cy="2220749"/>
            <a:chOff x="1000860" y="4017182"/>
            <a:chExt cx="3553015" cy="2220749"/>
          </a:xfrm>
        </p:grpSpPr>
        <p:sp>
          <p:nvSpPr>
            <p:cNvPr id="120" name="TextBox 119"/>
            <p:cNvSpPr txBox="1"/>
            <p:nvPr/>
          </p:nvSpPr>
          <p:spPr>
            <a:xfrm>
              <a:off x="1002939" y="4017182"/>
              <a:ext cx="3550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Node* </a:t>
              </a:r>
              <a:r>
                <a:rPr lang="en-US" dirty="0" err="1">
                  <a:latin typeface="Calisto MT" panose="02040603050505030304" pitchFamily="18" charset="0"/>
                </a:rPr>
                <a:t>findFirstOccurrence</a:t>
              </a:r>
              <a:r>
                <a:rPr lang="en-US" dirty="0">
                  <a:latin typeface="Calisto MT" panose="02040603050505030304" pitchFamily="18" charset="0"/>
                </a:rPr>
                <a:t>(</a:t>
              </a:r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x){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1000860" y="5868599"/>
              <a:ext cx="41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sp>
        <p:nvSpPr>
          <p:cNvPr id="128" name="TextBox 127"/>
          <p:cNvSpPr txBox="1"/>
          <p:nvPr/>
        </p:nvSpPr>
        <p:spPr>
          <a:xfrm>
            <a:off x="4128460" y="1796240"/>
            <a:ext cx="340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i="1" u="sng" dirty="0">
                <a:solidFill>
                  <a:schemeClr val="accent3"/>
                </a:solidFill>
                <a:latin typeface="Calisto MT" panose="02040603050505030304" pitchFamily="18" charset="0"/>
              </a:rPr>
              <a:t>Case 2: x is present in the list</a:t>
            </a:r>
          </a:p>
        </p:txBody>
      </p:sp>
      <p:grpSp>
        <p:nvGrpSpPr>
          <p:cNvPr id="137" name="Group 136"/>
          <p:cNvGrpSpPr/>
          <p:nvPr/>
        </p:nvGrpSpPr>
        <p:grpSpPr>
          <a:xfrm>
            <a:off x="6934918" y="2256087"/>
            <a:ext cx="1209647" cy="992987"/>
            <a:chOff x="10227000" y="2386519"/>
            <a:chExt cx="1209647" cy="992987"/>
          </a:xfrm>
        </p:grpSpPr>
        <p:sp>
          <p:nvSpPr>
            <p:cNvPr id="138" name="Rectangle 137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9" name="Group 138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140" name="Straight Arrow Connector 139"/>
              <p:cNvCxnSpPr>
                <a:stCxn id="141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TextBox 140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142" name="Group 141"/>
          <p:cNvGrpSpPr/>
          <p:nvPr/>
        </p:nvGrpSpPr>
        <p:grpSpPr>
          <a:xfrm>
            <a:off x="4762556" y="2269462"/>
            <a:ext cx="1209647" cy="992987"/>
            <a:chOff x="10227000" y="2386519"/>
            <a:chExt cx="1209647" cy="992987"/>
          </a:xfrm>
        </p:grpSpPr>
        <p:sp>
          <p:nvSpPr>
            <p:cNvPr id="143" name="Rectangle 142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4" name="Group 143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145" name="Straight Arrow Connector 144"/>
              <p:cNvCxnSpPr>
                <a:stCxn id="146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TextBox 145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147" name="Group 146"/>
          <p:cNvGrpSpPr/>
          <p:nvPr/>
        </p:nvGrpSpPr>
        <p:grpSpPr>
          <a:xfrm>
            <a:off x="2589715" y="2267635"/>
            <a:ext cx="1209647" cy="992987"/>
            <a:chOff x="10227000" y="2386519"/>
            <a:chExt cx="1209647" cy="992987"/>
          </a:xfrm>
        </p:grpSpPr>
        <p:sp>
          <p:nvSpPr>
            <p:cNvPr id="148" name="Rectangle 147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9" name="Group 148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150" name="Straight Arrow Connector 149"/>
              <p:cNvCxnSpPr>
                <a:stCxn id="151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" name="TextBox 150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27" name="Group 26"/>
          <p:cNvGrpSpPr/>
          <p:nvPr/>
        </p:nvGrpSpPr>
        <p:grpSpPr>
          <a:xfrm>
            <a:off x="2606669" y="3244561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8" name="Rectangle 2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153618" y="324075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1" name="Rectangle 3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053893" y="324075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2" name="Rectangle 4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4802236" y="3240756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5" name="Rectangle 4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b           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5349185" y="323695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9" name="Rectangle 4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4249460" y="323695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52" name="Rectangle 5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6991778" y="3236951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74" name="Rectangle 17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x           </a:t>
              </a:r>
            </a:p>
          </p:txBody>
        </p:sp>
      </p:grpSp>
      <p:grpSp>
        <p:nvGrpSpPr>
          <p:cNvPr id="176" name="Group 175"/>
          <p:cNvGrpSpPr/>
          <p:nvPr/>
        </p:nvGrpSpPr>
        <p:grpSpPr>
          <a:xfrm>
            <a:off x="7538727" y="323314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77" name="Rectangle 17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79" name="Group 178"/>
          <p:cNvGrpSpPr/>
          <p:nvPr/>
        </p:nvGrpSpPr>
        <p:grpSpPr>
          <a:xfrm>
            <a:off x="6439002" y="323314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0" name="Rectangle 17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82" name="Group 181"/>
          <p:cNvGrpSpPr/>
          <p:nvPr/>
        </p:nvGrpSpPr>
        <p:grpSpPr>
          <a:xfrm>
            <a:off x="9187345" y="3233146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83" name="Rectangle 182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d           </a:t>
              </a:r>
            </a:p>
          </p:txBody>
        </p:sp>
      </p:grpSp>
      <p:grpSp>
        <p:nvGrpSpPr>
          <p:cNvPr id="185" name="Group 184"/>
          <p:cNvGrpSpPr/>
          <p:nvPr/>
        </p:nvGrpSpPr>
        <p:grpSpPr>
          <a:xfrm>
            <a:off x="9734294" y="322934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6" name="Rectangle 185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88" name="Group 187"/>
          <p:cNvGrpSpPr/>
          <p:nvPr/>
        </p:nvGrpSpPr>
        <p:grpSpPr>
          <a:xfrm>
            <a:off x="8634569" y="322934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9" name="Rectangle 18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TextBox 18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245" name="Group 244"/>
          <p:cNvGrpSpPr/>
          <p:nvPr/>
        </p:nvGrpSpPr>
        <p:grpSpPr>
          <a:xfrm>
            <a:off x="9315288" y="1929583"/>
            <a:ext cx="617280" cy="1299758"/>
            <a:chOff x="9315288" y="1750121"/>
            <a:chExt cx="617280" cy="1299758"/>
          </a:xfrm>
        </p:grpSpPr>
        <p:cxnSp>
          <p:nvCxnSpPr>
            <p:cNvPr id="232" name="Straight Arrow Connector 231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Box 232"/>
            <p:cNvSpPr txBox="1"/>
            <p:nvPr/>
          </p:nvSpPr>
          <p:spPr>
            <a:xfrm>
              <a:off x="9315288" y="1750121"/>
              <a:ext cx="61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  <p:grpSp>
        <p:nvGrpSpPr>
          <p:cNvPr id="247" name="Group 246"/>
          <p:cNvGrpSpPr/>
          <p:nvPr/>
        </p:nvGrpSpPr>
        <p:grpSpPr>
          <a:xfrm>
            <a:off x="3591216" y="2512370"/>
            <a:ext cx="1400614" cy="1209475"/>
            <a:chOff x="3591216" y="2332908"/>
            <a:chExt cx="1400614" cy="1209475"/>
          </a:xfrm>
        </p:grpSpPr>
        <p:grpSp>
          <p:nvGrpSpPr>
            <p:cNvPr id="168" name="Group 167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166" name="Group 165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13" name="Group 112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6" name="Straight Connector 25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Straight Connector 109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Arrow Connector 111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4" name="Rectangle 163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7" name="Rectangle 166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6" name="Rectangle 245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1" name="Group 250"/>
          <p:cNvGrpSpPr/>
          <p:nvPr/>
        </p:nvGrpSpPr>
        <p:grpSpPr>
          <a:xfrm>
            <a:off x="7976325" y="2504760"/>
            <a:ext cx="1400614" cy="1220856"/>
            <a:chOff x="7976325" y="2325298"/>
            <a:chExt cx="1400614" cy="1220856"/>
          </a:xfrm>
        </p:grpSpPr>
        <p:grpSp>
          <p:nvGrpSpPr>
            <p:cNvPr id="191" name="Group 190"/>
            <p:cNvGrpSpPr/>
            <p:nvPr/>
          </p:nvGrpSpPr>
          <p:grpSpPr>
            <a:xfrm>
              <a:off x="7976325" y="2325298"/>
              <a:ext cx="1400614" cy="1183693"/>
              <a:chOff x="3599762" y="2132867"/>
              <a:chExt cx="1400614" cy="1183693"/>
            </a:xfrm>
          </p:grpSpPr>
          <p:grpSp>
            <p:nvGrpSpPr>
              <p:cNvPr id="192" name="Group 191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94" name="Group 193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96" name="Straight Connector 195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7" name="Straight Connector 196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Straight Connector 197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" name="Straight Arrow Connector 198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5" name="Rectangle 194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3" name="Rectangle 192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0" name="Rectangle 249"/>
            <p:cNvSpPr/>
            <p:nvPr/>
          </p:nvSpPr>
          <p:spPr>
            <a:xfrm>
              <a:off x="8194911" y="3432994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5777829" y="2511765"/>
            <a:ext cx="1400614" cy="1226567"/>
            <a:chOff x="5777829" y="2332303"/>
            <a:chExt cx="1400614" cy="1226567"/>
          </a:xfrm>
        </p:grpSpPr>
        <p:grpSp>
          <p:nvGrpSpPr>
            <p:cNvPr id="218" name="Group 217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219" name="Group 21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21" name="Group 220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23" name="Straight Connector 222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Straight Connector 223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Straight Connector 224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Straight Arrow Connector 225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2" name="Rectangle 221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0" name="Rectangle 219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8" name="Rectangle 247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7367014" y="4139920"/>
            <a:ext cx="227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sto MT" panose="02040603050505030304" pitchFamily="18" charset="0"/>
              </a:rPr>
              <a:t>Shift temp to right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3585" y="2386519"/>
            <a:ext cx="667120" cy="8428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2" name="Group 241"/>
          <p:cNvGrpSpPr/>
          <p:nvPr/>
        </p:nvGrpSpPr>
        <p:grpSpPr>
          <a:xfrm>
            <a:off x="2491874" y="1929583"/>
            <a:ext cx="729688" cy="1299758"/>
            <a:chOff x="2491874" y="1750121"/>
            <a:chExt cx="729688" cy="1299758"/>
          </a:xfrm>
        </p:grpSpPr>
        <p:cxnSp>
          <p:nvCxnSpPr>
            <p:cNvPr id="161" name="Straight Arrow Connector 160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TextBox 227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grpSp>
        <p:nvGrpSpPr>
          <p:cNvPr id="254" name="Group 253"/>
          <p:cNvGrpSpPr/>
          <p:nvPr/>
        </p:nvGrpSpPr>
        <p:grpSpPr>
          <a:xfrm>
            <a:off x="2913781" y="2857201"/>
            <a:ext cx="1395501" cy="528191"/>
            <a:chOff x="2913781" y="2677739"/>
            <a:chExt cx="1395501" cy="528191"/>
          </a:xfrm>
        </p:grpSpPr>
        <p:grpSp>
          <p:nvGrpSpPr>
            <p:cNvPr id="172" name="Group 171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170" name="Group 16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122" name="Group 12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15" name="Straight Connector 114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Straight Connector 116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Straight Connector 118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Arrow Connector 120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9" name="Rectangle 168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1" name="Rectangle 17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3" name="Rectangle 252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5" name="TextBox 154"/>
          <p:cNvSpPr txBox="1"/>
          <p:nvPr/>
        </p:nvSpPr>
        <p:spPr>
          <a:xfrm>
            <a:off x="4234069" y="4546169"/>
            <a:ext cx="217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Is temp-&gt;v = x?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413047" y="4551123"/>
            <a:ext cx="797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sto MT" panose="02040603050505030304" pitchFamily="18" charset="0"/>
              </a:rPr>
              <a:t>No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367014" y="4549259"/>
            <a:ext cx="227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sto MT" panose="02040603050505030304" pitchFamily="18" charset="0"/>
              </a:rPr>
              <a:t>Shift temp to right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59110" y="2365079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/>
          <p:cNvSpPr txBox="1"/>
          <p:nvPr/>
        </p:nvSpPr>
        <p:spPr>
          <a:xfrm>
            <a:off x="4234069" y="4937529"/>
            <a:ext cx="217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Is temp-&gt;v = x?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413047" y="4942483"/>
            <a:ext cx="915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sto MT" panose="02040603050505030304" pitchFamily="18" charset="0"/>
              </a:rPr>
              <a:t>Yes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367013" y="4940619"/>
            <a:ext cx="4791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sto MT" panose="02040603050505030304" pitchFamily="18" charset="0"/>
              </a:rPr>
              <a:t>Return temp (Reference of the desired node)</a:t>
            </a:r>
          </a:p>
        </p:txBody>
      </p:sp>
      <p:grpSp>
        <p:nvGrpSpPr>
          <p:cNvPr id="263" name="Group 262"/>
          <p:cNvGrpSpPr/>
          <p:nvPr/>
        </p:nvGrpSpPr>
        <p:grpSpPr>
          <a:xfrm>
            <a:off x="5168646" y="2849591"/>
            <a:ext cx="1395501" cy="529915"/>
            <a:chOff x="5168646" y="2670129"/>
            <a:chExt cx="1395501" cy="529915"/>
          </a:xfrm>
        </p:grpSpPr>
        <p:grpSp>
          <p:nvGrpSpPr>
            <p:cNvPr id="209" name="Group 208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210" name="Group 20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12" name="Group 21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14" name="Straight Connector 213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" name="Straight Connector 214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Straight Connector 215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Straight Arrow Connector 216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3" name="Rectangle 212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11" name="Rectangle 21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62" name="Rectangle 261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8" name="Group 257"/>
          <p:cNvGrpSpPr/>
          <p:nvPr/>
        </p:nvGrpSpPr>
        <p:grpSpPr>
          <a:xfrm>
            <a:off x="7298890" y="2849591"/>
            <a:ext cx="1395501" cy="533259"/>
            <a:chOff x="7298890" y="2670129"/>
            <a:chExt cx="1395501" cy="533259"/>
          </a:xfrm>
          <a:solidFill>
            <a:srgbClr val="7030A0"/>
          </a:solidFill>
        </p:grpSpPr>
        <p:grpSp>
          <p:nvGrpSpPr>
            <p:cNvPr id="200" name="Group 199"/>
            <p:cNvGrpSpPr/>
            <p:nvPr/>
          </p:nvGrpSpPr>
          <p:grpSpPr>
            <a:xfrm>
              <a:off x="7298890" y="2670129"/>
              <a:ext cx="1395501" cy="477140"/>
              <a:chOff x="2922327" y="2477698"/>
              <a:chExt cx="1395501" cy="477140"/>
            </a:xfrm>
            <a:grpFill/>
          </p:grpSpPr>
          <p:grpSp>
            <p:nvGrpSpPr>
              <p:cNvPr id="201" name="Group 200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03" name="Group 202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05" name="Straight Connector 204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6" name="Straight Connector 205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7" name="Straight Connector 206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8" name="Straight Arrow Connector 207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04" name="Rectangle 203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02" name="Rectangle 201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57" name="Rectangle 256"/>
            <p:cNvSpPr/>
            <p:nvPr/>
          </p:nvSpPr>
          <p:spPr>
            <a:xfrm>
              <a:off x="8423999" y="3090228"/>
              <a:ext cx="113160" cy="113160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7030A0"/>
                  </a:solidFill>
                </a:ln>
              </a:endParaRPr>
            </a:p>
          </p:txBody>
        </p:sp>
      </p:grpSp>
      <p:sp>
        <p:nvSpPr>
          <p:cNvPr id="238" name="TextBox 237"/>
          <p:cNvSpPr txBox="1"/>
          <p:nvPr/>
        </p:nvSpPr>
        <p:spPr>
          <a:xfrm>
            <a:off x="1380202" y="4377587"/>
            <a:ext cx="217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*temp = head;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366569" y="4693154"/>
            <a:ext cx="2520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while(temp!=NULL){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380202" y="5476148"/>
            <a:ext cx="304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}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686873" y="5016042"/>
            <a:ext cx="2475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if (temp-&gt;v==x) break;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675896" y="5306861"/>
            <a:ext cx="2475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temp = temp -&gt; R;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1376704" y="5777401"/>
            <a:ext cx="1420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return temp;</a:t>
            </a:r>
          </a:p>
        </p:txBody>
      </p:sp>
      <p:cxnSp>
        <p:nvCxnSpPr>
          <p:cNvPr id="235" name="Straight Arrow Connector 234"/>
          <p:cNvCxnSpPr/>
          <p:nvPr/>
        </p:nvCxnSpPr>
        <p:spPr>
          <a:xfrm flipV="1">
            <a:off x="10204473" y="3503787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36A0-55D9-4AA6-97D0-4F9C71C3796B}" type="datetime4">
              <a:rPr lang="en-US" smtClean="0"/>
              <a:t>23 March, 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6</a:t>
            </a:fld>
            <a:endParaRPr lang="en-US"/>
          </a:p>
        </p:txBody>
      </p:sp>
      <p:sp>
        <p:nvSpPr>
          <p:cNvPr id="154" name="Title 1"/>
          <p:cNvSpPr>
            <a:spLocks noGrp="1"/>
          </p:cNvSpPr>
          <p:nvPr>
            <p:ph type="title"/>
          </p:nvPr>
        </p:nvSpPr>
        <p:spPr>
          <a:xfrm>
            <a:off x="635658" y="192965"/>
            <a:ext cx="11422309" cy="1450757"/>
          </a:xfrm>
        </p:spPr>
        <p:txBody>
          <a:bodyPr>
            <a:normAutofit/>
          </a:bodyPr>
          <a:lstStyle/>
          <a:p>
            <a:r>
              <a:rPr lang="en-US" sz="4400" b="1" dirty="0"/>
              <a:t>Find an Element (First Occurrence)</a:t>
            </a:r>
          </a:p>
        </p:txBody>
      </p:sp>
    </p:spTree>
    <p:extLst>
      <p:ext uri="{BB962C8B-B14F-4D97-AF65-F5344CB8AC3E}">
        <p14:creationId xmlns:p14="http://schemas.microsoft.com/office/powerpoint/2010/main" val="2433262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/>
      <p:bldP spid="116" grpId="0"/>
      <p:bldP spid="153" grpId="0"/>
      <p:bldP spid="9" grpId="0" animBg="1"/>
      <p:bldP spid="155" grpId="0"/>
      <p:bldP spid="156" grpId="0"/>
      <p:bldP spid="157" grpId="0"/>
      <p:bldP spid="10" grpId="0" animBg="1"/>
      <p:bldP spid="159" grpId="0"/>
      <p:bldP spid="160" grpId="0"/>
      <p:bldP spid="162" grpId="0"/>
      <p:bldP spid="238" grpId="0"/>
      <p:bldP spid="239" grpId="0"/>
      <p:bldP spid="240" grpId="0"/>
      <p:bldP spid="243" grpId="0"/>
      <p:bldP spid="244" grpId="0"/>
      <p:bldP spid="2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92" y="130024"/>
            <a:ext cx="12108074" cy="1450757"/>
          </a:xfrm>
        </p:spPr>
        <p:txBody>
          <a:bodyPr>
            <a:normAutofit/>
          </a:bodyPr>
          <a:lstStyle/>
          <a:p>
            <a:r>
              <a:rPr lang="en-US" sz="3600" b="1" dirty="0"/>
              <a:t>Delete Interior Element(First Occurrence)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1647087" y="3112051"/>
            <a:ext cx="367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           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26811" y="3137057"/>
            <a:ext cx="382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           </a:t>
            </a:r>
          </a:p>
        </p:txBody>
      </p:sp>
      <p:cxnSp>
        <p:nvCxnSpPr>
          <p:cNvPr id="241" name="Straight Arrow Connector 240"/>
          <p:cNvCxnSpPr/>
          <p:nvPr/>
        </p:nvCxnSpPr>
        <p:spPr>
          <a:xfrm flipH="1">
            <a:off x="784177" y="3314113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" name="Group 117"/>
          <p:cNvGrpSpPr/>
          <p:nvPr/>
        </p:nvGrpSpPr>
        <p:grpSpPr>
          <a:xfrm>
            <a:off x="876569" y="3957293"/>
            <a:ext cx="3549018" cy="2220749"/>
            <a:chOff x="1000860" y="4017182"/>
            <a:chExt cx="3549018" cy="2220749"/>
          </a:xfrm>
        </p:grpSpPr>
        <p:sp>
          <p:nvSpPr>
            <p:cNvPr id="120" name="TextBox 119"/>
            <p:cNvSpPr txBox="1"/>
            <p:nvPr/>
          </p:nvSpPr>
          <p:spPr>
            <a:xfrm>
              <a:off x="1002940" y="4017182"/>
              <a:ext cx="35469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void </a:t>
              </a:r>
              <a:r>
                <a:rPr lang="en-US" dirty="0" err="1">
                  <a:latin typeface="Calisto MT" panose="02040603050505030304" pitchFamily="18" charset="0"/>
                </a:rPr>
                <a:t>deleteFirstOccurrence</a:t>
              </a:r>
              <a:r>
                <a:rPr lang="en-US" dirty="0">
                  <a:latin typeface="Calisto MT" panose="02040603050505030304" pitchFamily="18" charset="0"/>
                </a:rPr>
                <a:t>(</a:t>
              </a:r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x){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1000860" y="5868599"/>
              <a:ext cx="41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579138" y="3054887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8" name="Rectangle 2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2126087" y="3051083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1" name="Rectangle 3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026362" y="305108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2" name="Rectangle 4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3221929" y="304727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52" name="Rectangle 5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85" name="Group 184"/>
          <p:cNvGrpSpPr/>
          <p:nvPr/>
        </p:nvGrpSpPr>
        <p:grpSpPr>
          <a:xfrm>
            <a:off x="8706763" y="3039668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6" name="Rectangle 185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245" name="Group 244"/>
          <p:cNvGrpSpPr/>
          <p:nvPr/>
        </p:nvGrpSpPr>
        <p:grpSpPr>
          <a:xfrm>
            <a:off x="10496991" y="1715963"/>
            <a:ext cx="617280" cy="1299758"/>
            <a:chOff x="9315288" y="1750121"/>
            <a:chExt cx="617280" cy="1299758"/>
          </a:xfrm>
        </p:grpSpPr>
        <p:cxnSp>
          <p:nvCxnSpPr>
            <p:cNvPr id="232" name="Straight Arrow Connector 231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Box 232"/>
            <p:cNvSpPr txBox="1"/>
            <p:nvPr/>
          </p:nvSpPr>
          <p:spPr>
            <a:xfrm>
              <a:off x="9315288" y="1750121"/>
              <a:ext cx="61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  <p:grpSp>
        <p:nvGrpSpPr>
          <p:cNvPr id="247" name="Group 246"/>
          <p:cNvGrpSpPr/>
          <p:nvPr/>
        </p:nvGrpSpPr>
        <p:grpSpPr>
          <a:xfrm>
            <a:off x="2563685" y="2322696"/>
            <a:ext cx="1400614" cy="1209475"/>
            <a:chOff x="3591216" y="2332908"/>
            <a:chExt cx="1400614" cy="1209475"/>
          </a:xfrm>
        </p:grpSpPr>
        <p:grpSp>
          <p:nvGrpSpPr>
            <p:cNvPr id="168" name="Group 167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166" name="Group 165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13" name="Group 112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6" name="Straight Connector 25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Straight Connector 109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Arrow Connector 111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4" name="Rectangle 163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7" name="Rectangle 166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6" name="Rectangle 245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4750298" y="2322091"/>
            <a:ext cx="1400614" cy="1226567"/>
            <a:chOff x="5777829" y="2332303"/>
            <a:chExt cx="1400614" cy="1226567"/>
          </a:xfrm>
        </p:grpSpPr>
        <p:grpSp>
          <p:nvGrpSpPr>
            <p:cNvPr id="218" name="Group 217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219" name="Group 21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21" name="Group 220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23" name="Straight Connector 222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Straight Connector 223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Straight Connector 224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Straight Arrow Connector 225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2" name="Rectangle 221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0" name="Rectangle 219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8" name="Rectangle 247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2" name="Group 241"/>
          <p:cNvGrpSpPr/>
          <p:nvPr/>
        </p:nvGrpSpPr>
        <p:grpSpPr>
          <a:xfrm>
            <a:off x="1464343" y="1739909"/>
            <a:ext cx="729688" cy="1299758"/>
            <a:chOff x="2491874" y="1750121"/>
            <a:chExt cx="729688" cy="1299758"/>
          </a:xfrm>
        </p:grpSpPr>
        <p:cxnSp>
          <p:nvCxnSpPr>
            <p:cNvPr id="161" name="Straight Arrow Connector 160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TextBox 227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grpSp>
        <p:nvGrpSpPr>
          <p:cNvPr id="254" name="Group 253"/>
          <p:cNvGrpSpPr/>
          <p:nvPr/>
        </p:nvGrpSpPr>
        <p:grpSpPr>
          <a:xfrm>
            <a:off x="1886250" y="2667527"/>
            <a:ext cx="1395501" cy="528191"/>
            <a:chOff x="2913781" y="2677739"/>
            <a:chExt cx="1395501" cy="528191"/>
          </a:xfrm>
        </p:grpSpPr>
        <p:grpSp>
          <p:nvGrpSpPr>
            <p:cNvPr id="172" name="Group 171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170" name="Group 16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122" name="Group 12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15" name="Straight Connector 114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Straight Connector 116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Straight Connector 118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Arrow Connector 120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9" name="Rectangle 168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1" name="Rectangle 17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3" name="Rectangle 252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8" name="Group 257"/>
          <p:cNvGrpSpPr/>
          <p:nvPr/>
        </p:nvGrpSpPr>
        <p:grpSpPr>
          <a:xfrm>
            <a:off x="6271359" y="2659917"/>
            <a:ext cx="1395501" cy="533259"/>
            <a:chOff x="7298890" y="2670129"/>
            <a:chExt cx="1395501" cy="533259"/>
          </a:xfrm>
          <a:solidFill>
            <a:srgbClr val="7030A0"/>
          </a:solidFill>
        </p:grpSpPr>
        <p:grpSp>
          <p:nvGrpSpPr>
            <p:cNvPr id="200" name="Group 199"/>
            <p:cNvGrpSpPr/>
            <p:nvPr/>
          </p:nvGrpSpPr>
          <p:grpSpPr>
            <a:xfrm>
              <a:off x="7298890" y="2670129"/>
              <a:ext cx="1395501" cy="477140"/>
              <a:chOff x="2922327" y="2477698"/>
              <a:chExt cx="1395501" cy="477140"/>
            </a:xfrm>
            <a:grpFill/>
          </p:grpSpPr>
          <p:grpSp>
            <p:nvGrpSpPr>
              <p:cNvPr id="201" name="Group 200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03" name="Group 202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05" name="Straight Connector 204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6" name="Straight Connector 205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7" name="Straight Connector 206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8" name="Straight Arrow Connector 207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04" name="Rectangle 203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02" name="Rectangle 201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57" name="Rectangle 256"/>
            <p:cNvSpPr/>
            <p:nvPr/>
          </p:nvSpPr>
          <p:spPr>
            <a:xfrm>
              <a:off x="8423999" y="3090228"/>
              <a:ext cx="113160" cy="113160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7030A0"/>
                  </a:solidFill>
                </a:ln>
              </a:endParaRP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10371383" y="3026076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54" name="Rectangle 15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d           </a:t>
              </a:r>
            </a:p>
          </p:txBody>
        </p:sp>
      </p:grpSp>
      <p:grpSp>
        <p:nvGrpSpPr>
          <p:cNvPr id="163" name="Group 162"/>
          <p:cNvGrpSpPr/>
          <p:nvPr/>
        </p:nvGrpSpPr>
        <p:grpSpPr>
          <a:xfrm>
            <a:off x="10918332" y="302227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65" name="Rectangle 16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229" name="Group 228"/>
          <p:cNvGrpSpPr/>
          <p:nvPr/>
        </p:nvGrpSpPr>
        <p:grpSpPr>
          <a:xfrm>
            <a:off x="9818607" y="302227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30" name="Rectangle 22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cxnSp>
        <p:nvCxnSpPr>
          <p:cNvPr id="235" name="Straight Arrow Connector 234"/>
          <p:cNvCxnSpPr/>
          <p:nvPr/>
        </p:nvCxnSpPr>
        <p:spPr>
          <a:xfrm flipV="1">
            <a:off x="11388511" y="3296717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4" name="Group 233"/>
          <p:cNvGrpSpPr/>
          <p:nvPr/>
        </p:nvGrpSpPr>
        <p:grpSpPr>
          <a:xfrm>
            <a:off x="9144414" y="2315086"/>
            <a:ext cx="1400614" cy="1220856"/>
            <a:chOff x="7976325" y="2325298"/>
            <a:chExt cx="1400614" cy="1220856"/>
          </a:xfrm>
        </p:grpSpPr>
        <p:grpSp>
          <p:nvGrpSpPr>
            <p:cNvPr id="255" name="Group 254"/>
            <p:cNvGrpSpPr/>
            <p:nvPr/>
          </p:nvGrpSpPr>
          <p:grpSpPr>
            <a:xfrm>
              <a:off x="7976325" y="2325298"/>
              <a:ext cx="1400614" cy="1183693"/>
              <a:chOff x="3599762" y="2132867"/>
              <a:chExt cx="1400614" cy="1183693"/>
            </a:xfrm>
          </p:grpSpPr>
          <p:grpSp>
            <p:nvGrpSpPr>
              <p:cNvPr id="259" name="Group 25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61" name="Group 260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65" name="Straight Connector 264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6" name="Straight Connector 265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7" name="Straight Connector 266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8" name="Straight Arrow Connector 267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64" name="Rectangle 263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60" name="Rectangle 259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6" name="Rectangle 255"/>
            <p:cNvSpPr/>
            <p:nvPr/>
          </p:nvSpPr>
          <p:spPr>
            <a:xfrm>
              <a:off x="8194911" y="3432994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9" name="Group 268"/>
          <p:cNvGrpSpPr/>
          <p:nvPr/>
        </p:nvGrpSpPr>
        <p:grpSpPr>
          <a:xfrm>
            <a:off x="8489612" y="2658114"/>
            <a:ext cx="1395501" cy="533259"/>
            <a:chOff x="7298890" y="2670129"/>
            <a:chExt cx="1395501" cy="533259"/>
          </a:xfrm>
          <a:solidFill>
            <a:srgbClr val="7030A0"/>
          </a:solidFill>
        </p:grpSpPr>
        <p:grpSp>
          <p:nvGrpSpPr>
            <p:cNvPr id="270" name="Group 269"/>
            <p:cNvGrpSpPr/>
            <p:nvPr/>
          </p:nvGrpSpPr>
          <p:grpSpPr>
            <a:xfrm>
              <a:off x="7298890" y="2670129"/>
              <a:ext cx="1395501" cy="477140"/>
              <a:chOff x="2922327" y="2477698"/>
              <a:chExt cx="1395501" cy="477140"/>
            </a:xfrm>
            <a:grpFill/>
          </p:grpSpPr>
          <p:grpSp>
            <p:nvGrpSpPr>
              <p:cNvPr id="272" name="Group 271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74" name="Group 273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76" name="Straight Connector 275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7" name="Straight Connector 276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8" name="Straight Connector 277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9" name="Straight Arrow Connector 278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75" name="Rectangle 274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73" name="Rectangle 272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71" name="Rectangle 270"/>
            <p:cNvSpPr/>
            <p:nvPr/>
          </p:nvSpPr>
          <p:spPr>
            <a:xfrm>
              <a:off x="8423999" y="3090228"/>
              <a:ext cx="113160" cy="113160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7030A0"/>
                  </a:solidFill>
                </a:ln>
              </a:endParaRPr>
            </a:p>
          </p:txBody>
        </p:sp>
      </p:grpSp>
      <p:sp>
        <p:nvSpPr>
          <p:cNvPr id="291" name="TextBox 290"/>
          <p:cNvSpPr txBox="1"/>
          <p:nvPr/>
        </p:nvSpPr>
        <p:spPr>
          <a:xfrm>
            <a:off x="1378714" y="4265939"/>
            <a:ext cx="3940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*temp = </a:t>
            </a:r>
            <a:r>
              <a:rPr lang="en-US" dirty="0" err="1">
                <a:latin typeface="Calisto MT" panose="02040603050505030304" pitchFamily="18" charset="0"/>
              </a:rPr>
              <a:t>findFirstOccurrence</a:t>
            </a:r>
            <a:r>
              <a:rPr lang="en-US" dirty="0">
                <a:latin typeface="Calisto MT" panose="02040603050505030304" pitchFamily="18" charset="0"/>
              </a:rPr>
              <a:t>(x);</a:t>
            </a:r>
          </a:p>
        </p:txBody>
      </p:sp>
      <p:sp>
        <p:nvSpPr>
          <p:cNvPr id="8" name="Rectangle 7"/>
          <p:cNvSpPr/>
          <p:nvPr/>
        </p:nvSpPr>
        <p:spPr>
          <a:xfrm>
            <a:off x="4562437" y="2308098"/>
            <a:ext cx="1618196" cy="14707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3" name="Group 262"/>
          <p:cNvGrpSpPr/>
          <p:nvPr/>
        </p:nvGrpSpPr>
        <p:grpSpPr>
          <a:xfrm>
            <a:off x="4141115" y="2659917"/>
            <a:ext cx="1395501" cy="529915"/>
            <a:chOff x="5168646" y="2670129"/>
            <a:chExt cx="1395501" cy="529915"/>
          </a:xfrm>
        </p:grpSpPr>
        <p:grpSp>
          <p:nvGrpSpPr>
            <p:cNvPr id="209" name="Group 208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210" name="Group 20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12" name="Group 21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14" name="Straight Connector 213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" name="Straight Connector 214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Straight Connector 215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Straight Arrow Connector 216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3" name="Rectangle 212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11" name="Rectangle 21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62" name="Rectangle 261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9" name="Group 178"/>
          <p:cNvGrpSpPr/>
          <p:nvPr/>
        </p:nvGrpSpPr>
        <p:grpSpPr>
          <a:xfrm>
            <a:off x="5411471" y="304347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0" name="Rectangle 17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sp>
        <p:nvSpPr>
          <p:cNvPr id="314" name="TextBox 313"/>
          <p:cNvSpPr txBox="1"/>
          <p:nvPr/>
        </p:nvSpPr>
        <p:spPr>
          <a:xfrm>
            <a:off x="1393449" y="4635271"/>
            <a:ext cx="3940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temp -&gt; L -&gt; R = temp -&gt; R;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443" y="2633788"/>
            <a:ext cx="1572530" cy="5865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9" name="Group 138"/>
          <p:cNvGrpSpPr/>
          <p:nvPr/>
        </p:nvGrpSpPr>
        <p:grpSpPr>
          <a:xfrm>
            <a:off x="6128912" y="2084760"/>
            <a:ext cx="729688" cy="954908"/>
            <a:chOff x="5754153" y="4810967"/>
            <a:chExt cx="729688" cy="954908"/>
          </a:xfrm>
        </p:grpSpPr>
        <p:cxnSp>
          <p:nvCxnSpPr>
            <p:cNvPr id="140" name="Straight Arrow Connector 139"/>
            <p:cNvCxnSpPr>
              <a:stCxn id="141" idx="2"/>
            </p:cNvCxnSpPr>
            <p:nvPr/>
          </p:nvCxnSpPr>
          <p:spPr>
            <a:xfrm>
              <a:off x="6118997" y="5180299"/>
              <a:ext cx="0" cy="585576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TextBox 140"/>
            <p:cNvSpPr txBox="1"/>
            <p:nvPr/>
          </p:nvSpPr>
          <p:spPr>
            <a:xfrm>
              <a:off x="5754153" y="4810967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temp           </a:t>
              </a:r>
            </a:p>
          </p:txBody>
        </p:sp>
      </p:grpSp>
      <p:grpSp>
        <p:nvGrpSpPr>
          <p:cNvPr id="176" name="Group 175"/>
          <p:cNvGrpSpPr/>
          <p:nvPr/>
        </p:nvGrpSpPr>
        <p:grpSpPr>
          <a:xfrm>
            <a:off x="6511196" y="3043473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77" name="Rectangle 17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251" name="Group 250"/>
          <p:cNvGrpSpPr/>
          <p:nvPr/>
        </p:nvGrpSpPr>
        <p:grpSpPr>
          <a:xfrm>
            <a:off x="6948794" y="2315086"/>
            <a:ext cx="1400614" cy="1220856"/>
            <a:chOff x="7976325" y="2325298"/>
            <a:chExt cx="1400614" cy="1220856"/>
          </a:xfrm>
        </p:grpSpPr>
        <p:grpSp>
          <p:nvGrpSpPr>
            <p:cNvPr id="191" name="Group 190"/>
            <p:cNvGrpSpPr/>
            <p:nvPr/>
          </p:nvGrpSpPr>
          <p:grpSpPr>
            <a:xfrm>
              <a:off x="7976325" y="2325298"/>
              <a:ext cx="1400614" cy="1183693"/>
              <a:chOff x="3599762" y="2132867"/>
              <a:chExt cx="1400614" cy="1183693"/>
            </a:xfrm>
          </p:grpSpPr>
          <p:grpSp>
            <p:nvGrpSpPr>
              <p:cNvPr id="192" name="Group 191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94" name="Group 193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96" name="Straight Connector 195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7" name="Straight Connector 196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Straight Connector 197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" name="Straight Arrow Connector 198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5" name="Rectangle 194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3" name="Rectangle 192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0" name="Rectangle 249"/>
            <p:cNvSpPr/>
            <p:nvPr/>
          </p:nvSpPr>
          <p:spPr>
            <a:xfrm>
              <a:off x="8194911" y="3432994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5964247" y="3047277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74" name="Rectangle 17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x           </a:t>
              </a:r>
            </a:p>
          </p:txBody>
        </p:sp>
      </p:grpSp>
      <p:sp>
        <p:nvSpPr>
          <p:cNvPr id="315" name="TextBox 314"/>
          <p:cNvSpPr txBox="1"/>
          <p:nvPr/>
        </p:nvSpPr>
        <p:spPr>
          <a:xfrm>
            <a:off x="1393449" y="5020959"/>
            <a:ext cx="3940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temp -&gt; R -&gt; L = temp -&gt; L;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0985" y="1809730"/>
            <a:ext cx="4394936" cy="18725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3774705" y="3051082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5" name="Rectangle 4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b           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4321654" y="3047278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9" name="Rectangle 4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82" name="Group 181"/>
          <p:cNvGrpSpPr/>
          <p:nvPr/>
        </p:nvGrpSpPr>
        <p:grpSpPr>
          <a:xfrm>
            <a:off x="8159814" y="3043472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83" name="Rectangle 182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grpSp>
        <p:nvGrpSpPr>
          <p:cNvPr id="188" name="Group 187"/>
          <p:cNvGrpSpPr/>
          <p:nvPr/>
        </p:nvGrpSpPr>
        <p:grpSpPr>
          <a:xfrm>
            <a:off x="7607038" y="303966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9" name="Rectangle 18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TextBox 18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292" name="Group 291"/>
          <p:cNvGrpSpPr/>
          <p:nvPr/>
        </p:nvGrpSpPr>
        <p:grpSpPr>
          <a:xfrm>
            <a:off x="4797598" y="1846814"/>
            <a:ext cx="3020589" cy="1731159"/>
            <a:chOff x="5892410" y="2343663"/>
            <a:chExt cx="1251368" cy="896225"/>
          </a:xfrm>
        </p:grpSpPr>
        <p:grpSp>
          <p:nvGrpSpPr>
            <p:cNvPr id="293" name="Group 292"/>
            <p:cNvGrpSpPr/>
            <p:nvPr/>
          </p:nvGrpSpPr>
          <p:grpSpPr>
            <a:xfrm>
              <a:off x="5892410" y="2343663"/>
              <a:ext cx="1251368" cy="869066"/>
              <a:chOff x="3714343" y="2144227"/>
              <a:chExt cx="1251368" cy="869066"/>
            </a:xfrm>
          </p:grpSpPr>
          <p:grpSp>
            <p:nvGrpSpPr>
              <p:cNvPr id="295" name="Group 294"/>
              <p:cNvGrpSpPr/>
              <p:nvPr/>
            </p:nvGrpSpPr>
            <p:grpSpPr>
              <a:xfrm>
                <a:off x="3714343" y="2144227"/>
                <a:ext cx="1251368" cy="869066"/>
                <a:chOff x="3714343" y="2144227"/>
                <a:chExt cx="1251368" cy="869066"/>
              </a:xfrm>
            </p:grpSpPr>
            <p:grpSp>
              <p:nvGrpSpPr>
                <p:cNvPr id="297" name="Group 296"/>
                <p:cNvGrpSpPr/>
                <p:nvPr/>
              </p:nvGrpSpPr>
              <p:grpSpPr>
                <a:xfrm>
                  <a:off x="3714343" y="2144228"/>
                  <a:ext cx="1229451" cy="869065"/>
                  <a:chOff x="3996354" y="2118591"/>
                  <a:chExt cx="1229451" cy="869065"/>
                </a:xfrm>
              </p:grpSpPr>
              <p:cxnSp>
                <p:nvCxnSpPr>
                  <p:cNvPr id="299" name="Straight Connector 298"/>
                  <p:cNvCxnSpPr/>
                  <p:nvPr/>
                </p:nvCxnSpPr>
                <p:spPr>
                  <a:xfrm>
                    <a:off x="3996354" y="2987575"/>
                    <a:ext cx="157585" cy="81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0" name="Straight Connector 299"/>
                  <p:cNvCxnSpPr/>
                  <p:nvPr/>
                </p:nvCxnSpPr>
                <p:spPr>
                  <a:xfrm flipV="1">
                    <a:off x="4153055" y="2118591"/>
                    <a:ext cx="1060" cy="847199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1" name="Straight Connector 300"/>
                  <p:cNvCxnSpPr/>
                  <p:nvPr/>
                </p:nvCxnSpPr>
                <p:spPr>
                  <a:xfrm>
                    <a:off x="4153056" y="2167616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2" name="Straight Arrow Connector 301"/>
                  <p:cNvCxnSpPr/>
                  <p:nvPr/>
                </p:nvCxnSpPr>
                <p:spPr>
                  <a:xfrm>
                    <a:off x="5225805" y="2167615"/>
                    <a:ext cx="0" cy="573879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98" name="Rectangle 297"/>
                <p:cNvSpPr/>
                <p:nvPr/>
              </p:nvSpPr>
              <p:spPr>
                <a:xfrm>
                  <a:off x="4910608" y="2144227"/>
                  <a:ext cx="55103" cy="108403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96" name="Rectangle 295"/>
              <p:cNvSpPr/>
              <p:nvPr/>
            </p:nvSpPr>
            <p:spPr>
              <a:xfrm>
                <a:off x="3849129" y="2144227"/>
                <a:ext cx="48997" cy="108403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4" name="Rectangle 293"/>
            <p:cNvSpPr/>
            <p:nvPr/>
          </p:nvSpPr>
          <p:spPr>
            <a:xfrm>
              <a:off x="6017181" y="3135854"/>
              <a:ext cx="59012" cy="10403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3" name="Group 302"/>
          <p:cNvGrpSpPr/>
          <p:nvPr/>
        </p:nvGrpSpPr>
        <p:grpSpPr>
          <a:xfrm>
            <a:off x="4527854" y="2347393"/>
            <a:ext cx="3315819" cy="867734"/>
            <a:chOff x="5208467" y="2677649"/>
            <a:chExt cx="1303277" cy="527808"/>
          </a:xfrm>
        </p:grpSpPr>
        <p:grpSp>
          <p:nvGrpSpPr>
            <p:cNvPr id="304" name="Group 303"/>
            <p:cNvGrpSpPr/>
            <p:nvPr/>
          </p:nvGrpSpPr>
          <p:grpSpPr>
            <a:xfrm>
              <a:off x="5208467" y="2677649"/>
              <a:ext cx="1303277" cy="469620"/>
              <a:chOff x="2962148" y="2485218"/>
              <a:chExt cx="1303277" cy="469620"/>
            </a:xfrm>
            <a:solidFill>
              <a:srgbClr val="7030A0"/>
            </a:solidFill>
          </p:grpSpPr>
          <p:grpSp>
            <p:nvGrpSpPr>
              <p:cNvPr id="306" name="Group 305"/>
              <p:cNvGrpSpPr/>
              <p:nvPr/>
            </p:nvGrpSpPr>
            <p:grpSpPr>
              <a:xfrm>
                <a:off x="2982302" y="2485218"/>
                <a:ext cx="1283123" cy="469620"/>
                <a:chOff x="2982302" y="2485218"/>
                <a:chExt cx="1283123" cy="469620"/>
              </a:xfrm>
              <a:grpFill/>
            </p:grpSpPr>
            <p:grpSp>
              <p:nvGrpSpPr>
                <p:cNvPr id="308" name="Group 307"/>
                <p:cNvGrpSpPr/>
                <p:nvPr/>
              </p:nvGrpSpPr>
              <p:grpSpPr>
                <a:xfrm>
                  <a:off x="2982302" y="2525350"/>
                  <a:ext cx="1283123" cy="429488"/>
                  <a:chOff x="3264313" y="2499713"/>
                  <a:chExt cx="1283123" cy="429488"/>
                </a:xfrm>
                <a:grpFill/>
              </p:grpSpPr>
              <p:cxnSp>
                <p:nvCxnSpPr>
                  <p:cNvPr id="310" name="Straight Connector 309"/>
                  <p:cNvCxnSpPr/>
                  <p:nvPr/>
                </p:nvCxnSpPr>
                <p:spPr>
                  <a:xfrm flipH="1">
                    <a:off x="4375449" y="2921591"/>
                    <a:ext cx="171987" cy="761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1" name="Straight Connector 310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2" name="Straight Connector 311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3" name="Straight Arrow Connector 312"/>
                  <p:cNvCxnSpPr/>
                  <p:nvPr/>
                </p:nvCxnSpPr>
                <p:spPr>
                  <a:xfrm>
                    <a:off x="3264313" y="2499713"/>
                    <a:ext cx="0" cy="42187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09" name="Rectangle 308"/>
                <p:cNvSpPr/>
                <p:nvPr/>
              </p:nvSpPr>
              <p:spPr>
                <a:xfrm>
                  <a:off x="4069924" y="2485218"/>
                  <a:ext cx="55571" cy="94648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307" name="Rectangle 306"/>
              <p:cNvSpPr/>
              <p:nvPr/>
            </p:nvSpPr>
            <p:spPr>
              <a:xfrm>
                <a:off x="2962148" y="2495474"/>
                <a:ext cx="53186" cy="9044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305" name="Rectangle 304"/>
            <p:cNvSpPr/>
            <p:nvPr/>
          </p:nvSpPr>
          <p:spPr>
            <a:xfrm>
              <a:off x="6324258" y="3079393"/>
              <a:ext cx="51025" cy="126064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6" name="TextBox 315"/>
          <p:cNvSpPr txBox="1"/>
          <p:nvPr/>
        </p:nvSpPr>
        <p:spPr>
          <a:xfrm>
            <a:off x="1393449" y="5428316"/>
            <a:ext cx="1382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free(temp);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6208443" y="3983780"/>
            <a:ext cx="239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>
                <a:latin typeface="Calisto MT" panose="02040603050505030304" pitchFamily="18" charset="0"/>
              </a:rPr>
              <a:t>Corner cases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6525289" y="4353112"/>
            <a:ext cx="3660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sto MT" panose="02040603050505030304" pitchFamily="18" charset="0"/>
              </a:rPr>
              <a:t>If the head or tail is to be deleted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6531936" y="4765958"/>
            <a:ext cx="5266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sto MT" panose="02040603050505030304" pitchFamily="18" charset="0"/>
              </a:rPr>
              <a:t>If the number of elements in the list is less than 3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0C5D-56AF-468F-9301-88586394A899}" type="datetime4">
              <a:rPr lang="en-US" smtClean="0"/>
              <a:t>23 March, 2024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7</a:t>
            </a:fld>
            <a:endParaRPr lang="en-US"/>
          </a:p>
        </p:txBody>
      </p:sp>
      <p:sp>
        <p:nvSpPr>
          <p:cNvPr id="238" name="TextBox 237"/>
          <p:cNvSpPr txBox="1"/>
          <p:nvPr/>
        </p:nvSpPr>
        <p:spPr>
          <a:xfrm>
            <a:off x="6195781" y="5209675"/>
            <a:ext cx="239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>
                <a:latin typeface="Calisto MT" panose="02040603050505030304" pitchFamily="18" charset="0"/>
              </a:rPr>
              <a:t>Complexity?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531936" y="5627796"/>
            <a:ext cx="305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sto MT" panose="02040603050505030304" pitchFamily="18" charset="0"/>
              </a:rPr>
              <a:t>O(</a:t>
            </a:r>
            <a:r>
              <a:rPr lang="en-US" b="1" i="1" dirty="0">
                <a:latin typeface="Calisto MT" panose="02040603050505030304" pitchFamily="18" charset="0"/>
              </a:rPr>
              <a:t>n</a:t>
            </a:r>
            <a:r>
              <a:rPr lang="en-US" dirty="0">
                <a:latin typeface="Calisto MT" panose="02040603050505030304" pitchFamily="18" charset="0"/>
              </a:rPr>
              <a:t>)</a:t>
            </a:r>
          </a:p>
        </p:txBody>
      </p:sp>
      <p:cxnSp>
        <p:nvCxnSpPr>
          <p:cNvPr id="4" name="Straight Arrow Connector 3"/>
          <p:cNvCxnSpPr>
            <a:stCxn id="291" idx="3"/>
            <a:endCxn id="239" idx="1"/>
          </p:cNvCxnSpPr>
          <p:nvPr/>
        </p:nvCxnSpPr>
        <p:spPr>
          <a:xfrm>
            <a:off x="5319282" y="4450605"/>
            <a:ext cx="1212654" cy="136185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60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" grpId="0"/>
      <p:bldP spid="8" grpId="0" animBg="1"/>
      <p:bldP spid="314" grpId="0"/>
      <p:bldP spid="12" grpId="0" animBg="1"/>
      <p:bldP spid="315" grpId="0"/>
      <p:bldP spid="14" grpId="0" animBg="1"/>
      <p:bldP spid="316" grpId="0"/>
      <p:bldP spid="317" grpId="0"/>
      <p:bldP spid="318" grpId="0"/>
      <p:bldP spid="320" grpId="0"/>
      <p:bldP spid="238" grpId="0"/>
      <p:bldP spid="2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92" y="130024"/>
            <a:ext cx="12108074" cy="1450757"/>
          </a:xfrm>
        </p:spPr>
        <p:txBody>
          <a:bodyPr>
            <a:normAutofit/>
          </a:bodyPr>
          <a:lstStyle/>
          <a:p>
            <a:r>
              <a:rPr lang="en-US" sz="3600" b="1" dirty="0"/>
              <a:t>Delete Interior Element(By Ref)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1647087" y="3112051"/>
            <a:ext cx="367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           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26811" y="3137057"/>
            <a:ext cx="382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           </a:t>
            </a:r>
          </a:p>
        </p:txBody>
      </p:sp>
      <p:cxnSp>
        <p:nvCxnSpPr>
          <p:cNvPr id="241" name="Straight Arrow Connector 240"/>
          <p:cNvCxnSpPr/>
          <p:nvPr/>
        </p:nvCxnSpPr>
        <p:spPr>
          <a:xfrm flipH="1">
            <a:off x="784177" y="3314113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" name="Group 117"/>
          <p:cNvGrpSpPr/>
          <p:nvPr/>
        </p:nvGrpSpPr>
        <p:grpSpPr>
          <a:xfrm>
            <a:off x="876569" y="3957293"/>
            <a:ext cx="4353458" cy="2220749"/>
            <a:chOff x="1000860" y="4017182"/>
            <a:chExt cx="3549018" cy="2220749"/>
          </a:xfrm>
        </p:grpSpPr>
        <p:sp>
          <p:nvSpPr>
            <p:cNvPr id="120" name="TextBox 119"/>
            <p:cNvSpPr txBox="1"/>
            <p:nvPr/>
          </p:nvSpPr>
          <p:spPr>
            <a:xfrm>
              <a:off x="1002940" y="4017182"/>
              <a:ext cx="35469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void </a:t>
              </a:r>
              <a:r>
                <a:rPr lang="en-US" dirty="0" err="1">
                  <a:latin typeface="Calisto MT" panose="02040603050505030304" pitchFamily="18" charset="0"/>
                </a:rPr>
                <a:t>deleteFirstOccurrence</a:t>
              </a:r>
              <a:r>
                <a:rPr lang="en-US" dirty="0">
                  <a:latin typeface="Calisto MT" panose="02040603050505030304" pitchFamily="18" charset="0"/>
                </a:rPr>
                <a:t>(Node *temp){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1000860" y="5868599"/>
              <a:ext cx="41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579138" y="3054887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8" name="Rectangle 2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2126087" y="3051083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1" name="Rectangle 3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026362" y="305108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2" name="Rectangle 4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3221929" y="304727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52" name="Rectangle 5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85" name="Group 184"/>
          <p:cNvGrpSpPr/>
          <p:nvPr/>
        </p:nvGrpSpPr>
        <p:grpSpPr>
          <a:xfrm>
            <a:off x="8706763" y="3039668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6" name="Rectangle 185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245" name="Group 244"/>
          <p:cNvGrpSpPr/>
          <p:nvPr/>
        </p:nvGrpSpPr>
        <p:grpSpPr>
          <a:xfrm>
            <a:off x="10496991" y="1715963"/>
            <a:ext cx="617280" cy="1299758"/>
            <a:chOff x="9315288" y="1750121"/>
            <a:chExt cx="617280" cy="1299758"/>
          </a:xfrm>
        </p:grpSpPr>
        <p:cxnSp>
          <p:nvCxnSpPr>
            <p:cNvPr id="232" name="Straight Arrow Connector 231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Box 232"/>
            <p:cNvSpPr txBox="1"/>
            <p:nvPr/>
          </p:nvSpPr>
          <p:spPr>
            <a:xfrm>
              <a:off x="9315288" y="1750121"/>
              <a:ext cx="61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  <p:grpSp>
        <p:nvGrpSpPr>
          <p:cNvPr id="247" name="Group 246"/>
          <p:cNvGrpSpPr/>
          <p:nvPr/>
        </p:nvGrpSpPr>
        <p:grpSpPr>
          <a:xfrm>
            <a:off x="2563685" y="2322696"/>
            <a:ext cx="1400614" cy="1209475"/>
            <a:chOff x="3591216" y="2332908"/>
            <a:chExt cx="1400614" cy="1209475"/>
          </a:xfrm>
        </p:grpSpPr>
        <p:grpSp>
          <p:nvGrpSpPr>
            <p:cNvPr id="168" name="Group 167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166" name="Group 165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13" name="Group 112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6" name="Straight Connector 25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Straight Connector 109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Arrow Connector 111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4" name="Rectangle 163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7" name="Rectangle 166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6" name="Rectangle 245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4750298" y="2322091"/>
            <a:ext cx="1400614" cy="1226567"/>
            <a:chOff x="5777829" y="2332303"/>
            <a:chExt cx="1400614" cy="1226567"/>
          </a:xfrm>
        </p:grpSpPr>
        <p:grpSp>
          <p:nvGrpSpPr>
            <p:cNvPr id="218" name="Group 217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219" name="Group 21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21" name="Group 220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23" name="Straight Connector 222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Straight Connector 223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Straight Connector 224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Straight Arrow Connector 225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2" name="Rectangle 221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0" name="Rectangle 219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8" name="Rectangle 247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2" name="Group 241"/>
          <p:cNvGrpSpPr/>
          <p:nvPr/>
        </p:nvGrpSpPr>
        <p:grpSpPr>
          <a:xfrm>
            <a:off x="1464343" y="1739909"/>
            <a:ext cx="729688" cy="1299758"/>
            <a:chOff x="2491874" y="1750121"/>
            <a:chExt cx="729688" cy="1299758"/>
          </a:xfrm>
        </p:grpSpPr>
        <p:cxnSp>
          <p:nvCxnSpPr>
            <p:cNvPr id="161" name="Straight Arrow Connector 160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TextBox 227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grpSp>
        <p:nvGrpSpPr>
          <p:cNvPr id="254" name="Group 253"/>
          <p:cNvGrpSpPr/>
          <p:nvPr/>
        </p:nvGrpSpPr>
        <p:grpSpPr>
          <a:xfrm>
            <a:off x="1886250" y="2667527"/>
            <a:ext cx="1395501" cy="528191"/>
            <a:chOff x="2913781" y="2677739"/>
            <a:chExt cx="1395501" cy="528191"/>
          </a:xfrm>
        </p:grpSpPr>
        <p:grpSp>
          <p:nvGrpSpPr>
            <p:cNvPr id="172" name="Group 171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170" name="Group 16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122" name="Group 12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15" name="Straight Connector 114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Straight Connector 116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Straight Connector 118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Arrow Connector 120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9" name="Rectangle 168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1" name="Rectangle 17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3" name="Rectangle 252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8" name="Group 257"/>
          <p:cNvGrpSpPr/>
          <p:nvPr/>
        </p:nvGrpSpPr>
        <p:grpSpPr>
          <a:xfrm>
            <a:off x="6271359" y="2659917"/>
            <a:ext cx="1395501" cy="533259"/>
            <a:chOff x="7298890" y="2670129"/>
            <a:chExt cx="1395501" cy="533259"/>
          </a:xfrm>
          <a:solidFill>
            <a:srgbClr val="7030A0"/>
          </a:solidFill>
        </p:grpSpPr>
        <p:grpSp>
          <p:nvGrpSpPr>
            <p:cNvPr id="200" name="Group 199"/>
            <p:cNvGrpSpPr/>
            <p:nvPr/>
          </p:nvGrpSpPr>
          <p:grpSpPr>
            <a:xfrm>
              <a:off x="7298890" y="2670129"/>
              <a:ext cx="1395501" cy="477140"/>
              <a:chOff x="2922327" y="2477698"/>
              <a:chExt cx="1395501" cy="477140"/>
            </a:xfrm>
            <a:grpFill/>
          </p:grpSpPr>
          <p:grpSp>
            <p:nvGrpSpPr>
              <p:cNvPr id="201" name="Group 200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03" name="Group 202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05" name="Straight Connector 204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6" name="Straight Connector 205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7" name="Straight Connector 206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8" name="Straight Arrow Connector 207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04" name="Rectangle 203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02" name="Rectangle 201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57" name="Rectangle 256"/>
            <p:cNvSpPr/>
            <p:nvPr/>
          </p:nvSpPr>
          <p:spPr>
            <a:xfrm>
              <a:off x="8423999" y="3090228"/>
              <a:ext cx="113160" cy="113160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7030A0"/>
                  </a:solidFill>
                </a:ln>
              </a:endParaRP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10371383" y="3026076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54" name="Rectangle 15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d           </a:t>
              </a:r>
            </a:p>
          </p:txBody>
        </p:sp>
      </p:grpSp>
      <p:grpSp>
        <p:nvGrpSpPr>
          <p:cNvPr id="163" name="Group 162"/>
          <p:cNvGrpSpPr/>
          <p:nvPr/>
        </p:nvGrpSpPr>
        <p:grpSpPr>
          <a:xfrm>
            <a:off x="10918332" y="302227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65" name="Rectangle 16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229" name="Group 228"/>
          <p:cNvGrpSpPr/>
          <p:nvPr/>
        </p:nvGrpSpPr>
        <p:grpSpPr>
          <a:xfrm>
            <a:off x="9818607" y="302227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30" name="Rectangle 22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cxnSp>
        <p:nvCxnSpPr>
          <p:cNvPr id="235" name="Straight Arrow Connector 234"/>
          <p:cNvCxnSpPr/>
          <p:nvPr/>
        </p:nvCxnSpPr>
        <p:spPr>
          <a:xfrm flipV="1">
            <a:off x="11388511" y="3296717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4" name="Group 233"/>
          <p:cNvGrpSpPr/>
          <p:nvPr/>
        </p:nvGrpSpPr>
        <p:grpSpPr>
          <a:xfrm>
            <a:off x="9144414" y="2315086"/>
            <a:ext cx="1400614" cy="1220856"/>
            <a:chOff x="7976325" y="2325298"/>
            <a:chExt cx="1400614" cy="1220856"/>
          </a:xfrm>
        </p:grpSpPr>
        <p:grpSp>
          <p:nvGrpSpPr>
            <p:cNvPr id="255" name="Group 254"/>
            <p:cNvGrpSpPr/>
            <p:nvPr/>
          </p:nvGrpSpPr>
          <p:grpSpPr>
            <a:xfrm>
              <a:off x="7976325" y="2325298"/>
              <a:ext cx="1400614" cy="1183693"/>
              <a:chOff x="3599762" y="2132867"/>
              <a:chExt cx="1400614" cy="1183693"/>
            </a:xfrm>
          </p:grpSpPr>
          <p:grpSp>
            <p:nvGrpSpPr>
              <p:cNvPr id="259" name="Group 25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61" name="Group 260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65" name="Straight Connector 264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6" name="Straight Connector 265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7" name="Straight Connector 266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8" name="Straight Arrow Connector 267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64" name="Rectangle 263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60" name="Rectangle 259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6" name="Rectangle 255"/>
            <p:cNvSpPr/>
            <p:nvPr/>
          </p:nvSpPr>
          <p:spPr>
            <a:xfrm>
              <a:off x="8194911" y="3432994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9" name="Group 268"/>
          <p:cNvGrpSpPr/>
          <p:nvPr/>
        </p:nvGrpSpPr>
        <p:grpSpPr>
          <a:xfrm>
            <a:off x="8489612" y="2658114"/>
            <a:ext cx="1395501" cy="533259"/>
            <a:chOff x="7298890" y="2670129"/>
            <a:chExt cx="1395501" cy="533259"/>
          </a:xfrm>
          <a:solidFill>
            <a:srgbClr val="7030A0"/>
          </a:solidFill>
        </p:grpSpPr>
        <p:grpSp>
          <p:nvGrpSpPr>
            <p:cNvPr id="270" name="Group 269"/>
            <p:cNvGrpSpPr/>
            <p:nvPr/>
          </p:nvGrpSpPr>
          <p:grpSpPr>
            <a:xfrm>
              <a:off x="7298890" y="2670129"/>
              <a:ext cx="1395501" cy="477140"/>
              <a:chOff x="2922327" y="2477698"/>
              <a:chExt cx="1395501" cy="477140"/>
            </a:xfrm>
            <a:grpFill/>
          </p:grpSpPr>
          <p:grpSp>
            <p:nvGrpSpPr>
              <p:cNvPr id="272" name="Group 271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74" name="Group 273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76" name="Straight Connector 275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7" name="Straight Connector 276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8" name="Straight Connector 277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9" name="Straight Arrow Connector 278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75" name="Rectangle 274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73" name="Rectangle 272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71" name="Rectangle 270"/>
            <p:cNvSpPr/>
            <p:nvPr/>
          </p:nvSpPr>
          <p:spPr>
            <a:xfrm>
              <a:off x="8423999" y="3090228"/>
              <a:ext cx="113160" cy="113160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7030A0"/>
                  </a:solidFill>
                </a:ln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4562437" y="2308098"/>
            <a:ext cx="1618196" cy="14707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3" name="Group 262"/>
          <p:cNvGrpSpPr/>
          <p:nvPr/>
        </p:nvGrpSpPr>
        <p:grpSpPr>
          <a:xfrm>
            <a:off x="4141115" y="2659917"/>
            <a:ext cx="1395501" cy="529915"/>
            <a:chOff x="5168646" y="2670129"/>
            <a:chExt cx="1395501" cy="529915"/>
          </a:xfrm>
        </p:grpSpPr>
        <p:grpSp>
          <p:nvGrpSpPr>
            <p:cNvPr id="209" name="Group 208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210" name="Group 20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12" name="Group 21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14" name="Straight Connector 213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" name="Straight Connector 214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Straight Connector 215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Straight Arrow Connector 216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3" name="Rectangle 212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11" name="Rectangle 21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62" name="Rectangle 261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9" name="Group 178"/>
          <p:cNvGrpSpPr/>
          <p:nvPr/>
        </p:nvGrpSpPr>
        <p:grpSpPr>
          <a:xfrm>
            <a:off x="5411471" y="304347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0" name="Rectangle 17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sp>
        <p:nvSpPr>
          <p:cNvPr id="314" name="TextBox 313"/>
          <p:cNvSpPr txBox="1"/>
          <p:nvPr/>
        </p:nvSpPr>
        <p:spPr>
          <a:xfrm>
            <a:off x="1393449" y="4479872"/>
            <a:ext cx="3940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temp -&gt; L -&gt; R = temp -&gt; R;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443" y="2633788"/>
            <a:ext cx="1572530" cy="5865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9" name="Group 138"/>
          <p:cNvGrpSpPr/>
          <p:nvPr/>
        </p:nvGrpSpPr>
        <p:grpSpPr>
          <a:xfrm>
            <a:off x="6128912" y="2084760"/>
            <a:ext cx="729688" cy="954908"/>
            <a:chOff x="5754153" y="4810967"/>
            <a:chExt cx="729688" cy="954908"/>
          </a:xfrm>
        </p:grpSpPr>
        <p:cxnSp>
          <p:nvCxnSpPr>
            <p:cNvPr id="140" name="Straight Arrow Connector 139"/>
            <p:cNvCxnSpPr>
              <a:stCxn id="141" idx="2"/>
            </p:cNvCxnSpPr>
            <p:nvPr/>
          </p:nvCxnSpPr>
          <p:spPr>
            <a:xfrm>
              <a:off x="6118997" y="5180299"/>
              <a:ext cx="0" cy="585576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TextBox 140"/>
            <p:cNvSpPr txBox="1"/>
            <p:nvPr/>
          </p:nvSpPr>
          <p:spPr>
            <a:xfrm>
              <a:off x="5754153" y="4810967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temp           </a:t>
              </a:r>
            </a:p>
          </p:txBody>
        </p:sp>
      </p:grpSp>
      <p:grpSp>
        <p:nvGrpSpPr>
          <p:cNvPr id="176" name="Group 175"/>
          <p:cNvGrpSpPr/>
          <p:nvPr/>
        </p:nvGrpSpPr>
        <p:grpSpPr>
          <a:xfrm>
            <a:off x="6511196" y="3043473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77" name="Rectangle 17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251" name="Group 250"/>
          <p:cNvGrpSpPr/>
          <p:nvPr/>
        </p:nvGrpSpPr>
        <p:grpSpPr>
          <a:xfrm>
            <a:off x="6948794" y="2315086"/>
            <a:ext cx="1400614" cy="1220856"/>
            <a:chOff x="7976325" y="2325298"/>
            <a:chExt cx="1400614" cy="1220856"/>
          </a:xfrm>
        </p:grpSpPr>
        <p:grpSp>
          <p:nvGrpSpPr>
            <p:cNvPr id="191" name="Group 190"/>
            <p:cNvGrpSpPr/>
            <p:nvPr/>
          </p:nvGrpSpPr>
          <p:grpSpPr>
            <a:xfrm>
              <a:off x="7976325" y="2325298"/>
              <a:ext cx="1400614" cy="1183693"/>
              <a:chOff x="3599762" y="2132867"/>
              <a:chExt cx="1400614" cy="1183693"/>
            </a:xfrm>
          </p:grpSpPr>
          <p:grpSp>
            <p:nvGrpSpPr>
              <p:cNvPr id="192" name="Group 191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94" name="Group 193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96" name="Straight Connector 195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7" name="Straight Connector 196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Straight Connector 197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" name="Straight Arrow Connector 198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5" name="Rectangle 194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3" name="Rectangle 192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0" name="Rectangle 249"/>
            <p:cNvSpPr/>
            <p:nvPr/>
          </p:nvSpPr>
          <p:spPr>
            <a:xfrm>
              <a:off x="8194911" y="3432994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5964247" y="3047277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74" name="Rectangle 17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x           </a:t>
              </a:r>
            </a:p>
          </p:txBody>
        </p:sp>
      </p:grpSp>
      <p:sp>
        <p:nvSpPr>
          <p:cNvPr id="315" name="TextBox 314"/>
          <p:cNvSpPr txBox="1"/>
          <p:nvPr/>
        </p:nvSpPr>
        <p:spPr>
          <a:xfrm>
            <a:off x="1393449" y="4865560"/>
            <a:ext cx="3940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temp -&gt; R -&gt; L = temp -&gt; L;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0985" y="1809730"/>
            <a:ext cx="4394936" cy="18725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3774705" y="3051082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5" name="Rectangle 4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b           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4321654" y="3047278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9" name="Rectangle 4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82" name="Group 181"/>
          <p:cNvGrpSpPr/>
          <p:nvPr/>
        </p:nvGrpSpPr>
        <p:grpSpPr>
          <a:xfrm>
            <a:off x="8159814" y="3043472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83" name="Rectangle 182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grpSp>
        <p:nvGrpSpPr>
          <p:cNvPr id="188" name="Group 187"/>
          <p:cNvGrpSpPr/>
          <p:nvPr/>
        </p:nvGrpSpPr>
        <p:grpSpPr>
          <a:xfrm>
            <a:off x="7607038" y="303966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9" name="Rectangle 18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TextBox 18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292" name="Group 291"/>
          <p:cNvGrpSpPr/>
          <p:nvPr/>
        </p:nvGrpSpPr>
        <p:grpSpPr>
          <a:xfrm>
            <a:off x="4797598" y="1846814"/>
            <a:ext cx="3020589" cy="1731159"/>
            <a:chOff x="5892410" y="2343663"/>
            <a:chExt cx="1251368" cy="896225"/>
          </a:xfrm>
        </p:grpSpPr>
        <p:grpSp>
          <p:nvGrpSpPr>
            <p:cNvPr id="293" name="Group 292"/>
            <p:cNvGrpSpPr/>
            <p:nvPr/>
          </p:nvGrpSpPr>
          <p:grpSpPr>
            <a:xfrm>
              <a:off x="5892410" y="2343663"/>
              <a:ext cx="1251368" cy="869066"/>
              <a:chOff x="3714343" y="2144227"/>
              <a:chExt cx="1251368" cy="869066"/>
            </a:xfrm>
          </p:grpSpPr>
          <p:grpSp>
            <p:nvGrpSpPr>
              <p:cNvPr id="295" name="Group 294"/>
              <p:cNvGrpSpPr/>
              <p:nvPr/>
            </p:nvGrpSpPr>
            <p:grpSpPr>
              <a:xfrm>
                <a:off x="3714343" y="2144227"/>
                <a:ext cx="1251368" cy="869066"/>
                <a:chOff x="3714343" y="2144227"/>
                <a:chExt cx="1251368" cy="869066"/>
              </a:xfrm>
            </p:grpSpPr>
            <p:grpSp>
              <p:nvGrpSpPr>
                <p:cNvPr id="297" name="Group 296"/>
                <p:cNvGrpSpPr/>
                <p:nvPr/>
              </p:nvGrpSpPr>
              <p:grpSpPr>
                <a:xfrm>
                  <a:off x="3714343" y="2144228"/>
                  <a:ext cx="1229451" cy="869065"/>
                  <a:chOff x="3996354" y="2118591"/>
                  <a:chExt cx="1229451" cy="869065"/>
                </a:xfrm>
              </p:grpSpPr>
              <p:cxnSp>
                <p:nvCxnSpPr>
                  <p:cNvPr id="299" name="Straight Connector 298"/>
                  <p:cNvCxnSpPr/>
                  <p:nvPr/>
                </p:nvCxnSpPr>
                <p:spPr>
                  <a:xfrm>
                    <a:off x="3996354" y="2987575"/>
                    <a:ext cx="157585" cy="81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0" name="Straight Connector 299"/>
                  <p:cNvCxnSpPr/>
                  <p:nvPr/>
                </p:nvCxnSpPr>
                <p:spPr>
                  <a:xfrm flipV="1">
                    <a:off x="4153055" y="2118591"/>
                    <a:ext cx="1060" cy="847199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1" name="Straight Connector 300"/>
                  <p:cNvCxnSpPr/>
                  <p:nvPr/>
                </p:nvCxnSpPr>
                <p:spPr>
                  <a:xfrm>
                    <a:off x="4153056" y="2167616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2" name="Straight Arrow Connector 301"/>
                  <p:cNvCxnSpPr/>
                  <p:nvPr/>
                </p:nvCxnSpPr>
                <p:spPr>
                  <a:xfrm>
                    <a:off x="5225805" y="2167615"/>
                    <a:ext cx="0" cy="573879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98" name="Rectangle 297"/>
                <p:cNvSpPr/>
                <p:nvPr/>
              </p:nvSpPr>
              <p:spPr>
                <a:xfrm>
                  <a:off x="4910608" y="2144227"/>
                  <a:ext cx="55103" cy="108403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96" name="Rectangle 295"/>
              <p:cNvSpPr/>
              <p:nvPr/>
            </p:nvSpPr>
            <p:spPr>
              <a:xfrm>
                <a:off x="3849129" y="2144227"/>
                <a:ext cx="48997" cy="108403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4" name="Rectangle 293"/>
            <p:cNvSpPr/>
            <p:nvPr/>
          </p:nvSpPr>
          <p:spPr>
            <a:xfrm>
              <a:off x="6017181" y="3135854"/>
              <a:ext cx="59012" cy="10403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3" name="Group 302"/>
          <p:cNvGrpSpPr/>
          <p:nvPr/>
        </p:nvGrpSpPr>
        <p:grpSpPr>
          <a:xfrm>
            <a:off x="4527854" y="2347393"/>
            <a:ext cx="3315819" cy="867734"/>
            <a:chOff x="5208467" y="2677649"/>
            <a:chExt cx="1303277" cy="527808"/>
          </a:xfrm>
        </p:grpSpPr>
        <p:grpSp>
          <p:nvGrpSpPr>
            <p:cNvPr id="304" name="Group 303"/>
            <p:cNvGrpSpPr/>
            <p:nvPr/>
          </p:nvGrpSpPr>
          <p:grpSpPr>
            <a:xfrm>
              <a:off x="5208467" y="2677649"/>
              <a:ext cx="1303277" cy="469620"/>
              <a:chOff x="2962148" y="2485218"/>
              <a:chExt cx="1303277" cy="469620"/>
            </a:xfrm>
            <a:solidFill>
              <a:srgbClr val="7030A0"/>
            </a:solidFill>
          </p:grpSpPr>
          <p:grpSp>
            <p:nvGrpSpPr>
              <p:cNvPr id="306" name="Group 305"/>
              <p:cNvGrpSpPr/>
              <p:nvPr/>
            </p:nvGrpSpPr>
            <p:grpSpPr>
              <a:xfrm>
                <a:off x="2982302" y="2485218"/>
                <a:ext cx="1283123" cy="469620"/>
                <a:chOff x="2982302" y="2485218"/>
                <a:chExt cx="1283123" cy="469620"/>
              </a:xfrm>
              <a:grpFill/>
            </p:grpSpPr>
            <p:grpSp>
              <p:nvGrpSpPr>
                <p:cNvPr id="308" name="Group 307"/>
                <p:cNvGrpSpPr/>
                <p:nvPr/>
              </p:nvGrpSpPr>
              <p:grpSpPr>
                <a:xfrm>
                  <a:off x="2982302" y="2525350"/>
                  <a:ext cx="1283123" cy="429488"/>
                  <a:chOff x="3264313" y="2499713"/>
                  <a:chExt cx="1283123" cy="429488"/>
                </a:xfrm>
                <a:grpFill/>
              </p:grpSpPr>
              <p:cxnSp>
                <p:nvCxnSpPr>
                  <p:cNvPr id="310" name="Straight Connector 309"/>
                  <p:cNvCxnSpPr/>
                  <p:nvPr/>
                </p:nvCxnSpPr>
                <p:spPr>
                  <a:xfrm flipH="1">
                    <a:off x="4375449" y="2921591"/>
                    <a:ext cx="171987" cy="761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1" name="Straight Connector 310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2" name="Straight Connector 311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3" name="Straight Arrow Connector 312"/>
                  <p:cNvCxnSpPr/>
                  <p:nvPr/>
                </p:nvCxnSpPr>
                <p:spPr>
                  <a:xfrm>
                    <a:off x="3264313" y="2499713"/>
                    <a:ext cx="0" cy="42187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09" name="Rectangle 308"/>
                <p:cNvSpPr/>
                <p:nvPr/>
              </p:nvSpPr>
              <p:spPr>
                <a:xfrm>
                  <a:off x="4069924" y="2485218"/>
                  <a:ext cx="55571" cy="94648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307" name="Rectangle 306"/>
              <p:cNvSpPr/>
              <p:nvPr/>
            </p:nvSpPr>
            <p:spPr>
              <a:xfrm>
                <a:off x="2962148" y="2495474"/>
                <a:ext cx="53186" cy="9044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305" name="Rectangle 304"/>
            <p:cNvSpPr/>
            <p:nvPr/>
          </p:nvSpPr>
          <p:spPr>
            <a:xfrm>
              <a:off x="6324258" y="3079393"/>
              <a:ext cx="51025" cy="126064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6" name="TextBox 315"/>
          <p:cNvSpPr txBox="1"/>
          <p:nvPr/>
        </p:nvSpPr>
        <p:spPr>
          <a:xfrm>
            <a:off x="1393449" y="5272917"/>
            <a:ext cx="1382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free(temp);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6208443" y="3983780"/>
            <a:ext cx="2865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>
                <a:latin typeface="Calisto MT" panose="02040603050505030304" pitchFamily="18" charset="0"/>
              </a:rPr>
              <a:t>Deleted in O(1)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0C5D-56AF-468F-9301-88586394A899}" type="datetime4">
              <a:rPr lang="en-US" smtClean="0"/>
              <a:t>23 March, 2024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913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14" grpId="0"/>
      <p:bldP spid="12" grpId="0" animBg="1"/>
      <p:bldP spid="315" grpId="0"/>
      <p:bldP spid="14" grpId="0" animBg="1"/>
      <p:bldP spid="316" grpId="0"/>
      <p:bldP spid="3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4477"/>
            <a:ext cx="8209090" cy="1450757"/>
          </a:xfrm>
        </p:spPr>
        <p:txBody>
          <a:bodyPr/>
          <a:lstStyle/>
          <a:p>
            <a:r>
              <a:rPr lang="en-US" b="1" dirty="0"/>
              <a:t>INSERT  IN  EMPTY  LIST</a:t>
            </a:r>
          </a:p>
        </p:txBody>
      </p:sp>
      <p:grpSp>
        <p:nvGrpSpPr>
          <p:cNvPr id="242" name="Group 241"/>
          <p:cNvGrpSpPr/>
          <p:nvPr/>
        </p:nvGrpSpPr>
        <p:grpSpPr>
          <a:xfrm>
            <a:off x="2463667" y="1753923"/>
            <a:ext cx="729688" cy="1299758"/>
            <a:chOff x="2491874" y="1750121"/>
            <a:chExt cx="729688" cy="1299758"/>
          </a:xfrm>
        </p:grpSpPr>
        <p:cxnSp>
          <p:nvCxnSpPr>
            <p:cNvPr id="161" name="Straight Arrow Connector 160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TextBox 227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grpSp>
        <p:nvGrpSpPr>
          <p:cNvPr id="245" name="Group 244"/>
          <p:cNvGrpSpPr/>
          <p:nvPr/>
        </p:nvGrpSpPr>
        <p:grpSpPr>
          <a:xfrm>
            <a:off x="4468668" y="2029575"/>
            <a:ext cx="617280" cy="1031719"/>
            <a:chOff x="9315288" y="1891501"/>
            <a:chExt cx="617280" cy="1158378"/>
          </a:xfrm>
        </p:grpSpPr>
        <p:cxnSp>
          <p:nvCxnSpPr>
            <p:cNvPr id="232" name="Straight Arrow Connector 231"/>
            <p:cNvCxnSpPr/>
            <p:nvPr/>
          </p:nvCxnSpPr>
          <p:spPr>
            <a:xfrm>
              <a:off x="9548985" y="2266088"/>
              <a:ext cx="6127" cy="783791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Box 232"/>
            <p:cNvSpPr txBox="1"/>
            <p:nvPr/>
          </p:nvSpPr>
          <p:spPr>
            <a:xfrm>
              <a:off x="9315288" y="1891501"/>
              <a:ext cx="61728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  <p:sp>
        <p:nvSpPr>
          <p:cNvPr id="237" name="TextBox 236"/>
          <p:cNvSpPr txBox="1"/>
          <p:nvPr/>
        </p:nvSpPr>
        <p:spPr>
          <a:xfrm>
            <a:off x="1001893" y="3147269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79924" y="3775535"/>
            <a:ext cx="3269536" cy="2380699"/>
            <a:chOff x="979924" y="3775535"/>
            <a:chExt cx="3269536" cy="2380699"/>
          </a:xfrm>
        </p:grpSpPr>
        <p:sp>
          <p:nvSpPr>
            <p:cNvPr id="230" name="TextBox 229"/>
            <p:cNvSpPr txBox="1"/>
            <p:nvPr/>
          </p:nvSpPr>
          <p:spPr>
            <a:xfrm>
              <a:off x="1003736" y="3775535"/>
              <a:ext cx="3245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void </a:t>
              </a:r>
              <a:r>
                <a:rPr lang="en-US" dirty="0" err="1">
                  <a:latin typeface="Calisto MT" panose="02040603050505030304" pitchFamily="18" charset="0"/>
                </a:rPr>
                <a:t>createFirstElement</a:t>
              </a:r>
              <a:r>
                <a:rPr lang="en-US" dirty="0">
                  <a:latin typeface="Calisto MT" panose="02040603050505030304" pitchFamily="18" charset="0"/>
                </a:rPr>
                <a:t>(</a:t>
              </a:r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x){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979924" y="5786902"/>
              <a:ext cx="41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sp>
        <p:nvSpPr>
          <p:cNvPr id="130" name="TextBox 129"/>
          <p:cNvSpPr txBox="1"/>
          <p:nvPr/>
        </p:nvSpPr>
        <p:spPr>
          <a:xfrm>
            <a:off x="1415179" y="4142764"/>
            <a:ext cx="3920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head = (Node*)</a:t>
            </a:r>
            <a:r>
              <a:rPr lang="en-US" dirty="0" err="1">
                <a:latin typeface="Calisto MT" panose="02040603050505030304" pitchFamily="18" charset="0"/>
              </a:rPr>
              <a:t>malloc</a:t>
            </a:r>
            <a:r>
              <a:rPr lang="en-US" dirty="0">
                <a:latin typeface="Calisto MT" panose="02040603050505030304" pitchFamily="18" charset="0"/>
              </a:rPr>
              <a:t>(</a:t>
            </a:r>
            <a:r>
              <a:rPr lang="en-US" dirty="0" err="1">
                <a:latin typeface="Calisto MT" panose="02040603050505030304" pitchFamily="18" charset="0"/>
              </a:rPr>
              <a:t>sizeof</a:t>
            </a:r>
            <a:r>
              <a:rPr lang="en-US" dirty="0">
                <a:latin typeface="Calisto MT" panose="02040603050505030304" pitchFamily="18" charset="0"/>
              </a:rPr>
              <a:t>(Node));</a:t>
            </a:r>
          </a:p>
        </p:txBody>
      </p:sp>
      <p:grpSp>
        <p:nvGrpSpPr>
          <p:cNvPr id="131" name="Group 130"/>
          <p:cNvGrpSpPr/>
          <p:nvPr/>
        </p:nvGrpSpPr>
        <p:grpSpPr>
          <a:xfrm>
            <a:off x="2604725" y="3057488"/>
            <a:ext cx="548893" cy="548893"/>
            <a:chOff x="11643107" y="2158069"/>
            <a:chExt cx="548893" cy="548893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32" name="Rectangle 13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grpSp>
        <p:nvGrpSpPr>
          <p:cNvPr id="134" name="Group 133"/>
          <p:cNvGrpSpPr/>
          <p:nvPr/>
        </p:nvGrpSpPr>
        <p:grpSpPr>
          <a:xfrm>
            <a:off x="3153618" y="3061295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35" name="Rectangle 13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2053893" y="3061294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38" name="Rectangle 13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sp>
        <p:nvSpPr>
          <p:cNvPr id="140" name="TextBox 139"/>
          <p:cNvSpPr txBox="1"/>
          <p:nvPr/>
        </p:nvSpPr>
        <p:spPr>
          <a:xfrm>
            <a:off x="1415179" y="4528908"/>
            <a:ext cx="1627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head -&gt; v = x;</a:t>
            </a:r>
          </a:p>
        </p:txBody>
      </p:sp>
      <p:grpSp>
        <p:nvGrpSpPr>
          <p:cNvPr id="141" name="Group 140"/>
          <p:cNvGrpSpPr/>
          <p:nvPr/>
        </p:nvGrpSpPr>
        <p:grpSpPr>
          <a:xfrm>
            <a:off x="2588873" y="3057487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42" name="Rectangle 14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x           </a:t>
              </a:r>
            </a:p>
          </p:txBody>
        </p:sp>
      </p:grpSp>
      <p:sp>
        <p:nvSpPr>
          <p:cNvPr id="144" name="TextBox 143"/>
          <p:cNvSpPr txBox="1"/>
          <p:nvPr/>
        </p:nvSpPr>
        <p:spPr>
          <a:xfrm>
            <a:off x="1431151" y="4898240"/>
            <a:ext cx="2175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head -&gt; L = NULL;</a:t>
            </a:r>
          </a:p>
        </p:txBody>
      </p:sp>
      <p:cxnSp>
        <p:nvCxnSpPr>
          <p:cNvPr id="241" name="Straight Arrow Connector 240"/>
          <p:cNvCxnSpPr/>
          <p:nvPr/>
        </p:nvCxnSpPr>
        <p:spPr>
          <a:xfrm flipH="1">
            <a:off x="1811708" y="3324325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1415179" y="5226337"/>
            <a:ext cx="2175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head -&gt; R = NULL;</a:t>
            </a:r>
          </a:p>
        </p:txBody>
      </p:sp>
      <p:cxnSp>
        <p:nvCxnSpPr>
          <p:cNvPr id="146" name="Straight Arrow Connector 145"/>
          <p:cNvCxnSpPr/>
          <p:nvPr/>
        </p:nvCxnSpPr>
        <p:spPr>
          <a:xfrm flipV="1">
            <a:off x="3606324" y="3352487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3880423" y="3145517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415178" y="5554434"/>
            <a:ext cx="2175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tail = head;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70A93-8D24-4D00-98AE-93902BD18D23}" type="datetime4">
              <a:rPr lang="en-US" smtClean="0"/>
              <a:t>23 March, 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46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81481E-6 L -0.13438 0.00024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" grpId="0"/>
      <p:bldP spid="130" grpId="0"/>
      <p:bldP spid="140" grpId="0"/>
      <p:bldP spid="144" grpId="0"/>
      <p:bldP spid="145" grpId="0"/>
      <p:bldP spid="147" grpId="0"/>
      <p:bldP spid="14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 at First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5328557" y="3042290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8" name="Rectangle 2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875506" y="303848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1" name="Rectangle 3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7524124" y="3038485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45" name="Rectangle 4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b           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8071073" y="303468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9" name="Rectangle 4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6971348" y="3034680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52" name="Rectangle 5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9713666" y="3034680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74" name="Rectangle 17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grpSp>
        <p:nvGrpSpPr>
          <p:cNvPr id="176" name="Group 175"/>
          <p:cNvGrpSpPr/>
          <p:nvPr/>
        </p:nvGrpSpPr>
        <p:grpSpPr>
          <a:xfrm>
            <a:off x="10260615" y="303087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77" name="Rectangle 17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79" name="Group 178"/>
          <p:cNvGrpSpPr/>
          <p:nvPr/>
        </p:nvGrpSpPr>
        <p:grpSpPr>
          <a:xfrm>
            <a:off x="9160890" y="3030875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0" name="Rectangle 17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245" name="Group 244"/>
          <p:cNvGrpSpPr/>
          <p:nvPr/>
        </p:nvGrpSpPr>
        <p:grpSpPr>
          <a:xfrm>
            <a:off x="9852294" y="1727312"/>
            <a:ext cx="617280" cy="1299758"/>
            <a:chOff x="9315288" y="1750121"/>
            <a:chExt cx="617280" cy="1299758"/>
          </a:xfrm>
        </p:grpSpPr>
        <p:cxnSp>
          <p:nvCxnSpPr>
            <p:cNvPr id="232" name="Straight Arrow Connector 231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Box 232"/>
            <p:cNvSpPr txBox="1"/>
            <p:nvPr/>
          </p:nvSpPr>
          <p:spPr>
            <a:xfrm>
              <a:off x="9315288" y="1750121"/>
              <a:ext cx="61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  <p:sp>
        <p:nvSpPr>
          <p:cNvPr id="236" name="TextBox 235"/>
          <p:cNvSpPr txBox="1"/>
          <p:nvPr/>
        </p:nvSpPr>
        <p:spPr>
          <a:xfrm>
            <a:off x="10989370" y="3128265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3723781" y="3124460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241" name="Straight Arrow Connector 240"/>
          <p:cNvCxnSpPr/>
          <p:nvPr/>
        </p:nvCxnSpPr>
        <p:spPr>
          <a:xfrm flipH="1">
            <a:off x="4533596" y="3301516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7" name="Group 246"/>
          <p:cNvGrpSpPr/>
          <p:nvPr/>
        </p:nvGrpSpPr>
        <p:grpSpPr>
          <a:xfrm>
            <a:off x="6313104" y="2310099"/>
            <a:ext cx="1400614" cy="1209475"/>
            <a:chOff x="3591216" y="2332908"/>
            <a:chExt cx="1400614" cy="1209475"/>
          </a:xfrm>
        </p:grpSpPr>
        <p:grpSp>
          <p:nvGrpSpPr>
            <p:cNvPr id="168" name="Group 167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166" name="Group 165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13" name="Group 112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6" name="Straight Connector 25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Straight Connector 109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Arrow Connector 111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4" name="Rectangle 163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7" name="Rectangle 166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6" name="Rectangle 245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8499717" y="2309494"/>
            <a:ext cx="1400614" cy="1226567"/>
            <a:chOff x="5777829" y="2332303"/>
            <a:chExt cx="1400614" cy="1226567"/>
          </a:xfrm>
        </p:grpSpPr>
        <p:grpSp>
          <p:nvGrpSpPr>
            <p:cNvPr id="218" name="Group 217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219" name="Group 21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21" name="Group 220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23" name="Straight Connector 222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Straight Connector 223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Straight Connector 224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Straight Arrow Connector 225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2" name="Rectangle 221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0" name="Rectangle 219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8" name="Rectangle 247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3" name="Group 262"/>
          <p:cNvGrpSpPr/>
          <p:nvPr/>
        </p:nvGrpSpPr>
        <p:grpSpPr>
          <a:xfrm>
            <a:off x="7890534" y="2647320"/>
            <a:ext cx="1395501" cy="529915"/>
            <a:chOff x="5168646" y="2670129"/>
            <a:chExt cx="1395501" cy="529915"/>
          </a:xfrm>
        </p:grpSpPr>
        <p:grpSp>
          <p:nvGrpSpPr>
            <p:cNvPr id="209" name="Group 208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210" name="Group 20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12" name="Group 21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14" name="Straight Connector 213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" name="Straight Connector 214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Straight Connector 215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Straight Arrow Connector 216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3" name="Rectangle 212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11" name="Rectangle 21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62" name="Rectangle 261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9" name="Straight Arrow Connector 128"/>
          <p:cNvCxnSpPr/>
          <p:nvPr/>
        </p:nvCxnSpPr>
        <p:spPr>
          <a:xfrm flipV="1">
            <a:off x="10730436" y="3303116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0" name="Group 129"/>
          <p:cNvGrpSpPr/>
          <p:nvPr/>
        </p:nvGrpSpPr>
        <p:grpSpPr>
          <a:xfrm>
            <a:off x="1087897" y="3635823"/>
            <a:ext cx="3245724" cy="2684587"/>
            <a:chOff x="1003736" y="3775535"/>
            <a:chExt cx="3245724" cy="2684587"/>
          </a:xfrm>
        </p:grpSpPr>
        <p:sp>
          <p:nvSpPr>
            <p:cNvPr id="131" name="TextBox 130"/>
            <p:cNvSpPr txBox="1"/>
            <p:nvPr/>
          </p:nvSpPr>
          <p:spPr>
            <a:xfrm>
              <a:off x="1003736" y="3775535"/>
              <a:ext cx="3245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void </a:t>
              </a:r>
              <a:r>
                <a:rPr lang="en-US" dirty="0" err="1">
                  <a:latin typeface="Calisto MT" panose="02040603050505030304" pitchFamily="18" charset="0"/>
                </a:rPr>
                <a:t>insertFirst</a:t>
              </a:r>
              <a:r>
                <a:rPr lang="en-US" dirty="0">
                  <a:latin typeface="Calisto MT" panose="02040603050505030304" pitchFamily="18" charset="0"/>
                </a:rPr>
                <a:t>(</a:t>
              </a:r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x){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1003736" y="6090790"/>
              <a:ext cx="41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sp>
        <p:nvSpPr>
          <p:cNvPr id="133" name="TextBox 132"/>
          <p:cNvSpPr txBox="1"/>
          <p:nvPr/>
        </p:nvSpPr>
        <p:spPr>
          <a:xfrm>
            <a:off x="1500581" y="3989818"/>
            <a:ext cx="5407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if(head==NULL)   { </a:t>
            </a:r>
            <a:r>
              <a:rPr lang="en-US" dirty="0" err="1">
                <a:latin typeface="Calisto MT" panose="02040603050505030304" pitchFamily="18" charset="0"/>
              </a:rPr>
              <a:t>createFirstElement</a:t>
            </a:r>
            <a:r>
              <a:rPr lang="en-US" dirty="0">
                <a:latin typeface="Calisto MT" panose="02040603050505030304" pitchFamily="18" charset="0"/>
              </a:rPr>
              <a:t>(x);  return; }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500580" y="4347617"/>
            <a:ext cx="5407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*temp = (Node*) </a:t>
            </a:r>
            <a:r>
              <a:rPr lang="en-US" dirty="0" err="1">
                <a:latin typeface="Calisto MT" panose="02040603050505030304" pitchFamily="18" charset="0"/>
              </a:rPr>
              <a:t>malloc</a:t>
            </a:r>
            <a:r>
              <a:rPr lang="en-US" dirty="0">
                <a:latin typeface="Calisto MT" panose="02040603050505030304" pitchFamily="18" charset="0"/>
              </a:rPr>
              <a:t>(</a:t>
            </a:r>
            <a:r>
              <a:rPr lang="en-US" dirty="0" err="1">
                <a:latin typeface="Calisto MT" panose="02040603050505030304" pitchFamily="18" charset="0"/>
              </a:rPr>
              <a:t>sizeof</a:t>
            </a:r>
            <a:r>
              <a:rPr lang="en-US" dirty="0">
                <a:latin typeface="Calisto MT" panose="02040603050505030304" pitchFamily="18" charset="0"/>
              </a:rPr>
              <a:t> (Node));</a:t>
            </a:r>
          </a:p>
        </p:txBody>
      </p:sp>
      <p:grpSp>
        <p:nvGrpSpPr>
          <p:cNvPr id="135" name="Group 134"/>
          <p:cNvGrpSpPr/>
          <p:nvPr/>
        </p:nvGrpSpPr>
        <p:grpSpPr>
          <a:xfrm>
            <a:off x="2618500" y="3011451"/>
            <a:ext cx="548893" cy="548893"/>
            <a:chOff x="11643107" y="2158069"/>
            <a:chExt cx="548893" cy="548893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36" name="Rectangle 135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grpSp>
        <p:nvGrpSpPr>
          <p:cNvPr id="138" name="Group 137"/>
          <p:cNvGrpSpPr/>
          <p:nvPr/>
        </p:nvGrpSpPr>
        <p:grpSpPr>
          <a:xfrm>
            <a:off x="3165449" y="300764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39" name="Rectangle 13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41" name="Group 140"/>
          <p:cNvGrpSpPr/>
          <p:nvPr/>
        </p:nvGrpSpPr>
        <p:grpSpPr>
          <a:xfrm>
            <a:off x="2065724" y="300764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42" name="Rectangle 14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2503705" y="1699826"/>
            <a:ext cx="729688" cy="1299758"/>
            <a:chOff x="2491874" y="1750121"/>
            <a:chExt cx="729688" cy="1299758"/>
          </a:xfrm>
        </p:grpSpPr>
        <p:cxnSp>
          <p:nvCxnSpPr>
            <p:cNvPr id="145" name="Straight Arrow Connector 144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Box 145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temp           </a:t>
              </a:r>
            </a:p>
          </p:txBody>
        </p:sp>
      </p:grpSp>
      <p:sp>
        <p:nvSpPr>
          <p:cNvPr id="147" name="TextBox 146"/>
          <p:cNvSpPr txBox="1"/>
          <p:nvPr/>
        </p:nvSpPr>
        <p:spPr>
          <a:xfrm>
            <a:off x="1512700" y="4714573"/>
            <a:ext cx="1589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temp -&gt; v = x;</a:t>
            </a:r>
          </a:p>
        </p:txBody>
      </p:sp>
      <p:grpSp>
        <p:nvGrpSpPr>
          <p:cNvPr id="148" name="Group 147"/>
          <p:cNvGrpSpPr/>
          <p:nvPr/>
        </p:nvGrpSpPr>
        <p:grpSpPr>
          <a:xfrm>
            <a:off x="2614516" y="3015255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49" name="Rectangle 14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x           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3794332" y="3157284"/>
            <a:ext cx="1114461" cy="251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4775781" y="3038485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2" name="Rectangle 4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sp>
        <p:nvSpPr>
          <p:cNvPr id="255" name="TextBox 254"/>
          <p:cNvSpPr txBox="1"/>
          <p:nvPr/>
        </p:nvSpPr>
        <p:spPr>
          <a:xfrm>
            <a:off x="1521061" y="5060683"/>
            <a:ext cx="201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head -&gt; L = temp;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529422" y="5420290"/>
            <a:ext cx="201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temp -&gt; R = head;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180910" y="1727312"/>
            <a:ext cx="762540" cy="1299758"/>
            <a:chOff x="5180910" y="1727312"/>
            <a:chExt cx="762540" cy="1299758"/>
          </a:xfrm>
        </p:grpSpPr>
        <p:sp>
          <p:nvSpPr>
            <p:cNvPr id="5" name="Rectangle 4"/>
            <p:cNvSpPr/>
            <p:nvPr/>
          </p:nvSpPr>
          <p:spPr>
            <a:xfrm>
              <a:off x="5180910" y="1779434"/>
              <a:ext cx="755856" cy="12476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2" name="Group 241"/>
            <p:cNvGrpSpPr/>
            <p:nvPr/>
          </p:nvGrpSpPr>
          <p:grpSpPr>
            <a:xfrm>
              <a:off x="5213762" y="1727312"/>
              <a:ext cx="729688" cy="1299758"/>
              <a:chOff x="2491874" y="1750121"/>
              <a:chExt cx="729688" cy="1299758"/>
            </a:xfrm>
          </p:grpSpPr>
          <p:cxnSp>
            <p:nvCxnSpPr>
              <p:cNvPr id="161" name="Straight Arrow Connector 160"/>
              <p:cNvCxnSpPr/>
              <p:nvPr/>
            </p:nvCxnSpPr>
            <p:spPr>
              <a:xfrm flipH="1">
                <a:off x="2796960" y="2076625"/>
                <a:ext cx="3928" cy="973254"/>
              </a:xfrm>
              <a:prstGeom prst="straightConnector1">
                <a:avLst/>
              </a:prstGeom>
              <a:ln w="57150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8" name="TextBox 227"/>
              <p:cNvSpPr txBox="1"/>
              <p:nvPr/>
            </p:nvSpPr>
            <p:spPr>
              <a:xfrm>
                <a:off x="2491874" y="1750121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head           </a:t>
                </a:r>
              </a:p>
            </p:txBody>
          </p:sp>
        </p:grpSp>
      </p:grpSp>
      <p:grpSp>
        <p:nvGrpSpPr>
          <p:cNvPr id="254" name="Group 253"/>
          <p:cNvGrpSpPr/>
          <p:nvPr/>
        </p:nvGrpSpPr>
        <p:grpSpPr>
          <a:xfrm>
            <a:off x="5635669" y="2654930"/>
            <a:ext cx="1395501" cy="528191"/>
            <a:chOff x="2913781" y="2677739"/>
            <a:chExt cx="1395501" cy="528191"/>
          </a:xfrm>
        </p:grpSpPr>
        <p:grpSp>
          <p:nvGrpSpPr>
            <p:cNvPr id="172" name="Group 171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170" name="Group 16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122" name="Group 12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15" name="Straight Connector 114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Straight Connector 116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Straight Connector 118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Arrow Connector 120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9" name="Rectangle 168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1" name="Rectangle 17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3" name="Rectangle 252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3" name="Group 162"/>
          <p:cNvGrpSpPr/>
          <p:nvPr/>
        </p:nvGrpSpPr>
        <p:grpSpPr>
          <a:xfrm>
            <a:off x="3635205" y="2307983"/>
            <a:ext cx="1797330" cy="1209475"/>
            <a:chOff x="3591216" y="2332908"/>
            <a:chExt cx="1400614" cy="1209475"/>
          </a:xfrm>
        </p:grpSpPr>
        <p:grpSp>
          <p:nvGrpSpPr>
            <p:cNvPr id="165" name="Group 164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229" name="Group 22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34" name="Group 233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39" name="Straight Connector 238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0" name="Straight Connector 239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4" name="Straight Connector 243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2" name="Straight Arrow Connector 251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38" name="Rectangle 237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1" name="Rectangle 230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7" name="Rectangle 226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1" name="Group 150"/>
          <p:cNvGrpSpPr/>
          <p:nvPr/>
        </p:nvGrpSpPr>
        <p:grpSpPr>
          <a:xfrm>
            <a:off x="3030494" y="2654130"/>
            <a:ext cx="1812224" cy="528191"/>
            <a:chOff x="2913781" y="2677739"/>
            <a:chExt cx="1395501" cy="528191"/>
          </a:xfrm>
        </p:grpSpPr>
        <p:grpSp>
          <p:nvGrpSpPr>
            <p:cNvPr id="152" name="Group 151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154" name="Group 153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156" name="Group 155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58" name="Straight Connector 157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Straight Connector 158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" name="Straight Connector 159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Arrow Connector 161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7" name="Rectangle 156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5" name="Rectangle 154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3" name="Rectangle 152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0" name="TextBox 259"/>
          <p:cNvSpPr txBox="1"/>
          <p:nvPr/>
        </p:nvSpPr>
        <p:spPr>
          <a:xfrm>
            <a:off x="1537783" y="5761059"/>
            <a:ext cx="201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head  = temp;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5DE6-61C5-46C2-A117-2555AADD614C}" type="datetime4">
              <a:rPr lang="en-US" smtClean="0"/>
              <a:t>23 March, 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10</a:t>
            </a:fld>
            <a:endParaRPr lang="en-US"/>
          </a:p>
        </p:txBody>
      </p:sp>
      <p:sp>
        <p:nvSpPr>
          <p:cNvPr id="182" name="TextBox 181"/>
          <p:cNvSpPr txBox="1"/>
          <p:nvPr/>
        </p:nvSpPr>
        <p:spPr>
          <a:xfrm>
            <a:off x="1047703" y="3099160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183" name="Straight Arrow Connector 182"/>
          <p:cNvCxnSpPr/>
          <p:nvPr/>
        </p:nvCxnSpPr>
        <p:spPr>
          <a:xfrm flipH="1">
            <a:off x="1857518" y="3276216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3371010" y="5776131"/>
            <a:ext cx="2724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head-&gt; L = NULL;</a:t>
            </a:r>
          </a:p>
        </p:txBody>
      </p:sp>
    </p:spTree>
    <p:extLst>
      <p:ext uri="{BB962C8B-B14F-4D97-AF65-F5344CB8AC3E}">
        <p14:creationId xmlns:p14="http://schemas.microsoft.com/office/powerpoint/2010/main" val="172386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22222E-6 L -0.22096 -0.00347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55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/>
      <p:bldP spid="147" grpId="0"/>
      <p:bldP spid="4" grpId="0" animBg="1"/>
      <p:bldP spid="255" grpId="0"/>
      <p:bldP spid="259" grpId="0"/>
      <p:bldP spid="260" grpId="0"/>
      <p:bldP spid="182" grpId="0"/>
      <p:bldP spid="18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 at Last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2327360" y="3047774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8" name="Rectangle 2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2874309" y="3043970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1" name="Rectangle 3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774584" y="3043969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2" name="Rectangle 4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4522927" y="3043969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45" name="Rectangle 4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b           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5069876" y="3040165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9" name="Rectangle 4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3970151" y="3040164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52" name="Rectangle 5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6712469" y="3040164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74" name="Rectangle 17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grpSp>
        <p:nvGrpSpPr>
          <p:cNvPr id="176" name="Group 175"/>
          <p:cNvGrpSpPr/>
          <p:nvPr/>
        </p:nvGrpSpPr>
        <p:grpSpPr>
          <a:xfrm>
            <a:off x="7259418" y="3036360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77" name="Rectangle 17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79" name="Group 178"/>
          <p:cNvGrpSpPr/>
          <p:nvPr/>
        </p:nvGrpSpPr>
        <p:grpSpPr>
          <a:xfrm>
            <a:off x="6159693" y="3036359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0" name="Rectangle 17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242" name="Group 241"/>
          <p:cNvGrpSpPr/>
          <p:nvPr/>
        </p:nvGrpSpPr>
        <p:grpSpPr>
          <a:xfrm>
            <a:off x="2212565" y="1732796"/>
            <a:ext cx="729688" cy="1299758"/>
            <a:chOff x="2491874" y="1750121"/>
            <a:chExt cx="729688" cy="1299758"/>
          </a:xfrm>
        </p:grpSpPr>
        <p:cxnSp>
          <p:nvCxnSpPr>
            <p:cNvPr id="161" name="Straight Arrow Connector 160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TextBox 227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7678227" y="3115633"/>
            <a:ext cx="1132618" cy="369332"/>
            <a:chOff x="10472947" y="5089921"/>
            <a:chExt cx="1132618" cy="369332"/>
          </a:xfrm>
        </p:grpSpPr>
        <p:cxnSp>
          <p:nvCxnSpPr>
            <p:cNvPr id="235" name="Straight Arrow Connector 234"/>
            <p:cNvCxnSpPr/>
            <p:nvPr/>
          </p:nvCxnSpPr>
          <p:spPr>
            <a:xfrm flipV="1">
              <a:off x="10472947" y="5296891"/>
              <a:ext cx="339235" cy="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6" name="TextBox 235"/>
            <p:cNvSpPr txBox="1"/>
            <p:nvPr/>
          </p:nvSpPr>
          <p:spPr>
            <a:xfrm>
              <a:off x="10747046" y="5089921"/>
              <a:ext cx="8585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NULL           </a:t>
              </a:r>
            </a:p>
          </p:txBody>
        </p:sp>
      </p:grpSp>
      <p:sp>
        <p:nvSpPr>
          <p:cNvPr id="237" name="TextBox 236"/>
          <p:cNvSpPr txBox="1"/>
          <p:nvPr/>
        </p:nvSpPr>
        <p:spPr>
          <a:xfrm>
            <a:off x="722584" y="3129944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241" name="Straight Arrow Connector 240"/>
          <p:cNvCxnSpPr/>
          <p:nvPr/>
        </p:nvCxnSpPr>
        <p:spPr>
          <a:xfrm flipH="1">
            <a:off x="1532399" y="3307000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7" name="Group 246"/>
          <p:cNvGrpSpPr/>
          <p:nvPr/>
        </p:nvGrpSpPr>
        <p:grpSpPr>
          <a:xfrm>
            <a:off x="3311907" y="2315583"/>
            <a:ext cx="1400614" cy="1209475"/>
            <a:chOff x="3591216" y="2332908"/>
            <a:chExt cx="1400614" cy="1209475"/>
          </a:xfrm>
        </p:grpSpPr>
        <p:grpSp>
          <p:nvGrpSpPr>
            <p:cNvPr id="168" name="Group 167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166" name="Group 165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13" name="Group 112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6" name="Straight Connector 25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Straight Connector 109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Arrow Connector 111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4" name="Rectangle 163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7" name="Rectangle 166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6" name="Rectangle 245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4" name="Group 253"/>
          <p:cNvGrpSpPr/>
          <p:nvPr/>
        </p:nvGrpSpPr>
        <p:grpSpPr>
          <a:xfrm>
            <a:off x="2634472" y="2660414"/>
            <a:ext cx="1395501" cy="528191"/>
            <a:chOff x="2913781" y="2677739"/>
            <a:chExt cx="1395501" cy="528191"/>
          </a:xfrm>
        </p:grpSpPr>
        <p:grpSp>
          <p:nvGrpSpPr>
            <p:cNvPr id="172" name="Group 171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170" name="Group 16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122" name="Group 12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15" name="Straight Connector 114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Straight Connector 116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Straight Connector 118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Arrow Connector 120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9" name="Rectangle 168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1" name="Rectangle 17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3" name="Rectangle 252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3" name="Group 262"/>
          <p:cNvGrpSpPr/>
          <p:nvPr/>
        </p:nvGrpSpPr>
        <p:grpSpPr>
          <a:xfrm>
            <a:off x="4889337" y="2652804"/>
            <a:ext cx="1395501" cy="529915"/>
            <a:chOff x="5168646" y="2670129"/>
            <a:chExt cx="1395501" cy="529915"/>
          </a:xfrm>
        </p:grpSpPr>
        <p:grpSp>
          <p:nvGrpSpPr>
            <p:cNvPr id="209" name="Group 208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210" name="Group 20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12" name="Group 21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14" name="Straight Connector 213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" name="Straight Connector 214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Straight Connector 215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Straight Arrow Connector 216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3" name="Rectangle 212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11" name="Rectangle 21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62" name="Rectangle 261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1087101" y="3877470"/>
            <a:ext cx="3245724" cy="2442940"/>
            <a:chOff x="1002940" y="4017182"/>
            <a:chExt cx="3245724" cy="2442940"/>
          </a:xfrm>
        </p:grpSpPr>
        <p:sp>
          <p:nvSpPr>
            <p:cNvPr id="130" name="TextBox 129"/>
            <p:cNvSpPr txBox="1"/>
            <p:nvPr/>
          </p:nvSpPr>
          <p:spPr>
            <a:xfrm>
              <a:off x="1002940" y="4017182"/>
              <a:ext cx="3245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void </a:t>
              </a:r>
              <a:r>
                <a:rPr lang="en-US" dirty="0" err="1">
                  <a:latin typeface="Calisto MT" panose="02040603050505030304" pitchFamily="18" charset="0"/>
                </a:rPr>
                <a:t>insertLast</a:t>
              </a:r>
              <a:r>
                <a:rPr lang="en-US" dirty="0">
                  <a:latin typeface="Calisto MT" panose="02040603050505030304" pitchFamily="18" charset="0"/>
                </a:rPr>
                <a:t>(</a:t>
              </a:r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x){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1003736" y="6090790"/>
              <a:ext cx="41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grpSp>
        <p:nvGrpSpPr>
          <p:cNvPr id="132" name="Group 131"/>
          <p:cNvGrpSpPr/>
          <p:nvPr/>
        </p:nvGrpSpPr>
        <p:grpSpPr>
          <a:xfrm>
            <a:off x="9908928" y="302875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33" name="Rectangle 132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35" name="Group 134"/>
          <p:cNvGrpSpPr/>
          <p:nvPr/>
        </p:nvGrpSpPr>
        <p:grpSpPr>
          <a:xfrm>
            <a:off x="8809203" y="3028750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36" name="Rectangle 135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38" name="Group 137"/>
          <p:cNvGrpSpPr/>
          <p:nvPr/>
        </p:nvGrpSpPr>
        <p:grpSpPr>
          <a:xfrm>
            <a:off x="9247184" y="1720930"/>
            <a:ext cx="729688" cy="1299758"/>
            <a:chOff x="2491874" y="1750121"/>
            <a:chExt cx="729688" cy="1299758"/>
          </a:xfrm>
        </p:grpSpPr>
        <p:cxnSp>
          <p:nvCxnSpPr>
            <p:cNvPr id="139" name="Straight Arrow Connector 138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temp           </a:t>
              </a:r>
            </a:p>
          </p:txBody>
        </p:sp>
      </p:grpSp>
      <p:grpSp>
        <p:nvGrpSpPr>
          <p:cNvPr id="141" name="Group 140"/>
          <p:cNvGrpSpPr/>
          <p:nvPr/>
        </p:nvGrpSpPr>
        <p:grpSpPr>
          <a:xfrm>
            <a:off x="9357995" y="3036359"/>
            <a:ext cx="548893" cy="548893"/>
            <a:chOff x="11643107" y="2158069"/>
            <a:chExt cx="548893" cy="548893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42" name="Rectangle 14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sp>
        <p:nvSpPr>
          <p:cNvPr id="144" name="TextBox 143"/>
          <p:cNvSpPr txBox="1"/>
          <p:nvPr/>
        </p:nvSpPr>
        <p:spPr>
          <a:xfrm>
            <a:off x="1434785" y="4161566"/>
            <a:ext cx="5407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if(head==NULL)   { </a:t>
            </a:r>
            <a:r>
              <a:rPr lang="en-US" dirty="0" err="1">
                <a:latin typeface="Calisto MT" panose="02040603050505030304" pitchFamily="18" charset="0"/>
              </a:rPr>
              <a:t>createFirstElement</a:t>
            </a:r>
            <a:r>
              <a:rPr lang="en-US" dirty="0">
                <a:latin typeface="Calisto MT" panose="02040603050505030304" pitchFamily="18" charset="0"/>
              </a:rPr>
              <a:t>(x);  return; }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434785" y="4413998"/>
            <a:ext cx="5407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*temp = (Node*) </a:t>
            </a:r>
            <a:r>
              <a:rPr lang="en-US" dirty="0" err="1">
                <a:latin typeface="Calisto MT" panose="02040603050505030304" pitchFamily="18" charset="0"/>
              </a:rPr>
              <a:t>malloc</a:t>
            </a:r>
            <a:r>
              <a:rPr lang="en-US" dirty="0">
                <a:latin typeface="Calisto MT" panose="02040603050505030304" pitchFamily="18" charset="0"/>
              </a:rPr>
              <a:t>(</a:t>
            </a:r>
            <a:r>
              <a:rPr lang="en-US" dirty="0" err="1">
                <a:latin typeface="Calisto MT" panose="02040603050505030304" pitchFamily="18" charset="0"/>
              </a:rPr>
              <a:t>sizeof</a:t>
            </a:r>
            <a:r>
              <a:rPr lang="en-US" dirty="0">
                <a:latin typeface="Calisto MT" panose="02040603050505030304" pitchFamily="18" charset="0"/>
              </a:rPr>
              <a:t> (Node));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434784" y="4734521"/>
            <a:ext cx="3567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//What if we do tail = temp now?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719718" y="1732796"/>
            <a:ext cx="897116" cy="1299758"/>
            <a:chOff x="6719718" y="1732796"/>
            <a:chExt cx="897116" cy="1299758"/>
          </a:xfrm>
        </p:grpSpPr>
        <p:sp>
          <p:nvSpPr>
            <p:cNvPr id="5" name="Rectangle 4"/>
            <p:cNvSpPr/>
            <p:nvPr/>
          </p:nvSpPr>
          <p:spPr>
            <a:xfrm>
              <a:off x="6719718" y="1793791"/>
              <a:ext cx="897116" cy="12246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5" name="Group 244"/>
            <p:cNvGrpSpPr/>
            <p:nvPr/>
          </p:nvGrpSpPr>
          <p:grpSpPr>
            <a:xfrm>
              <a:off x="6816811" y="1732796"/>
              <a:ext cx="617280" cy="1299758"/>
              <a:chOff x="9315288" y="1750121"/>
              <a:chExt cx="617280" cy="1299758"/>
            </a:xfrm>
          </p:grpSpPr>
          <p:cxnSp>
            <p:nvCxnSpPr>
              <p:cNvPr id="232" name="Straight Arrow Connector 231"/>
              <p:cNvCxnSpPr/>
              <p:nvPr/>
            </p:nvCxnSpPr>
            <p:spPr>
              <a:xfrm flipH="1">
                <a:off x="9555112" y="2076625"/>
                <a:ext cx="3928" cy="973254"/>
              </a:xfrm>
              <a:prstGeom prst="straightConnector1">
                <a:avLst/>
              </a:prstGeom>
              <a:ln w="57150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3" name="TextBox 232"/>
              <p:cNvSpPr txBox="1"/>
              <p:nvPr/>
            </p:nvSpPr>
            <p:spPr>
              <a:xfrm>
                <a:off x="9315288" y="1750121"/>
                <a:ext cx="617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tail           </a:t>
                </a:r>
              </a:p>
            </p:txBody>
          </p:sp>
        </p:grpSp>
      </p:grpSp>
      <p:grpSp>
        <p:nvGrpSpPr>
          <p:cNvPr id="249" name="Group 248"/>
          <p:cNvGrpSpPr/>
          <p:nvPr/>
        </p:nvGrpSpPr>
        <p:grpSpPr>
          <a:xfrm>
            <a:off x="5498520" y="2314978"/>
            <a:ext cx="1400614" cy="1226567"/>
            <a:chOff x="5777829" y="2332303"/>
            <a:chExt cx="1400614" cy="1226567"/>
          </a:xfrm>
        </p:grpSpPr>
        <p:grpSp>
          <p:nvGrpSpPr>
            <p:cNvPr id="218" name="Group 217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219" name="Group 21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21" name="Group 220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23" name="Straight Connector 222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Straight Connector 223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Straight Connector 224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Straight Arrow Connector 225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2" name="Rectangle 221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0" name="Rectangle 219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8" name="Rectangle 247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7" name="TextBox 146"/>
          <p:cNvSpPr txBox="1"/>
          <p:nvPr/>
        </p:nvSpPr>
        <p:spPr>
          <a:xfrm>
            <a:off x="6172642" y="3638463"/>
            <a:ext cx="4288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sto MT" panose="02040603050505030304" pitchFamily="18" charset="0"/>
              </a:rPr>
              <a:t>The link will be disconnected at this point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7359108" y="3105325"/>
            <a:ext cx="1401301" cy="619319"/>
            <a:chOff x="7359108" y="3105325"/>
            <a:chExt cx="1401301" cy="619319"/>
          </a:xfrm>
        </p:grpSpPr>
        <p:sp>
          <p:nvSpPr>
            <p:cNvPr id="7" name="Oval 6"/>
            <p:cNvSpPr/>
            <p:nvPr/>
          </p:nvSpPr>
          <p:spPr>
            <a:xfrm>
              <a:off x="7359108" y="3105325"/>
              <a:ext cx="1401301" cy="378915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H="1">
              <a:off x="8077922" y="3491463"/>
              <a:ext cx="1" cy="23318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/>
          <p:cNvSpPr txBox="1"/>
          <p:nvPr/>
        </p:nvSpPr>
        <p:spPr>
          <a:xfrm>
            <a:off x="1434784" y="5082407"/>
            <a:ext cx="2203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//So, we can’t do it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434783" y="5424376"/>
            <a:ext cx="345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//So, let’s do from the beginning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0C3E-F3D6-4E2D-8554-3DAF6BDB4AD7}" type="datetime4">
              <a:rPr lang="en-US" smtClean="0"/>
              <a:t>23 March, 2024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1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3.7037E-6 L 0.20143 -0.00115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65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/>
      <p:bldP spid="146" grpId="0"/>
      <p:bldP spid="147" grpId="0"/>
      <p:bldP spid="151" grpId="0"/>
      <p:bldP spid="15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 at Last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2327360" y="3047774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8" name="Rectangle 2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2874309" y="3043970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1" name="Rectangle 3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774584" y="3043969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2" name="Rectangle 4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4522927" y="3043969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45" name="Rectangle 4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b           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5069876" y="3040165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9" name="Rectangle 4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3970151" y="3040164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52" name="Rectangle 5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6712469" y="3040164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74" name="Rectangle 17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grpSp>
        <p:nvGrpSpPr>
          <p:cNvPr id="179" name="Group 178"/>
          <p:cNvGrpSpPr/>
          <p:nvPr/>
        </p:nvGrpSpPr>
        <p:grpSpPr>
          <a:xfrm>
            <a:off x="6159693" y="3036359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0" name="Rectangle 17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242" name="Group 241"/>
          <p:cNvGrpSpPr/>
          <p:nvPr/>
        </p:nvGrpSpPr>
        <p:grpSpPr>
          <a:xfrm>
            <a:off x="2212565" y="1732796"/>
            <a:ext cx="729688" cy="1299758"/>
            <a:chOff x="2491874" y="1750121"/>
            <a:chExt cx="729688" cy="1299758"/>
          </a:xfrm>
        </p:grpSpPr>
        <p:cxnSp>
          <p:nvCxnSpPr>
            <p:cNvPr id="161" name="Straight Arrow Connector 160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TextBox 227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7678227" y="3115633"/>
            <a:ext cx="1132618" cy="369332"/>
            <a:chOff x="10472947" y="5089921"/>
            <a:chExt cx="1132618" cy="369332"/>
          </a:xfrm>
        </p:grpSpPr>
        <p:cxnSp>
          <p:nvCxnSpPr>
            <p:cNvPr id="235" name="Straight Arrow Connector 234"/>
            <p:cNvCxnSpPr/>
            <p:nvPr/>
          </p:nvCxnSpPr>
          <p:spPr>
            <a:xfrm flipV="1">
              <a:off x="10472947" y="5296891"/>
              <a:ext cx="339235" cy="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6" name="TextBox 235"/>
            <p:cNvSpPr txBox="1"/>
            <p:nvPr/>
          </p:nvSpPr>
          <p:spPr>
            <a:xfrm>
              <a:off x="10747046" y="5089921"/>
              <a:ext cx="8585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NULL           </a:t>
              </a:r>
            </a:p>
          </p:txBody>
        </p:sp>
      </p:grpSp>
      <p:sp>
        <p:nvSpPr>
          <p:cNvPr id="237" name="TextBox 236"/>
          <p:cNvSpPr txBox="1"/>
          <p:nvPr/>
        </p:nvSpPr>
        <p:spPr>
          <a:xfrm>
            <a:off x="722584" y="3129944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241" name="Straight Arrow Connector 240"/>
          <p:cNvCxnSpPr/>
          <p:nvPr/>
        </p:nvCxnSpPr>
        <p:spPr>
          <a:xfrm flipH="1">
            <a:off x="1532399" y="3307000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7" name="Group 246"/>
          <p:cNvGrpSpPr/>
          <p:nvPr/>
        </p:nvGrpSpPr>
        <p:grpSpPr>
          <a:xfrm>
            <a:off x="3311907" y="2315583"/>
            <a:ext cx="1400614" cy="1209475"/>
            <a:chOff x="3591216" y="2332908"/>
            <a:chExt cx="1400614" cy="1209475"/>
          </a:xfrm>
        </p:grpSpPr>
        <p:grpSp>
          <p:nvGrpSpPr>
            <p:cNvPr id="168" name="Group 167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166" name="Group 165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13" name="Group 112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6" name="Straight Connector 25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Straight Connector 109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Arrow Connector 111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4" name="Rectangle 163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7" name="Rectangle 166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6" name="Rectangle 245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4" name="Group 253"/>
          <p:cNvGrpSpPr/>
          <p:nvPr/>
        </p:nvGrpSpPr>
        <p:grpSpPr>
          <a:xfrm>
            <a:off x="2634472" y="2660414"/>
            <a:ext cx="1395501" cy="528191"/>
            <a:chOff x="2913781" y="2677739"/>
            <a:chExt cx="1395501" cy="528191"/>
          </a:xfrm>
        </p:grpSpPr>
        <p:grpSp>
          <p:nvGrpSpPr>
            <p:cNvPr id="172" name="Group 171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170" name="Group 16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122" name="Group 12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15" name="Straight Connector 114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Straight Connector 116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Straight Connector 118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Arrow Connector 120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9" name="Rectangle 168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1" name="Rectangle 17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3" name="Rectangle 252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3" name="Group 262"/>
          <p:cNvGrpSpPr/>
          <p:nvPr/>
        </p:nvGrpSpPr>
        <p:grpSpPr>
          <a:xfrm>
            <a:off x="4889337" y="2652804"/>
            <a:ext cx="1395501" cy="529915"/>
            <a:chOff x="5168646" y="2670129"/>
            <a:chExt cx="1395501" cy="529915"/>
          </a:xfrm>
        </p:grpSpPr>
        <p:grpSp>
          <p:nvGrpSpPr>
            <p:cNvPr id="209" name="Group 208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210" name="Group 20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12" name="Group 21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14" name="Straight Connector 213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" name="Straight Connector 214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Straight Connector 215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Straight Arrow Connector 216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3" name="Rectangle 212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11" name="Rectangle 21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62" name="Rectangle 261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1087101" y="3877470"/>
            <a:ext cx="3245724" cy="2442940"/>
            <a:chOff x="1002940" y="4017182"/>
            <a:chExt cx="3245724" cy="2442940"/>
          </a:xfrm>
        </p:grpSpPr>
        <p:sp>
          <p:nvSpPr>
            <p:cNvPr id="130" name="TextBox 129"/>
            <p:cNvSpPr txBox="1"/>
            <p:nvPr/>
          </p:nvSpPr>
          <p:spPr>
            <a:xfrm>
              <a:off x="1002940" y="4017182"/>
              <a:ext cx="3245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void </a:t>
              </a:r>
              <a:r>
                <a:rPr lang="en-US" dirty="0" err="1">
                  <a:latin typeface="Calisto MT" panose="02040603050505030304" pitchFamily="18" charset="0"/>
                </a:rPr>
                <a:t>insertLast</a:t>
              </a:r>
              <a:r>
                <a:rPr lang="en-US" dirty="0">
                  <a:latin typeface="Calisto MT" panose="02040603050505030304" pitchFamily="18" charset="0"/>
                </a:rPr>
                <a:t>(</a:t>
              </a:r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x){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1003736" y="6090790"/>
              <a:ext cx="41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grpSp>
        <p:nvGrpSpPr>
          <p:cNvPr id="132" name="Group 131"/>
          <p:cNvGrpSpPr/>
          <p:nvPr/>
        </p:nvGrpSpPr>
        <p:grpSpPr>
          <a:xfrm>
            <a:off x="9908928" y="302875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33" name="Rectangle 132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35" name="Group 134"/>
          <p:cNvGrpSpPr/>
          <p:nvPr/>
        </p:nvGrpSpPr>
        <p:grpSpPr>
          <a:xfrm>
            <a:off x="8809203" y="3028750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36" name="Rectangle 135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38" name="Group 137"/>
          <p:cNvGrpSpPr/>
          <p:nvPr/>
        </p:nvGrpSpPr>
        <p:grpSpPr>
          <a:xfrm>
            <a:off x="9247184" y="1720930"/>
            <a:ext cx="729688" cy="1299758"/>
            <a:chOff x="2491874" y="1750121"/>
            <a:chExt cx="729688" cy="1299758"/>
          </a:xfrm>
        </p:grpSpPr>
        <p:cxnSp>
          <p:nvCxnSpPr>
            <p:cNvPr id="139" name="Straight Arrow Connector 138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temp           </a:t>
              </a:r>
            </a:p>
          </p:txBody>
        </p:sp>
      </p:grpSp>
      <p:grpSp>
        <p:nvGrpSpPr>
          <p:cNvPr id="141" name="Group 140"/>
          <p:cNvGrpSpPr/>
          <p:nvPr/>
        </p:nvGrpSpPr>
        <p:grpSpPr>
          <a:xfrm>
            <a:off x="9357995" y="3036359"/>
            <a:ext cx="548893" cy="548893"/>
            <a:chOff x="11643107" y="2158069"/>
            <a:chExt cx="548893" cy="548893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42" name="Rectangle 14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sp>
        <p:nvSpPr>
          <p:cNvPr id="144" name="TextBox 143"/>
          <p:cNvSpPr txBox="1"/>
          <p:nvPr/>
        </p:nvSpPr>
        <p:spPr>
          <a:xfrm>
            <a:off x="1434785" y="4161566"/>
            <a:ext cx="5407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if(head==NULL)   { </a:t>
            </a:r>
            <a:r>
              <a:rPr lang="en-US" dirty="0" err="1">
                <a:latin typeface="Calisto MT" panose="02040603050505030304" pitchFamily="18" charset="0"/>
              </a:rPr>
              <a:t>createFirstElement</a:t>
            </a:r>
            <a:r>
              <a:rPr lang="en-US" dirty="0">
                <a:latin typeface="Calisto MT" panose="02040603050505030304" pitchFamily="18" charset="0"/>
              </a:rPr>
              <a:t>(x);  return; }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434785" y="4413998"/>
            <a:ext cx="5407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*temp = (Node*) </a:t>
            </a:r>
            <a:r>
              <a:rPr lang="en-US" dirty="0" err="1">
                <a:latin typeface="Calisto MT" panose="02040603050505030304" pitchFamily="18" charset="0"/>
              </a:rPr>
              <a:t>malloc</a:t>
            </a:r>
            <a:r>
              <a:rPr lang="en-US" dirty="0">
                <a:latin typeface="Calisto MT" panose="02040603050505030304" pitchFamily="18" charset="0"/>
              </a:rPr>
              <a:t>(</a:t>
            </a:r>
            <a:r>
              <a:rPr lang="en-US" dirty="0" err="1">
                <a:latin typeface="Calisto MT" panose="02040603050505030304" pitchFamily="18" charset="0"/>
              </a:rPr>
              <a:t>sizeof</a:t>
            </a:r>
            <a:r>
              <a:rPr lang="en-US" dirty="0">
                <a:latin typeface="Calisto MT" panose="02040603050505030304" pitchFamily="18" charset="0"/>
              </a:rPr>
              <a:t> (Node));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434116" y="4699269"/>
            <a:ext cx="170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tail-&gt;R = temp;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6505" y="3182719"/>
            <a:ext cx="1115843" cy="2857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6" name="Group 175"/>
          <p:cNvGrpSpPr/>
          <p:nvPr/>
        </p:nvGrpSpPr>
        <p:grpSpPr>
          <a:xfrm>
            <a:off x="7259418" y="3036360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77" name="Rectangle 17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sp>
        <p:nvSpPr>
          <p:cNvPr id="152" name="TextBox 151"/>
          <p:cNvSpPr txBox="1"/>
          <p:nvPr/>
        </p:nvSpPr>
        <p:spPr>
          <a:xfrm>
            <a:off x="1434784" y="4960385"/>
            <a:ext cx="1806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temp-&gt;L = tail;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699350" y="1732796"/>
            <a:ext cx="804055" cy="1299758"/>
            <a:chOff x="6699350" y="1732796"/>
            <a:chExt cx="804055" cy="1299758"/>
          </a:xfrm>
        </p:grpSpPr>
        <p:sp>
          <p:nvSpPr>
            <p:cNvPr id="5" name="Rectangle 4"/>
            <p:cNvSpPr/>
            <p:nvPr/>
          </p:nvSpPr>
          <p:spPr>
            <a:xfrm>
              <a:off x="6699350" y="1802854"/>
              <a:ext cx="804055" cy="12246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5" name="Group 244"/>
            <p:cNvGrpSpPr/>
            <p:nvPr/>
          </p:nvGrpSpPr>
          <p:grpSpPr>
            <a:xfrm>
              <a:off x="6816811" y="1732796"/>
              <a:ext cx="617280" cy="1299758"/>
              <a:chOff x="9315288" y="1750121"/>
              <a:chExt cx="617280" cy="1299758"/>
            </a:xfrm>
          </p:grpSpPr>
          <p:cxnSp>
            <p:nvCxnSpPr>
              <p:cNvPr id="232" name="Straight Arrow Connector 231"/>
              <p:cNvCxnSpPr/>
              <p:nvPr/>
            </p:nvCxnSpPr>
            <p:spPr>
              <a:xfrm flipH="1">
                <a:off x="9555112" y="2076625"/>
                <a:ext cx="3928" cy="973254"/>
              </a:xfrm>
              <a:prstGeom prst="straightConnector1">
                <a:avLst/>
              </a:prstGeom>
              <a:ln w="57150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3" name="TextBox 232"/>
              <p:cNvSpPr txBox="1"/>
              <p:nvPr/>
            </p:nvSpPr>
            <p:spPr>
              <a:xfrm>
                <a:off x="9315288" y="1750121"/>
                <a:ext cx="617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tail           </a:t>
                </a:r>
              </a:p>
            </p:txBody>
          </p:sp>
        </p:grpSp>
      </p:grpSp>
      <p:grpSp>
        <p:nvGrpSpPr>
          <p:cNvPr id="123" name="Group 122"/>
          <p:cNvGrpSpPr/>
          <p:nvPr/>
        </p:nvGrpSpPr>
        <p:grpSpPr>
          <a:xfrm>
            <a:off x="7210926" y="2680795"/>
            <a:ext cx="1697355" cy="529915"/>
            <a:chOff x="5168646" y="2670129"/>
            <a:chExt cx="1395501" cy="529915"/>
          </a:xfrm>
        </p:grpSpPr>
        <p:grpSp>
          <p:nvGrpSpPr>
            <p:cNvPr id="124" name="Group 123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126" name="Group 125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128" name="Group 127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148" name="Straight Connector 147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" name="Straight Connector 148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" name="Straight Connector 149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1" name="Straight Arrow Connector 150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7" name="Rectangle 146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127" name="Rectangle 126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125" name="Rectangle 124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5498520" y="2314978"/>
            <a:ext cx="1400614" cy="1226567"/>
            <a:chOff x="5777829" y="2332303"/>
            <a:chExt cx="1400614" cy="1226567"/>
          </a:xfrm>
        </p:grpSpPr>
        <p:grpSp>
          <p:nvGrpSpPr>
            <p:cNvPr id="218" name="Group 217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219" name="Group 21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21" name="Group 220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23" name="Straight Connector 222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Straight Connector 223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Straight Connector 224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Straight Arrow Connector 225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2" name="Rectangle 221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0" name="Rectangle 219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8" name="Rectangle 247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7724571" y="2284336"/>
            <a:ext cx="1680105" cy="1226567"/>
            <a:chOff x="5777829" y="2332303"/>
            <a:chExt cx="1400614" cy="1226567"/>
          </a:xfrm>
        </p:grpSpPr>
        <p:grpSp>
          <p:nvGrpSpPr>
            <p:cNvPr id="104" name="Group 103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106" name="Group 105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09" name="Group 108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14" name="Straight Connector 113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" name="Straight Connector 115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" name="Straight Connector 117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" name="Straight Arrow Connector 119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1" name="Rectangle 110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7" name="Rectangle 106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5" name="Rectangle 104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1434784" y="5551550"/>
            <a:ext cx="1988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tail-&gt;R = NULL;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617922" y="3130657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155" name="Straight Arrow Connector 154"/>
          <p:cNvCxnSpPr/>
          <p:nvPr/>
        </p:nvCxnSpPr>
        <p:spPr>
          <a:xfrm flipV="1">
            <a:off x="10358988" y="3305508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1434784" y="5792225"/>
            <a:ext cx="131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tail-&gt;v = x;</a:t>
            </a:r>
          </a:p>
        </p:txBody>
      </p:sp>
      <p:grpSp>
        <p:nvGrpSpPr>
          <p:cNvPr id="157" name="Group 156"/>
          <p:cNvGrpSpPr/>
          <p:nvPr/>
        </p:nvGrpSpPr>
        <p:grpSpPr>
          <a:xfrm>
            <a:off x="9372192" y="3036454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58" name="Rectangle 15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x           </a:t>
              </a:r>
            </a:p>
          </p:txBody>
        </p:sp>
      </p:grpSp>
      <p:sp>
        <p:nvSpPr>
          <p:cNvPr id="160" name="TextBox 159"/>
          <p:cNvSpPr txBox="1"/>
          <p:nvPr/>
        </p:nvSpPr>
        <p:spPr>
          <a:xfrm>
            <a:off x="1434116" y="5239077"/>
            <a:ext cx="1806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tail = temp;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BB6C-A1C7-4AF9-B27B-5503C282DA17}" type="datetime4">
              <a:rPr lang="en-US" smtClean="0"/>
              <a:t>23 March, 2024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66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3.7037E-6 L 0.20365 -0.00139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82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  <p:bldP spid="3" grpId="0" animBg="1"/>
      <p:bldP spid="152" grpId="0"/>
      <p:bldP spid="153" grpId="0"/>
      <p:bldP spid="154" grpId="0"/>
      <p:bldP spid="156" grpId="0"/>
      <p:bldP spid="16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 After/Interior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BB6C-A1C7-4AF9-B27B-5503C282DA17}" type="datetime4">
              <a:rPr lang="en-US" smtClean="0"/>
              <a:t>23 March, 2024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13</a:t>
            </a:fld>
            <a:endParaRPr lang="en-US"/>
          </a:p>
        </p:txBody>
      </p:sp>
      <p:grpSp>
        <p:nvGrpSpPr>
          <p:cNvPr id="188" name="Group 187"/>
          <p:cNvGrpSpPr/>
          <p:nvPr/>
        </p:nvGrpSpPr>
        <p:grpSpPr>
          <a:xfrm>
            <a:off x="1097280" y="1988850"/>
            <a:ext cx="3245724" cy="1591612"/>
            <a:chOff x="1002940" y="4017182"/>
            <a:chExt cx="3245724" cy="1591612"/>
          </a:xfrm>
        </p:grpSpPr>
        <p:sp>
          <p:nvSpPr>
            <p:cNvPr id="192" name="TextBox 191"/>
            <p:cNvSpPr txBox="1"/>
            <p:nvPr/>
          </p:nvSpPr>
          <p:spPr>
            <a:xfrm>
              <a:off x="1002940" y="4017182"/>
              <a:ext cx="3245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void </a:t>
              </a:r>
              <a:r>
                <a:rPr lang="en-US" dirty="0" err="1">
                  <a:latin typeface="Calisto MT" panose="02040603050505030304" pitchFamily="18" charset="0"/>
                </a:rPr>
                <a:t>insertAfter</a:t>
              </a:r>
              <a:r>
                <a:rPr lang="en-US" dirty="0">
                  <a:latin typeface="Calisto MT" panose="02040603050505030304" pitchFamily="18" charset="0"/>
                </a:rPr>
                <a:t>(</a:t>
              </a:r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x,  </a:t>
              </a:r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 </a:t>
              </a:r>
              <a:r>
                <a:rPr lang="en-US" dirty="0" err="1">
                  <a:latin typeface="Calisto MT" panose="02040603050505030304" pitchFamily="18" charset="0"/>
                </a:rPr>
                <a:t>nV</a:t>
              </a:r>
              <a:r>
                <a:rPr lang="en-US" dirty="0">
                  <a:latin typeface="Calisto MT" panose="02040603050505030304" pitchFamily="18" charset="0"/>
                </a:rPr>
                <a:t>){</a:t>
              </a: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1002940" y="5239462"/>
              <a:ext cx="41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sp>
        <p:nvSpPr>
          <p:cNvPr id="205" name="TextBox 204"/>
          <p:cNvSpPr txBox="1"/>
          <p:nvPr/>
        </p:nvSpPr>
        <p:spPr>
          <a:xfrm>
            <a:off x="1510320" y="2358182"/>
            <a:ext cx="3940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*temp = </a:t>
            </a:r>
            <a:r>
              <a:rPr lang="en-US" dirty="0" err="1">
                <a:latin typeface="Calisto MT" panose="02040603050505030304" pitchFamily="18" charset="0"/>
              </a:rPr>
              <a:t>findFirstOccurrence</a:t>
            </a:r>
            <a:r>
              <a:rPr lang="en-US" dirty="0">
                <a:latin typeface="Calisto MT" panose="02040603050505030304" pitchFamily="18" charset="0"/>
              </a:rPr>
              <a:t>(x);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393767" y="2281238"/>
            <a:ext cx="989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sto MT" panose="02040603050505030304" pitchFamily="18" charset="0"/>
              </a:rPr>
              <a:t>O(n)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510320" y="2804458"/>
            <a:ext cx="3940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//Complete code</a:t>
            </a:r>
          </a:p>
        </p:txBody>
      </p:sp>
      <p:cxnSp>
        <p:nvCxnSpPr>
          <p:cNvPr id="10" name="Straight Arrow Connector 9"/>
          <p:cNvCxnSpPr>
            <a:stCxn id="205" idx="3"/>
            <a:endCxn id="206" idx="1"/>
          </p:cNvCxnSpPr>
          <p:nvPr/>
        </p:nvCxnSpPr>
        <p:spPr>
          <a:xfrm>
            <a:off x="5450888" y="2542848"/>
            <a:ext cx="94287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363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0"/>
      <p:bldP spid="206" grpId="0"/>
      <p:bldP spid="20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 After/Interior (By Ref)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BB6C-A1C7-4AF9-B27B-5503C282DA17}" type="datetime4">
              <a:rPr lang="en-US" smtClean="0"/>
              <a:t>23 March, 2024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14</a:t>
            </a:fld>
            <a:endParaRPr lang="en-US"/>
          </a:p>
        </p:txBody>
      </p:sp>
      <p:grpSp>
        <p:nvGrpSpPr>
          <p:cNvPr id="188" name="Group 187"/>
          <p:cNvGrpSpPr/>
          <p:nvPr/>
        </p:nvGrpSpPr>
        <p:grpSpPr>
          <a:xfrm>
            <a:off x="1097280" y="1988850"/>
            <a:ext cx="3245724" cy="1591612"/>
            <a:chOff x="1002940" y="4017182"/>
            <a:chExt cx="3245724" cy="1591612"/>
          </a:xfrm>
        </p:grpSpPr>
        <p:sp>
          <p:nvSpPr>
            <p:cNvPr id="192" name="TextBox 191"/>
            <p:cNvSpPr txBox="1"/>
            <p:nvPr/>
          </p:nvSpPr>
          <p:spPr>
            <a:xfrm>
              <a:off x="1002940" y="4017182"/>
              <a:ext cx="3245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void </a:t>
              </a:r>
              <a:r>
                <a:rPr lang="en-US" dirty="0" err="1">
                  <a:latin typeface="Calisto MT" panose="02040603050505030304" pitchFamily="18" charset="0"/>
                </a:rPr>
                <a:t>insertAfter</a:t>
              </a:r>
              <a:r>
                <a:rPr lang="en-US" dirty="0">
                  <a:latin typeface="Calisto MT" panose="02040603050505030304" pitchFamily="18" charset="0"/>
                </a:rPr>
                <a:t>(Node  *temp){</a:t>
              </a: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1002940" y="5239462"/>
              <a:ext cx="41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510320" y="2390897"/>
            <a:ext cx="3940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//No need to find the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0320" y="2792944"/>
            <a:ext cx="3940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//So insertion is done in constant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5957" y="2358182"/>
            <a:ext cx="989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sto MT" panose="02040603050505030304" pitchFamily="18" charset="0"/>
              </a:rPr>
              <a:t>O(1)</a:t>
            </a:r>
          </a:p>
        </p:txBody>
      </p:sp>
      <p:cxnSp>
        <p:nvCxnSpPr>
          <p:cNvPr id="15" name="Straight Arrow Connector 14"/>
          <p:cNvCxnSpPr>
            <a:endCxn id="14" idx="1"/>
          </p:cNvCxnSpPr>
          <p:nvPr/>
        </p:nvCxnSpPr>
        <p:spPr>
          <a:xfrm>
            <a:off x="5673078" y="2619792"/>
            <a:ext cx="94287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71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LAB  PRACTICE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B6959-84AB-4A3B-BC4E-A49D75991CDB}" type="datetime4">
              <a:rPr lang="en-US" smtClean="0"/>
              <a:t>23 March, 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98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 at First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5251645" y="3002754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8" name="Rectangle 2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798594" y="2998950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1" name="Rectangle 3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7447212" y="2998949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45" name="Rectangle 4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b           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7994161" y="2995145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9" name="Rectangle 4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6894436" y="2995144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52" name="Rectangle 5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9636754" y="2995144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74" name="Rectangle 17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grpSp>
        <p:nvGrpSpPr>
          <p:cNvPr id="176" name="Group 175"/>
          <p:cNvGrpSpPr/>
          <p:nvPr/>
        </p:nvGrpSpPr>
        <p:grpSpPr>
          <a:xfrm>
            <a:off x="10183703" y="2991340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77" name="Rectangle 17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79" name="Group 178"/>
          <p:cNvGrpSpPr/>
          <p:nvPr/>
        </p:nvGrpSpPr>
        <p:grpSpPr>
          <a:xfrm>
            <a:off x="9083978" y="2991339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0" name="Rectangle 17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245" name="Group 244"/>
          <p:cNvGrpSpPr/>
          <p:nvPr/>
        </p:nvGrpSpPr>
        <p:grpSpPr>
          <a:xfrm>
            <a:off x="9775382" y="1687776"/>
            <a:ext cx="617280" cy="1299758"/>
            <a:chOff x="9315288" y="1750121"/>
            <a:chExt cx="617280" cy="1299758"/>
          </a:xfrm>
        </p:grpSpPr>
        <p:cxnSp>
          <p:nvCxnSpPr>
            <p:cNvPr id="232" name="Straight Arrow Connector 231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Box 232"/>
            <p:cNvSpPr txBox="1"/>
            <p:nvPr/>
          </p:nvSpPr>
          <p:spPr>
            <a:xfrm>
              <a:off x="9315288" y="1750121"/>
              <a:ext cx="61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  <p:sp>
        <p:nvSpPr>
          <p:cNvPr id="236" name="TextBox 235"/>
          <p:cNvSpPr txBox="1"/>
          <p:nvPr/>
        </p:nvSpPr>
        <p:spPr>
          <a:xfrm>
            <a:off x="10912458" y="3088729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3646869" y="3084924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241" name="Straight Arrow Connector 240"/>
          <p:cNvCxnSpPr/>
          <p:nvPr/>
        </p:nvCxnSpPr>
        <p:spPr>
          <a:xfrm flipH="1">
            <a:off x="4456684" y="3261980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7" name="Group 246"/>
          <p:cNvGrpSpPr/>
          <p:nvPr/>
        </p:nvGrpSpPr>
        <p:grpSpPr>
          <a:xfrm>
            <a:off x="6236192" y="2270563"/>
            <a:ext cx="1400614" cy="1209475"/>
            <a:chOff x="3591216" y="2332908"/>
            <a:chExt cx="1400614" cy="1209475"/>
          </a:xfrm>
        </p:grpSpPr>
        <p:grpSp>
          <p:nvGrpSpPr>
            <p:cNvPr id="168" name="Group 167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166" name="Group 165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13" name="Group 112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6" name="Straight Connector 25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Straight Connector 109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Arrow Connector 111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4" name="Rectangle 163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7" name="Rectangle 166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6" name="Rectangle 245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8422805" y="2269958"/>
            <a:ext cx="1400614" cy="1226567"/>
            <a:chOff x="5777829" y="2332303"/>
            <a:chExt cx="1400614" cy="1226567"/>
          </a:xfrm>
        </p:grpSpPr>
        <p:grpSp>
          <p:nvGrpSpPr>
            <p:cNvPr id="218" name="Group 217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219" name="Group 21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21" name="Group 220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23" name="Straight Connector 222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Straight Connector 223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Straight Connector 224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Straight Arrow Connector 225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2" name="Rectangle 221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0" name="Rectangle 219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8" name="Rectangle 247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3" name="Group 262"/>
          <p:cNvGrpSpPr/>
          <p:nvPr/>
        </p:nvGrpSpPr>
        <p:grpSpPr>
          <a:xfrm>
            <a:off x="7813622" y="2607784"/>
            <a:ext cx="1395501" cy="529915"/>
            <a:chOff x="5168646" y="2670129"/>
            <a:chExt cx="1395501" cy="529915"/>
          </a:xfrm>
        </p:grpSpPr>
        <p:grpSp>
          <p:nvGrpSpPr>
            <p:cNvPr id="209" name="Group 208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210" name="Group 20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12" name="Group 21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14" name="Straight Connector 213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" name="Straight Connector 214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Straight Connector 215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Straight Arrow Connector 216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3" name="Rectangle 212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11" name="Rectangle 21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62" name="Rectangle 261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9" name="Straight Arrow Connector 128"/>
          <p:cNvCxnSpPr/>
          <p:nvPr/>
        </p:nvCxnSpPr>
        <p:spPr>
          <a:xfrm flipV="1">
            <a:off x="10653524" y="3263580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0" name="Group 129"/>
          <p:cNvGrpSpPr/>
          <p:nvPr/>
        </p:nvGrpSpPr>
        <p:grpSpPr>
          <a:xfrm>
            <a:off x="1087897" y="3542963"/>
            <a:ext cx="3245724" cy="2802815"/>
            <a:chOff x="1003736" y="3682675"/>
            <a:chExt cx="3245724" cy="2802815"/>
          </a:xfrm>
        </p:grpSpPr>
        <p:sp>
          <p:nvSpPr>
            <p:cNvPr id="131" name="TextBox 130"/>
            <p:cNvSpPr txBox="1"/>
            <p:nvPr/>
          </p:nvSpPr>
          <p:spPr>
            <a:xfrm>
              <a:off x="1003736" y="3682675"/>
              <a:ext cx="3245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void </a:t>
              </a:r>
              <a:r>
                <a:rPr lang="en-US" dirty="0" err="1">
                  <a:latin typeface="Calisto MT" panose="02040603050505030304" pitchFamily="18" charset="0"/>
                </a:rPr>
                <a:t>insertAtFirst</a:t>
              </a:r>
              <a:r>
                <a:rPr lang="en-US" dirty="0">
                  <a:latin typeface="Calisto MT" panose="02040603050505030304" pitchFamily="18" charset="0"/>
                </a:rPr>
                <a:t>(</a:t>
              </a:r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 v){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1003736" y="6116158"/>
              <a:ext cx="41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sp>
        <p:nvSpPr>
          <p:cNvPr id="133" name="TextBox 132"/>
          <p:cNvSpPr txBox="1"/>
          <p:nvPr/>
        </p:nvSpPr>
        <p:spPr>
          <a:xfrm>
            <a:off x="1500580" y="3869951"/>
            <a:ext cx="5407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if(head==NULL)   { </a:t>
            </a:r>
            <a:r>
              <a:rPr lang="en-US" dirty="0" err="1">
                <a:latin typeface="Calisto MT" panose="02040603050505030304" pitchFamily="18" charset="0"/>
              </a:rPr>
              <a:t>createFirstElement</a:t>
            </a:r>
            <a:r>
              <a:rPr lang="en-US" dirty="0">
                <a:latin typeface="Calisto MT" panose="02040603050505030304" pitchFamily="18" charset="0"/>
              </a:rPr>
              <a:t>(v);  return; }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500580" y="4202785"/>
            <a:ext cx="5407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*temp = (Node*) </a:t>
            </a:r>
            <a:r>
              <a:rPr lang="en-US" dirty="0" err="1">
                <a:latin typeface="Calisto MT" panose="02040603050505030304" pitchFamily="18" charset="0"/>
              </a:rPr>
              <a:t>malloc</a:t>
            </a:r>
            <a:r>
              <a:rPr lang="en-US" dirty="0">
                <a:latin typeface="Calisto MT" panose="02040603050505030304" pitchFamily="18" charset="0"/>
              </a:rPr>
              <a:t>(</a:t>
            </a:r>
            <a:r>
              <a:rPr lang="en-US" dirty="0" err="1">
                <a:latin typeface="Calisto MT" panose="02040603050505030304" pitchFamily="18" charset="0"/>
              </a:rPr>
              <a:t>sizeof</a:t>
            </a:r>
            <a:r>
              <a:rPr lang="en-US" dirty="0">
                <a:latin typeface="Calisto MT" panose="02040603050505030304" pitchFamily="18" charset="0"/>
              </a:rPr>
              <a:t> (Node));</a:t>
            </a:r>
          </a:p>
        </p:txBody>
      </p:sp>
      <p:grpSp>
        <p:nvGrpSpPr>
          <p:cNvPr id="135" name="Group 134"/>
          <p:cNvGrpSpPr/>
          <p:nvPr/>
        </p:nvGrpSpPr>
        <p:grpSpPr>
          <a:xfrm>
            <a:off x="2541588" y="2971915"/>
            <a:ext cx="548893" cy="548893"/>
            <a:chOff x="11643107" y="2158069"/>
            <a:chExt cx="548893" cy="548893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36" name="Rectangle 135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grpSp>
        <p:nvGrpSpPr>
          <p:cNvPr id="138" name="Group 137"/>
          <p:cNvGrpSpPr/>
          <p:nvPr/>
        </p:nvGrpSpPr>
        <p:grpSpPr>
          <a:xfrm>
            <a:off x="3088537" y="296811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39" name="Rectangle 13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41" name="Group 140"/>
          <p:cNvGrpSpPr/>
          <p:nvPr/>
        </p:nvGrpSpPr>
        <p:grpSpPr>
          <a:xfrm>
            <a:off x="1988812" y="2968110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42" name="Rectangle 14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2426793" y="1660290"/>
            <a:ext cx="729688" cy="1299758"/>
            <a:chOff x="2491874" y="1750121"/>
            <a:chExt cx="729688" cy="1299758"/>
          </a:xfrm>
        </p:grpSpPr>
        <p:cxnSp>
          <p:nvCxnSpPr>
            <p:cNvPr id="145" name="Straight Arrow Connector 144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Box 145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temp           </a:t>
              </a:r>
            </a:p>
          </p:txBody>
        </p:sp>
      </p:grpSp>
      <p:sp>
        <p:nvSpPr>
          <p:cNvPr id="147" name="TextBox 146"/>
          <p:cNvSpPr txBox="1"/>
          <p:nvPr/>
        </p:nvSpPr>
        <p:spPr>
          <a:xfrm>
            <a:off x="1498731" y="4504291"/>
            <a:ext cx="1956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temp -&gt; key = v;</a:t>
            </a:r>
          </a:p>
        </p:txBody>
      </p:sp>
      <p:grpSp>
        <p:nvGrpSpPr>
          <p:cNvPr id="148" name="Group 147"/>
          <p:cNvGrpSpPr/>
          <p:nvPr/>
        </p:nvGrpSpPr>
        <p:grpSpPr>
          <a:xfrm>
            <a:off x="2537604" y="2975719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49" name="Rectangle 14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x           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3717420" y="3117748"/>
            <a:ext cx="1114461" cy="251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4698869" y="2998949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2" name="Rectangle 4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sp>
        <p:nvSpPr>
          <p:cNvPr id="255" name="TextBox 254"/>
          <p:cNvSpPr txBox="1"/>
          <p:nvPr/>
        </p:nvSpPr>
        <p:spPr>
          <a:xfrm>
            <a:off x="1498731" y="4853654"/>
            <a:ext cx="201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head -&gt; L = temp;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498731" y="5175129"/>
            <a:ext cx="201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temp -&gt; R = head;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103998" y="1687776"/>
            <a:ext cx="762540" cy="1299758"/>
            <a:chOff x="5180910" y="1727312"/>
            <a:chExt cx="762540" cy="1299758"/>
          </a:xfrm>
        </p:grpSpPr>
        <p:sp>
          <p:nvSpPr>
            <p:cNvPr id="5" name="Rectangle 4"/>
            <p:cNvSpPr/>
            <p:nvPr/>
          </p:nvSpPr>
          <p:spPr>
            <a:xfrm>
              <a:off x="5180910" y="1779434"/>
              <a:ext cx="755856" cy="12476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2" name="Group 241"/>
            <p:cNvGrpSpPr/>
            <p:nvPr/>
          </p:nvGrpSpPr>
          <p:grpSpPr>
            <a:xfrm>
              <a:off x="5213762" y="1727312"/>
              <a:ext cx="729688" cy="1299758"/>
              <a:chOff x="2491874" y="1750121"/>
              <a:chExt cx="729688" cy="1299758"/>
            </a:xfrm>
          </p:grpSpPr>
          <p:cxnSp>
            <p:nvCxnSpPr>
              <p:cNvPr id="161" name="Straight Arrow Connector 160"/>
              <p:cNvCxnSpPr/>
              <p:nvPr/>
            </p:nvCxnSpPr>
            <p:spPr>
              <a:xfrm flipH="1">
                <a:off x="2796960" y="2076625"/>
                <a:ext cx="3928" cy="973254"/>
              </a:xfrm>
              <a:prstGeom prst="straightConnector1">
                <a:avLst/>
              </a:prstGeom>
              <a:ln w="57150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8" name="TextBox 227"/>
              <p:cNvSpPr txBox="1"/>
              <p:nvPr/>
            </p:nvSpPr>
            <p:spPr>
              <a:xfrm>
                <a:off x="2491874" y="1750121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head           </a:t>
                </a:r>
              </a:p>
            </p:txBody>
          </p:sp>
        </p:grpSp>
      </p:grpSp>
      <p:grpSp>
        <p:nvGrpSpPr>
          <p:cNvPr id="254" name="Group 253"/>
          <p:cNvGrpSpPr/>
          <p:nvPr/>
        </p:nvGrpSpPr>
        <p:grpSpPr>
          <a:xfrm>
            <a:off x="5558757" y="2615394"/>
            <a:ext cx="1395501" cy="528191"/>
            <a:chOff x="2913781" y="2677739"/>
            <a:chExt cx="1395501" cy="528191"/>
          </a:xfrm>
        </p:grpSpPr>
        <p:grpSp>
          <p:nvGrpSpPr>
            <p:cNvPr id="172" name="Group 171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170" name="Group 16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122" name="Group 12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15" name="Straight Connector 114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Straight Connector 116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Straight Connector 118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Arrow Connector 120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9" name="Rectangle 168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1" name="Rectangle 17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3" name="Rectangle 252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3" name="Group 162"/>
          <p:cNvGrpSpPr/>
          <p:nvPr/>
        </p:nvGrpSpPr>
        <p:grpSpPr>
          <a:xfrm>
            <a:off x="3558293" y="2268447"/>
            <a:ext cx="1797330" cy="1209475"/>
            <a:chOff x="3591216" y="2332908"/>
            <a:chExt cx="1400614" cy="1209475"/>
          </a:xfrm>
        </p:grpSpPr>
        <p:grpSp>
          <p:nvGrpSpPr>
            <p:cNvPr id="165" name="Group 164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229" name="Group 22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34" name="Group 233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39" name="Straight Connector 238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0" name="Straight Connector 239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4" name="Straight Connector 243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2" name="Straight Arrow Connector 251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38" name="Rectangle 237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1" name="Rectangle 230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7" name="Rectangle 226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1" name="Group 150"/>
          <p:cNvGrpSpPr/>
          <p:nvPr/>
        </p:nvGrpSpPr>
        <p:grpSpPr>
          <a:xfrm>
            <a:off x="2953582" y="2614594"/>
            <a:ext cx="1812224" cy="528191"/>
            <a:chOff x="2913781" y="2677739"/>
            <a:chExt cx="1395501" cy="528191"/>
          </a:xfrm>
        </p:grpSpPr>
        <p:grpSp>
          <p:nvGrpSpPr>
            <p:cNvPr id="152" name="Group 151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154" name="Group 153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156" name="Group 155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58" name="Straight Connector 157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Straight Connector 158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" name="Straight Connector 159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Arrow Connector 161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7" name="Rectangle 156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5" name="Rectangle 154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3" name="Rectangle 152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0" name="TextBox 259"/>
          <p:cNvSpPr txBox="1"/>
          <p:nvPr/>
        </p:nvSpPr>
        <p:spPr>
          <a:xfrm>
            <a:off x="1498730" y="5496604"/>
            <a:ext cx="201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head  = temp;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5DE6-61C5-46C2-A117-2555AADD614C}" type="datetime4">
              <a:rPr lang="en-US" smtClean="0"/>
              <a:t>23 March, 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16</a:t>
            </a:fld>
            <a:endParaRPr lang="en-US"/>
          </a:p>
        </p:txBody>
      </p:sp>
      <p:sp>
        <p:nvSpPr>
          <p:cNvPr id="182" name="TextBox 181"/>
          <p:cNvSpPr txBox="1"/>
          <p:nvPr/>
        </p:nvSpPr>
        <p:spPr>
          <a:xfrm>
            <a:off x="970791" y="3059624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183" name="Straight Arrow Connector 182"/>
          <p:cNvCxnSpPr/>
          <p:nvPr/>
        </p:nvCxnSpPr>
        <p:spPr>
          <a:xfrm flipH="1">
            <a:off x="1780606" y="3236680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1498730" y="5808916"/>
            <a:ext cx="209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head-&gt;L  = NULL;</a:t>
            </a:r>
          </a:p>
        </p:txBody>
      </p:sp>
    </p:spTree>
    <p:extLst>
      <p:ext uri="{BB962C8B-B14F-4D97-AF65-F5344CB8AC3E}">
        <p14:creationId xmlns:p14="http://schemas.microsoft.com/office/powerpoint/2010/main" val="728444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22222E-6 L -0.22096 -0.00347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55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/>
      <p:bldP spid="147" grpId="0"/>
      <p:bldP spid="4" grpId="0" animBg="1"/>
      <p:bldP spid="255" grpId="0"/>
      <p:bldP spid="259" grpId="0"/>
      <p:bldP spid="260" grpId="0"/>
      <p:bldP spid="182" grpId="0"/>
      <p:bldP spid="18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 at Last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2378492" y="3020722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8" name="Rectangle 2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2925441" y="3016918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1" name="Rectangle 3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4574059" y="3016917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45" name="Rectangle 4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b           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5121008" y="3013113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9" name="Rectangle 4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4021283" y="301311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52" name="Rectangle 5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6763601" y="3013112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74" name="Rectangle 17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grpSp>
        <p:nvGrpSpPr>
          <p:cNvPr id="179" name="Group 178"/>
          <p:cNvGrpSpPr/>
          <p:nvPr/>
        </p:nvGrpSpPr>
        <p:grpSpPr>
          <a:xfrm>
            <a:off x="6210825" y="300930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0" name="Rectangle 17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sp>
        <p:nvSpPr>
          <p:cNvPr id="236" name="TextBox 235"/>
          <p:cNvSpPr txBox="1"/>
          <p:nvPr/>
        </p:nvSpPr>
        <p:spPr>
          <a:xfrm>
            <a:off x="8039305" y="3106697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0783223" y="3066686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241" name="Straight Arrow Connector 240"/>
          <p:cNvCxnSpPr/>
          <p:nvPr/>
        </p:nvCxnSpPr>
        <p:spPr>
          <a:xfrm flipH="1">
            <a:off x="1583531" y="3279948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7" name="Group 246"/>
          <p:cNvGrpSpPr/>
          <p:nvPr/>
        </p:nvGrpSpPr>
        <p:grpSpPr>
          <a:xfrm>
            <a:off x="3363039" y="2288531"/>
            <a:ext cx="1400614" cy="1209475"/>
            <a:chOff x="3591216" y="2332908"/>
            <a:chExt cx="1400614" cy="1209475"/>
          </a:xfrm>
        </p:grpSpPr>
        <p:grpSp>
          <p:nvGrpSpPr>
            <p:cNvPr id="168" name="Group 167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166" name="Group 165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13" name="Group 112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6" name="Straight Connector 25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Straight Connector 109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Arrow Connector 111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4" name="Rectangle 163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7" name="Rectangle 166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6" name="Rectangle 245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5549652" y="2287926"/>
            <a:ext cx="1400614" cy="1226567"/>
            <a:chOff x="5777829" y="2332303"/>
            <a:chExt cx="1400614" cy="1226567"/>
          </a:xfrm>
        </p:grpSpPr>
        <p:grpSp>
          <p:nvGrpSpPr>
            <p:cNvPr id="218" name="Group 217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219" name="Group 21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21" name="Group 220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23" name="Straight Connector 222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Straight Connector 223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Straight Connector 224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Straight Arrow Connector 225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2" name="Rectangle 221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0" name="Rectangle 219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8" name="Rectangle 247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3" name="Group 262"/>
          <p:cNvGrpSpPr/>
          <p:nvPr/>
        </p:nvGrpSpPr>
        <p:grpSpPr>
          <a:xfrm>
            <a:off x="4940469" y="2625752"/>
            <a:ext cx="1395501" cy="529915"/>
            <a:chOff x="5168646" y="2670129"/>
            <a:chExt cx="1395501" cy="529915"/>
          </a:xfrm>
        </p:grpSpPr>
        <p:grpSp>
          <p:nvGrpSpPr>
            <p:cNvPr id="209" name="Group 208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210" name="Group 20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12" name="Group 21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14" name="Straight Connector 213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" name="Straight Connector 214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Straight Connector 215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Straight Arrow Connector 216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3" name="Rectangle 212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11" name="Rectangle 21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62" name="Rectangle 261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9" name="Straight Arrow Connector 128"/>
          <p:cNvCxnSpPr/>
          <p:nvPr/>
        </p:nvCxnSpPr>
        <p:spPr>
          <a:xfrm flipV="1">
            <a:off x="7780371" y="3281548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0" name="Group 129"/>
          <p:cNvGrpSpPr/>
          <p:nvPr/>
        </p:nvGrpSpPr>
        <p:grpSpPr>
          <a:xfrm>
            <a:off x="1087897" y="3542963"/>
            <a:ext cx="3245724" cy="2802815"/>
            <a:chOff x="1003736" y="3682675"/>
            <a:chExt cx="3245724" cy="2802815"/>
          </a:xfrm>
        </p:grpSpPr>
        <p:sp>
          <p:nvSpPr>
            <p:cNvPr id="131" name="TextBox 130"/>
            <p:cNvSpPr txBox="1"/>
            <p:nvPr/>
          </p:nvSpPr>
          <p:spPr>
            <a:xfrm>
              <a:off x="1003736" y="3682675"/>
              <a:ext cx="3245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void </a:t>
              </a:r>
              <a:r>
                <a:rPr lang="en-US" dirty="0" err="1">
                  <a:latin typeface="Calisto MT" panose="02040603050505030304" pitchFamily="18" charset="0"/>
                </a:rPr>
                <a:t>insertAtLast</a:t>
              </a:r>
              <a:r>
                <a:rPr lang="en-US" dirty="0">
                  <a:latin typeface="Calisto MT" panose="02040603050505030304" pitchFamily="18" charset="0"/>
                </a:rPr>
                <a:t>(</a:t>
              </a:r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 v){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1003736" y="6116158"/>
              <a:ext cx="41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sp>
        <p:nvSpPr>
          <p:cNvPr id="133" name="TextBox 132"/>
          <p:cNvSpPr txBox="1"/>
          <p:nvPr/>
        </p:nvSpPr>
        <p:spPr>
          <a:xfrm>
            <a:off x="1500580" y="3869951"/>
            <a:ext cx="5407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if(head==NULL)   { </a:t>
            </a:r>
            <a:r>
              <a:rPr lang="en-US" dirty="0" err="1">
                <a:latin typeface="Calisto MT" panose="02040603050505030304" pitchFamily="18" charset="0"/>
              </a:rPr>
              <a:t>createFirstElement</a:t>
            </a:r>
            <a:r>
              <a:rPr lang="en-US" dirty="0">
                <a:latin typeface="Calisto MT" panose="02040603050505030304" pitchFamily="18" charset="0"/>
              </a:rPr>
              <a:t>(v);  return; }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500580" y="4202785"/>
            <a:ext cx="5407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*temp = (Node*) </a:t>
            </a:r>
            <a:r>
              <a:rPr lang="en-US" dirty="0" err="1">
                <a:latin typeface="Calisto MT" panose="02040603050505030304" pitchFamily="18" charset="0"/>
              </a:rPr>
              <a:t>malloc</a:t>
            </a:r>
            <a:r>
              <a:rPr lang="en-US" dirty="0">
                <a:latin typeface="Calisto MT" panose="02040603050505030304" pitchFamily="18" charset="0"/>
              </a:rPr>
              <a:t>(</a:t>
            </a:r>
            <a:r>
              <a:rPr lang="en-US" dirty="0" err="1">
                <a:latin typeface="Calisto MT" panose="02040603050505030304" pitchFamily="18" charset="0"/>
              </a:rPr>
              <a:t>sizeof</a:t>
            </a:r>
            <a:r>
              <a:rPr lang="en-US" dirty="0">
                <a:latin typeface="Calisto MT" panose="02040603050505030304" pitchFamily="18" charset="0"/>
              </a:rPr>
              <a:t> (Node));</a:t>
            </a:r>
          </a:p>
        </p:txBody>
      </p:sp>
      <p:grpSp>
        <p:nvGrpSpPr>
          <p:cNvPr id="135" name="Group 134"/>
          <p:cNvGrpSpPr/>
          <p:nvPr/>
        </p:nvGrpSpPr>
        <p:grpSpPr>
          <a:xfrm>
            <a:off x="9443250" y="3013322"/>
            <a:ext cx="548893" cy="548893"/>
            <a:chOff x="11643107" y="2158069"/>
            <a:chExt cx="548893" cy="548893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36" name="Rectangle 135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grpSp>
        <p:nvGrpSpPr>
          <p:cNvPr id="138" name="Group 137"/>
          <p:cNvGrpSpPr/>
          <p:nvPr/>
        </p:nvGrpSpPr>
        <p:grpSpPr>
          <a:xfrm>
            <a:off x="9990199" y="3009518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39" name="Rectangle 13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41" name="Group 140"/>
          <p:cNvGrpSpPr/>
          <p:nvPr/>
        </p:nvGrpSpPr>
        <p:grpSpPr>
          <a:xfrm>
            <a:off x="8890474" y="300951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42" name="Rectangle 14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9423476" y="1717367"/>
            <a:ext cx="729688" cy="1299758"/>
            <a:chOff x="2491874" y="1750121"/>
            <a:chExt cx="729688" cy="1299758"/>
          </a:xfrm>
        </p:grpSpPr>
        <p:cxnSp>
          <p:nvCxnSpPr>
            <p:cNvPr id="145" name="Straight Arrow Connector 144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Box 145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temp           </a:t>
              </a:r>
            </a:p>
          </p:txBody>
        </p:sp>
      </p:grpSp>
      <p:sp>
        <p:nvSpPr>
          <p:cNvPr id="147" name="TextBox 146"/>
          <p:cNvSpPr txBox="1"/>
          <p:nvPr/>
        </p:nvSpPr>
        <p:spPr>
          <a:xfrm>
            <a:off x="1498731" y="4504291"/>
            <a:ext cx="1956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temp -&gt; key = v;</a:t>
            </a:r>
          </a:p>
        </p:txBody>
      </p:sp>
      <p:grpSp>
        <p:nvGrpSpPr>
          <p:cNvPr id="148" name="Group 147"/>
          <p:cNvGrpSpPr/>
          <p:nvPr/>
        </p:nvGrpSpPr>
        <p:grpSpPr>
          <a:xfrm>
            <a:off x="9433129" y="3017126"/>
            <a:ext cx="587496" cy="548893"/>
            <a:chOff x="11636970" y="2158069"/>
            <a:chExt cx="587496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49" name="Rectangle 14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11636970" y="2247640"/>
              <a:ext cx="5874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key           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825716" y="301691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2" name="Rectangle 4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sp>
        <p:nvSpPr>
          <p:cNvPr id="255" name="TextBox 254"/>
          <p:cNvSpPr txBox="1"/>
          <p:nvPr/>
        </p:nvSpPr>
        <p:spPr>
          <a:xfrm>
            <a:off x="1498731" y="4853654"/>
            <a:ext cx="201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tail -&gt; R = temp;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498731" y="5175129"/>
            <a:ext cx="201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temp -&gt; L = tail;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230845" y="1705744"/>
            <a:ext cx="762540" cy="1299758"/>
            <a:chOff x="5180910" y="1727312"/>
            <a:chExt cx="762540" cy="1299758"/>
          </a:xfrm>
        </p:grpSpPr>
        <p:sp>
          <p:nvSpPr>
            <p:cNvPr id="5" name="Rectangle 4"/>
            <p:cNvSpPr/>
            <p:nvPr/>
          </p:nvSpPr>
          <p:spPr>
            <a:xfrm>
              <a:off x="5180910" y="1779434"/>
              <a:ext cx="755856" cy="12476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2" name="Group 241"/>
            <p:cNvGrpSpPr/>
            <p:nvPr/>
          </p:nvGrpSpPr>
          <p:grpSpPr>
            <a:xfrm>
              <a:off x="5213762" y="1727312"/>
              <a:ext cx="729688" cy="1299758"/>
              <a:chOff x="2491874" y="1750121"/>
              <a:chExt cx="729688" cy="1299758"/>
            </a:xfrm>
          </p:grpSpPr>
          <p:sp>
            <p:nvSpPr>
              <p:cNvPr id="228" name="TextBox 227"/>
              <p:cNvSpPr txBox="1"/>
              <p:nvPr/>
            </p:nvSpPr>
            <p:spPr>
              <a:xfrm>
                <a:off x="2491874" y="1750121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head           </a:t>
                </a:r>
              </a:p>
            </p:txBody>
          </p:sp>
          <p:cxnSp>
            <p:nvCxnSpPr>
              <p:cNvPr id="161" name="Straight Arrow Connector 160"/>
              <p:cNvCxnSpPr/>
              <p:nvPr/>
            </p:nvCxnSpPr>
            <p:spPr>
              <a:xfrm flipH="1">
                <a:off x="2796960" y="2076625"/>
                <a:ext cx="3928" cy="973254"/>
              </a:xfrm>
              <a:prstGeom prst="straightConnector1">
                <a:avLst/>
              </a:prstGeom>
              <a:ln w="57150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4" name="Group 253"/>
          <p:cNvGrpSpPr/>
          <p:nvPr/>
        </p:nvGrpSpPr>
        <p:grpSpPr>
          <a:xfrm>
            <a:off x="2685604" y="2633362"/>
            <a:ext cx="1395501" cy="528191"/>
            <a:chOff x="2913781" y="2677739"/>
            <a:chExt cx="1395501" cy="528191"/>
          </a:xfrm>
        </p:grpSpPr>
        <p:grpSp>
          <p:nvGrpSpPr>
            <p:cNvPr id="172" name="Group 171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170" name="Group 16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122" name="Group 12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15" name="Straight Connector 114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Straight Connector 116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Straight Connector 118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Arrow Connector 120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9" name="Rectangle 168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1" name="Rectangle 17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3" name="Rectangle 252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0" name="TextBox 259"/>
          <p:cNvSpPr txBox="1"/>
          <p:nvPr/>
        </p:nvSpPr>
        <p:spPr>
          <a:xfrm>
            <a:off x="1498730" y="5496604"/>
            <a:ext cx="201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tail  = temp;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5DE6-61C5-46C2-A117-2555AADD614C}" type="datetime4">
              <a:rPr lang="en-US" smtClean="0"/>
              <a:t>23 March, 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17</a:t>
            </a:fld>
            <a:endParaRPr lang="en-US"/>
          </a:p>
        </p:txBody>
      </p:sp>
      <p:sp>
        <p:nvSpPr>
          <p:cNvPr id="182" name="TextBox 181"/>
          <p:cNvSpPr txBox="1"/>
          <p:nvPr/>
        </p:nvSpPr>
        <p:spPr>
          <a:xfrm>
            <a:off x="829747" y="3108425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498730" y="5808916"/>
            <a:ext cx="209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tail-&gt;R  = NULL;</a:t>
            </a:r>
          </a:p>
        </p:txBody>
      </p:sp>
      <p:cxnSp>
        <p:nvCxnSpPr>
          <p:cNvPr id="185" name="Straight Arrow Connector 184"/>
          <p:cNvCxnSpPr/>
          <p:nvPr/>
        </p:nvCxnSpPr>
        <p:spPr>
          <a:xfrm flipV="1">
            <a:off x="10477647" y="3269409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6" name="Group 185"/>
          <p:cNvGrpSpPr/>
          <p:nvPr/>
        </p:nvGrpSpPr>
        <p:grpSpPr>
          <a:xfrm>
            <a:off x="9453957" y="3004298"/>
            <a:ext cx="548893" cy="548893"/>
            <a:chOff x="11643107" y="2158069"/>
            <a:chExt cx="548893" cy="548893"/>
          </a:xfrm>
          <a:solidFill>
            <a:schemeClr val="accent6"/>
          </a:solidFill>
        </p:grpSpPr>
        <p:sp>
          <p:nvSpPr>
            <p:cNvPr id="187" name="Rectangle 18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7671621" y="3068962"/>
            <a:ext cx="1131935" cy="4455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6" name="Group 175"/>
          <p:cNvGrpSpPr/>
          <p:nvPr/>
        </p:nvGrpSpPr>
        <p:grpSpPr>
          <a:xfrm>
            <a:off x="7310550" y="3009308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77" name="Rectangle 17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51" name="Group 150"/>
          <p:cNvGrpSpPr/>
          <p:nvPr/>
        </p:nvGrpSpPr>
        <p:grpSpPr>
          <a:xfrm>
            <a:off x="7355948" y="2323160"/>
            <a:ext cx="1675260" cy="946251"/>
            <a:chOff x="2913781" y="2677739"/>
            <a:chExt cx="1395501" cy="528191"/>
          </a:xfrm>
        </p:grpSpPr>
        <p:grpSp>
          <p:nvGrpSpPr>
            <p:cNvPr id="152" name="Group 151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154" name="Group 153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156" name="Group 155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58" name="Straight Connector 157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Straight Connector 158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" name="Straight Connector 159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Arrow Connector 161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7" name="Rectangle 156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5" name="Rectangle 154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3" name="Rectangle 152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/>
          <p:cNvSpPr/>
          <p:nvPr/>
        </p:nvSpPr>
        <p:spPr>
          <a:xfrm>
            <a:off x="9437423" y="1773503"/>
            <a:ext cx="633675" cy="1218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3" name="Group 162"/>
          <p:cNvGrpSpPr/>
          <p:nvPr/>
        </p:nvGrpSpPr>
        <p:grpSpPr>
          <a:xfrm>
            <a:off x="7730172" y="2518875"/>
            <a:ext cx="1797330" cy="828462"/>
            <a:chOff x="3591216" y="2332908"/>
            <a:chExt cx="1400614" cy="1209475"/>
          </a:xfrm>
        </p:grpSpPr>
        <p:grpSp>
          <p:nvGrpSpPr>
            <p:cNvPr id="165" name="Group 164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229" name="Group 22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34" name="Group 233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39" name="Straight Connector 238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0" name="Straight Connector 239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4" name="Straight Connector 243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2" name="Straight Arrow Connector 251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38" name="Rectangle 237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1" name="Rectangle 230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7" name="Rectangle 226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5" name="Group 244"/>
          <p:cNvGrpSpPr/>
          <p:nvPr/>
        </p:nvGrpSpPr>
        <p:grpSpPr>
          <a:xfrm>
            <a:off x="6902229" y="1705744"/>
            <a:ext cx="617280" cy="1299758"/>
            <a:chOff x="9315288" y="1750121"/>
            <a:chExt cx="617280" cy="1299758"/>
          </a:xfrm>
        </p:grpSpPr>
        <p:cxnSp>
          <p:nvCxnSpPr>
            <p:cNvPr id="232" name="Straight Arrow Connector 231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Box 232"/>
            <p:cNvSpPr txBox="1"/>
            <p:nvPr/>
          </p:nvSpPr>
          <p:spPr>
            <a:xfrm>
              <a:off x="9315288" y="1750121"/>
              <a:ext cx="61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0401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2.96296E-6 L 0.21289 0.00416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38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" grpId="0"/>
      <p:bldP spid="134" grpId="0"/>
      <p:bldP spid="147" grpId="0"/>
      <p:bldP spid="255" grpId="0"/>
      <p:bldP spid="259" grpId="0"/>
      <p:bldP spid="260" grpId="0"/>
      <p:bldP spid="184" grpId="0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 After First Occurrence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640312" y="3066238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8" name="Rectangle 2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2187261" y="3062434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1" name="Rectangle 3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3283103" y="3058628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52" name="Rectangle 5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7901304" y="3058628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74" name="Rectangle 17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sp>
        <p:nvSpPr>
          <p:cNvPr id="237" name="TextBox 236"/>
          <p:cNvSpPr txBox="1"/>
          <p:nvPr/>
        </p:nvSpPr>
        <p:spPr>
          <a:xfrm>
            <a:off x="11427265" y="3150960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241" name="Straight Arrow Connector 240"/>
          <p:cNvCxnSpPr/>
          <p:nvPr/>
        </p:nvCxnSpPr>
        <p:spPr>
          <a:xfrm flipH="1">
            <a:off x="722083" y="3328823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7" name="Group 246"/>
          <p:cNvGrpSpPr/>
          <p:nvPr/>
        </p:nvGrpSpPr>
        <p:grpSpPr>
          <a:xfrm>
            <a:off x="2624859" y="2334047"/>
            <a:ext cx="1400614" cy="1209475"/>
            <a:chOff x="3591216" y="2332908"/>
            <a:chExt cx="1400614" cy="1209475"/>
          </a:xfrm>
        </p:grpSpPr>
        <p:grpSp>
          <p:nvGrpSpPr>
            <p:cNvPr id="168" name="Group 167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166" name="Group 165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13" name="Group 112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6" name="Straight Connector 25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Straight Connector 109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Arrow Connector 111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4" name="Rectangle 163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7" name="Rectangle 166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6" name="Rectangle 245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3" name="Group 262"/>
          <p:cNvGrpSpPr/>
          <p:nvPr/>
        </p:nvGrpSpPr>
        <p:grpSpPr>
          <a:xfrm>
            <a:off x="4218956" y="2578180"/>
            <a:ext cx="3243324" cy="693413"/>
            <a:chOff x="5168646" y="2670129"/>
            <a:chExt cx="1395501" cy="529915"/>
          </a:xfrm>
        </p:grpSpPr>
        <p:grpSp>
          <p:nvGrpSpPr>
            <p:cNvPr id="209" name="Group 208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210" name="Group 20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12" name="Group 21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14" name="Straight Connector 213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" name="Straight Connector 214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Straight Connector 215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Straight Arrow Connector 216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3" name="Rectangle 212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11" name="Rectangle 21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62" name="Rectangle 261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1104450" y="3752210"/>
            <a:ext cx="5475090" cy="2582209"/>
            <a:chOff x="1003736" y="3682675"/>
            <a:chExt cx="3245724" cy="2582209"/>
          </a:xfrm>
        </p:grpSpPr>
        <p:sp>
          <p:nvSpPr>
            <p:cNvPr id="131" name="TextBox 130"/>
            <p:cNvSpPr txBox="1"/>
            <p:nvPr/>
          </p:nvSpPr>
          <p:spPr>
            <a:xfrm>
              <a:off x="1003736" y="3682675"/>
              <a:ext cx="3245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sto MT" panose="02040603050505030304" pitchFamily="18" charset="0"/>
                </a:rPr>
                <a:t>bool</a:t>
              </a:r>
              <a:r>
                <a:rPr lang="en-US" dirty="0">
                  <a:latin typeface="Calisto MT" panose="02040603050505030304" pitchFamily="18" charset="0"/>
                </a:rPr>
                <a:t> </a:t>
              </a:r>
              <a:r>
                <a:rPr lang="en-US" dirty="0" err="1">
                  <a:latin typeface="Calisto MT" panose="02040603050505030304" pitchFamily="18" charset="0"/>
                </a:rPr>
                <a:t>insertAfterFirstOccurrence</a:t>
              </a:r>
              <a:r>
                <a:rPr lang="en-US" dirty="0">
                  <a:latin typeface="Calisto MT" panose="02040603050505030304" pitchFamily="18" charset="0"/>
                </a:rPr>
                <a:t>(</a:t>
              </a:r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 v, </a:t>
              </a:r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 </a:t>
              </a:r>
              <a:r>
                <a:rPr lang="en-US" dirty="0" err="1">
                  <a:latin typeface="Calisto MT" panose="02040603050505030304" pitchFamily="18" charset="0"/>
                </a:rPr>
                <a:t>nV</a:t>
              </a:r>
              <a:r>
                <a:rPr lang="en-US" dirty="0">
                  <a:latin typeface="Calisto MT" panose="02040603050505030304" pitchFamily="18" charset="0"/>
                </a:rPr>
                <a:t>){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1003736" y="5895552"/>
              <a:ext cx="41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sp>
        <p:nvSpPr>
          <p:cNvPr id="133" name="TextBox 132"/>
          <p:cNvSpPr txBox="1"/>
          <p:nvPr/>
        </p:nvSpPr>
        <p:spPr>
          <a:xfrm>
            <a:off x="1517133" y="4079198"/>
            <a:ext cx="5407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*temp = </a:t>
            </a:r>
            <a:r>
              <a:rPr lang="en-US" dirty="0" err="1">
                <a:latin typeface="Calisto MT" panose="02040603050505030304" pitchFamily="18" charset="0"/>
              </a:rPr>
              <a:t>findFirstOccurrence</a:t>
            </a:r>
            <a:r>
              <a:rPr lang="en-US" dirty="0">
                <a:latin typeface="Calisto MT" panose="02040603050505030304" pitchFamily="18" charset="0"/>
              </a:rPr>
              <a:t>(v);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517133" y="4412032"/>
            <a:ext cx="5407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if(temp==NULL)    return false;</a:t>
            </a:r>
          </a:p>
        </p:txBody>
      </p:sp>
      <p:grpSp>
        <p:nvGrpSpPr>
          <p:cNvPr id="144" name="Group 143"/>
          <p:cNvGrpSpPr/>
          <p:nvPr/>
        </p:nvGrpSpPr>
        <p:grpSpPr>
          <a:xfrm>
            <a:off x="11299359" y="1717367"/>
            <a:ext cx="729688" cy="1299758"/>
            <a:chOff x="2491874" y="1750121"/>
            <a:chExt cx="729688" cy="1299758"/>
          </a:xfrm>
        </p:grpSpPr>
        <p:cxnSp>
          <p:nvCxnSpPr>
            <p:cNvPr id="145" name="Straight Arrow Connector 144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Box 145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temp           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087536" y="3062433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2" name="Rectangle 4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sp>
        <p:nvSpPr>
          <p:cNvPr id="255" name="TextBox 254"/>
          <p:cNvSpPr txBox="1"/>
          <p:nvPr/>
        </p:nvSpPr>
        <p:spPr>
          <a:xfrm>
            <a:off x="1511256" y="5135954"/>
            <a:ext cx="5091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*</a:t>
            </a:r>
            <a:r>
              <a:rPr lang="en-US" dirty="0" err="1">
                <a:latin typeface="Calisto MT" panose="02040603050505030304" pitchFamily="18" charset="0"/>
              </a:rPr>
              <a:t>newNode</a:t>
            </a:r>
            <a:r>
              <a:rPr lang="en-US" dirty="0">
                <a:latin typeface="Calisto MT" panose="02040603050505030304" pitchFamily="18" charset="0"/>
              </a:rPr>
              <a:t> = (Node*)</a:t>
            </a:r>
            <a:r>
              <a:rPr lang="en-US" dirty="0" err="1">
                <a:latin typeface="Calisto MT" panose="02040603050505030304" pitchFamily="18" charset="0"/>
              </a:rPr>
              <a:t>malloc</a:t>
            </a:r>
            <a:r>
              <a:rPr lang="en-US" dirty="0">
                <a:latin typeface="Calisto MT" panose="02040603050505030304" pitchFamily="18" charset="0"/>
              </a:rPr>
              <a:t>(</a:t>
            </a:r>
            <a:r>
              <a:rPr lang="en-US" dirty="0" err="1">
                <a:latin typeface="Calisto MT" panose="02040603050505030304" pitchFamily="18" charset="0"/>
              </a:rPr>
              <a:t>sizeof</a:t>
            </a:r>
            <a:r>
              <a:rPr lang="en-US" dirty="0">
                <a:latin typeface="Calisto MT" panose="02040603050505030304" pitchFamily="18" charset="0"/>
              </a:rPr>
              <a:t>(Node));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527320" y="5443764"/>
            <a:ext cx="263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sto MT" panose="02040603050505030304" pitchFamily="18" charset="0"/>
              </a:rPr>
              <a:t>newNode</a:t>
            </a:r>
            <a:r>
              <a:rPr lang="en-US" dirty="0">
                <a:latin typeface="Calisto MT" panose="02040603050505030304" pitchFamily="18" charset="0"/>
              </a:rPr>
              <a:t> -&gt; L = temp;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492665" y="1751260"/>
            <a:ext cx="762540" cy="1299758"/>
            <a:chOff x="5180910" y="1727312"/>
            <a:chExt cx="762540" cy="1299758"/>
          </a:xfrm>
        </p:grpSpPr>
        <p:sp>
          <p:nvSpPr>
            <p:cNvPr id="5" name="Rectangle 4"/>
            <p:cNvSpPr/>
            <p:nvPr/>
          </p:nvSpPr>
          <p:spPr>
            <a:xfrm>
              <a:off x="5180910" y="1779434"/>
              <a:ext cx="755856" cy="12476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2" name="Group 241"/>
            <p:cNvGrpSpPr/>
            <p:nvPr/>
          </p:nvGrpSpPr>
          <p:grpSpPr>
            <a:xfrm>
              <a:off x="5213762" y="1727312"/>
              <a:ext cx="729688" cy="1299758"/>
              <a:chOff x="2491874" y="1750121"/>
              <a:chExt cx="729688" cy="1299758"/>
            </a:xfrm>
          </p:grpSpPr>
          <p:sp>
            <p:nvSpPr>
              <p:cNvPr id="228" name="TextBox 227"/>
              <p:cNvSpPr txBox="1"/>
              <p:nvPr/>
            </p:nvSpPr>
            <p:spPr>
              <a:xfrm>
                <a:off x="2491874" y="1750121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head           </a:t>
                </a:r>
              </a:p>
            </p:txBody>
          </p:sp>
          <p:cxnSp>
            <p:nvCxnSpPr>
              <p:cNvPr id="161" name="Straight Arrow Connector 160"/>
              <p:cNvCxnSpPr/>
              <p:nvPr/>
            </p:nvCxnSpPr>
            <p:spPr>
              <a:xfrm flipH="1">
                <a:off x="2796960" y="2076625"/>
                <a:ext cx="3928" cy="973254"/>
              </a:xfrm>
              <a:prstGeom prst="straightConnector1">
                <a:avLst/>
              </a:prstGeom>
              <a:ln w="57150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4" name="Group 253"/>
          <p:cNvGrpSpPr/>
          <p:nvPr/>
        </p:nvGrpSpPr>
        <p:grpSpPr>
          <a:xfrm>
            <a:off x="1947424" y="2678878"/>
            <a:ext cx="1395501" cy="528191"/>
            <a:chOff x="2913781" y="2677739"/>
            <a:chExt cx="1395501" cy="528191"/>
          </a:xfrm>
        </p:grpSpPr>
        <p:grpSp>
          <p:nvGrpSpPr>
            <p:cNvPr id="172" name="Group 171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170" name="Group 16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122" name="Group 12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15" name="Straight Connector 114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Straight Connector 116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Straight Connector 118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Arrow Connector 120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9" name="Rectangle 168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1" name="Rectangle 17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3" name="Rectangle 252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0" name="TextBox 259"/>
          <p:cNvSpPr txBox="1"/>
          <p:nvPr/>
        </p:nvSpPr>
        <p:spPr>
          <a:xfrm>
            <a:off x="7201523" y="5457883"/>
            <a:ext cx="2816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sto MT" panose="02040603050505030304" pitchFamily="18" charset="0"/>
              </a:rPr>
              <a:t>newNode</a:t>
            </a:r>
            <a:r>
              <a:rPr lang="en-US" dirty="0">
                <a:latin typeface="Calisto MT" panose="02040603050505030304" pitchFamily="18" charset="0"/>
              </a:rPr>
              <a:t>-&gt;R = temp-&gt;R;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18</a:t>
            </a:fld>
            <a:endParaRPr lang="en-US"/>
          </a:p>
        </p:txBody>
      </p:sp>
      <p:sp>
        <p:nvSpPr>
          <p:cNvPr id="182" name="TextBox 181"/>
          <p:cNvSpPr txBox="1"/>
          <p:nvPr/>
        </p:nvSpPr>
        <p:spPr>
          <a:xfrm>
            <a:off x="-21624" y="3156018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511859" y="5757657"/>
            <a:ext cx="2526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temp-&gt;R  = </a:t>
            </a:r>
            <a:r>
              <a:rPr lang="en-US" dirty="0" err="1">
                <a:latin typeface="Calisto MT" panose="02040603050505030304" pitchFamily="18" charset="0"/>
              </a:rPr>
              <a:t>newNode</a:t>
            </a:r>
            <a:r>
              <a:rPr lang="en-US" dirty="0">
                <a:latin typeface="Calisto MT" panose="02040603050505030304" pitchFamily="18" charset="0"/>
              </a:rPr>
              <a:t>;</a:t>
            </a:r>
          </a:p>
        </p:txBody>
      </p:sp>
      <p:cxnSp>
        <p:nvCxnSpPr>
          <p:cNvPr id="185" name="Straight Arrow Connector 184"/>
          <p:cNvCxnSpPr/>
          <p:nvPr/>
        </p:nvCxnSpPr>
        <p:spPr>
          <a:xfrm flipV="1">
            <a:off x="11129741" y="3321656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6" name="Group 175"/>
          <p:cNvGrpSpPr/>
          <p:nvPr/>
        </p:nvGrpSpPr>
        <p:grpSpPr>
          <a:xfrm>
            <a:off x="8448253" y="3054824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77" name="Rectangle 17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sp>
        <p:nvSpPr>
          <p:cNvPr id="9" name="Rectangle 8"/>
          <p:cNvSpPr/>
          <p:nvPr/>
        </p:nvSpPr>
        <p:spPr>
          <a:xfrm>
            <a:off x="11313306" y="1773503"/>
            <a:ext cx="633675" cy="1218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5" name="Group 244"/>
          <p:cNvGrpSpPr/>
          <p:nvPr/>
        </p:nvGrpSpPr>
        <p:grpSpPr>
          <a:xfrm>
            <a:off x="10284539" y="1740143"/>
            <a:ext cx="617280" cy="1299758"/>
            <a:chOff x="9315288" y="1750121"/>
            <a:chExt cx="617280" cy="1299758"/>
          </a:xfrm>
        </p:grpSpPr>
        <p:cxnSp>
          <p:nvCxnSpPr>
            <p:cNvPr id="232" name="Straight Arrow Connector 231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Box 232"/>
            <p:cNvSpPr txBox="1"/>
            <p:nvPr/>
          </p:nvSpPr>
          <p:spPr>
            <a:xfrm>
              <a:off x="9315288" y="1750121"/>
              <a:ext cx="61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  <p:grpSp>
        <p:nvGrpSpPr>
          <p:cNvPr id="191" name="Group 190"/>
          <p:cNvGrpSpPr/>
          <p:nvPr/>
        </p:nvGrpSpPr>
        <p:grpSpPr>
          <a:xfrm>
            <a:off x="10104959" y="3051017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92" name="Rectangle 19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grpSp>
        <p:nvGrpSpPr>
          <p:cNvPr id="194" name="Group 193"/>
          <p:cNvGrpSpPr/>
          <p:nvPr/>
        </p:nvGrpSpPr>
        <p:grpSpPr>
          <a:xfrm>
            <a:off x="9552183" y="304721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95" name="Rectangle 19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97" name="Group 196"/>
          <p:cNvGrpSpPr/>
          <p:nvPr/>
        </p:nvGrpSpPr>
        <p:grpSpPr>
          <a:xfrm>
            <a:off x="8891010" y="2325831"/>
            <a:ext cx="1400614" cy="1226567"/>
            <a:chOff x="5777829" y="2332303"/>
            <a:chExt cx="1400614" cy="1226567"/>
          </a:xfrm>
        </p:grpSpPr>
        <p:grpSp>
          <p:nvGrpSpPr>
            <p:cNvPr id="198" name="Group 197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200" name="Group 199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02" name="Group 201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04" name="Straight Connector 203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5" name="Straight Connector 204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6" name="Straight Connector 205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7" name="Straight Arrow Connector 206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03" name="Rectangle 202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1" name="Rectangle 200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9" name="Rectangle 198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8" name="Group 207"/>
          <p:cNvGrpSpPr/>
          <p:nvPr/>
        </p:nvGrpSpPr>
        <p:grpSpPr>
          <a:xfrm>
            <a:off x="8281827" y="2663657"/>
            <a:ext cx="1395501" cy="529915"/>
            <a:chOff x="5168646" y="2670129"/>
            <a:chExt cx="1395501" cy="529915"/>
          </a:xfrm>
        </p:grpSpPr>
        <p:grpSp>
          <p:nvGrpSpPr>
            <p:cNvPr id="230" name="Group 229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243" name="Group 242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51" name="Group 250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57" name="Straight Connector 256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8" name="Straight Connector 257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1" name="Straight Connector 260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4" name="Straight Arrow Connector 263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56" name="Rectangle 255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50" name="Rectangle 249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35" name="Rectangle 234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5" name="Group 264"/>
          <p:cNvGrpSpPr/>
          <p:nvPr/>
        </p:nvGrpSpPr>
        <p:grpSpPr>
          <a:xfrm>
            <a:off x="10651908" y="3047213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66" name="Rectangle 265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TextBox 26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268" name="Group 267"/>
          <p:cNvGrpSpPr/>
          <p:nvPr/>
        </p:nvGrpSpPr>
        <p:grpSpPr>
          <a:xfrm>
            <a:off x="3831996" y="1741753"/>
            <a:ext cx="710685" cy="1299735"/>
            <a:chOff x="9255775" y="1750144"/>
            <a:chExt cx="710685" cy="1299735"/>
          </a:xfrm>
        </p:grpSpPr>
        <p:cxnSp>
          <p:nvCxnSpPr>
            <p:cNvPr id="269" name="Straight Arrow Connector 268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0" name="TextBox 269"/>
            <p:cNvSpPr txBox="1"/>
            <p:nvPr/>
          </p:nvSpPr>
          <p:spPr>
            <a:xfrm>
              <a:off x="9255775" y="1750144"/>
              <a:ext cx="710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temp           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4202966" y="2467780"/>
            <a:ext cx="3278574" cy="8038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3835879" y="3062433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45" name="Rectangle 4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grpSp>
        <p:nvGrpSpPr>
          <p:cNvPr id="271" name="Group 270"/>
          <p:cNvGrpSpPr/>
          <p:nvPr/>
        </p:nvGrpSpPr>
        <p:grpSpPr>
          <a:xfrm>
            <a:off x="5798231" y="3060939"/>
            <a:ext cx="801599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72" name="Rectangle 27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TextBox 272"/>
            <p:cNvSpPr txBox="1"/>
            <p:nvPr/>
          </p:nvSpPr>
          <p:spPr>
            <a:xfrm>
              <a:off x="11659401" y="2247849"/>
              <a:ext cx="482848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key           </a:t>
              </a:r>
            </a:p>
          </p:txBody>
        </p:sp>
      </p:grpSp>
      <p:grpSp>
        <p:nvGrpSpPr>
          <p:cNvPr id="274" name="Group 273"/>
          <p:cNvGrpSpPr/>
          <p:nvPr/>
        </p:nvGrpSpPr>
        <p:grpSpPr>
          <a:xfrm>
            <a:off x="6345180" y="3057135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75" name="Rectangle 27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TextBox 275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4811472" y="2333442"/>
            <a:ext cx="3289210" cy="1226567"/>
            <a:chOff x="5777829" y="2332303"/>
            <a:chExt cx="1400614" cy="1226567"/>
          </a:xfrm>
        </p:grpSpPr>
        <p:grpSp>
          <p:nvGrpSpPr>
            <p:cNvPr id="218" name="Group 217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219" name="Group 21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21" name="Group 220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23" name="Straight Connector 222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Straight Connector 223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Straight Connector 224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Straight Arrow Connector 225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2" name="Rectangle 221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0" name="Rectangle 219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8" name="Rectangle 247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9" name="Group 178"/>
          <p:cNvGrpSpPr/>
          <p:nvPr/>
        </p:nvGrpSpPr>
        <p:grpSpPr>
          <a:xfrm>
            <a:off x="7348528" y="3054823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0" name="Rectangle 17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sp>
        <p:nvSpPr>
          <p:cNvPr id="294" name="TextBox 293"/>
          <p:cNvSpPr txBox="1"/>
          <p:nvPr/>
        </p:nvSpPr>
        <p:spPr>
          <a:xfrm>
            <a:off x="4110325" y="5457883"/>
            <a:ext cx="3148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temp -&gt;R -&gt; L = </a:t>
            </a:r>
            <a:r>
              <a:rPr lang="en-US" dirty="0" err="1">
                <a:latin typeface="Calisto MT" panose="02040603050505030304" pitchFamily="18" charset="0"/>
              </a:rPr>
              <a:t>newNode</a:t>
            </a:r>
            <a:r>
              <a:rPr lang="en-US" dirty="0">
                <a:latin typeface="Calisto MT" panose="02040603050505030304" pitchFamily="18" charset="0"/>
              </a:rPr>
              <a:t>;</a:t>
            </a:r>
          </a:p>
        </p:txBody>
      </p:sp>
      <p:grpSp>
        <p:nvGrpSpPr>
          <p:cNvPr id="296" name="Group 295"/>
          <p:cNvGrpSpPr/>
          <p:nvPr/>
        </p:nvGrpSpPr>
        <p:grpSpPr>
          <a:xfrm>
            <a:off x="6558898" y="2629945"/>
            <a:ext cx="1296594" cy="510853"/>
            <a:chOff x="3762319" y="2044155"/>
            <a:chExt cx="1296594" cy="848353"/>
          </a:xfrm>
        </p:grpSpPr>
        <p:grpSp>
          <p:nvGrpSpPr>
            <p:cNvPr id="298" name="Group 297"/>
            <p:cNvGrpSpPr/>
            <p:nvPr/>
          </p:nvGrpSpPr>
          <p:grpSpPr>
            <a:xfrm>
              <a:off x="3871045" y="2044155"/>
              <a:ext cx="1187868" cy="848353"/>
              <a:chOff x="3871045" y="2044155"/>
              <a:chExt cx="1187868" cy="848353"/>
            </a:xfrm>
          </p:grpSpPr>
          <p:grpSp>
            <p:nvGrpSpPr>
              <p:cNvPr id="300" name="Group 299"/>
              <p:cNvGrpSpPr/>
              <p:nvPr/>
            </p:nvGrpSpPr>
            <p:grpSpPr>
              <a:xfrm>
                <a:off x="3871045" y="2110184"/>
                <a:ext cx="1072749" cy="782324"/>
                <a:chOff x="4153056" y="2084547"/>
                <a:chExt cx="1072749" cy="782324"/>
              </a:xfrm>
            </p:grpSpPr>
            <p:cxnSp>
              <p:nvCxnSpPr>
                <p:cNvPr id="303" name="Straight Connector 302"/>
                <p:cNvCxnSpPr/>
                <p:nvPr/>
              </p:nvCxnSpPr>
              <p:spPr>
                <a:xfrm flipV="1">
                  <a:off x="4153056" y="2141768"/>
                  <a:ext cx="0" cy="725103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Straight Connector 303"/>
                <p:cNvCxnSpPr/>
                <p:nvPr/>
              </p:nvCxnSpPr>
              <p:spPr>
                <a:xfrm>
                  <a:off x="4153056" y="2167615"/>
                  <a:ext cx="1072749" cy="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Arrow Connector 304"/>
                <p:cNvCxnSpPr/>
                <p:nvPr/>
              </p:nvCxnSpPr>
              <p:spPr>
                <a:xfrm>
                  <a:off x="5225805" y="2084547"/>
                  <a:ext cx="0" cy="664196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1" name="Rectangle 300"/>
              <p:cNvSpPr/>
              <p:nvPr/>
            </p:nvSpPr>
            <p:spPr>
              <a:xfrm>
                <a:off x="4796753" y="2044155"/>
                <a:ext cx="262160" cy="284981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9" name="Rectangle 298"/>
            <p:cNvSpPr/>
            <p:nvPr/>
          </p:nvSpPr>
          <p:spPr>
            <a:xfrm>
              <a:off x="3762319" y="2052104"/>
              <a:ext cx="237700" cy="28402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3" name="Group 282"/>
          <p:cNvGrpSpPr/>
          <p:nvPr/>
        </p:nvGrpSpPr>
        <p:grpSpPr>
          <a:xfrm>
            <a:off x="6301831" y="2449802"/>
            <a:ext cx="1136801" cy="895103"/>
            <a:chOff x="2845746" y="2677738"/>
            <a:chExt cx="1693315" cy="525765"/>
          </a:xfrm>
        </p:grpSpPr>
        <p:grpSp>
          <p:nvGrpSpPr>
            <p:cNvPr id="284" name="Group 283"/>
            <p:cNvGrpSpPr/>
            <p:nvPr/>
          </p:nvGrpSpPr>
          <p:grpSpPr>
            <a:xfrm>
              <a:off x="2845746" y="2677738"/>
              <a:ext cx="1693315" cy="477141"/>
              <a:chOff x="2854292" y="2477697"/>
              <a:chExt cx="1693315" cy="477141"/>
            </a:xfrm>
          </p:grpSpPr>
          <p:grpSp>
            <p:nvGrpSpPr>
              <p:cNvPr id="286" name="Group 285"/>
              <p:cNvGrpSpPr/>
              <p:nvPr/>
            </p:nvGrpSpPr>
            <p:grpSpPr>
              <a:xfrm>
                <a:off x="2982302" y="2481946"/>
                <a:ext cx="1565305" cy="472892"/>
                <a:chOff x="2982302" y="2481946"/>
                <a:chExt cx="1565305" cy="472892"/>
              </a:xfrm>
            </p:grpSpPr>
            <p:grpSp>
              <p:nvGrpSpPr>
                <p:cNvPr id="288" name="Group 287"/>
                <p:cNvGrpSpPr/>
                <p:nvPr/>
              </p:nvGrpSpPr>
              <p:grpSpPr>
                <a:xfrm>
                  <a:off x="2982302" y="2525350"/>
                  <a:ext cx="1565305" cy="429488"/>
                  <a:chOff x="3264313" y="2499713"/>
                  <a:chExt cx="1565305" cy="429488"/>
                </a:xfrm>
              </p:grpSpPr>
              <p:cxnSp>
                <p:nvCxnSpPr>
                  <p:cNvPr id="290" name="Straight Connector 289"/>
                  <p:cNvCxnSpPr/>
                  <p:nvPr/>
                </p:nvCxnSpPr>
                <p:spPr>
                  <a:xfrm flipH="1">
                    <a:off x="4375447" y="2921591"/>
                    <a:ext cx="454171" cy="7610"/>
                  </a:xfrm>
                  <a:prstGeom prst="line">
                    <a:avLst/>
                  </a:prstGeom>
                  <a:ln w="5715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1" name="Straight Connector 290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5715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2" name="Straight Connector 291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5715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3" name="Straight Arrow Connector 292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5715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89" name="Rectangle 288"/>
                <p:cNvSpPr/>
                <p:nvPr/>
              </p:nvSpPr>
              <p:spPr>
                <a:xfrm>
                  <a:off x="3955234" y="2481946"/>
                  <a:ext cx="282644" cy="103001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87" name="Rectangle 286"/>
              <p:cNvSpPr/>
              <p:nvPr/>
            </p:nvSpPr>
            <p:spPr>
              <a:xfrm>
                <a:off x="2854292" y="2477697"/>
                <a:ext cx="284857" cy="109278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5" name="Rectangle 284"/>
            <p:cNvSpPr/>
            <p:nvPr/>
          </p:nvSpPr>
          <p:spPr>
            <a:xfrm>
              <a:off x="4007433" y="3092770"/>
              <a:ext cx="260941" cy="110733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591133" y="2256764"/>
            <a:ext cx="3627218" cy="1385900"/>
            <a:chOff x="4591133" y="2256764"/>
            <a:chExt cx="3627218" cy="1385900"/>
          </a:xfrm>
        </p:grpSpPr>
        <p:sp>
          <p:nvSpPr>
            <p:cNvPr id="306" name="Rectangle 305"/>
            <p:cNvSpPr/>
            <p:nvPr/>
          </p:nvSpPr>
          <p:spPr>
            <a:xfrm>
              <a:off x="4591133" y="3365732"/>
              <a:ext cx="994910" cy="2769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Rectangle 306"/>
            <p:cNvSpPr/>
            <p:nvPr/>
          </p:nvSpPr>
          <p:spPr>
            <a:xfrm>
              <a:off x="5276626" y="2256764"/>
              <a:ext cx="591239" cy="7936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Rectangle 307"/>
            <p:cNvSpPr/>
            <p:nvPr/>
          </p:nvSpPr>
          <p:spPr>
            <a:xfrm>
              <a:off x="5732494" y="2269676"/>
              <a:ext cx="2400457" cy="2113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" name="Rectangle 308"/>
            <p:cNvSpPr/>
            <p:nvPr/>
          </p:nvSpPr>
          <p:spPr>
            <a:xfrm>
              <a:off x="7903081" y="2354723"/>
              <a:ext cx="315270" cy="6851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4382828" y="3058629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9" name="Rectangle 4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280" name="Group 279"/>
          <p:cNvGrpSpPr/>
          <p:nvPr/>
        </p:nvGrpSpPr>
        <p:grpSpPr>
          <a:xfrm>
            <a:off x="5577536" y="1776578"/>
            <a:ext cx="1172143" cy="1298326"/>
            <a:chOff x="9053819" y="1751553"/>
            <a:chExt cx="1172143" cy="1298326"/>
          </a:xfrm>
        </p:grpSpPr>
        <p:cxnSp>
          <p:nvCxnSpPr>
            <p:cNvPr id="281" name="Straight Arrow Connector 280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2" name="TextBox 281"/>
            <p:cNvSpPr txBox="1"/>
            <p:nvPr/>
          </p:nvSpPr>
          <p:spPr>
            <a:xfrm>
              <a:off x="9053819" y="1751553"/>
              <a:ext cx="11721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sto MT" panose="02040603050505030304" pitchFamily="18" charset="0"/>
                </a:rPr>
                <a:t>newNode</a:t>
              </a:r>
              <a:r>
                <a:rPr lang="en-US" dirty="0">
                  <a:latin typeface="Calisto MT" panose="02040603050505030304" pitchFamily="18" charset="0"/>
                </a:rPr>
                <a:t>           </a:t>
              </a:r>
            </a:p>
          </p:txBody>
        </p:sp>
      </p:grpSp>
      <p:grpSp>
        <p:nvGrpSpPr>
          <p:cNvPr id="277" name="Group 276"/>
          <p:cNvGrpSpPr/>
          <p:nvPr/>
        </p:nvGrpSpPr>
        <p:grpSpPr>
          <a:xfrm>
            <a:off x="5245455" y="3057134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78" name="Rectangle 27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310" name="Group 309"/>
          <p:cNvGrpSpPr/>
          <p:nvPr/>
        </p:nvGrpSpPr>
        <p:grpSpPr>
          <a:xfrm>
            <a:off x="4680337" y="2637324"/>
            <a:ext cx="1296594" cy="510853"/>
            <a:chOff x="3762319" y="2044155"/>
            <a:chExt cx="1296594" cy="848353"/>
          </a:xfrm>
        </p:grpSpPr>
        <p:grpSp>
          <p:nvGrpSpPr>
            <p:cNvPr id="311" name="Group 310"/>
            <p:cNvGrpSpPr/>
            <p:nvPr/>
          </p:nvGrpSpPr>
          <p:grpSpPr>
            <a:xfrm>
              <a:off x="3871045" y="2044155"/>
              <a:ext cx="1187868" cy="848353"/>
              <a:chOff x="3871045" y="2044155"/>
              <a:chExt cx="1187868" cy="848353"/>
            </a:xfrm>
          </p:grpSpPr>
          <p:grpSp>
            <p:nvGrpSpPr>
              <p:cNvPr id="313" name="Group 312"/>
              <p:cNvGrpSpPr/>
              <p:nvPr/>
            </p:nvGrpSpPr>
            <p:grpSpPr>
              <a:xfrm>
                <a:off x="3871045" y="2110184"/>
                <a:ext cx="1072749" cy="782324"/>
                <a:chOff x="4153056" y="2084547"/>
                <a:chExt cx="1072749" cy="782324"/>
              </a:xfrm>
            </p:grpSpPr>
            <p:cxnSp>
              <p:nvCxnSpPr>
                <p:cNvPr id="315" name="Straight Connector 314"/>
                <p:cNvCxnSpPr/>
                <p:nvPr/>
              </p:nvCxnSpPr>
              <p:spPr>
                <a:xfrm flipV="1">
                  <a:off x="4153056" y="2141768"/>
                  <a:ext cx="0" cy="725103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6" name="Straight Connector 315"/>
                <p:cNvCxnSpPr/>
                <p:nvPr/>
              </p:nvCxnSpPr>
              <p:spPr>
                <a:xfrm>
                  <a:off x="4153056" y="2167615"/>
                  <a:ext cx="1072749" cy="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Straight Arrow Connector 316"/>
                <p:cNvCxnSpPr/>
                <p:nvPr/>
              </p:nvCxnSpPr>
              <p:spPr>
                <a:xfrm>
                  <a:off x="5225805" y="2084547"/>
                  <a:ext cx="0" cy="664196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4" name="Rectangle 313"/>
              <p:cNvSpPr/>
              <p:nvPr/>
            </p:nvSpPr>
            <p:spPr>
              <a:xfrm>
                <a:off x="4796753" y="2044155"/>
                <a:ext cx="262160" cy="284981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2" name="Rectangle 311"/>
            <p:cNvSpPr/>
            <p:nvPr/>
          </p:nvSpPr>
          <p:spPr>
            <a:xfrm>
              <a:off x="3762319" y="2052104"/>
              <a:ext cx="237700" cy="28402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1" name="Group 150"/>
          <p:cNvGrpSpPr/>
          <p:nvPr/>
        </p:nvGrpSpPr>
        <p:grpSpPr>
          <a:xfrm>
            <a:off x="4556802" y="2382410"/>
            <a:ext cx="821664" cy="941905"/>
            <a:chOff x="2845746" y="2677738"/>
            <a:chExt cx="1693315" cy="525765"/>
          </a:xfrm>
        </p:grpSpPr>
        <p:grpSp>
          <p:nvGrpSpPr>
            <p:cNvPr id="152" name="Group 151"/>
            <p:cNvGrpSpPr/>
            <p:nvPr/>
          </p:nvGrpSpPr>
          <p:grpSpPr>
            <a:xfrm>
              <a:off x="2845746" y="2677738"/>
              <a:ext cx="1693315" cy="477141"/>
              <a:chOff x="2854292" y="2477697"/>
              <a:chExt cx="1693315" cy="477141"/>
            </a:xfrm>
          </p:grpSpPr>
          <p:grpSp>
            <p:nvGrpSpPr>
              <p:cNvPr id="154" name="Group 153"/>
              <p:cNvGrpSpPr/>
              <p:nvPr/>
            </p:nvGrpSpPr>
            <p:grpSpPr>
              <a:xfrm>
                <a:off x="2982302" y="2481946"/>
                <a:ext cx="1565305" cy="472892"/>
                <a:chOff x="2982302" y="2481946"/>
                <a:chExt cx="1565305" cy="472892"/>
              </a:xfrm>
            </p:grpSpPr>
            <p:grpSp>
              <p:nvGrpSpPr>
                <p:cNvPr id="156" name="Group 155"/>
                <p:cNvGrpSpPr/>
                <p:nvPr/>
              </p:nvGrpSpPr>
              <p:grpSpPr>
                <a:xfrm>
                  <a:off x="2982302" y="2525350"/>
                  <a:ext cx="1565305" cy="429488"/>
                  <a:chOff x="3264313" y="2499713"/>
                  <a:chExt cx="1565305" cy="429488"/>
                </a:xfrm>
              </p:grpSpPr>
              <p:cxnSp>
                <p:nvCxnSpPr>
                  <p:cNvPr id="158" name="Straight Connector 157"/>
                  <p:cNvCxnSpPr/>
                  <p:nvPr/>
                </p:nvCxnSpPr>
                <p:spPr>
                  <a:xfrm flipH="1">
                    <a:off x="4375447" y="2921591"/>
                    <a:ext cx="454171" cy="7610"/>
                  </a:xfrm>
                  <a:prstGeom prst="line">
                    <a:avLst/>
                  </a:prstGeom>
                  <a:ln w="5715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Straight Connector 158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5715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" name="Straight Connector 159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5715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Arrow Connector 161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5715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7" name="Rectangle 156"/>
                <p:cNvSpPr/>
                <p:nvPr/>
              </p:nvSpPr>
              <p:spPr>
                <a:xfrm>
                  <a:off x="3955234" y="2481946"/>
                  <a:ext cx="282644" cy="103001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5" name="Rectangle 154"/>
              <p:cNvSpPr/>
              <p:nvPr/>
            </p:nvSpPr>
            <p:spPr>
              <a:xfrm>
                <a:off x="2854292" y="2477697"/>
                <a:ext cx="284857" cy="109278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3" name="Rectangle 152"/>
            <p:cNvSpPr/>
            <p:nvPr/>
          </p:nvSpPr>
          <p:spPr>
            <a:xfrm>
              <a:off x="4007433" y="3092770"/>
              <a:ext cx="260941" cy="110733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8" name="TextBox 317"/>
          <p:cNvSpPr txBox="1"/>
          <p:nvPr/>
        </p:nvSpPr>
        <p:spPr>
          <a:xfrm>
            <a:off x="4048495" y="5753834"/>
            <a:ext cx="2526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sto MT" panose="02040603050505030304" pitchFamily="18" charset="0"/>
              </a:rPr>
              <a:t>newNode</a:t>
            </a:r>
            <a:r>
              <a:rPr lang="en-US" dirty="0">
                <a:latin typeface="Calisto MT" panose="02040603050505030304" pitchFamily="18" charset="0"/>
              </a:rPr>
              <a:t>-&gt;key = </a:t>
            </a:r>
            <a:r>
              <a:rPr lang="en-US" dirty="0" err="1">
                <a:latin typeface="Calisto MT" panose="02040603050505030304" pitchFamily="18" charset="0"/>
              </a:rPr>
              <a:t>nV</a:t>
            </a:r>
            <a:r>
              <a:rPr lang="en-US" dirty="0">
                <a:latin typeface="Calisto MT" panose="02040603050505030304" pitchFamily="18" charset="0"/>
              </a:rPr>
              <a:t>;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6505111" y="3752256"/>
            <a:ext cx="1817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alisto MT" panose="02040603050505030304" pitchFamily="18" charset="0"/>
              </a:rPr>
              <a:t>Corner Case</a:t>
            </a:r>
          </a:p>
        </p:txBody>
      </p:sp>
      <p:grpSp>
        <p:nvGrpSpPr>
          <p:cNvPr id="320" name="Group 319"/>
          <p:cNvGrpSpPr/>
          <p:nvPr/>
        </p:nvGrpSpPr>
        <p:grpSpPr>
          <a:xfrm>
            <a:off x="5806450" y="3061667"/>
            <a:ext cx="548893" cy="548893"/>
            <a:chOff x="11643107" y="2158069"/>
            <a:chExt cx="548893" cy="548893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321" name="Rectangle 32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TextBox 321"/>
            <p:cNvSpPr txBox="1"/>
            <p:nvPr/>
          </p:nvSpPr>
          <p:spPr>
            <a:xfrm>
              <a:off x="11690145" y="2261199"/>
              <a:ext cx="490092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sto MT" panose="02040603050505030304" pitchFamily="18" charset="0"/>
                </a:rPr>
                <a:t>nV</a:t>
              </a:r>
              <a:r>
                <a:rPr lang="en-US" dirty="0">
                  <a:latin typeface="Calisto MT" panose="02040603050505030304" pitchFamily="18" charset="0"/>
                </a:rPr>
                <a:t>           </a:t>
              </a:r>
            </a:p>
          </p:txBody>
        </p:sp>
      </p:grpSp>
      <p:sp>
        <p:nvSpPr>
          <p:cNvPr id="323" name="TextBox 322"/>
          <p:cNvSpPr txBox="1"/>
          <p:nvPr/>
        </p:nvSpPr>
        <p:spPr>
          <a:xfrm>
            <a:off x="6527174" y="5751913"/>
            <a:ext cx="2526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return true;</a:t>
            </a:r>
          </a:p>
        </p:txBody>
      </p:sp>
    </p:spTree>
    <p:extLst>
      <p:ext uri="{BB962C8B-B14F-4D97-AF65-F5344CB8AC3E}">
        <p14:creationId xmlns:p14="http://schemas.microsoft.com/office/powerpoint/2010/main" val="392721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" grpId="0"/>
      <p:bldP spid="259" grpId="0"/>
      <p:bldP spid="260" grpId="0"/>
      <p:bldP spid="184" grpId="0"/>
      <p:bldP spid="10" grpId="0" animBg="1"/>
      <p:bldP spid="294" grpId="0"/>
      <p:bldP spid="318" grpId="0"/>
      <p:bldP spid="319" grpId="0"/>
      <p:bldP spid="3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 After First Occurrence</a:t>
            </a:r>
          </a:p>
        </p:txBody>
      </p:sp>
      <p:grpSp>
        <p:nvGrpSpPr>
          <p:cNvPr id="130" name="Group 129"/>
          <p:cNvGrpSpPr/>
          <p:nvPr/>
        </p:nvGrpSpPr>
        <p:grpSpPr>
          <a:xfrm>
            <a:off x="1104450" y="3752210"/>
            <a:ext cx="5475090" cy="2582209"/>
            <a:chOff x="1003736" y="3682675"/>
            <a:chExt cx="3245724" cy="2582209"/>
          </a:xfrm>
        </p:grpSpPr>
        <p:sp>
          <p:nvSpPr>
            <p:cNvPr id="131" name="TextBox 130"/>
            <p:cNvSpPr txBox="1"/>
            <p:nvPr/>
          </p:nvSpPr>
          <p:spPr>
            <a:xfrm>
              <a:off x="1003736" y="3682675"/>
              <a:ext cx="3245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sto MT" panose="02040603050505030304" pitchFamily="18" charset="0"/>
                </a:rPr>
                <a:t>bool</a:t>
              </a:r>
              <a:r>
                <a:rPr lang="en-US" dirty="0">
                  <a:latin typeface="Calisto MT" panose="02040603050505030304" pitchFamily="18" charset="0"/>
                </a:rPr>
                <a:t> </a:t>
              </a:r>
              <a:r>
                <a:rPr lang="en-US" dirty="0" err="1">
                  <a:latin typeface="Calisto MT" panose="02040603050505030304" pitchFamily="18" charset="0"/>
                </a:rPr>
                <a:t>insertAfterFirstOccurrence</a:t>
              </a:r>
              <a:r>
                <a:rPr lang="en-US" dirty="0">
                  <a:latin typeface="Calisto MT" panose="02040603050505030304" pitchFamily="18" charset="0"/>
                </a:rPr>
                <a:t>(</a:t>
              </a:r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 v, </a:t>
              </a:r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 </a:t>
              </a:r>
              <a:r>
                <a:rPr lang="en-US" dirty="0" err="1">
                  <a:latin typeface="Calisto MT" panose="02040603050505030304" pitchFamily="18" charset="0"/>
                </a:rPr>
                <a:t>nV</a:t>
              </a:r>
              <a:r>
                <a:rPr lang="en-US" dirty="0">
                  <a:latin typeface="Calisto MT" panose="02040603050505030304" pitchFamily="18" charset="0"/>
                </a:rPr>
                <a:t>){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1003736" y="5895552"/>
              <a:ext cx="41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sp>
        <p:nvSpPr>
          <p:cNvPr id="133" name="TextBox 132"/>
          <p:cNvSpPr txBox="1"/>
          <p:nvPr/>
        </p:nvSpPr>
        <p:spPr>
          <a:xfrm>
            <a:off x="1517133" y="4079198"/>
            <a:ext cx="5407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*temp = </a:t>
            </a:r>
            <a:r>
              <a:rPr lang="en-US" dirty="0" err="1">
                <a:latin typeface="Calisto MT" panose="02040603050505030304" pitchFamily="18" charset="0"/>
              </a:rPr>
              <a:t>findFirstOccurrence</a:t>
            </a:r>
            <a:r>
              <a:rPr lang="en-US" dirty="0">
                <a:latin typeface="Calisto MT" panose="02040603050505030304" pitchFamily="18" charset="0"/>
              </a:rPr>
              <a:t>(v);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517133" y="4412032"/>
            <a:ext cx="5407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if(temp==NULL)    return false;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511256" y="4778481"/>
            <a:ext cx="4876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if(temp==tail)  {</a:t>
            </a:r>
            <a:r>
              <a:rPr lang="en-US" dirty="0" err="1">
                <a:latin typeface="Calisto MT" panose="02040603050505030304" pitchFamily="18" charset="0"/>
              </a:rPr>
              <a:t>insertAtLast</a:t>
            </a:r>
            <a:r>
              <a:rPr lang="en-US" dirty="0">
                <a:latin typeface="Calisto MT" panose="02040603050505030304" pitchFamily="18" charset="0"/>
              </a:rPr>
              <a:t>(</a:t>
            </a:r>
            <a:r>
              <a:rPr lang="en-US" dirty="0" err="1">
                <a:latin typeface="Calisto MT" panose="02040603050505030304" pitchFamily="18" charset="0"/>
              </a:rPr>
              <a:t>nV</a:t>
            </a:r>
            <a:r>
              <a:rPr lang="en-US" dirty="0">
                <a:latin typeface="Calisto MT" panose="02040603050505030304" pitchFamily="18" charset="0"/>
              </a:rPr>
              <a:t>);  return  true;}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511256" y="5135954"/>
            <a:ext cx="5091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*</a:t>
            </a:r>
            <a:r>
              <a:rPr lang="en-US" dirty="0" err="1">
                <a:latin typeface="Calisto MT" panose="02040603050505030304" pitchFamily="18" charset="0"/>
              </a:rPr>
              <a:t>newNode</a:t>
            </a:r>
            <a:r>
              <a:rPr lang="en-US" dirty="0">
                <a:latin typeface="Calisto MT" panose="02040603050505030304" pitchFamily="18" charset="0"/>
              </a:rPr>
              <a:t> = (Node*)</a:t>
            </a:r>
            <a:r>
              <a:rPr lang="en-US" dirty="0" err="1">
                <a:latin typeface="Calisto MT" panose="02040603050505030304" pitchFamily="18" charset="0"/>
              </a:rPr>
              <a:t>malloc</a:t>
            </a:r>
            <a:r>
              <a:rPr lang="en-US" dirty="0">
                <a:latin typeface="Calisto MT" panose="02040603050505030304" pitchFamily="18" charset="0"/>
              </a:rPr>
              <a:t>(</a:t>
            </a:r>
            <a:r>
              <a:rPr lang="en-US" dirty="0" err="1">
                <a:latin typeface="Calisto MT" panose="02040603050505030304" pitchFamily="18" charset="0"/>
              </a:rPr>
              <a:t>sizeof</a:t>
            </a:r>
            <a:r>
              <a:rPr lang="en-US" dirty="0">
                <a:latin typeface="Calisto MT" panose="02040603050505030304" pitchFamily="18" charset="0"/>
              </a:rPr>
              <a:t>(Node));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527320" y="5443764"/>
            <a:ext cx="263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sto MT" panose="02040603050505030304" pitchFamily="18" charset="0"/>
              </a:rPr>
              <a:t>newNode</a:t>
            </a:r>
            <a:r>
              <a:rPr lang="en-US" dirty="0">
                <a:latin typeface="Calisto MT" panose="02040603050505030304" pitchFamily="18" charset="0"/>
              </a:rPr>
              <a:t> -&gt; L = temp;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7201523" y="5457883"/>
            <a:ext cx="2816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sto MT" panose="02040603050505030304" pitchFamily="18" charset="0"/>
              </a:rPr>
              <a:t>newNode</a:t>
            </a:r>
            <a:r>
              <a:rPr lang="en-US" dirty="0">
                <a:latin typeface="Calisto MT" panose="02040603050505030304" pitchFamily="18" charset="0"/>
              </a:rPr>
              <a:t>-&gt;R = temp-&gt;R;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19</a:t>
            </a:fld>
            <a:endParaRPr lang="en-US"/>
          </a:p>
        </p:txBody>
      </p:sp>
      <p:sp>
        <p:nvSpPr>
          <p:cNvPr id="184" name="TextBox 183"/>
          <p:cNvSpPr txBox="1"/>
          <p:nvPr/>
        </p:nvSpPr>
        <p:spPr>
          <a:xfrm>
            <a:off x="1511859" y="5757657"/>
            <a:ext cx="2526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temp-&gt;R  = </a:t>
            </a:r>
            <a:r>
              <a:rPr lang="en-US" dirty="0" err="1">
                <a:latin typeface="Calisto MT" panose="02040603050505030304" pitchFamily="18" charset="0"/>
              </a:rPr>
              <a:t>newNode</a:t>
            </a:r>
            <a:r>
              <a:rPr lang="en-US" dirty="0">
                <a:latin typeface="Calisto MT" panose="02040603050505030304" pitchFamily="18" charset="0"/>
              </a:rPr>
              <a:t>;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4110325" y="5457883"/>
            <a:ext cx="3148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temp -&gt;R -&gt; L = </a:t>
            </a:r>
            <a:r>
              <a:rPr lang="en-US" dirty="0" err="1">
                <a:latin typeface="Calisto MT" panose="02040603050505030304" pitchFamily="18" charset="0"/>
              </a:rPr>
              <a:t>newNode</a:t>
            </a:r>
            <a:r>
              <a:rPr lang="en-US" dirty="0">
                <a:latin typeface="Calisto MT" panose="02040603050505030304" pitchFamily="18" charset="0"/>
              </a:rPr>
              <a:t>;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4048495" y="5753834"/>
            <a:ext cx="2526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sto MT" panose="02040603050505030304" pitchFamily="18" charset="0"/>
              </a:rPr>
              <a:t>newNode</a:t>
            </a:r>
            <a:r>
              <a:rPr lang="en-US" dirty="0">
                <a:latin typeface="Calisto MT" panose="02040603050505030304" pitchFamily="18" charset="0"/>
              </a:rPr>
              <a:t>-&gt;key = </a:t>
            </a:r>
            <a:r>
              <a:rPr lang="en-US" dirty="0" err="1">
                <a:latin typeface="Calisto MT" panose="02040603050505030304" pitchFamily="18" charset="0"/>
              </a:rPr>
              <a:t>nV</a:t>
            </a:r>
            <a:r>
              <a:rPr lang="en-US" dirty="0">
                <a:latin typeface="Calisto MT" panose="02040603050505030304" pitchFamily="18" charset="0"/>
              </a:rPr>
              <a:t>;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6507475" y="3665261"/>
            <a:ext cx="1817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alisto MT" panose="02040603050505030304" pitchFamily="18" charset="0"/>
              </a:rPr>
              <a:t>Corner Case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6527174" y="5751913"/>
            <a:ext cx="2526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return true;</a:t>
            </a:r>
          </a:p>
        </p:txBody>
      </p:sp>
      <p:grpSp>
        <p:nvGrpSpPr>
          <p:cNvPr id="227" name="Group 226"/>
          <p:cNvGrpSpPr/>
          <p:nvPr/>
        </p:nvGrpSpPr>
        <p:grpSpPr>
          <a:xfrm>
            <a:off x="5251645" y="3002754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29" name="Rectangle 22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b           </a:t>
              </a:r>
            </a:p>
          </p:txBody>
        </p:sp>
      </p:grpSp>
      <p:grpSp>
        <p:nvGrpSpPr>
          <p:cNvPr id="234" name="Group 233"/>
          <p:cNvGrpSpPr/>
          <p:nvPr/>
        </p:nvGrpSpPr>
        <p:grpSpPr>
          <a:xfrm>
            <a:off x="5798594" y="2998950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36" name="Rectangle 235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TextBox 23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239" name="Group 238"/>
          <p:cNvGrpSpPr/>
          <p:nvPr/>
        </p:nvGrpSpPr>
        <p:grpSpPr>
          <a:xfrm>
            <a:off x="7447212" y="2998949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40" name="Rectangle 23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grpSp>
        <p:nvGrpSpPr>
          <p:cNvPr id="252" name="Group 251"/>
          <p:cNvGrpSpPr/>
          <p:nvPr/>
        </p:nvGrpSpPr>
        <p:grpSpPr>
          <a:xfrm>
            <a:off x="7994161" y="2995145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95" name="Rectangle 29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TextBox 29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302" name="Group 301"/>
          <p:cNvGrpSpPr/>
          <p:nvPr/>
        </p:nvGrpSpPr>
        <p:grpSpPr>
          <a:xfrm>
            <a:off x="6894436" y="2995144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24" name="Rectangle 32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TextBox 32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326" name="Group 325"/>
          <p:cNvGrpSpPr/>
          <p:nvPr/>
        </p:nvGrpSpPr>
        <p:grpSpPr>
          <a:xfrm>
            <a:off x="9636754" y="2995144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327" name="Rectangle 32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TextBox 32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grpSp>
        <p:nvGrpSpPr>
          <p:cNvPr id="329" name="Group 328"/>
          <p:cNvGrpSpPr/>
          <p:nvPr/>
        </p:nvGrpSpPr>
        <p:grpSpPr>
          <a:xfrm>
            <a:off x="10183703" y="2991340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30" name="Rectangle 32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TextBox 33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332" name="Group 331"/>
          <p:cNvGrpSpPr/>
          <p:nvPr/>
        </p:nvGrpSpPr>
        <p:grpSpPr>
          <a:xfrm>
            <a:off x="9083978" y="2991339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33" name="Rectangle 332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TextBox 333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335" name="Group 334"/>
          <p:cNvGrpSpPr/>
          <p:nvPr/>
        </p:nvGrpSpPr>
        <p:grpSpPr>
          <a:xfrm>
            <a:off x="9775382" y="1687776"/>
            <a:ext cx="617280" cy="1299758"/>
            <a:chOff x="9315288" y="1750121"/>
            <a:chExt cx="617280" cy="1299758"/>
          </a:xfrm>
        </p:grpSpPr>
        <p:cxnSp>
          <p:nvCxnSpPr>
            <p:cNvPr id="336" name="Straight Arrow Connector 335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7" name="TextBox 336"/>
            <p:cNvSpPr txBox="1"/>
            <p:nvPr/>
          </p:nvSpPr>
          <p:spPr>
            <a:xfrm>
              <a:off x="9315288" y="1750121"/>
              <a:ext cx="61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  <p:sp>
        <p:nvSpPr>
          <p:cNvPr id="338" name="TextBox 337"/>
          <p:cNvSpPr txBox="1"/>
          <p:nvPr/>
        </p:nvSpPr>
        <p:spPr>
          <a:xfrm>
            <a:off x="10912458" y="3088729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3646869" y="3084924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340" name="Straight Arrow Connector 339"/>
          <p:cNvCxnSpPr/>
          <p:nvPr/>
        </p:nvCxnSpPr>
        <p:spPr>
          <a:xfrm flipH="1">
            <a:off x="4456684" y="3261980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1" name="Group 340"/>
          <p:cNvGrpSpPr/>
          <p:nvPr/>
        </p:nvGrpSpPr>
        <p:grpSpPr>
          <a:xfrm>
            <a:off x="6236192" y="2270563"/>
            <a:ext cx="1400614" cy="1209475"/>
            <a:chOff x="3591216" y="2332908"/>
            <a:chExt cx="1400614" cy="1209475"/>
          </a:xfrm>
        </p:grpSpPr>
        <p:grpSp>
          <p:nvGrpSpPr>
            <p:cNvPr id="342" name="Group 341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344" name="Group 343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346" name="Group 345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348" name="Straight Connector 347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9" name="Straight Connector 348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0" name="Straight Connector 349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1" name="Straight Arrow Connector 350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47" name="Rectangle 346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45" name="Rectangle 344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3" name="Rectangle 342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2" name="Group 351"/>
          <p:cNvGrpSpPr/>
          <p:nvPr/>
        </p:nvGrpSpPr>
        <p:grpSpPr>
          <a:xfrm>
            <a:off x="8422805" y="2269958"/>
            <a:ext cx="1400614" cy="1226567"/>
            <a:chOff x="5777829" y="2332303"/>
            <a:chExt cx="1400614" cy="1226567"/>
          </a:xfrm>
        </p:grpSpPr>
        <p:grpSp>
          <p:nvGrpSpPr>
            <p:cNvPr id="353" name="Group 352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355" name="Group 354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357" name="Group 356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359" name="Straight Connector 358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0" name="Straight Connector 359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1" name="Straight Connector 360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2" name="Straight Arrow Connector 361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58" name="Rectangle 357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56" name="Rectangle 355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4" name="Rectangle 353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3" name="Group 362"/>
          <p:cNvGrpSpPr/>
          <p:nvPr/>
        </p:nvGrpSpPr>
        <p:grpSpPr>
          <a:xfrm>
            <a:off x="7813622" y="2607784"/>
            <a:ext cx="1395501" cy="529915"/>
            <a:chOff x="5168646" y="2670129"/>
            <a:chExt cx="1395501" cy="529915"/>
          </a:xfrm>
        </p:grpSpPr>
        <p:grpSp>
          <p:nvGrpSpPr>
            <p:cNvPr id="364" name="Group 363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366" name="Group 365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368" name="Group 367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370" name="Straight Connector 369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1" name="Straight Connector 370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2" name="Straight Connector 371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3" name="Straight Arrow Connector 372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69" name="Rectangle 368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367" name="Rectangle 366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365" name="Rectangle 364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74" name="Straight Arrow Connector 373"/>
          <p:cNvCxnSpPr/>
          <p:nvPr/>
        </p:nvCxnSpPr>
        <p:spPr>
          <a:xfrm flipV="1">
            <a:off x="10653524" y="3263580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5" name="Group 374"/>
          <p:cNvGrpSpPr/>
          <p:nvPr/>
        </p:nvGrpSpPr>
        <p:grpSpPr>
          <a:xfrm>
            <a:off x="2541588" y="2971915"/>
            <a:ext cx="548893" cy="548893"/>
            <a:chOff x="11643107" y="2158069"/>
            <a:chExt cx="548893" cy="548893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376" name="Rectangle 375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" name="TextBox 37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grpSp>
        <p:nvGrpSpPr>
          <p:cNvPr id="378" name="Group 377"/>
          <p:cNvGrpSpPr/>
          <p:nvPr/>
        </p:nvGrpSpPr>
        <p:grpSpPr>
          <a:xfrm>
            <a:off x="3088537" y="296811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79" name="Rectangle 37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" name="TextBox 37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381" name="Group 380"/>
          <p:cNvGrpSpPr/>
          <p:nvPr/>
        </p:nvGrpSpPr>
        <p:grpSpPr>
          <a:xfrm>
            <a:off x="1988812" y="2968110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82" name="Rectangle 38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" name="TextBox 38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384" name="Group 383"/>
          <p:cNvGrpSpPr/>
          <p:nvPr/>
        </p:nvGrpSpPr>
        <p:grpSpPr>
          <a:xfrm>
            <a:off x="2426793" y="1660290"/>
            <a:ext cx="729688" cy="1299758"/>
            <a:chOff x="2491874" y="1750121"/>
            <a:chExt cx="729688" cy="1299758"/>
          </a:xfrm>
        </p:grpSpPr>
        <p:cxnSp>
          <p:nvCxnSpPr>
            <p:cNvPr id="385" name="Straight Arrow Connector 384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6" name="TextBox 385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grpSp>
        <p:nvGrpSpPr>
          <p:cNvPr id="387" name="Group 386"/>
          <p:cNvGrpSpPr/>
          <p:nvPr/>
        </p:nvGrpSpPr>
        <p:grpSpPr>
          <a:xfrm>
            <a:off x="2537604" y="2975719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388" name="Rectangle 38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9" name="TextBox 38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sp>
        <p:nvSpPr>
          <p:cNvPr id="390" name="Rectangle 389"/>
          <p:cNvSpPr/>
          <p:nvPr/>
        </p:nvSpPr>
        <p:spPr>
          <a:xfrm>
            <a:off x="3717420" y="3117748"/>
            <a:ext cx="1114461" cy="251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1" name="Group 390"/>
          <p:cNvGrpSpPr/>
          <p:nvPr/>
        </p:nvGrpSpPr>
        <p:grpSpPr>
          <a:xfrm>
            <a:off x="4698869" y="2998949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92" name="Rectangle 39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3" name="TextBox 39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394" name="Group 393"/>
          <p:cNvGrpSpPr/>
          <p:nvPr/>
        </p:nvGrpSpPr>
        <p:grpSpPr>
          <a:xfrm>
            <a:off x="10169520" y="1680085"/>
            <a:ext cx="762540" cy="1299758"/>
            <a:chOff x="5180910" y="1727312"/>
            <a:chExt cx="762540" cy="1299758"/>
          </a:xfrm>
          <a:noFill/>
        </p:grpSpPr>
        <p:sp>
          <p:nvSpPr>
            <p:cNvPr id="395" name="Rectangle 394"/>
            <p:cNvSpPr/>
            <p:nvPr/>
          </p:nvSpPr>
          <p:spPr>
            <a:xfrm>
              <a:off x="5180910" y="1779434"/>
              <a:ext cx="755856" cy="12476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6" name="Group 395"/>
            <p:cNvGrpSpPr/>
            <p:nvPr/>
          </p:nvGrpSpPr>
          <p:grpSpPr>
            <a:xfrm>
              <a:off x="5213762" y="1727312"/>
              <a:ext cx="729688" cy="1299758"/>
              <a:chOff x="2491874" y="1750121"/>
              <a:chExt cx="729688" cy="1299758"/>
            </a:xfrm>
            <a:grpFill/>
          </p:grpSpPr>
          <p:cxnSp>
            <p:nvCxnSpPr>
              <p:cNvPr id="397" name="Straight Arrow Connector 396"/>
              <p:cNvCxnSpPr/>
              <p:nvPr/>
            </p:nvCxnSpPr>
            <p:spPr>
              <a:xfrm flipH="1">
                <a:off x="2796960" y="2076625"/>
                <a:ext cx="3928" cy="973254"/>
              </a:xfrm>
              <a:prstGeom prst="straightConnector1">
                <a:avLst/>
              </a:prstGeom>
              <a:grpFill/>
              <a:ln w="57150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8" name="TextBox 397"/>
              <p:cNvSpPr txBox="1"/>
              <p:nvPr/>
            </p:nvSpPr>
            <p:spPr>
              <a:xfrm>
                <a:off x="2491874" y="1750121"/>
                <a:ext cx="729688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399" name="Group 398"/>
          <p:cNvGrpSpPr/>
          <p:nvPr/>
        </p:nvGrpSpPr>
        <p:grpSpPr>
          <a:xfrm>
            <a:off x="5558757" y="2615394"/>
            <a:ext cx="1395501" cy="528191"/>
            <a:chOff x="2913781" y="2677739"/>
            <a:chExt cx="1395501" cy="528191"/>
          </a:xfrm>
        </p:grpSpPr>
        <p:grpSp>
          <p:nvGrpSpPr>
            <p:cNvPr id="400" name="Group 399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402" name="Group 401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404" name="Group 403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406" name="Straight Connector 405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7" name="Straight Connector 406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8" name="Straight Connector 407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9" name="Straight Arrow Connector 408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05" name="Rectangle 404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03" name="Rectangle 402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1" name="Rectangle 400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0" name="Group 409"/>
          <p:cNvGrpSpPr/>
          <p:nvPr/>
        </p:nvGrpSpPr>
        <p:grpSpPr>
          <a:xfrm>
            <a:off x="3558293" y="2268447"/>
            <a:ext cx="1797330" cy="1209475"/>
            <a:chOff x="3591216" y="2332908"/>
            <a:chExt cx="1400614" cy="1209475"/>
          </a:xfrm>
        </p:grpSpPr>
        <p:grpSp>
          <p:nvGrpSpPr>
            <p:cNvPr id="411" name="Group 410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413" name="Group 412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415" name="Group 414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417" name="Straight Connector 416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8" name="Straight Connector 417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9" name="Straight Connector 418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0" name="Straight Arrow Connector 419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16" name="Rectangle 415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14" name="Rectangle 413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12" name="Rectangle 411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1" name="Group 420"/>
          <p:cNvGrpSpPr/>
          <p:nvPr/>
        </p:nvGrpSpPr>
        <p:grpSpPr>
          <a:xfrm>
            <a:off x="2953582" y="2614594"/>
            <a:ext cx="1812224" cy="528191"/>
            <a:chOff x="2913781" y="2677739"/>
            <a:chExt cx="1395501" cy="528191"/>
          </a:xfrm>
        </p:grpSpPr>
        <p:grpSp>
          <p:nvGrpSpPr>
            <p:cNvPr id="422" name="Group 421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424" name="Group 423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426" name="Group 425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428" name="Straight Connector 427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9" name="Straight Connector 428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0" name="Straight Connector 429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1" name="Straight Arrow Connector 430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27" name="Rectangle 426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25" name="Rectangle 424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23" name="Rectangle 422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2" name="TextBox 431"/>
          <p:cNvSpPr txBox="1"/>
          <p:nvPr/>
        </p:nvSpPr>
        <p:spPr>
          <a:xfrm>
            <a:off x="970791" y="3059624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433" name="Straight Arrow Connector 432"/>
          <p:cNvCxnSpPr/>
          <p:nvPr/>
        </p:nvCxnSpPr>
        <p:spPr>
          <a:xfrm flipH="1">
            <a:off x="1780606" y="3236680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4" name="TextBox 433"/>
          <p:cNvSpPr txBox="1"/>
          <p:nvPr/>
        </p:nvSpPr>
        <p:spPr>
          <a:xfrm>
            <a:off x="6920167" y="3912477"/>
            <a:ext cx="4876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listo MT" panose="02040603050505030304" pitchFamily="18" charset="0"/>
              </a:rPr>
              <a:t>The first occurrence appears as the last node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00331" y="5491337"/>
            <a:ext cx="1576193" cy="3219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5" name="TextBox 434"/>
          <p:cNvSpPr txBox="1"/>
          <p:nvPr/>
        </p:nvSpPr>
        <p:spPr>
          <a:xfrm>
            <a:off x="6927264" y="4202399"/>
            <a:ext cx="4876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listo MT" panose="02040603050505030304" pitchFamily="18" charset="0"/>
              </a:rPr>
              <a:t>temp-&gt;R  indicates the NULL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927264" y="4500369"/>
            <a:ext cx="4876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listo MT" panose="02040603050505030304" pitchFamily="18" charset="0"/>
              </a:rPr>
              <a:t>So, temp-&gt;R-&gt;L indicates  NULL-&gt;L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27264" y="4813623"/>
            <a:ext cx="4876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listo MT" panose="02040603050505030304" pitchFamily="18" charset="0"/>
              </a:rPr>
              <a:t>Which leads runtime error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954258" y="5137424"/>
            <a:ext cx="4876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Calisto MT" panose="02040603050505030304" pitchFamily="18" charset="0"/>
              </a:rPr>
              <a:t>How to solve?</a:t>
            </a:r>
          </a:p>
        </p:txBody>
      </p:sp>
    </p:spTree>
    <p:extLst>
      <p:ext uri="{BB962C8B-B14F-4D97-AF65-F5344CB8AC3E}">
        <p14:creationId xmlns:p14="http://schemas.microsoft.com/office/powerpoint/2010/main" val="413805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/>
      <p:bldP spid="434" grpId="0"/>
      <p:bldP spid="3" grpId="0" animBg="1"/>
      <p:bldP spid="435" grpId="0"/>
      <p:bldP spid="144" grpId="0"/>
      <p:bldP spid="145" grpId="0"/>
      <p:bldP spid="14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 After Last Occurrence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20</a:t>
            </a:fld>
            <a:endParaRPr lang="en-US"/>
          </a:p>
        </p:txBody>
      </p:sp>
      <p:sp>
        <p:nvSpPr>
          <p:cNvPr id="148" name="TextBox 147"/>
          <p:cNvSpPr txBox="1"/>
          <p:nvPr/>
        </p:nvSpPr>
        <p:spPr>
          <a:xfrm>
            <a:off x="1183445" y="1913373"/>
            <a:ext cx="997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alisto MT" panose="02040603050505030304" pitchFamily="18" charset="0"/>
              </a:rPr>
              <a:t>Do it by yourself</a:t>
            </a:r>
          </a:p>
        </p:txBody>
      </p:sp>
    </p:spTree>
    <p:extLst>
      <p:ext uri="{BB962C8B-B14F-4D97-AF65-F5344CB8AC3E}">
        <p14:creationId xmlns:p14="http://schemas.microsoft.com/office/powerpoint/2010/main" val="1639260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Delete  From  First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21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5191824" y="3182216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6" name="Rectangle 5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b           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738773" y="317841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0" name="Rectangle 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387391" y="3178411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angle 12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7934340" y="317460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6" name="Rectangle 15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834615" y="317460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9" name="Rectangle 1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9576933" y="3174606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2" name="Rectangle 2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0123882" y="317080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5" name="Rectangle 2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9024157" y="317080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8" name="Rectangle 2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9649691" y="1858942"/>
            <a:ext cx="617280" cy="1299758"/>
            <a:chOff x="9315288" y="1750121"/>
            <a:chExt cx="617280" cy="1299758"/>
          </a:xfrm>
        </p:grpSpPr>
        <p:cxnSp>
          <p:nvCxnSpPr>
            <p:cNvPr id="31" name="Straight Arrow Connector 30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9315288" y="1750121"/>
              <a:ext cx="61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10852637" y="3268191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87048" y="3264386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4396863" y="3441442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6176371" y="2450025"/>
            <a:ext cx="1400614" cy="1209475"/>
            <a:chOff x="3591216" y="2332908"/>
            <a:chExt cx="1400614" cy="1209475"/>
          </a:xfrm>
        </p:grpSpPr>
        <p:grpSp>
          <p:nvGrpSpPr>
            <p:cNvPr id="37" name="Group 36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39" name="Group 3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41" name="Group 40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43" name="Straight Connector 42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Connector 43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Connector 44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Arrow Connector 45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2" name="Rectangle 41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0" name="Rectangle 39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ectangle 37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8362984" y="2449420"/>
            <a:ext cx="1400614" cy="1226567"/>
            <a:chOff x="5777829" y="2332303"/>
            <a:chExt cx="1400614" cy="1226567"/>
          </a:xfrm>
        </p:grpSpPr>
        <p:grpSp>
          <p:nvGrpSpPr>
            <p:cNvPr id="48" name="Group 47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50" name="Group 49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52" name="Group 51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54" name="Straight Connector 53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Arrow Connector 56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3" name="Rectangle 52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1" name="Rectangle 50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9" name="Rectangle 48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7753801" y="2787246"/>
            <a:ext cx="1395501" cy="529915"/>
            <a:chOff x="5168646" y="2670129"/>
            <a:chExt cx="1395501" cy="529915"/>
          </a:xfrm>
        </p:grpSpPr>
        <p:grpSp>
          <p:nvGrpSpPr>
            <p:cNvPr id="59" name="Group 58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61" name="Group 60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63" name="Group 62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65" name="Straight Connector 64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Straight Connector 66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Arrow Connector 67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4" name="Rectangle 63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62" name="Rectangle 61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60" name="Rectangle 59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/>
          <p:cNvCxnSpPr/>
          <p:nvPr/>
        </p:nvCxnSpPr>
        <p:spPr>
          <a:xfrm flipV="1">
            <a:off x="10593703" y="3443042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oup 69"/>
          <p:cNvGrpSpPr/>
          <p:nvPr/>
        </p:nvGrpSpPr>
        <p:grpSpPr>
          <a:xfrm>
            <a:off x="2481767" y="3151377"/>
            <a:ext cx="548893" cy="548893"/>
            <a:chOff x="11643107" y="2158069"/>
            <a:chExt cx="548893" cy="548893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71" name="Rectangle 7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3028716" y="3147573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74" name="Rectangle 7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1928991" y="314757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77" name="Rectangle 7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2477783" y="3155181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83" name="Rectangle 82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sp>
        <p:nvSpPr>
          <p:cNvPr id="85" name="Rectangle 84"/>
          <p:cNvSpPr/>
          <p:nvPr/>
        </p:nvSpPr>
        <p:spPr>
          <a:xfrm>
            <a:off x="3657599" y="3297210"/>
            <a:ext cx="1114461" cy="251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4" name="Group 93"/>
          <p:cNvGrpSpPr/>
          <p:nvPr/>
        </p:nvGrpSpPr>
        <p:grpSpPr>
          <a:xfrm>
            <a:off x="5498936" y="2794856"/>
            <a:ext cx="1395501" cy="528191"/>
            <a:chOff x="2913781" y="2677739"/>
            <a:chExt cx="1395501" cy="528191"/>
          </a:xfrm>
        </p:grpSpPr>
        <p:grpSp>
          <p:nvGrpSpPr>
            <p:cNvPr id="95" name="Group 94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97" name="Group 96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99" name="Group 98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01" name="Straight Connector 100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Straight Connector 101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Straight Connector 102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Arrow Connector 103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0" name="Rectangle 99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8" name="Rectangle 97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6" name="Rectangle 95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3498472" y="2447909"/>
            <a:ext cx="1797330" cy="1209475"/>
            <a:chOff x="3591216" y="2332908"/>
            <a:chExt cx="1400614" cy="1209475"/>
          </a:xfrm>
        </p:grpSpPr>
        <p:grpSp>
          <p:nvGrpSpPr>
            <p:cNvPr id="106" name="Group 105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108" name="Group 107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10" name="Group 109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12" name="Straight Connector 111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" name="Straight Connector 112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Straight Connector 113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" name="Straight Arrow Connector 114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1" name="Rectangle 110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9" name="Rectangle 108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7" name="Rectangle 106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2893761" y="2794056"/>
            <a:ext cx="1812224" cy="528191"/>
            <a:chOff x="2913781" y="2677739"/>
            <a:chExt cx="1395501" cy="528191"/>
          </a:xfrm>
        </p:grpSpPr>
        <p:grpSp>
          <p:nvGrpSpPr>
            <p:cNvPr id="117" name="Group 116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119" name="Group 118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121" name="Group 120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23" name="Straight Connector 122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Connector 123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Straight Connector 124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Straight Arrow Connector 125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22" name="Rectangle 121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0" name="Rectangle 119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8" name="Rectangle 117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7" name="TextBox 126"/>
          <p:cNvSpPr txBox="1"/>
          <p:nvPr/>
        </p:nvSpPr>
        <p:spPr>
          <a:xfrm>
            <a:off x="910970" y="3239086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128" name="Straight Arrow Connector 127"/>
          <p:cNvCxnSpPr/>
          <p:nvPr/>
        </p:nvCxnSpPr>
        <p:spPr>
          <a:xfrm flipH="1">
            <a:off x="1720785" y="3416142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/>
          <p:cNvGrpSpPr/>
          <p:nvPr/>
        </p:nvGrpSpPr>
        <p:grpSpPr>
          <a:xfrm>
            <a:off x="1097280" y="4023039"/>
            <a:ext cx="5475090" cy="2206324"/>
            <a:chOff x="1003736" y="3682675"/>
            <a:chExt cx="3245724" cy="2206324"/>
          </a:xfrm>
        </p:grpSpPr>
        <p:sp>
          <p:nvSpPr>
            <p:cNvPr id="130" name="TextBox 129"/>
            <p:cNvSpPr txBox="1"/>
            <p:nvPr/>
          </p:nvSpPr>
          <p:spPr>
            <a:xfrm>
              <a:off x="1003736" y="3682675"/>
              <a:ext cx="3245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sto MT" panose="02040603050505030304" pitchFamily="18" charset="0"/>
                </a:rPr>
                <a:t>bool</a:t>
              </a:r>
              <a:r>
                <a:rPr lang="en-US" dirty="0">
                  <a:latin typeface="Calisto MT" panose="02040603050505030304" pitchFamily="18" charset="0"/>
                </a:rPr>
                <a:t> </a:t>
              </a:r>
              <a:r>
                <a:rPr lang="en-US" dirty="0" err="1">
                  <a:latin typeface="Calisto MT" panose="02040603050505030304" pitchFamily="18" charset="0"/>
                </a:rPr>
                <a:t>deleteFromFirst</a:t>
              </a:r>
              <a:r>
                <a:rPr lang="en-US" dirty="0">
                  <a:latin typeface="Calisto MT" panose="02040603050505030304" pitchFamily="18" charset="0"/>
                </a:rPr>
                <a:t>( ){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1003736" y="5519667"/>
              <a:ext cx="41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sp>
        <p:nvSpPr>
          <p:cNvPr id="132" name="TextBox 131"/>
          <p:cNvSpPr txBox="1"/>
          <p:nvPr/>
        </p:nvSpPr>
        <p:spPr>
          <a:xfrm>
            <a:off x="1445651" y="4345691"/>
            <a:ext cx="3425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if(head==NULL)   return  false;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445651" y="4706931"/>
            <a:ext cx="3425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head = head-&gt;R;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88625" y="2056272"/>
            <a:ext cx="4451900" cy="1989346"/>
            <a:chOff x="888625" y="2056272"/>
            <a:chExt cx="4451900" cy="1989346"/>
          </a:xfrm>
        </p:grpSpPr>
        <p:sp>
          <p:nvSpPr>
            <p:cNvPr id="3" name="Rectangle 2"/>
            <p:cNvSpPr/>
            <p:nvPr/>
          </p:nvSpPr>
          <p:spPr>
            <a:xfrm>
              <a:off x="4672881" y="2056272"/>
              <a:ext cx="667644" cy="11082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888625" y="2447909"/>
              <a:ext cx="3867545" cy="15977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2366972" y="1839752"/>
            <a:ext cx="729688" cy="1299758"/>
            <a:chOff x="2491874" y="1750121"/>
            <a:chExt cx="729688" cy="1299758"/>
          </a:xfrm>
        </p:grpSpPr>
        <p:cxnSp>
          <p:nvCxnSpPr>
            <p:cNvPr id="80" name="Straight Arrow Connector 79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4639048" y="317841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87" name="Rectangle 8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sp>
        <p:nvSpPr>
          <p:cNvPr id="137" name="TextBox 136"/>
          <p:cNvSpPr txBox="1"/>
          <p:nvPr/>
        </p:nvSpPr>
        <p:spPr>
          <a:xfrm>
            <a:off x="1445651" y="5066210"/>
            <a:ext cx="3425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free(head-&gt;L);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543909" y="3288446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139" name="Straight Arrow Connector 138"/>
          <p:cNvCxnSpPr/>
          <p:nvPr/>
        </p:nvCxnSpPr>
        <p:spPr>
          <a:xfrm flipH="1">
            <a:off x="4353724" y="3465502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1445651" y="5427450"/>
            <a:ext cx="3425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head-&gt;L = NULL;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445651" y="5772628"/>
            <a:ext cx="3425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return true;</a:t>
            </a:r>
          </a:p>
        </p:txBody>
      </p:sp>
    </p:spTree>
    <p:extLst>
      <p:ext uri="{BB962C8B-B14F-4D97-AF65-F5344CB8AC3E}">
        <p14:creationId xmlns:p14="http://schemas.microsoft.com/office/powerpoint/2010/main" val="1036265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2.96296E-6 L 0.22265 0.0048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33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  <p:bldP spid="137" grpId="0"/>
      <p:bldP spid="138" grpId="0"/>
      <p:bldP spid="140" grpId="0"/>
      <p:bldP spid="14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Delete </a:t>
            </a:r>
            <a:r>
              <a:rPr lang="en-US" b="1"/>
              <a:t>From Last</a:t>
            </a:r>
            <a:endParaRPr lang="en-US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22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5191824" y="3182216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6" name="Rectangle 5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b           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738773" y="317841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0" name="Rectangle 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387391" y="3178411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angle 12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834615" y="317460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9" name="Rectangle 1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9576933" y="3174606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2" name="Rectangle 2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0123882" y="317080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5" name="Rectangle 2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9024157" y="317080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8" name="Rectangle 2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10852637" y="3268191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87048" y="3264386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4396863" y="3441442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6176371" y="2450025"/>
            <a:ext cx="1400614" cy="1209475"/>
            <a:chOff x="3591216" y="2332908"/>
            <a:chExt cx="1400614" cy="1209475"/>
          </a:xfrm>
        </p:grpSpPr>
        <p:grpSp>
          <p:nvGrpSpPr>
            <p:cNvPr id="37" name="Group 36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39" name="Group 3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41" name="Group 40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43" name="Straight Connector 42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Connector 43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Connector 44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Arrow Connector 45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2" name="Rectangle 41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0" name="Rectangle 39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ectangle 37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8362984" y="2449420"/>
            <a:ext cx="1400614" cy="1226567"/>
            <a:chOff x="5777829" y="2332303"/>
            <a:chExt cx="1400614" cy="1226567"/>
          </a:xfrm>
        </p:grpSpPr>
        <p:grpSp>
          <p:nvGrpSpPr>
            <p:cNvPr id="48" name="Group 47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50" name="Group 49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52" name="Group 51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54" name="Straight Connector 53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Arrow Connector 56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3" name="Rectangle 52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1" name="Rectangle 50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9" name="Rectangle 48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7753801" y="2787246"/>
            <a:ext cx="1395501" cy="529915"/>
            <a:chOff x="5168646" y="2670129"/>
            <a:chExt cx="1395501" cy="529915"/>
          </a:xfrm>
        </p:grpSpPr>
        <p:grpSp>
          <p:nvGrpSpPr>
            <p:cNvPr id="59" name="Group 58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61" name="Group 60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63" name="Group 62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65" name="Straight Connector 64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Straight Connector 66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Arrow Connector 67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4" name="Rectangle 63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62" name="Rectangle 61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60" name="Rectangle 59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Straight Arrow Connector 68"/>
          <p:cNvCxnSpPr/>
          <p:nvPr/>
        </p:nvCxnSpPr>
        <p:spPr>
          <a:xfrm flipV="1">
            <a:off x="10593703" y="3443042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oup 69"/>
          <p:cNvGrpSpPr/>
          <p:nvPr/>
        </p:nvGrpSpPr>
        <p:grpSpPr>
          <a:xfrm>
            <a:off x="2481767" y="3151377"/>
            <a:ext cx="548893" cy="548893"/>
            <a:chOff x="11643107" y="2158069"/>
            <a:chExt cx="548893" cy="548893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71" name="Rectangle 7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3028716" y="3147573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74" name="Rectangle 7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1928991" y="314757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77" name="Rectangle 7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2477783" y="3155181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83" name="Rectangle 82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sp>
        <p:nvSpPr>
          <p:cNvPr id="85" name="Rectangle 84"/>
          <p:cNvSpPr/>
          <p:nvPr/>
        </p:nvSpPr>
        <p:spPr>
          <a:xfrm>
            <a:off x="3657599" y="3297210"/>
            <a:ext cx="1114461" cy="251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4" name="Group 93"/>
          <p:cNvGrpSpPr/>
          <p:nvPr/>
        </p:nvGrpSpPr>
        <p:grpSpPr>
          <a:xfrm>
            <a:off x="5498936" y="2794856"/>
            <a:ext cx="1395501" cy="528191"/>
            <a:chOff x="2913781" y="2677739"/>
            <a:chExt cx="1395501" cy="528191"/>
          </a:xfrm>
        </p:grpSpPr>
        <p:grpSp>
          <p:nvGrpSpPr>
            <p:cNvPr id="95" name="Group 94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97" name="Group 96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99" name="Group 98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01" name="Straight Connector 100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Straight Connector 101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Straight Connector 102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Arrow Connector 103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0" name="Rectangle 99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8" name="Rectangle 97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6" name="Rectangle 95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3498472" y="2447909"/>
            <a:ext cx="1797330" cy="1209475"/>
            <a:chOff x="3591216" y="2332908"/>
            <a:chExt cx="1400614" cy="1209475"/>
          </a:xfrm>
        </p:grpSpPr>
        <p:grpSp>
          <p:nvGrpSpPr>
            <p:cNvPr id="106" name="Group 105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108" name="Group 107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10" name="Group 109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12" name="Straight Connector 111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" name="Straight Connector 112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Straight Connector 113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" name="Straight Arrow Connector 114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1" name="Rectangle 110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9" name="Rectangle 108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7" name="Rectangle 106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2893761" y="2794056"/>
            <a:ext cx="1812224" cy="528191"/>
            <a:chOff x="2913781" y="2677739"/>
            <a:chExt cx="1395501" cy="528191"/>
          </a:xfrm>
        </p:grpSpPr>
        <p:grpSp>
          <p:nvGrpSpPr>
            <p:cNvPr id="117" name="Group 116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119" name="Group 118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121" name="Group 120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23" name="Straight Connector 122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Connector 123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Straight Connector 124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Straight Arrow Connector 125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22" name="Rectangle 121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0" name="Rectangle 119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8" name="Rectangle 117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7" name="TextBox 126"/>
          <p:cNvSpPr txBox="1"/>
          <p:nvPr/>
        </p:nvSpPr>
        <p:spPr>
          <a:xfrm>
            <a:off x="910970" y="3239086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128" name="Straight Arrow Connector 127"/>
          <p:cNvCxnSpPr/>
          <p:nvPr/>
        </p:nvCxnSpPr>
        <p:spPr>
          <a:xfrm flipH="1">
            <a:off x="1720785" y="3416142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/>
          <p:cNvGrpSpPr/>
          <p:nvPr/>
        </p:nvGrpSpPr>
        <p:grpSpPr>
          <a:xfrm>
            <a:off x="1097280" y="4023039"/>
            <a:ext cx="5475090" cy="2309596"/>
            <a:chOff x="1003736" y="3682675"/>
            <a:chExt cx="3245724" cy="2309596"/>
          </a:xfrm>
        </p:grpSpPr>
        <p:sp>
          <p:nvSpPr>
            <p:cNvPr id="130" name="TextBox 129"/>
            <p:cNvSpPr txBox="1"/>
            <p:nvPr/>
          </p:nvSpPr>
          <p:spPr>
            <a:xfrm>
              <a:off x="1003736" y="3682675"/>
              <a:ext cx="3245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sto MT" panose="02040603050505030304" pitchFamily="18" charset="0"/>
                </a:rPr>
                <a:t>bool</a:t>
              </a:r>
              <a:r>
                <a:rPr lang="en-US" dirty="0">
                  <a:latin typeface="Calisto MT" panose="02040603050505030304" pitchFamily="18" charset="0"/>
                </a:rPr>
                <a:t> </a:t>
              </a:r>
              <a:r>
                <a:rPr lang="en-US" dirty="0" err="1">
                  <a:latin typeface="Calisto MT" panose="02040603050505030304" pitchFamily="18" charset="0"/>
                </a:rPr>
                <a:t>deleteFromLast</a:t>
              </a:r>
              <a:r>
                <a:rPr lang="en-US" dirty="0">
                  <a:latin typeface="Calisto MT" panose="02040603050505030304" pitchFamily="18" charset="0"/>
                </a:rPr>
                <a:t>( ){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1003736" y="5622939"/>
              <a:ext cx="41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sp>
        <p:nvSpPr>
          <p:cNvPr id="132" name="TextBox 131"/>
          <p:cNvSpPr txBox="1"/>
          <p:nvPr/>
        </p:nvSpPr>
        <p:spPr>
          <a:xfrm>
            <a:off x="1445651" y="4345691"/>
            <a:ext cx="3425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if(head==NULL)   return  false;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445651" y="4706931"/>
            <a:ext cx="3425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tail = tail-&gt;L;</a:t>
            </a:r>
          </a:p>
        </p:txBody>
      </p:sp>
      <p:grpSp>
        <p:nvGrpSpPr>
          <p:cNvPr id="79" name="Group 78"/>
          <p:cNvGrpSpPr/>
          <p:nvPr/>
        </p:nvGrpSpPr>
        <p:grpSpPr>
          <a:xfrm>
            <a:off x="2366972" y="1839752"/>
            <a:ext cx="729688" cy="1299758"/>
            <a:chOff x="2491874" y="1750121"/>
            <a:chExt cx="729688" cy="1299758"/>
          </a:xfrm>
        </p:grpSpPr>
        <p:cxnSp>
          <p:nvCxnSpPr>
            <p:cNvPr id="80" name="Straight Arrow Connector 79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4639048" y="317841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87" name="Rectangle 8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sp>
        <p:nvSpPr>
          <p:cNvPr id="137" name="TextBox 136"/>
          <p:cNvSpPr txBox="1"/>
          <p:nvPr/>
        </p:nvSpPr>
        <p:spPr>
          <a:xfrm>
            <a:off x="1445651" y="5066210"/>
            <a:ext cx="3425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free(tail-&gt;R);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445651" y="5427450"/>
            <a:ext cx="2131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tail-&gt;R = NULL;</a:t>
            </a:r>
          </a:p>
        </p:txBody>
      </p:sp>
      <p:grpSp>
        <p:nvGrpSpPr>
          <p:cNvPr id="90" name="Group 89"/>
          <p:cNvGrpSpPr/>
          <p:nvPr/>
        </p:nvGrpSpPr>
        <p:grpSpPr>
          <a:xfrm>
            <a:off x="7747905" y="2224626"/>
            <a:ext cx="4093128" cy="1690037"/>
            <a:chOff x="7747905" y="2224626"/>
            <a:chExt cx="4093128" cy="1690037"/>
          </a:xfrm>
        </p:grpSpPr>
        <p:sp>
          <p:nvSpPr>
            <p:cNvPr id="89" name="Rectangle 88"/>
            <p:cNvSpPr/>
            <p:nvPr/>
          </p:nvSpPr>
          <p:spPr>
            <a:xfrm>
              <a:off x="8280897" y="2224626"/>
              <a:ext cx="3560136" cy="16900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7747905" y="2687770"/>
              <a:ext cx="2354012" cy="4811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9649691" y="1858942"/>
            <a:ext cx="617280" cy="1299758"/>
            <a:chOff x="9315288" y="1750121"/>
            <a:chExt cx="617280" cy="1299758"/>
          </a:xfrm>
        </p:grpSpPr>
        <p:cxnSp>
          <p:nvCxnSpPr>
            <p:cNvPr id="31" name="Straight Arrow Connector 30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9315288" y="1750121"/>
              <a:ext cx="61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7934340" y="317460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6" name="Rectangle 15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sp>
        <p:nvSpPr>
          <p:cNvPr id="136" name="TextBox 135"/>
          <p:cNvSpPr txBox="1"/>
          <p:nvPr/>
        </p:nvSpPr>
        <p:spPr>
          <a:xfrm>
            <a:off x="8676824" y="3266987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141" name="Straight Arrow Connector 140"/>
          <p:cNvCxnSpPr/>
          <p:nvPr/>
        </p:nvCxnSpPr>
        <p:spPr>
          <a:xfrm flipV="1">
            <a:off x="8417890" y="3441838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1445651" y="5772628"/>
            <a:ext cx="3425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return true;</a:t>
            </a:r>
          </a:p>
        </p:txBody>
      </p:sp>
    </p:spTree>
    <p:extLst>
      <p:ext uri="{BB962C8B-B14F-4D97-AF65-F5344CB8AC3E}">
        <p14:creationId xmlns:p14="http://schemas.microsoft.com/office/powerpoint/2010/main" val="329711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7.40741E-7 L -0.18412 0.00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06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  <p:bldP spid="137" grpId="0"/>
      <p:bldP spid="140" grpId="0"/>
      <p:bldP spid="136" grpId="0"/>
      <p:bldP spid="14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92" y="130024"/>
            <a:ext cx="12108074" cy="1450757"/>
          </a:xfrm>
        </p:spPr>
        <p:txBody>
          <a:bodyPr>
            <a:normAutofit/>
          </a:bodyPr>
          <a:lstStyle/>
          <a:p>
            <a:r>
              <a:rPr lang="en-US" sz="3600" b="1" dirty="0"/>
              <a:t>Delete First Occurrence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1647087" y="3112051"/>
            <a:ext cx="367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           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26811" y="3137057"/>
            <a:ext cx="382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           </a:t>
            </a:r>
          </a:p>
        </p:txBody>
      </p:sp>
      <p:cxnSp>
        <p:nvCxnSpPr>
          <p:cNvPr id="241" name="Straight Arrow Connector 240"/>
          <p:cNvCxnSpPr/>
          <p:nvPr/>
        </p:nvCxnSpPr>
        <p:spPr>
          <a:xfrm flipH="1">
            <a:off x="784177" y="3314113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" name="Group 117"/>
          <p:cNvGrpSpPr/>
          <p:nvPr/>
        </p:nvGrpSpPr>
        <p:grpSpPr>
          <a:xfrm>
            <a:off x="876368" y="3666314"/>
            <a:ext cx="3565678" cy="2693029"/>
            <a:chOff x="1000659" y="3726203"/>
            <a:chExt cx="3565678" cy="2693029"/>
          </a:xfrm>
        </p:grpSpPr>
        <p:sp>
          <p:nvSpPr>
            <p:cNvPr id="120" name="TextBox 119"/>
            <p:cNvSpPr txBox="1"/>
            <p:nvPr/>
          </p:nvSpPr>
          <p:spPr>
            <a:xfrm>
              <a:off x="1019399" y="3726203"/>
              <a:ext cx="35469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void </a:t>
              </a:r>
              <a:r>
                <a:rPr lang="en-US" dirty="0" err="1">
                  <a:latin typeface="Calisto MT" panose="02040603050505030304" pitchFamily="18" charset="0"/>
                </a:rPr>
                <a:t>deleteFirstOccurrence</a:t>
              </a:r>
              <a:r>
                <a:rPr lang="en-US" dirty="0">
                  <a:latin typeface="Calisto MT" panose="02040603050505030304" pitchFamily="18" charset="0"/>
                </a:rPr>
                <a:t>(</a:t>
              </a:r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x){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1000659" y="6049900"/>
              <a:ext cx="41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579138" y="3054887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8" name="Rectangle 2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2126087" y="3051083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1" name="Rectangle 3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026362" y="305108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2" name="Rectangle 4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3221929" y="304727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52" name="Rectangle 5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85" name="Group 184"/>
          <p:cNvGrpSpPr/>
          <p:nvPr/>
        </p:nvGrpSpPr>
        <p:grpSpPr>
          <a:xfrm>
            <a:off x="8706763" y="3039668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6" name="Rectangle 185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245" name="Group 244"/>
          <p:cNvGrpSpPr/>
          <p:nvPr/>
        </p:nvGrpSpPr>
        <p:grpSpPr>
          <a:xfrm>
            <a:off x="10496991" y="1715963"/>
            <a:ext cx="617280" cy="1299758"/>
            <a:chOff x="9315288" y="1750121"/>
            <a:chExt cx="617280" cy="1299758"/>
          </a:xfrm>
        </p:grpSpPr>
        <p:cxnSp>
          <p:nvCxnSpPr>
            <p:cNvPr id="232" name="Straight Arrow Connector 231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Box 232"/>
            <p:cNvSpPr txBox="1"/>
            <p:nvPr/>
          </p:nvSpPr>
          <p:spPr>
            <a:xfrm>
              <a:off x="9315288" y="1750121"/>
              <a:ext cx="61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  <p:grpSp>
        <p:nvGrpSpPr>
          <p:cNvPr id="247" name="Group 246"/>
          <p:cNvGrpSpPr/>
          <p:nvPr/>
        </p:nvGrpSpPr>
        <p:grpSpPr>
          <a:xfrm>
            <a:off x="2563685" y="2322696"/>
            <a:ext cx="1400614" cy="1209475"/>
            <a:chOff x="3591216" y="2332908"/>
            <a:chExt cx="1400614" cy="1209475"/>
          </a:xfrm>
        </p:grpSpPr>
        <p:grpSp>
          <p:nvGrpSpPr>
            <p:cNvPr id="168" name="Group 167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166" name="Group 165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13" name="Group 112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6" name="Straight Connector 25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Straight Connector 109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Arrow Connector 111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4" name="Rectangle 163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7" name="Rectangle 166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6" name="Rectangle 245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4750298" y="2322091"/>
            <a:ext cx="1400614" cy="1226567"/>
            <a:chOff x="5777829" y="2332303"/>
            <a:chExt cx="1400614" cy="1226567"/>
          </a:xfrm>
        </p:grpSpPr>
        <p:grpSp>
          <p:nvGrpSpPr>
            <p:cNvPr id="218" name="Group 217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219" name="Group 21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21" name="Group 220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23" name="Straight Connector 222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Straight Connector 223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Straight Connector 224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Straight Arrow Connector 225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2" name="Rectangle 221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0" name="Rectangle 219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8" name="Rectangle 247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2" name="Group 241"/>
          <p:cNvGrpSpPr/>
          <p:nvPr/>
        </p:nvGrpSpPr>
        <p:grpSpPr>
          <a:xfrm>
            <a:off x="1464343" y="1739909"/>
            <a:ext cx="729688" cy="1299758"/>
            <a:chOff x="2491874" y="1750121"/>
            <a:chExt cx="729688" cy="1299758"/>
          </a:xfrm>
        </p:grpSpPr>
        <p:cxnSp>
          <p:nvCxnSpPr>
            <p:cNvPr id="161" name="Straight Arrow Connector 160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TextBox 227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grpSp>
        <p:nvGrpSpPr>
          <p:cNvPr id="254" name="Group 253"/>
          <p:cNvGrpSpPr/>
          <p:nvPr/>
        </p:nvGrpSpPr>
        <p:grpSpPr>
          <a:xfrm>
            <a:off x="1886250" y="2667527"/>
            <a:ext cx="1395501" cy="528191"/>
            <a:chOff x="2913781" y="2677739"/>
            <a:chExt cx="1395501" cy="528191"/>
          </a:xfrm>
        </p:grpSpPr>
        <p:grpSp>
          <p:nvGrpSpPr>
            <p:cNvPr id="172" name="Group 171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170" name="Group 16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122" name="Group 12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15" name="Straight Connector 114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Straight Connector 116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Straight Connector 118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Arrow Connector 120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9" name="Rectangle 168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1" name="Rectangle 17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3" name="Rectangle 252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8" name="Group 257"/>
          <p:cNvGrpSpPr/>
          <p:nvPr/>
        </p:nvGrpSpPr>
        <p:grpSpPr>
          <a:xfrm>
            <a:off x="6271359" y="2659917"/>
            <a:ext cx="1395501" cy="533259"/>
            <a:chOff x="7298890" y="2670129"/>
            <a:chExt cx="1395501" cy="533259"/>
          </a:xfrm>
          <a:solidFill>
            <a:srgbClr val="7030A0"/>
          </a:solidFill>
        </p:grpSpPr>
        <p:grpSp>
          <p:nvGrpSpPr>
            <p:cNvPr id="200" name="Group 199"/>
            <p:cNvGrpSpPr/>
            <p:nvPr/>
          </p:nvGrpSpPr>
          <p:grpSpPr>
            <a:xfrm>
              <a:off x="7298890" y="2670129"/>
              <a:ext cx="1395501" cy="477140"/>
              <a:chOff x="2922327" y="2477698"/>
              <a:chExt cx="1395501" cy="477140"/>
            </a:xfrm>
            <a:grpFill/>
          </p:grpSpPr>
          <p:grpSp>
            <p:nvGrpSpPr>
              <p:cNvPr id="201" name="Group 200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03" name="Group 202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05" name="Straight Connector 204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6" name="Straight Connector 205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7" name="Straight Connector 206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8" name="Straight Arrow Connector 207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04" name="Rectangle 203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02" name="Rectangle 201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57" name="Rectangle 256"/>
            <p:cNvSpPr/>
            <p:nvPr/>
          </p:nvSpPr>
          <p:spPr>
            <a:xfrm>
              <a:off x="8423999" y="3090228"/>
              <a:ext cx="113160" cy="113160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7030A0"/>
                  </a:solidFill>
                </a:ln>
              </a:endParaRP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10371383" y="3026076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54" name="Rectangle 15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d           </a:t>
              </a:r>
            </a:p>
          </p:txBody>
        </p:sp>
      </p:grpSp>
      <p:grpSp>
        <p:nvGrpSpPr>
          <p:cNvPr id="163" name="Group 162"/>
          <p:cNvGrpSpPr/>
          <p:nvPr/>
        </p:nvGrpSpPr>
        <p:grpSpPr>
          <a:xfrm>
            <a:off x="10918332" y="302227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65" name="Rectangle 16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229" name="Group 228"/>
          <p:cNvGrpSpPr/>
          <p:nvPr/>
        </p:nvGrpSpPr>
        <p:grpSpPr>
          <a:xfrm>
            <a:off x="9818607" y="302227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30" name="Rectangle 22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cxnSp>
        <p:nvCxnSpPr>
          <p:cNvPr id="235" name="Straight Arrow Connector 234"/>
          <p:cNvCxnSpPr/>
          <p:nvPr/>
        </p:nvCxnSpPr>
        <p:spPr>
          <a:xfrm flipV="1">
            <a:off x="11388511" y="3296717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4" name="Group 233"/>
          <p:cNvGrpSpPr/>
          <p:nvPr/>
        </p:nvGrpSpPr>
        <p:grpSpPr>
          <a:xfrm>
            <a:off x="9144414" y="2315086"/>
            <a:ext cx="1400614" cy="1220856"/>
            <a:chOff x="7976325" y="2325298"/>
            <a:chExt cx="1400614" cy="1220856"/>
          </a:xfrm>
        </p:grpSpPr>
        <p:grpSp>
          <p:nvGrpSpPr>
            <p:cNvPr id="255" name="Group 254"/>
            <p:cNvGrpSpPr/>
            <p:nvPr/>
          </p:nvGrpSpPr>
          <p:grpSpPr>
            <a:xfrm>
              <a:off x="7976325" y="2325298"/>
              <a:ext cx="1400614" cy="1183693"/>
              <a:chOff x="3599762" y="2132867"/>
              <a:chExt cx="1400614" cy="1183693"/>
            </a:xfrm>
          </p:grpSpPr>
          <p:grpSp>
            <p:nvGrpSpPr>
              <p:cNvPr id="259" name="Group 25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61" name="Group 260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65" name="Straight Connector 264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6" name="Straight Connector 265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7" name="Straight Connector 266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8" name="Straight Arrow Connector 267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64" name="Rectangle 263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60" name="Rectangle 259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6" name="Rectangle 255"/>
            <p:cNvSpPr/>
            <p:nvPr/>
          </p:nvSpPr>
          <p:spPr>
            <a:xfrm>
              <a:off x="8194911" y="3432994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9" name="Group 268"/>
          <p:cNvGrpSpPr/>
          <p:nvPr/>
        </p:nvGrpSpPr>
        <p:grpSpPr>
          <a:xfrm>
            <a:off x="8489612" y="2658114"/>
            <a:ext cx="1395501" cy="533259"/>
            <a:chOff x="7298890" y="2670129"/>
            <a:chExt cx="1395501" cy="533259"/>
          </a:xfrm>
          <a:solidFill>
            <a:srgbClr val="7030A0"/>
          </a:solidFill>
        </p:grpSpPr>
        <p:grpSp>
          <p:nvGrpSpPr>
            <p:cNvPr id="270" name="Group 269"/>
            <p:cNvGrpSpPr/>
            <p:nvPr/>
          </p:nvGrpSpPr>
          <p:grpSpPr>
            <a:xfrm>
              <a:off x="7298890" y="2670129"/>
              <a:ext cx="1395501" cy="477140"/>
              <a:chOff x="2922327" y="2477698"/>
              <a:chExt cx="1395501" cy="477140"/>
            </a:xfrm>
            <a:grpFill/>
          </p:grpSpPr>
          <p:grpSp>
            <p:nvGrpSpPr>
              <p:cNvPr id="272" name="Group 271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74" name="Group 273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76" name="Straight Connector 275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7" name="Straight Connector 276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8" name="Straight Connector 277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9" name="Straight Arrow Connector 278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75" name="Rectangle 274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73" name="Rectangle 272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71" name="Rectangle 270"/>
            <p:cNvSpPr/>
            <p:nvPr/>
          </p:nvSpPr>
          <p:spPr>
            <a:xfrm>
              <a:off x="8423999" y="3090228"/>
              <a:ext cx="113160" cy="113160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7030A0"/>
                  </a:solidFill>
                </a:ln>
              </a:endParaRPr>
            </a:p>
          </p:txBody>
        </p:sp>
      </p:grpSp>
      <p:sp>
        <p:nvSpPr>
          <p:cNvPr id="291" name="TextBox 290"/>
          <p:cNvSpPr txBox="1"/>
          <p:nvPr/>
        </p:nvSpPr>
        <p:spPr>
          <a:xfrm>
            <a:off x="1378714" y="3966708"/>
            <a:ext cx="3940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*temp = </a:t>
            </a:r>
            <a:r>
              <a:rPr lang="en-US" dirty="0" err="1">
                <a:latin typeface="Calisto MT" panose="02040603050505030304" pitchFamily="18" charset="0"/>
              </a:rPr>
              <a:t>findFirstOccurrence</a:t>
            </a:r>
            <a:r>
              <a:rPr lang="en-US" dirty="0">
                <a:latin typeface="Calisto MT" panose="02040603050505030304" pitchFamily="18" charset="0"/>
              </a:rPr>
              <a:t>(x);</a:t>
            </a:r>
          </a:p>
        </p:txBody>
      </p:sp>
      <p:sp>
        <p:nvSpPr>
          <p:cNvPr id="8" name="Rectangle 7"/>
          <p:cNvSpPr/>
          <p:nvPr/>
        </p:nvSpPr>
        <p:spPr>
          <a:xfrm>
            <a:off x="4562437" y="2308098"/>
            <a:ext cx="1618196" cy="14707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3" name="Group 262"/>
          <p:cNvGrpSpPr/>
          <p:nvPr/>
        </p:nvGrpSpPr>
        <p:grpSpPr>
          <a:xfrm>
            <a:off x="4141115" y="2659917"/>
            <a:ext cx="1395501" cy="529915"/>
            <a:chOff x="5168646" y="2670129"/>
            <a:chExt cx="1395501" cy="529915"/>
          </a:xfrm>
        </p:grpSpPr>
        <p:grpSp>
          <p:nvGrpSpPr>
            <p:cNvPr id="209" name="Group 208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210" name="Group 209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12" name="Group 211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14" name="Straight Connector 213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" name="Straight Connector 214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Straight Connector 215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Straight Arrow Connector 216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3" name="Rectangle 212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11" name="Rectangle 210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62" name="Rectangle 261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9" name="Group 178"/>
          <p:cNvGrpSpPr/>
          <p:nvPr/>
        </p:nvGrpSpPr>
        <p:grpSpPr>
          <a:xfrm>
            <a:off x="5411471" y="304347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0" name="Rectangle 17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sp>
        <p:nvSpPr>
          <p:cNvPr id="314" name="TextBox 313"/>
          <p:cNvSpPr txBox="1"/>
          <p:nvPr/>
        </p:nvSpPr>
        <p:spPr>
          <a:xfrm>
            <a:off x="1413716" y="5165360"/>
            <a:ext cx="3940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temp -&gt; L -&gt; R = temp -&gt; R;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443" y="2633788"/>
            <a:ext cx="1572530" cy="5865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9" name="Group 138"/>
          <p:cNvGrpSpPr/>
          <p:nvPr/>
        </p:nvGrpSpPr>
        <p:grpSpPr>
          <a:xfrm>
            <a:off x="6128912" y="2084760"/>
            <a:ext cx="729688" cy="954908"/>
            <a:chOff x="5754153" y="4810967"/>
            <a:chExt cx="729688" cy="954908"/>
          </a:xfrm>
        </p:grpSpPr>
        <p:cxnSp>
          <p:nvCxnSpPr>
            <p:cNvPr id="140" name="Straight Arrow Connector 139"/>
            <p:cNvCxnSpPr>
              <a:stCxn id="141" idx="2"/>
            </p:cNvCxnSpPr>
            <p:nvPr/>
          </p:nvCxnSpPr>
          <p:spPr>
            <a:xfrm>
              <a:off x="6118997" y="5180299"/>
              <a:ext cx="0" cy="585576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TextBox 140"/>
            <p:cNvSpPr txBox="1"/>
            <p:nvPr/>
          </p:nvSpPr>
          <p:spPr>
            <a:xfrm>
              <a:off x="5754153" y="4810967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temp           </a:t>
              </a:r>
            </a:p>
          </p:txBody>
        </p:sp>
      </p:grpSp>
      <p:grpSp>
        <p:nvGrpSpPr>
          <p:cNvPr id="176" name="Group 175"/>
          <p:cNvGrpSpPr/>
          <p:nvPr/>
        </p:nvGrpSpPr>
        <p:grpSpPr>
          <a:xfrm>
            <a:off x="6511196" y="3043473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77" name="Rectangle 17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251" name="Group 250"/>
          <p:cNvGrpSpPr/>
          <p:nvPr/>
        </p:nvGrpSpPr>
        <p:grpSpPr>
          <a:xfrm>
            <a:off x="6948794" y="2315086"/>
            <a:ext cx="1400614" cy="1220856"/>
            <a:chOff x="7976325" y="2325298"/>
            <a:chExt cx="1400614" cy="1220856"/>
          </a:xfrm>
        </p:grpSpPr>
        <p:grpSp>
          <p:nvGrpSpPr>
            <p:cNvPr id="191" name="Group 190"/>
            <p:cNvGrpSpPr/>
            <p:nvPr/>
          </p:nvGrpSpPr>
          <p:grpSpPr>
            <a:xfrm>
              <a:off x="7976325" y="2325298"/>
              <a:ext cx="1400614" cy="1183693"/>
              <a:chOff x="3599762" y="2132867"/>
              <a:chExt cx="1400614" cy="1183693"/>
            </a:xfrm>
          </p:grpSpPr>
          <p:grpSp>
            <p:nvGrpSpPr>
              <p:cNvPr id="192" name="Group 191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94" name="Group 193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96" name="Straight Connector 195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7" name="Straight Connector 196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Straight Connector 197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" name="Straight Arrow Connector 198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5" name="Rectangle 194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3" name="Rectangle 192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0" name="Rectangle 249"/>
            <p:cNvSpPr/>
            <p:nvPr/>
          </p:nvSpPr>
          <p:spPr>
            <a:xfrm>
              <a:off x="8194911" y="3432994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5964247" y="3047277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74" name="Rectangle 17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x           </a:t>
              </a:r>
            </a:p>
          </p:txBody>
        </p:sp>
      </p:grpSp>
      <p:sp>
        <p:nvSpPr>
          <p:cNvPr id="315" name="TextBox 314"/>
          <p:cNvSpPr txBox="1"/>
          <p:nvPr/>
        </p:nvSpPr>
        <p:spPr>
          <a:xfrm>
            <a:off x="1416956" y="5500648"/>
            <a:ext cx="3940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temp -&gt; R -&gt; L = temp -&gt; L;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0985" y="1809730"/>
            <a:ext cx="4394936" cy="18725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3774705" y="3051082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5" name="Rectangle 4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b           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4321654" y="3047278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9" name="Rectangle 4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82" name="Group 181"/>
          <p:cNvGrpSpPr/>
          <p:nvPr/>
        </p:nvGrpSpPr>
        <p:grpSpPr>
          <a:xfrm>
            <a:off x="8159814" y="3043472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83" name="Rectangle 182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grpSp>
        <p:nvGrpSpPr>
          <p:cNvPr id="188" name="Group 187"/>
          <p:cNvGrpSpPr/>
          <p:nvPr/>
        </p:nvGrpSpPr>
        <p:grpSpPr>
          <a:xfrm>
            <a:off x="7607038" y="303966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89" name="Rectangle 18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TextBox 18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292" name="Group 291"/>
          <p:cNvGrpSpPr/>
          <p:nvPr/>
        </p:nvGrpSpPr>
        <p:grpSpPr>
          <a:xfrm>
            <a:off x="4797598" y="1846814"/>
            <a:ext cx="3020589" cy="1731159"/>
            <a:chOff x="5892410" y="2343663"/>
            <a:chExt cx="1251368" cy="896225"/>
          </a:xfrm>
        </p:grpSpPr>
        <p:grpSp>
          <p:nvGrpSpPr>
            <p:cNvPr id="293" name="Group 292"/>
            <p:cNvGrpSpPr/>
            <p:nvPr/>
          </p:nvGrpSpPr>
          <p:grpSpPr>
            <a:xfrm>
              <a:off x="5892410" y="2343663"/>
              <a:ext cx="1251368" cy="869066"/>
              <a:chOff x="3714343" y="2144227"/>
              <a:chExt cx="1251368" cy="869066"/>
            </a:xfrm>
          </p:grpSpPr>
          <p:grpSp>
            <p:nvGrpSpPr>
              <p:cNvPr id="295" name="Group 294"/>
              <p:cNvGrpSpPr/>
              <p:nvPr/>
            </p:nvGrpSpPr>
            <p:grpSpPr>
              <a:xfrm>
                <a:off x="3714343" y="2144227"/>
                <a:ext cx="1251368" cy="869066"/>
                <a:chOff x="3714343" y="2144227"/>
                <a:chExt cx="1251368" cy="869066"/>
              </a:xfrm>
            </p:grpSpPr>
            <p:grpSp>
              <p:nvGrpSpPr>
                <p:cNvPr id="297" name="Group 296"/>
                <p:cNvGrpSpPr/>
                <p:nvPr/>
              </p:nvGrpSpPr>
              <p:grpSpPr>
                <a:xfrm>
                  <a:off x="3714343" y="2144228"/>
                  <a:ext cx="1229451" cy="869065"/>
                  <a:chOff x="3996354" y="2118591"/>
                  <a:chExt cx="1229451" cy="869065"/>
                </a:xfrm>
              </p:grpSpPr>
              <p:cxnSp>
                <p:nvCxnSpPr>
                  <p:cNvPr id="299" name="Straight Connector 298"/>
                  <p:cNvCxnSpPr/>
                  <p:nvPr/>
                </p:nvCxnSpPr>
                <p:spPr>
                  <a:xfrm>
                    <a:off x="3996354" y="2987575"/>
                    <a:ext cx="157585" cy="81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0" name="Straight Connector 299"/>
                  <p:cNvCxnSpPr/>
                  <p:nvPr/>
                </p:nvCxnSpPr>
                <p:spPr>
                  <a:xfrm flipV="1">
                    <a:off x="4153055" y="2118591"/>
                    <a:ext cx="1060" cy="847199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1" name="Straight Connector 300"/>
                  <p:cNvCxnSpPr/>
                  <p:nvPr/>
                </p:nvCxnSpPr>
                <p:spPr>
                  <a:xfrm>
                    <a:off x="4153056" y="2167616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2" name="Straight Arrow Connector 301"/>
                  <p:cNvCxnSpPr/>
                  <p:nvPr/>
                </p:nvCxnSpPr>
                <p:spPr>
                  <a:xfrm>
                    <a:off x="5225805" y="2167615"/>
                    <a:ext cx="0" cy="573879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98" name="Rectangle 297"/>
                <p:cNvSpPr/>
                <p:nvPr/>
              </p:nvSpPr>
              <p:spPr>
                <a:xfrm>
                  <a:off x="4910608" y="2144227"/>
                  <a:ext cx="55103" cy="108403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96" name="Rectangle 295"/>
              <p:cNvSpPr/>
              <p:nvPr/>
            </p:nvSpPr>
            <p:spPr>
              <a:xfrm>
                <a:off x="3849129" y="2144227"/>
                <a:ext cx="48997" cy="108403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4" name="Rectangle 293"/>
            <p:cNvSpPr/>
            <p:nvPr/>
          </p:nvSpPr>
          <p:spPr>
            <a:xfrm>
              <a:off x="6017181" y="3135854"/>
              <a:ext cx="59012" cy="10403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3" name="Group 302"/>
          <p:cNvGrpSpPr/>
          <p:nvPr/>
        </p:nvGrpSpPr>
        <p:grpSpPr>
          <a:xfrm>
            <a:off x="4527854" y="2347393"/>
            <a:ext cx="3315819" cy="867734"/>
            <a:chOff x="5208467" y="2677649"/>
            <a:chExt cx="1303277" cy="527808"/>
          </a:xfrm>
        </p:grpSpPr>
        <p:grpSp>
          <p:nvGrpSpPr>
            <p:cNvPr id="304" name="Group 303"/>
            <p:cNvGrpSpPr/>
            <p:nvPr/>
          </p:nvGrpSpPr>
          <p:grpSpPr>
            <a:xfrm>
              <a:off x="5208467" y="2677649"/>
              <a:ext cx="1303277" cy="469620"/>
              <a:chOff x="2962148" y="2485218"/>
              <a:chExt cx="1303277" cy="469620"/>
            </a:xfrm>
            <a:solidFill>
              <a:srgbClr val="7030A0"/>
            </a:solidFill>
          </p:grpSpPr>
          <p:grpSp>
            <p:nvGrpSpPr>
              <p:cNvPr id="306" name="Group 305"/>
              <p:cNvGrpSpPr/>
              <p:nvPr/>
            </p:nvGrpSpPr>
            <p:grpSpPr>
              <a:xfrm>
                <a:off x="2982302" y="2485218"/>
                <a:ext cx="1283123" cy="469620"/>
                <a:chOff x="2982302" y="2485218"/>
                <a:chExt cx="1283123" cy="469620"/>
              </a:xfrm>
              <a:grpFill/>
            </p:grpSpPr>
            <p:grpSp>
              <p:nvGrpSpPr>
                <p:cNvPr id="308" name="Group 307"/>
                <p:cNvGrpSpPr/>
                <p:nvPr/>
              </p:nvGrpSpPr>
              <p:grpSpPr>
                <a:xfrm>
                  <a:off x="2982302" y="2525350"/>
                  <a:ext cx="1283123" cy="429488"/>
                  <a:chOff x="3264313" y="2499713"/>
                  <a:chExt cx="1283123" cy="429488"/>
                </a:xfrm>
                <a:grpFill/>
              </p:grpSpPr>
              <p:cxnSp>
                <p:nvCxnSpPr>
                  <p:cNvPr id="310" name="Straight Connector 309"/>
                  <p:cNvCxnSpPr/>
                  <p:nvPr/>
                </p:nvCxnSpPr>
                <p:spPr>
                  <a:xfrm flipH="1">
                    <a:off x="4375449" y="2921591"/>
                    <a:ext cx="171987" cy="761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1" name="Straight Connector 310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2" name="Straight Connector 311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3" name="Straight Arrow Connector 312"/>
                  <p:cNvCxnSpPr/>
                  <p:nvPr/>
                </p:nvCxnSpPr>
                <p:spPr>
                  <a:xfrm>
                    <a:off x="3264313" y="2499713"/>
                    <a:ext cx="0" cy="42187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09" name="Rectangle 308"/>
                <p:cNvSpPr/>
                <p:nvPr/>
              </p:nvSpPr>
              <p:spPr>
                <a:xfrm>
                  <a:off x="4069924" y="2485218"/>
                  <a:ext cx="55571" cy="94648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307" name="Rectangle 306"/>
              <p:cNvSpPr/>
              <p:nvPr/>
            </p:nvSpPr>
            <p:spPr>
              <a:xfrm>
                <a:off x="2962148" y="2495474"/>
                <a:ext cx="53186" cy="9044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305" name="Rectangle 304"/>
            <p:cNvSpPr/>
            <p:nvPr/>
          </p:nvSpPr>
          <p:spPr>
            <a:xfrm>
              <a:off x="6324258" y="3079393"/>
              <a:ext cx="51025" cy="126064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6" name="TextBox 315"/>
          <p:cNvSpPr txBox="1"/>
          <p:nvPr/>
        </p:nvSpPr>
        <p:spPr>
          <a:xfrm>
            <a:off x="1393595" y="5803838"/>
            <a:ext cx="1382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free(temp);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6853590" y="3924595"/>
            <a:ext cx="239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>
                <a:latin typeface="Calisto MT" panose="02040603050505030304" pitchFamily="18" charset="0"/>
              </a:rPr>
              <a:t>Corner cases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7170436" y="4293927"/>
            <a:ext cx="3660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sto MT" panose="02040603050505030304" pitchFamily="18" charset="0"/>
              </a:rPr>
              <a:t>If the head or tail is to be deleted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0C5D-56AF-468F-9301-88586394A899}" type="datetime4">
              <a:rPr lang="en-US" smtClean="0"/>
              <a:t>23 March, 2024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23</a:t>
            </a:fld>
            <a:endParaRPr lang="en-US"/>
          </a:p>
        </p:txBody>
      </p:sp>
      <p:sp>
        <p:nvSpPr>
          <p:cNvPr id="240" name="TextBox 239"/>
          <p:cNvSpPr txBox="1"/>
          <p:nvPr/>
        </p:nvSpPr>
        <p:spPr>
          <a:xfrm>
            <a:off x="2776569" y="5823458"/>
            <a:ext cx="2245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return true;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374666" y="4247423"/>
            <a:ext cx="3940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if(temp==NULL)    return  false;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393449" y="4568570"/>
            <a:ext cx="1741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if(temp==head) 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3344950" y="4560249"/>
            <a:ext cx="3603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{</a:t>
            </a:r>
            <a:r>
              <a:rPr lang="en-US" dirty="0" err="1">
                <a:latin typeface="Calisto MT" panose="02040603050505030304" pitchFamily="18" charset="0"/>
              </a:rPr>
              <a:t>deleteFromFirst</a:t>
            </a:r>
            <a:r>
              <a:rPr lang="en-US" dirty="0">
                <a:latin typeface="Calisto MT" panose="02040603050505030304" pitchFamily="18" charset="0"/>
              </a:rPr>
              <a:t>();  return true;}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1413716" y="4873690"/>
            <a:ext cx="1741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if(temp==tail) 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3365217" y="4865369"/>
            <a:ext cx="3603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{</a:t>
            </a:r>
            <a:r>
              <a:rPr lang="en-US" dirty="0" err="1">
                <a:latin typeface="Calisto MT" panose="02040603050505030304" pitchFamily="18" charset="0"/>
              </a:rPr>
              <a:t>deleteFromLast</a:t>
            </a:r>
            <a:r>
              <a:rPr lang="en-US" dirty="0">
                <a:latin typeface="Calisto MT" panose="02040603050505030304" pitchFamily="18" charset="0"/>
              </a:rPr>
              <a:t>();  return true;}</a:t>
            </a:r>
          </a:p>
        </p:txBody>
      </p:sp>
    </p:spTree>
    <p:extLst>
      <p:ext uri="{BB962C8B-B14F-4D97-AF65-F5344CB8AC3E}">
        <p14:creationId xmlns:p14="http://schemas.microsoft.com/office/powerpoint/2010/main" val="663687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" grpId="0"/>
      <p:bldP spid="8" grpId="0" animBg="1"/>
      <p:bldP spid="314" grpId="0"/>
      <p:bldP spid="12" grpId="0" animBg="1"/>
      <p:bldP spid="315" grpId="0"/>
      <p:bldP spid="14" grpId="0" animBg="1"/>
      <p:bldP spid="316" grpId="0"/>
      <p:bldP spid="317" grpId="0"/>
      <p:bldP spid="318" grpId="0"/>
      <p:bldP spid="240" grpId="0"/>
      <p:bldP spid="243" grpId="0"/>
      <p:bldP spid="244" grpId="0"/>
      <p:bldP spid="252" grpId="0"/>
      <p:bldP spid="280" grpId="0"/>
      <p:bldP spid="28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92" y="130024"/>
            <a:ext cx="12108074" cy="1450757"/>
          </a:xfrm>
        </p:spPr>
        <p:txBody>
          <a:bodyPr>
            <a:normAutofit/>
          </a:bodyPr>
          <a:lstStyle/>
          <a:p>
            <a:r>
              <a:rPr lang="en-US" sz="3600" b="1" dirty="0"/>
              <a:t>Delete  Last  Occurrence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0C5D-56AF-468F-9301-88586394A899}" type="datetime4">
              <a:rPr lang="en-US" smtClean="0"/>
              <a:t>23 March, 2024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24</a:t>
            </a:fld>
            <a:endParaRPr lang="en-US"/>
          </a:p>
        </p:txBody>
      </p:sp>
      <p:sp>
        <p:nvSpPr>
          <p:cNvPr id="238" name="TextBox 237"/>
          <p:cNvSpPr txBox="1"/>
          <p:nvPr/>
        </p:nvSpPr>
        <p:spPr>
          <a:xfrm>
            <a:off x="1097281" y="1943834"/>
            <a:ext cx="1893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alisto MT" panose="02040603050505030304" pitchFamily="18" charset="0"/>
              </a:rPr>
              <a:t>Do it yourself</a:t>
            </a:r>
          </a:p>
        </p:txBody>
      </p:sp>
    </p:spTree>
    <p:extLst>
      <p:ext uri="{BB962C8B-B14F-4D97-AF65-F5344CB8AC3E}">
        <p14:creationId xmlns:p14="http://schemas.microsoft.com/office/powerpoint/2010/main" val="59573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30024"/>
            <a:ext cx="12108074" cy="1450757"/>
          </a:xfrm>
        </p:spPr>
        <p:txBody>
          <a:bodyPr>
            <a:normAutofit/>
          </a:bodyPr>
          <a:lstStyle/>
          <a:p>
            <a:r>
              <a:rPr lang="en-US" sz="3600" b="1" dirty="0"/>
              <a:t>Length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0C5D-56AF-468F-9301-88586394A899}" type="datetime4">
              <a:rPr lang="en-US" smtClean="0"/>
              <a:t>23 March, 2024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25</a:t>
            </a:fld>
            <a:endParaRPr lang="en-US"/>
          </a:p>
        </p:txBody>
      </p:sp>
      <p:grpSp>
        <p:nvGrpSpPr>
          <p:cNvPr id="65" name="Group 64"/>
          <p:cNvGrpSpPr/>
          <p:nvPr/>
        </p:nvGrpSpPr>
        <p:grpSpPr>
          <a:xfrm>
            <a:off x="2832144" y="3099989"/>
            <a:ext cx="548893" cy="548893"/>
            <a:chOff x="11643107" y="2158069"/>
            <a:chExt cx="548893" cy="548893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66" name="Rectangle 65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           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3379093" y="3096185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69" name="Rectangle 6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2279368" y="3096184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72" name="Rectangle 7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2828160" y="3103793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75" name="Rectangle 7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sp>
        <p:nvSpPr>
          <p:cNvPr id="111" name="TextBox 110"/>
          <p:cNvSpPr txBox="1"/>
          <p:nvPr/>
        </p:nvSpPr>
        <p:spPr>
          <a:xfrm>
            <a:off x="1261347" y="3187698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112" name="Straight Arrow Connector 111"/>
          <p:cNvCxnSpPr/>
          <p:nvPr/>
        </p:nvCxnSpPr>
        <p:spPr>
          <a:xfrm flipH="1">
            <a:off x="2071162" y="3364754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/>
          <p:cNvGrpSpPr/>
          <p:nvPr/>
        </p:nvGrpSpPr>
        <p:grpSpPr>
          <a:xfrm>
            <a:off x="3016492" y="1822888"/>
            <a:ext cx="729688" cy="1299758"/>
            <a:chOff x="2491874" y="1750121"/>
            <a:chExt cx="729688" cy="1299758"/>
          </a:xfrm>
        </p:grpSpPr>
        <p:cxnSp>
          <p:nvCxnSpPr>
            <p:cNvPr id="114" name="Straight Arrow Connector 113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cxnSp>
        <p:nvCxnSpPr>
          <p:cNvPr id="64" name="Straight Arrow Connector 63"/>
          <p:cNvCxnSpPr/>
          <p:nvPr/>
        </p:nvCxnSpPr>
        <p:spPr>
          <a:xfrm flipV="1">
            <a:off x="3849272" y="3372364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4188507" y="3180088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grpSp>
        <p:nvGrpSpPr>
          <p:cNvPr id="128" name="Group 127"/>
          <p:cNvGrpSpPr/>
          <p:nvPr/>
        </p:nvGrpSpPr>
        <p:grpSpPr>
          <a:xfrm>
            <a:off x="876368" y="3846581"/>
            <a:ext cx="3546938" cy="2420122"/>
            <a:chOff x="1000659" y="3953448"/>
            <a:chExt cx="3546938" cy="3050844"/>
          </a:xfrm>
        </p:grpSpPr>
        <p:sp>
          <p:nvSpPr>
            <p:cNvPr id="129" name="TextBox 128"/>
            <p:cNvSpPr txBox="1"/>
            <p:nvPr/>
          </p:nvSpPr>
          <p:spPr>
            <a:xfrm>
              <a:off x="1000659" y="3953448"/>
              <a:ext cx="3546938" cy="4655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length( ){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1000659" y="6634961"/>
              <a:ext cx="413040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sp>
        <p:nvSpPr>
          <p:cNvPr id="131" name="TextBox 130"/>
          <p:cNvSpPr txBox="1"/>
          <p:nvPr/>
        </p:nvSpPr>
        <p:spPr>
          <a:xfrm>
            <a:off x="1187703" y="4220624"/>
            <a:ext cx="3546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*temp = head;</a:t>
            </a:r>
          </a:p>
        </p:txBody>
      </p:sp>
      <p:grpSp>
        <p:nvGrpSpPr>
          <p:cNvPr id="132" name="Group 131"/>
          <p:cNvGrpSpPr/>
          <p:nvPr/>
        </p:nvGrpSpPr>
        <p:grpSpPr>
          <a:xfrm>
            <a:off x="2471017" y="1783053"/>
            <a:ext cx="729688" cy="1299758"/>
            <a:chOff x="2491874" y="1750121"/>
            <a:chExt cx="729688" cy="1299758"/>
          </a:xfrm>
        </p:grpSpPr>
        <p:cxnSp>
          <p:nvCxnSpPr>
            <p:cNvPr id="133" name="Straight Arrow Connector 132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TextBox 133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temp           </a:t>
              </a:r>
            </a:p>
          </p:txBody>
        </p:sp>
      </p:grpSp>
      <p:sp>
        <p:nvSpPr>
          <p:cNvPr id="135" name="TextBox 134"/>
          <p:cNvSpPr txBox="1"/>
          <p:nvPr/>
        </p:nvSpPr>
        <p:spPr>
          <a:xfrm>
            <a:off x="1205304" y="4525258"/>
            <a:ext cx="3546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sto MT" panose="02040603050505030304" pitchFamily="18" charset="0"/>
              </a:rPr>
              <a:t>int</a:t>
            </a:r>
            <a:r>
              <a:rPr lang="en-US" dirty="0">
                <a:latin typeface="Calisto MT" panose="02040603050505030304" pitchFamily="18" charset="0"/>
              </a:rPr>
              <a:t> </a:t>
            </a:r>
            <a:r>
              <a:rPr lang="en-US" dirty="0" err="1">
                <a:latin typeface="Calisto MT" panose="02040603050505030304" pitchFamily="18" charset="0"/>
              </a:rPr>
              <a:t>len</a:t>
            </a:r>
            <a:r>
              <a:rPr lang="en-US" dirty="0">
                <a:latin typeface="Calisto MT" panose="02040603050505030304" pitchFamily="18" charset="0"/>
              </a:rPr>
              <a:t> = 0;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718582" y="3634631"/>
            <a:ext cx="799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  <a:latin typeface="Calisto MT" panose="02040603050505030304" pitchFamily="18" charset="0"/>
              </a:rPr>
              <a:t>len</a:t>
            </a:r>
            <a:r>
              <a:rPr lang="en-US" b="1" dirty="0">
                <a:solidFill>
                  <a:srgbClr val="0070C0"/>
                </a:solidFill>
                <a:latin typeface="Calisto MT" panose="02040603050505030304" pitchFamily="18" charset="0"/>
              </a:rPr>
              <a:t>=0          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05304" y="4864828"/>
            <a:ext cx="3546938" cy="1118183"/>
            <a:chOff x="1205304" y="4864828"/>
            <a:chExt cx="3546938" cy="1118183"/>
          </a:xfrm>
        </p:grpSpPr>
        <p:sp>
          <p:nvSpPr>
            <p:cNvPr id="136" name="TextBox 135"/>
            <p:cNvSpPr txBox="1"/>
            <p:nvPr/>
          </p:nvSpPr>
          <p:spPr>
            <a:xfrm>
              <a:off x="1205304" y="4864828"/>
              <a:ext cx="35469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while(temp!=NULL){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1205304" y="5613679"/>
              <a:ext cx="35469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sp>
        <p:nvSpPr>
          <p:cNvPr id="139" name="TextBox 138"/>
          <p:cNvSpPr txBox="1"/>
          <p:nvPr/>
        </p:nvSpPr>
        <p:spPr>
          <a:xfrm>
            <a:off x="1492323" y="5156337"/>
            <a:ext cx="201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temp = temp-&gt;R;</a:t>
            </a:r>
          </a:p>
        </p:txBody>
      </p:sp>
      <p:cxnSp>
        <p:nvCxnSpPr>
          <p:cNvPr id="140" name="Straight Arrow Connector 139"/>
          <p:cNvCxnSpPr/>
          <p:nvPr/>
        </p:nvCxnSpPr>
        <p:spPr>
          <a:xfrm flipV="1">
            <a:off x="2856012" y="6043946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305728" y="1785775"/>
            <a:ext cx="769191" cy="1302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1" name="Group 140"/>
          <p:cNvGrpSpPr/>
          <p:nvPr/>
        </p:nvGrpSpPr>
        <p:grpSpPr>
          <a:xfrm>
            <a:off x="4259757" y="1946305"/>
            <a:ext cx="729688" cy="1299758"/>
            <a:chOff x="2491874" y="1750121"/>
            <a:chExt cx="729688" cy="1299758"/>
          </a:xfrm>
        </p:grpSpPr>
        <p:cxnSp>
          <p:nvCxnSpPr>
            <p:cNvPr id="142" name="Straight Arrow Connector 141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TextBox 142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temp           </a:t>
              </a:r>
            </a:p>
          </p:txBody>
        </p:sp>
      </p:grpSp>
      <p:sp>
        <p:nvSpPr>
          <p:cNvPr id="144" name="TextBox 143"/>
          <p:cNvSpPr txBox="1"/>
          <p:nvPr/>
        </p:nvSpPr>
        <p:spPr>
          <a:xfrm>
            <a:off x="1492323" y="5454388"/>
            <a:ext cx="201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sto MT" panose="02040603050505030304" pitchFamily="18" charset="0"/>
              </a:rPr>
              <a:t>len</a:t>
            </a:r>
            <a:r>
              <a:rPr lang="en-US" dirty="0">
                <a:latin typeface="Calisto MT" panose="02040603050505030304" pitchFamily="18" charset="0"/>
              </a:rPr>
              <a:t>++;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205021" y="3582561"/>
            <a:ext cx="799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  <a:latin typeface="Calisto MT" panose="02040603050505030304" pitchFamily="18" charset="0"/>
              </a:rPr>
              <a:t>len</a:t>
            </a:r>
            <a:r>
              <a:rPr lang="en-US" b="1" dirty="0">
                <a:solidFill>
                  <a:srgbClr val="0070C0"/>
                </a:solidFill>
                <a:latin typeface="Calisto MT" panose="02040603050505030304" pitchFamily="18" charset="0"/>
              </a:rPr>
              <a:t>=1           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220864" y="5852066"/>
            <a:ext cx="1425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return </a:t>
            </a:r>
            <a:r>
              <a:rPr lang="en-US" dirty="0" err="1">
                <a:latin typeface="Calisto MT" panose="02040603050505030304" pitchFamily="18" charset="0"/>
              </a:rPr>
              <a:t>len</a:t>
            </a:r>
            <a:r>
              <a:rPr lang="en-US" dirty="0">
                <a:latin typeface="Calisto MT" panose="02040603050505030304" pitchFamily="18" charset="0"/>
              </a:rPr>
              <a:t>;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249866" y="5773523"/>
            <a:ext cx="2019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sto MT" panose="02040603050505030304" pitchFamily="18" charset="0"/>
              </a:rPr>
              <a:t>1</a:t>
            </a:r>
          </a:p>
        </p:txBody>
      </p:sp>
      <p:cxnSp>
        <p:nvCxnSpPr>
          <p:cNvPr id="148" name="Straight Arrow Connector 147"/>
          <p:cNvCxnSpPr/>
          <p:nvPr/>
        </p:nvCxnSpPr>
        <p:spPr>
          <a:xfrm flipV="1">
            <a:off x="848468" y="5094816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4205021" y="4895296"/>
            <a:ext cx="201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sto MT" panose="02040603050505030304" pitchFamily="18" charset="0"/>
              </a:rPr>
              <a:t>Is temp at NULL?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511822" y="4894590"/>
            <a:ext cx="589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sto MT" panose="02040603050505030304" pitchFamily="18" charset="0"/>
              </a:rPr>
              <a:t>Yes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777596" y="4894590"/>
            <a:ext cx="1007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sto MT" panose="02040603050505030304" pitchFamily="18" charset="0"/>
              </a:rPr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1387322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  <p:bldP spid="135" grpId="0"/>
      <p:bldP spid="137" grpId="0"/>
      <p:bldP spid="139" grpId="0"/>
      <p:bldP spid="4" grpId="0" animBg="1"/>
      <p:bldP spid="144" grpId="0"/>
      <p:bldP spid="145" grpId="0"/>
      <p:bldP spid="146" grpId="0"/>
      <p:bldP spid="147" grpId="0"/>
      <p:bldP spid="149" grpId="0"/>
      <p:bldP spid="150" grpId="0"/>
      <p:bldP spid="15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30024"/>
            <a:ext cx="12108074" cy="1450757"/>
          </a:xfrm>
        </p:spPr>
        <p:txBody>
          <a:bodyPr>
            <a:normAutofit/>
          </a:bodyPr>
          <a:lstStyle/>
          <a:p>
            <a:r>
              <a:rPr lang="en-US" sz="3600" b="1" dirty="0"/>
              <a:t>Length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0C5D-56AF-468F-9301-88586394A899}" type="datetime4">
              <a:rPr lang="en-US" smtClean="0"/>
              <a:t>23 March, 2024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26</a:t>
            </a:fld>
            <a:endParaRPr lang="en-US"/>
          </a:p>
        </p:txBody>
      </p:sp>
      <p:grpSp>
        <p:nvGrpSpPr>
          <p:cNvPr id="128" name="Group 127"/>
          <p:cNvGrpSpPr/>
          <p:nvPr/>
        </p:nvGrpSpPr>
        <p:grpSpPr>
          <a:xfrm>
            <a:off x="876368" y="3846581"/>
            <a:ext cx="3546938" cy="2420122"/>
            <a:chOff x="1000659" y="3953448"/>
            <a:chExt cx="3546938" cy="3050844"/>
          </a:xfrm>
        </p:grpSpPr>
        <p:sp>
          <p:nvSpPr>
            <p:cNvPr id="129" name="TextBox 128"/>
            <p:cNvSpPr txBox="1"/>
            <p:nvPr/>
          </p:nvSpPr>
          <p:spPr>
            <a:xfrm>
              <a:off x="1000659" y="3953448"/>
              <a:ext cx="3546938" cy="4655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length( ){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1000659" y="6634961"/>
              <a:ext cx="413040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sp>
        <p:nvSpPr>
          <p:cNvPr id="131" name="TextBox 130"/>
          <p:cNvSpPr txBox="1"/>
          <p:nvPr/>
        </p:nvSpPr>
        <p:spPr>
          <a:xfrm>
            <a:off x="1187703" y="4220624"/>
            <a:ext cx="3546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*temp = head;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205304" y="4525258"/>
            <a:ext cx="3546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sto MT" panose="02040603050505030304" pitchFamily="18" charset="0"/>
              </a:rPr>
              <a:t>int</a:t>
            </a:r>
            <a:r>
              <a:rPr lang="en-US" dirty="0">
                <a:latin typeface="Calisto MT" panose="02040603050505030304" pitchFamily="18" charset="0"/>
              </a:rPr>
              <a:t> </a:t>
            </a:r>
            <a:r>
              <a:rPr lang="en-US" dirty="0" err="1">
                <a:latin typeface="Calisto MT" panose="02040603050505030304" pitchFamily="18" charset="0"/>
              </a:rPr>
              <a:t>len</a:t>
            </a:r>
            <a:r>
              <a:rPr lang="en-US" dirty="0">
                <a:latin typeface="Calisto MT" panose="02040603050505030304" pitchFamily="18" charset="0"/>
              </a:rPr>
              <a:t> = 0;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05304" y="4864828"/>
            <a:ext cx="3546938" cy="1118183"/>
            <a:chOff x="1205304" y="4864828"/>
            <a:chExt cx="3546938" cy="1118183"/>
          </a:xfrm>
        </p:grpSpPr>
        <p:sp>
          <p:nvSpPr>
            <p:cNvPr id="136" name="TextBox 135"/>
            <p:cNvSpPr txBox="1"/>
            <p:nvPr/>
          </p:nvSpPr>
          <p:spPr>
            <a:xfrm>
              <a:off x="1205304" y="4864828"/>
              <a:ext cx="35469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while(temp!=NULL){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1205304" y="5613679"/>
              <a:ext cx="35469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sp>
        <p:nvSpPr>
          <p:cNvPr id="139" name="TextBox 138"/>
          <p:cNvSpPr txBox="1"/>
          <p:nvPr/>
        </p:nvSpPr>
        <p:spPr>
          <a:xfrm>
            <a:off x="1492323" y="5156337"/>
            <a:ext cx="201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temp = temp-&gt;R;</a:t>
            </a:r>
          </a:p>
        </p:txBody>
      </p:sp>
      <p:cxnSp>
        <p:nvCxnSpPr>
          <p:cNvPr id="140" name="Straight Arrow Connector 139"/>
          <p:cNvCxnSpPr/>
          <p:nvPr/>
        </p:nvCxnSpPr>
        <p:spPr>
          <a:xfrm flipV="1">
            <a:off x="2856012" y="6043946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1492323" y="5454388"/>
            <a:ext cx="201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sto MT" panose="02040603050505030304" pitchFamily="18" charset="0"/>
              </a:rPr>
              <a:t>len</a:t>
            </a:r>
            <a:r>
              <a:rPr lang="en-US" dirty="0">
                <a:latin typeface="Calisto MT" panose="02040603050505030304" pitchFamily="18" charset="0"/>
              </a:rPr>
              <a:t>++;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220864" y="5852066"/>
            <a:ext cx="1425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return </a:t>
            </a:r>
            <a:r>
              <a:rPr lang="en-US" dirty="0" err="1">
                <a:latin typeface="Calisto MT" panose="02040603050505030304" pitchFamily="18" charset="0"/>
              </a:rPr>
              <a:t>len</a:t>
            </a:r>
            <a:r>
              <a:rPr lang="en-US" dirty="0">
                <a:latin typeface="Calisto MT" panose="02040603050505030304" pitchFamily="18" charset="0"/>
              </a:rPr>
              <a:t>;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249866" y="5773523"/>
            <a:ext cx="2019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sto MT" panose="02040603050505030304" pitchFamily="18" charset="0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1507" y="3130641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4801" y="3123031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1794616" y="3300087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/>
          <p:cNvGrpSpPr/>
          <p:nvPr/>
        </p:nvGrpSpPr>
        <p:grpSpPr>
          <a:xfrm>
            <a:off x="2572623" y="2063935"/>
            <a:ext cx="1209647" cy="992987"/>
            <a:chOff x="10227000" y="2386519"/>
            <a:chExt cx="1209647" cy="992987"/>
          </a:xfrm>
        </p:grpSpPr>
        <p:sp>
          <p:nvSpPr>
            <p:cNvPr id="84" name="Rectangle 83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5" name="Group 84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86" name="Straight Arrow Connector 85"/>
              <p:cNvCxnSpPr>
                <a:stCxn id="87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TextBox 86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88" name="Group 87"/>
          <p:cNvGrpSpPr/>
          <p:nvPr/>
        </p:nvGrpSpPr>
        <p:grpSpPr>
          <a:xfrm>
            <a:off x="2589577" y="3040861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89" name="Rectangle 8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3136526" y="303705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92" name="Rectangle 9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2036801" y="303705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95" name="Rectangle 9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4785144" y="3037056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98" name="Rectangle 9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b           </a:t>
              </a: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5332093" y="303325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01" name="Rectangle 10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4232368" y="303325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04" name="Rectangle 10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50" name="Group 149"/>
          <p:cNvGrpSpPr/>
          <p:nvPr/>
        </p:nvGrpSpPr>
        <p:grpSpPr>
          <a:xfrm>
            <a:off x="5002876" y="1715483"/>
            <a:ext cx="617280" cy="1299758"/>
            <a:chOff x="9315288" y="1750121"/>
            <a:chExt cx="617280" cy="1299758"/>
          </a:xfrm>
        </p:grpSpPr>
        <p:cxnSp>
          <p:nvCxnSpPr>
            <p:cNvPr id="151" name="Straight Arrow Connector 150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TextBox 151"/>
            <p:cNvSpPr txBox="1"/>
            <p:nvPr/>
          </p:nvSpPr>
          <p:spPr>
            <a:xfrm>
              <a:off x="9315288" y="1750121"/>
              <a:ext cx="61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  <p:sp>
        <p:nvSpPr>
          <p:cNvPr id="186" name="Rectangle 185"/>
          <p:cNvSpPr/>
          <p:nvPr/>
        </p:nvSpPr>
        <p:spPr>
          <a:xfrm>
            <a:off x="2836493" y="2182819"/>
            <a:ext cx="667120" cy="8428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7" name="Group 186"/>
          <p:cNvGrpSpPr/>
          <p:nvPr/>
        </p:nvGrpSpPr>
        <p:grpSpPr>
          <a:xfrm>
            <a:off x="2474782" y="1725883"/>
            <a:ext cx="729688" cy="1299758"/>
            <a:chOff x="2491874" y="1750121"/>
            <a:chExt cx="729688" cy="1299758"/>
          </a:xfrm>
        </p:grpSpPr>
        <p:cxnSp>
          <p:nvCxnSpPr>
            <p:cNvPr id="188" name="Straight Arrow Connector 187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Box 188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grpSp>
        <p:nvGrpSpPr>
          <p:cNvPr id="190" name="Group 189"/>
          <p:cNvGrpSpPr/>
          <p:nvPr/>
        </p:nvGrpSpPr>
        <p:grpSpPr>
          <a:xfrm>
            <a:off x="2896689" y="2653501"/>
            <a:ext cx="1395501" cy="528191"/>
            <a:chOff x="2913781" y="2677739"/>
            <a:chExt cx="1395501" cy="528191"/>
          </a:xfrm>
        </p:grpSpPr>
        <p:grpSp>
          <p:nvGrpSpPr>
            <p:cNvPr id="191" name="Group 190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193" name="Group 192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195" name="Group 194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97" name="Straight Connector 196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Straight Connector 197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" name="Straight Connector 198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0" name="Straight Arrow Connector 199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6" name="Rectangle 195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4" name="Rectangle 193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2" name="Rectangle 191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26" name="Straight Arrow Connector 225"/>
          <p:cNvCxnSpPr/>
          <p:nvPr/>
        </p:nvCxnSpPr>
        <p:spPr>
          <a:xfrm flipV="1">
            <a:off x="5802272" y="3315307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Box 226"/>
          <p:cNvSpPr txBox="1"/>
          <p:nvPr/>
        </p:nvSpPr>
        <p:spPr>
          <a:xfrm>
            <a:off x="2530874" y="3556914"/>
            <a:ext cx="799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  <a:latin typeface="Calisto MT" panose="02040603050505030304" pitchFamily="18" charset="0"/>
              </a:rPr>
              <a:t>len</a:t>
            </a:r>
            <a:r>
              <a:rPr lang="en-US" b="1" dirty="0">
                <a:solidFill>
                  <a:srgbClr val="0070C0"/>
                </a:solidFill>
                <a:latin typeface="Calisto MT" panose="02040603050505030304" pitchFamily="18" charset="0"/>
              </a:rPr>
              <a:t>=0           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727420" y="3574942"/>
            <a:ext cx="799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  <a:latin typeface="Calisto MT" panose="02040603050505030304" pitchFamily="18" charset="0"/>
              </a:rPr>
              <a:t>len</a:t>
            </a:r>
            <a:r>
              <a:rPr lang="en-US" b="1" dirty="0">
                <a:solidFill>
                  <a:srgbClr val="0070C0"/>
                </a:solidFill>
                <a:latin typeface="Calisto MT" panose="02040603050505030304" pitchFamily="18" charset="0"/>
              </a:rPr>
              <a:t>=1           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123986" y="3574942"/>
            <a:ext cx="799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  <a:latin typeface="Calisto MT" panose="02040603050505030304" pitchFamily="18" charset="0"/>
              </a:rPr>
              <a:t>len</a:t>
            </a:r>
            <a:r>
              <a:rPr lang="en-US" b="1" dirty="0">
                <a:solidFill>
                  <a:srgbClr val="0070C0"/>
                </a:solidFill>
                <a:latin typeface="Calisto MT" panose="02040603050505030304" pitchFamily="18" charset="0"/>
              </a:rPr>
              <a:t>=2           </a:t>
            </a:r>
          </a:p>
        </p:txBody>
      </p:sp>
      <p:grpSp>
        <p:nvGrpSpPr>
          <p:cNvPr id="232" name="Group 231"/>
          <p:cNvGrpSpPr/>
          <p:nvPr/>
        </p:nvGrpSpPr>
        <p:grpSpPr>
          <a:xfrm>
            <a:off x="1934305" y="1732450"/>
            <a:ext cx="729688" cy="1299758"/>
            <a:chOff x="2491874" y="1750121"/>
            <a:chExt cx="729688" cy="1299758"/>
          </a:xfrm>
        </p:grpSpPr>
        <p:cxnSp>
          <p:nvCxnSpPr>
            <p:cNvPr id="233" name="Straight Arrow Connector 232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TextBox 233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temp           </a:t>
              </a:r>
            </a:p>
          </p:txBody>
        </p:sp>
      </p:grpSp>
      <p:cxnSp>
        <p:nvCxnSpPr>
          <p:cNvPr id="235" name="Straight Arrow Connector 234"/>
          <p:cNvCxnSpPr/>
          <p:nvPr/>
        </p:nvCxnSpPr>
        <p:spPr>
          <a:xfrm flipV="1">
            <a:off x="876368" y="4402772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/>
          <p:cNvCxnSpPr/>
          <p:nvPr/>
        </p:nvCxnSpPr>
        <p:spPr>
          <a:xfrm flipV="1">
            <a:off x="848468" y="4742454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236"/>
          <p:cNvCxnSpPr/>
          <p:nvPr/>
        </p:nvCxnSpPr>
        <p:spPr>
          <a:xfrm flipV="1">
            <a:off x="848467" y="5066728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TextBox 237"/>
          <p:cNvSpPr txBox="1"/>
          <p:nvPr/>
        </p:nvSpPr>
        <p:spPr>
          <a:xfrm>
            <a:off x="4205021" y="4895296"/>
            <a:ext cx="201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sto MT" panose="02040603050505030304" pitchFamily="18" charset="0"/>
              </a:rPr>
              <a:t>Is temp at NULL?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511822" y="4894590"/>
            <a:ext cx="589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sto MT" panose="02040603050505030304" pitchFamily="18" charset="0"/>
              </a:rPr>
              <a:t>No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777596" y="4894590"/>
            <a:ext cx="1246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sto MT" panose="02040603050505030304" pitchFamily="18" charset="0"/>
              </a:rPr>
              <a:t>Go Inside</a:t>
            </a:r>
          </a:p>
        </p:txBody>
      </p:sp>
      <p:cxnSp>
        <p:nvCxnSpPr>
          <p:cNvPr id="244" name="Straight Arrow Connector 243"/>
          <p:cNvCxnSpPr/>
          <p:nvPr/>
        </p:nvCxnSpPr>
        <p:spPr>
          <a:xfrm flipV="1">
            <a:off x="848466" y="5337526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5" name="Group 244"/>
          <p:cNvGrpSpPr/>
          <p:nvPr/>
        </p:nvGrpSpPr>
        <p:grpSpPr>
          <a:xfrm>
            <a:off x="4428292" y="1712769"/>
            <a:ext cx="729688" cy="1299758"/>
            <a:chOff x="2491874" y="1750121"/>
            <a:chExt cx="729688" cy="1299758"/>
          </a:xfrm>
        </p:grpSpPr>
        <p:cxnSp>
          <p:nvCxnSpPr>
            <p:cNvPr id="246" name="Straight Arrow Connector 245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TextBox 246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temp           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1921866" y="1828595"/>
            <a:ext cx="601698" cy="1186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8" name="Straight Arrow Connector 247"/>
          <p:cNvCxnSpPr/>
          <p:nvPr/>
        </p:nvCxnSpPr>
        <p:spPr>
          <a:xfrm flipV="1">
            <a:off x="848087" y="5661798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40196" y="4980843"/>
            <a:ext cx="489210" cy="8332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9" name="Straight Arrow Connector 248"/>
          <p:cNvCxnSpPr/>
          <p:nvPr/>
        </p:nvCxnSpPr>
        <p:spPr>
          <a:xfrm flipV="1">
            <a:off x="845111" y="5109037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79994" y="4894590"/>
            <a:ext cx="484436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TextBox 249"/>
          <p:cNvSpPr txBox="1"/>
          <p:nvPr/>
        </p:nvSpPr>
        <p:spPr>
          <a:xfrm>
            <a:off x="4138290" y="4839528"/>
            <a:ext cx="201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sto MT" panose="02040603050505030304" pitchFamily="18" charset="0"/>
              </a:rPr>
              <a:t>Is temp at NULL?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6445091" y="4838822"/>
            <a:ext cx="589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sto MT" panose="02040603050505030304" pitchFamily="18" charset="0"/>
              </a:rPr>
              <a:t>No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7710865" y="4838822"/>
            <a:ext cx="1246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sto MT" panose="02040603050505030304" pitchFamily="18" charset="0"/>
              </a:rPr>
              <a:t>Go Inside</a:t>
            </a:r>
          </a:p>
        </p:txBody>
      </p:sp>
      <p:cxnSp>
        <p:nvCxnSpPr>
          <p:cNvPr id="253" name="Straight Arrow Connector 252"/>
          <p:cNvCxnSpPr/>
          <p:nvPr/>
        </p:nvCxnSpPr>
        <p:spPr>
          <a:xfrm flipV="1">
            <a:off x="866138" y="5393451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45551" y="4776448"/>
            <a:ext cx="4812077" cy="533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4" name="Group 253"/>
          <p:cNvGrpSpPr/>
          <p:nvPr/>
        </p:nvGrpSpPr>
        <p:grpSpPr>
          <a:xfrm>
            <a:off x="6237951" y="1881934"/>
            <a:ext cx="729688" cy="1299758"/>
            <a:chOff x="2491874" y="1750121"/>
            <a:chExt cx="729688" cy="1299758"/>
          </a:xfrm>
        </p:grpSpPr>
        <p:cxnSp>
          <p:nvCxnSpPr>
            <p:cNvPr id="255" name="Straight Arrow Connector 254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TextBox 255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temp           </a:t>
              </a:r>
            </a:p>
          </p:txBody>
        </p:sp>
      </p:grpSp>
      <p:sp>
        <p:nvSpPr>
          <p:cNvPr id="257" name="Rectangle 256"/>
          <p:cNvSpPr/>
          <p:nvPr/>
        </p:nvSpPr>
        <p:spPr>
          <a:xfrm>
            <a:off x="4459968" y="1837108"/>
            <a:ext cx="601698" cy="1186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3" name="Group 152"/>
          <p:cNvGrpSpPr/>
          <p:nvPr/>
        </p:nvGrpSpPr>
        <p:grpSpPr>
          <a:xfrm>
            <a:off x="3574124" y="2308670"/>
            <a:ext cx="1400614" cy="1209475"/>
            <a:chOff x="3591216" y="2332908"/>
            <a:chExt cx="1400614" cy="1209475"/>
          </a:xfrm>
        </p:grpSpPr>
        <p:grpSp>
          <p:nvGrpSpPr>
            <p:cNvPr id="154" name="Group 153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156" name="Group 155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58" name="Group 157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60" name="Straight Connector 159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Straight Connector 160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Straight Arrow Connector 162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9" name="Rectangle 158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7" name="Rectangle 156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5" name="Rectangle 154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58" name="Straight Arrow Connector 257"/>
          <p:cNvCxnSpPr/>
          <p:nvPr/>
        </p:nvCxnSpPr>
        <p:spPr>
          <a:xfrm flipV="1">
            <a:off x="876498" y="5661972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Rectangle 258"/>
          <p:cNvSpPr/>
          <p:nvPr/>
        </p:nvSpPr>
        <p:spPr>
          <a:xfrm>
            <a:off x="757926" y="4944319"/>
            <a:ext cx="489210" cy="8332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0" name="Straight Arrow Connector 259"/>
          <p:cNvCxnSpPr/>
          <p:nvPr/>
        </p:nvCxnSpPr>
        <p:spPr>
          <a:xfrm flipV="1">
            <a:off x="853555" y="5084172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/>
          <p:cNvSpPr txBox="1"/>
          <p:nvPr/>
        </p:nvSpPr>
        <p:spPr>
          <a:xfrm>
            <a:off x="4610265" y="4764206"/>
            <a:ext cx="201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sto MT" panose="02040603050505030304" pitchFamily="18" charset="0"/>
              </a:rPr>
              <a:t>Is temp at NULL?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6917066" y="4763500"/>
            <a:ext cx="589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sto MT" panose="02040603050505030304" pitchFamily="18" charset="0"/>
              </a:rPr>
              <a:t>Yes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8182840" y="4763500"/>
            <a:ext cx="1246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sto MT" panose="02040603050505030304" pitchFamily="18" charset="0"/>
              </a:rPr>
              <a:t>Break</a:t>
            </a:r>
          </a:p>
        </p:txBody>
      </p:sp>
      <p:cxnSp>
        <p:nvCxnSpPr>
          <p:cNvPr id="264" name="Straight Arrow Connector 263"/>
          <p:cNvCxnSpPr/>
          <p:nvPr/>
        </p:nvCxnSpPr>
        <p:spPr>
          <a:xfrm flipV="1">
            <a:off x="885334" y="6052467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459968" y="4725012"/>
            <a:ext cx="4649849" cy="4678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241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/>
      <p:bldP spid="227" grpId="0"/>
      <p:bldP spid="228" grpId="0"/>
      <p:bldP spid="231" grpId="0"/>
      <p:bldP spid="238" grpId="0"/>
      <p:bldP spid="239" grpId="0"/>
      <p:bldP spid="240" grpId="0"/>
      <p:bldP spid="4" grpId="0" animBg="1"/>
      <p:bldP spid="5" grpId="0" animBg="1"/>
      <p:bldP spid="6" grpId="0" animBg="1"/>
      <p:bldP spid="250" grpId="0"/>
      <p:bldP spid="251" grpId="0"/>
      <p:bldP spid="252" grpId="0"/>
      <p:bldP spid="7" grpId="0" animBg="1"/>
      <p:bldP spid="257" grpId="0" animBg="1"/>
      <p:bldP spid="259" grpId="0" animBg="1"/>
      <p:bldP spid="261" grpId="0"/>
      <p:bldP spid="262" grpId="0"/>
      <p:bldP spid="263" grpId="0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30024"/>
            <a:ext cx="12108074" cy="1450757"/>
          </a:xfrm>
        </p:spPr>
        <p:txBody>
          <a:bodyPr>
            <a:normAutofit/>
          </a:bodyPr>
          <a:lstStyle/>
          <a:p>
            <a:r>
              <a:rPr lang="en-US" sz="3600" b="1" dirty="0"/>
              <a:t>Length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0C5D-56AF-468F-9301-88586394A899}" type="datetime4">
              <a:rPr lang="en-US" smtClean="0"/>
              <a:t>23 March, 2024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27</a:t>
            </a:fld>
            <a:endParaRPr lang="en-US"/>
          </a:p>
        </p:txBody>
      </p:sp>
      <p:grpSp>
        <p:nvGrpSpPr>
          <p:cNvPr id="128" name="Group 127"/>
          <p:cNvGrpSpPr/>
          <p:nvPr/>
        </p:nvGrpSpPr>
        <p:grpSpPr>
          <a:xfrm>
            <a:off x="876368" y="3846581"/>
            <a:ext cx="3546938" cy="2420122"/>
            <a:chOff x="1000659" y="3953448"/>
            <a:chExt cx="3546938" cy="3050844"/>
          </a:xfrm>
        </p:grpSpPr>
        <p:sp>
          <p:nvSpPr>
            <p:cNvPr id="129" name="TextBox 128"/>
            <p:cNvSpPr txBox="1"/>
            <p:nvPr/>
          </p:nvSpPr>
          <p:spPr>
            <a:xfrm>
              <a:off x="1000659" y="3953448"/>
              <a:ext cx="3546938" cy="4655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length( ){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1000659" y="6634961"/>
              <a:ext cx="413040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sp>
        <p:nvSpPr>
          <p:cNvPr id="131" name="TextBox 130"/>
          <p:cNvSpPr txBox="1"/>
          <p:nvPr/>
        </p:nvSpPr>
        <p:spPr>
          <a:xfrm>
            <a:off x="1187703" y="4220624"/>
            <a:ext cx="3546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*temp = head;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205304" y="4525258"/>
            <a:ext cx="3546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sto MT" panose="02040603050505030304" pitchFamily="18" charset="0"/>
              </a:rPr>
              <a:t>int</a:t>
            </a:r>
            <a:r>
              <a:rPr lang="en-US" dirty="0">
                <a:latin typeface="Calisto MT" panose="02040603050505030304" pitchFamily="18" charset="0"/>
              </a:rPr>
              <a:t> </a:t>
            </a:r>
            <a:r>
              <a:rPr lang="en-US" dirty="0" err="1">
                <a:latin typeface="Calisto MT" panose="02040603050505030304" pitchFamily="18" charset="0"/>
              </a:rPr>
              <a:t>len</a:t>
            </a:r>
            <a:r>
              <a:rPr lang="en-US" dirty="0">
                <a:latin typeface="Calisto MT" panose="02040603050505030304" pitchFamily="18" charset="0"/>
              </a:rPr>
              <a:t> = 0;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05304" y="4864828"/>
            <a:ext cx="3546938" cy="1118183"/>
            <a:chOff x="1205304" y="4864828"/>
            <a:chExt cx="3546938" cy="1118183"/>
          </a:xfrm>
        </p:grpSpPr>
        <p:sp>
          <p:nvSpPr>
            <p:cNvPr id="136" name="TextBox 135"/>
            <p:cNvSpPr txBox="1"/>
            <p:nvPr/>
          </p:nvSpPr>
          <p:spPr>
            <a:xfrm>
              <a:off x="1205304" y="4864828"/>
              <a:ext cx="35469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while(temp!=NULL){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1205304" y="5613679"/>
              <a:ext cx="35469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sp>
        <p:nvSpPr>
          <p:cNvPr id="139" name="TextBox 138"/>
          <p:cNvSpPr txBox="1"/>
          <p:nvPr/>
        </p:nvSpPr>
        <p:spPr>
          <a:xfrm>
            <a:off x="1492323" y="5156337"/>
            <a:ext cx="201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temp = temp-&gt;R;</a:t>
            </a:r>
          </a:p>
        </p:txBody>
      </p:sp>
      <p:cxnSp>
        <p:nvCxnSpPr>
          <p:cNvPr id="140" name="Straight Arrow Connector 139"/>
          <p:cNvCxnSpPr/>
          <p:nvPr/>
        </p:nvCxnSpPr>
        <p:spPr>
          <a:xfrm flipV="1">
            <a:off x="2856012" y="6043946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1492323" y="5454388"/>
            <a:ext cx="201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sto MT" panose="02040603050505030304" pitchFamily="18" charset="0"/>
              </a:rPr>
              <a:t>len</a:t>
            </a:r>
            <a:r>
              <a:rPr lang="en-US" dirty="0">
                <a:latin typeface="Calisto MT" panose="02040603050505030304" pitchFamily="18" charset="0"/>
              </a:rPr>
              <a:t>++;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220864" y="5852066"/>
            <a:ext cx="1425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return </a:t>
            </a:r>
            <a:r>
              <a:rPr lang="en-US" dirty="0" err="1">
                <a:latin typeface="Calisto MT" panose="02040603050505030304" pitchFamily="18" charset="0"/>
              </a:rPr>
              <a:t>len</a:t>
            </a:r>
            <a:r>
              <a:rPr lang="en-US" dirty="0">
                <a:latin typeface="Calisto MT" panose="02040603050505030304" pitchFamily="18" charset="0"/>
              </a:rPr>
              <a:t>;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249866" y="5773523"/>
            <a:ext cx="2019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sto MT" panose="02040603050505030304" pitchFamily="18" charset="0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1480" y="3093117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4801" y="3123031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1794616" y="3300087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/>
          <p:cNvGrpSpPr/>
          <p:nvPr/>
        </p:nvGrpSpPr>
        <p:grpSpPr>
          <a:xfrm>
            <a:off x="9294071" y="2027272"/>
            <a:ext cx="1209647" cy="992987"/>
            <a:chOff x="10227000" y="2386519"/>
            <a:chExt cx="1209647" cy="992987"/>
          </a:xfrm>
        </p:grpSpPr>
        <p:sp>
          <p:nvSpPr>
            <p:cNvPr id="56" name="Rectangle 55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58" name="Straight Arrow Connector 57"/>
              <p:cNvCxnSpPr>
                <a:stCxn id="59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Box 58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60" name="Group 59"/>
          <p:cNvGrpSpPr/>
          <p:nvPr/>
        </p:nvGrpSpPr>
        <p:grpSpPr>
          <a:xfrm>
            <a:off x="6917826" y="2052387"/>
            <a:ext cx="1209647" cy="992987"/>
            <a:chOff x="10227000" y="2386519"/>
            <a:chExt cx="1209647" cy="992987"/>
          </a:xfrm>
        </p:grpSpPr>
        <p:sp>
          <p:nvSpPr>
            <p:cNvPr id="61" name="Rectangle 60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2" name="Group 61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63" name="Straight Arrow Connector 62"/>
              <p:cNvCxnSpPr>
                <a:stCxn id="77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TextBox 76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78" name="Group 77"/>
          <p:cNvGrpSpPr/>
          <p:nvPr/>
        </p:nvGrpSpPr>
        <p:grpSpPr>
          <a:xfrm>
            <a:off x="4745464" y="2065762"/>
            <a:ext cx="1209647" cy="992987"/>
            <a:chOff x="10227000" y="2386519"/>
            <a:chExt cx="1209647" cy="992987"/>
          </a:xfrm>
        </p:grpSpPr>
        <p:sp>
          <p:nvSpPr>
            <p:cNvPr id="79" name="Rectangle 78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0" name="Group 79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81" name="Straight Arrow Connector 80"/>
              <p:cNvCxnSpPr>
                <a:stCxn id="82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TextBox 81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83" name="Group 82"/>
          <p:cNvGrpSpPr/>
          <p:nvPr/>
        </p:nvGrpSpPr>
        <p:grpSpPr>
          <a:xfrm>
            <a:off x="2572623" y="2063935"/>
            <a:ext cx="1209647" cy="992987"/>
            <a:chOff x="10227000" y="2386519"/>
            <a:chExt cx="1209647" cy="992987"/>
          </a:xfrm>
        </p:grpSpPr>
        <p:sp>
          <p:nvSpPr>
            <p:cNvPr id="84" name="Rectangle 83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5" name="Group 84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86" name="Straight Arrow Connector 85"/>
              <p:cNvCxnSpPr>
                <a:stCxn id="87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TextBox 86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88" name="Group 87"/>
          <p:cNvGrpSpPr/>
          <p:nvPr/>
        </p:nvGrpSpPr>
        <p:grpSpPr>
          <a:xfrm>
            <a:off x="2589577" y="3040861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89" name="Rectangle 8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3136526" y="303705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92" name="Rectangle 9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2036801" y="303705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95" name="Rectangle 9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4785144" y="3037056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98" name="Rectangle 9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b           </a:t>
              </a: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5332093" y="303325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01" name="Rectangle 10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4232368" y="303325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04" name="Rectangle 10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6974686" y="3033251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07" name="Rectangle 10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7521635" y="302944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10" name="Rectangle 10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6421910" y="302944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18" name="Rectangle 11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9170253" y="3029446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21" name="Rectangle 12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d           </a:t>
              </a:r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9717202" y="302564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24" name="Rectangle 12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26" name="Group 125"/>
          <p:cNvGrpSpPr/>
          <p:nvPr/>
        </p:nvGrpSpPr>
        <p:grpSpPr>
          <a:xfrm>
            <a:off x="8617477" y="302564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48" name="Rectangle 14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50" name="Group 149"/>
          <p:cNvGrpSpPr/>
          <p:nvPr/>
        </p:nvGrpSpPr>
        <p:grpSpPr>
          <a:xfrm>
            <a:off x="9298196" y="1725883"/>
            <a:ext cx="617280" cy="1299758"/>
            <a:chOff x="9315288" y="1750121"/>
            <a:chExt cx="617280" cy="1299758"/>
          </a:xfrm>
        </p:grpSpPr>
        <p:cxnSp>
          <p:nvCxnSpPr>
            <p:cNvPr id="151" name="Straight Arrow Connector 150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TextBox 151"/>
            <p:cNvSpPr txBox="1"/>
            <p:nvPr/>
          </p:nvSpPr>
          <p:spPr>
            <a:xfrm>
              <a:off x="9315288" y="1750121"/>
              <a:ext cx="61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  <p:grpSp>
        <p:nvGrpSpPr>
          <p:cNvPr id="153" name="Group 152"/>
          <p:cNvGrpSpPr/>
          <p:nvPr/>
        </p:nvGrpSpPr>
        <p:grpSpPr>
          <a:xfrm>
            <a:off x="3574124" y="2308670"/>
            <a:ext cx="1400614" cy="1209475"/>
            <a:chOff x="3591216" y="2332908"/>
            <a:chExt cx="1400614" cy="1209475"/>
          </a:xfrm>
        </p:grpSpPr>
        <p:grpSp>
          <p:nvGrpSpPr>
            <p:cNvPr id="154" name="Group 153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156" name="Group 155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58" name="Group 157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60" name="Straight Connector 159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Straight Connector 160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Straight Arrow Connector 162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9" name="Rectangle 158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7" name="Rectangle 156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5" name="Rectangle 154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4" name="Group 163"/>
          <p:cNvGrpSpPr/>
          <p:nvPr/>
        </p:nvGrpSpPr>
        <p:grpSpPr>
          <a:xfrm>
            <a:off x="7959233" y="2301060"/>
            <a:ext cx="1400614" cy="1220856"/>
            <a:chOff x="7976325" y="2325298"/>
            <a:chExt cx="1400614" cy="1220856"/>
          </a:xfrm>
        </p:grpSpPr>
        <p:grpSp>
          <p:nvGrpSpPr>
            <p:cNvPr id="165" name="Group 164"/>
            <p:cNvGrpSpPr/>
            <p:nvPr/>
          </p:nvGrpSpPr>
          <p:grpSpPr>
            <a:xfrm>
              <a:off x="7976325" y="2325298"/>
              <a:ext cx="1400614" cy="1183693"/>
              <a:chOff x="3599762" y="2132867"/>
              <a:chExt cx="1400614" cy="1183693"/>
            </a:xfrm>
          </p:grpSpPr>
          <p:grpSp>
            <p:nvGrpSpPr>
              <p:cNvPr id="167" name="Group 166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69" name="Group 168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71" name="Straight Connector 170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" name="Straight Connector 171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3" name="Straight Connector 172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Arrow Connector 173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70" name="Rectangle 169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8" name="Rectangle 167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6" name="Rectangle 165"/>
            <p:cNvSpPr/>
            <p:nvPr/>
          </p:nvSpPr>
          <p:spPr>
            <a:xfrm>
              <a:off x="8194911" y="3432994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5" name="Group 174"/>
          <p:cNvGrpSpPr/>
          <p:nvPr/>
        </p:nvGrpSpPr>
        <p:grpSpPr>
          <a:xfrm>
            <a:off x="5760737" y="2308065"/>
            <a:ext cx="1400614" cy="1226567"/>
            <a:chOff x="5777829" y="2332303"/>
            <a:chExt cx="1400614" cy="1226567"/>
          </a:xfrm>
        </p:grpSpPr>
        <p:grpSp>
          <p:nvGrpSpPr>
            <p:cNvPr id="176" name="Group 175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178" name="Group 177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80" name="Group 179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82" name="Straight Connector 181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3" name="Straight Connector 182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4" name="Straight Connector 183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5" name="Straight Arrow Connector 184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81" name="Rectangle 180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9" name="Rectangle 178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7" name="Rectangle 176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6" name="Rectangle 185"/>
          <p:cNvSpPr/>
          <p:nvPr/>
        </p:nvSpPr>
        <p:spPr>
          <a:xfrm>
            <a:off x="2836493" y="2182819"/>
            <a:ext cx="667120" cy="8428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7" name="Group 186"/>
          <p:cNvGrpSpPr/>
          <p:nvPr/>
        </p:nvGrpSpPr>
        <p:grpSpPr>
          <a:xfrm>
            <a:off x="2474782" y="1725883"/>
            <a:ext cx="729688" cy="1299758"/>
            <a:chOff x="2491874" y="1750121"/>
            <a:chExt cx="729688" cy="1299758"/>
          </a:xfrm>
        </p:grpSpPr>
        <p:cxnSp>
          <p:nvCxnSpPr>
            <p:cNvPr id="188" name="Straight Arrow Connector 187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Box 188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grpSp>
        <p:nvGrpSpPr>
          <p:cNvPr id="190" name="Group 189"/>
          <p:cNvGrpSpPr/>
          <p:nvPr/>
        </p:nvGrpSpPr>
        <p:grpSpPr>
          <a:xfrm>
            <a:off x="2896689" y="2653501"/>
            <a:ext cx="1395501" cy="528191"/>
            <a:chOff x="2913781" y="2677739"/>
            <a:chExt cx="1395501" cy="528191"/>
          </a:xfrm>
        </p:grpSpPr>
        <p:grpSp>
          <p:nvGrpSpPr>
            <p:cNvPr id="191" name="Group 190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193" name="Group 192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195" name="Group 194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97" name="Straight Connector 196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Straight Connector 197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" name="Straight Connector 198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0" name="Straight Arrow Connector 199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6" name="Rectangle 195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4" name="Rectangle 193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2" name="Rectangle 191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1" name="Rectangle 200"/>
          <p:cNvSpPr/>
          <p:nvPr/>
        </p:nvSpPr>
        <p:spPr>
          <a:xfrm>
            <a:off x="5042018" y="2161379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2" name="Group 201"/>
          <p:cNvGrpSpPr/>
          <p:nvPr/>
        </p:nvGrpSpPr>
        <p:grpSpPr>
          <a:xfrm>
            <a:off x="5151554" y="2645891"/>
            <a:ext cx="1395501" cy="529915"/>
            <a:chOff x="5168646" y="2670129"/>
            <a:chExt cx="1395501" cy="529915"/>
          </a:xfrm>
        </p:grpSpPr>
        <p:grpSp>
          <p:nvGrpSpPr>
            <p:cNvPr id="203" name="Group 202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205" name="Group 204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07" name="Group 206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09" name="Straight Connector 208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" name="Straight Connector 209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" name="Straight Connector 210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Straight Arrow Connector 211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08" name="Rectangle 207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06" name="Rectangle 205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04" name="Rectangle 203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3" name="Rectangle 212"/>
          <p:cNvSpPr/>
          <p:nvPr/>
        </p:nvSpPr>
        <p:spPr>
          <a:xfrm>
            <a:off x="7220200" y="2160412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4" name="Group 213"/>
          <p:cNvGrpSpPr/>
          <p:nvPr/>
        </p:nvGrpSpPr>
        <p:grpSpPr>
          <a:xfrm>
            <a:off x="7281798" y="2645891"/>
            <a:ext cx="1395501" cy="533259"/>
            <a:chOff x="7298890" y="2670129"/>
            <a:chExt cx="1395501" cy="533259"/>
          </a:xfrm>
          <a:solidFill>
            <a:srgbClr val="7030A0"/>
          </a:solidFill>
        </p:grpSpPr>
        <p:grpSp>
          <p:nvGrpSpPr>
            <p:cNvPr id="215" name="Group 214"/>
            <p:cNvGrpSpPr/>
            <p:nvPr/>
          </p:nvGrpSpPr>
          <p:grpSpPr>
            <a:xfrm>
              <a:off x="7298890" y="2670129"/>
              <a:ext cx="1395501" cy="477140"/>
              <a:chOff x="2922327" y="2477698"/>
              <a:chExt cx="1395501" cy="477140"/>
            </a:xfrm>
            <a:grpFill/>
          </p:grpSpPr>
          <p:grpSp>
            <p:nvGrpSpPr>
              <p:cNvPr id="217" name="Group 216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19" name="Group 218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21" name="Straight Connector 220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2" name="Straight Connector 221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3" name="Straight Connector 222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Straight Arrow Connector 223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0" name="Rectangle 219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18" name="Rectangle 217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16" name="Rectangle 215"/>
            <p:cNvSpPr/>
            <p:nvPr/>
          </p:nvSpPr>
          <p:spPr>
            <a:xfrm>
              <a:off x="8423999" y="3090228"/>
              <a:ext cx="113160" cy="113160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7030A0"/>
                  </a:solidFill>
                </a:ln>
              </a:endParaRPr>
            </a:p>
          </p:txBody>
        </p:sp>
      </p:grpSp>
      <p:sp>
        <p:nvSpPr>
          <p:cNvPr id="225" name="Rectangle 224"/>
          <p:cNvSpPr/>
          <p:nvPr/>
        </p:nvSpPr>
        <p:spPr>
          <a:xfrm>
            <a:off x="9609328" y="2149831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6" name="Straight Arrow Connector 225"/>
          <p:cNvCxnSpPr/>
          <p:nvPr/>
        </p:nvCxnSpPr>
        <p:spPr>
          <a:xfrm flipV="1">
            <a:off x="10187381" y="3300087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Box 226"/>
          <p:cNvSpPr txBox="1"/>
          <p:nvPr/>
        </p:nvSpPr>
        <p:spPr>
          <a:xfrm>
            <a:off x="2530874" y="3556914"/>
            <a:ext cx="799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  <a:latin typeface="Calisto MT" panose="02040603050505030304" pitchFamily="18" charset="0"/>
              </a:rPr>
              <a:t>len</a:t>
            </a:r>
            <a:r>
              <a:rPr lang="en-US" b="1" dirty="0">
                <a:solidFill>
                  <a:srgbClr val="0070C0"/>
                </a:solidFill>
                <a:latin typeface="Calisto MT" panose="02040603050505030304" pitchFamily="18" charset="0"/>
              </a:rPr>
              <a:t>=0           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727420" y="3574942"/>
            <a:ext cx="799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  <a:latin typeface="Calisto MT" panose="02040603050505030304" pitchFamily="18" charset="0"/>
              </a:rPr>
              <a:t>len</a:t>
            </a:r>
            <a:r>
              <a:rPr lang="en-US" b="1" dirty="0">
                <a:solidFill>
                  <a:srgbClr val="0070C0"/>
                </a:solidFill>
                <a:latin typeface="Calisto MT" panose="02040603050505030304" pitchFamily="18" charset="0"/>
              </a:rPr>
              <a:t>=1           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923202" y="3556914"/>
            <a:ext cx="799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  <a:latin typeface="Calisto MT" panose="02040603050505030304" pitchFamily="18" charset="0"/>
              </a:rPr>
              <a:t>len</a:t>
            </a:r>
            <a:r>
              <a:rPr lang="en-US" b="1" dirty="0">
                <a:solidFill>
                  <a:srgbClr val="0070C0"/>
                </a:solidFill>
                <a:latin typeface="Calisto MT" panose="02040603050505030304" pitchFamily="18" charset="0"/>
              </a:rPr>
              <a:t>=2           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9121827" y="3534632"/>
            <a:ext cx="799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  <a:latin typeface="Calisto MT" panose="02040603050505030304" pitchFamily="18" charset="0"/>
              </a:rPr>
              <a:t>len</a:t>
            </a:r>
            <a:r>
              <a:rPr lang="en-US" b="1" dirty="0">
                <a:solidFill>
                  <a:srgbClr val="0070C0"/>
                </a:solidFill>
                <a:latin typeface="Calisto MT" panose="02040603050505030304" pitchFamily="18" charset="0"/>
              </a:rPr>
              <a:t>=3           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0573116" y="3498608"/>
            <a:ext cx="799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  <a:latin typeface="Calisto MT" panose="02040603050505030304" pitchFamily="18" charset="0"/>
              </a:rPr>
              <a:t>len</a:t>
            </a:r>
            <a:r>
              <a:rPr lang="en-US" b="1" dirty="0">
                <a:solidFill>
                  <a:srgbClr val="0070C0"/>
                </a:solidFill>
                <a:latin typeface="Calisto MT" panose="02040603050505030304" pitchFamily="18" charset="0"/>
              </a:rPr>
              <a:t>=4           </a:t>
            </a:r>
          </a:p>
        </p:txBody>
      </p:sp>
    </p:spTree>
    <p:extLst>
      <p:ext uri="{BB962C8B-B14F-4D97-AF65-F5344CB8AC3E}">
        <p14:creationId xmlns:p14="http://schemas.microsoft.com/office/powerpoint/2010/main" val="3138433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Box 249"/>
          <p:cNvSpPr txBox="1"/>
          <p:nvPr/>
        </p:nvSpPr>
        <p:spPr>
          <a:xfrm>
            <a:off x="4263454" y="1950347"/>
            <a:ext cx="53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alisto MT" panose="02040603050505030304" pitchFamily="18" charset="0"/>
              </a:rPr>
              <a:t>i</a:t>
            </a:r>
            <a:r>
              <a:rPr lang="en-US" b="1" dirty="0">
                <a:latin typeface="Calisto MT" panose="02040603050505030304" pitchFamily="18" charset="0"/>
              </a:rPr>
              <a:t>=1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30024"/>
            <a:ext cx="12108074" cy="1450757"/>
          </a:xfrm>
        </p:spPr>
        <p:txBody>
          <a:bodyPr>
            <a:normAutofit/>
          </a:bodyPr>
          <a:lstStyle/>
          <a:p>
            <a:r>
              <a:rPr lang="en-US" b="1" dirty="0"/>
              <a:t>Find  k-</a:t>
            </a:r>
            <a:r>
              <a:rPr lang="en-US" b="1" dirty="0" err="1"/>
              <a:t>th</a:t>
            </a:r>
            <a:r>
              <a:rPr lang="en-US" b="1" dirty="0"/>
              <a:t>  Node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0C5D-56AF-468F-9301-88586394A899}" type="datetime4">
              <a:rPr lang="en-US" smtClean="0"/>
              <a:t>23 March, 2024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28</a:t>
            </a:fld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10461480" y="3093117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4801" y="3123031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1794616" y="3300087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/>
          <p:cNvGrpSpPr/>
          <p:nvPr/>
        </p:nvGrpSpPr>
        <p:grpSpPr>
          <a:xfrm>
            <a:off x="9294071" y="2027272"/>
            <a:ext cx="1209647" cy="992987"/>
            <a:chOff x="10227000" y="2386519"/>
            <a:chExt cx="1209647" cy="992987"/>
          </a:xfrm>
        </p:grpSpPr>
        <p:sp>
          <p:nvSpPr>
            <p:cNvPr id="56" name="Rectangle 55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58" name="Straight Arrow Connector 57"/>
              <p:cNvCxnSpPr>
                <a:stCxn id="59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Box 58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60" name="Group 59"/>
          <p:cNvGrpSpPr/>
          <p:nvPr/>
        </p:nvGrpSpPr>
        <p:grpSpPr>
          <a:xfrm>
            <a:off x="6917826" y="2052387"/>
            <a:ext cx="1209647" cy="992987"/>
            <a:chOff x="10227000" y="2386519"/>
            <a:chExt cx="1209647" cy="992987"/>
          </a:xfrm>
        </p:grpSpPr>
        <p:sp>
          <p:nvSpPr>
            <p:cNvPr id="61" name="Rectangle 60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2" name="Group 61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63" name="Straight Arrow Connector 62"/>
              <p:cNvCxnSpPr>
                <a:stCxn id="77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TextBox 76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78" name="Group 77"/>
          <p:cNvGrpSpPr/>
          <p:nvPr/>
        </p:nvGrpSpPr>
        <p:grpSpPr>
          <a:xfrm>
            <a:off x="4745464" y="2065762"/>
            <a:ext cx="1209647" cy="992987"/>
            <a:chOff x="10227000" y="2386519"/>
            <a:chExt cx="1209647" cy="992987"/>
          </a:xfrm>
        </p:grpSpPr>
        <p:sp>
          <p:nvSpPr>
            <p:cNvPr id="79" name="Rectangle 78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0" name="Group 79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81" name="Straight Arrow Connector 80"/>
              <p:cNvCxnSpPr>
                <a:stCxn id="82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TextBox 81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83" name="Group 82"/>
          <p:cNvGrpSpPr/>
          <p:nvPr/>
        </p:nvGrpSpPr>
        <p:grpSpPr>
          <a:xfrm>
            <a:off x="2572623" y="2063935"/>
            <a:ext cx="1209647" cy="992987"/>
            <a:chOff x="10227000" y="2386519"/>
            <a:chExt cx="1209647" cy="992987"/>
          </a:xfrm>
        </p:grpSpPr>
        <p:sp>
          <p:nvSpPr>
            <p:cNvPr id="84" name="Rectangle 83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5" name="Group 84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86" name="Straight Arrow Connector 85"/>
              <p:cNvCxnSpPr>
                <a:stCxn id="87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TextBox 86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88" name="Group 87"/>
          <p:cNvGrpSpPr/>
          <p:nvPr/>
        </p:nvGrpSpPr>
        <p:grpSpPr>
          <a:xfrm>
            <a:off x="2589577" y="3040861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89" name="Rectangle 8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3136526" y="303705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92" name="Rectangle 9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2036801" y="303705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95" name="Rectangle 9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4785144" y="3037056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98" name="Rectangle 9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b           </a:t>
              </a: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5332093" y="303325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01" name="Rectangle 10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4232368" y="303325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04" name="Rectangle 10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6974686" y="3033251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07" name="Rectangle 10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7521635" y="302944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10" name="Rectangle 10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6421910" y="302944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18" name="Rectangle 11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9170253" y="3029446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21" name="Rectangle 12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d           </a:t>
              </a:r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9717202" y="302564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24" name="Rectangle 12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26" name="Group 125"/>
          <p:cNvGrpSpPr/>
          <p:nvPr/>
        </p:nvGrpSpPr>
        <p:grpSpPr>
          <a:xfrm>
            <a:off x="8617477" y="302564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48" name="Rectangle 14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50" name="Group 149"/>
          <p:cNvGrpSpPr/>
          <p:nvPr/>
        </p:nvGrpSpPr>
        <p:grpSpPr>
          <a:xfrm>
            <a:off x="9298196" y="1725883"/>
            <a:ext cx="617280" cy="1299758"/>
            <a:chOff x="9315288" y="1750121"/>
            <a:chExt cx="617280" cy="1299758"/>
          </a:xfrm>
        </p:grpSpPr>
        <p:cxnSp>
          <p:nvCxnSpPr>
            <p:cNvPr id="151" name="Straight Arrow Connector 150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TextBox 151"/>
            <p:cNvSpPr txBox="1"/>
            <p:nvPr/>
          </p:nvSpPr>
          <p:spPr>
            <a:xfrm>
              <a:off x="9315288" y="1750121"/>
              <a:ext cx="61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  <p:grpSp>
        <p:nvGrpSpPr>
          <p:cNvPr id="164" name="Group 163"/>
          <p:cNvGrpSpPr/>
          <p:nvPr/>
        </p:nvGrpSpPr>
        <p:grpSpPr>
          <a:xfrm>
            <a:off x="7959233" y="2301060"/>
            <a:ext cx="1400614" cy="1220856"/>
            <a:chOff x="7976325" y="2325298"/>
            <a:chExt cx="1400614" cy="1220856"/>
          </a:xfrm>
        </p:grpSpPr>
        <p:grpSp>
          <p:nvGrpSpPr>
            <p:cNvPr id="165" name="Group 164"/>
            <p:cNvGrpSpPr/>
            <p:nvPr/>
          </p:nvGrpSpPr>
          <p:grpSpPr>
            <a:xfrm>
              <a:off x="7976325" y="2325298"/>
              <a:ext cx="1400614" cy="1183693"/>
              <a:chOff x="3599762" y="2132867"/>
              <a:chExt cx="1400614" cy="1183693"/>
            </a:xfrm>
          </p:grpSpPr>
          <p:grpSp>
            <p:nvGrpSpPr>
              <p:cNvPr id="167" name="Group 166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69" name="Group 168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71" name="Straight Connector 170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" name="Straight Connector 171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3" name="Straight Connector 172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Arrow Connector 173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70" name="Rectangle 169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8" name="Rectangle 167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6" name="Rectangle 165"/>
            <p:cNvSpPr/>
            <p:nvPr/>
          </p:nvSpPr>
          <p:spPr>
            <a:xfrm>
              <a:off x="8194911" y="3432994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5" name="Group 174"/>
          <p:cNvGrpSpPr/>
          <p:nvPr/>
        </p:nvGrpSpPr>
        <p:grpSpPr>
          <a:xfrm>
            <a:off x="5760737" y="2308065"/>
            <a:ext cx="1400614" cy="1226567"/>
            <a:chOff x="5777829" y="2332303"/>
            <a:chExt cx="1400614" cy="1226567"/>
          </a:xfrm>
        </p:grpSpPr>
        <p:grpSp>
          <p:nvGrpSpPr>
            <p:cNvPr id="176" name="Group 175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178" name="Group 177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80" name="Group 179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82" name="Straight Connector 181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3" name="Straight Connector 182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4" name="Straight Connector 183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5" name="Straight Arrow Connector 184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81" name="Rectangle 180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9" name="Rectangle 178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7" name="Rectangle 176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6" name="Rectangle 185"/>
          <p:cNvSpPr/>
          <p:nvPr/>
        </p:nvSpPr>
        <p:spPr>
          <a:xfrm>
            <a:off x="2836493" y="2182819"/>
            <a:ext cx="667120" cy="8428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7" name="Group 186"/>
          <p:cNvGrpSpPr/>
          <p:nvPr/>
        </p:nvGrpSpPr>
        <p:grpSpPr>
          <a:xfrm>
            <a:off x="2765750" y="1725883"/>
            <a:ext cx="729688" cy="1299758"/>
            <a:chOff x="2491874" y="1750121"/>
            <a:chExt cx="729688" cy="1299758"/>
          </a:xfrm>
        </p:grpSpPr>
        <p:cxnSp>
          <p:nvCxnSpPr>
            <p:cNvPr id="188" name="Straight Arrow Connector 187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Box 188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grpSp>
        <p:nvGrpSpPr>
          <p:cNvPr id="190" name="Group 189"/>
          <p:cNvGrpSpPr/>
          <p:nvPr/>
        </p:nvGrpSpPr>
        <p:grpSpPr>
          <a:xfrm>
            <a:off x="2896689" y="2653501"/>
            <a:ext cx="1395501" cy="528191"/>
            <a:chOff x="2913781" y="2677739"/>
            <a:chExt cx="1395501" cy="528191"/>
          </a:xfrm>
        </p:grpSpPr>
        <p:grpSp>
          <p:nvGrpSpPr>
            <p:cNvPr id="191" name="Group 190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193" name="Group 192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195" name="Group 194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97" name="Straight Connector 196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Straight Connector 197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" name="Straight Connector 198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0" name="Straight Arrow Connector 199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6" name="Rectangle 195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4" name="Rectangle 193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2" name="Rectangle 191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1" name="Rectangle 200"/>
          <p:cNvSpPr/>
          <p:nvPr/>
        </p:nvSpPr>
        <p:spPr>
          <a:xfrm>
            <a:off x="5042018" y="2161379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Rectangle 212"/>
          <p:cNvSpPr/>
          <p:nvPr/>
        </p:nvSpPr>
        <p:spPr>
          <a:xfrm>
            <a:off x="7220200" y="2160412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4" name="Group 213"/>
          <p:cNvGrpSpPr/>
          <p:nvPr/>
        </p:nvGrpSpPr>
        <p:grpSpPr>
          <a:xfrm>
            <a:off x="7281798" y="2645891"/>
            <a:ext cx="1395501" cy="533259"/>
            <a:chOff x="7298890" y="2670129"/>
            <a:chExt cx="1395501" cy="533259"/>
          </a:xfrm>
          <a:solidFill>
            <a:srgbClr val="7030A0"/>
          </a:solidFill>
        </p:grpSpPr>
        <p:grpSp>
          <p:nvGrpSpPr>
            <p:cNvPr id="215" name="Group 214"/>
            <p:cNvGrpSpPr/>
            <p:nvPr/>
          </p:nvGrpSpPr>
          <p:grpSpPr>
            <a:xfrm>
              <a:off x="7298890" y="2670129"/>
              <a:ext cx="1395501" cy="477140"/>
              <a:chOff x="2922327" y="2477698"/>
              <a:chExt cx="1395501" cy="477140"/>
            </a:xfrm>
            <a:grpFill/>
          </p:grpSpPr>
          <p:grpSp>
            <p:nvGrpSpPr>
              <p:cNvPr id="217" name="Group 216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19" name="Group 218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21" name="Straight Connector 220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2" name="Straight Connector 221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3" name="Straight Connector 222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Straight Arrow Connector 223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0" name="Rectangle 219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18" name="Rectangle 217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16" name="Rectangle 215"/>
            <p:cNvSpPr/>
            <p:nvPr/>
          </p:nvSpPr>
          <p:spPr>
            <a:xfrm>
              <a:off x="8423999" y="3090228"/>
              <a:ext cx="113160" cy="113160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7030A0"/>
                  </a:solidFill>
                </a:ln>
              </a:endParaRPr>
            </a:p>
          </p:txBody>
        </p:sp>
      </p:grpSp>
      <p:sp>
        <p:nvSpPr>
          <p:cNvPr id="225" name="Rectangle 224"/>
          <p:cNvSpPr/>
          <p:nvPr/>
        </p:nvSpPr>
        <p:spPr>
          <a:xfrm>
            <a:off x="9609328" y="2149831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6" name="Straight Arrow Connector 225"/>
          <p:cNvCxnSpPr/>
          <p:nvPr/>
        </p:nvCxnSpPr>
        <p:spPr>
          <a:xfrm flipV="1">
            <a:off x="10187381" y="3300087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2" name="Group 231"/>
          <p:cNvGrpSpPr/>
          <p:nvPr/>
        </p:nvGrpSpPr>
        <p:grpSpPr>
          <a:xfrm>
            <a:off x="890760" y="3666314"/>
            <a:ext cx="3551286" cy="2619520"/>
            <a:chOff x="1015051" y="3726203"/>
            <a:chExt cx="3551286" cy="2619520"/>
          </a:xfrm>
        </p:grpSpPr>
        <p:sp>
          <p:nvSpPr>
            <p:cNvPr id="233" name="TextBox 232"/>
            <p:cNvSpPr txBox="1"/>
            <p:nvPr/>
          </p:nvSpPr>
          <p:spPr>
            <a:xfrm>
              <a:off x="1019399" y="3726203"/>
              <a:ext cx="35469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Node*  </a:t>
              </a:r>
              <a:r>
                <a:rPr lang="en-US" dirty="0" err="1">
                  <a:latin typeface="Calisto MT" panose="02040603050505030304" pitchFamily="18" charset="0"/>
                </a:rPr>
                <a:t>findKthNode</a:t>
              </a:r>
              <a:r>
                <a:rPr lang="en-US" dirty="0">
                  <a:latin typeface="Calisto MT" panose="02040603050505030304" pitchFamily="18" charset="0"/>
                </a:rPr>
                <a:t>(</a:t>
              </a:r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k){</a:t>
              </a:r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1015051" y="5976391"/>
              <a:ext cx="41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sp>
        <p:nvSpPr>
          <p:cNvPr id="235" name="TextBox 234"/>
          <p:cNvSpPr txBox="1"/>
          <p:nvPr/>
        </p:nvSpPr>
        <p:spPr>
          <a:xfrm>
            <a:off x="1142758" y="4024590"/>
            <a:ext cx="2259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*temp = head;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6444237" y="2525252"/>
            <a:ext cx="355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Calisto MT" panose="02040603050505030304" pitchFamily="18" charset="0"/>
              </a:rPr>
              <a:t>2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8563929" y="2502420"/>
            <a:ext cx="355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Calisto MT" panose="02040603050505030304" pitchFamily="18" charset="0"/>
              </a:rPr>
              <a:t>3</a:t>
            </a:r>
          </a:p>
        </p:txBody>
      </p:sp>
      <p:grpSp>
        <p:nvGrpSpPr>
          <p:cNvPr id="241" name="Group 240"/>
          <p:cNvGrpSpPr/>
          <p:nvPr/>
        </p:nvGrpSpPr>
        <p:grpSpPr>
          <a:xfrm>
            <a:off x="2221388" y="1718273"/>
            <a:ext cx="729688" cy="1299758"/>
            <a:chOff x="2491874" y="1750121"/>
            <a:chExt cx="729688" cy="1299758"/>
          </a:xfrm>
        </p:grpSpPr>
        <p:cxnSp>
          <p:nvCxnSpPr>
            <p:cNvPr id="242" name="Straight Arrow Connector 241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TextBox 242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temp           </a:t>
              </a:r>
            </a:p>
          </p:txBody>
        </p:sp>
      </p:grpSp>
      <p:sp>
        <p:nvSpPr>
          <p:cNvPr id="244" name="TextBox 243"/>
          <p:cNvSpPr txBox="1"/>
          <p:nvPr/>
        </p:nvSpPr>
        <p:spPr>
          <a:xfrm>
            <a:off x="4067799" y="3693629"/>
            <a:ext cx="3952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Range of </a:t>
            </a:r>
            <a:r>
              <a:rPr lang="en-US" b="1" i="1" dirty="0">
                <a:latin typeface="Calisto MT" panose="02040603050505030304" pitchFamily="18" charset="0"/>
              </a:rPr>
              <a:t>k</a:t>
            </a:r>
            <a:r>
              <a:rPr lang="en-US" dirty="0">
                <a:latin typeface="Calisto MT" panose="02040603050505030304" pitchFamily="18" charset="0"/>
              </a:rPr>
              <a:t> is from 0 to </a:t>
            </a:r>
            <a:r>
              <a:rPr lang="en-US" i="1" dirty="0">
                <a:latin typeface="Calisto MT" panose="02040603050505030304" pitchFamily="18" charset="0"/>
              </a:rPr>
              <a:t>length</a:t>
            </a:r>
            <a:r>
              <a:rPr lang="en-US" dirty="0">
                <a:latin typeface="Calisto MT" panose="02040603050505030304" pitchFamily="18" charset="0"/>
              </a:rPr>
              <a:t>( )-1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4067799" y="4043726"/>
            <a:ext cx="8048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If k=2 then how many times </a:t>
            </a:r>
            <a:r>
              <a:rPr lang="en-US" b="1" i="1" dirty="0">
                <a:latin typeface="Calisto MT" panose="02040603050505030304" pitchFamily="18" charset="0"/>
              </a:rPr>
              <a:t>temp</a:t>
            </a:r>
            <a:r>
              <a:rPr lang="en-US" dirty="0">
                <a:latin typeface="Calisto MT" panose="02040603050505030304" pitchFamily="18" charset="0"/>
              </a:rPr>
              <a:t> needs to be shifted right from current position?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5429454" y="4281861"/>
            <a:ext cx="1029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sto MT" panose="02040603050505030304" pitchFamily="18" charset="0"/>
              </a:rPr>
              <a:t>2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150663" y="4434147"/>
            <a:ext cx="2534756" cy="1063317"/>
            <a:chOff x="1150663" y="4434214"/>
            <a:chExt cx="2534756" cy="1063317"/>
          </a:xfrm>
        </p:grpSpPr>
        <p:sp>
          <p:nvSpPr>
            <p:cNvPr id="247" name="TextBox 246"/>
            <p:cNvSpPr txBox="1"/>
            <p:nvPr/>
          </p:nvSpPr>
          <p:spPr>
            <a:xfrm>
              <a:off x="1156917" y="4434214"/>
              <a:ext cx="25285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for(</a:t>
              </a:r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</a:t>
              </a:r>
              <a:r>
                <a:rPr lang="en-US" dirty="0" err="1">
                  <a:latin typeface="Calisto MT" panose="02040603050505030304" pitchFamily="18" charset="0"/>
                </a:rPr>
                <a:t>i</a:t>
              </a:r>
              <a:r>
                <a:rPr lang="en-US" dirty="0">
                  <a:latin typeface="Calisto MT" panose="02040603050505030304" pitchFamily="18" charset="0"/>
                </a:rPr>
                <a:t>=1; </a:t>
              </a:r>
              <a:r>
                <a:rPr lang="en-US" dirty="0" err="1">
                  <a:latin typeface="Calisto MT" panose="02040603050505030304" pitchFamily="18" charset="0"/>
                </a:rPr>
                <a:t>i</a:t>
              </a:r>
              <a:r>
                <a:rPr lang="en-US" dirty="0">
                  <a:latin typeface="Calisto MT" panose="02040603050505030304" pitchFamily="18" charset="0"/>
                </a:rPr>
                <a:t>&lt;=k; </a:t>
              </a:r>
              <a:r>
                <a:rPr lang="en-US" dirty="0" err="1">
                  <a:latin typeface="Calisto MT" panose="02040603050505030304" pitchFamily="18" charset="0"/>
                </a:rPr>
                <a:t>i</a:t>
              </a:r>
              <a:r>
                <a:rPr lang="en-US" dirty="0">
                  <a:latin typeface="Calisto MT" panose="02040603050505030304" pitchFamily="18" charset="0"/>
                </a:rPr>
                <a:t>++){</a:t>
              </a:r>
            </a:p>
          </p:txBody>
        </p:sp>
        <p:sp>
          <p:nvSpPr>
            <p:cNvPr id="248" name="TextBox 247"/>
            <p:cNvSpPr txBox="1"/>
            <p:nvPr/>
          </p:nvSpPr>
          <p:spPr>
            <a:xfrm>
              <a:off x="1150663" y="5128199"/>
              <a:ext cx="25285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sp>
        <p:nvSpPr>
          <p:cNvPr id="249" name="TextBox 248"/>
          <p:cNvSpPr txBox="1"/>
          <p:nvPr/>
        </p:nvSpPr>
        <p:spPr>
          <a:xfrm>
            <a:off x="1454401" y="4803546"/>
            <a:ext cx="2259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temp = temp-&gt;R;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850" y="1837592"/>
            <a:ext cx="522471" cy="118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TextBox 235"/>
          <p:cNvSpPr txBox="1"/>
          <p:nvPr/>
        </p:nvSpPr>
        <p:spPr>
          <a:xfrm>
            <a:off x="2086292" y="2533135"/>
            <a:ext cx="355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Calisto MT" panose="02040603050505030304" pitchFamily="18" charset="0"/>
              </a:rPr>
              <a:t>0</a:t>
            </a:r>
          </a:p>
        </p:txBody>
      </p:sp>
      <p:grpSp>
        <p:nvGrpSpPr>
          <p:cNvPr id="251" name="Group 250"/>
          <p:cNvGrpSpPr/>
          <p:nvPr/>
        </p:nvGrpSpPr>
        <p:grpSpPr>
          <a:xfrm>
            <a:off x="4825210" y="1711371"/>
            <a:ext cx="678632" cy="1299758"/>
            <a:chOff x="9315288" y="1750121"/>
            <a:chExt cx="678632" cy="1299758"/>
          </a:xfrm>
        </p:grpSpPr>
        <p:cxnSp>
          <p:nvCxnSpPr>
            <p:cNvPr id="252" name="Straight Arrow Connector 251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TextBox 252"/>
            <p:cNvSpPr txBox="1"/>
            <p:nvPr/>
          </p:nvSpPr>
          <p:spPr>
            <a:xfrm>
              <a:off x="9315288" y="1750121"/>
              <a:ext cx="6786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temp           </a:t>
              </a:r>
            </a:p>
          </p:txBody>
        </p:sp>
      </p:grpSp>
      <p:sp>
        <p:nvSpPr>
          <p:cNvPr id="254" name="Rectangle 253"/>
          <p:cNvSpPr/>
          <p:nvPr/>
        </p:nvSpPr>
        <p:spPr>
          <a:xfrm>
            <a:off x="4280740" y="1807027"/>
            <a:ext cx="1156521" cy="118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TextBox 236"/>
          <p:cNvSpPr txBox="1"/>
          <p:nvPr/>
        </p:nvSpPr>
        <p:spPr>
          <a:xfrm>
            <a:off x="4216944" y="2556371"/>
            <a:ext cx="355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Calisto MT" panose="02040603050505030304" pitchFamily="18" charset="0"/>
              </a:rPr>
              <a:t>1</a:t>
            </a:r>
          </a:p>
        </p:txBody>
      </p:sp>
      <p:grpSp>
        <p:nvGrpSpPr>
          <p:cNvPr id="202" name="Group 201"/>
          <p:cNvGrpSpPr/>
          <p:nvPr/>
        </p:nvGrpSpPr>
        <p:grpSpPr>
          <a:xfrm>
            <a:off x="5151554" y="2645891"/>
            <a:ext cx="1395501" cy="529915"/>
            <a:chOff x="5168646" y="2670129"/>
            <a:chExt cx="1395501" cy="529915"/>
          </a:xfrm>
        </p:grpSpPr>
        <p:grpSp>
          <p:nvGrpSpPr>
            <p:cNvPr id="203" name="Group 202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205" name="Group 204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07" name="Group 206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09" name="Straight Connector 208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" name="Straight Connector 209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" name="Straight Connector 210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Straight Arrow Connector 211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08" name="Rectangle 207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06" name="Rectangle 205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04" name="Rectangle 203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3" name="Group 152"/>
          <p:cNvGrpSpPr/>
          <p:nvPr/>
        </p:nvGrpSpPr>
        <p:grpSpPr>
          <a:xfrm>
            <a:off x="3574124" y="2308670"/>
            <a:ext cx="1400614" cy="1209475"/>
            <a:chOff x="3591216" y="2332908"/>
            <a:chExt cx="1400614" cy="1209475"/>
          </a:xfrm>
        </p:grpSpPr>
        <p:grpSp>
          <p:nvGrpSpPr>
            <p:cNvPr id="154" name="Group 153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156" name="Group 155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58" name="Group 157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60" name="Straight Connector 159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Straight Connector 160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Straight Arrow Connector 162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9" name="Rectangle 158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7" name="Rectangle 156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5" name="Rectangle 154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5" name="Group 254"/>
          <p:cNvGrpSpPr/>
          <p:nvPr/>
        </p:nvGrpSpPr>
        <p:grpSpPr>
          <a:xfrm>
            <a:off x="6989326" y="1720766"/>
            <a:ext cx="707013" cy="1299758"/>
            <a:chOff x="9315287" y="1750121"/>
            <a:chExt cx="707013" cy="1299758"/>
          </a:xfrm>
        </p:grpSpPr>
        <p:cxnSp>
          <p:nvCxnSpPr>
            <p:cNvPr id="256" name="Straight Arrow Connector 255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7" name="TextBox 256"/>
            <p:cNvSpPr txBox="1"/>
            <p:nvPr/>
          </p:nvSpPr>
          <p:spPr>
            <a:xfrm>
              <a:off x="9315287" y="1750121"/>
              <a:ext cx="7070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temp          </a:t>
              </a:r>
            </a:p>
          </p:txBody>
        </p:sp>
      </p:grpSp>
      <p:sp>
        <p:nvSpPr>
          <p:cNvPr id="258" name="TextBox 257"/>
          <p:cNvSpPr txBox="1"/>
          <p:nvPr/>
        </p:nvSpPr>
        <p:spPr>
          <a:xfrm>
            <a:off x="6635150" y="1957489"/>
            <a:ext cx="609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alisto MT" panose="02040603050505030304" pitchFamily="18" charset="0"/>
              </a:rPr>
              <a:t>i</a:t>
            </a:r>
            <a:r>
              <a:rPr lang="en-US" b="1" dirty="0">
                <a:latin typeface="Calisto MT" panose="02040603050505030304" pitchFamily="18" charset="0"/>
              </a:rPr>
              <a:t>=2           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150663" y="5497464"/>
            <a:ext cx="2259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return temp;</a:t>
            </a:r>
          </a:p>
        </p:txBody>
      </p:sp>
    </p:spTree>
    <p:extLst>
      <p:ext uri="{BB962C8B-B14F-4D97-AF65-F5344CB8AC3E}">
        <p14:creationId xmlns:p14="http://schemas.microsoft.com/office/powerpoint/2010/main" val="1342132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" grpId="0"/>
      <p:bldP spid="235" grpId="0"/>
      <p:bldP spid="244" grpId="0"/>
      <p:bldP spid="245" grpId="0"/>
      <p:bldP spid="246" grpId="0"/>
      <p:bldP spid="249" grpId="0"/>
      <p:bldP spid="5" grpId="0" animBg="1"/>
      <p:bldP spid="254" grpId="0" animBg="1"/>
      <p:bldP spid="258" grpId="0"/>
      <p:bldP spid="25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463" y="130024"/>
            <a:ext cx="12108074" cy="1450757"/>
          </a:xfrm>
        </p:spPr>
        <p:txBody>
          <a:bodyPr>
            <a:normAutofit/>
          </a:bodyPr>
          <a:lstStyle/>
          <a:p>
            <a:r>
              <a:rPr lang="en-US" sz="3600" b="1" dirty="0"/>
              <a:t>Cut Paste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0C5D-56AF-468F-9301-88586394A899}" type="datetime4">
              <a:rPr lang="en-US" smtClean="0"/>
              <a:t>23 March, 2024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29</a:t>
            </a:fld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-23080" y="2999009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8225847" y="2022502"/>
            <a:ext cx="1209647" cy="992987"/>
            <a:chOff x="10227000" y="2386519"/>
            <a:chExt cx="1209647" cy="992987"/>
          </a:xfrm>
        </p:grpSpPr>
        <p:sp>
          <p:nvSpPr>
            <p:cNvPr id="56" name="Rectangle 55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58" name="Straight Arrow Connector 57"/>
              <p:cNvCxnSpPr>
                <a:stCxn id="59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Box 58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60" name="Group 59"/>
          <p:cNvGrpSpPr/>
          <p:nvPr/>
        </p:nvGrpSpPr>
        <p:grpSpPr>
          <a:xfrm>
            <a:off x="5849602" y="2047617"/>
            <a:ext cx="1209647" cy="992987"/>
            <a:chOff x="10227000" y="2386519"/>
            <a:chExt cx="1209647" cy="992987"/>
          </a:xfrm>
        </p:grpSpPr>
        <p:sp>
          <p:nvSpPr>
            <p:cNvPr id="61" name="Rectangle 60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2" name="Group 61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63" name="Straight Arrow Connector 62"/>
              <p:cNvCxnSpPr>
                <a:stCxn id="77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TextBox 76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83" name="Group 82"/>
          <p:cNvGrpSpPr/>
          <p:nvPr/>
        </p:nvGrpSpPr>
        <p:grpSpPr>
          <a:xfrm>
            <a:off x="1504399" y="2059165"/>
            <a:ext cx="1209647" cy="992987"/>
            <a:chOff x="10227000" y="2386519"/>
            <a:chExt cx="1209647" cy="992987"/>
          </a:xfrm>
        </p:grpSpPr>
        <p:sp>
          <p:nvSpPr>
            <p:cNvPr id="84" name="Rectangle 83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5" name="Group 84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86" name="Straight Arrow Connector 85"/>
              <p:cNvCxnSpPr>
                <a:stCxn id="87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TextBox 86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88" name="Group 87"/>
          <p:cNvGrpSpPr/>
          <p:nvPr/>
        </p:nvGrpSpPr>
        <p:grpSpPr>
          <a:xfrm>
            <a:off x="1316207" y="3079087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89" name="Rectangle 8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1863156" y="3075283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92" name="Rectangle 9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763431" y="307528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95" name="Rectangle 9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2719396" y="305407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04" name="Rectangle 10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6453411" y="302467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10" name="Rectangle 10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8102029" y="3024676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21" name="Rectangle 12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d           </a:t>
              </a:r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8648978" y="302087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24" name="Rectangle 12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26" name="Group 125"/>
          <p:cNvGrpSpPr/>
          <p:nvPr/>
        </p:nvGrpSpPr>
        <p:grpSpPr>
          <a:xfrm>
            <a:off x="7549253" y="302087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48" name="Rectangle 14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50" name="Group 149"/>
          <p:cNvGrpSpPr/>
          <p:nvPr/>
        </p:nvGrpSpPr>
        <p:grpSpPr>
          <a:xfrm>
            <a:off x="9828660" y="1721113"/>
            <a:ext cx="617280" cy="1299758"/>
            <a:chOff x="9315288" y="1750121"/>
            <a:chExt cx="617280" cy="1299758"/>
          </a:xfrm>
        </p:grpSpPr>
        <p:cxnSp>
          <p:nvCxnSpPr>
            <p:cNvPr id="151" name="Straight Arrow Connector 150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TextBox 151"/>
            <p:cNvSpPr txBox="1"/>
            <p:nvPr/>
          </p:nvSpPr>
          <p:spPr>
            <a:xfrm>
              <a:off x="9315288" y="1750121"/>
              <a:ext cx="61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  <p:grpSp>
        <p:nvGrpSpPr>
          <p:cNvPr id="153" name="Group 152"/>
          <p:cNvGrpSpPr/>
          <p:nvPr/>
        </p:nvGrpSpPr>
        <p:grpSpPr>
          <a:xfrm>
            <a:off x="2223792" y="2305291"/>
            <a:ext cx="1362748" cy="1209475"/>
            <a:chOff x="3591216" y="2332908"/>
            <a:chExt cx="1400614" cy="1209475"/>
          </a:xfrm>
        </p:grpSpPr>
        <p:grpSp>
          <p:nvGrpSpPr>
            <p:cNvPr id="154" name="Group 153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156" name="Group 155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58" name="Group 157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60" name="Straight Connector 159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Straight Connector 160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Straight Arrow Connector 162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9" name="Rectangle 158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7" name="Rectangle 156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5" name="Rectangle 154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4" name="Group 163"/>
          <p:cNvGrpSpPr/>
          <p:nvPr/>
        </p:nvGrpSpPr>
        <p:grpSpPr>
          <a:xfrm>
            <a:off x="6891009" y="2296290"/>
            <a:ext cx="1400614" cy="1220856"/>
            <a:chOff x="7976325" y="2325298"/>
            <a:chExt cx="1400614" cy="1220856"/>
          </a:xfrm>
        </p:grpSpPr>
        <p:grpSp>
          <p:nvGrpSpPr>
            <p:cNvPr id="165" name="Group 164"/>
            <p:cNvGrpSpPr/>
            <p:nvPr/>
          </p:nvGrpSpPr>
          <p:grpSpPr>
            <a:xfrm>
              <a:off x="7976325" y="2325298"/>
              <a:ext cx="1400614" cy="1183693"/>
              <a:chOff x="3599762" y="2132867"/>
              <a:chExt cx="1400614" cy="1183693"/>
            </a:xfrm>
          </p:grpSpPr>
          <p:grpSp>
            <p:nvGrpSpPr>
              <p:cNvPr id="167" name="Group 166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69" name="Group 168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71" name="Straight Connector 170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" name="Straight Connector 171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3" name="Straight Connector 172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Arrow Connector 173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70" name="Rectangle 169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8" name="Rectangle 167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6" name="Rectangle 165"/>
            <p:cNvSpPr/>
            <p:nvPr/>
          </p:nvSpPr>
          <p:spPr>
            <a:xfrm>
              <a:off x="8194911" y="3432994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6" name="Rectangle 185"/>
          <p:cNvSpPr/>
          <p:nvPr/>
        </p:nvSpPr>
        <p:spPr>
          <a:xfrm>
            <a:off x="1768269" y="2178049"/>
            <a:ext cx="667120" cy="8428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7" name="Group 186"/>
          <p:cNvGrpSpPr/>
          <p:nvPr/>
        </p:nvGrpSpPr>
        <p:grpSpPr>
          <a:xfrm>
            <a:off x="1406558" y="1721113"/>
            <a:ext cx="729688" cy="1299758"/>
            <a:chOff x="2491874" y="1750121"/>
            <a:chExt cx="729688" cy="1299758"/>
          </a:xfrm>
        </p:grpSpPr>
        <p:cxnSp>
          <p:nvCxnSpPr>
            <p:cNvPr id="188" name="Straight Arrow Connector 187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Box 188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grpSp>
        <p:nvGrpSpPr>
          <p:cNvPr id="202" name="Group 201"/>
          <p:cNvGrpSpPr/>
          <p:nvPr/>
        </p:nvGrpSpPr>
        <p:grpSpPr>
          <a:xfrm>
            <a:off x="3743490" y="2641121"/>
            <a:ext cx="1735341" cy="529915"/>
            <a:chOff x="5168646" y="2670129"/>
            <a:chExt cx="1395501" cy="529915"/>
          </a:xfrm>
        </p:grpSpPr>
        <p:grpSp>
          <p:nvGrpSpPr>
            <p:cNvPr id="203" name="Group 202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205" name="Group 204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07" name="Group 206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09" name="Straight Connector 208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" name="Straight Connector 209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" name="Straight Connector 210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Straight Arrow Connector 211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08" name="Rectangle 207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06" name="Rectangle 205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04" name="Rectangle 203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3" name="Rectangle 212"/>
          <p:cNvSpPr/>
          <p:nvPr/>
        </p:nvSpPr>
        <p:spPr>
          <a:xfrm>
            <a:off x="6151976" y="2155642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4" name="Group 213"/>
          <p:cNvGrpSpPr/>
          <p:nvPr/>
        </p:nvGrpSpPr>
        <p:grpSpPr>
          <a:xfrm>
            <a:off x="6213574" y="2641121"/>
            <a:ext cx="1395501" cy="533259"/>
            <a:chOff x="7298890" y="2670129"/>
            <a:chExt cx="1395501" cy="533259"/>
          </a:xfrm>
          <a:solidFill>
            <a:srgbClr val="7030A0"/>
          </a:solidFill>
        </p:grpSpPr>
        <p:grpSp>
          <p:nvGrpSpPr>
            <p:cNvPr id="215" name="Group 214"/>
            <p:cNvGrpSpPr/>
            <p:nvPr/>
          </p:nvGrpSpPr>
          <p:grpSpPr>
            <a:xfrm>
              <a:off x="7298890" y="2670129"/>
              <a:ext cx="1395501" cy="477140"/>
              <a:chOff x="2922327" y="2477698"/>
              <a:chExt cx="1395501" cy="477140"/>
            </a:xfrm>
            <a:grpFill/>
          </p:grpSpPr>
          <p:grpSp>
            <p:nvGrpSpPr>
              <p:cNvPr id="217" name="Group 216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19" name="Group 218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21" name="Straight Connector 220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2" name="Straight Connector 221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3" name="Straight Connector 222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Straight Arrow Connector 223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0" name="Rectangle 219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18" name="Rectangle 217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16" name="Rectangle 215"/>
            <p:cNvSpPr/>
            <p:nvPr/>
          </p:nvSpPr>
          <p:spPr>
            <a:xfrm>
              <a:off x="8423999" y="3090228"/>
              <a:ext cx="113160" cy="113160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7030A0"/>
                  </a:solidFill>
                </a:ln>
              </a:endParaRPr>
            </a:p>
          </p:txBody>
        </p:sp>
      </p:grpSp>
      <p:sp>
        <p:nvSpPr>
          <p:cNvPr id="225" name="Rectangle 224"/>
          <p:cNvSpPr/>
          <p:nvPr/>
        </p:nvSpPr>
        <p:spPr>
          <a:xfrm>
            <a:off x="8541104" y="2145061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2" name="Group 231"/>
          <p:cNvGrpSpPr/>
          <p:nvPr/>
        </p:nvGrpSpPr>
        <p:grpSpPr>
          <a:xfrm>
            <a:off x="10182940" y="2028060"/>
            <a:ext cx="1209647" cy="992987"/>
            <a:chOff x="10227000" y="2386519"/>
            <a:chExt cx="1209647" cy="992987"/>
          </a:xfrm>
        </p:grpSpPr>
        <p:sp>
          <p:nvSpPr>
            <p:cNvPr id="233" name="Rectangle 232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4" name="Group 233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235" name="Straight Arrow Connector 234"/>
              <p:cNvCxnSpPr>
                <a:stCxn id="236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6" name="TextBox 235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240" name="Group 239"/>
          <p:cNvGrpSpPr/>
          <p:nvPr/>
        </p:nvGrpSpPr>
        <p:grpSpPr>
          <a:xfrm>
            <a:off x="10239800" y="3008924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41" name="Rectangle 24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e           </a:t>
              </a:r>
            </a:p>
          </p:txBody>
        </p:sp>
      </p:grpSp>
      <p:grpSp>
        <p:nvGrpSpPr>
          <p:cNvPr id="243" name="Group 242"/>
          <p:cNvGrpSpPr/>
          <p:nvPr/>
        </p:nvGrpSpPr>
        <p:grpSpPr>
          <a:xfrm>
            <a:off x="10786749" y="3005120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44" name="Rectangle 24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246" name="Group 245"/>
          <p:cNvGrpSpPr/>
          <p:nvPr/>
        </p:nvGrpSpPr>
        <p:grpSpPr>
          <a:xfrm>
            <a:off x="9687024" y="3005119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47" name="Rectangle 24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TextBox 24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9025851" y="2283738"/>
            <a:ext cx="1400614" cy="1226567"/>
            <a:chOff x="5777829" y="2332303"/>
            <a:chExt cx="1400614" cy="1226567"/>
          </a:xfrm>
        </p:grpSpPr>
        <p:grpSp>
          <p:nvGrpSpPr>
            <p:cNvPr id="250" name="Group 249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252" name="Group 251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54" name="Group 253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56" name="Straight Connector 255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7" name="Straight Connector 256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8" name="Straight Connector 257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9" name="Straight Arrow Connector 258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55" name="Rectangle 254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53" name="Rectangle 252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1" name="Rectangle 250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0" name="Rectangle 259"/>
          <p:cNvSpPr/>
          <p:nvPr/>
        </p:nvSpPr>
        <p:spPr>
          <a:xfrm>
            <a:off x="8307132" y="2137052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1" name="Group 260"/>
          <p:cNvGrpSpPr/>
          <p:nvPr/>
        </p:nvGrpSpPr>
        <p:grpSpPr>
          <a:xfrm>
            <a:off x="8416668" y="2621564"/>
            <a:ext cx="1395501" cy="529915"/>
            <a:chOff x="5168646" y="2670129"/>
            <a:chExt cx="1395501" cy="529915"/>
          </a:xfrm>
        </p:grpSpPr>
        <p:grpSp>
          <p:nvGrpSpPr>
            <p:cNvPr id="262" name="Group 261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264" name="Group 263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66" name="Group 265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68" name="Straight Connector 267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9" name="Straight Connector 268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0" name="Straight Connector 269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1" name="Straight Arrow Connector 270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67" name="Rectangle 266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65" name="Rectangle 264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63" name="Rectangle 262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2" name="Rectangle 271"/>
          <p:cNvSpPr/>
          <p:nvPr/>
        </p:nvSpPr>
        <p:spPr>
          <a:xfrm>
            <a:off x="10485314" y="2136085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11466710" y="3091094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226" name="Straight Arrow Connector 225"/>
          <p:cNvCxnSpPr/>
          <p:nvPr/>
        </p:nvCxnSpPr>
        <p:spPr>
          <a:xfrm flipV="1">
            <a:off x="11241405" y="3295465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TextBox 272"/>
          <p:cNvSpPr txBox="1"/>
          <p:nvPr/>
        </p:nvSpPr>
        <p:spPr>
          <a:xfrm>
            <a:off x="482773" y="4305773"/>
            <a:ext cx="1659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err="1">
                <a:latin typeface="Calisto MT" panose="02040603050505030304" pitchFamily="18" charset="0"/>
              </a:rPr>
              <a:t>cutPaste</a:t>
            </a:r>
            <a:r>
              <a:rPr lang="en-US" dirty="0">
                <a:latin typeface="Calisto MT" panose="02040603050505030304" pitchFamily="18" charset="0"/>
              </a:rPr>
              <a:t>(2)           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693548" y="4674959"/>
            <a:ext cx="4330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sto MT" panose="02040603050505030304" pitchFamily="18" charset="0"/>
              </a:rPr>
              <a:t>Cuts first two nodes from the beginning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693547" y="5021440"/>
            <a:ext cx="4330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sto MT" panose="02040603050505030304" pitchFamily="18" charset="0"/>
              </a:rPr>
              <a:t>Pastes it at the end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477144" y="3397145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ight Brace 3"/>
          <p:cNvSpPr/>
          <p:nvPr/>
        </p:nvSpPr>
        <p:spPr>
          <a:xfrm rot="5400000">
            <a:off x="2366922" y="1988560"/>
            <a:ext cx="411670" cy="3816031"/>
          </a:xfrm>
          <a:prstGeom prst="rightBrace">
            <a:avLst>
              <a:gd name="adj1" fmla="val 56077"/>
              <a:gd name="adj2" fmla="val 50000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12323" y="1811708"/>
            <a:ext cx="823923" cy="12129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0" name="Group 189"/>
          <p:cNvGrpSpPr/>
          <p:nvPr/>
        </p:nvGrpSpPr>
        <p:grpSpPr>
          <a:xfrm>
            <a:off x="1844054" y="2698598"/>
            <a:ext cx="917376" cy="528191"/>
            <a:chOff x="2913781" y="2677739"/>
            <a:chExt cx="1395501" cy="528191"/>
          </a:xfrm>
        </p:grpSpPr>
        <p:grpSp>
          <p:nvGrpSpPr>
            <p:cNvPr id="191" name="Group 190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193" name="Group 192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195" name="Group 194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97" name="Straight Connector 196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Straight Connector 197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" name="Straight Connector 198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0" name="Straight Arrow Connector 199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6" name="Rectangle 195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4" name="Rectangle 193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2" name="Rectangle 191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 5"/>
          <p:cNvSpPr/>
          <p:nvPr/>
        </p:nvSpPr>
        <p:spPr>
          <a:xfrm>
            <a:off x="3639258" y="2564817"/>
            <a:ext cx="1928055" cy="637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7" name="Group 96"/>
          <p:cNvGrpSpPr/>
          <p:nvPr/>
        </p:nvGrpSpPr>
        <p:grpSpPr>
          <a:xfrm>
            <a:off x="3272172" y="3057876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98" name="Rectangle 9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b           </a:t>
              </a:r>
            </a:p>
          </p:txBody>
        </p:sp>
      </p:grpSp>
      <p:grpSp>
        <p:nvGrpSpPr>
          <p:cNvPr id="175" name="Group 174"/>
          <p:cNvGrpSpPr/>
          <p:nvPr/>
        </p:nvGrpSpPr>
        <p:grpSpPr>
          <a:xfrm>
            <a:off x="4093460" y="2303295"/>
            <a:ext cx="1999668" cy="1226567"/>
            <a:chOff x="5777829" y="2332303"/>
            <a:chExt cx="1400614" cy="1226567"/>
          </a:xfrm>
        </p:grpSpPr>
        <p:grpSp>
          <p:nvGrpSpPr>
            <p:cNvPr id="176" name="Group 175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178" name="Group 177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80" name="Group 179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82" name="Straight Connector 181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3" name="Straight Connector 182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4" name="Straight Connector 183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5" name="Straight Arrow Connector 184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81" name="Rectangle 180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9" name="Rectangle 178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7" name="Rectangle 176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3869812" y="2235462"/>
            <a:ext cx="2249326" cy="1360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6" name="Group 105"/>
          <p:cNvGrpSpPr/>
          <p:nvPr/>
        </p:nvGrpSpPr>
        <p:grpSpPr>
          <a:xfrm>
            <a:off x="5906462" y="3028481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07" name="Rectangle 10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5353686" y="302467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18" name="Rectangle 11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278" name="Group 277"/>
          <p:cNvGrpSpPr/>
          <p:nvPr/>
        </p:nvGrpSpPr>
        <p:grpSpPr>
          <a:xfrm>
            <a:off x="5471771" y="1728118"/>
            <a:ext cx="729688" cy="1299758"/>
            <a:chOff x="2491874" y="1750121"/>
            <a:chExt cx="729688" cy="1299758"/>
          </a:xfrm>
        </p:grpSpPr>
        <p:cxnSp>
          <p:nvCxnSpPr>
            <p:cNvPr id="279" name="Straight Arrow Connector 278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0" name="TextBox 279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3819121" y="305407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01" name="Rectangle 10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cxnSp>
        <p:nvCxnSpPr>
          <p:cNvPr id="276" name="Straight Arrow Connector 275"/>
          <p:cNvCxnSpPr/>
          <p:nvPr/>
        </p:nvCxnSpPr>
        <p:spPr>
          <a:xfrm flipH="1">
            <a:off x="5103634" y="3295317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TextBox 276"/>
          <p:cNvSpPr txBox="1"/>
          <p:nvPr/>
        </p:nvSpPr>
        <p:spPr>
          <a:xfrm>
            <a:off x="4426679" y="3110046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281" name="Straight Arrow Connector 280"/>
          <p:cNvCxnSpPr/>
          <p:nvPr/>
        </p:nvCxnSpPr>
        <p:spPr>
          <a:xfrm flipV="1">
            <a:off x="4303807" y="3292018"/>
            <a:ext cx="199593" cy="97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22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" grpId="0"/>
      <p:bldP spid="274" grpId="0"/>
      <p:bldP spid="275" grpId="0"/>
      <p:bldP spid="4" grpId="0" animBg="1"/>
      <p:bldP spid="5" grpId="0" animBg="1"/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463" y="130024"/>
            <a:ext cx="12108074" cy="1450757"/>
          </a:xfrm>
        </p:spPr>
        <p:txBody>
          <a:bodyPr>
            <a:normAutofit/>
          </a:bodyPr>
          <a:lstStyle/>
          <a:p>
            <a:r>
              <a:rPr lang="en-US" sz="3600" b="1" dirty="0"/>
              <a:t>Cut Paste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0C5D-56AF-468F-9301-88586394A899}" type="datetime4">
              <a:rPr lang="en-US" smtClean="0"/>
              <a:t>23 March, 2024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30</a:t>
            </a:fld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6766335" y="4695544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3750777" y="2019818"/>
            <a:ext cx="1209647" cy="992987"/>
            <a:chOff x="10227000" y="2386519"/>
            <a:chExt cx="1209647" cy="992987"/>
          </a:xfrm>
        </p:grpSpPr>
        <p:sp>
          <p:nvSpPr>
            <p:cNvPr id="56" name="Rectangle 55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58" name="Straight Arrow Connector 57"/>
              <p:cNvCxnSpPr>
                <a:stCxn id="59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Box 58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60" name="Group 59"/>
          <p:cNvGrpSpPr/>
          <p:nvPr/>
        </p:nvGrpSpPr>
        <p:grpSpPr>
          <a:xfrm>
            <a:off x="1374532" y="2044933"/>
            <a:ext cx="1209647" cy="992987"/>
            <a:chOff x="10227000" y="2386519"/>
            <a:chExt cx="1209647" cy="992987"/>
          </a:xfrm>
        </p:grpSpPr>
        <p:sp>
          <p:nvSpPr>
            <p:cNvPr id="61" name="Rectangle 60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2" name="Group 61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63" name="Straight Arrow Connector 62"/>
              <p:cNvCxnSpPr>
                <a:stCxn id="77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TextBox 76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83" name="Group 82"/>
          <p:cNvGrpSpPr/>
          <p:nvPr/>
        </p:nvGrpSpPr>
        <p:grpSpPr>
          <a:xfrm>
            <a:off x="8293814" y="3755700"/>
            <a:ext cx="1209647" cy="992987"/>
            <a:chOff x="10227000" y="2386519"/>
            <a:chExt cx="1209647" cy="992987"/>
          </a:xfrm>
        </p:grpSpPr>
        <p:sp>
          <p:nvSpPr>
            <p:cNvPr id="84" name="Rectangle 83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5" name="Group 84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86" name="Straight Arrow Connector 85"/>
              <p:cNvCxnSpPr>
                <a:stCxn id="87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TextBox 86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88" name="Group 87"/>
          <p:cNvGrpSpPr/>
          <p:nvPr/>
        </p:nvGrpSpPr>
        <p:grpSpPr>
          <a:xfrm>
            <a:off x="8105622" y="4775622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89" name="Rectangle 8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8652571" y="4771818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92" name="Rectangle 9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7552846" y="477181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95" name="Rectangle 9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9508811" y="475060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04" name="Rectangle 10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1978341" y="3021993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10" name="Rectangle 10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3626959" y="3021992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21" name="Rectangle 12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d           </a:t>
              </a:r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4173908" y="3018188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24" name="Rectangle 12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26" name="Group 125"/>
          <p:cNvGrpSpPr/>
          <p:nvPr/>
        </p:nvGrpSpPr>
        <p:grpSpPr>
          <a:xfrm>
            <a:off x="3074183" y="301818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48" name="Rectangle 14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50" name="Group 149"/>
          <p:cNvGrpSpPr/>
          <p:nvPr/>
        </p:nvGrpSpPr>
        <p:grpSpPr>
          <a:xfrm>
            <a:off x="5353590" y="1718429"/>
            <a:ext cx="617280" cy="1299758"/>
            <a:chOff x="9315288" y="1750121"/>
            <a:chExt cx="617280" cy="1299758"/>
          </a:xfrm>
        </p:grpSpPr>
        <p:cxnSp>
          <p:nvCxnSpPr>
            <p:cNvPr id="151" name="Straight Arrow Connector 150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TextBox 151"/>
            <p:cNvSpPr txBox="1"/>
            <p:nvPr/>
          </p:nvSpPr>
          <p:spPr>
            <a:xfrm>
              <a:off x="9315288" y="1750121"/>
              <a:ext cx="61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  <p:grpSp>
        <p:nvGrpSpPr>
          <p:cNvPr id="153" name="Group 152"/>
          <p:cNvGrpSpPr/>
          <p:nvPr/>
        </p:nvGrpSpPr>
        <p:grpSpPr>
          <a:xfrm>
            <a:off x="9013207" y="4001826"/>
            <a:ext cx="1362748" cy="1209475"/>
            <a:chOff x="3591216" y="2332908"/>
            <a:chExt cx="1400614" cy="1209475"/>
          </a:xfrm>
        </p:grpSpPr>
        <p:grpSp>
          <p:nvGrpSpPr>
            <p:cNvPr id="154" name="Group 153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156" name="Group 155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58" name="Group 157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60" name="Straight Connector 159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Straight Connector 160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Straight Arrow Connector 162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9" name="Rectangle 158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7" name="Rectangle 156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5" name="Rectangle 154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4" name="Group 163"/>
          <p:cNvGrpSpPr/>
          <p:nvPr/>
        </p:nvGrpSpPr>
        <p:grpSpPr>
          <a:xfrm>
            <a:off x="2415939" y="2293606"/>
            <a:ext cx="1400614" cy="1220856"/>
            <a:chOff x="7976325" y="2325298"/>
            <a:chExt cx="1400614" cy="1220856"/>
          </a:xfrm>
        </p:grpSpPr>
        <p:grpSp>
          <p:nvGrpSpPr>
            <p:cNvPr id="165" name="Group 164"/>
            <p:cNvGrpSpPr/>
            <p:nvPr/>
          </p:nvGrpSpPr>
          <p:grpSpPr>
            <a:xfrm>
              <a:off x="7976325" y="2325298"/>
              <a:ext cx="1400614" cy="1183693"/>
              <a:chOff x="3599762" y="2132867"/>
              <a:chExt cx="1400614" cy="1183693"/>
            </a:xfrm>
          </p:grpSpPr>
          <p:grpSp>
            <p:nvGrpSpPr>
              <p:cNvPr id="167" name="Group 166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69" name="Group 168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71" name="Straight Connector 170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" name="Straight Connector 171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3" name="Straight Connector 172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Arrow Connector 173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70" name="Rectangle 169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8" name="Rectangle 167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6" name="Rectangle 165"/>
            <p:cNvSpPr/>
            <p:nvPr/>
          </p:nvSpPr>
          <p:spPr>
            <a:xfrm>
              <a:off x="8194911" y="3432994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6" name="Rectangle 185"/>
          <p:cNvSpPr/>
          <p:nvPr/>
        </p:nvSpPr>
        <p:spPr>
          <a:xfrm>
            <a:off x="8557684" y="3874584"/>
            <a:ext cx="667120" cy="8428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Rectangle 212"/>
          <p:cNvSpPr/>
          <p:nvPr/>
        </p:nvSpPr>
        <p:spPr>
          <a:xfrm>
            <a:off x="1676906" y="2152958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4" name="Group 213"/>
          <p:cNvGrpSpPr/>
          <p:nvPr/>
        </p:nvGrpSpPr>
        <p:grpSpPr>
          <a:xfrm>
            <a:off x="1738504" y="2638437"/>
            <a:ext cx="1395501" cy="533259"/>
            <a:chOff x="7298890" y="2670129"/>
            <a:chExt cx="1395501" cy="533259"/>
          </a:xfrm>
          <a:solidFill>
            <a:srgbClr val="7030A0"/>
          </a:solidFill>
        </p:grpSpPr>
        <p:grpSp>
          <p:nvGrpSpPr>
            <p:cNvPr id="215" name="Group 214"/>
            <p:cNvGrpSpPr/>
            <p:nvPr/>
          </p:nvGrpSpPr>
          <p:grpSpPr>
            <a:xfrm>
              <a:off x="7298890" y="2670129"/>
              <a:ext cx="1395501" cy="477140"/>
              <a:chOff x="2922327" y="2477698"/>
              <a:chExt cx="1395501" cy="477140"/>
            </a:xfrm>
            <a:grpFill/>
          </p:grpSpPr>
          <p:grpSp>
            <p:nvGrpSpPr>
              <p:cNvPr id="217" name="Group 216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19" name="Group 218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21" name="Straight Connector 220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2" name="Straight Connector 221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3" name="Straight Connector 222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Straight Arrow Connector 223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0" name="Rectangle 219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18" name="Rectangle 217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16" name="Rectangle 215"/>
            <p:cNvSpPr/>
            <p:nvPr/>
          </p:nvSpPr>
          <p:spPr>
            <a:xfrm>
              <a:off x="8423999" y="3090228"/>
              <a:ext cx="113160" cy="113160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7030A0"/>
                  </a:solidFill>
                </a:ln>
              </a:endParaRPr>
            </a:p>
          </p:txBody>
        </p:sp>
      </p:grpSp>
      <p:sp>
        <p:nvSpPr>
          <p:cNvPr id="225" name="Rectangle 224"/>
          <p:cNvSpPr/>
          <p:nvPr/>
        </p:nvSpPr>
        <p:spPr>
          <a:xfrm>
            <a:off x="4066034" y="2142377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2" name="Group 231"/>
          <p:cNvGrpSpPr/>
          <p:nvPr/>
        </p:nvGrpSpPr>
        <p:grpSpPr>
          <a:xfrm>
            <a:off x="5707870" y="2025376"/>
            <a:ext cx="1209647" cy="992987"/>
            <a:chOff x="10227000" y="2386519"/>
            <a:chExt cx="1209647" cy="992987"/>
          </a:xfrm>
        </p:grpSpPr>
        <p:sp>
          <p:nvSpPr>
            <p:cNvPr id="233" name="Rectangle 232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4" name="Group 233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235" name="Straight Arrow Connector 234"/>
              <p:cNvCxnSpPr>
                <a:stCxn id="236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6" name="TextBox 235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240" name="Group 239"/>
          <p:cNvGrpSpPr/>
          <p:nvPr/>
        </p:nvGrpSpPr>
        <p:grpSpPr>
          <a:xfrm>
            <a:off x="5764730" y="3006240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41" name="Rectangle 24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e           </a:t>
              </a:r>
            </a:p>
          </p:txBody>
        </p:sp>
      </p:grpSp>
      <p:grpSp>
        <p:nvGrpSpPr>
          <p:cNvPr id="243" name="Group 242"/>
          <p:cNvGrpSpPr/>
          <p:nvPr/>
        </p:nvGrpSpPr>
        <p:grpSpPr>
          <a:xfrm>
            <a:off x="6311679" y="300243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44" name="Rectangle 24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246" name="Group 245"/>
          <p:cNvGrpSpPr/>
          <p:nvPr/>
        </p:nvGrpSpPr>
        <p:grpSpPr>
          <a:xfrm>
            <a:off x="5211954" y="3002435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47" name="Rectangle 24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TextBox 24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4550781" y="2281054"/>
            <a:ext cx="1400614" cy="1226567"/>
            <a:chOff x="5777829" y="2332303"/>
            <a:chExt cx="1400614" cy="1226567"/>
          </a:xfrm>
        </p:grpSpPr>
        <p:grpSp>
          <p:nvGrpSpPr>
            <p:cNvPr id="250" name="Group 249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252" name="Group 251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54" name="Group 253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56" name="Straight Connector 255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7" name="Straight Connector 256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8" name="Straight Connector 257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9" name="Straight Arrow Connector 258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55" name="Rectangle 254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53" name="Rectangle 252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1" name="Rectangle 250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0" name="Rectangle 259"/>
          <p:cNvSpPr/>
          <p:nvPr/>
        </p:nvSpPr>
        <p:spPr>
          <a:xfrm>
            <a:off x="3832062" y="2134368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1" name="Group 260"/>
          <p:cNvGrpSpPr/>
          <p:nvPr/>
        </p:nvGrpSpPr>
        <p:grpSpPr>
          <a:xfrm>
            <a:off x="3941598" y="2618880"/>
            <a:ext cx="1395501" cy="529915"/>
            <a:chOff x="5168646" y="2670129"/>
            <a:chExt cx="1395501" cy="529915"/>
          </a:xfrm>
        </p:grpSpPr>
        <p:grpSp>
          <p:nvGrpSpPr>
            <p:cNvPr id="262" name="Group 261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264" name="Group 263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66" name="Group 265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68" name="Straight Connector 267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9" name="Straight Connector 268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0" name="Straight Connector 269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1" name="Straight Arrow Connector 270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67" name="Rectangle 266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65" name="Rectangle 264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63" name="Rectangle 262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2" name="Rectangle 271"/>
          <p:cNvSpPr/>
          <p:nvPr/>
        </p:nvSpPr>
        <p:spPr>
          <a:xfrm>
            <a:off x="6010244" y="2133401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991640" y="3088410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226" name="Straight Arrow Connector 225"/>
          <p:cNvCxnSpPr/>
          <p:nvPr/>
        </p:nvCxnSpPr>
        <p:spPr>
          <a:xfrm flipV="1">
            <a:off x="6766335" y="3292781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TextBox 272"/>
          <p:cNvSpPr txBox="1"/>
          <p:nvPr/>
        </p:nvSpPr>
        <p:spPr>
          <a:xfrm>
            <a:off x="482773" y="4305773"/>
            <a:ext cx="1659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err="1">
                <a:latin typeface="Calisto MT" panose="02040603050505030304" pitchFamily="18" charset="0"/>
              </a:rPr>
              <a:t>cutPaste</a:t>
            </a:r>
            <a:r>
              <a:rPr lang="en-US" dirty="0">
                <a:latin typeface="Calisto MT" panose="02040603050505030304" pitchFamily="18" charset="0"/>
              </a:rPr>
              <a:t>(2)           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693548" y="4674959"/>
            <a:ext cx="4330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sto MT" panose="02040603050505030304" pitchFamily="18" charset="0"/>
              </a:rPr>
              <a:t>Cuts first two nodes from the beginning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693547" y="5021440"/>
            <a:ext cx="4330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sto MT" panose="02040603050505030304" pitchFamily="18" charset="0"/>
              </a:rPr>
              <a:t>Pastes it at the end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7266559" y="5093680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0" name="Group 189"/>
          <p:cNvGrpSpPr/>
          <p:nvPr/>
        </p:nvGrpSpPr>
        <p:grpSpPr>
          <a:xfrm>
            <a:off x="8633469" y="4395133"/>
            <a:ext cx="917376" cy="528191"/>
            <a:chOff x="2913781" y="2677739"/>
            <a:chExt cx="1395501" cy="528191"/>
          </a:xfrm>
        </p:grpSpPr>
        <p:grpSp>
          <p:nvGrpSpPr>
            <p:cNvPr id="191" name="Group 190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193" name="Group 192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195" name="Group 194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97" name="Straight Connector 196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Straight Connector 197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" name="Straight Connector 198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0" name="Straight Arrow Connector 199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6" name="Rectangle 195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4" name="Rectangle 193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2" name="Rectangle 191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10061587" y="4754411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98" name="Rectangle 9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b           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1431392" y="3025797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07" name="Rectangle 10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878616" y="302199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18" name="Rectangle 11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278" name="Group 277"/>
          <p:cNvGrpSpPr/>
          <p:nvPr/>
        </p:nvGrpSpPr>
        <p:grpSpPr>
          <a:xfrm>
            <a:off x="996701" y="1725434"/>
            <a:ext cx="729688" cy="1299758"/>
            <a:chOff x="2491874" y="1750121"/>
            <a:chExt cx="729688" cy="1299758"/>
          </a:xfrm>
        </p:grpSpPr>
        <p:cxnSp>
          <p:nvCxnSpPr>
            <p:cNvPr id="279" name="Straight Arrow Connector 278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0" name="TextBox 279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10608536" y="475060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01" name="Rectangle 10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cxnSp>
        <p:nvCxnSpPr>
          <p:cNvPr id="276" name="Straight Arrow Connector 275"/>
          <p:cNvCxnSpPr/>
          <p:nvPr/>
        </p:nvCxnSpPr>
        <p:spPr>
          <a:xfrm flipH="1">
            <a:off x="628564" y="3292633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TextBox 276"/>
          <p:cNvSpPr txBox="1"/>
          <p:nvPr/>
        </p:nvSpPr>
        <p:spPr>
          <a:xfrm>
            <a:off x="-48391" y="3107362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281" name="Straight Arrow Connector 280"/>
          <p:cNvCxnSpPr/>
          <p:nvPr/>
        </p:nvCxnSpPr>
        <p:spPr>
          <a:xfrm>
            <a:off x="11093222" y="4998325"/>
            <a:ext cx="313810" cy="53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/>
          <p:cNvSpPr txBox="1"/>
          <p:nvPr/>
        </p:nvSpPr>
        <p:spPr>
          <a:xfrm>
            <a:off x="11394148" y="4810164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</p:spTree>
    <p:extLst>
      <p:ext uri="{BB962C8B-B14F-4D97-AF65-F5344CB8AC3E}">
        <p14:creationId xmlns:p14="http://schemas.microsoft.com/office/powerpoint/2010/main" val="33862390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463" y="130024"/>
            <a:ext cx="12108074" cy="1450757"/>
          </a:xfrm>
        </p:spPr>
        <p:txBody>
          <a:bodyPr>
            <a:normAutofit/>
          </a:bodyPr>
          <a:lstStyle/>
          <a:p>
            <a:r>
              <a:rPr lang="en-US" sz="3600" b="1" dirty="0"/>
              <a:t>Cut Paste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0C5D-56AF-468F-9301-88586394A899}" type="datetime4">
              <a:rPr lang="en-US" smtClean="0"/>
              <a:t>23 March, 2024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31</a:t>
            </a:fld>
            <a:endParaRPr lang="en-US"/>
          </a:p>
        </p:txBody>
      </p:sp>
      <p:grpSp>
        <p:nvGrpSpPr>
          <p:cNvPr id="55" name="Group 54"/>
          <p:cNvGrpSpPr/>
          <p:nvPr/>
        </p:nvGrpSpPr>
        <p:grpSpPr>
          <a:xfrm>
            <a:off x="3750777" y="2019818"/>
            <a:ext cx="1209647" cy="992987"/>
            <a:chOff x="10227000" y="2386519"/>
            <a:chExt cx="1209647" cy="992987"/>
          </a:xfrm>
        </p:grpSpPr>
        <p:sp>
          <p:nvSpPr>
            <p:cNvPr id="56" name="Rectangle 55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58" name="Straight Arrow Connector 57"/>
              <p:cNvCxnSpPr>
                <a:stCxn id="59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Box 58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60" name="Group 59"/>
          <p:cNvGrpSpPr/>
          <p:nvPr/>
        </p:nvGrpSpPr>
        <p:grpSpPr>
          <a:xfrm>
            <a:off x="1374532" y="2044933"/>
            <a:ext cx="1209647" cy="992987"/>
            <a:chOff x="10227000" y="2386519"/>
            <a:chExt cx="1209647" cy="992987"/>
          </a:xfrm>
        </p:grpSpPr>
        <p:sp>
          <p:nvSpPr>
            <p:cNvPr id="61" name="Rectangle 60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2" name="Group 61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63" name="Straight Arrow Connector 62"/>
              <p:cNvCxnSpPr>
                <a:stCxn id="77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TextBox 76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83" name="Group 82"/>
          <p:cNvGrpSpPr/>
          <p:nvPr/>
        </p:nvGrpSpPr>
        <p:grpSpPr>
          <a:xfrm>
            <a:off x="8554083" y="1981739"/>
            <a:ext cx="1209647" cy="992987"/>
            <a:chOff x="10227000" y="2386519"/>
            <a:chExt cx="1209647" cy="992987"/>
          </a:xfrm>
        </p:grpSpPr>
        <p:sp>
          <p:nvSpPr>
            <p:cNvPr id="84" name="Rectangle 83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5" name="Group 84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86" name="Straight Arrow Connector 85"/>
              <p:cNvCxnSpPr>
                <a:stCxn id="87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TextBox 86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88" name="Group 87"/>
          <p:cNvGrpSpPr/>
          <p:nvPr/>
        </p:nvGrpSpPr>
        <p:grpSpPr>
          <a:xfrm>
            <a:off x="8365891" y="3001661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89" name="Rectangle 8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8912840" y="299785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92" name="Rectangle 9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9769080" y="2976645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04" name="Rectangle 10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1978341" y="3021993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10" name="Rectangle 10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3626959" y="3021992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21" name="Rectangle 12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d           </a:t>
              </a:r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4173908" y="3018188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24" name="Rectangle 12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126" name="Group 125"/>
          <p:cNvGrpSpPr/>
          <p:nvPr/>
        </p:nvGrpSpPr>
        <p:grpSpPr>
          <a:xfrm>
            <a:off x="3074183" y="301818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48" name="Rectangle 14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53" name="Group 152"/>
          <p:cNvGrpSpPr/>
          <p:nvPr/>
        </p:nvGrpSpPr>
        <p:grpSpPr>
          <a:xfrm>
            <a:off x="9273476" y="2227865"/>
            <a:ext cx="1362748" cy="1209475"/>
            <a:chOff x="3591216" y="2332908"/>
            <a:chExt cx="1400614" cy="1209475"/>
          </a:xfrm>
        </p:grpSpPr>
        <p:grpSp>
          <p:nvGrpSpPr>
            <p:cNvPr id="154" name="Group 153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156" name="Group 155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58" name="Group 157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60" name="Straight Connector 159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Straight Connector 160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Straight Arrow Connector 162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9" name="Rectangle 158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7" name="Rectangle 156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5" name="Rectangle 154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4" name="Group 163"/>
          <p:cNvGrpSpPr/>
          <p:nvPr/>
        </p:nvGrpSpPr>
        <p:grpSpPr>
          <a:xfrm>
            <a:off x="2415939" y="2293606"/>
            <a:ext cx="1400614" cy="1220856"/>
            <a:chOff x="7976325" y="2325298"/>
            <a:chExt cx="1400614" cy="1220856"/>
          </a:xfrm>
        </p:grpSpPr>
        <p:grpSp>
          <p:nvGrpSpPr>
            <p:cNvPr id="165" name="Group 164"/>
            <p:cNvGrpSpPr/>
            <p:nvPr/>
          </p:nvGrpSpPr>
          <p:grpSpPr>
            <a:xfrm>
              <a:off x="7976325" y="2325298"/>
              <a:ext cx="1400614" cy="1183693"/>
              <a:chOff x="3599762" y="2132867"/>
              <a:chExt cx="1400614" cy="1183693"/>
            </a:xfrm>
          </p:grpSpPr>
          <p:grpSp>
            <p:nvGrpSpPr>
              <p:cNvPr id="167" name="Group 166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69" name="Group 168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71" name="Straight Connector 170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" name="Straight Connector 171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3" name="Straight Connector 172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Arrow Connector 173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70" name="Rectangle 169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8" name="Rectangle 167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6" name="Rectangle 165"/>
            <p:cNvSpPr/>
            <p:nvPr/>
          </p:nvSpPr>
          <p:spPr>
            <a:xfrm>
              <a:off x="8194911" y="3432994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6" name="Rectangle 185"/>
          <p:cNvSpPr/>
          <p:nvPr/>
        </p:nvSpPr>
        <p:spPr>
          <a:xfrm>
            <a:off x="8817953" y="2100623"/>
            <a:ext cx="667120" cy="8428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Rectangle 212"/>
          <p:cNvSpPr/>
          <p:nvPr/>
        </p:nvSpPr>
        <p:spPr>
          <a:xfrm>
            <a:off x="1676906" y="2152958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4" name="Group 213"/>
          <p:cNvGrpSpPr/>
          <p:nvPr/>
        </p:nvGrpSpPr>
        <p:grpSpPr>
          <a:xfrm>
            <a:off x="1738504" y="2638437"/>
            <a:ext cx="1395501" cy="533259"/>
            <a:chOff x="7298890" y="2670129"/>
            <a:chExt cx="1395501" cy="533259"/>
          </a:xfrm>
          <a:solidFill>
            <a:srgbClr val="7030A0"/>
          </a:solidFill>
        </p:grpSpPr>
        <p:grpSp>
          <p:nvGrpSpPr>
            <p:cNvPr id="215" name="Group 214"/>
            <p:cNvGrpSpPr/>
            <p:nvPr/>
          </p:nvGrpSpPr>
          <p:grpSpPr>
            <a:xfrm>
              <a:off x="7298890" y="2670129"/>
              <a:ext cx="1395501" cy="477140"/>
              <a:chOff x="2922327" y="2477698"/>
              <a:chExt cx="1395501" cy="477140"/>
            </a:xfrm>
            <a:grpFill/>
          </p:grpSpPr>
          <p:grpSp>
            <p:nvGrpSpPr>
              <p:cNvPr id="217" name="Group 216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19" name="Group 218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21" name="Straight Connector 220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2" name="Straight Connector 221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3" name="Straight Connector 222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Straight Arrow Connector 223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0" name="Rectangle 219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18" name="Rectangle 217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16" name="Rectangle 215"/>
            <p:cNvSpPr/>
            <p:nvPr/>
          </p:nvSpPr>
          <p:spPr>
            <a:xfrm>
              <a:off x="8423999" y="3090228"/>
              <a:ext cx="113160" cy="113160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7030A0"/>
                  </a:solidFill>
                </a:ln>
              </a:endParaRPr>
            </a:p>
          </p:txBody>
        </p:sp>
      </p:grpSp>
      <p:sp>
        <p:nvSpPr>
          <p:cNvPr id="225" name="Rectangle 224"/>
          <p:cNvSpPr/>
          <p:nvPr/>
        </p:nvSpPr>
        <p:spPr>
          <a:xfrm>
            <a:off x="4066034" y="2142377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2" name="Group 231"/>
          <p:cNvGrpSpPr/>
          <p:nvPr/>
        </p:nvGrpSpPr>
        <p:grpSpPr>
          <a:xfrm>
            <a:off x="5707870" y="2025376"/>
            <a:ext cx="1209647" cy="992987"/>
            <a:chOff x="10227000" y="2386519"/>
            <a:chExt cx="1209647" cy="992987"/>
          </a:xfrm>
        </p:grpSpPr>
        <p:sp>
          <p:nvSpPr>
            <p:cNvPr id="233" name="Rectangle 232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4" name="Group 233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235" name="Straight Arrow Connector 234"/>
              <p:cNvCxnSpPr>
                <a:stCxn id="236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6" name="TextBox 235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240" name="Group 239"/>
          <p:cNvGrpSpPr/>
          <p:nvPr/>
        </p:nvGrpSpPr>
        <p:grpSpPr>
          <a:xfrm>
            <a:off x="5764730" y="3006240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41" name="Rectangle 24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e           </a:t>
              </a:r>
            </a:p>
          </p:txBody>
        </p:sp>
      </p:grpSp>
      <p:grpSp>
        <p:nvGrpSpPr>
          <p:cNvPr id="246" name="Group 245"/>
          <p:cNvGrpSpPr/>
          <p:nvPr/>
        </p:nvGrpSpPr>
        <p:grpSpPr>
          <a:xfrm>
            <a:off x="5211954" y="3002435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47" name="Rectangle 24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TextBox 24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sp>
        <p:nvSpPr>
          <p:cNvPr id="260" name="Rectangle 259"/>
          <p:cNvSpPr/>
          <p:nvPr/>
        </p:nvSpPr>
        <p:spPr>
          <a:xfrm>
            <a:off x="3832062" y="2134368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1" name="Group 260"/>
          <p:cNvGrpSpPr/>
          <p:nvPr/>
        </p:nvGrpSpPr>
        <p:grpSpPr>
          <a:xfrm>
            <a:off x="3941598" y="2618880"/>
            <a:ext cx="1395501" cy="529915"/>
            <a:chOff x="5168646" y="2670129"/>
            <a:chExt cx="1395501" cy="529915"/>
          </a:xfrm>
        </p:grpSpPr>
        <p:grpSp>
          <p:nvGrpSpPr>
            <p:cNvPr id="262" name="Group 261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264" name="Group 263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266" name="Group 265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268" name="Straight Connector 267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9" name="Straight Connector 268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0" name="Straight Connector 269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1" name="Straight Arrow Connector 270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67" name="Rectangle 266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265" name="Rectangle 264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263" name="Rectangle 262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2" name="Rectangle 271"/>
          <p:cNvSpPr/>
          <p:nvPr/>
        </p:nvSpPr>
        <p:spPr>
          <a:xfrm>
            <a:off x="6010244" y="2133401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901226" y="3072587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226" name="Straight Arrow Connector 225"/>
          <p:cNvCxnSpPr/>
          <p:nvPr/>
        </p:nvCxnSpPr>
        <p:spPr>
          <a:xfrm flipV="1">
            <a:off x="6769721" y="3272321"/>
            <a:ext cx="225305" cy="197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TextBox 272"/>
          <p:cNvSpPr txBox="1"/>
          <p:nvPr/>
        </p:nvSpPr>
        <p:spPr>
          <a:xfrm>
            <a:off x="482773" y="4305773"/>
            <a:ext cx="1659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err="1">
                <a:latin typeface="Calisto MT" panose="02040603050505030304" pitchFamily="18" charset="0"/>
              </a:rPr>
              <a:t>cutPaste</a:t>
            </a:r>
            <a:r>
              <a:rPr lang="en-US" dirty="0">
                <a:latin typeface="Calisto MT" panose="02040603050505030304" pitchFamily="18" charset="0"/>
              </a:rPr>
              <a:t>(2)           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693548" y="4674959"/>
            <a:ext cx="4330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sto MT" panose="02040603050505030304" pitchFamily="18" charset="0"/>
              </a:rPr>
              <a:t>Cuts first two nodes from the beginning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693547" y="5021440"/>
            <a:ext cx="4330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sto MT" panose="02040603050505030304" pitchFamily="18" charset="0"/>
              </a:rPr>
              <a:t>Pastes it at the end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7634920" y="3251091"/>
            <a:ext cx="268030" cy="44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0" name="Group 189"/>
          <p:cNvGrpSpPr/>
          <p:nvPr/>
        </p:nvGrpSpPr>
        <p:grpSpPr>
          <a:xfrm>
            <a:off x="8893738" y="2621172"/>
            <a:ext cx="917376" cy="528191"/>
            <a:chOff x="2913781" y="2677739"/>
            <a:chExt cx="1395501" cy="528191"/>
          </a:xfrm>
        </p:grpSpPr>
        <p:grpSp>
          <p:nvGrpSpPr>
            <p:cNvPr id="191" name="Group 190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193" name="Group 192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195" name="Group 194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197" name="Straight Connector 196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Straight Connector 197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" name="Straight Connector 198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0" name="Straight Arrow Connector 199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6" name="Rectangle 195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4" name="Rectangle 193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2" name="Rectangle 191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10321856" y="2980450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98" name="Rectangle 9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b           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1431392" y="3025797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07" name="Rectangle 10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878616" y="302199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18" name="Rectangle 11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278" name="Group 277"/>
          <p:cNvGrpSpPr/>
          <p:nvPr/>
        </p:nvGrpSpPr>
        <p:grpSpPr>
          <a:xfrm>
            <a:off x="996701" y="1725434"/>
            <a:ext cx="729688" cy="1299758"/>
            <a:chOff x="2491874" y="1750121"/>
            <a:chExt cx="729688" cy="1299758"/>
          </a:xfrm>
        </p:grpSpPr>
        <p:cxnSp>
          <p:nvCxnSpPr>
            <p:cNvPr id="279" name="Straight Arrow Connector 278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0" name="TextBox 279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10868805" y="297664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101" name="Rectangle 10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cxnSp>
        <p:nvCxnSpPr>
          <p:cNvPr id="276" name="Straight Arrow Connector 275"/>
          <p:cNvCxnSpPr/>
          <p:nvPr/>
        </p:nvCxnSpPr>
        <p:spPr>
          <a:xfrm flipH="1">
            <a:off x="628564" y="3292633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TextBox 276"/>
          <p:cNvSpPr txBox="1"/>
          <p:nvPr/>
        </p:nvSpPr>
        <p:spPr>
          <a:xfrm>
            <a:off x="-48391" y="3107362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281" name="Straight Arrow Connector 280"/>
          <p:cNvCxnSpPr/>
          <p:nvPr/>
        </p:nvCxnSpPr>
        <p:spPr>
          <a:xfrm flipV="1">
            <a:off x="11353491" y="3220869"/>
            <a:ext cx="195275" cy="349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/>
          <p:cNvSpPr txBox="1"/>
          <p:nvPr/>
        </p:nvSpPr>
        <p:spPr>
          <a:xfrm>
            <a:off x="11439903" y="3036203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93546" y="5395059"/>
            <a:ext cx="4330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sto MT" panose="02040603050505030304" pitchFamily="18" charset="0"/>
              </a:rPr>
              <a:t>Maintain the links properly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779589" y="3148795"/>
            <a:ext cx="1166538" cy="2621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3" name="Group 242"/>
          <p:cNvGrpSpPr/>
          <p:nvPr/>
        </p:nvGrpSpPr>
        <p:grpSpPr>
          <a:xfrm>
            <a:off x="6311679" y="300243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44" name="Rectangle 24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7813115" y="299785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95" name="Rectangle 9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76" name="Group 175"/>
          <p:cNvGrpSpPr/>
          <p:nvPr/>
        </p:nvGrpSpPr>
        <p:grpSpPr>
          <a:xfrm>
            <a:off x="6779589" y="2264187"/>
            <a:ext cx="1400614" cy="1226567"/>
            <a:chOff x="5777829" y="2332303"/>
            <a:chExt cx="1400614" cy="1226567"/>
          </a:xfrm>
        </p:grpSpPr>
        <p:grpSp>
          <p:nvGrpSpPr>
            <p:cNvPr id="177" name="Group 176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179" name="Group 17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181" name="Group 180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83" name="Straight Connector 182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4" name="Straight Connector 183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5" name="Straight Connector 184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7" name="Straight Arrow Connector 186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82" name="Rectangle 181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0" name="Rectangle 179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8" name="Rectangle 177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8" name="Group 187"/>
          <p:cNvGrpSpPr/>
          <p:nvPr/>
        </p:nvGrpSpPr>
        <p:grpSpPr>
          <a:xfrm>
            <a:off x="6117275" y="2637560"/>
            <a:ext cx="1806648" cy="528191"/>
            <a:chOff x="2913781" y="2677739"/>
            <a:chExt cx="1395501" cy="528191"/>
          </a:xfrm>
        </p:grpSpPr>
        <p:grpSp>
          <p:nvGrpSpPr>
            <p:cNvPr id="189" name="Group 188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203" name="Group 202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205" name="Group 204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207" name="Straight Connector 206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8" name="Straight Connector 207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9" name="Straight Connector 208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" name="Straight Arrow Connector 209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06" name="Rectangle 205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4" name="Rectangle 203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2" name="Rectangle 201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4550781" y="2281054"/>
            <a:ext cx="1400614" cy="1226567"/>
            <a:chOff x="5777829" y="2332303"/>
            <a:chExt cx="1400614" cy="1226567"/>
          </a:xfrm>
        </p:grpSpPr>
        <p:grpSp>
          <p:nvGrpSpPr>
            <p:cNvPr id="250" name="Group 249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252" name="Group 251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54" name="Group 253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256" name="Straight Connector 255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7" name="Straight Connector 256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8" name="Straight Connector 257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9" name="Straight Arrow Connector 258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55" name="Rectangle 254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53" name="Rectangle 252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1" name="Rectangle 250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0" name="Group 149"/>
          <p:cNvGrpSpPr/>
          <p:nvPr/>
        </p:nvGrpSpPr>
        <p:grpSpPr>
          <a:xfrm>
            <a:off x="5353590" y="1718429"/>
            <a:ext cx="617280" cy="1299758"/>
            <a:chOff x="9315288" y="1750121"/>
            <a:chExt cx="617280" cy="1299758"/>
          </a:xfrm>
        </p:grpSpPr>
        <p:cxnSp>
          <p:nvCxnSpPr>
            <p:cNvPr id="151" name="Straight Arrow Connector 150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TextBox 151"/>
            <p:cNvSpPr txBox="1"/>
            <p:nvPr/>
          </p:nvSpPr>
          <p:spPr>
            <a:xfrm>
              <a:off x="9315288" y="1750121"/>
              <a:ext cx="61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9027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1.11111E-6 L 0.39323 -0.00232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61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463" y="130024"/>
            <a:ext cx="12108074" cy="1450757"/>
          </a:xfrm>
        </p:spPr>
        <p:txBody>
          <a:bodyPr>
            <a:normAutofit/>
          </a:bodyPr>
          <a:lstStyle/>
          <a:p>
            <a:r>
              <a:rPr lang="en-US" sz="3600" b="1" dirty="0"/>
              <a:t>Cut Paste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0C5D-56AF-468F-9301-88586394A899}" type="datetime4">
              <a:rPr lang="en-US" smtClean="0"/>
              <a:t>23 March, 2024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32</a:t>
            </a:fld>
            <a:endParaRPr lang="en-US"/>
          </a:p>
        </p:txBody>
      </p:sp>
      <p:sp>
        <p:nvSpPr>
          <p:cNvPr id="228" name="TextBox 227"/>
          <p:cNvSpPr txBox="1"/>
          <p:nvPr/>
        </p:nvSpPr>
        <p:spPr>
          <a:xfrm>
            <a:off x="-23080" y="2999009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grpSp>
        <p:nvGrpSpPr>
          <p:cNvPr id="229" name="Group 228"/>
          <p:cNvGrpSpPr/>
          <p:nvPr/>
        </p:nvGrpSpPr>
        <p:grpSpPr>
          <a:xfrm>
            <a:off x="8186397" y="2034488"/>
            <a:ext cx="1209647" cy="992987"/>
            <a:chOff x="10227000" y="2386519"/>
            <a:chExt cx="1209647" cy="992987"/>
          </a:xfrm>
        </p:grpSpPr>
        <p:sp>
          <p:nvSpPr>
            <p:cNvPr id="230" name="Rectangle 229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1" name="Group 230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237" name="Straight Arrow Connector 236"/>
              <p:cNvCxnSpPr>
                <a:stCxn id="238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" name="TextBox 237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239" name="Group 238"/>
          <p:cNvGrpSpPr/>
          <p:nvPr/>
        </p:nvGrpSpPr>
        <p:grpSpPr>
          <a:xfrm>
            <a:off x="5094229" y="2054221"/>
            <a:ext cx="1209647" cy="992987"/>
            <a:chOff x="10227000" y="2386519"/>
            <a:chExt cx="1209647" cy="992987"/>
          </a:xfrm>
        </p:grpSpPr>
        <p:sp>
          <p:nvSpPr>
            <p:cNvPr id="282" name="Rectangle 281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3" name="Group 282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284" name="Straight Arrow Connector 283"/>
              <p:cNvCxnSpPr>
                <a:stCxn id="285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5" name="TextBox 284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286" name="Group 285"/>
          <p:cNvGrpSpPr/>
          <p:nvPr/>
        </p:nvGrpSpPr>
        <p:grpSpPr>
          <a:xfrm>
            <a:off x="1504399" y="2059165"/>
            <a:ext cx="1209647" cy="992987"/>
            <a:chOff x="10227000" y="2386519"/>
            <a:chExt cx="1209647" cy="992987"/>
          </a:xfrm>
        </p:grpSpPr>
        <p:sp>
          <p:nvSpPr>
            <p:cNvPr id="287" name="Rectangle 286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8" name="Group 287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289" name="Straight Arrow Connector 288"/>
              <p:cNvCxnSpPr>
                <a:stCxn id="290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0" name="TextBox 289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291" name="Group 290"/>
          <p:cNvGrpSpPr/>
          <p:nvPr/>
        </p:nvGrpSpPr>
        <p:grpSpPr>
          <a:xfrm>
            <a:off x="1316207" y="3079087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92" name="Rectangle 29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TextBox 29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grpSp>
        <p:nvGrpSpPr>
          <p:cNvPr id="294" name="Group 293"/>
          <p:cNvGrpSpPr/>
          <p:nvPr/>
        </p:nvGrpSpPr>
        <p:grpSpPr>
          <a:xfrm>
            <a:off x="1863156" y="3075283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95" name="Rectangle 29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TextBox 295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297" name="Group 296"/>
          <p:cNvGrpSpPr/>
          <p:nvPr/>
        </p:nvGrpSpPr>
        <p:grpSpPr>
          <a:xfrm>
            <a:off x="763431" y="307528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98" name="Rectangle 29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TextBox 29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300" name="Group 299"/>
          <p:cNvGrpSpPr/>
          <p:nvPr/>
        </p:nvGrpSpPr>
        <p:grpSpPr>
          <a:xfrm>
            <a:off x="2719396" y="305407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01" name="Rectangle 30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TextBox 30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309" name="Group 308"/>
          <p:cNvGrpSpPr/>
          <p:nvPr/>
        </p:nvGrpSpPr>
        <p:grpSpPr>
          <a:xfrm>
            <a:off x="8609528" y="3032858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10" name="Rectangle 30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TextBox 31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318" name="Group 317"/>
          <p:cNvGrpSpPr/>
          <p:nvPr/>
        </p:nvGrpSpPr>
        <p:grpSpPr>
          <a:xfrm>
            <a:off x="2223792" y="2305291"/>
            <a:ext cx="1362748" cy="1209475"/>
            <a:chOff x="3591216" y="2332908"/>
            <a:chExt cx="1400614" cy="1209475"/>
          </a:xfrm>
        </p:grpSpPr>
        <p:grpSp>
          <p:nvGrpSpPr>
            <p:cNvPr id="319" name="Group 318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321" name="Group 320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323" name="Group 322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325" name="Straight Connector 324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6" name="Straight Connector 325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7" name="Straight Connector 326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8" name="Straight Arrow Connector 327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24" name="Rectangle 323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22" name="Rectangle 321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0" name="Rectangle 319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0" name="Rectangle 339"/>
          <p:cNvSpPr/>
          <p:nvPr/>
        </p:nvSpPr>
        <p:spPr>
          <a:xfrm>
            <a:off x="1768269" y="2178049"/>
            <a:ext cx="667120" cy="8428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1" name="Group 340"/>
          <p:cNvGrpSpPr/>
          <p:nvPr/>
        </p:nvGrpSpPr>
        <p:grpSpPr>
          <a:xfrm>
            <a:off x="1313959" y="1772675"/>
            <a:ext cx="729688" cy="1299758"/>
            <a:chOff x="2491874" y="1750121"/>
            <a:chExt cx="729688" cy="1299758"/>
          </a:xfrm>
        </p:grpSpPr>
        <p:cxnSp>
          <p:nvCxnSpPr>
            <p:cNvPr id="342" name="Straight Arrow Connector 341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3" name="TextBox 342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sp>
        <p:nvSpPr>
          <p:cNvPr id="355" name="Rectangle 354"/>
          <p:cNvSpPr/>
          <p:nvPr/>
        </p:nvSpPr>
        <p:spPr>
          <a:xfrm>
            <a:off x="5396603" y="2162246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6" name="Group 355"/>
          <p:cNvGrpSpPr/>
          <p:nvPr/>
        </p:nvGrpSpPr>
        <p:grpSpPr>
          <a:xfrm>
            <a:off x="5458201" y="2647725"/>
            <a:ext cx="2137837" cy="533259"/>
            <a:chOff x="7298890" y="2670129"/>
            <a:chExt cx="1395501" cy="533259"/>
          </a:xfrm>
          <a:solidFill>
            <a:srgbClr val="7030A0"/>
          </a:solidFill>
        </p:grpSpPr>
        <p:grpSp>
          <p:nvGrpSpPr>
            <p:cNvPr id="357" name="Group 356"/>
            <p:cNvGrpSpPr/>
            <p:nvPr/>
          </p:nvGrpSpPr>
          <p:grpSpPr>
            <a:xfrm>
              <a:off x="7298890" y="2670129"/>
              <a:ext cx="1395501" cy="477140"/>
              <a:chOff x="2922327" y="2477698"/>
              <a:chExt cx="1395501" cy="477140"/>
            </a:xfrm>
            <a:grpFill/>
          </p:grpSpPr>
          <p:grpSp>
            <p:nvGrpSpPr>
              <p:cNvPr id="359" name="Group 358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361" name="Group 360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363" name="Straight Connector 362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4" name="Straight Connector 363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5" name="Straight Connector 364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6" name="Straight Arrow Connector 365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62" name="Rectangle 361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360" name="Rectangle 359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358" name="Rectangle 357"/>
            <p:cNvSpPr/>
            <p:nvPr/>
          </p:nvSpPr>
          <p:spPr>
            <a:xfrm>
              <a:off x="8423999" y="3090228"/>
              <a:ext cx="113160" cy="113160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7030A0"/>
                  </a:solidFill>
                </a:ln>
              </a:endParaRPr>
            </a:p>
          </p:txBody>
        </p:sp>
      </p:grpSp>
      <p:sp>
        <p:nvSpPr>
          <p:cNvPr id="367" name="Rectangle 366"/>
          <p:cNvSpPr/>
          <p:nvPr/>
        </p:nvSpPr>
        <p:spPr>
          <a:xfrm>
            <a:off x="8501654" y="2157047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8" name="Group 367"/>
          <p:cNvGrpSpPr/>
          <p:nvPr/>
        </p:nvGrpSpPr>
        <p:grpSpPr>
          <a:xfrm>
            <a:off x="10143490" y="2040046"/>
            <a:ext cx="1209647" cy="992987"/>
            <a:chOff x="10227000" y="2386519"/>
            <a:chExt cx="1209647" cy="992987"/>
          </a:xfrm>
        </p:grpSpPr>
        <p:sp>
          <p:nvSpPr>
            <p:cNvPr id="369" name="Rectangle 368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0" name="Group 369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371" name="Straight Arrow Connector 370"/>
              <p:cNvCxnSpPr>
                <a:stCxn id="372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2" name="TextBox 371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373" name="Group 372"/>
          <p:cNvGrpSpPr/>
          <p:nvPr/>
        </p:nvGrpSpPr>
        <p:grpSpPr>
          <a:xfrm>
            <a:off x="10200350" y="3020910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74" name="Rectangle 37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" name="TextBox 37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e           </a:t>
              </a:r>
            </a:p>
          </p:txBody>
        </p:sp>
      </p:grpSp>
      <p:grpSp>
        <p:nvGrpSpPr>
          <p:cNvPr id="376" name="Group 375"/>
          <p:cNvGrpSpPr/>
          <p:nvPr/>
        </p:nvGrpSpPr>
        <p:grpSpPr>
          <a:xfrm>
            <a:off x="10747299" y="301710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77" name="Rectangle 37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" name="TextBox 37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379" name="Group 378"/>
          <p:cNvGrpSpPr/>
          <p:nvPr/>
        </p:nvGrpSpPr>
        <p:grpSpPr>
          <a:xfrm>
            <a:off x="9647574" y="3017105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80" name="Rectangle 37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" name="TextBox 38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382" name="Group 381"/>
          <p:cNvGrpSpPr/>
          <p:nvPr/>
        </p:nvGrpSpPr>
        <p:grpSpPr>
          <a:xfrm>
            <a:off x="8986401" y="2295724"/>
            <a:ext cx="1400614" cy="1226567"/>
            <a:chOff x="5777829" y="2332303"/>
            <a:chExt cx="1400614" cy="1226567"/>
          </a:xfrm>
        </p:grpSpPr>
        <p:grpSp>
          <p:nvGrpSpPr>
            <p:cNvPr id="383" name="Group 382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385" name="Group 384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387" name="Group 386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389" name="Straight Connector 388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0" name="Straight Connector 389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1" name="Straight Connector 390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2" name="Straight Arrow Connector 391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88" name="Rectangle 387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86" name="Rectangle 385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4" name="Rectangle 383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3" name="Rectangle 392"/>
          <p:cNvSpPr/>
          <p:nvPr/>
        </p:nvSpPr>
        <p:spPr>
          <a:xfrm>
            <a:off x="8267682" y="2149038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4" name="Group 393"/>
          <p:cNvGrpSpPr/>
          <p:nvPr/>
        </p:nvGrpSpPr>
        <p:grpSpPr>
          <a:xfrm>
            <a:off x="8377218" y="2633550"/>
            <a:ext cx="1395501" cy="529915"/>
            <a:chOff x="5168646" y="2670129"/>
            <a:chExt cx="1395501" cy="529915"/>
          </a:xfrm>
        </p:grpSpPr>
        <p:grpSp>
          <p:nvGrpSpPr>
            <p:cNvPr id="395" name="Group 394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397" name="Group 396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399" name="Group 398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401" name="Straight Connector 400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2" name="Straight Connector 401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3" name="Straight Connector 402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4" name="Straight Arrow Connector 403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00" name="Rectangle 399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398" name="Rectangle 397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396" name="Rectangle 395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5" name="Rectangle 404"/>
          <p:cNvSpPr/>
          <p:nvPr/>
        </p:nvSpPr>
        <p:spPr>
          <a:xfrm>
            <a:off x="10445864" y="2148071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6" name="TextBox 405"/>
          <p:cNvSpPr txBox="1"/>
          <p:nvPr/>
        </p:nvSpPr>
        <p:spPr>
          <a:xfrm>
            <a:off x="11427260" y="3103080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407" name="Straight Arrow Connector 406"/>
          <p:cNvCxnSpPr/>
          <p:nvPr/>
        </p:nvCxnSpPr>
        <p:spPr>
          <a:xfrm flipV="1">
            <a:off x="11201955" y="3307451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Arrow Connector 407"/>
          <p:cNvCxnSpPr/>
          <p:nvPr/>
        </p:nvCxnSpPr>
        <p:spPr>
          <a:xfrm flipH="1">
            <a:off x="477144" y="3397145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3" name="Group 422"/>
          <p:cNvGrpSpPr/>
          <p:nvPr/>
        </p:nvGrpSpPr>
        <p:grpSpPr>
          <a:xfrm>
            <a:off x="3272172" y="3057876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24" name="Rectangle 42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5" name="TextBox 42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b           </a:t>
              </a:r>
            </a:p>
          </p:txBody>
        </p:sp>
      </p:grpSp>
      <p:grpSp>
        <p:nvGrpSpPr>
          <p:cNvPr id="441" name="Group 440"/>
          <p:cNvGrpSpPr/>
          <p:nvPr/>
        </p:nvGrpSpPr>
        <p:grpSpPr>
          <a:xfrm>
            <a:off x="4598313" y="3031280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42" name="Rectangle 44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3" name="TextBox 44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444" name="Group 443"/>
          <p:cNvGrpSpPr/>
          <p:nvPr/>
        </p:nvGrpSpPr>
        <p:grpSpPr>
          <a:xfrm>
            <a:off x="4955870" y="1735326"/>
            <a:ext cx="729688" cy="1299758"/>
            <a:chOff x="2491874" y="1750121"/>
            <a:chExt cx="729688" cy="1299758"/>
          </a:xfrm>
        </p:grpSpPr>
        <p:cxnSp>
          <p:nvCxnSpPr>
            <p:cNvPr id="445" name="Straight Arrow Connector 444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6" name="TextBox 445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last           </a:t>
              </a:r>
            </a:p>
          </p:txBody>
        </p:sp>
      </p:grpSp>
      <p:grpSp>
        <p:nvGrpSpPr>
          <p:cNvPr id="447" name="Group 446"/>
          <p:cNvGrpSpPr/>
          <p:nvPr/>
        </p:nvGrpSpPr>
        <p:grpSpPr>
          <a:xfrm>
            <a:off x="3819121" y="305407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48" name="Rectangle 44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9" name="TextBox 44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453" name="Group 452"/>
          <p:cNvGrpSpPr/>
          <p:nvPr/>
        </p:nvGrpSpPr>
        <p:grpSpPr>
          <a:xfrm>
            <a:off x="832006" y="4153179"/>
            <a:ext cx="5475090" cy="2145563"/>
            <a:chOff x="1003736" y="3905770"/>
            <a:chExt cx="3245724" cy="2145563"/>
          </a:xfrm>
        </p:grpSpPr>
        <p:sp>
          <p:nvSpPr>
            <p:cNvPr id="454" name="TextBox 453"/>
            <p:cNvSpPr txBox="1"/>
            <p:nvPr/>
          </p:nvSpPr>
          <p:spPr>
            <a:xfrm>
              <a:off x="1003736" y="3905770"/>
              <a:ext cx="3245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void </a:t>
              </a:r>
              <a:r>
                <a:rPr lang="en-US" dirty="0" err="1">
                  <a:latin typeface="Calisto MT" panose="02040603050505030304" pitchFamily="18" charset="0"/>
                </a:rPr>
                <a:t>cutPaste</a:t>
              </a:r>
              <a:r>
                <a:rPr lang="en-US" dirty="0">
                  <a:latin typeface="Calisto MT" panose="02040603050505030304" pitchFamily="18" charset="0"/>
                </a:rPr>
                <a:t>(</a:t>
              </a:r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k ){</a:t>
              </a:r>
            </a:p>
          </p:txBody>
        </p:sp>
        <p:sp>
          <p:nvSpPr>
            <p:cNvPr id="455" name="TextBox 454"/>
            <p:cNvSpPr txBox="1"/>
            <p:nvPr/>
          </p:nvSpPr>
          <p:spPr>
            <a:xfrm>
              <a:off x="1003736" y="5682001"/>
              <a:ext cx="41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sp>
        <p:nvSpPr>
          <p:cNvPr id="456" name="TextBox 455"/>
          <p:cNvSpPr txBox="1"/>
          <p:nvPr/>
        </p:nvSpPr>
        <p:spPr>
          <a:xfrm>
            <a:off x="1249455" y="4440111"/>
            <a:ext cx="222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 *first = head;</a:t>
            </a:r>
          </a:p>
        </p:txBody>
      </p:sp>
      <p:grpSp>
        <p:nvGrpSpPr>
          <p:cNvPr id="457" name="Group 456"/>
          <p:cNvGrpSpPr/>
          <p:nvPr/>
        </p:nvGrpSpPr>
        <p:grpSpPr>
          <a:xfrm>
            <a:off x="772725" y="1768127"/>
            <a:ext cx="729688" cy="1299758"/>
            <a:chOff x="2491874" y="1750121"/>
            <a:chExt cx="729688" cy="1299758"/>
          </a:xfrm>
        </p:grpSpPr>
        <p:cxnSp>
          <p:nvCxnSpPr>
            <p:cNvPr id="458" name="Straight Arrow Connector 457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9" name="TextBox 458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first           </a:t>
              </a:r>
            </a:p>
          </p:txBody>
        </p:sp>
      </p:grpSp>
      <p:sp>
        <p:nvSpPr>
          <p:cNvPr id="460" name="TextBox 459"/>
          <p:cNvSpPr txBox="1"/>
          <p:nvPr/>
        </p:nvSpPr>
        <p:spPr>
          <a:xfrm>
            <a:off x="1254801" y="4718166"/>
            <a:ext cx="347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 *last = </a:t>
            </a:r>
            <a:r>
              <a:rPr lang="en-US" dirty="0" err="1">
                <a:latin typeface="Calisto MT" panose="02040603050505030304" pitchFamily="18" charset="0"/>
              </a:rPr>
              <a:t>findKthNode</a:t>
            </a:r>
            <a:r>
              <a:rPr lang="en-US" dirty="0">
                <a:latin typeface="Calisto MT" panose="02040603050505030304" pitchFamily="18" charset="0"/>
              </a:rPr>
              <a:t>(k-1);</a:t>
            </a:r>
          </a:p>
        </p:txBody>
      </p:sp>
      <p:grpSp>
        <p:nvGrpSpPr>
          <p:cNvPr id="344" name="Group 343"/>
          <p:cNvGrpSpPr/>
          <p:nvPr/>
        </p:nvGrpSpPr>
        <p:grpSpPr>
          <a:xfrm>
            <a:off x="3743491" y="2641121"/>
            <a:ext cx="907962" cy="529915"/>
            <a:chOff x="5168646" y="2670129"/>
            <a:chExt cx="1395501" cy="529915"/>
          </a:xfrm>
        </p:grpSpPr>
        <p:grpSp>
          <p:nvGrpSpPr>
            <p:cNvPr id="345" name="Group 344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347" name="Group 346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349" name="Group 348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351" name="Straight Connector 350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2" name="Straight Connector 351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3" name="Straight Connector 352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4" name="Straight Arrow Connector 353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50" name="Rectangle 349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348" name="Rectangle 347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346" name="Rectangle 345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6" name="Group 425"/>
          <p:cNvGrpSpPr/>
          <p:nvPr/>
        </p:nvGrpSpPr>
        <p:grpSpPr>
          <a:xfrm>
            <a:off x="4290758" y="2492831"/>
            <a:ext cx="639825" cy="923494"/>
            <a:chOff x="5777829" y="2332303"/>
            <a:chExt cx="1400614" cy="1226567"/>
          </a:xfrm>
        </p:grpSpPr>
        <p:grpSp>
          <p:nvGrpSpPr>
            <p:cNvPr id="427" name="Group 426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429" name="Group 42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431" name="Group 430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433" name="Straight Connector 432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4" name="Straight Connector 433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5" name="Straight Connector 434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6" name="Straight Arrow Connector 435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32" name="Rectangle 431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30" name="Rectangle 429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28" name="Rectangle 427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1" name="TextBox 460"/>
          <p:cNvSpPr txBox="1"/>
          <p:nvPr/>
        </p:nvSpPr>
        <p:spPr>
          <a:xfrm>
            <a:off x="853125" y="3870055"/>
            <a:ext cx="1143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sto MT" panose="02040603050505030304" pitchFamily="18" charset="0"/>
              </a:rPr>
              <a:t>k =3</a:t>
            </a:r>
          </a:p>
        </p:txBody>
      </p:sp>
      <p:sp>
        <p:nvSpPr>
          <p:cNvPr id="462" name="Right Brace 461"/>
          <p:cNvSpPr/>
          <p:nvPr/>
        </p:nvSpPr>
        <p:spPr>
          <a:xfrm rot="5400000">
            <a:off x="3254304" y="1075828"/>
            <a:ext cx="411670" cy="5573583"/>
          </a:xfrm>
          <a:prstGeom prst="rightBrace">
            <a:avLst>
              <a:gd name="adj1" fmla="val 56077"/>
              <a:gd name="adj2" fmla="val 50000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5" name="Group 314"/>
          <p:cNvGrpSpPr/>
          <p:nvPr/>
        </p:nvGrpSpPr>
        <p:grpSpPr>
          <a:xfrm>
            <a:off x="10320981" y="1710555"/>
            <a:ext cx="617280" cy="1299758"/>
            <a:chOff x="9315288" y="1750121"/>
            <a:chExt cx="617280" cy="1299758"/>
          </a:xfrm>
        </p:grpSpPr>
        <p:cxnSp>
          <p:nvCxnSpPr>
            <p:cNvPr id="316" name="Straight Arrow Connector 315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" name="TextBox 316"/>
            <p:cNvSpPr txBox="1"/>
            <p:nvPr/>
          </p:nvSpPr>
          <p:spPr>
            <a:xfrm>
              <a:off x="9315288" y="1750121"/>
              <a:ext cx="61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  <p:sp>
        <p:nvSpPr>
          <p:cNvPr id="3" name="Rectangle 2"/>
          <p:cNvSpPr/>
          <p:nvPr/>
        </p:nvSpPr>
        <p:spPr>
          <a:xfrm>
            <a:off x="1313393" y="1768127"/>
            <a:ext cx="687375" cy="1299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1" name="Group 410"/>
          <p:cNvGrpSpPr/>
          <p:nvPr/>
        </p:nvGrpSpPr>
        <p:grpSpPr>
          <a:xfrm>
            <a:off x="1844054" y="2698598"/>
            <a:ext cx="917376" cy="528191"/>
            <a:chOff x="2913781" y="2677739"/>
            <a:chExt cx="1395501" cy="528191"/>
          </a:xfrm>
        </p:grpSpPr>
        <p:grpSp>
          <p:nvGrpSpPr>
            <p:cNvPr id="412" name="Group 411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414" name="Group 413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416" name="Group 415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418" name="Straight Connector 417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9" name="Straight Connector 418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0" name="Straight Connector 419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1" name="Straight Arrow Connector 420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17" name="Rectangle 416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15" name="Rectangle 414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13" name="Rectangle 412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3" name="Group 462"/>
          <p:cNvGrpSpPr/>
          <p:nvPr/>
        </p:nvGrpSpPr>
        <p:grpSpPr>
          <a:xfrm>
            <a:off x="8003180" y="1726974"/>
            <a:ext cx="678389" cy="1299758"/>
            <a:chOff x="9315287" y="1750121"/>
            <a:chExt cx="678389" cy="1299758"/>
          </a:xfrm>
        </p:grpSpPr>
        <p:cxnSp>
          <p:nvCxnSpPr>
            <p:cNvPr id="464" name="Straight Arrow Connector 463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5" name="TextBox 464"/>
            <p:cNvSpPr txBox="1"/>
            <p:nvPr/>
          </p:nvSpPr>
          <p:spPr>
            <a:xfrm>
              <a:off x="9315287" y="1750121"/>
              <a:ext cx="6783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sp>
        <p:nvSpPr>
          <p:cNvPr id="466" name="TextBox 465"/>
          <p:cNvSpPr txBox="1"/>
          <p:nvPr/>
        </p:nvSpPr>
        <p:spPr>
          <a:xfrm>
            <a:off x="1242274" y="5000455"/>
            <a:ext cx="222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head = last-&gt;R;</a:t>
            </a:r>
          </a:p>
        </p:txBody>
      </p:sp>
      <p:sp>
        <p:nvSpPr>
          <p:cNvPr id="467" name="TextBox 466"/>
          <p:cNvSpPr txBox="1"/>
          <p:nvPr/>
        </p:nvSpPr>
        <p:spPr>
          <a:xfrm>
            <a:off x="1248409" y="5259418"/>
            <a:ext cx="222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head-&gt;L = NULL;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1249455" y="5541707"/>
            <a:ext cx="2026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last-&gt;R = NULL;</a:t>
            </a:r>
          </a:p>
        </p:txBody>
      </p:sp>
      <p:sp>
        <p:nvSpPr>
          <p:cNvPr id="4" name="Rectangle 3"/>
          <p:cNvSpPr/>
          <p:nvPr/>
        </p:nvSpPr>
        <p:spPr>
          <a:xfrm>
            <a:off x="5372461" y="2601351"/>
            <a:ext cx="2324859" cy="604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9" name="Group 328"/>
          <p:cNvGrpSpPr/>
          <p:nvPr/>
        </p:nvGrpSpPr>
        <p:grpSpPr>
          <a:xfrm>
            <a:off x="5946435" y="2302894"/>
            <a:ext cx="2148519" cy="1220856"/>
            <a:chOff x="7976325" y="2325298"/>
            <a:chExt cx="1400614" cy="1220856"/>
          </a:xfrm>
        </p:grpSpPr>
        <p:grpSp>
          <p:nvGrpSpPr>
            <p:cNvPr id="330" name="Group 329"/>
            <p:cNvGrpSpPr/>
            <p:nvPr/>
          </p:nvGrpSpPr>
          <p:grpSpPr>
            <a:xfrm>
              <a:off x="7976325" y="2325298"/>
              <a:ext cx="1400614" cy="1183693"/>
              <a:chOff x="3599762" y="2132867"/>
              <a:chExt cx="1400614" cy="1183693"/>
            </a:xfrm>
          </p:grpSpPr>
          <p:grpSp>
            <p:nvGrpSpPr>
              <p:cNvPr id="332" name="Group 331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334" name="Group 333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336" name="Straight Connector 335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7" name="Straight Connector 336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8" name="Straight Connector 337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9" name="Straight Arrow Connector 338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35" name="Rectangle 334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33" name="Rectangle 332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1" name="Rectangle 330"/>
            <p:cNvSpPr/>
            <p:nvPr/>
          </p:nvSpPr>
          <p:spPr>
            <a:xfrm>
              <a:off x="8194911" y="3432994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8" name="Group 437"/>
          <p:cNvGrpSpPr/>
          <p:nvPr/>
        </p:nvGrpSpPr>
        <p:grpSpPr>
          <a:xfrm>
            <a:off x="5151089" y="3035085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39" name="Rectangle 43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0" name="TextBox 43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sp>
        <p:nvSpPr>
          <p:cNvPr id="470" name="Rectangle 469"/>
          <p:cNvSpPr/>
          <p:nvPr/>
        </p:nvSpPr>
        <p:spPr>
          <a:xfrm>
            <a:off x="5815017" y="2228252"/>
            <a:ext cx="2324859" cy="1337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0" name="Straight Arrow Connector 449"/>
          <p:cNvCxnSpPr/>
          <p:nvPr/>
        </p:nvCxnSpPr>
        <p:spPr>
          <a:xfrm flipH="1">
            <a:off x="7322204" y="3328255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1" name="TextBox 450"/>
          <p:cNvSpPr txBox="1"/>
          <p:nvPr/>
        </p:nvSpPr>
        <p:spPr>
          <a:xfrm>
            <a:off x="6591390" y="3132212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469" name="Straight Arrow Connector 468"/>
          <p:cNvCxnSpPr>
            <a:endCxn id="451" idx="1"/>
          </p:cNvCxnSpPr>
          <p:nvPr/>
        </p:nvCxnSpPr>
        <p:spPr>
          <a:xfrm flipV="1">
            <a:off x="6127704" y="3316878"/>
            <a:ext cx="463686" cy="57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3" name="Group 302"/>
          <p:cNvGrpSpPr/>
          <p:nvPr/>
        </p:nvGrpSpPr>
        <p:grpSpPr>
          <a:xfrm>
            <a:off x="5698038" y="303128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04" name="Rectangle 30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312" name="Group 311"/>
          <p:cNvGrpSpPr/>
          <p:nvPr/>
        </p:nvGrpSpPr>
        <p:grpSpPr>
          <a:xfrm>
            <a:off x="7509803" y="303285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13" name="Rectangle 312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" name="TextBox 313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306" name="Group 305"/>
          <p:cNvGrpSpPr/>
          <p:nvPr/>
        </p:nvGrpSpPr>
        <p:grpSpPr>
          <a:xfrm>
            <a:off x="8062579" y="3036662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07" name="Rectangle 30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d       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130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" grpId="0"/>
      <p:bldP spid="460" grpId="0"/>
      <p:bldP spid="461" grpId="0"/>
      <p:bldP spid="462" grpId="0" animBg="1"/>
      <p:bldP spid="3" grpId="0" animBg="1"/>
      <p:bldP spid="466" grpId="0"/>
      <p:bldP spid="467" grpId="0"/>
      <p:bldP spid="468" grpId="0"/>
      <p:bldP spid="4" grpId="0" animBg="1"/>
      <p:bldP spid="470" grpId="0" animBg="1"/>
      <p:bldP spid="45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463" y="130024"/>
            <a:ext cx="12108074" cy="1450757"/>
          </a:xfrm>
        </p:spPr>
        <p:txBody>
          <a:bodyPr>
            <a:normAutofit/>
          </a:bodyPr>
          <a:lstStyle/>
          <a:p>
            <a:r>
              <a:rPr lang="en-US" sz="3600" b="1" dirty="0"/>
              <a:t>Cut Paste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0C5D-56AF-468F-9301-88586394A899}" type="datetime4">
              <a:rPr lang="en-US" smtClean="0"/>
              <a:t>23 March, 2024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33</a:t>
            </a:fld>
            <a:endParaRPr lang="en-US"/>
          </a:p>
        </p:txBody>
      </p:sp>
      <p:grpSp>
        <p:nvGrpSpPr>
          <p:cNvPr id="453" name="Group 452"/>
          <p:cNvGrpSpPr/>
          <p:nvPr/>
        </p:nvGrpSpPr>
        <p:grpSpPr>
          <a:xfrm>
            <a:off x="832006" y="4153179"/>
            <a:ext cx="5475090" cy="1983229"/>
            <a:chOff x="1003736" y="3905770"/>
            <a:chExt cx="3245724" cy="1983229"/>
          </a:xfrm>
        </p:grpSpPr>
        <p:sp>
          <p:nvSpPr>
            <p:cNvPr id="454" name="TextBox 453"/>
            <p:cNvSpPr txBox="1"/>
            <p:nvPr/>
          </p:nvSpPr>
          <p:spPr>
            <a:xfrm>
              <a:off x="1003736" y="3905770"/>
              <a:ext cx="3245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void </a:t>
              </a:r>
              <a:r>
                <a:rPr lang="en-US" dirty="0" err="1">
                  <a:latin typeface="Calisto MT" panose="02040603050505030304" pitchFamily="18" charset="0"/>
                </a:rPr>
                <a:t>cutPaste</a:t>
              </a:r>
              <a:r>
                <a:rPr lang="en-US" dirty="0">
                  <a:latin typeface="Calisto MT" panose="02040603050505030304" pitchFamily="18" charset="0"/>
                </a:rPr>
                <a:t>(</a:t>
              </a:r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k ){</a:t>
              </a:r>
            </a:p>
          </p:txBody>
        </p:sp>
        <p:sp>
          <p:nvSpPr>
            <p:cNvPr id="455" name="TextBox 454"/>
            <p:cNvSpPr txBox="1"/>
            <p:nvPr/>
          </p:nvSpPr>
          <p:spPr>
            <a:xfrm>
              <a:off x="1003736" y="5519667"/>
              <a:ext cx="41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591390" y="1710555"/>
            <a:ext cx="5694389" cy="1875000"/>
            <a:chOff x="6591390" y="1710555"/>
            <a:chExt cx="5694389" cy="1875000"/>
          </a:xfrm>
        </p:grpSpPr>
        <p:grpSp>
          <p:nvGrpSpPr>
            <p:cNvPr id="229" name="Group 228"/>
            <p:cNvGrpSpPr/>
            <p:nvPr/>
          </p:nvGrpSpPr>
          <p:grpSpPr>
            <a:xfrm>
              <a:off x="8186397" y="2034488"/>
              <a:ext cx="1209647" cy="992987"/>
              <a:chOff x="10227000" y="2386519"/>
              <a:chExt cx="1209647" cy="992987"/>
            </a:xfrm>
          </p:grpSpPr>
          <p:sp>
            <p:nvSpPr>
              <p:cNvPr id="230" name="Rectangle 229"/>
              <p:cNvSpPr/>
              <p:nvPr/>
            </p:nvSpPr>
            <p:spPr>
              <a:xfrm>
                <a:off x="10227000" y="2483963"/>
                <a:ext cx="1209647" cy="89554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31" name="Group 230"/>
              <p:cNvGrpSpPr/>
              <p:nvPr/>
            </p:nvGrpSpPr>
            <p:grpSpPr>
              <a:xfrm>
                <a:off x="10463698" y="2386519"/>
                <a:ext cx="729688" cy="954908"/>
                <a:chOff x="5754153" y="4810967"/>
                <a:chExt cx="729688" cy="954908"/>
              </a:xfrm>
            </p:grpSpPr>
            <p:cxnSp>
              <p:nvCxnSpPr>
                <p:cNvPr id="237" name="Straight Arrow Connector 236"/>
                <p:cNvCxnSpPr>
                  <a:stCxn id="238" idx="2"/>
                </p:cNvCxnSpPr>
                <p:nvPr/>
              </p:nvCxnSpPr>
              <p:spPr>
                <a:xfrm>
                  <a:off x="6118997" y="5180299"/>
                  <a:ext cx="0" cy="585576"/>
                </a:xfrm>
                <a:prstGeom prst="straightConnector1">
                  <a:avLst/>
                </a:prstGeom>
                <a:ln w="57150">
                  <a:solidFill>
                    <a:srgbClr val="FFC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8" name="TextBox 237"/>
                <p:cNvSpPr txBox="1"/>
                <p:nvPr/>
              </p:nvSpPr>
              <p:spPr>
                <a:xfrm>
                  <a:off x="5754153" y="4810967"/>
                  <a:ext cx="729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Calisto MT" panose="02040603050505030304" pitchFamily="18" charset="0"/>
                    </a:rPr>
                    <a:t>temp           </a:t>
                  </a:r>
                </a:p>
              </p:txBody>
            </p:sp>
          </p:grpSp>
        </p:grpSp>
        <p:grpSp>
          <p:nvGrpSpPr>
            <p:cNvPr id="309" name="Group 308"/>
            <p:cNvGrpSpPr/>
            <p:nvPr/>
          </p:nvGrpSpPr>
          <p:grpSpPr>
            <a:xfrm>
              <a:off x="8609528" y="3032858"/>
              <a:ext cx="548893" cy="548893"/>
              <a:chOff x="11643107" y="2158069"/>
              <a:chExt cx="548893" cy="548893"/>
            </a:xfrm>
            <a:solidFill>
              <a:schemeClr val="tx1"/>
            </a:solidFill>
          </p:grpSpPr>
          <p:sp>
            <p:nvSpPr>
              <p:cNvPr id="310" name="Rectangle 309"/>
              <p:cNvSpPr/>
              <p:nvPr/>
            </p:nvSpPr>
            <p:spPr>
              <a:xfrm>
                <a:off x="11643107" y="2158069"/>
                <a:ext cx="548893" cy="54889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" name="TextBox 310"/>
              <p:cNvSpPr txBox="1"/>
              <p:nvPr/>
            </p:nvSpPr>
            <p:spPr>
              <a:xfrm>
                <a:off x="11776119" y="2247849"/>
                <a:ext cx="234075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Calisto MT" panose="02040603050505030304" pitchFamily="18" charset="0"/>
                  </a:rPr>
                  <a:t>R           </a:t>
                </a:r>
              </a:p>
            </p:txBody>
          </p:sp>
        </p:grpSp>
        <p:sp>
          <p:nvSpPr>
            <p:cNvPr id="367" name="Rectangle 366"/>
            <p:cNvSpPr/>
            <p:nvPr/>
          </p:nvSpPr>
          <p:spPr>
            <a:xfrm>
              <a:off x="8501654" y="2157047"/>
              <a:ext cx="572569" cy="8574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3" name="Group 372"/>
            <p:cNvGrpSpPr/>
            <p:nvPr/>
          </p:nvGrpSpPr>
          <p:grpSpPr>
            <a:xfrm>
              <a:off x="10200350" y="3020910"/>
              <a:ext cx="548893" cy="548893"/>
              <a:chOff x="11643107" y="2158069"/>
              <a:chExt cx="548893" cy="548893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374" name="Rectangle 373"/>
              <p:cNvSpPr/>
              <p:nvPr/>
            </p:nvSpPr>
            <p:spPr>
              <a:xfrm>
                <a:off x="11643107" y="2158069"/>
                <a:ext cx="548893" cy="54889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" name="TextBox 374"/>
              <p:cNvSpPr txBox="1"/>
              <p:nvPr/>
            </p:nvSpPr>
            <p:spPr>
              <a:xfrm>
                <a:off x="11776119" y="2247849"/>
                <a:ext cx="234075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e           </a:t>
                </a:r>
              </a:p>
            </p:txBody>
          </p:sp>
        </p:grpSp>
        <p:grpSp>
          <p:nvGrpSpPr>
            <p:cNvPr id="376" name="Group 375"/>
            <p:cNvGrpSpPr/>
            <p:nvPr/>
          </p:nvGrpSpPr>
          <p:grpSpPr>
            <a:xfrm>
              <a:off x="10747299" y="3017106"/>
              <a:ext cx="548893" cy="548893"/>
              <a:chOff x="11643107" y="2158069"/>
              <a:chExt cx="548893" cy="548893"/>
            </a:xfrm>
            <a:solidFill>
              <a:schemeClr val="tx1"/>
            </a:solidFill>
          </p:grpSpPr>
          <p:sp>
            <p:nvSpPr>
              <p:cNvPr id="377" name="Rectangle 376"/>
              <p:cNvSpPr/>
              <p:nvPr/>
            </p:nvSpPr>
            <p:spPr>
              <a:xfrm>
                <a:off x="11643107" y="2158069"/>
                <a:ext cx="548893" cy="54889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8" name="TextBox 377"/>
              <p:cNvSpPr txBox="1"/>
              <p:nvPr/>
            </p:nvSpPr>
            <p:spPr>
              <a:xfrm>
                <a:off x="11776119" y="2247849"/>
                <a:ext cx="234075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Calisto MT" panose="02040603050505030304" pitchFamily="18" charset="0"/>
                  </a:rPr>
                  <a:t>R           </a:t>
                </a:r>
              </a:p>
            </p:txBody>
          </p:sp>
        </p:grpSp>
        <p:grpSp>
          <p:nvGrpSpPr>
            <p:cNvPr id="379" name="Group 378"/>
            <p:cNvGrpSpPr/>
            <p:nvPr/>
          </p:nvGrpSpPr>
          <p:grpSpPr>
            <a:xfrm>
              <a:off x="9647574" y="3017105"/>
              <a:ext cx="548893" cy="548893"/>
              <a:chOff x="11643107" y="2158069"/>
              <a:chExt cx="548893" cy="548893"/>
            </a:xfrm>
            <a:solidFill>
              <a:schemeClr val="tx1"/>
            </a:solidFill>
          </p:grpSpPr>
          <p:sp>
            <p:nvSpPr>
              <p:cNvPr id="380" name="Rectangle 379"/>
              <p:cNvSpPr/>
              <p:nvPr/>
            </p:nvSpPr>
            <p:spPr>
              <a:xfrm>
                <a:off x="11643107" y="2158069"/>
                <a:ext cx="548893" cy="54889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" name="TextBox 380"/>
              <p:cNvSpPr txBox="1"/>
              <p:nvPr/>
            </p:nvSpPr>
            <p:spPr>
              <a:xfrm>
                <a:off x="11776119" y="2247849"/>
                <a:ext cx="234075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Calisto MT" panose="02040603050505030304" pitchFamily="18" charset="0"/>
                  </a:rPr>
                  <a:t>L           </a:t>
                </a:r>
              </a:p>
            </p:txBody>
          </p:sp>
        </p:grpSp>
        <p:grpSp>
          <p:nvGrpSpPr>
            <p:cNvPr id="382" name="Group 381"/>
            <p:cNvGrpSpPr/>
            <p:nvPr/>
          </p:nvGrpSpPr>
          <p:grpSpPr>
            <a:xfrm>
              <a:off x="8986401" y="2295724"/>
              <a:ext cx="1400614" cy="1226567"/>
              <a:chOff x="5777829" y="2332303"/>
              <a:chExt cx="1400614" cy="1226567"/>
            </a:xfrm>
          </p:grpSpPr>
          <p:grpSp>
            <p:nvGrpSpPr>
              <p:cNvPr id="383" name="Group 382"/>
              <p:cNvGrpSpPr/>
              <p:nvPr/>
            </p:nvGrpSpPr>
            <p:grpSpPr>
              <a:xfrm>
                <a:off x="5777829" y="2332303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385" name="Group 384"/>
                <p:cNvGrpSpPr/>
                <p:nvPr/>
              </p:nvGrpSpPr>
              <p:grpSpPr>
                <a:xfrm>
                  <a:off x="3599762" y="2132867"/>
                  <a:ext cx="1400614" cy="1183693"/>
                  <a:chOff x="3599762" y="2132867"/>
                  <a:chExt cx="1400614" cy="1183693"/>
                </a:xfrm>
              </p:grpSpPr>
              <p:grpSp>
                <p:nvGrpSpPr>
                  <p:cNvPr id="387" name="Group 386"/>
                  <p:cNvGrpSpPr/>
                  <p:nvPr/>
                </p:nvGrpSpPr>
                <p:grpSpPr>
                  <a:xfrm>
                    <a:off x="3599762" y="2193252"/>
                    <a:ext cx="1344032" cy="1123308"/>
                    <a:chOff x="3881773" y="2167615"/>
                    <a:chExt cx="1344032" cy="1123308"/>
                  </a:xfrm>
                </p:grpSpPr>
                <p:cxnSp>
                  <p:nvCxnSpPr>
                    <p:cNvPr id="389" name="Straight Connector 388"/>
                    <p:cNvCxnSpPr/>
                    <p:nvPr/>
                  </p:nvCxnSpPr>
                  <p:spPr>
                    <a:xfrm>
                      <a:off x="3881773" y="3290318"/>
                      <a:ext cx="271283" cy="605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0" name="Straight Connector 389"/>
                    <p:cNvCxnSpPr/>
                    <p:nvPr/>
                  </p:nvCxnSpPr>
                  <p:spPr>
                    <a:xfrm flipV="1">
                      <a:off x="4153056" y="2167615"/>
                      <a:ext cx="0" cy="1122703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1" name="Straight Connector 390"/>
                    <p:cNvCxnSpPr/>
                    <p:nvPr/>
                  </p:nvCxnSpPr>
                  <p:spPr>
                    <a:xfrm>
                      <a:off x="4153056" y="2167615"/>
                      <a:ext cx="1072749" cy="0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2" name="Straight Arrow Connector 391"/>
                    <p:cNvCxnSpPr/>
                    <p:nvPr/>
                  </p:nvCxnSpPr>
                  <p:spPr>
                    <a:xfrm>
                      <a:off x="5225805" y="2167615"/>
                      <a:ext cx="0" cy="664196"/>
                    </a:xfrm>
                    <a:prstGeom prst="straightConnector1">
                      <a:avLst/>
                    </a:prstGeom>
                    <a:ln w="38100"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88" name="Rectangle 387"/>
                  <p:cNvSpPr/>
                  <p:nvPr/>
                </p:nvSpPr>
                <p:spPr>
                  <a:xfrm>
                    <a:off x="4887216" y="2132867"/>
                    <a:ext cx="113160" cy="113160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86" name="Rectangle 385"/>
                <p:cNvSpPr/>
                <p:nvPr/>
              </p:nvSpPr>
              <p:spPr>
                <a:xfrm>
                  <a:off x="3814464" y="21360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84" name="Rectangle 383"/>
              <p:cNvSpPr/>
              <p:nvPr/>
            </p:nvSpPr>
            <p:spPr>
              <a:xfrm>
                <a:off x="5990886" y="3445710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3" name="Rectangle 392"/>
            <p:cNvSpPr/>
            <p:nvPr/>
          </p:nvSpPr>
          <p:spPr>
            <a:xfrm>
              <a:off x="8267682" y="2149038"/>
              <a:ext cx="572569" cy="8574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4" name="Group 393"/>
            <p:cNvGrpSpPr/>
            <p:nvPr/>
          </p:nvGrpSpPr>
          <p:grpSpPr>
            <a:xfrm>
              <a:off x="8377218" y="2633550"/>
              <a:ext cx="1395501" cy="529915"/>
              <a:chOff x="5168646" y="2670129"/>
              <a:chExt cx="1395501" cy="529915"/>
            </a:xfrm>
          </p:grpSpPr>
          <p:grpSp>
            <p:nvGrpSpPr>
              <p:cNvPr id="395" name="Group 394"/>
              <p:cNvGrpSpPr/>
              <p:nvPr/>
            </p:nvGrpSpPr>
            <p:grpSpPr>
              <a:xfrm>
                <a:off x="5168646" y="2670129"/>
                <a:ext cx="1395501" cy="477140"/>
                <a:chOff x="2922327" y="2477698"/>
                <a:chExt cx="1395501" cy="477140"/>
              </a:xfrm>
              <a:solidFill>
                <a:srgbClr val="7030A0"/>
              </a:solidFill>
            </p:grpSpPr>
            <p:grpSp>
              <p:nvGrpSpPr>
                <p:cNvPr id="397" name="Group 396"/>
                <p:cNvGrpSpPr/>
                <p:nvPr/>
              </p:nvGrpSpPr>
              <p:grpSpPr>
                <a:xfrm>
                  <a:off x="2982302" y="2477698"/>
                  <a:ext cx="1335526" cy="477140"/>
                  <a:chOff x="2982302" y="2477698"/>
                  <a:chExt cx="1335526" cy="477140"/>
                </a:xfrm>
                <a:grpFill/>
              </p:grpSpPr>
              <p:grpSp>
                <p:nvGrpSpPr>
                  <p:cNvPr id="399" name="Group 398"/>
                  <p:cNvGrpSpPr/>
                  <p:nvPr/>
                </p:nvGrpSpPr>
                <p:grpSpPr>
                  <a:xfrm>
                    <a:off x="2982302" y="2525350"/>
                    <a:ext cx="1335526" cy="429488"/>
                    <a:chOff x="3264313" y="2499713"/>
                    <a:chExt cx="1335526" cy="429488"/>
                  </a:xfrm>
                  <a:grpFill/>
                </p:grpSpPr>
                <p:cxnSp>
                  <p:nvCxnSpPr>
                    <p:cNvPr id="401" name="Straight Connector 400"/>
                    <p:cNvCxnSpPr/>
                    <p:nvPr/>
                  </p:nvCxnSpPr>
                  <p:spPr>
                    <a:xfrm flipH="1">
                      <a:off x="4375448" y="2929201"/>
                      <a:ext cx="224391" cy="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rgbClr val="7030A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2" name="Straight Connector 401"/>
                    <p:cNvCxnSpPr/>
                    <p:nvPr/>
                  </p:nvCxnSpPr>
                  <p:spPr>
                    <a:xfrm flipV="1">
                      <a:off x="4383993" y="2499713"/>
                      <a:ext cx="0" cy="421878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rgbClr val="7030A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3" name="Straight Connector 402"/>
                    <p:cNvCxnSpPr/>
                    <p:nvPr/>
                  </p:nvCxnSpPr>
                  <p:spPr>
                    <a:xfrm flipH="1">
                      <a:off x="3264313" y="2499713"/>
                      <a:ext cx="1111135" cy="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rgbClr val="7030A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4" name="Straight Arrow Connector 403"/>
                    <p:cNvCxnSpPr/>
                    <p:nvPr/>
                  </p:nvCxnSpPr>
                  <p:spPr>
                    <a:xfrm>
                      <a:off x="3264313" y="2499713"/>
                      <a:ext cx="0" cy="332098"/>
                    </a:xfrm>
                    <a:prstGeom prst="straightConnector1">
                      <a:avLst/>
                    </a:prstGeom>
                    <a:grpFill/>
                    <a:ln w="38100">
                      <a:solidFill>
                        <a:srgbClr val="7030A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00" name="Rectangle 399"/>
                  <p:cNvSpPr/>
                  <p:nvPr/>
                </p:nvSpPr>
                <p:spPr>
                  <a:xfrm>
                    <a:off x="4043914" y="2477698"/>
                    <a:ext cx="113160" cy="113160"/>
                  </a:xfrm>
                  <a:prstGeom prst="rect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n>
                        <a:solidFill>
                          <a:srgbClr val="7030A0"/>
                        </a:solidFill>
                      </a:ln>
                    </a:endParaRPr>
                  </a:p>
                </p:txBody>
              </p:sp>
            </p:grpSp>
            <p:sp>
              <p:nvSpPr>
                <p:cNvPr id="398" name="Rectangle 397"/>
                <p:cNvSpPr/>
                <p:nvPr/>
              </p:nvSpPr>
              <p:spPr>
                <a:xfrm>
                  <a:off x="2922327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396" name="Rectangle 395"/>
              <p:cNvSpPr/>
              <p:nvPr/>
            </p:nvSpPr>
            <p:spPr>
              <a:xfrm>
                <a:off x="6296808" y="3086884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5" name="Rectangle 404"/>
            <p:cNvSpPr/>
            <p:nvPr/>
          </p:nvSpPr>
          <p:spPr>
            <a:xfrm>
              <a:off x="10445864" y="2148071"/>
              <a:ext cx="572569" cy="8574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TextBox 405"/>
            <p:cNvSpPr txBox="1"/>
            <p:nvPr/>
          </p:nvSpPr>
          <p:spPr>
            <a:xfrm>
              <a:off x="11427260" y="3103080"/>
              <a:ext cx="8585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NULL           </a:t>
              </a:r>
            </a:p>
          </p:txBody>
        </p:sp>
        <p:cxnSp>
          <p:nvCxnSpPr>
            <p:cNvPr id="407" name="Straight Arrow Connector 406"/>
            <p:cNvCxnSpPr/>
            <p:nvPr/>
          </p:nvCxnSpPr>
          <p:spPr>
            <a:xfrm flipV="1">
              <a:off x="11201955" y="3307451"/>
              <a:ext cx="339235" cy="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5" name="Group 314"/>
            <p:cNvGrpSpPr/>
            <p:nvPr/>
          </p:nvGrpSpPr>
          <p:grpSpPr>
            <a:xfrm>
              <a:off x="10320981" y="1710555"/>
              <a:ext cx="617280" cy="1299758"/>
              <a:chOff x="9315288" y="1750121"/>
              <a:chExt cx="617280" cy="1299758"/>
            </a:xfrm>
          </p:grpSpPr>
          <p:cxnSp>
            <p:nvCxnSpPr>
              <p:cNvPr id="316" name="Straight Arrow Connector 315"/>
              <p:cNvCxnSpPr/>
              <p:nvPr/>
            </p:nvCxnSpPr>
            <p:spPr>
              <a:xfrm flipH="1">
                <a:off x="9555112" y="2076625"/>
                <a:ext cx="3928" cy="973254"/>
              </a:xfrm>
              <a:prstGeom prst="straightConnector1">
                <a:avLst/>
              </a:prstGeom>
              <a:ln w="57150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7" name="TextBox 316"/>
              <p:cNvSpPr txBox="1"/>
              <p:nvPr/>
            </p:nvSpPr>
            <p:spPr>
              <a:xfrm>
                <a:off x="9315288" y="1750121"/>
                <a:ext cx="617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tail           </a:t>
                </a:r>
              </a:p>
            </p:txBody>
          </p:sp>
        </p:grpSp>
        <p:grpSp>
          <p:nvGrpSpPr>
            <p:cNvPr id="463" name="Group 462"/>
            <p:cNvGrpSpPr/>
            <p:nvPr/>
          </p:nvGrpSpPr>
          <p:grpSpPr>
            <a:xfrm>
              <a:off x="8003180" y="1726974"/>
              <a:ext cx="678389" cy="1299758"/>
              <a:chOff x="9315287" y="1750121"/>
              <a:chExt cx="678389" cy="1299758"/>
            </a:xfrm>
          </p:grpSpPr>
          <p:cxnSp>
            <p:nvCxnSpPr>
              <p:cNvPr id="464" name="Straight Arrow Connector 463"/>
              <p:cNvCxnSpPr/>
              <p:nvPr/>
            </p:nvCxnSpPr>
            <p:spPr>
              <a:xfrm flipH="1">
                <a:off x="9555112" y="2076625"/>
                <a:ext cx="3928" cy="973254"/>
              </a:xfrm>
              <a:prstGeom prst="straightConnector1">
                <a:avLst/>
              </a:prstGeom>
              <a:ln w="57150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5" name="TextBox 464"/>
              <p:cNvSpPr txBox="1"/>
              <p:nvPr/>
            </p:nvSpPr>
            <p:spPr>
              <a:xfrm>
                <a:off x="9315287" y="1750121"/>
                <a:ext cx="6783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head           </a:t>
                </a:r>
              </a:p>
            </p:txBody>
          </p:sp>
        </p:grpSp>
        <p:cxnSp>
          <p:nvCxnSpPr>
            <p:cNvPr id="450" name="Straight Arrow Connector 449"/>
            <p:cNvCxnSpPr/>
            <p:nvPr/>
          </p:nvCxnSpPr>
          <p:spPr>
            <a:xfrm flipH="1">
              <a:off x="7322204" y="3328255"/>
              <a:ext cx="37519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1" name="TextBox 450"/>
            <p:cNvSpPr txBox="1"/>
            <p:nvPr/>
          </p:nvSpPr>
          <p:spPr>
            <a:xfrm>
              <a:off x="6591390" y="3132212"/>
              <a:ext cx="8585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NULL           </a:t>
              </a:r>
            </a:p>
          </p:txBody>
        </p:sp>
        <p:grpSp>
          <p:nvGrpSpPr>
            <p:cNvPr id="312" name="Group 311"/>
            <p:cNvGrpSpPr/>
            <p:nvPr/>
          </p:nvGrpSpPr>
          <p:grpSpPr>
            <a:xfrm>
              <a:off x="7509803" y="3032857"/>
              <a:ext cx="548893" cy="548893"/>
              <a:chOff x="11643107" y="2158069"/>
              <a:chExt cx="548893" cy="548893"/>
            </a:xfrm>
            <a:solidFill>
              <a:schemeClr val="tx1"/>
            </a:solidFill>
          </p:grpSpPr>
          <p:sp>
            <p:nvSpPr>
              <p:cNvPr id="313" name="Rectangle 312"/>
              <p:cNvSpPr/>
              <p:nvPr/>
            </p:nvSpPr>
            <p:spPr>
              <a:xfrm>
                <a:off x="11643107" y="2158069"/>
                <a:ext cx="548893" cy="54889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" name="TextBox 313"/>
              <p:cNvSpPr txBox="1"/>
              <p:nvPr/>
            </p:nvSpPr>
            <p:spPr>
              <a:xfrm>
                <a:off x="11776119" y="2247849"/>
                <a:ext cx="234075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Calisto MT" panose="02040603050505030304" pitchFamily="18" charset="0"/>
                  </a:rPr>
                  <a:t>L           </a:t>
                </a:r>
              </a:p>
            </p:txBody>
          </p:sp>
        </p:grpSp>
        <p:grpSp>
          <p:nvGrpSpPr>
            <p:cNvPr id="306" name="Group 305"/>
            <p:cNvGrpSpPr/>
            <p:nvPr/>
          </p:nvGrpSpPr>
          <p:grpSpPr>
            <a:xfrm>
              <a:off x="8062579" y="3036662"/>
              <a:ext cx="548893" cy="548893"/>
              <a:chOff x="11643107" y="2158069"/>
              <a:chExt cx="548893" cy="548893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307" name="Rectangle 306"/>
              <p:cNvSpPr/>
              <p:nvPr/>
            </p:nvSpPr>
            <p:spPr>
              <a:xfrm>
                <a:off x="11643107" y="2158069"/>
                <a:ext cx="548893" cy="54889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" name="TextBox 307"/>
              <p:cNvSpPr txBox="1"/>
              <p:nvPr/>
            </p:nvSpPr>
            <p:spPr>
              <a:xfrm>
                <a:off x="11776119" y="2247849"/>
                <a:ext cx="234075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d           </a:t>
                </a:r>
              </a:p>
            </p:txBody>
          </p:sp>
        </p:grpSp>
      </p:grpSp>
      <p:grpSp>
        <p:nvGrpSpPr>
          <p:cNvPr id="6" name="Group 5"/>
          <p:cNvGrpSpPr/>
          <p:nvPr/>
        </p:nvGrpSpPr>
        <p:grpSpPr>
          <a:xfrm>
            <a:off x="-23080" y="1735326"/>
            <a:ext cx="7471116" cy="2333129"/>
            <a:chOff x="-23080" y="1735326"/>
            <a:chExt cx="7471116" cy="2333129"/>
          </a:xfrm>
        </p:grpSpPr>
        <p:grpSp>
          <p:nvGrpSpPr>
            <p:cNvPr id="5" name="Group 4"/>
            <p:cNvGrpSpPr/>
            <p:nvPr/>
          </p:nvGrpSpPr>
          <p:grpSpPr>
            <a:xfrm>
              <a:off x="-23080" y="1735326"/>
              <a:ext cx="6614470" cy="2333129"/>
              <a:chOff x="-23080" y="1735326"/>
              <a:chExt cx="6614470" cy="2333129"/>
            </a:xfrm>
          </p:grpSpPr>
          <p:sp>
            <p:nvSpPr>
              <p:cNvPr id="228" name="TextBox 227"/>
              <p:cNvSpPr txBox="1"/>
              <p:nvPr/>
            </p:nvSpPr>
            <p:spPr>
              <a:xfrm>
                <a:off x="-23080" y="2999009"/>
                <a:ext cx="858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NULL           </a:t>
                </a:r>
              </a:p>
            </p:txBody>
          </p:sp>
          <p:grpSp>
            <p:nvGrpSpPr>
              <p:cNvPr id="239" name="Group 238"/>
              <p:cNvGrpSpPr/>
              <p:nvPr/>
            </p:nvGrpSpPr>
            <p:grpSpPr>
              <a:xfrm>
                <a:off x="5094229" y="2054221"/>
                <a:ext cx="1209647" cy="992987"/>
                <a:chOff x="10227000" y="2386519"/>
                <a:chExt cx="1209647" cy="992987"/>
              </a:xfrm>
            </p:grpSpPr>
            <p:sp>
              <p:nvSpPr>
                <p:cNvPr id="282" name="Rectangle 281"/>
                <p:cNvSpPr/>
                <p:nvPr/>
              </p:nvSpPr>
              <p:spPr>
                <a:xfrm>
                  <a:off x="10227000" y="2483963"/>
                  <a:ext cx="1209647" cy="89554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83" name="Group 282"/>
                <p:cNvGrpSpPr/>
                <p:nvPr/>
              </p:nvGrpSpPr>
              <p:grpSpPr>
                <a:xfrm>
                  <a:off x="10463698" y="2386519"/>
                  <a:ext cx="729688" cy="954908"/>
                  <a:chOff x="5754153" y="4810967"/>
                  <a:chExt cx="729688" cy="954908"/>
                </a:xfrm>
              </p:grpSpPr>
              <p:cxnSp>
                <p:nvCxnSpPr>
                  <p:cNvPr id="284" name="Straight Arrow Connector 283"/>
                  <p:cNvCxnSpPr>
                    <a:stCxn id="285" idx="2"/>
                  </p:cNvCxnSpPr>
                  <p:nvPr/>
                </p:nvCxnSpPr>
                <p:spPr>
                  <a:xfrm>
                    <a:off x="6118997" y="5180299"/>
                    <a:ext cx="0" cy="585576"/>
                  </a:xfrm>
                  <a:prstGeom prst="straightConnector1">
                    <a:avLst/>
                  </a:prstGeom>
                  <a:ln w="57150">
                    <a:solidFill>
                      <a:srgbClr val="FFC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85" name="TextBox 284"/>
                  <p:cNvSpPr txBox="1"/>
                  <p:nvPr/>
                </p:nvSpPr>
                <p:spPr>
                  <a:xfrm>
                    <a:off x="5754153" y="4810967"/>
                    <a:ext cx="72968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>
                        <a:latin typeface="Calisto MT" panose="02040603050505030304" pitchFamily="18" charset="0"/>
                      </a:rPr>
                      <a:t>temp           </a:t>
                    </a:r>
                  </a:p>
                </p:txBody>
              </p:sp>
            </p:grpSp>
          </p:grpSp>
          <p:grpSp>
            <p:nvGrpSpPr>
              <p:cNvPr id="286" name="Group 285"/>
              <p:cNvGrpSpPr/>
              <p:nvPr/>
            </p:nvGrpSpPr>
            <p:grpSpPr>
              <a:xfrm>
                <a:off x="1504399" y="2059165"/>
                <a:ext cx="1209647" cy="992987"/>
                <a:chOff x="10227000" y="2386519"/>
                <a:chExt cx="1209647" cy="992987"/>
              </a:xfrm>
            </p:grpSpPr>
            <p:sp>
              <p:nvSpPr>
                <p:cNvPr id="287" name="Rectangle 286"/>
                <p:cNvSpPr/>
                <p:nvPr/>
              </p:nvSpPr>
              <p:spPr>
                <a:xfrm>
                  <a:off x="10227000" y="2483963"/>
                  <a:ext cx="1209647" cy="89554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88" name="Group 287"/>
                <p:cNvGrpSpPr/>
                <p:nvPr/>
              </p:nvGrpSpPr>
              <p:grpSpPr>
                <a:xfrm>
                  <a:off x="10463698" y="2386519"/>
                  <a:ext cx="729688" cy="954908"/>
                  <a:chOff x="5754153" y="4810967"/>
                  <a:chExt cx="729688" cy="954908"/>
                </a:xfrm>
              </p:grpSpPr>
              <p:cxnSp>
                <p:nvCxnSpPr>
                  <p:cNvPr id="289" name="Straight Arrow Connector 288"/>
                  <p:cNvCxnSpPr>
                    <a:stCxn id="290" idx="2"/>
                  </p:cNvCxnSpPr>
                  <p:nvPr/>
                </p:nvCxnSpPr>
                <p:spPr>
                  <a:xfrm>
                    <a:off x="6118997" y="5180299"/>
                    <a:ext cx="0" cy="585576"/>
                  </a:xfrm>
                  <a:prstGeom prst="straightConnector1">
                    <a:avLst/>
                  </a:prstGeom>
                  <a:ln w="57150">
                    <a:solidFill>
                      <a:srgbClr val="FFC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90" name="TextBox 289"/>
                  <p:cNvSpPr txBox="1"/>
                  <p:nvPr/>
                </p:nvSpPr>
                <p:spPr>
                  <a:xfrm>
                    <a:off x="5754153" y="4810967"/>
                    <a:ext cx="72968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>
                        <a:latin typeface="Calisto MT" panose="02040603050505030304" pitchFamily="18" charset="0"/>
                      </a:rPr>
                      <a:t>temp           </a:t>
                    </a:r>
                  </a:p>
                </p:txBody>
              </p:sp>
            </p:grpSp>
          </p:grpSp>
          <p:grpSp>
            <p:nvGrpSpPr>
              <p:cNvPr id="291" name="Group 290"/>
              <p:cNvGrpSpPr/>
              <p:nvPr/>
            </p:nvGrpSpPr>
            <p:grpSpPr>
              <a:xfrm>
                <a:off x="1316207" y="3079087"/>
                <a:ext cx="548893" cy="548893"/>
                <a:chOff x="11643107" y="2158069"/>
                <a:chExt cx="548893" cy="548893"/>
              </a:xfrm>
              <a:solidFill>
                <a:schemeClr val="accent1">
                  <a:lumMod val="40000"/>
                  <a:lumOff val="60000"/>
                </a:schemeClr>
              </a:solidFill>
            </p:grpSpPr>
            <p:sp>
              <p:nvSpPr>
                <p:cNvPr id="292" name="Rectangle 291"/>
                <p:cNvSpPr/>
                <p:nvPr/>
              </p:nvSpPr>
              <p:spPr>
                <a:xfrm>
                  <a:off x="11643107" y="2158069"/>
                  <a:ext cx="548893" cy="54889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3" name="TextBox 292"/>
                <p:cNvSpPr txBox="1"/>
                <p:nvPr/>
              </p:nvSpPr>
              <p:spPr>
                <a:xfrm>
                  <a:off x="11776119" y="2247849"/>
                  <a:ext cx="234075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Calisto MT" panose="02040603050505030304" pitchFamily="18" charset="0"/>
                    </a:rPr>
                    <a:t>a           </a:t>
                  </a:r>
                </a:p>
              </p:txBody>
            </p:sp>
          </p:grpSp>
          <p:grpSp>
            <p:nvGrpSpPr>
              <p:cNvPr id="294" name="Group 293"/>
              <p:cNvGrpSpPr/>
              <p:nvPr/>
            </p:nvGrpSpPr>
            <p:grpSpPr>
              <a:xfrm>
                <a:off x="1863156" y="3075283"/>
                <a:ext cx="548893" cy="548893"/>
                <a:chOff x="11643107" y="2158069"/>
                <a:chExt cx="548893" cy="548893"/>
              </a:xfrm>
              <a:solidFill>
                <a:schemeClr val="tx1"/>
              </a:solidFill>
            </p:grpSpPr>
            <p:sp>
              <p:nvSpPr>
                <p:cNvPr id="295" name="Rectangle 294"/>
                <p:cNvSpPr/>
                <p:nvPr/>
              </p:nvSpPr>
              <p:spPr>
                <a:xfrm>
                  <a:off x="11643107" y="2158069"/>
                  <a:ext cx="548893" cy="54889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6" name="TextBox 295"/>
                <p:cNvSpPr txBox="1"/>
                <p:nvPr/>
              </p:nvSpPr>
              <p:spPr>
                <a:xfrm>
                  <a:off x="11776119" y="2247849"/>
                  <a:ext cx="234075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  <a:latin typeface="Calisto MT" panose="02040603050505030304" pitchFamily="18" charset="0"/>
                    </a:rPr>
                    <a:t>R           </a:t>
                  </a:r>
                </a:p>
              </p:txBody>
            </p:sp>
          </p:grpSp>
          <p:grpSp>
            <p:nvGrpSpPr>
              <p:cNvPr id="297" name="Group 296"/>
              <p:cNvGrpSpPr/>
              <p:nvPr/>
            </p:nvGrpSpPr>
            <p:grpSpPr>
              <a:xfrm>
                <a:off x="763431" y="3075282"/>
                <a:ext cx="548893" cy="548893"/>
                <a:chOff x="11643107" y="2158069"/>
                <a:chExt cx="548893" cy="548893"/>
              </a:xfrm>
              <a:solidFill>
                <a:schemeClr val="tx1"/>
              </a:solidFill>
            </p:grpSpPr>
            <p:sp>
              <p:nvSpPr>
                <p:cNvPr id="298" name="Rectangle 297"/>
                <p:cNvSpPr/>
                <p:nvPr/>
              </p:nvSpPr>
              <p:spPr>
                <a:xfrm>
                  <a:off x="11643107" y="2158069"/>
                  <a:ext cx="548893" cy="54889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9" name="TextBox 298"/>
                <p:cNvSpPr txBox="1"/>
                <p:nvPr/>
              </p:nvSpPr>
              <p:spPr>
                <a:xfrm>
                  <a:off x="11776119" y="2247849"/>
                  <a:ext cx="234075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  <a:latin typeface="Calisto MT" panose="02040603050505030304" pitchFamily="18" charset="0"/>
                    </a:rPr>
                    <a:t>L           </a:t>
                  </a:r>
                </a:p>
              </p:txBody>
            </p:sp>
          </p:grpSp>
          <p:grpSp>
            <p:nvGrpSpPr>
              <p:cNvPr id="300" name="Group 299"/>
              <p:cNvGrpSpPr/>
              <p:nvPr/>
            </p:nvGrpSpPr>
            <p:grpSpPr>
              <a:xfrm>
                <a:off x="2719396" y="3054071"/>
                <a:ext cx="548893" cy="548893"/>
                <a:chOff x="11643107" y="2158069"/>
                <a:chExt cx="548893" cy="548893"/>
              </a:xfrm>
              <a:solidFill>
                <a:schemeClr val="tx1"/>
              </a:solidFill>
            </p:grpSpPr>
            <p:sp>
              <p:nvSpPr>
                <p:cNvPr id="301" name="Rectangle 300"/>
                <p:cNvSpPr/>
                <p:nvPr/>
              </p:nvSpPr>
              <p:spPr>
                <a:xfrm>
                  <a:off x="11643107" y="2158069"/>
                  <a:ext cx="548893" cy="54889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2" name="TextBox 301"/>
                <p:cNvSpPr txBox="1"/>
                <p:nvPr/>
              </p:nvSpPr>
              <p:spPr>
                <a:xfrm>
                  <a:off x="11776119" y="2247849"/>
                  <a:ext cx="234075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  <a:latin typeface="Calisto MT" panose="02040603050505030304" pitchFamily="18" charset="0"/>
                    </a:rPr>
                    <a:t>L           </a:t>
                  </a:r>
                </a:p>
              </p:txBody>
            </p:sp>
          </p:grpSp>
          <p:grpSp>
            <p:nvGrpSpPr>
              <p:cNvPr id="318" name="Group 317"/>
              <p:cNvGrpSpPr/>
              <p:nvPr/>
            </p:nvGrpSpPr>
            <p:grpSpPr>
              <a:xfrm>
                <a:off x="2223792" y="2305291"/>
                <a:ext cx="1362748" cy="1209475"/>
                <a:chOff x="3591216" y="2332908"/>
                <a:chExt cx="1400614" cy="1209475"/>
              </a:xfrm>
            </p:grpSpPr>
            <p:grpSp>
              <p:nvGrpSpPr>
                <p:cNvPr id="319" name="Group 318"/>
                <p:cNvGrpSpPr/>
                <p:nvPr/>
              </p:nvGrpSpPr>
              <p:grpSpPr>
                <a:xfrm>
                  <a:off x="3591216" y="2332908"/>
                  <a:ext cx="1400614" cy="1183693"/>
                  <a:chOff x="3599762" y="2132867"/>
                  <a:chExt cx="1400614" cy="1183693"/>
                </a:xfrm>
              </p:grpSpPr>
              <p:grpSp>
                <p:nvGrpSpPr>
                  <p:cNvPr id="321" name="Group 320"/>
                  <p:cNvGrpSpPr/>
                  <p:nvPr/>
                </p:nvGrpSpPr>
                <p:grpSpPr>
                  <a:xfrm>
                    <a:off x="3599762" y="2132867"/>
                    <a:ext cx="1400614" cy="1183693"/>
                    <a:chOff x="3599762" y="2132867"/>
                    <a:chExt cx="1400614" cy="1183693"/>
                  </a:xfrm>
                </p:grpSpPr>
                <p:grpSp>
                  <p:nvGrpSpPr>
                    <p:cNvPr id="323" name="Group 322"/>
                    <p:cNvGrpSpPr/>
                    <p:nvPr/>
                  </p:nvGrpSpPr>
                  <p:grpSpPr>
                    <a:xfrm>
                      <a:off x="3599762" y="2193252"/>
                      <a:ext cx="1344032" cy="1123308"/>
                      <a:chOff x="3881773" y="2167615"/>
                      <a:chExt cx="1344032" cy="1123308"/>
                    </a:xfrm>
                  </p:grpSpPr>
                  <p:cxnSp>
                    <p:nvCxnSpPr>
                      <p:cNvPr id="325" name="Straight Connector 324"/>
                      <p:cNvCxnSpPr/>
                      <p:nvPr/>
                    </p:nvCxnSpPr>
                    <p:spPr>
                      <a:xfrm>
                        <a:off x="3881773" y="3290318"/>
                        <a:ext cx="271283" cy="605"/>
                      </a:xfrm>
                      <a:prstGeom prst="line">
                        <a:avLst/>
                      </a:prstGeom>
                      <a:ln w="3810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26" name="Straight Connector 325"/>
                      <p:cNvCxnSpPr/>
                      <p:nvPr/>
                    </p:nvCxnSpPr>
                    <p:spPr>
                      <a:xfrm flipV="1">
                        <a:off x="4153056" y="2167615"/>
                        <a:ext cx="0" cy="1122703"/>
                      </a:xfrm>
                      <a:prstGeom prst="line">
                        <a:avLst/>
                      </a:prstGeom>
                      <a:ln w="3810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27" name="Straight Connector 326"/>
                      <p:cNvCxnSpPr/>
                      <p:nvPr/>
                    </p:nvCxnSpPr>
                    <p:spPr>
                      <a:xfrm>
                        <a:off x="4153056" y="2167615"/>
                        <a:ext cx="1072749" cy="0"/>
                      </a:xfrm>
                      <a:prstGeom prst="line">
                        <a:avLst/>
                      </a:prstGeom>
                      <a:ln w="3810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28" name="Straight Arrow Connector 327"/>
                      <p:cNvCxnSpPr/>
                      <p:nvPr/>
                    </p:nvCxnSpPr>
                    <p:spPr>
                      <a:xfrm>
                        <a:off x="5225805" y="2167615"/>
                        <a:ext cx="0" cy="664196"/>
                      </a:xfrm>
                      <a:prstGeom prst="straightConnector1">
                        <a:avLst/>
                      </a:prstGeom>
                      <a:ln w="38100">
                        <a:solidFill>
                          <a:srgbClr val="FF000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324" name="Rectangle 323"/>
                    <p:cNvSpPr/>
                    <p:nvPr/>
                  </p:nvSpPr>
                  <p:spPr>
                    <a:xfrm>
                      <a:off x="4887216" y="2132867"/>
                      <a:ext cx="113160" cy="11316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322" name="Rectangle 321"/>
                  <p:cNvSpPr/>
                  <p:nvPr/>
                </p:nvSpPr>
                <p:spPr>
                  <a:xfrm>
                    <a:off x="3814464" y="2136067"/>
                    <a:ext cx="113160" cy="113160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20" name="Rectangle 319"/>
                <p:cNvSpPr/>
                <p:nvPr/>
              </p:nvSpPr>
              <p:spPr>
                <a:xfrm>
                  <a:off x="3803954" y="3429223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40" name="Rectangle 339"/>
              <p:cNvSpPr/>
              <p:nvPr/>
            </p:nvSpPr>
            <p:spPr>
              <a:xfrm>
                <a:off x="1768269" y="2178049"/>
                <a:ext cx="667120" cy="8428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5" name="Rectangle 354"/>
              <p:cNvSpPr/>
              <p:nvPr/>
            </p:nvSpPr>
            <p:spPr>
              <a:xfrm>
                <a:off x="5396603" y="2162246"/>
                <a:ext cx="572569" cy="8574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08" name="Straight Arrow Connector 407"/>
              <p:cNvCxnSpPr/>
              <p:nvPr/>
            </p:nvCxnSpPr>
            <p:spPr>
              <a:xfrm flipH="1">
                <a:off x="477144" y="3397145"/>
                <a:ext cx="375197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23" name="Group 422"/>
              <p:cNvGrpSpPr/>
              <p:nvPr/>
            </p:nvGrpSpPr>
            <p:grpSpPr>
              <a:xfrm>
                <a:off x="3272172" y="3057876"/>
                <a:ext cx="548893" cy="548893"/>
                <a:chOff x="11643107" y="2158069"/>
                <a:chExt cx="548893" cy="548893"/>
              </a:xfrm>
              <a:solidFill>
                <a:schemeClr val="accent1">
                  <a:lumMod val="60000"/>
                  <a:lumOff val="40000"/>
                </a:schemeClr>
              </a:solidFill>
            </p:grpSpPr>
            <p:sp>
              <p:nvSpPr>
                <p:cNvPr id="424" name="Rectangle 423"/>
                <p:cNvSpPr/>
                <p:nvPr/>
              </p:nvSpPr>
              <p:spPr>
                <a:xfrm>
                  <a:off x="11643107" y="2158069"/>
                  <a:ext cx="548893" cy="54889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5" name="TextBox 424"/>
                <p:cNvSpPr txBox="1"/>
                <p:nvPr/>
              </p:nvSpPr>
              <p:spPr>
                <a:xfrm>
                  <a:off x="11776119" y="2247849"/>
                  <a:ext cx="234075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Calisto MT" panose="02040603050505030304" pitchFamily="18" charset="0"/>
                    </a:rPr>
                    <a:t>b           </a:t>
                  </a:r>
                </a:p>
              </p:txBody>
            </p:sp>
          </p:grpSp>
          <p:grpSp>
            <p:nvGrpSpPr>
              <p:cNvPr id="441" name="Group 440"/>
              <p:cNvGrpSpPr/>
              <p:nvPr/>
            </p:nvGrpSpPr>
            <p:grpSpPr>
              <a:xfrm>
                <a:off x="4598313" y="3031280"/>
                <a:ext cx="548893" cy="548893"/>
                <a:chOff x="11643107" y="2158069"/>
                <a:chExt cx="548893" cy="548893"/>
              </a:xfrm>
              <a:solidFill>
                <a:schemeClr val="tx1"/>
              </a:solidFill>
            </p:grpSpPr>
            <p:sp>
              <p:nvSpPr>
                <p:cNvPr id="442" name="Rectangle 441"/>
                <p:cNvSpPr/>
                <p:nvPr/>
              </p:nvSpPr>
              <p:spPr>
                <a:xfrm>
                  <a:off x="11643107" y="2158069"/>
                  <a:ext cx="548893" cy="54889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3" name="TextBox 442"/>
                <p:cNvSpPr txBox="1"/>
                <p:nvPr/>
              </p:nvSpPr>
              <p:spPr>
                <a:xfrm>
                  <a:off x="11776119" y="2247849"/>
                  <a:ext cx="234075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  <a:latin typeface="Calisto MT" panose="02040603050505030304" pitchFamily="18" charset="0"/>
                    </a:rPr>
                    <a:t>L           </a:t>
                  </a:r>
                </a:p>
              </p:txBody>
            </p:sp>
          </p:grpSp>
          <p:grpSp>
            <p:nvGrpSpPr>
              <p:cNvPr id="444" name="Group 443"/>
              <p:cNvGrpSpPr/>
              <p:nvPr/>
            </p:nvGrpSpPr>
            <p:grpSpPr>
              <a:xfrm>
                <a:off x="4955870" y="1735326"/>
                <a:ext cx="729688" cy="1299758"/>
                <a:chOff x="2491874" y="1750121"/>
                <a:chExt cx="729688" cy="1299758"/>
              </a:xfrm>
            </p:grpSpPr>
            <p:cxnSp>
              <p:nvCxnSpPr>
                <p:cNvPr id="445" name="Straight Arrow Connector 444"/>
                <p:cNvCxnSpPr/>
                <p:nvPr/>
              </p:nvCxnSpPr>
              <p:spPr>
                <a:xfrm flipH="1">
                  <a:off x="2796960" y="2076625"/>
                  <a:ext cx="3928" cy="973254"/>
                </a:xfrm>
                <a:prstGeom prst="straightConnector1">
                  <a:avLst/>
                </a:prstGeom>
                <a:ln w="57150">
                  <a:solidFill>
                    <a:srgbClr val="7030A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6" name="TextBox 445"/>
                <p:cNvSpPr txBox="1"/>
                <p:nvPr/>
              </p:nvSpPr>
              <p:spPr>
                <a:xfrm>
                  <a:off x="2491874" y="1750121"/>
                  <a:ext cx="729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Calisto MT" panose="02040603050505030304" pitchFamily="18" charset="0"/>
                    </a:rPr>
                    <a:t>last           </a:t>
                  </a:r>
                </a:p>
              </p:txBody>
            </p:sp>
          </p:grpSp>
          <p:grpSp>
            <p:nvGrpSpPr>
              <p:cNvPr id="447" name="Group 446"/>
              <p:cNvGrpSpPr/>
              <p:nvPr/>
            </p:nvGrpSpPr>
            <p:grpSpPr>
              <a:xfrm>
                <a:off x="3819121" y="3054072"/>
                <a:ext cx="548893" cy="548893"/>
                <a:chOff x="11643107" y="2158069"/>
                <a:chExt cx="548893" cy="548893"/>
              </a:xfrm>
              <a:solidFill>
                <a:schemeClr val="tx1"/>
              </a:solidFill>
            </p:grpSpPr>
            <p:sp>
              <p:nvSpPr>
                <p:cNvPr id="448" name="Rectangle 447"/>
                <p:cNvSpPr/>
                <p:nvPr/>
              </p:nvSpPr>
              <p:spPr>
                <a:xfrm>
                  <a:off x="11643107" y="2158069"/>
                  <a:ext cx="548893" cy="54889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9" name="TextBox 448"/>
                <p:cNvSpPr txBox="1"/>
                <p:nvPr/>
              </p:nvSpPr>
              <p:spPr>
                <a:xfrm>
                  <a:off x="11776119" y="2247849"/>
                  <a:ext cx="234075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  <a:latin typeface="Calisto MT" panose="02040603050505030304" pitchFamily="18" charset="0"/>
                    </a:rPr>
                    <a:t>R           </a:t>
                  </a:r>
                </a:p>
              </p:txBody>
            </p:sp>
          </p:grpSp>
          <p:grpSp>
            <p:nvGrpSpPr>
              <p:cNvPr id="457" name="Group 456"/>
              <p:cNvGrpSpPr/>
              <p:nvPr/>
            </p:nvGrpSpPr>
            <p:grpSpPr>
              <a:xfrm>
                <a:off x="772725" y="1768127"/>
                <a:ext cx="729688" cy="1299758"/>
                <a:chOff x="2491874" y="1750121"/>
                <a:chExt cx="729688" cy="1299758"/>
              </a:xfrm>
            </p:grpSpPr>
            <p:cxnSp>
              <p:nvCxnSpPr>
                <p:cNvPr id="458" name="Straight Arrow Connector 457"/>
                <p:cNvCxnSpPr/>
                <p:nvPr/>
              </p:nvCxnSpPr>
              <p:spPr>
                <a:xfrm flipH="1">
                  <a:off x="2796960" y="2076625"/>
                  <a:ext cx="3928" cy="973254"/>
                </a:xfrm>
                <a:prstGeom prst="straightConnector1">
                  <a:avLst/>
                </a:prstGeom>
                <a:ln w="57150">
                  <a:solidFill>
                    <a:srgbClr val="7030A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9" name="TextBox 458"/>
                <p:cNvSpPr txBox="1"/>
                <p:nvPr/>
              </p:nvSpPr>
              <p:spPr>
                <a:xfrm>
                  <a:off x="2491874" y="1750121"/>
                  <a:ext cx="729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Calisto MT" panose="02040603050505030304" pitchFamily="18" charset="0"/>
                    </a:rPr>
                    <a:t>first           </a:t>
                  </a:r>
                </a:p>
              </p:txBody>
            </p:sp>
          </p:grpSp>
          <p:grpSp>
            <p:nvGrpSpPr>
              <p:cNvPr id="344" name="Group 343"/>
              <p:cNvGrpSpPr/>
              <p:nvPr/>
            </p:nvGrpSpPr>
            <p:grpSpPr>
              <a:xfrm>
                <a:off x="3743491" y="2641121"/>
                <a:ext cx="907962" cy="529915"/>
                <a:chOff x="5168646" y="2670129"/>
                <a:chExt cx="1395501" cy="529915"/>
              </a:xfrm>
            </p:grpSpPr>
            <p:grpSp>
              <p:nvGrpSpPr>
                <p:cNvPr id="345" name="Group 344"/>
                <p:cNvGrpSpPr/>
                <p:nvPr/>
              </p:nvGrpSpPr>
              <p:grpSpPr>
                <a:xfrm>
                  <a:off x="5168646" y="2670129"/>
                  <a:ext cx="1395501" cy="477140"/>
                  <a:chOff x="2922327" y="2477698"/>
                  <a:chExt cx="1395501" cy="477140"/>
                </a:xfrm>
                <a:solidFill>
                  <a:srgbClr val="7030A0"/>
                </a:solidFill>
              </p:grpSpPr>
              <p:grpSp>
                <p:nvGrpSpPr>
                  <p:cNvPr id="347" name="Group 346"/>
                  <p:cNvGrpSpPr/>
                  <p:nvPr/>
                </p:nvGrpSpPr>
                <p:grpSpPr>
                  <a:xfrm>
                    <a:off x="2982302" y="2477698"/>
                    <a:ext cx="1335526" cy="477140"/>
                    <a:chOff x="2982302" y="2477698"/>
                    <a:chExt cx="1335526" cy="477140"/>
                  </a:xfrm>
                  <a:grpFill/>
                </p:grpSpPr>
                <p:grpSp>
                  <p:nvGrpSpPr>
                    <p:cNvPr id="349" name="Group 348"/>
                    <p:cNvGrpSpPr/>
                    <p:nvPr/>
                  </p:nvGrpSpPr>
                  <p:grpSpPr>
                    <a:xfrm>
                      <a:off x="2982302" y="2525350"/>
                      <a:ext cx="1335526" cy="429488"/>
                      <a:chOff x="3264313" y="2499713"/>
                      <a:chExt cx="1335526" cy="429488"/>
                    </a:xfrm>
                    <a:grpFill/>
                  </p:grpSpPr>
                  <p:cxnSp>
                    <p:nvCxnSpPr>
                      <p:cNvPr id="351" name="Straight Connector 350"/>
                      <p:cNvCxnSpPr/>
                      <p:nvPr/>
                    </p:nvCxnSpPr>
                    <p:spPr>
                      <a:xfrm flipH="1">
                        <a:off x="4375448" y="2929201"/>
                        <a:ext cx="224391" cy="0"/>
                      </a:xfrm>
                      <a:prstGeom prst="line">
                        <a:avLst/>
                      </a:prstGeom>
                      <a:grpFill/>
                      <a:ln w="38100">
                        <a:solidFill>
                          <a:srgbClr val="7030A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52" name="Straight Connector 351"/>
                      <p:cNvCxnSpPr/>
                      <p:nvPr/>
                    </p:nvCxnSpPr>
                    <p:spPr>
                      <a:xfrm flipV="1">
                        <a:off x="4383993" y="2499713"/>
                        <a:ext cx="0" cy="421878"/>
                      </a:xfrm>
                      <a:prstGeom prst="line">
                        <a:avLst/>
                      </a:prstGeom>
                      <a:grpFill/>
                      <a:ln w="38100">
                        <a:solidFill>
                          <a:srgbClr val="7030A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53" name="Straight Connector 352"/>
                      <p:cNvCxnSpPr/>
                      <p:nvPr/>
                    </p:nvCxnSpPr>
                    <p:spPr>
                      <a:xfrm flipH="1">
                        <a:off x="3264313" y="2499713"/>
                        <a:ext cx="1111135" cy="0"/>
                      </a:xfrm>
                      <a:prstGeom prst="line">
                        <a:avLst/>
                      </a:prstGeom>
                      <a:grpFill/>
                      <a:ln w="38100">
                        <a:solidFill>
                          <a:srgbClr val="7030A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54" name="Straight Arrow Connector 353"/>
                      <p:cNvCxnSpPr/>
                      <p:nvPr/>
                    </p:nvCxnSpPr>
                    <p:spPr>
                      <a:xfrm>
                        <a:off x="3264313" y="2499713"/>
                        <a:ext cx="0" cy="332098"/>
                      </a:xfrm>
                      <a:prstGeom prst="straightConnector1">
                        <a:avLst/>
                      </a:prstGeom>
                      <a:grpFill/>
                      <a:ln w="38100">
                        <a:solidFill>
                          <a:srgbClr val="7030A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350" name="Rectangle 349"/>
                    <p:cNvSpPr/>
                    <p:nvPr/>
                  </p:nvSpPr>
                  <p:spPr>
                    <a:xfrm>
                      <a:off x="4043914" y="2477698"/>
                      <a:ext cx="113160" cy="113160"/>
                    </a:xfrm>
                    <a:prstGeom prst="rect">
                      <a:avLst/>
                    </a:prstGeom>
                    <a:grpFill/>
                    <a:ln>
                      <a:solidFill>
                        <a:srgbClr val="7030A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ln>
                          <a:solidFill>
                            <a:srgbClr val="7030A0"/>
                          </a:solidFill>
                        </a:ln>
                      </a:endParaRPr>
                    </a:p>
                  </p:txBody>
                </p:sp>
              </p:grpSp>
              <p:sp>
                <p:nvSpPr>
                  <p:cNvPr id="348" name="Rectangle 347"/>
                  <p:cNvSpPr/>
                  <p:nvPr/>
                </p:nvSpPr>
                <p:spPr>
                  <a:xfrm>
                    <a:off x="2922327" y="2477698"/>
                    <a:ext cx="113160" cy="113160"/>
                  </a:xfrm>
                  <a:prstGeom prst="rect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n>
                        <a:solidFill>
                          <a:srgbClr val="7030A0"/>
                        </a:solidFill>
                      </a:ln>
                    </a:endParaRPr>
                  </a:p>
                </p:txBody>
              </p:sp>
            </p:grpSp>
            <p:sp>
              <p:nvSpPr>
                <p:cNvPr id="346" name="Rectangle 345"/>
                <p:cNvSpPr/>
                <p:nvPr/>
              </p:nvSpPr>
              <p:spPr>
                <a:xfrm>
                  <a:off x="6296808" y="3086884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26" name="Group 425"/>
              <p:cNvGrpSpPr/>
              <p:nvPr/>
            </p:nvGrpSpPr>
            <p:grpSpPr>
              <a:xfrm>
                <a:off x="4290758" y="2492831"/>
                <a:ext cx="639825" cy="923494"/>
                <a:chOff x="5777829" y="2332303"/>
                <a:chExt cx="1400614" cy="1226567"/>
              </a:xfrm>
            </p:grpSpPr>
            <p:grpSp>
              <p:nvGrpSpPr>
                <p:cNvPr id="427" name="Group 426"/>
                <p:cNvGrpSpPr/>
                <p:nvPr/>
              </p:nvGrpSpPr>
              <p:grpSpPr>
                <a:xfrm>
                  <a:off x="5777829" y="2332303"/>
                  <a:ext cx="1400614" cy="1183693"/>
                  <a:chOff x="3599762" y="2132867"/>
                  <a:chExt cx="1400614" cy="1183693"/>
                </a:xfrm>
              </p:grpSpPr>
              <p:grpSp>
                <p:nvGrpSpPr>
                  <p:cNvPr id="429" name="Group 428"/>
                  <p:cNvGrpSpPr/>
                  <p:nvPr/>
                </p:nvGrpSpPr>
                <p:grpSpPr>
                  <a:xfrm>
                    <a:off x="3599762" y="2132867"/>
                    <a:ext cx="1400614" cy="1183693"/>
                    <a:chOff x="3599762" y="2132867"/>
                    <a:chExt cx="1400614" cy="1183693"/>
                  </a:xfrm>
                </p:grpSpPr>
                <p:grpSp>
                  <p:nvGrpSpPr>
                    <p:cNvPr id="431" name="Group 430"/>
                    <p:cNvGrpSpPr/>
                    <p:nvPr/>
                  </p:nvGrpSpPr>
                  <p:grpSpPr>
                    <a:xfrm>
                      <a:off x="3599762" y="2193252"/>
                      <a:ext cx="1344032" cy="1123308"/>
                      <a:chOff x="3881773" y="2167615"/>
                      <a:chExt cx="1344032" cy="1123308"/>
                    </a:xfrm>
                  </p:grpSpPr>
                  <p:cxnSp>
                    <p:nvCxnSpPr>
                      <p:cNvPr id="433" name="Straight Connector 432"/>
                      <p:cNvCxnSpPr/>
                      <p:nvPr/>
                    </p:nvCxnSpPr>
                    <p:spPr>
                      <a:xfrm>
                        <a:off x="3881773" y="3290318"/>
                        <a:ext cx="271283" cy="605"/>
                      </a:xfrm>
                      <a:prstGeom prst="line">
                        <a:avLst/>
                      </a:prstGeom>
                      <a:ln w="3810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4" name="Straight Connector 433"/>
                      <p:cNvCxnSpPr/>
                      <p:nvPr/>
                    </p:nvCxnSpPr>
                    <p:spPr>
                      <a:xfrm flipV="1">
                        <a:off x="4153056" y="2167615"/>
                        <a:ext cx="0" cy="1122703"/>
                      </a:xfrm>
                      <a:prstGeom prst="line">
                        <a:avLst/>
                      </a:prstGeom>
                      <a:ln w="3810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5" name="Straight Connector 434"/>
                      <p:cNvCxnSpPr/>
                      <p:nvPr/>
                    </p:nvCxnSpPr>
                    <p:spPr>
                      <a:xfrm>
                        <a:off x="4153056" y="2167615"/>
                        <a:ext cx="1072749" cy="0"/>
                      </a:xfrm>
                      <a:prstGeom prst="line">
                        <a:avLst/>
                      </a:prstGeom>
                      <a:ln w="3810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6" name="Straight Arrow Connector 435"/>
                      <p:cNvCxnSpPr/>
                      <p:nvPr/>
                    </p:nvCxnSpPr>
                    <p:spPr>
                      <a:xfrm>
                        <a:off x="5225805" y="2167615"/>
                        <a:ext cx="0" cy="664196"/>
                      </a:xfrm>
                      <a:prstGeom prst="straightConnector1">
                        <a:avLst/>
                      </a:prstGeom>
                      <a:ln w="38100">
                        <a:solidFill>
                          <a:srgbClr val="FF000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432" name="Rectangle 431"/>
                    <p:cNvSpPr/>
                    <p:nvPr/>
                  </p:nvSpPr>
                  <p:spPr>
                    <a:xfrm>
                      <a:off x="4887216" y="2132867"/>
                      <a:ext cx="113160" cy="11316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430" name="Rectangle 429"/>
                  <p:cNvSpPr/>
                  <p:nvPr/>
                </p:nvSpPr>
                <p:spPr>
                  <a:xfrm>
                    <a:off x="3814464" y="2136067"/>
                    <a:ext cx="113160" cy="113160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428" name="Rectangle 427"/>
                <p:cNvSpPr/>
                <p:nvPr/>
              </p:nvSpPr>
              <p:spPr>
                <a:xfrm>
                  <a:off x="5990886" y="3445710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62" name="Right Brace 461"/>
              <p:cNvSpPr/>
              <p:nvPr/>
            </p:nvSpPr>
            <p:spPr>
              <a:xfrm rot="5400000">
                <a:off x="3254304" y="1075828"/>
                <a:ext cx="411670" cy="5573583"/>
              </a:xfrm>
              <a:prstGeom prst="rightBrace">
                <a:avLst>
                  <a:gd name="adj1" fmla="val 56077"/>
                  <a:gd name="adj2" fmla="val 50000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11" name="Group 410"/>
              <p:cNvGrpSpPr/>
              <p:nvPr/>
            </p:nvGrpSpPr>
            <p:grpSpPr>
              <a:xfrm>
                <a:off x="1844054" y="2698598"/>
                <a:ext cx="917376" cy="528191"/>
                <a:chOff x="2913781" y="2677739"/>
                <a:chExt cx="1395501" cy="528191"/>
              </a:xfrm>
            </p:grpSpPr>
            <p:grpSp>
              <p:nvGrpSpPr>
                <p:cNvPr id="412" name="Group 411"/>
                <p:cNvGrpSpPr/>
                <p:nvPr/>
              </p:nvGrpSpPr>
              <p:grpSpPr>
                <a:xfrm>
                  <a:off x="2913781" y="2677739"/>
                  <a:ext cx="1395501" cy="477140"/>
                  <a:chOff x="2922327" y="2477698"/>
                  <a:chExt cx="1395501" cy="477140"/>
                </a:xfrm>
              </p:grpSpPr>
              <p:grpSp>
                <p:nvGrpSpPr>
                  <p:cNvPr id="414" name="Group 413"/>
                  <p:cNvGrpSpPr/>
                  <p:nvPr/>
                </p:nvGrpSpPr>
                <p:grpSpPr>
                  <a:xfrm>
                    <a:off x="2982302" y="2477698"/>
                    <a:ext cx="1335526" cy="477140"/>
                    <a:chOff x="2982302" y="2477698"/>
                    <a:chExt cx="1335526" cy="477140"/>
                  </a:xfrm>
                </p:grpSpPr>
                <p:grpSp>
                  <p:nvGrpSpPr>
                    <p:cNvPr id="416" name="Group 415"/>
                    <p:cNvGrpSpPr/>
                    <p:nvPr/>
                  </p:nvGrpSpPr>
                  <p:grpSpPr>
                    <a:xfrm>
                      <a:off x="2982302" y="2525350"/>
                      <a:ext cx="1335526" cy="429488"/>
                      <a:chOff x="3264313" y="2499713"/>
                      <a:chExt cx="1335526" cy="429488"/>
                    </a:xfrm>
                  </p:grpSpPr>
                  <p:cxnSp>
                    <p:nvCxnSpPr>
                      <p:cNvPr id="418" name="Straight Connector 417"/>
                      <p:cNvCxnSpPr/>
                      <p:nvPr/>
                    </p:nvCxnSpPr>
                    <p:spPr>
                      <a:xfrm flipH="1">
                        <a:off x="4375448" y="2929201"/>
                        <a:ext cx="224391" cy="0"/>
                      </a:xfrm>
                      <a:prstGeom prst="line">
                        <a:avLst/>
                      </a:prstGeom>
                      <a:ln w="38100">
                        <a:solidFill>
                          <a:srgbClr val="7030A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19" name="Straight Connector 418"/>
                      <p:cNvCxnSpPr/>
                      <p:nvPr/>
                    </p:nvCxnSpPr>
                    <p:spPr>
                      <a:xfrm flipV="1">
                        <a:off x="4383993" y="2499713"/>
                        <a:ext cx="0" cy="421878"/>
                      </a:xfrm>
                      <a:prstGeom prst="line">
                        <a:avLst/>
                      </a:prstGeom>
                      <a:ln w="38100">
                        <a:solidFill>
                          <a:srgbClr val="7030A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0" name="Straight Connector 419"/>
                      <p:cNvCxnSpPr/>
                      <p:nvPr/>
                    </p:nvCxnSpPr>
                    <p:spPr>
                      <a:xfrm flipH="1">
                        <a:off x="3264313" y="2499713"/>
                        <a:ext cx="1111135" cy="0"/>
                      </a:xfrm>
                      <a:prstGeom prst="line">
                        <a:avLst/>
                      </a:prstGeom>
                      <a:ln w="38100">
                        <a:solidFill>
                          <a:srgbClr val="7030A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1" name="Straight Arrow Connector 420"/>
                      <p:cNvCxnSpPr/>
                      <p:nvPr/>
                    </p:nvCxnSpPr>
                    <p:spPr>
                      <a:xfrm>
                        <a:off x="3264313" y="2499713"/>
                        <a:ext cx="0" cy="332098"/>
                      </a:xfrm>
                      <a:prstGeom prst="straightConnector1">
                        <a:avLst/>
                      </a:prstGeom>
                      <a:ln w="38100">
                        <a:solidFill>
                          <a:srgbClr val="7030A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417" name="Rectangle 416"/>
                    <p:cNvSpPr/>
                    <p:nvPr/>
                  </p:nvSpPr>
                  <p:spPr>
                    <a:xfrm>
                      <a:off x="4043914" y="2477698"/>
                      <a:ext cx="113160" cy="113160"/>
                    </a:xfrm>
                    <a:prstGeom prst="rect">
                      <a:avLst/>
                    </a:prstGeom>
                    <a:solidFill>
                      <a:srgbClr val="7030A0"/>
                    </a:solidFill>
                    <a:ln>
                      <a:solidFill>
                        <a:srgbClr val="7030A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415" name="Rectangle 414"/>
                  <p:cNvSpPr/>
                  <p:nvPr/>
                </p:nvSpPr>
                <p:spPr>
                  <a:xfrm>
                    <a:off x="2922327" y="2477698"/>
                    <a:ext cx="113160" cy="113160"/>
                  </a:xfrm>
                  <a:prstGeom prst="rect">
                    <a:avLst/>
                  </a:prstGeom>
                  <a:solidFill>
                    <a:srgbClr val="7030A0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413" name="Rectangle 412"/>
                <p:cNvSpPr/>
                <p:nvPr/>
              </p:nvSpPr>
              <p:spPr>
                <a:xfrm>
                  <a:off x="4049483" y="3092770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38" name="Group 437"/>
              <p:cNvGrpSpPr/>
              <p:nvPr/>
            </p:nvGrpSpPr>
            <p:grpSpPr>
              <a:xfrm>
                <a:off x="5151089" y="3035085"/>
                <a:ext cx="548893" cy="548893"/>
                <a:chOff x="11643107" y="2158069"/>
                <a:chExt cx="548893" cy="548893"/>
              </a:xfrm>
              <a:solidFill>
                <a:schemeClr val="accent1">
                  <a:lumMod val="60000"/>
                  <a:lumOff val="40000"/>
                </a:schemeClr>
              </a:solidFill>
            </p:grpSpPr>
            <p:sp>
              <p:nvSpPr>
                <p:cNvPr id="439" name="Rectangle 438"/>
                <p:cNvSpPr/>
                <p:nvPr/>
              </p:nvSpPr>
              <p:spPr>
                <a:xfrm>
                  <a:off x="11643107" y="2158069"/>
                  <a:ext cx="548893" cy="54889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0" name="TextBox 439"/>
                <p:cNvSpPr txBox="1"/>
                <p:nvPr/>
              </p:nvSpPr>
              <p:spPr>
                <a:xfrm>
                  <a:off x="11776119" y="2247849"/>
                  <a:ext cx="234075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Calisto MT" panose="02040603050505030304" pitchFamily="18" charset="0"/>
                    </a:rPr>
                    <a:t>c           </a:t>
                  </a:r>
                </a:p>
              </p:txBody>
            </p:sp>
          </p:grpSp>
          <p:cxnSp>
            <p:nvCxnSpPr>
              <p:cNvPr id="469" name="Straight Arrow Connector 468"/>
              <p:cNvCxnSpPr>
                <a:endCxn id="451" idx="1"/>
              </p:cNvCxnSpPr>
              <p:nvPr/>
            </p:nvCxnSpPr>
            <p:spPr>
              <a:xfrm flipV="1">
                <a:off x="6127704" y="3316878"/>
                <a:ext cx="463686" cy="5787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3" name="Group 302"/>
              <p:cNvGrpSpPr/>
              <p:nvPr/>
            </p:nvGrpSpPr>
            <p:grpSpPr>
              <a:xfrm>
                <a:off x="5698038" y="3031281"/>
                <a:ext cx="548893" cy="548893"/>
                <a:chOff x="11643107" y="2158069"/>
                <a:chExt cx="548893" cy="548893"/>
              </a:xfrm>
              <a:solidFill>
                <a:schemeClr val="tx1"/>
              </a:solidFill>
            </p:grpSpPr>
            <p:sp>
              <p:nvSpPr>
                <p:cNvPr id="304" name="Rectangle 303"/>
                <p:cNvSpPr/>
                <p:nvPr/>
              </p:nvSpPr>
              <p:spPr>
                <a:xfrm>
                  <a:off x="11643107" y="2158069"/>
                  <a:ext cx="548893" cy="54889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5" name="TextBox 304"/>
                <p:cNvSpPr txBox="1"/>
                <p:nvPr/>
              </p:nvSpPr>
              <p:spPr>
                <a:xfrm>
                  <a:off x="11776119" y="2247849"/>
                  <a:ext cx="234075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  <a:latin typeface="Calisto MT" panose="02040603050505030304" pitchFamily="18" charset="0"/>
                    </a:rPr>
                    <a:t>R           </a:t>
                  </a:r>
                </a:p>
              </p:txBody>
            </p:sp>
          </p:grpSp>
        </p:grpSp>
        <p:sp>
          <p:nvSpPr>
            <p:cNvPr id="199" name="TextBox 198"/>
            <p:cNvSpPr txBox="1"/>
            <p:nvPr/>
          </p:nvSpPr>
          <p:spPr>
            <a:xfrm>
              <a:off x="6589517" y="3132212"/>
              <a:ext cx="8585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NULL           </a:t>
              </a:r>
            </a:p>
          </p:txBody>
        </p:sp>
      </p:grpSp>
      <p:sp>
        <p:nvSpPr>
          <p:cNvPr id="201" name="TextBox 200"/>
          <p:cNvSpPr txBox="1"/>
          <p:nvPr/>
        </p:nvSpPr>
        <p:spPr>
          <a:xfrm>
            <a:off x="852341" y="3904296"/>
            <a:ext cx="1143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sto MT" panose="02040603050505030304" pitchFamily="18" charset="0"/>
              </a:rPr>
              <a:t>k =3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249455" y="4440111"/>
            <a:ext cx="222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 *first = head;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254801" y="4718166"/>
            <a:ext cx="347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 *last = </a:t>
            </a:r>
            <a:r>
              <a:rPr lang="en-US" dirty="0" err="1">
                <a:latin typeface="Calisto MT" panose="02040603050505030304" pitchFamily="18" charset="0"/>
              </a:rPr>
              <a:t>findKthNode</a:t>
            </a:r>
            <a:r>
              <a:rPr lang="en-US" dirty="0">
                <a:latin typeface="Calisto MT" panose="02040603050505030304" pitchFamily="18" charset="0"/>
              </a:rPr>
              <a:t>(k-1);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242274" y="5000455"/>
            <a:ext cx="222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head = last-&gt;R;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248409" y="5259418"/>
            <a:ext cx="222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head-&gt;L = NULL;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249455" y="5541707"/>
            <a:ext cx="2026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last-&gt;R = NULL;</a:t>
            </a:r>
          </a:p>
        </p:txBody>
      </p:sp>
    </p:spTree>
    <p:extLst>
      <p:ext uri="{BB962C8B-B14F-4D97-AF65-F5344CB8AC3E}">
        <p14:creationId xmlns:p14="http://schemas.microsoft.com/office/powerpoint/2010/main" val="29297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1.85185E-6 L 0.38763 0.3333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375" y="1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1.11111E-6 L -0.55469 0.0064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734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463" y="130024"/>
            <a:ext cx="12108074" cy="1450757"/>
          </a:xfrm>
        </p:spPr>
        <p:txBody>
          <a:bodyPr>
            <a:normAutofit/>
          </a:bodyPr>
          <a:lstStyle/>
          <a:p>
            <a:r>
              <a:rPr lang="en-US" sz="3600" b="1" dirty="0"/>
              <a:t>Cut Paste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0C5D-56AF-468F-9301-88586394A899}" type="datetime4">
              <a:rPr lang="en-US" smtClean="0"/>
              <a:t>23 March, 2024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34</a:t>
            </a:fld>
            <a:endParaRPr lang="en-US"/>
          </a:p>
        </p:txBody>
      </p:sp>
      <p:grpSp>
        <p:nvGrpSpPr>
          <p:cNvPr id="453" name="Group 452"/>
          <p:cNvGrpSpPr/>
          <p:nvPr/>
        </p:nvGrpSpPr>
        <p:grpSpPr>
          <a:xfrm>
            <a:off x="832006" y="4153179"/>
            <a:ext cx="5475090" cy="1983229"/>
            <a:chOff x="1003736" y="3905770"/>
            <a:chExt cx="3245724" cy="1983229"/>
          </a:xfrm>
        </p:grpSpPr>
        <p:sp>
          <p:nvSpPr>
            <p:cNvPr id="454" name="TextBox 453"/>
            <p:cNvSpPr txBox="1"/>
            <p:nvPr/>
          </p:nvSpPr>
          <p:spPr>
            <a:xfrm>
              <a:off x="1003736" y="3905770"/>
              <a:ext cx="3245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void </a:t>
              </a:r>
              <a:r>
                <a:rPr lang="en-US" dirty="0" err="1">
                  <a:latin typeface="Calisto MT" panose="02040603050505030304" pitchFamily="18" charset="0"/>
                </a:rPr>
                <a:t>cutPaste</a:t>
              </a:r>
              <a:r>
                <a:rPr lang="en-US" dirty="0">
                  <a:latin typeface="Calisto MT" panose="02040603050505030304" pitchFamily="18" charset="0"/>
                </a:rPr>
                <a:t>(</a:t>
              </a:r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k ){</a:t>
              </a:r>
            </a:p>
          </p:txBody>
        </p:sp>
        <p:sp>
          <p:nvSpPr>
            <p:cNvPr id="455" name="TextBox 454"/>
            <p:cNvSpPr txBox="1"/>
            <p:nvPr/>
          </p:nvSpPr>
          <p:spPr>
            <a:xfrm>
              <a:off x="1003736" y="5519667"/>
              <a:ext cx="41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-7928" y="1700100"/>
            <a:ext cx="5694389" cy="1875000"/>
            <a:chOff x="6591390" y="1710555"/>
            <a:chExt cx="5694389" cy="1875000"/>
          </a:xfrm>
        </p:grpSpPr>
        <p:grpSp>
          <p:nvGrpSpPr>
            <p:cNvPr id="229" name="Group 228"/>
            <p:cNvGrpSpPr/>
            <p:nvPr/>
          </p:nvGrpSpPr>
          <p:grpSpPr>
            <a:xfrm>
              <a:off x="8186397" y="2034488"/>
              <a:ext cx="1209647" cy="992987"/>
              <a:chOff x="10227000" y="2386519"/>
              <a:chExt cx="1209647" cy="992987"/>
            </a:xfrm>
          </p:grpSpPr>
          <p:sp>
            <p:nvSpPr>
              <p:cNvPr id="230" name="Rectangle 229"/>
              <p:cNvSpPr/>
              <p:nvPr/>
            </p:nvSpPr>
            <p:spPr>
              <a:xfrm>
                <a:off x="10227000" y="2483963"/>
                <a:ext cx="1209647" cy="89554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31" name="Group 230"/>
              <p:cNvGrpSpPr/>
              <p:nvPr/>
            </p:nvGrpSpPr>
            <p:grpSpPr>
              <a:xfrm>
                <a:off x="10463698" y="2386519"/>
                <a:ext cx="729688" cy="954908"/>
                <a:chOff x="5754153" y="4810967"/>
                <a:chExt cx="729688" cy="954908"/>
              </a:xfrm>
            </p:grpSpPr>
            <p:cxnSp>
              <p:nvCxnSpPr>
                <p:cNvPr id="237" name="Straight Arrow Connector 236"/>
                <p:cNvCxnSpPr>
                  <a:stCxn id="238" idx="2"/>
                </p:cNvCxnSpPr>
                <p:nvPr/>
              </p:nvCxnSpPr>
              <p:spPr>
                <a:xfrm>
                  <a:off x="6118997" y="5180299"/>
                  <a:ext cx="0" cy="585576"/>
                </a:xfrm>
                <a:prstGeom prst="straightConnector1">
                  <a:avLst/>
                </a:prstGeom>
                <a:ln w="57150">
                  <a:solidFill>
                    <a:srgbClr val="FFC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8" name="TextBox 237"/>
                <p:cNvSpPr txBox="1"/>
                <p:nvPr/>
              </p:nvSpPr>
              <p:spPr>
                <a:xfrm>
                  <a:off x="5754153" y="4810967"/>
                  <a:ext cx="729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Calisto MT" panose="02040603050505030304" pitchFamily="18" charset="0"/>
                    </a:rPr>
                    <a:t>temp           </a:t>
                  </a:r>
                </a:p>
              </p:txBody>
            </p:sp>
          </p:grpSp>
        </p:grpSp>
        <p:grpSp>
          <p:nvGrpSpPr>
            <p:cNvPr id="309" name="Group 308"/>
            <p:cNvGrpSpPr/>
            <p:nvPr/>
          </p:nvGrpSpPr>
          <p:grpSpPr>
            <a:xfrm>
              <a:off x="8609528" y="3032858"/>
              <a:ext cx="548893" cy="548893"/>
              <a:chOff x="11643107" y="2158069"/>
              <a:chExt cx="548893" cy="548893"/>
            </a:xfrm>
            <a:solidFill>
              <a:schemeClr val="tx1"/>
            </a:solidFill>
          </p:grpSpPr>
          <p:sp>
            <p:nvSpPr>
              <p:cNvPr id="310" name="Rectangle 309"/>
              <p:cNvSpPr/>
              <p:nvPr/>
            </p:nvSpPr>
            <p:spPr>
              <a:xfrm>
                <a:off x="11643107" y="2158069"/>
                <a:ext cx="548893" cy="54889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" name="TextBox 310"/>
              <p:cNvSpPr txBox="1"/>
              <p:nvPr/>
            </p:nvSpPr>
            <p:spPr>
              <a:xfrm>
                <a:off x="11776119" y="2247849"/>
                <a:ext cx="234075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Calisto MT" panose="02040603050505030304" pitchFamily="18" charset="0"/>
                  </a:rPr>
                  <a:t>R           </a:t>
                </a:r>
              </a:p>
            </p:txBody>
          </p:sp>
        </p:grpSp>
        <p:sp>
          <p:nvSpPr>
            <p:cNvPr id="367" name="Rectangle 366"/>
            <p:cNvSpPr/>
            <p:nvPr/>
          </p:nvSpPr>
          <p:spPr>
            <a:xfrm>
              <a:off x="8501654" y="2157047"/>
              <a:ext cx="572569" cy="8574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3" name="Group 372"/>
            <p:cNvGrpSpPr/>
            <p:nvPr/>
          </p:nvGrpSpPr>
          <p:grpSpPr>
            <a:xfrm>
              <a:off x="10200350" y="3020910"/>
              <a:ext cx="548893" cy="548893"/>
              <a:chOff x="11643107" y="2158069"/>
              <a:chExt cx="548893" cy="548893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374" name="Rectangle 373"/>
              <p:cNvSpPr/>
              <p:nvPr/>
            </p:nvSpPr>
            <p:spPr>
              <a:xfrm>
                <a:off x="11643107" y="2158069"/>
                <a:ext cx="548893" cy="54889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" name="TextBox 374"/>
              <p:cNvSpPr txBox="1"/>
              <p:nvPr/>
            </p:nvSpPr>
            <p:spPr>
              <a:xfrm>
                <a:off x="11776119" y="2247849"/>
                <a:ext cx="234075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e           </a:t>
                </a:r>
              </a:p>
            </p:txBody>
          </p:sp>
        </p:grpSp>
        <p:grpSp>
          <p:nvGrpSpPr>
            <p:cNvPr id="376" name="Group 375"/>
            <p:cNvGrpSpPr/>
            <p:nvPr/>
          </p:nvGrpSpPr>
          <p:grpSpPr>
            <a:xfrm>
              <a:off x="10747299" y="3017106"/>
              <a:ext cx="548893" cy="548893"/>
              <a:chOff x="11643107" y="2158069"/>
              <a:chExt cx="548893" cy="548893"/>
            </a:xfrm>
            <a:solidFill>
              <a:schemeClr val="tx1"/>
            </a:solidFill>
          </p:grpSpPr>
          <p:sp>
            <p:nvSpPr>
              <p:cNvPr id="377" name="Rectangle 376"/>
              <p:cNvSpPr/>
              <p:nvPr/>
            </p:nvSpPr>
            <p:spPr>
              <a:xfrm>
                <a:off x="11643107" y="2158069"/>
                <a:ext cx="548893" cy="54889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8" name="TextBox 377"/>
              <p:cNvSpPr txBox="1"/>
              <p:nvPr/>
            </p:nvSpPr>
            <p:spPr>
              <a:xfrm>
                <a:off x="11776119" y="2247849"/>
                <a:ext cx="234075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Calisto MT" panose="02040603050505030304" pitchFamily="18" charset="0"/>
                  </a:rPr>
                  <a:t>R           </a:t>
                </a:r>
              </a:p>
            </p:txBody>
          </p:sp>
        </p:grpSp>
        <p:grpSp>
          <p:nvGrpSpPr>
            <p:cNvPr id="379" name="Group 378"/>
            <p:cNvGrpSpPr/>
            <p:nvPr/>
          </p:nvGrpSpPr>
          <p:grpSpPr>
            <a:xfrm>
              <a:off x="9647574" y="3017105"/>
              <a:ext cx="548893" cy="548893"/>
              <a:chOff x="11643107" y="2158069"/>
              <a:chExt cx="548893" cy="548893"/>
            </a:xfrm>
            <a:solidFill>
              <a:schemeClr val="tx1"/>
            </a:solidFill>
          </p:grpSpPr>
          <p:sp>
            <p:nvSpPr>
              <p:cNvPr id="380" name="Rectangle 379"/>
              <p:cNvSpPr/>
              <p:nvPr/>
            </p:nvSpPr>
            <p:spPr>
              <a:xfrm>
                <a:off x="11643107" y="2158069"/>
                <a:ext cx="548893" cy="54889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" name="TextBox 380"/>
              <p:cNvSpPr txBox="1"/>
              <p:nvPr/>
            </p:nvSpPr>
            <p:spPr>
              <a:xfrm>
                <a:off x="11776119" y="2247849"/>
                <a:ext cx="234075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Calisto MT" panose="02040603050505030304" pitchFamily="18" charset="0"/>
                  </a:rPr>
                  <a:t>L           </a:t>
                </a:r>
              </a:p>
            </p:txBody>
          </p:sp>
        </p:grpSp>
        <p:grpSp>
          <p:nvGrpSpPr>
            <p:cNvPr id="382" name="Group 381"/>
            <p:cNvGrpSpPr/>
            <p:nvPr/>
          </p:nvGrpSpPr>
          <p:grpSpPr>
            <a:xfrm>
              <a:off x="8986401" y="2295724"/>
              <a:ext cx="1400614" cy="1226567"/>
              <a:chOff x="5777829" y="2332303"/>
              <a:chExt cx="1400614" cy="1226567"/>
            </a:xfrm>
          </p:grpSpPr>
          <p:grpSp>
            <p:nvGrpSpPr>
              <p:cNvPr id="383" name="Group 382"/>
              <p:cNvGrpSpPr/>
              <p:nvPr/>
            </p:nvGrpSpPr>
            <p:grpSpPr>
              <a:xfrm>
                <a:off x="5777829" y="2332303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385" name="Group 384"/>
                <p:cNvGrpSpPr/>
                <p:nvPr/>
              </p:nvGrpSpPr>
              <p:grpSpPr>
                <a:xfrm>
                  <a:off x="3599762" y="2132867"/>
                  <a:ext cx="1400614" cy="1183693"/>
                  <a:chOff x="3599762" y="2132867"/>
                  <a:chExt cx="1400614" cy="1183693"/>
                </a:xfrm>
              </p:grpSpPr>
              <p:grpSp>
                <p:nvGrpSpPr>
                  <p:cNvPr id="387" name="Group 386"/>
                  <p:cNvGrpSpPr/>
                  <p:nvPr/>
                </p:nvGrpSpPr>
                <p:grpSpPr>
                  <a:xfrm>
                    <a:off x="3599762" y="2193252"/>
                    <a:ext cx="1344032" cy="1123308"/>
                    <a:chOff x="3881773" y="2167615"/>
                    <a:chExt cx="1344032" cy="1123308"/>
                  </a:xfrm>
                </p:grpSpPr>
                <p:cxnSp>
                  <p:nvCxnSpPr>
                    <p:cNvPr id="389" name="Straight Connector 388"/>
                    <p:cNvCxnSpPr/>
                    <p:nvPr/>
                  </p:nvCxnSpPr>
                  <p:spPr>
                    <a:xfrm>
                      <a:off x="3881773" y="3290318"/>
                      <a:ext cx="271283" cy="605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0" name="Straight Connector 389"/>
                    <p:cNvCxnSpPr/>
                    <p:nvPr/>
                  </p:nvCxnSpPr>
                  <p:spPr>
                    <a:xfrm flipV="1">
                      <a:off x="4153056" y="2167615"/>
                      <a:ext cx="0" cy="1122703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1" name="Straight Connector 390"/>
                    <p:cNvCxnSpPr/>
                    <p:nvPr/>
                  </p:nvCxnSpPr>
                  <p:spPr>
                    <a:xfrm>
                      <a:off x="4153056" y="2167615"/>
                      <a:ext cx="1072749" cy="0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2" name="Straight Arrow Connector 391"/>
                    <p:cNvCxnSpPr/>
                    <p:nvPr/>
                  </p:nvCxnSpPr>
                  <p:spPr>
                    <a:xfrm>
                      <a:off x="5225805" y="2167615"/>
                      <a:ext cx="0" cy="664196"/>
                    </a:xfrm>
                    <a:prstGeom prst="straightConnector1">
                      <a:avLst/>
                    </a:prstGeom>
                    <a:ln w="38100"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88" name="Rectangle 387"/>
                  <p:cNvSpPr/>
                  <p:nvPr/>
                </p:nvSpPr>
                <p:spPr>
                  <a:xfrm>
                    <a:off x="4887216" y="2132867"/>
                    <a:ext cx="113160" cy="113160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86" name="Rectangle 385"/>
                <p:cNvSpPr/>
                <p:nvPr/>
              </p:nvSpPr>
              <p:spPr>
                <a:xfrm>
                  <a:off x="3814464" y="21360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84" name="Rectangle 383"/>
              <p:cNvSpPr/>
              <p:nvPr/>
            </p:nvSpPr>
            <p:spPr>
              <a:xfrm>
                <a:off x="5990886" y="3445710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3" name="Rectangle 392"/>
            <p:cNvSpPr/>
            <p:nvPr/>
          </p:nvSpPr>
          <p:spPr>
            <a:xfrm>
              <a:off x="8267682" y="2149038"/>
              <a:ext cx="572569" cy="8574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4" name="Group 393"/>
            <p:cNvGrpSpPr/>
            <p:nvPr/>
          </p:nvGrpSpPr>
          <p:grpSpPr>
            <a:xfrm>
              <a:off x="8377218" y="2633550"/>
              <a:ext cx="1395501" cy="529915"/>
              <a:chOff x="5168646" y="2670129"/>
              <a:chExt cx="1395501" cy="529915"/>
            </a:xfrm>
          </p:grpSpPr>
          <p:grpSp>
            <p:nvGrpSpPr>
              <p:cNvPr id="395" name="Group 394"/>
              <p:cNvGrpSpPr/>
              <p:nvPr/>
            </p:nvGrpSpPr>
            <p:grpSpPr>
              <a:xfrm>
                <a:off x="5168646" y="2670129"/>
                <a:ext cx="1395501" cy="477140"/>
                <a:chOff x="2922327" y="2477698"/>
                <a:chExt cx="1395501" cy="477140"/>
              </a:xfrm>
              <a:solidFill>
                <a:srgbClr val="7030A0"/>
              </a:solidFill>
            </p:grpSpPr>
            <p:grpSp>
              <p:nvGrpSpPr>
                <p:cNvPr id="397" name="Group 396"/>
                <p:cNvGrpSpPr/>
                <p:nvPr/>
              </p:nvGrpSpPr>
              <p:grpSpPr>
                <a:xfrm>
                  <a:off x="2982302" y="2477698"/>
                  <a:ext cx="1335526" cy="477140"/>
                  <a:chOff x="2982302" y="2477698"/>
                  <a:chExt cx="1335526" cy="477140"/>
                </a:xfrm>
                <a:grpFill/>
              </p:grpSpPr>
              <p:grpSp>
                <p:nvGrpSpPr>
                  <p:cNvPr id="399" name="Group 398"/>
                  <p:cNvGrpSpPr/>
                  <p:nvPr/>
                </p:nvGrpSpPr>
                <p:grpSpPr>
                  <a:xfrm>
                    <a:off x="2982302" y="2525350"/>
                    <a:ext cx="1335526" cy="429488"/>
                    <a:chOff x="3264313" y="2499713"/>
                    <a:chExt cx="1335526" cy="429488"/>
                  </a:xfrm>
                  <a:grpFill/>
                </p:grpSpPr>
                <p:cxnSp>
                  <p:nvCxnSpPr>
                    <p:cNvPr id="401" name="Straight Connector 400"/>
                    <p:cNvCxnSpPr/>
                    <p:nvPr/>
                  </p:nvCxnSpPr>
                  <p:spPr>
                    <a:xfrm flipH="1">
                      <a:off x="4375448" y="2929201"/>
                      <a:ext cx="224391" cy="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rgbClr val="7030A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2" name="Straight Connector 401"/>
                    <p:cNvCxnSpPr/>
                    <p:nvPr/>
                  </p:nvCxnSpPr>
                  <p:spPr>
                    <a:xfrm flipV="1">
                      <a:off x="4383993" y="2499713"/>
                      <a:ext cx="0" cy="421878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rgbClr val="7030A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3" name="Straight Connector 402"/>
                    <p:cNvCxnSpPr/>
                    <p:nvPr/>
                  </p:nvCxnSpPr>
                  <p:spPr>
                    <a:xfrm flipH="1">
                      <a:off x="3264313" y="2499713"/>
                      <a:ext cx="1111135" cy="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rgbClr val="7030A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4" name="Straight Arrow Connector 403"/>
                    <p:cNvCxnSpPr/>
                    <p:nvPr/>
                  </p:nvCxnSpPr>
                  <p:spPr>
                    <a:xfrm>
                      <a:off x="3264313" y="2499713"/>
                      <a:ext cx="0" cy="332098"/>
                    </a:xfrm>
                    <a:prstGeom prst="straightConnector1">
                      <a:avLst/>
                    </a:prstGeom>
                    <a:grpFill/>
                    <a:ln w="38100">
                      <a:solidFill>
                        <a:srgbClr val="7030A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00" name="Rectangle 399"/>
                  <p:cNvSpPr/>
                  <p:nvPr/>
                </p:nvSpPr>
                <p:spPr>
                  <a:xfrm>
                    <a:off x="4043914" y="2477698"/>
                    <a:ext cx="113160" cy="113160"/>
                  </a:xfrm>
                  <a:prstGeom prst="rect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n>
                        <a:solidFill>
                          <a:srgbClr val="7030A0"/>
                        </a:solidFill>
                      </a:ln>
                    </a:endParaRPr>
                  </a:p>
                </p:txBody>
              </p:sp>
            </p:grpSp>
            <p:sp>
              <p:nvSpPr>
                <p:cNvPr id="398" name="Rectangle 397"/>
                <p:cNvSpPr/>
                <p:nvPr/>
              </p:nvSpPr>
              <p:spPr>
                <a:xfrm>
                  <a:off x="2922327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396" name="Rectangle 395"/>
              <p:cNvSpPr/>
              <p:nvPr/>
            </p:nvSpPr>
            <p:spPr>
              <a:xfrm>
                <a:off x="6296808" y="3086884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5" name="Rectangle 404"/>
            <p:cNvSpPr/>
            <p:nvPr/>
          </p:nvSpPr>
          <p:spPr>
            <a:xfrm>
              <a:off x="10445864" y="2148071"/>
              <a:ext cx="572569" cy="8574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TextBox 405"/>
            <p:cNvSpPr txBox="1"/>
            <p:nvPr/>
          </p:nvSpPr>
          <p:spPr>
            <a:xfrm>
              <a:off x="11427260" y="3103080"/>
              <a:ext cx="8585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NULL           </a:t>
              </a:r>
            </a:p>
          </p:txBody>
        </p:sp>
        <p:cxnSp>
          <p:nvCxnSpPr>
            <p:cNvPr id="407" name="Straight Arrow Connector 406"/>
            <p:cNvCxnSpPr/>
            <p:nvPr/>
          </p:nvCxnSpPr>
          <p:spPr>
            <a:xfrm flipV="1">
              <a:off x="11201955" y="3307451"/>
              <a:ext cx="339235" cy="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5" name="Group 314"/>
            <p:cNvGrpSpPr/>
            <p:nvPr/>
          </p:nvGrpSpPr>
          <p:grpSpPr>
            <a:xfrm>
              <a:off x="10320981" y="1710555"/>
              <a:ext cx="617280" cy="1299758"/>
              <a:chOff x="9315288" y="1750121"/>
              <a:chExt cx="617280" cy="1299758"/>
            </a:xfrm>
          </p:grpSpPr>
          <p:cxnSp>
            <p:nvCxnSpPr>
              <p:cNvPr id="316" name="Straight Arrow Connector 315"/>
              <p:cNvCxnSpPr/>
              <p:nvPr/>
            </p:nvCxnSpPr>
            <p:spPr>
              <a:xfrm flipH="1">
                <a:off x="9555112" y="2076625"/>
                <a:ext cx="3928" cy="973254"/>
              </a:xfrm>
              <a:prstGeom prst="straightConnector1">
                <a:avLst/>
              </a:prstGeom>
              <a:ln w="57150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7" name="TextBox 316"/>
              <p:cNvSpPr txBox="1"/>
              <p:nvPr/>
            </p:nvSpPr>
            <p:spPr>
              <a:xfrm>
                <a:off x="9315288" y="1750121"/>
                <a:ext cx="617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tail           </a:t>
                </a:r>
              </a:p>
            </p:txBody>
          </p:sp>
        </p:grpSp>
        <p:grpSp>
          <p:nvGrpSpPr>
            <p:cNvPr id="463" name="Group 462"/>
            <p:cNvGrpSpPr/>
            <p:nvPr/>
          </p:nvGrpSpPr>
          <p:grpSpPr>
            <a:xfrm>
              <a:off x="8003180" y="1726974"/>
              <a:ext cx="678389" cy="1299758"/>
              <a:chOff x="9315287" y="1750121"/>
              <a:chExt cx="678389" cy="1299758"/>
            </a:xfrm>
          </p:grpSpPr>
          <p:cxnSp>
            <p:nvCxnSpPr>
              <p:cNvPr id="464" name="Straight Arrow Connector 463"/>
              <p:cNvCxnSpPr/>
              <p:nvPr/>
            </p:nvCxnSpPr>
            <p:spPr>
              <a:xfrm flipH="1">
                <a:off x="9555112" y="2076625"/>
                <a:ext cx="3928" cy="973254"/>
              </a:xfrm>
              <a:prstGeom prst="straightConnector1">
                <a:avLst/>
              </a:prstGeom>
              <a:ln w="57150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5" name="TextBox 464"/>
              <p:cNvSpPr txBox="1"/>
              <p:nvPr/>
            </p:nvSpPr>
            <p:spPr>
              <a:xfrm>
                <a:off x="9315287" y="1750121"/>
                <a:ext cx="6783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head           </a:t>
                </a:r>
              </a:p>
            </p:txBody>
          </p:sp>
        </p:grpSp>
        <p:cxnSp>
          <p:nvCxnSpPr>
            <p:cNvPr id="450" name="Straight Arrow Connector 449"/>
            <p:cNvCxnSpPr/>
            <p:nvPr/>
          </p:nvCxnSpPr>
          <p:spPr>
            <a:xfrm flipH="1">
              <a:off x="7322204" y="3328255"/>
              <a:ext cx="37519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1" name="TextBox 450"/>
            <p:cNvSpPr txBox="1"/>
            <p:nvPr/>
          </p:nvSpPr>
          <p:spPr>
            <a:xfrm>
              <a:off x="6591390" y="3132212"/>
              <a:ext cx="8585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NULL           </a:t>
              </a:r>
            </a:p>
          </p:txBody>
        </p:sp>
        <p:grpSp>
          <p:nvGrpSpPr>
            <p:cNvPr id="312" name="Group 311"/>
            <p:cNvGrpSpPr/>
            <p:nvPr/>
          </p:nvGrpSpPr>
          <p:grpSpPr>
            <a:xfrm>
              <a:off x="7509803" y="3032857"/>
              <a:ext cx="548893" cy="548893"/>
              <a:chOff x="11643107" y="2158069"/>
              <a:chExt cx="548893" cy="548893"/>
            </a:xfrm>
            <a:solidFill>
              <a:schemeClr val="tx1"/>
            </a:solidFill>
          </p:grpSpPr>
          <p:sp>
            <p:nvSpPr>
              <p:cNvPr id="313" name="Rectangle 312"/>
              <p:cNvSpPr/>
              <p:nvPr/>
            </p:nvSpPr>
            <p:spPr>
              <a:xfrm>
                <a:off x="11643107" y="2158069"/>
                <a:ext cx="548893" cy="54889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" name="TextBox 313"/>
              <p:cNvSpPr txBox="1"/>
              <p:nvPr/>
            </p:nvSpPr>
            <p:spPr>
              <a:xfrm>
                <a:off x="11776119" y="2247849"/>
                <a:ext cx="234075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Calisto MT" panose="02040603050505030304" pitchFamily="18" charset="0"/>
                  </a:rPr>
                  <a:t>L           </a:t>
                </a:r>
              </a:p>
            </p:txBody>
          </p:sp>
        </p:grpSp>
        <p:grpSp>
          <p:nvGrpSpPr>
            <p:cNvPr id="306" name="Group 305"/>
            <p:cNvGrpSpPr/>
            <p:nvPr/>
          </p:nvGrpSpPr>
          <p:grpSpPr>
            <a:xfrm>
              <a:off x="8062579" y="3036662"/>
              <a:ext cx="548893" cy="548893"/>
              <a:chOff x="11643107" y="2158069"/>
              <a:chExt cx="548893" cy="548893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307" name="Rectangle 306"/>
              <p:cNvSpPr/>
              <p:nvPr/>
            </p:nvSpPr>
            <p:spPr>
              <a:xfrm>
                <a:off x="11643107" y="2158069"/>
                <a:ext cx="548893" cy="54889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" name="TextBox 307"/>
              <p:cNvSpPr txBox="1"/>
              <p:nvPr/>
            </p:nvSpPr>
            <p:spPr>
              <a:xfrm>
                <a:off x="11776119" y="2247849"/>
                <a:ext cx="234075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d           </a:t>
                </a:r>
              </a:p>
            </p:txBody>
          </p:sp>
        </p:grpSp>
      </p:grpSp>
      <p:grpSp>
        <p:nvGrpSpPr>
          <p:cNvPr id="6" name="Group 5"/>
          <p:cNvGrpSpPr/>
          <p:nvPr/>
        </p:nvGrpSpPr>
        <p:grpSpPr>
          <a:xfrm>
            <a:off x="5276476" y="4011607"/>
            <a:ext cx="7471116" cy="2333129"/>
            <a:chOff x="-23080" y="1735326"/>
            <a:chExt cx="7471116" cy="2333129"/>
          </a:xfrm>
        </p:grpSpPr>
        <p:grpSp>
          <p:nvGrpSpPr>
            <p:cNvPr id="5" name="Group 4"/>
            <p:cNvGrpSpPr/>
            <p:nvPr/>
          </p:nvGrpSpPr>
          <p:grpSpPr>
            <a:xfrm>
              <a:off x="-23080" y="1735326"/>
              <a:ext cx="6649927" cy="2333129"/>
              <a:chOff x="-23080" y="1735326"/>
              <a:chExt cx="6649927" cy="2333129"/>
            </a:xfrm>
          </p:grpSpPr>
          <p:sp>
            <p:nvSpPr>
              <p:cNvPr id="228" name="TextBox 227"/>
              <p:cNvSpPr txBox="1"/>
              <p:nvPr/>
            </p:nvSpPr>
            <p:spPr>
              <a:xfrm>
                <a:off x="-23080" y="2999009"/>
                <a:ext cx="858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NULL           </a:t>
                </a:r>
              </a:p>
            </p:txBody>
          </p:sp>
          <p:grpSp>
            <p:nvGrpSpPr>
              <p:cNvPr id="239" name="Group 238"/>
              <p:cNvGrpSpPr/>
              <p:nvPr/>
            </p:nvGrpSpPr>
            <p:grpSpPr>
              <a:xfrm>
                <a:off x="5094229" y="2054221"/>
                <a:ext cx="1209647" cy="992987"/>
                <a:chOff x="10227000" y="2386519"/>
                <a:chExt cx="1209647" cy="992987"/>
              </a:xfrm>
            </p:grpSpPr>
            <p:sp>
              <p:nvSpPr>
                <p:cNvPr id="282" name="Rectangle 281"/>
                <p:cNvSpPr/>
                <p:nvPr/>
              </p:nvSpPr>
              <p:spPr>
                <a:xfrm>
                  <a:off x="10227000" y="2483963"/>
                  <a:ext cx="1209647" cy="89554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83" name="Group 282"/>
                <p:cNvGrpSpPr/>
                <p:nvPr/>
              </p:nvGrpSpPr>
              <p:grpSpPr>
                <a:xfrm>
                  <a:off x="10463698" y="2386519"/>
                  <a:ext cx="729688" cy="954908"/>
                  <a:chOff x="5754153" y="4810967"/>
                  <a:chExt cx="729688" cy="954908"/>
                </a:xfrm>
              </p:grpSpPr>
              <p:cxnSp>
                <p:nvCxnSpPr>
                  <p:cNvPr id="284" name="Straight Arrow Connector 283"/>
                  <p:cNvCxnSpPr>
                    <a:stCxn id="285" idx="2"/>
                  </p:cNvCxnSpPr>
                  <p:nvPr/>
                </p:nvCxnSpPr>
                <p:spPr>
                  <a:xfrm>
                    <a:off x="6118997" y="5180299"/>
                    <a:ext cx="0" cy="585576"/>
                  </a:xfrm>
                  <a:prstGeom prst="straightConnector1">
                    <a:avLst/>
                  </a:prstGeom>
                  <a:ln w="57150">
                    <a:solidFill>
                      <a:srgbClr val="FFC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85" name="TextBox 284"/>
                  <p:cNvSpPr txBox="1"/>
                  <p:nvPr/>
                </p:nvSpPr>
                <p:spPr>
                  <a:xfrm>
                    <a:off x="5754153" y="4810967"/>
                    <a:ext cx="72968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>
                        <a:latin typeface="Calisto MT" panose="02040603050505030304" pitchFamily="18" charset="0"/>
                      </a:rPr>
                      <a:t>temp           </a:t>
                    </a:r>
                  </a:p>
                </p:txBody>
              </p:sp>
            </p:grpSp>
          </p:grpSp>
          <p:grpSp>
            <p:nvGrpSpPr>
              <p:cNvPr id="286" name="Group 285"/>
              <p:cNvGrpSpPr/>
              <p:nvPr/>
            </p:nvGrpSpPr>
            <p:grpSpPr>
              <a:xfrm>
                <a:off x="1504399" y="2059165"/>
                <a:ext cx="1209647" cy="992987"/>
                <a:chOff x="10227000" y="2386519"/>
                <a:chExt cx="1209647" cy="992987"/>
              </a:xfrm>
            </p:grpSpPr>
            <p:sp>
              <p:nvSpPr>
                <p:cNvPr id="287" name="Rectangle 286"/>
                <p:cNvSpPr/>
                <p:nvPr/>
              </p:nvSpPr>
              <p:spPr>
                <a:xfrm>
                  <a:off x="10227000" y="2483963"/>
                  <a:ext cx="1209647" cy="89554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88" name="Group 287"/>
                <p:cNvGrpSpPr/>
                <p:nvPr/>
              </p:nvGrpSpPr>
              <p:grpSpPr>
                <a:xfrm>
                  <a:off x="10463698" y="2386519"/>
                  <a:ext cx="729688" cy="954908"/>
                  <a:chOff x="5754153" y="4810967"/>
                  <a:chExt cx="729688" cy="954908"/>
                </a:xfrm>
              </p:grpSpPr>
              <p:cxnSp>
                <p:nvCxnSpPr>
                  <p:cNvPr id="289" name="Straight Arrow Connector 288"/>
                  <p:cNvCxnSpPr>
                    <a:stCxn id="290" idx="2"/>
                  </p:cNvCxnSpPr>
                  <p:nvPr/>
                </p:nvCxnSpPr>
                <p:spPr>
                  <a:xfrm>
                    <a:off x="6118997" y="5180299"/>
                    <a:ext cx="0" cy="585576"/>
                  </a:xfrm>
                  <a:prstGeom prst="straightConnector1">
                    <a:avLst/>
                  </a:prstGeom>
                  <a:ln w="57150">
                    <a:solidFill>
                      <a:srgbClr val="FFC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90" name="TextBox 289"/>
                  <p:cNvSpPr txBox="1"/>
                  <p:nvPr/>
                </p:nvSpPr>
                <p:spPr>
                  <a:xfrm>
                    <a:off x="5754153" y="4810967"/>
                    <a:ext cx="72968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>
                        <a:latin typeface="Calisto MT" panose="02040603050505030304" pitchFamily="18" charset="0"/>
                      </a:rPr>
                      <a:t>temp           </a:t>
                    </a:r>
                  </a:p>
                </p:txBody>
              </p:sp>
            </p:grpSp>
          </p:grpSp>
          <p:grpSp>
            <p:nvGrpSpPr>
              <p:cNvPr id="291" name="Group 290"/>
              <p:cNvGrpSpPr/>
              <p:nvPr/>
            </p:nvGrpSpPr>
            <p:grpSpPr>
              <a:xfrm>
                <a:off x="1316207" y="3079087"/>
                <a:ext cx="548893" cy="548893"/>
                <a:chOff x="11643107" y="2158069"/>
                <a:chExt cx="548893" cy="548893"/>
              </a:xfrm>
              <a:solidFill>
                <a:schemeClr val="accent1">
                  <a:lumMod val="40000"/>
                  <a:lumOff val="60000"/>
                </a:schemeClr>
              </a:solidFill>
            </p:grpSpPr>
            <p:sp>
              <p:nvSpPr>
                <p:cNvPr id="292" name="Rectangle 291"/>
                <p:cNvSpPr/>
                <p:nvPr/>
              </p:nvSpPr>
              <p:spPr>
                <a:xfrm>
                  <a:off x="11643107" y="2158069"/>
                  <a:ext cx="548893" cy="54889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3" name="TextBox 292"/>
                <p:cNvSpPr txBox="1"/>
                <p:nvPr/>
              </p:nvSpPr>
              <p:spPr>
                <a:xfrm>
                  <a:off x="11776119" y="2247849"/>
                  <a:ext cx="234075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Calisto MT" panose="02040603050505030304" pitchFamily="18" charset="0"/>
                    </a:rPr>
                    <a:t>a           </a:t>
                  </a:r>
                </a:p>
              </p:txBody>
            </p:sp>
          </p:grpSp>
          <p:grpSp>
            <p:nvGrpSpPr>
              <p:cNvPr id="294" name="Group 293"/>
              <p:cNvGrpSpPr/>
              <p:nvPr/>
            </p:nvGrpSpPr>
            <p:grpSpPr>
              <a:xfrm>
                <a:off x="1863156" y="3075283"/>
                <a:ext cx="548893" cy="548893"/>
                <a:chOff x="11643107" y="2158069"/>
                <a:chExt cx="548893" cy="548893"/>
              </a:xfrm>
              <a:solidFill>
                <a:schemeClr val="tx1"/>
              </a:solidFill>
            </p:grpSpPr>
            <p:sp>
              <p:nvSpPr>
                <p:cNvPr id="295" name="Rectangle 294"/>
                <p:cNvSpPr/>
                <p:nvPr/>
              </p:nvSpPr>
              <p:spPr>
                <a:xfrm>
                  <a:off x="11643107" y="2158069"/>
                  <a:ext cx="548893" cy="54889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6" name="TextBox 295"/>
                <p:cNvSpPr txBox="1"/>
                <p:nvPr/>
              </p:nvSpPr>
              <p:spPr>
                <a:xfrm>
                  <a:off x="11776119" y="2247849"/>
                  <a:ext cx="234075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  <a:latin typeface="Calisto MT" panose="02040603050505030304" pitchFamily="18" charset="0"/>
                    </a:rPr>
                    <a:t>R           </a:t>
                  </a:r>
                </a:p>
              </p:txBody>
            </p:sp>
          </p:grpSp>
          <p:grpSp>
            <p:nvGrpSpPr>
              <p:cNvPr id="297" name="Group 296"/>
              <p:cNvGrpSpPr/>
              <p:nvPr/>
            </p:nvGrpSpPr>
            <p:grpSpPr>
              <a:xfrm>
                <a:off x="763431" y="3075282"/>
                <a:ext cx="548893" cy="548893"/>
                <a:chOff x="11643107" y="2158069"/>
                <a:chExt cx="548893" cy="548893"/>
              </a:xfrm>
              <a:solidFill>
                <a:schemeClr val="tx1"/>
              </a:solidFill>
            </p:grpSpPr>
            <p:sp>
              <p:nvSpPr>
                <p:cNvPr id="298" name="Rectangle 297"/>
                <p:cNvSpPr/>
                <p:nvPr/>
              </p:nvSpPr>
              <p:spPr>
                <a:xfrm>
                  <a:off x="11643107" y="2158069"/>
                  <a:ext cx="548893" cy="54889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9" name="TextBox 298"/>
                <p:cNvSpPr txBox="1"/>
                <p:nvPr/>
              </p:nvSpPr>
              <p:spPr>
                <a:xfrm>
                  <a:off x="11776119" y="2247849"/>
                  <a:ext cx="234075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  <a:latin typeface="Calisto MT" panose="02040603050505030304" pitchFamily="18" charset="0"/>
                    </a:rPr>
                    <a:t>L           </a:t>
                  </a:r>
                </a:p>
              </p:txBody>
            </p:sp>
          </p:grpSp>
          <p:grpSp>
            <p:nvGrpSpPr>
              <p:cNvPr id="300" name="Group 299"/>
              <p:cNvGrpSpPr/>
              <p:nvPr/>
            </p:nvGrpSpPr>
            <p:grpSpPr>
              <a:xfrm>
                <a:off x="2719396" y="3054071"/>
                <a:ext cx="548893" cy="548893"/>
                <a:chOff x="11643107" y="2158069"/>
                <a:chExt cx="548893" cy="548893"/>
              </a:xfrm>
              <a:solidFill>
                <a:schemeClr val="tx1"/>
              </a:solidFill>
            </p:grpSpPr>
            <p:sp>
              <p:nvSpPr>
                <p:cNvPr id="301" name="Rectangle 300"/>
                <p:cNvSpPr/>
                <p:nvPr/>
              </p:nvSpPr>
              <p:spPr>
                <a:xfrm>
                  <a:off x="11643107" y="2158069"/>
                  <a:ext cx="548893" cy="54889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2" name="TextBox 301"/>
                <p:cNvSpPr txBox="1"/>
                <p:nvPr/>
              </p:nvSpPr>
              <p:spPr>
                <a:xfrm>
                  <a:off x="11776119" y="2247849"/>
                  <a:ext cx="234075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  <a:latin typeface="Calisto MT" panose="02040603050505030304" pitchFamily="18" charset="0"/>
                    </a:rPr>
                    <a:t>L           </a:t>
                  </a:r>
                </a:p>
              </p:txBody>
            </p:sp>
          </p:grpSp>
          <p:grpSp>
            <p:nvGrpSpPr>
              <p:cNvPr id="318" name="Group 317"/>
              <p:cNvGrpSpPr/>
              <p:nvPr/>
            </p:nvGrpSpPr>
            <p:grpSpPr>
              <a:xfrm>
                <a:off x="2223792" y="2305291"/>
                <a:ext cx="1362748" cy="1209475"/>
                <a:chOff x="3591216" y="2332908"/>
                <a:chExt cx="1400614" cy="1209475"/>
              </a:xfrm>
            </p:grpSpPr>
            <p:grpSp>
              <p:nvGrpSpPr>
                <p:cNvPr id="319" name="Group 318"/>
                <p:cNvGrpSpPr/>
                <p:nvPr/>
              </p:nvGrpSpPr>
              <p:grpSpPr>
                <a:xfrm>
                  <a:off x="3591216" y="2332908"/>
                  <a:ext cx="1400614" cy="1183693"/>
                  <a:chOff x="3599762" y="2132867"/>
                  <a:chExt cx="1400614" cy="1183693"/>
                </a:xfrm>
              </p:grpSpPr>
              <p:grpSp>
                <p:nvGrpSpPr>
                  <p:cNvPr id="321" name="Group 320"/>
                  <p:cNvGrpSpPr/>
                  <p:nvPr/>
                </p:nvGrpSpPr>
                <p:grpSpPr>
                  <a:xfrm>
                    <a:off x="3599762" y="2132867"/>
                    <a:ext cx="1400614" cy="1183693"/>
                    <a:chOff x="3599762" y="2132867"/>
                    <a:chExt cx="1400614" cy="1183693"/>
                  </a:xfrm>
                </p:grpSpPr>
                <p:grpSp>
                  <p:nvGrpSpPr>
                    <p:cNvPr id="323" name="Group 322"/>
                    <p:cNvGrpSpPr/>
                    <p:nvPr/>
                  </p:nvGrpSpPr>
                  <p:grpSpPr>
                    <a:xfrm>
                      <a:off x="3599762" y="2193252"/>
                      <a:ext cx="1344032" cy="1123308"/>
                      <a:chOff x="3881773" y="2167615"/>
                      <a:chExt cx="1344032" cy="1123308"/>
                    </a:xfrm>
                  </p:grpSpPr>
                  <p:cxnSp>
                    <p:nvCxnSpPr>
                      <p:cNvPr id="325" name="Straight Connector 324"/>
                      <p:cNvCxnSpPr/>
                      <p:nvPr/>
                    </p:nvCxnSpPr>
                    <p:spPr>
                      <a:xfrm>
                        <a:off x="3881773" y="3290318"/>
                        <a:ext cx="271283" cy="605"/>
                      </a:xfrm>
                      <a:prstGeom prst="line">
                        <a:avLst/>
                      </a:prstGeom>
                      <a:ln w="3810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26" name="Straight Connector 325"/>
                      <p:cNvCxnSpPr/>
                      <p:nvPr/>
                    </p:nvCxnSpPr>
                    <p:spPr>
                      <a:xfrm flipV="1">
                        <a:off x="4153056" y="2167615"/>
                        <a:ext cx="0" cy="1122703"/>
                      </a:xfrm>
                      <a:prstGeom prst="line">
                        <a:avLst/>
                      </a:prstGeom>
                      <a:ln w="3810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27" name="Straight Connector 326"/>
                      <p:cNvCxnSpPr/>
                      <p:nvPr/>
                    </p:nvCxnSpPr>
                    <p:spPr>
                      <a:xfrm>
                        <a:off x="4153056" y="2167615"/>
                        <a:ext cx="1072749" cy="0"/>
                      </a:xfrm>
                      <a:prstGeom prst="line">
                        <a:avLst/>
                      </a:prstGeom>
                      <a:ln w="3810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28" name="Straight Arrow Connector 327"/>
                      <p:cNvCxnSpPr/>
                      <p:nvPr/>
                    </p:nvCxnSpPr>
                    <p:spPr>
                      <a:xfrm>
                        <a:off x="5225805" y="2167615"/>
                        <a:ext cx="0" cy="664196"/>
                      </a:xfrm>
                      <a:prstGeom prst="straightConnector1">
                        <a:avLst/>
                      </a:prstGeom>
                      <a:ln w="38100">
                        <a:solidFill>
                          <a:srgbClr val="FF000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324" name="Rectangle 323"/>
                    <p:cNvSpPr/>
                    <p:nvPr/>
                  </p:nvSpPr>
                  <p:spPr>
                    <a:xfrm>
                      <a:off x="4887216" y="2132867"/>
                      <a:ext cx="113160" cy="11316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322" name="Rectangle 321"/>
                  <p:cNvSpPr/>
                  <p:nvPr/>
                </p:nvSpPr>
                <p:spPr>
                  <a:xfrm>
                    <a:off x="3814464" y="2136067"/>
                    <a:ext cx="113160" cy="113160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20" name="Rectangle 319"/>
                <p:cNvSpPr/>
                <p:nvPr/>
              </p:nvSpPr>
              <p:spPr>
                <a:xfrm>
                  <a:off x="3803954" y="3429223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40" name="Rectangle 339"/>
              <p:cNvSpPr/>
              <p:nvPr/>
            </p:nvSpPr>
            <p:spPr>
              <a:xfrm>
                <a:off x="1768269" y="2178049"/>
                <a:ext cx="667120" cy="8428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5" name="Rectangle 354"/>
              <p:cNvSpPr/>
              <p:nvPr/>
            </p:nvSpPr>
            <p:spPr>
              <a:xfrm>
                <a:off x="5396603" y="2162246"/>
                <a:ext cx="572569" cy="8574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08" name="Straight Arrow Connector 407"/>
              <p:cNvCxnSpPr/>
              <p:nvPr/>
            </p:nvCxnSpPr>
            <p:spPr>
              <a:xfrm flipH="1">
                <a:off x="477144" y="3397145"/>
                <a:ext cx="375197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23" name="Group 422"/>
              <p:cNvGrpSpPr/>
              <p:nvPr/>
            </p:nvGrpSpPr>
            <p:grpSpPr>
              <a:xfrm>
                <a:off x="3272172" y="3057876"/>
                <a:ext cx="548893" cy="548893"/>
                <a:chOff x="11643107" y="2158069"/>
                <a:chExt cx="548893" cy="548893"/>
              </a:xfrm>
              <a:solidFill>
                <a:schemeClr val="accent1">
                  <a:lumMod val="60000"/>
                  <a:lumOff val="40000"/>
                </a:schemeClr>
              </a:solidFill>
            </p:grpSpPr>
            <p:sp>
              <p:nvSpPr>
                <p:cNvPr id="424" name="Rectangle 423"/>
                <p:cNvSpPr/>
                <p:nvPr/>
              </p:nvSpPr>
              <p:spPr>
                <a:xfrm>
                  <a:off x="11643107" y="2158069"/>
                  <a:ext cx="548893" cy="54889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5" name="TextBox 424"/>
                <p:cNvSpPr txBox="1"/>
                <p:nvPr/>
              </p:nvSpPr>
              <p:spPr>
                <a:xfrm>
                  <a:off x="11776119" y="2247849"/>
                  <a:ext cx="234075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Calisto MT" panose="02040603050505030304" pitchFamily="18" charset="0"/>
                    </a:rPr>
                    <a:t>b           </a:t>
                  </a:r>
                </a:p>
              </p:txBody>
            </p:sp>
          </p:grpSp>
          <p:grpSp>
            <p:nvGrpSpPr>
              <p:cNvPr id="441" name="Group 440"/>
              <p:cNvGrpSpPr/>
              <p:nvPr/>
            </p:nvGrpSpPr>
            <p:grpSpPr>
              <a:xfrm>
                <a:off x="4598313" y="3031280"/>
                <a:ext cx="548893" cy="548893"/>
                <a:chOff x="11643107" y="2158069"/>
                <a:chExt cx="548893" cy="548893"/>
              </a:xfrm>
              <a:solidFill>
                <a:schemeClr val="tx1"/>
              </a:solidFill>
            </p:grpSpPr>
            <p:sp>
              <p:nvSpPr>
                <p:cNvPr id="442" name="Rectangle 441"/>
                <p:cNvSpPr/>
                <p:nvPr/>
              </p:nvSpPr>
              <p:spPr>
                <a:xfrm>
                  <a:off x="11643107" y="2158069"/>
                  <a:ext cx="548893" cy="54889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3" name="TextBox 442"/>
                <p:cNvSpPr txBox="1"/>
                <p:nvPr/>
              </p:nvSpPr>
              <p:spPr>
                <a:xfrm>
                  <a:off x="11776119" y="2247849"/>
                  <a:ext cx="234075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  <a:latin typeface="Calisto MT" panose="02040603050505030304" pitchFamily="18" charset="0"/>
                    </a:rPr>
                    <a:t>L           </a:t>
                  </a:r>
                </a:p>
              </p:txBody>
            </p:sp>
          </p:grpSp>
          <p:grpSp>
            <p:nvGrpSpPr>
              <p:cNvPr id="444" name="Group 443"/>
              <p:cNvGrpSpPr/>
              <p:nvPr/>
            </p:nvGrpSpPr>
            <p:grpSpPr>
              <a:xfrm>
                <a:off x="4955870" y="1735326"/>
                <a:ext cx="729688" cy="1299758"/>
                <a:chOff x="2491874" y="1750121"/>
                <a:chExt cx="729688" cy="1299758"/>
              </a:xfrm>
            </p:grpSpPr>
            <p:cxnSp>
              <p:nvCxnSpPr>
                <p:cNvPr id="445" name="Straight Arrow Connector 444"/>
                <p:cNvCxnSpPr/>
                <p:nvPr/>
              </p:nvCxnSpPr>
              <p:spPr>
                <a:xfrm flipH="1">
                  <a:off x="2796960" y="2076625"/>
                  <a:ext cx="3928" cy="973254"/>
                </a:xfrm>
                <a:prstGeom prst="straightConnector1">
                  <a:avLst/>
                </a:prstGeom>
                <a:ln w="57150">
                  <a:solidFill>
                    <a:srgbClr val="7030A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6" name="TextBox 445"/>
                <p:cNvSpPr txBox="1"/>
                <p:nvPr/>
              </p:nvSpPr>
              <p:spPr>
                <a:xfrm>
                  <a:off x="2491874" y="1750121"/>
                  <a:ext cx="729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Calisto MT" panose="02040603050505030304" pitchFamily="18" charset="0"/>
                    </a:rPr>
                    <a:t>last           </a:t>
                  </a:r>
                </a:p>
              </p:txBody>
            </p:sp>
          </p:grpSp>
          <p:grpSp>
            <p:nvGrpSpPr>
              <p:cNvPr id="447" name="Group 446"/>
              <p:cNvGrpSpPr/>
              <p:nvPr/>
            </p:nvGrpSpPr>
            <p:grpSpPr>
              <a:xfrm>
                <a:off x="3819121" y="3054072"/>
                <a:ext cx="548893" cy="548893"/>
                <a:chOff x="11643107" y="2158069"/>
                <a:chExt cx="548893" cy="548893"/>
              </a:xfrm>
              <a:solidFill>
                <a:schemeClr val="tx1"/>
              </a:solidFill>
            </p:grpSpPr>
            <p:sp>
              <p:nvSpPr>
                <p:cNvPr id="448" name="Rectangle 447"/>
                <p:cNvSpPr/>
                <p:nvPr/>
              </p:nvSpPr>
              <p:spPr>
                <a:xfrm>
                  <a:off x="11643107" y="2158069"/>
                  <a:ext cx="548893" cy="54889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9" name="TextBox 448"/>
                <p:cNvSpPr txBox="1"/>
                <p:nvPr/>
              </p:nvSpPr>
              <p:spPr>
                <a:xfrm>
                  <a:off x="11776119" y="2247849"/>
                  <a:ext cx="234075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  <a:latin typeface="Calisto MT" panose="02040603050505030304" pitchFamily="18" charset="0"/>
                    </a:rPr>
                    <a:t>R           </a:t>
                  </a:r>
                </a:p>
              </p:txBody>
            </p:sp>
          </p:grpSp>
          <p:grpSp>
            <p:nvGrpSpPr>
              <p:cNvPr id="457" name="Group 456"/>
              <p:cNvGrpSpPr/>
              <p:nvPr/>
            </p:nvGrpSpPr>
            <p:grpSpPr>
              <a:xfrm>
                <a:off x="772725" y="1768127"/>
                <a:ext cx="729688" cy="1299758"/>
                <a:chOff x="2491874" y="1750121"/>
                <a:chExt cx="729688" cy="1299758"/>
              </a:xfrm>
            </p:grpSpPr>
            <p:cxnSp>
              <p:nvCxnSpPr>
                <p:cNvPr id="458" name="Straight Arrow Connector 457"/>
                <p:cNvCxnSpPr/>
                <p:nvPr/>
              </p:nvCxnSpPr>
              <p:spPr>
                <a:xfrm flipH="1">
                  <a:off x="2796960" y="2076625"/>
                  <a:ext cx="3928" cy="973254"/>
                </a:xfrm>
                <a:prstGeom prst="straightConnector1">
                  <a:avLst/>
                </a:prstGeom>
                <a:ln w="57150">
                  <a:solidFill>
                    <a:srgbClr val="7030A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9" name="TextBox 458"/>
                <p:cNvSpPr txBox="1"/>
                <p:nvPr/>
              </p:nvSpPr>
              <p:spPr>
                <a:xfrm>
                  <a:off x="2491874" y="1750121"/>
                  <a:ext cx="729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Calisto MT" panose="02040603050505030304" pitchFamily="18" charset="0"/>
                    </a:rPr>
                    <a:t>first           </a:t>
                  </a:r>
                </a:p>
              </p:txBody>
            </p:sp>
          </p:grpSp>
          <p:grpSp>
            <p:nvGrpSpPr>
              <p:cNvPr id="344" name="Group 343"/>
              <p:cNvGrpSpPr/>
              <p:nvPr/>
            </p:nvGrpSpPr>
            <p:grpSpPr>
              <a:xfrm>
                <a:off x="3743491" y="2641121"/>
                <a:ext cx="907962" cy="529915"/>
                <a:chOff x="5168646" y="2670129"/>
                <a:chExt cx="1395501" cy="529915"/>
              </a:xfrm>
            </p:grpSpPr>
            <p:grpSp>
              <p:nvGrpSpPr>
                <p:cNvPr id="345" name="Group 344"/>
                <p:cNvGrpSpPr/>
                <p:nvPr/>
              </p:nvGrpSpPr>
              <p:grpSpPr>
                <a:xfrm>
                  <a:off x="5168646" y="2670129"/>
                  <a:ext cx="1395501" cy="477140"/>
                  <a:chOff x="2922327" y="2477698"/>
                  <a:chExt cx="1395501" cy="477140"/>
                </a:xfrm>
                <a:solidFill>
                  <a:srgbClr val="7030A0"/>
                </a:solidFill>
              </p:grpSpPr>
              <p:grpSp>
                <p:nvGrpSpPr>
                  <p:cNvPr id="347" name="Group 346"/>
                  <p:cNvGrpSpPr/>
                  <p:nvPr/>
                </p:nvGrpSpPr>
                <p:grpSpPr>
                  <a:xfrm>
                    <a:off x="2982302" y="2477698"/>
                    <a:ext cx="1335526" cy="477140"/>
                    <a:chOff x="2982302" y="2477698"/>
                    <a:chExt cx="1335526" cy="477140"/>
                  </a:xfrm>
                  <a:grpFill/>
                </p:grpSpPr>
                <p:grpSp>
                  <p:nvGrpSpPr>
                    <p:cNvPr id="349" name="Group 348"/>
                    <p:cNvGrpSpPr/>
                    <p:nvPr/>
                  </p:nvGrpSpPr>
                  <p:grpSpPr>
                    <a:xfrm>
                      <a:off x="2982302" y="2525350"/>
                      <a:ext cx="1335526" cy="429488"/>
                      <a:chOff x="3264313" y="2499713"/>
                      <a:chExt cx="1335526" cy="429488"/>
                    </a:xfrm>
                    <a:grpFill/>
                  </p:grpSpPr>
                  <p:cxnSp>
                    <p:nvCxnSpPr>
                      <p:cNvPr id="351" name="Straight Connector 350"/>
                      <p:cNvCxnSpPr/>
                      <p:nvPr/>
                    </p:nvCxnSpPr>
                    <p:spPr>
                      <a:xfrm flipH="1">
                        <a:off x="4375448" y="2929201"/>
                        <a:ext cx="224391" cy="0"/>
                      </a:xfrm>
                      <a:prstGeom prst="line">
                        <a:avLst/>
                      </a:prstGeom>
                      <a:grpFill/>
                      <a:ln w="38100">
                        <a:solidFill>
                          <a:srgbClr val="7030A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52" name="Straight Connector 351"/>
                      <p:cNvCxnSpPr/>
                      <p:nvPr/>
                    </p:nvCxnSpPr>
                    <p:spPr>
                      <a:xfrm flipV="1">
                        <a:off x="4383993" y="2499713"/>
                        <a:ext cx="0" cy="421878"/>
                      </a:xfrm>
                      <a:prstGeom prst="line">
                        <a:avLst/>
                      </a:prstGeom>
                      <a:grpFill/>
                      <a:ln w="38100">
                        <a:solidFill>
                          <a:srgbClr val="7030A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53" name="Straight Connector 352"/>
                      <p:cNvCxnSpPr/>
                      <p:nvPr/>
                    </p:nvCxnSpPr>
                    <p:spPr>
                      <a:xfrm flipH="1">
                        <a:off x="3264313" y="2499713"/>
                        <a:ext cx="1111135" cy="0"/>
                      </a:xfrm>
                      <a:prstGeom prst="line">
                        <a:avLst/>
                      </a:prstGeom>
                      <a:grpFill/>
                      <a:ln w="38100">
                        <a:solidFill>
                          <a:srgbClr val="7030A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54" name="Straight Arrow Connector 353"/>
                      <p:cNvCxnSpPr/>
                      <p:nvPr/>
                    </p:nvCxnSpPr>
                    <p:spPr>
                      <a:xfrm>
                        <a:off x="3264313" y="2499713"/>
                        <a:ext cx="0" cy="332098"/>
                      </a:xfrm>
                      <a:prstGeom prst="straightConnector1">
                        <a:avLst/>
                      </a:prstGeom>
                      <a:grpFill/>
                      <a:ln w="38100">
                        <a:solidFill>
                          <a:srgbClr val="7030A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350" name="Rectangle 349"/>
                    <p:cNvSpPr/>
                    <p:nvPr/>
                  </p:nvSpPr>
                  <p:spPr>
                    <a:xfrm>
                      <a:off x="4043914" y="2477698"/>
                      <a:ext cx="113160" cy="113160"/>
                    </a:xfrm>
                    <a:prstGeom prst="rect">
                      <a:avLst/>
                    </a:prstGeom>
                    <a:grpFill/>
                    <a:ln>
                      <a:solidFill>
                        <a:srgbClr val="7030A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ln>
                          <a:solidFill>
                            <a:srgbClr val="7030A0"/>
                          </a:solidFill>
                        </a:ln>
                      </a:endParaRPr>
                    </a:p>
                  </p:txBody>
                </p:sp>
              </p:grpSp>
              <p:sp>
                <p:nvSpPr>
                  <p:cNvPr id="348" name="Rectangle 347"/>
                  <p:cNvSpPr/>
                  <p:nvPr/>
                </p:nvSpPr>
                <p:spPr>
                  <a:xfrm>
                    <a:off x="2922327" y="2477698"/>
                    <a:ext cx="113160" cy="113160"/>
                  </a:xfrm>
                  <a:prstGeom prst="rect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n>
                        <a:solidFill>
                          <a:srgbClr val="7030A0"/>
                        </a:solidFill>
                      </a:ln>
                    </a:endParaRPr>
                  </a:p>
                </p:txBody>
              </p:sp>
            </p:grpSp>
            <p:sp>
              <p:nvSpPr>
                <p:cNvPr id="346" name="Rectangle 345"/>
                <p:cNvSpPr/>
                <p:nvPr/>
              </p:nvSpPr>
              <p:spPr>
                <a:xfrm>
                  <a:off x="6296808" y="3086884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26" name="Group 425"/>
              <p:cNvGrpSpPr/>
              <p:nvPr/>
            </p:nvGrpSpPr>
            <p:grpSpPr>
              <a:xfrm>
                <a:off x="4290758" y="2492831"/>
                <a:ext cx="639825" cy="923494"/>
                <a:chOff x="5777829" y="2332303"/>
                <a:chExt cx="1400614" cy="1226567"/>
              </a:xfrm>
            </p:grpSpPr>
            <p:grpSp>
              <p:nvGrpSpPr>
                <p:cNvPr id="427" name="Group 426"/>
                <p:cNvGrpSpPr/>
                <p:nvPr/>
              </p:nvGrpSpPr>
              <p:grpSpPr>
                <a:xfrm>
                  <a:off x="5777829" y="2332303"/>
                  <a:ext cx="1400614" cy="1183693"/>
                  <a:chOff x="3599762" y="2132867"/>
                  <a:chExt cx="1400614" cy="1183693"/>
                </a:xfrm>
              </p:grpSpPr>
              <p:grpSp>
                <p:nvGrpSpPr>
                  <p:cNvPr id="429" name="Group 428"/>
                  <p:cNvGrpSpPr/>
                  <p:nvPr/>
                </p:nvGrpSpPr>
                <p:grpSpPr>
                  <a:xfrm>
                    <a:off x="3599762" y="2132867"/>
                    <a:ext cx="1400614" cy="1183693"/>
                    <a:chOff x="3599762" y="2132867"/>
                    <a:chExt cx="1400614" cy="1183693"/>
                  </a:xfrm>
                </p:grpSpPr>
                <p:grpSp>
                  <p:nvGrpSpPr>
                    <p:cNvPr id="431" name="Group 430"/>
                    <p:cNvGrpSpPr/>
                    <p:nvPr/>
                  </p:nvGrpSpPr>
                  <p:grpSpPr>
                    <a:xfrm>
                      <a:off x="3599762" y="2193252"/>
                      <a:ext cx="1344032" cy="1123308"/>
                      <a:chOff x="3881773" y="2167615"/>
                      <a:chExt cx="1344032" cy="1123308"/>
                    </a:xfrm>
                  </p:grpSpPr>
                  <p:cxnSp>
                    <p:nvCxnSpPr>
                      <p:cNvPr id="433" name="Straight Connector 432"/>
                      <p:cNvCxnSpPr/>
                      <p:nvPr/>
                    </p:nvCxnSpPr>
                    <p:spPr>
                      <a:xfrm>
                        <a:off x="3881773" y="3290318"/>
                        <a:ext cx="271283" cy="605"/>
                      </a:xfrm>
                      <a:prstGeom prst="line">
                        <a:avLst/>
                      </a:prstGeom>
                      <a:ln w="3810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4" name="Straight Connector 433"/>
                      <p:cNvCxnSpPr/>
                      <p:nvPr/>
                    </p:nvCxnSpPr>
                    <p:spPr>
                      <a:xfrm flipV="1">
                        <a:off x="4153056" y="2167615"/>
                        <a:ext cx="0" cy="1122703"/>
                      </a:xfrm>
                      <a:prstGeom prst="line">
                        <a:avLst/>
                      </a:prstGeom>
                      <a:ln w="3810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5" name="Straight Connector 434"/>
                      <p:cNvCxnSpPr/>
                      <p:nvPr/>
                    </p:nvCxnSpPr>
                    <p:spPr>
                      <a:xfrm>
                        <a:off x="4153056" y="2167615"/>
                        <a:ext cx="1072749" cy="0"/>
                      </a:xfrm>
                      <a:prstGeom prst="line">
                        <a:avLst/>
                      </a:prstGeom>
                      <a:ln w="3810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6" name="Straight Arrow Connector 435"/>
                      <p:cNvCxnSpPr/>
                      <p:nvPr/>
                    </p:nvCxnSpPr>
                    <p:spPr>
                      <a:xfrm>
                        <a:off x="5225805" y="2167615"/>
                        <a:ext cx="0" cy="664196"/>
                      </a:xfrm>
                      <a:prstGeom prst="straightConnector1">
                        <a:avLst/>
                      </a:prstGeom>
                      <a:ln w="38100">
                        <a:solidFill>
                          <a:srgbClr val="FF000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432" name="Rectangle 431"/>
                    <p:cNvSpPr/>
                    <p:nvPr/>
                  </p:nvSpPr>
                  <p:spPr>
                    <a:xfrm>
                      <a:off x="4887216" y="2132867"/>
                      <a:ext cx="113160" cy="11316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430" name="Rectangle 429"/>
                  <p:cNvSpPr/>
                  <p:nvPr/>
                </p:nvSpPr>
                <p:spPr>
                  <a:xfrm>
                    <a:off x="3814464" y="2136067"/>
                    <a:ext cx="113160" cy="113160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428" name="Rectangle 427"/>
                <p:cNvSpPr/>
                <p:nvPr/>
              </p:nvSpPr>
              <p:spPr>
                <a:xfrm>
                  <a:off x="5990886" y="3445710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62" name="Right Brace 461"/>
              <p:cNvSpPr/>
              <p:nvPr/>
            </p:nvSpPr>
            <p:spPr>
              <a:xfrm rot="5400000">
                <a:off x="3254304" y="1075828"/>
                <a:ext cx="411670" cy="5573583"/>
              </a:xfrm>
              <a:prstGeom prst="rightBrace">
                <a:avLst>
                  <a:gd name="adj1" fmla="val 56077"/>
                  <a:gd name="adj2" fmla="val 50000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11" name="Group 410"/>
              <p:cNvGrpSpPr/>
              <p:nvPr/>
            </p:nvGrpSpPr>
            <p:grpSpPr>
              <a:xfrm>
                <a:off x="1844054" y="2698598"/>
                <a:ext cx="917376" cy="528191"/>
                <a:chOff x="2913781" y="2677739"/>
                <a:chExt cx="1395501" cy="528191"/>
              </a:xfrm>
            </p:grpSpPr>
            <p:grpSp>
              <p:nvGrpSpPr>
                <p:cNvPr id="412" name="Group 411"/>
                <p:cNvGrpSpPr/>
                <p:nvPr/>
              </p:nvGrpSpPr>
              <p:grpSpPr>
                <a:xfrm>
                  <a:off x="2913781" y="2677739"/>
                  <a:ext cx="1395501" cy="477140"/>
                  <a:chOff x="2922327" y="2477698"/>
                  <a:chExt cx="1395501" cy="477140"/>
                </a:xfrm>
              </p:grpSpPr>
              <p:grpSp>
                <p:nvGrpSpPr>
                  <p:cNvPr id="414" name="Group 413"/>
                  <p:cNvGrpSpPr/>
                  <p:nvPr/>
                </p:nvGrpSpPr>
                <p:grpSpPr>
                  <a:xfrm>
                    <a:off x="2982302" y="2477698"/>
                    <a:ext cx="1335526" cy="477140"/>
                    <a:chOff x="2982302" y="2477698"/>
                    <a:chExt cx="1335526" cy="477140"/>
                  </a:xfrm>
                </p:grpSpPr>
                <p:grpSp>
                  <p:nvGrpSpPr>
                    <p:cNvPr id="416" name="Group 415"/>
                    <p:cNvGrpSpPr/>
                    <p:nvPr/>
                  </p:nvGrpSpPr>
                  <p:grpSpPr>
                    <a:xfrm>
                      <a:off x="2982302" y="2525350"/>
                      <a:ext cx="1335526" cy="429488"/>
                      <a:chOff x="3264313" y="2499713"/>
                      <a:chExt cx="1335526" cy="429488"/>
                    </a:xfrm>
                  </p:grpSpPr>
                  <p:cxnSp>
                    <p:nvCxnSpPr>
                      <p:cNvPr id="418" name="Straight Connector 417"/>
                      <p:cNvCxnSpPr/>
                      <p:nvPr/>
                    </p:nvCxnSpPr>
                    <p:spPr>
                      <a:xfrm flipH="1">
                        <a:off x="4375448" y="2929201"/>
                        <a:ext cx="224391" cy="0"/>
                      </a:xfrm>
                      <a:prstGeom prst="line">
                        <a:avLst/>
                      </a:prstGeom>
                      <a:ln w="38100">
                        <a:solidFill>
                          <a:srgbClr val="7030A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19" name="Straight Connector 418"/>
                      <p:cNvCxnSpPr/>
                      <p:nvPr/>
                    </p:nvCxnSpPr>
                    <p:spPr>
                      <a:xfrm flipV="1">
                        <a:off x="4383993" y="2499713"/>
                        <a:ext cx="0" cy="421878"/>
                      </a:xfrm>
                      <a:prstGeom prst="line">
                        <a:avLst/>
                      </a:prstGeom>
                      <a:ln w="38100">
                        <a:solidFill>
                          <a:srgbClr val="7030A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0" name="Straight Connector 419"/>
                      <p:cNvCxnSpPr/>
                      <p:nvPr/>
                    </p:nvCxnSpPr>
                    <p:spPr>
                      <a:xfrm flipH="1">
                        <a:off x="3264313" y="2499713"/>
                        <a:ext cx="1111135" cy="0"/>
                      </a:xfrm>
                      <a:prstGeom prst="line">
                        <a:avLst/>
                      </a:prstGeom>
                      <a:ln w="38100">
                        <a:solidFill>
                          <a:srgbClr val="7030A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1" name="Straight Arrow Connector 420"/>
                      <p:cNvCxnSpPr/>
                      <p:nvPr/>
                    </p:nvCxnSpPr>
                    <p:spPr>
                      <a:xfrm>
                        <a:off x="3264313" y="2499713"/>
                        <a:ext cx="0" cy="332098"/>
                      </a:xfrm>
                      <a:prstGeom prst="straightConnector1">
                        <a:avLst/>
                      </a:prstGeom>
                      <a:ln w="38100">
                        <a:solidFill>
                          <a:srgbClr val="7030A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417" name="Rectangle 416"/>
                    <p:cNvSpPr/>
                    <p:nvPr/>
                  </p:nvSpPr>
                  <p:spPr>
                    <a:xfrm>
                      <a:off x="4043914" y="2477698"/>
                      <a:ext cx="113160" cy="113160"/>
                    </a:xfrm>
                    <a:prstGeom prst="rect">
                      <a:avLst/>
                    </a:prstGeom>
                    <a:solidFill>
                      <a:srgbClr val="7030A0"/>
                    </a:solidFill>
                    <a:ln>
                      <a:solidFill>
                        <a:srgbClr val="7030A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415" name="Rectangle 414"/>
                  <p:cNvSpPr/>
                  <p:nvPr/>
                </p:nvSpPr>
                <p:spPr>
                  <a:xfrm>
                    <a:off x="2922327" y="2477698"/>
                    <a:ext cx="113160" cy="113160"/>
                  </a:xfrm>
                  <a:prstGeom prst="rect">
                    <a:avLst/>
                  </a:prstGeom>
                  <a:solidFill>
                    <a:srgbClr val="7030A0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413" name="Rectangle 412"/>
                <p:cNvSpPr/>
                <p:nvPr/>
              </p:nvSpPr>
              <p:spPr>
                <a:xfrm>
                  <a:off x="4049483" y="3092770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38" name="Group 437"/>
              <p:cNvGrpSpPr/>
              <p:nvPr/>
            </p:nvGrpSpPr>
            <p:grpSpPr>
              <a:xfrm>
                <a:off x="5151089" y="3035085"/>
                <a:ext cx="548893" cy="548893"/>
                <a:chOff x="11643107" y="2158069"/>
                <a:chExt cx="548893" cy="548893"/>
              </a:xfrm>
              <a:solidFill>
                <a:schemeClr val="accent1">
                  <a:lumMod val="60000"/>
                  <a:lumOff val="40000"/>
                </a:schemeClr>
              </a:solidFill>
            </p:grpSpPr>
            <p:sp>
              <p:nvSpPr>
                <p:cNvPr id="439" name="Rectangle 438"/>
                <p:cNvSpPr/>
                <p:nvPr/>
              </p:nvSpPr>
              <p:spPr>
                <a:xfrm>
                  <a:off x="11643107" y="2158069"/>
                  <a:ext cx="548893" cy="54889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0" name="TextBox 439"/>
                <p:cNvSpPr txBox="1"/>
                <p:nvPr/>
              </p:nvSpPr>
              <p:spPr>
                <a:xfrm>
                  <a:off x="11776119" y="2247849"/>
                  <a:ext cx="234075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Calisto MT" panose="02040603050505030304" pitchFamily="18" charset="0"/>
                    </a:rPr>
                    <a:t>c           </a:t>
                  </a:r>
                </a:p>
              </p:txBody>
            </p:sp>
          </p:grpSp>
          <p:cxnSp>
            <p:nvCxnSpPr>
              <p:cNvPr id="469" name="Straight Arrow Connector 468"/>
              <p:cNvCxnSpPr/>
              <p:nvPr/>
            </p:nvCxnSpPr>
            <p:spPr>
              <a:xfrm flipV="1">
                <a:off x="6163161" y="3315438"/>
                <a:ext cx="463686" cy="5787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3" name="Group 302"/>
              <p:cNvGrpSpPr/>
              <p:nvPr/>
            </p:nvGrpSpPr>
            <p:grpSpPr>
              <a:xfrm>
                <a:off x="5698038" y="3031281"/>
                <a:ext cx="548893" cy="548893"/>
                <a:chOff x="11643107" y="2158069"/>
                <a:chExt cx="548893" cy="548893"/>
              </a:xfrm>
              <a:solidFill>
                <a:schemeClr val="tx1"/>
              </a:solidFill>
            </p:grpSpPr>
            <p:sp>
              <p:nvSpPr>
                <p:cNvPr id="304" name="Rectangle 303"/>
                <p:cNvSpPr/>
                <p:nvPr/>
              </p:nvSpPr>
              <p:spPr>
                <a:xfrm>
                  <a:off x="11643107" y="2158069"/>
                  <a:ext cx="548893" cy="54889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5" name="TextBox 304"/>
                <p:cNvSpPr txBox="1"/>
                <p:nvPr/>
              </p:nvSpPr>
              <p:spPr>
                <a:xfrm>
                  <a:off x="11776119" y="2247849"/>
                  <a:ext cx="234075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  <a:latin typeface="Calisto MT" panose="02040603050505030304" pitchFamily="18" charset="0"/>
                    </a:rPr>
                    <a:t>R           </a:t>
                  </a:r>
                </a:p>
              </p:txBody>
            </p:sp>
          </p:grpSp>
        </p:grpSp>
        <p:sp>
          <p:nvSpPr>
            <p:cNvPr id="199" name="TextBox 198"/>
            <p:cNvSpPr txBox="1"/>
            <p:nvPr/>
          </p:nvSpPr>
          <p:spPr>
            <a:xfrm>
              <a:off x="6589517" y="3132212"/>
              <a:ext cx="8585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NULL           </a:t>
              </a:r>
            </a:p>
          </p:txBody>
        </p:sp>
      </p:grpSp>
      <p:sp>
        <p:nvSpPr>
          <p:cNvPr id="201" name="TextBox 200"/>
          <p:cNvSpPr txBox="1"/>
          <p:nvPr/>
        </p:nvSpPr>
        <p:spPr>
          <a:xfrm>
            <a:off x="852341" y="3904296"/>
            <a:ext cx="1143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sto MT" panose="02040603050505030304" pitchFamily="18" charset="0"/>
              </a:rPr>
              <a:t>k =3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249455" y="4440111"/>
            <a:ext cx="222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 *first = head;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254801" y="4718166"/>
            <a:ext cx="3401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 *last = </a:t>
            </a:r>
            <a:r>
              <a:rPr lang="en-US" dirty="0" err="1">
                <a:latin typeface="Calisto MT" panose="02040603050505030304" pitchFamily="18" charset="0"/>
              </a:rPr>
              <a:t>findKthNode</a:t>
            </a:r>
            <a:r>
              <a:rPr lang="en-US" dirty="0">
                <a:latin typeface="Calisto MT" panose="02040603050505030304" pitchFamily="18" charset="0"/>
              </a:rPr>
              <a:t>(k-1);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242274" y="5000455"/>
            <a:ext cx="222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head = last-&gt;R;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248409" y="5259418"/>
            <a:ext cx="222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head-&gt;L = NULL;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249455" y="5541707"/>
            <a:ext cx="2026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last-&gt;R = NULL;</a:t>
            </a:r>
          </a:p>
        </p:txBody>
      </p:sp>
    </p:spTree>
    <p:extLst>
      <p:ext uri="{BB962C8B-B14F-4D97-AF65-F5344CB8AC3E}">
        <p14:creationId xmlns:p14="http://schemas.microsoft.com/office/powerpoint/2010/main" val="850972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2.59259E-6 L -0.03606 -0.3182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10" y="-1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463" y="130024"/>
            <a:ext cx="12108074" cy="1450757"/>
          </a:xfrm>
        </p:spPr>
        <p:txBody>
          <a:bodyPr>
            <a:normAutofit/>
          </a:bodyPr>
          <a:lstStyle/>
          <a:p>
            <a:r>
              <a:rPr lang="en-US" sz="3600" b="1" dirty="0"/>
              <a:t>Cut Paste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0C5D-56AF-468F-9301-88586394A899}" type="datetime4">
              <a:rPr lang="en-US" smtClean="0"/>
              <a:t>23 March, 2024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35</a:t>
            </a:fld>
            <a:endParaRPr lang="en-US"/>
          </a:p>
        </p:txBody>
      </p:sp>
      <p:grpSp>
        <p:nvGrpSpPr>
          <p:cNvPr id="453" name="Group 452"/>
          <p:cNvGrpSpPr/>
          <p:nvPr/>
        </p:nvGrpSpPr>
        <p:grpSpPr>
          <a:xfrm>
            <a:off x="832006" y="4153179"/>
            <a:ext cx="5475090" cy="1983229"/>
            <a:chOff x="1003736" y="3905770"/>
            <a:chExt cx="3245724" cy="1983229"/>
          </a:xfrm>
        </p:grpSpPr>
        <p:sp>
          <p:nvSpPr>
            <p:cNvPr id="454" name="TextBox 453"/>
            <p:cNvSpPr txBox="1"/>
            <p:nvPr/>
          </p:nvSpPr>
          <p:spPr>
            <a:xfrm>
              <a:off x="1003736" y="3905770"/>
              <a:ext cx="3245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void </a:t>
              </a:r>
              <a:r>
                <a:rPr lang="en-US" dirty="0" err="1">
                  <a:latin typeface="Calisto MT" panose="02040603050505030304" pitchFamily="18" charset="0"/>
                </a:rPr>
                <a:t>cutPaste</a:t>
              </a:r>
              <a:r>
                <a:rPr lang="en-US" dirty="0">
                  <a:latin typeface="Calisto MT" panose="02040603050505030304" pitchFamily="18" charset="0"/>
                </a:rPr>
                <a:t>(</a:t>
              </a:r>
              <a:r>
                <a:rPr lang="en-US" dirty="0" err="1">
                  <a:latin typeface="Calisto MT" panose="02040603050505030304" pitchFamily="18" charset="0"/>
                </a:rPr>
                <a:t>int</a:t>
              </a:r>
              <a:r>
                <a:rPr lang="en-US" dirty="0">
                  <a:latin typeface="Calisto MT" panose="02040603050505030304" pitchFamily="18" charset="0"/>
                </a:rPr>
                <a:t> k ){</a:t>
              </a:r>
            </a:p>
          </p:txBody>
        </p:sp>
        <p:sp>
          <p:nvSpPr>
            <p:cNvPr id="455" name="TextBox 454"/>
            <p:cNvSpPr txBox="1"/>
            <p:nvPr/>
          </p:nvSpPr>
          <p:spPr>
            <a:xfrm>
              <a:off x="1003736" y="5519667"/>
              <a:ext cx="41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}</a:t>
              </a:r>
            </a:p>
          </p:txBody>
        </p:sp>
      </p:grpSp>
      <p:grpSp>
        <p:nvGrpSpPr>
          <p:cNvPr id="229" name="Group 228"/>
          <p:cNvGrpSpPr/>
          <p:nvPr/>
        </p:nvGrpSpPr>
        <p:grpSpPr>
          <a:xfrm>
            <a:off x="1587079" y="2024033"/>
            <a:ext cx="1209647" cy="992987"/>
            <a:chOff x="10227000" y="2386519"/>
            <a:chExt cx="1209647" cy="992987"/>
          </a:xfrm>
        </p:grpSpPr>
        <p:sp>
          <p:nvSpPr>
            <p:cNvPr id="230" name="Rectangle 229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1" name="Group 230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237" name="Straight Arrow Connector 236"/>
              <p:cNvCxnSpPr>
                <a:stCxn id="238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" name="TextBox 237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309" name="Group 308"/>
          <p:cNvGrpSpPr/>
          <p:nvPr/>
        </p:nvGrpSpPr>
        <p:grpSpPr>
          <a:xfrm>
            <a:off x="2010210" y="3022403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10" name="Rectangle 30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TextBox 31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sp>
        <p:nvSpPr>
          <p:cNvPr id="367" name="Rectangle 366"/>
          <p:cNvSpPr/>
          <p:nvPr/>
        </p:nvSpPr>
        <p:spPr>
          <a:xfrm>
            <a:off x="1902336" y="2146592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3" name="Group 372"/>
          <p:cNvGrpSpPr/>
          <p:nvPr/>
        </p:nvGrpSpPr>
        <p:grpSpPr>
          <a:xfrm>
            <a:off x="3601032" y="3010455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74" name="Rectangle 37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" name="TextBox 37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e           </a:t>
              </a:r>
            </a:p>
          </p:txBody>
        </p:sp>
      </p:grpSp>
      <p:grpSp>
        <p:nvGrpSpPr>
          <p:cNvPr id="379" name="Group 378"/>
          <p:cNvGrpSpPr/>
          <p:nvPr/>
        </p:nvGrpSpPr>
        <p:grpSpPr>
          <a:xfrm>
            <a:off x="3048256" y="3006650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80" name="Rectangle 37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" name="TextBox 38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382" name="Group 381"/>
          <p:cNvGrpSpPr/>
          <p:nvPr/>
        </p:nvGrpSpPr>
        <p:grpSpPr>
          <a:xfrm>
            <a:off x="2387083" y="2285269"/>
            <a:ext cx="1400614" cy="1226567"/>
            <a:chOff x="5777829" y="2332303"/>
            <a:chExt cx="1400614" cy="1226567"/>
          </a:xfrm>
        </p:grpSpPr>
        <p:grpSp>
          <p:nvGrpSpPr>
            <p:cNvPr id="383" name="Group 382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385" name="Group 384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387" name="Group 386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389" name="Straight Connector 388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0" name="Straight Connector 389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1" name="Straight Connector 390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2" name="Straight Arrow Connector 391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88" name="Rectangle 387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86" name="Rectangle 385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4" name="Rectangle 383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3" name="Rectangle 392"/>
          <p:cNvSpPr/>
          <p:nvPr/>
        </p:nvSpPr>
        <p:spPr>
          <a:xfrm>
            <a:off x="1668364" y="2138583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4" name="Group 393"/>
          <p:cNvGrpSpPr/>
          <p:nvPr/>
        </p:nvGrpSpPr>
        <p:grpSpPr>
          <a:xfrm>
            <a:off x="1777900" y="2623095"/>
            <a:ext cx="1395501" cy="529915"/>
            <a:chOff x="5168646" y="2670129"/>
            <a:chExt cx="1395501" cy="529915"/>
          </a:xfrm>
        </p:grpSpPr>
        <p:grpSp>
          <p:nvGrpSpPr>
            <p:cNvPr id="395" name="Group 394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397" name="Group 396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399" name="Group 398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401" name="Straight Connector 400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2" name="Straight Connector 401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3" name="Straight Connector 402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4" name="Straight Arrow Connector 403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00" name="Rectangle 399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398" name="Rectangle 397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396" name="Rectangle 395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5" name="Rectangle 404"/>
          <p:cNvSpPr/>
          <p:nvPr/>
        </p:nvSpPr>
        <p:spPr>
          <a:xfrm>
            <a:off x="3846546" y="2137616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7" name="Straight Arrow Connector 406"/>
          <p:cNvCxnSpPr/>
          <p:nvPr/>
        </p:nvCxnSpPr>
        <p:spPr>
          <a:xfrm flipV="1">
            <a:off x="4521024" y="3295970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3" name="Group 462"/>
          <p:cNvGrpSpPr/>
          <p:nvPr/>
        </p:nvGrpSpPr>
        <p:grpSpPr>
          <a:xfrm>
            <a:off x="1403862" y="1716519"/>
            <a:ext cx="678389" cy="1299758"/>
            <a:chOff x="9315287" y="1750121"/>
            <a:chExt cx="678389" cy="1299758"/>
          </a:xfrm>
        </p:grpSpPr>
        <p:cxnSp>
          <p:nvCxnSpPr>
            <p:cNvPr id="464" name="Straight Arrow Connector 463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5" name="TextBox 464"/>
            <p:cNvSpPr txBox="1"/>
            <p:nvPr/>
          </p:nvSpPr>
          <p:spPr>
            <a:xfrm>
              <a:off x="9315287" y="1750121"/>
              <a:ext cx="6783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  <p:cxnSp>
        <p:nvCxnSpPr>
          <p:cNvPr id="450" name="Straight Arrow Connector 449"/>
          <p:cNvCxnSpPr/>
          <p:nvPr/>
        </p:nvCxnSpPr>
        <p:spPr>
          <a:xfrm flipH="1">
            <a:off x="722886" y="3317800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1" name="TextBox 450"/>
          <p:cNvSpPr txBox="1"/>
          <p:nvPr/>
        </p:nvSpPr>
        <p:spPr>
          <a:xfrm>
            <a:off x="-7928" y="3121757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grpSp>
        <p:nvGrpSpPr>
          <p:cNvPr id="312" name="Group 311"/>
          <p:cNvGrpSpPr/>
          <p:nvPr/>
        </p:nvGrpSpPr>
        <p:grpSpPr>
          <a:xfrm>
            <a:off x="910485" y="3022402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13" name="Rectangle 312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" name="TextBox 313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306" name="Group 305"/>
          <p:cNvGrpSpPr/>
          <p:nvPr/>
        </p:nvGrpSpPr>
        <p:grpSpPr>
          <a:xfrm>
            <a:off x="1463261" y="3026207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07" name="Rectangle 30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d           </a:t>
              </a:r>
            </a:p>
          </p:txBody>
        </p:sp>
      </p:grpSp>
      <p:sp>
        <p:nvSpPr>
          <p:cNvPr id="201" name="TextBox 200"/>
          <p:cNvSpPr txBox="1"/>
          <p:nvPr/>
        </p:nvSpPr>
        <p:spPr>
          <a:xfrm>
            <a:off x="852341" y="3904296"/>
            <a:ext cx="1143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sto MT" panose="02040603050505030304" pitchFamily="18" charset="0"/>
              </a:rPr>
              <a:t>k =3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249455" y="4440111"/>
            <a:ext cx="222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 *first = head;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254802" y="4718166"/>
            <a:ext cx="3442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Node  *last = </a:t>
            </a:r>
            <a:r>
              <a:rPr lang="en-US" dirty="0" err="1">
                <a:latin typeface="Calisto MT" panose="02040603050505030304" pitchFamily="18" charset="0"/>
              </a:rPr>
              <a:t>findKthNode</a:t>
            </a:r>
            <a:r>
              <a:rPr lang="en-US" dirty="0">
                <a:latin typeface="Calisto MT" panose="02040603050505030304" pitchFamily="18" charset="0"/>
              </a:rPr>
              <a:t>(k-1);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242274" y="5000455"/>
            <a:ext cx="222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head = last-&gt;R;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248409" y="5259418"/>
            <a:ext cx="222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head-&gt;L = NULL;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249455" y="5541707"/>
            <a:ext cx="2026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last-&gt;R = NULL;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5068" y="3206273"/>
            <a:ext cx="437380" cy="1741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6" name="Group 375"/>
          <p:cNvGrpSpPr/>
          <p:nvPr/>
        </p:nvGrpSpPr>
        <p:grpSpPr>
          <a:xfrm>
            <a:off x="4147981" y="300665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77" name="Rectangle 37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" name="TextBox 37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sp>
        <p:nvSpPr>
          <p:cNvPr id="406" name="TextBox 405"/>
          <p:cNvSpPr txBox="1"/>
          <p:nvPr/>
        </p:nvSpPr>
        <p:spPr>
          <a:xfrm>
            <a:off x="4776412" y="3092625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469258" y="5547374"/>
            <a:ext cx="2026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tail-&gt;R = first;</a:t>
            </a:r>
          </a:p>
        </p:txBody>
      </p:sp>
      <p:grpSp>
        <p:nvGrpSpPr>
          <p:cNvPr id="239" name="Group 238"/>
          <p:cNvGrpSpPr/>
          <p:nvPr/>
        </p:nvGrpSpPr>
        <p:grpSpPr>
          <a:xfrm>
            <a:off x="9999236" y="1963995"/>
            <a:ext cx="1209647" cy="992987"/>
            <a:chOff x="10227000" y="2386519"/>
            <a:chExt cx="1209647" cy="992987"/>
          </a:xfrm>
        </p:grpSpPr>
        <p:sp>
          <p:nvSpPr>
            <p:cNvPr id="282" name="Rectangle 281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3" name="Group 282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284" name="Straight Arrow Connector 283"/>
              <p:cNvCxnSpPr>
                <a:stCxn id="285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5" name="TextBox 284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286" name="Group 285"/>
          <p:cNvGrpSpPr/>
          <p:nvPr/>
        </p:nvGrpSpPr>
        <p:grpSpPr>
          <a:xfrm>
            <a:off x="6409406" y="1968939"/>
            <a:ext cx="1209647" cy="992987"/>
            <a:chOff x="10227000" y="2386519"/>
            <a:chExt cx="1209647" cy="992987"/>
          </a:xfrm>
        </p:grpSpPr>
        <p:sp>
          <p:nvSpPr>
            <p:cNvPr id="287" name="Rectangle 286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8" name="Group 287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289" name="Straight Arrow Connector 288"/>
              <p:cNvCxnSpPr>
                <a:stCxn id="290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0" name="TextBox 289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291" name="Group 290"/>
          <p:cNvGrpSpPr/>
          <p:nvPr/>
        </p:nvGrpSpPr>
        <p:grpSpPr>
          <a:xfrm>
            <a:off x="6221214" y="2988861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92" name="Rectangle 29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TextBox 29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grpSp>
        <p:nvGrpSpPr>
          <p:cNvPr id="294" name="Group 293"/>
          <p:cNvGrpSpPr/>
          <p:nvPr/>
        </p:nvGrpSpPr>
        <p:grpSpPr>
          <a:xfrm>
            <a:off x="6768163" y="2985057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95" name="Rectangle 29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TextBox 295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300" name="Group 299"/>
          <p:cNvGrpSpPr/>
          <p:nvPr/>
        </p:nvGrpSpPr>
        <p:grpSpPr>
          <a:xfrm>
            <a:off x="7624403" y="2963845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01" name="Rectangle 30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TextBox 30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318" name="Group 317"/>
          <p:cNvGrpSpPr/>
          <p:nvPr/>
        </p:nvGrpSpPr>
        <p:grpSpPr>
          <a:xfrm>
            <a:off x="7128799" y="2215065"/>
            <a:ext cx="1362748" cy="1209475"/>
            <a:chOff x="3591216" y="2332908"/>
            <a:chExt cx="1400614" cy="1209475"/>
          </a:xfrm>
        </p:grpSpPr>
        <p:grpSp>
          <p:nvGrpSpPr>
            <p:cNvPr id="319" name="Group 318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321" name="Group 320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323" name="Group 322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325" name="Straight Connector 324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6" name="Straight Connector 325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7" name="Straight Connector 326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8" name="Straight Arrow Connector 327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24" name="Rectangle 323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22" name="Rectangle 321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0" name="Rectangle 319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0" name="Rectangle 339"/>
          <p:cNvSpPr/>
          <p:nvPr/>
        </p:nvSpPr>
        <p:spPr>
          <a:xfrm>
            <a:off x="6673276" y="2087823"/>
            <a:ext cx="667120" cy="8428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Rectangle 354"/>
          <p:cNvSpPr/>
          <p:nvPr/>
        </p:nvSpPr>
        <p:spPr>
          <a:xfrm>
            <a:off x="10301610" y="2072020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8" name="Straight Arrow Connector 407"/>
          <p:cNvCxnSpPr>
            <a:stCxn id="299" idx="1"/>
          </p:cNvCxnSpPr>
          <p:nvPr/>
        </p:nvCxnSpPr>
        <p:spPr>
          <a:xfrm flipH="1">
            <a:off x="5486632" y="3259502"/>
            <a:ext cx="314818" cy="38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3" name="Group 422"/>
          <p:cNvGrpSpPr/>
          <p:nvPr/>
        </p:nvGrpSpPr>
        <p:grpSpPr>
          <a:xfrm>
            <a:off x="8177179" y="2967650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24" name="Rectangle 42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5" name="TextBox 42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b           </a:t>
              </a:r>
            </a:p>
          </p:txBody>
        </p:sp>
      </p:grpSp>
      <p:grpSp>
        <p:nvGrpSpPr>
          <p:cNvPr id="441" name="Group 440"/>
          <p:cNvGrpSpPr/>
          <p:nvPr/>
        </p:nvGrpSpPr>
        <p:grpSpPr>
          <a:xfrm>
            <a:off x="9503320" y="2941054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42" name="Rectangle 44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3" name="TextBox 44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444" name="Group 443"/>
          <p:cNvGrpSpPr/>
          <p:nvPr/>
        </p:nvGrpSpPr>
        <p:grpSpPr>
          <a:xfrm>
            <a:off x="9860877" y="1645100"/>
            <a:ext cx="729688" cy="1299758"/>
            <a:chOff x="2491874" y="1750121"/>
            <a:chExt cx="729688" cy="1299758"/>
          </a:xfrm>
        </p:grpSpPr>
        <p:cxnSp>
          <p:nvCxnSpPr>
            <p:cNvPr id="445" name="Straight Arrow Connector 444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6" name="TextBox 445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last           </a:t>
              </a:r>
            </a:p>
          </p:txBody>
        </p:sp>
      </p:grpSp>
      <p:grpSp>
        <p:nvGrpSpPr>
          <p:cNvPr id="447" name="Group 446"/>
          <p:cNvGrpSpPr/>
          <p:nvPr/>
        </p:nvGrpSpPr>
        <p:grpSpPr>
          <a:xfrm>
            <a:off x="8724128" y="296384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448" name="Rectangle 44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9" name="TextBox 44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457" name="Group 456"/>
          <p:cNvGrpSpPr/>
          <p:nvPr/>
        </p:nvGrpSpPr>
        <p:grpSpPr>
          <a:xfrm>
            <a:off x="5677732" y="1677901"/>
            <a:ext cx="729688" cy="1299758"/>
            <a:chOff x="2491874" y="1750121"/>
            <a:chExt cx="729688" cy="1299758"/>
          </a:xfrm>
        </p:grpSpPr>
        <p:cxnSp>
          <p:nvCxnSpPr>
            <p:cNvPr id="458" name="Straight Arrow Connector 457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9" name="TextBox 458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first           </a:t>
              </a:r>
            </a:p>
          </p:txBody>
        </p:sp>
      </p:grpSp>
      <p:grpSp>
        <p:nvGrpSpPr>
          <p:cNvPr id="344" name="Group 343"/>
          <p:cNvGrpSpPr/>
          <p:nvPr/>
        </p:nvGrpSpPr>
        <p:grpSpPr>
          <a:xfrm>
            <a:off x="8648498" y="2550895"/>
            <a:ext cx="907962" cy="529915"/>
            <a:chOff x="5168646" y="2670129"/>
            <a:chExt cx="1395501" cy="529915"/>
          </a:xfrm>
        </p:grpSpPr>
        <p:grpSp>
          <p:nvGrpSpPr>
            <p:cNvPr id="345" name="Group 344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347" name="Group 346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349" name="Group 348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351" name="Straight Connector 350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2" name="Straight Connector 351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3" name="Straight Connector 352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4" name="Straight Arrow Connector 353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50" name="Rectangle 349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348" name="Rectangle 347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346" name="Rectangle 345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6" name="Group 425"/>
          <p:cNvGrpSpPr/>
          <p:nvPr/>
        </p:nvGrpSpPr>
        <p:grpSpPr>
          <a:xfrm>
            <a:off x="9195765" y="2402605"/>
            <a:ext cx="639825" cy="923494"/>
            <a:chOff x="5777829" y="2332303"/>
            <a:chExt cx="1400614" cy="1226567"/>
          </a:xfrm>
        </p:grpSpPr>
        <p:grpSp>
          <p:nvGrpSpPr>
            <p:cNvPr id="427" name="Group 426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429" name="Group 42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431" name="Group 430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433" name="Straight Connector 432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4" name="Straight Connector 433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5" name="Straight Connector 434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6" name="Straight Arrow Connector 435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32" name="Rectangle 431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30" name="Rectangle 429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28" name="Rectangle 427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2" name="Right Brace 461"/>
          <p:cNvSpPr/>
          <p:nvPr/>
        </p:nvSpPr>
        <p:spPr>
          <a:xfrm rot="5400000">
            <a:off x="8159311" y="985602"/>
            <a:ext cx="411670" cy="5573583"/>
          </a:xfrm>
          <a:prstGeom prst="rightBrace">
            <a:avLst>
              <a:gd name="adj1" fmla="val 56077"/>
              <a:gd name="adj2" fmla="val 50000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1" name="Group 410"/>
          <p:cNvGrpSpPr/>
          <p:nvPr/>
        </p:nvGrpSpPr>
        <p:grpSpPr>
          <a:xfrm>
            <a:off x="6749061" y="2608372"/>
            <a:ext cx="917376" cy="528191"/>
            <a:chOff x="2913781" y="2677739"/>
            <a:chExt cx="1395501" cy="528191"/>
          </a:xfrm>
        </p:grpSpPr>
        <p:grpSp>
          <p:nvGrpSpPr>
            <p:cNvPr id="412" name="Group 411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414" name="Group 413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416" name="Group 415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418" name="Straight Connector 417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9" name="Straight Connector 418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0" name="Straight Connector 419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1" name="Straight Arrow Connector 420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17" name="Rectangle 416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15" name="Rectangle 414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13" name="Rectangle 412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8" name="Group 437"/>
          <p:cNvGrpSpPr/>
          <p:nvPr/>
        </p:nvGrpSpPr>
        <p:grpSpPr>
          <a:xfrm>
            <a:off x="10056096" y="2944859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39" name="Rectangle 43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0" name="TextBox 43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grpSp>
        <p:nvGrpSpPr>
          <p:cNvPr id="303" name="Group 302"/>
          <p:cNvGrpSpPr/>
          <p:nvPr/>
        </p:nvGrpSpPr>
        <p:grpSpPr>
          <a:xfrm>
            <a:off x="10603045" y="2941055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304" name="Rectangle 30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cxnSp>
        <p:nvCxnSpPr>
          <p:cNvPr id="469" name="Straight Arrow Connector 468"/>
          <p:cNvCxnSpPr/>
          <p:nvPr/>
        </p:nvCxnSpPr>
        <p:spPr>
          <a:xfrm flipV="1">
            <a:off x="11038143" y="3223973"/>
            <a:ext cx="335834" cy="118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11331800" y="3033807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818088" y="3078035"/>
            <a:ext cx="1013735" cy="3668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2" name="Group 171"/>
          <p:cNvGrpSpPr/>
          <p:nvPr/>
        </p:nvGrpSpPr>
        <p:grpSpPr>
          <a:xfrm>
            <a:off x="4575715" y="2257014"/>
            <a:ext cx="1861255" cy="934355"/>
            <a:chOff x="3591216" y="2323606"/>
            <a:chExt cx="1410214" cy="1269344"/>
          </a:xfrm>
        </p:grpSpPr>
        <p:grpSp>
          <p:nvGrpSpPr>
            <p:cNvPr id="173" name="Group 172"/>
            <p:cNvGrpSpPr/>
            <p:nvPr/>
          </p:nvGrpSpPr>
          <p:grpSpPr>
            <a:xfrm>
              <a:off x="3591216" y="2323606"/>
              <a:ext cx="1410214" cy="1192995"/>
              <a:chOff x="3599762" y="2123565"/>
              <a:chExt cx="1410214" cy="1192995"/>
            </a:xfrm>
          </p:grpSpPr>
          <p:grpSp>
            <p:nvGrpSpPr>
              <p:cNvPr id="175" name="Group 174"/>
              <p:cNvGrpSpPr/>
              <p:nvPr/>
            </p:nvGrpSpPr>
            <p:grpSpPr>
              <a:xfrm>
                <a:off x="3599762" y="2132867"/>
                <a:ext cx="1410214" cy="1183693"/>
                <a:chOff x="3599762" y="2132867"/>
                <a:chExt cx="1410214" cy="1183693"/>
              </a:xfrm>
            </p:grpSpPr>
            <p:grpSp>
              <p:nvGrpSpPr>
                <p:cNvPr id="177" name="Group 176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179" name="Straight Connector 178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0" name="Straight Connector 179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1" name="Straight Connector 180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2" name="Straight Arrow Connector 181"/>
                  <p:cNvCxnSpPr/>
                  <p:nvPr/>
                </p:nvCxnSpPr>
                <p:spPr>
                  <a:xfrm>
                    <a:off x="5225805" y="2167615"/>
                    <a:ext cx="0" cy="857685"/>
                  </a:xfrm>
                  <a:prstGeom prst="straightConnector1">
                    <a:avLst/>
                  </a:prstGeom>
                  <a:ln w="5715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78" name="Rectangle 177"/>
                <p:cNvSpPr/>
                <p:nvPr/>
              </p:nvSpPr>
              <p:spPr>
                <a:xfrm>
                  <a:off x="4887216" y="2132867"/>
                  <a:ext cx="122760" cy="175934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6" name="Rectangle 175"/>
              <p:cNvSpPr/>
              <p:nvPr/>
            </p:nvSpPr>
            <p:spPr>
              <a:xfrm>
                <a:off x="3814464" y="2123565"/>
                <a:ext cx="125949" cy="1727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4" name="Rectangle 173"/>
            <p:cNvSpPr/>
            <p:nvPr/>
          </p:nvSpPr>
          <p:spPr>
            <a:xfrm>
              <a:off x="3803954" y="3429223"/>
              <a:ext cx="110254" cy="16372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7" name="Group 296"/>
          <p:cNvGrpSpPr/>
          <p:nvPr/>
        </p:nvGrpSpPr>
        <p:grpSpPr>
          <a:xfrm>
            <a:off x="5668438" y="298505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98" name="Rectangle 29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TextBox 29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188" name="Group 187"/>
          <p:cNvGrpSpPr/>
          <p:nvPr/>
        </p:nvGrpSpPr>
        <p:grpSpPr>
          <a:xfrm>
            <a:off x="4095406" y="2548770"/>
            <a:ext cx="1640147" cy="649181"/>
            <a:chOff x="5168646" y="2670129"/>
            <a:chExt cx="1395501" cy="529915"/>
          </a:xfrm>
        </p:grpSpPr>
        <p:grpSp>
          <p:nvGrpSpPr>
            <p:cNvPr id="189" name="Group 188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191" name="Group 190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193" name="Group 192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195" name="Straight Connector 194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5715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6" name="Straight Connector 195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5715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7" name="Straight Connector 196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5715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Straight Arrow Connector 197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5715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4" name="Rectangle 193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192" name="Rectangle 191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190" name="Rectangle 189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0" name="TextBox 199"/>
          <p:cNvSpPr txBox="1"/>
          <p:nvPr/>
        </p:nvSpPr>
        <p:spPr>
          <a:xfrm>
            <a:off x="5546617" y="5551723"/>
            <a:ext cx="2026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first-&gt;L = tail;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375792" y="5541707"/>
            <a:ext cx="2026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tail = last;</a:t>
            </a:r>
          </a:p>
        </p:txBody>
      </p:sp>
      <p:grpSp>
        <p:nvGrpSpPr>
          <p:cNvPr id="315" name="Group 314"/>
          <p:cNvGrpSpPr/>
          <p:nvPr/>
        </p:nvGrpSpPr>
        <p:grpSpPr>
          <a:xfrm>
            <a:off x="3721663" y="1700100"/>
            <a:ext cx="617280" cy="1299758"/>
            <a:chOff x="9315288" y="1750121"/>
            <a:chExt cx="617280" cy="1299758"/>
          </a:xfrm>
        </p:grpSpPr>
        <p:cxnSp>
          <p:nvCxnSpPr>
            <p:cNvPr id="316" name="Straight Arrow Connector 315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" name="TextBox 316"/>
            <p:cNvSpPr txBox="1"/>
            <p:nvPr/>
          </p:nvSpPr>
          <p:spPr>
            <a:xfrm>
              <a:off x="9315288" y="1750121"/>
              <a:ext cx="61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368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59259E-6 L 0.53906 -0.00625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953" y="-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86" grpId="0"/>
      <p:bldP spid="187" grpId="0" animBg="1"/>
      <p:bldP spid="200" grpId="0"/>
      <p:bldP spid="20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" name="Group 532"/>
          <p:cNvGrpSpPr/>
          <p:nvPr/>
        </p:nvGrpSpPr>
        <p:grpSpPr>
          <a:xfrm>
            <a:off x="1020418" y="1816771"/>
            <a:ext cx="729688" cy="1283143"/>
            <a:chOff x="2540338" y="1766736"/>
            <a:chExt cx="729688" cy="1283143"/>
          </a:xfrm>
        </p:grpSpPr>
        <p:cxnSp>
          <p:nvCxnSpPr>
            <p:cNvPr id="534" name="Straight Arrow Connector 533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5" name="TextBox 534"/>
            <p:cNvSpPr txBox="1"/>
            <p:nvPr/>
          </p:nvSpPr>
          <p:spPr>
            <a:xfrm>
              <a:off x="2540338" y="1766736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left           </a:t>
              </a:r>
            </a:p>
          </p:txBody>
        </p:sp>
      </p:grpSp>
      <p:grpSp>
        <p:nvGrpSpPr>
          <p:cNvPr id="536" name="Group 535"/>
          <p:cNvGrpSpPr/>
          <p:nvPr/>
        </p:nvGrpSpPr>
        <p:grpSpPr>
          <a:xfrm>
            <a:off x="10713202" y="1790030"/>
            <a:ext cx="729688" cy="1299758"/>
            <a:chOff x="2491874" y="1750121"/>
            <a:chExt cx="729688" cy="1299758"/>
          </a:xfrm>
        </p:grpSpPr>
        <p:cxnSp>
          <p:nvCxnSpPr>
            <p:cNvPr id="537" name="Straight Arrow Connector 536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8" name="TextBox 537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right           </a:t>
              </a:r>
            </a:p>
          </p:txBody>
        </p:sp>
      </p:grpSp>
      <p:grpSp>
        <p:nvGrpSpPr>
          <p:cNvPr id="539" name="Group 538"/>
          <p:cNvGrpSpPr/>
          <p:nvPr/>
        </p:nvGrpSpPr>
        <p:grpSpPr>
          <a:xfrm>
            <a:off x="3353746" y="1819664"/>
            <a:ext cx="729688" cy="1283143"/>
            <a:chOff x="2540338" y="1766736"/>
            <a:chExt cx="729688" cy="1283143"/>
          </a:xfrm>
        </p:grpSpPr>
        <p:cxnSp>
          <p:nvCxnSpPr>
            <p:cNvPr id="540" name="Straight Arrow Connector 539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1" name="TextBox 540"/>
            <p:cNvSpPr txBox="1"/>
            <p:nvPr/>
          </p:nvSpPr>
          <p:spPr>
            <a:xfrm>
              <a:off x="2540338" y="1766736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left           </a:t>
              </a:r>
            </a:p>
          </p:txBody>
        </p:sp>
      </p:grpSp>
      <p:grpSp>
        <p:nvGrpSpPr>
          <p:cNvPr id="542" name="Group 541"/>
          <p:cNvGrpSpPr/>
          <p:nvPr/>
        </p:nvGrpSpPr>
        <p:grpSpPr>
          <a:xfrm>
            <a:off x="8299163" y="1802187"/>
            <a:ext cx="729688" cy="1299758"/>
            <a:chOff x="2491874" y="1750121"/>
            <a:chExt cx="729688" cy="1299758"/>
          </a:xfrm>
        </p:grpSpPr>
        <p:cxnSp>
          <p:nvCxnSpPr>
            <p:cNvPr id="543" name="Straight Arrow Connector 542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" name="TextBox 543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right           </a:t>
              </a:r>
            </a:p>
          </p:txBody>
        </p:sp>
      </p:grpSp>
      <p:grpSp>
        <p:nvGrpSpPr>
          <p:cNvPr id="545" name="Group 544"/>
          <p:cNvGrpSpPr/>
          <p:nvPr/>
        </p:nvGrpSpPr>
        <p:grpSpPr>
          <a:xfrm>
            <a:off x="5537285" y="1797816"/>
            <a:ext cx="729688" cy="1283143"/>
            <a:chOff x="2540338" y="1766736"/>
            <a:chExt cx="729688" cy="1283143"/>
          </a:xfrm>
        </p:grpSpPr>
        <p:cxnSp>
          <p:nvCxnSpPr>
            <p:cNvPr id="546" name="Straight Arrow Connector 545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7" name="TextBox 546"/>
            <p:cNvSpPr txBox="1"/>
            <p:nvPr/>
          </p:nvSpPr>
          <p:spPr>
            <a:xfrm>
              <a:off x="2540338" y="1766736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left           </a:t>
              </a:r>
            </a:p>
          </p:txBody>
        </p:sp>
      </p:grpSp>
      <p:grpSp>
        <p:nvGrpSpPr>
          <p:cNvPr id="548" name="Group 547"/>
          <p:cNvGrpSpPr/>
          <p:nvPr/>
        </p:nvGrpSpPr>
        <p:grpSpPr>
          <a:xfrm>
            <a:off x="6165403" y="1788695"/>
            <a:ext cx="729688" cy="1299758"/>
            <a:chOff x="2491874" y="1750121"/>
            <a:chExt cx="729688" cy="1299758"/>
          </a:xfrm>
        </p:grpSpPr>
        <p:cxnSp>
          <p:nvCxnSpPr>
            <p:cNvPr id="549" name="Straight Arrow Connector 548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0" name="TextBox 549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right           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463" y="130024"/>
            <a:ext cx="12108074" cy="1450757"/>
          </a:xfrm>
        </p:spPr>
        <p:txBody>
          <a:bodyPr>
            <a:normAutofit/>
          </a:bodyPr>
          <a:lstStyle/>
          <a:p>
            <a:r>
              <a:rPr lang="en-US" sz="3600" b="1" dirty="0"/>
              <a:t>Find  Middle  Element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0C5D-56AF-468F-9301-88586394A899}" type="datetime4">
              <a:rPr lang="en-US" smtClean="0"/>
              <a:t>23 March, 2024</a:t>
            </a:fld>
            <a:endParaRPr lang="en-US"/>
          </a:p>
        </p:txBody>
      </p:sp>
      <p:sp>
        <p:nvSpPr>
          <p:cNvPr id="552" name="Rectangle 551"/>
          <p:cNvSpPr/>
          <p:nvPr/>
        </p:nvSpPr>
        <p:spPr>
          <a:xfrm>
            <a:off x="918451" y="1774768"/>
            <a:ext cx="900909" cy="13238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3" name="Rectangle 552"/>
          <p:cNvSpPr/>
          <p:nvPr/>
        </p:nvSpPr>
        <p:spPr>
          <a:xfrm>
            <a:off x="9942919" y="1825113"/>
            <a:ext cx="2009030" cy="13238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4" name="Rectangle 553"/>
          <p:cNvSpPr/>
          <p:nvPr/>
        </p:nvSpPr>
        <p:spPr>
          <a:xfrm>
            <a:off x="2923230" y="1869343"/>
            <a:ext cx="2009030" cy="13238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5" name="Rectangle 554"/>
          <p:cNvSpPr/>
          <p:nvPr/>
        </p:nvSpPr>
        <p:spPr>
          <a:xfrm>
            <a:off x="7414490" y="1858439"/>
            <a:ext cx="2009030" cy="13238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TextBox 207"/>
          <p:cNvSpPr txBox="1"/>
          <p:nvPr/>
        </p:nvSpPr>
        <p:spPr>
          <a:xfrm>
            <a:off x="11467141" y="3197085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-70339" y="3198295"/>
            <a:ext cx="858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sto MT" panose="02040603050505030304" pitchFamily="18" charset="0"/>
              </a:rPr>
              <a:t>NULL           </a:t>
            </a:r>
          </a:p>
        </p:txBody>
      </p:sp>
      <p:cxnSp>
        <p:nvCxnSpPr>
          <p:cNvPr id="210" name="Straight Arrow Connector 209"/>
          <p:cNvCxnSpPr/>
          <p:nvPr/>
        </p:nvCxnSpPr>
        <p:spPr>
          <a:xfrm flipH="1">
            <a:off x="739476" y="3375351"/>
            <a:ext cx="375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1" name="Group 220"/>
          <p:cNvGrpSpPr/>
          <p:nvPr/>
        </p:nvGrpSpPr>
        <p:grpSpPr>
          <a:xfrm>
            <a:off x="3690324" y="2141026"/>
            <a:ext cx="1209647" cy="992987"/>
            <a:chOff x="10227000" y="2386519"/>
            <a:chExt cx="1209647" cy="992987"/>
          </a:xfrm>
        </p:grpSpPr>
        <p:sp>
          <p:nvSpPr>
            <p:cNvPr id="222" name="Rectangle 221"/>
            <p:cNvSpPr/>
            <p:nvPr/>
          </p:nvSpPr>
          <p:spPr>
            <a:xfrm>
              <a:off x="10227000" y="2483963"/>
              <a:ext cx="1209647" cy="8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3" name="Group 222"/>
            <p:cNvGrpSpPr/>
            <p:nvPr/>
          </p:nvGrpSpPr>
          <p:grpSpPr>
            <a:xfrm>
              <a:off x="10463698" y="2386519"/>
              <a:ext cx="729688" cy="954908"/>
              <a:chOff x="5754153" y="4810967"/>
              <a:chExt cx="729688" cy="954908"/>
            </a:xfrm>
          </p:grpSpPr>
          <p:cxnSp>
            <p:nvCxnSpPr>
              <p:cNvPr id="224" name="Straight Arrow Connector 223"/>
              <p:cNvCxnSpPr>
                <a:stCxn id="225" idx="2"/>
              </p:cNvCxnSpPr>
              <p:nvPr/>
            </p:nvCxnSpPr>
            <p:spPr>
              <a:xfrm>
                <a:off x="6118997" y="5180299"/>
                <a:ext cx="0" cy="585576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5" name="TextBox 224"/>
              <p:cNvSpPr txBox="1"/>
              <p:nvPr/>
            </p:nvSpPr>
            <p:spPr>
              <a:xfrm>
                <a:off x="5754153" y="4810967"/>
                <a:ext cx="729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sto MT" panose="02040603050505030304" pitchFamily="18" charset="0"/>
                  </a:rPr>
                  <a:t>temp           </a:t>
                </a:r>
              </a:p>
            </p:txBody>
          </p:sp>
        </p:grpSp>
      </p:grpSp>
      <p:grpSp>
        <p:nvGrpSpPr>
          <p:cNvPr id="234" name="Group 233"/>
          <p:cNvGrpSpPr/>
          <p:nvPr/>
        </p:nvGrpSpPr>
        <p:grpSpPr>
          <a:xfrm>
            <a:off x="1534437" y="3116125"/>
            <a:ext cx="548893" cy="548893"/>
            <a:chOff x="11643107" y="2158069"/>
            <a:chExt cx="548893" cy="54889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35" name="Rectangle 23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a           </a:t>
              </a:r>
            </a:p>
          </p:txBody>
        </p:sp>
      </p:grpSp>
      <p:grpSp>
        <p:nvGrpSpPr>
          <p:cNvPr id="240" name="Group 239"/>
          <p:cNvGrpSpPr/>
          <p:nvPr/>
        </p:nvGrpSpPr>
        <p:grpSpPr>
          <a:xfrm>
            <a:off x="2081386" y="311232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41" name="Rectangle 24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243" name="Group 242"/>
          <p:cNvGrpSpPr/>
          <p:nvPr/>
        </p:nvGrpSpPr>
        <p:grpSpPr>
          <a:xfrm>
            <a:off x="981661" y="3112320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44" name="Rectangle 243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246" name="Group 245"/>
          <p:cNvGrpSpPr/>
          <p:nvPr/>
        </p:nvGrpSpPr>
        <p:grpSpPr>
          <a:xfrm>
            <a:off x="3730004" y="3112320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47" name="Rectangle 246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TextBox 247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b           </a:t>
              </a:r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4276953" y="310851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50" name="Rectangle 249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TextBox 250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252" name="Group 251"/>
          <p:cNvGrpSpPr/>
          <p:nvPr/>
        </p:nvGrpSpPr>
        <p:grpSpPr>
          <a:xfrm>
            <a:off x="3177228" y="3108515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53" name="Rectangle 252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TextBox 253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255" name="Group 254"/>
          <p:cNvGrpSpPr/>
          <p:nvPr/>
        </p:nvGrpSpPr>
        <p:grpSpPr>
          <a:xfrm>
            <a:off x="5919546" y="3108515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56" name="Rectangle 255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TextBox 25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c           </a:t>
              </a:r>
            </a:p>
          </p:txBody>
        </p:sp>
      </p:grpSp>
      <p:grpSp>
        <p:nvGrpSpPr>
          <p:cNvPr id="258" name="Group 257"/>
          <p:cNvGrpSpPr/>
          <p:nvPr/>
        </p:nvGrpSpPr>
        <p:grpSpPr>
          <a:xfrm>
            <a:off x="6466495" y="3104711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59" name="Rectangle 25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261" name="Group 260"/>
          <p:cNvGrpSpPr/>
          <p:nvPr/>
        </p:nvGrpSpPr>
        <p:grpSpPr>
          <a:xfrm>
            <a:off x="5366770" y="3104710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62" name="Rectangle 261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TextBox 262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264" name="Group 263"/>
          <p:cNvGrpSpPr/>
          <p:nvPr/>
        </p:nvGrpSpPr>
        <p:grpSpPr>
          <a:xfrm>
            <a:off x="8115113" y="3104710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65" name="Rectangle 264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TextBox 265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d           </a:t>
              </a:r>
            </a:p>
          </p:txBody>
        </p:sp>
      </p:grpSp>
      <p:grpSp>
        <p:nvGrpSpPr>
          <p:cNvPr id="267" name="Group 266"/>
          <p:cNvGrpSpPr/>
          <p:nvPr/>
        </p:nvGrpSpPr>
        <p:grpSpPr>
          <a:xfrm>
            <a:off x="8662062" y="310090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68" name="Rectangle 267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TextBox 268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270" name="Group 269"/>
          <p:cNvGrpSpPr/>
          <p:nvPr/>
        </p:nvGrpSpPr>
        <p:grpSpPr>
          <a:xfrm>
            <a:off x="7562337" y="3100905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271" name="Rectangle 270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TextBox 271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grpSp>
        <p:nvGrpSpPr>
          <p:cNvPr id="276" name="Group 275"/>
          <p:cNvGrpSpPr/>
          <p:nvPr/>
        </p:nvGrpSpPr>
        <p:grpSpPr>
          <a:xfrm>
            <a:off x="2518984" y="2383934"/>
            <a:ext cx="1400614" cy="1209475"/>
            <a:chOff x="3591216" y="2332908"/>
            <a:chExt cx="1400614" cy="1209475"/>
          </a:xfrm>
        </p:grpSpPr>
        <p:grpSp>
          <p:nvGrpSpPr>
            <p:cNvPr id="277" name="Group 276"/>
            <p:cNvGrpSpPr/>
            <p:nvPr/>
          </p:nvGrpSpPr>
          <p:grpSpPr>
            <a:xfrm>
              <a:off x="3591216" y="2332908"/>
              <a:ext cx="1400614" cy="1183693"/>
              <a:chOff x="3599762" y="2132867"/>
              <a:chExt cx="1400614" cy="1183693"/>
            </a:xfrm>
          </p:grpSpPr>
          <p:grpSp>
            <p:nvGrpSpPr>
              <p:cNvPr id="279" name="Group 278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281" name="Group 280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330" name="Straight Connector 329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1" name="Straight Connector 330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2" name="Straight Connector 331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3" name="Straight Arrow Connector 332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29" name="Rectangle 328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80" name="Rectangle 279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8" name="Rectangle 277"/>
            <p:cNvSpPr/>
            <p:nvPr/>
          </p:nvSpPr>
          <p:spPr>
            <a:xfrm>
              <a:off x="3803954" y="3429223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4" name="Group 333"/>
          <p:cNvGrpSpPr/>
          <p:nvPr/>
        </p:nvGrpSpPr>
        <p:grpSpPr>
          <a:xfrm>
            <a:off x="6904093" y="2376324"/>
            <a:ext cx="1400614" cy="1220856"/>
            <a:chOff x="7976325" y="2325298"/>
            <a:chExt cx="1400614" cy="1220856"/>
          </a:xfrm>
        </p:grpSpPr>
        <p:grpSp>
          <p:nvGrpSpPr>
            <p:cNvPr id="335" name="Group 334"/>
            <p:cNvGrpSpPr/>
            <p:nvPr/>
          </p:nvGrpSpPr>
          <p:grpSpPr>
            <a:xfrm>
              <a:off x="7976325" y="2325298"/>
              <a:ext cx="1400614" cy="1183693"/>
              <a:chOff x="3599762" y="2132867"/>
              <a:chExt cx="1400614" cy="1183693"/>
            </a:xfrm>
          </p:grpSpPr>
          <p:grpSp>
            <p:nvGrpSpPr>
              <p:cNvPr id="337" name="Group 336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339" name="Group 338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342" name="Straight Connector 341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3" name="Straight Connector 342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6" name="Straight Connector 355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7" name="Straight Arrow Connector 356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41" name="Rectangle 340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38" name="Rectangle 337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6" name="Rectangle 335"/>
            <p:cNvSpPr/>
            <p:nvPr/>
          </p:nvSpPr>
          <p:spPr>
            <a:xfrm>
              <a:off x="8194911" y="3432994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8" name="Group 357"/>
          <p:cNvGrpSpPr/>
          <p:nvPr/>
        </p:nvGrpSpPr>
        <p:grpSpPr>
          <a:xfrm>
            <a:off x="4705597" y="2383329"/>
            <a:ext cx="1400614" cy="1226567"/>
            <a:chOff x="5777829" y="2332303"/>
            <a:chExt cx="1400614" cy="1226567"/>
          </a:xfrm>
        </p:grpSpPr>
        <p:grpSp>
          <p:nvGrpSpPr>
            <p:cNvPr id="359" name="Group 358"/>
            <p:cNvGrpSpPr/>
            <p:nvPr/>
          </p:nvGrpSpPr>
          <p:grpSpPr>
            <a:xfrm>
              <a:off x="5777829" y="2332303"/>
              <a:ext cx="1400614" cy="1183693"/>
              <a:chOff x="3599762" y="2132867"/>
              <a:chExt cx="1400614" cy="1183693"/>
            </a:xfrm>
          </p:grpSpPr>
          <p:grpSp>
            <p:nvGrpSpPr>
              <p:cNvPr id="361" name="Group 360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363" name="Group 362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365" name="Straight Connector 364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6" name="Straight Connector 365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8" name="Straight Connector 367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9" name="Straight Arrow Connector 368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64" name="Rectangle 363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62" name="Rectangle 361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60" name="Rectangle 359"/>
            <p:cNvSpPr/>
            <p:nvPr/>
          </p:nvSpPr>
          <p:spPr>
            <a:xfrm>
              <a:off x="5990886" y="3445710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0" name="Group 409"/>
          <p:cNvGrpSpPr/>
          <p:nvPr/>
        </p:nvGrpSpPr>
        <p:grpSpPr>
          <a:xfrm>
            <a:off x="1841549" y="2728765"/>
            <a:ext cx="1395501" cy="528191"/>
            <a:chOff x="2913781" y="2677739"/>
            <a:chExt cx="1395501" cy="528191"/>
          </a:xfrm>
        </p:grpSpPr>
        <p:grpSp>
          <p:nvGrpSpPr>
            <p:cNvPr id="422" name="Group 421"/>
            <p:cNvGrpSpPr/>
            <p:nvPr/>
          </p:nvGrpSpPr>
          <p:grpSpPr>
            <a:xfrm>
              <a:off x="2913781" y="2677739"/>
              <a:ext cx="1395501" cy="477140"/>
              <a:chOff x="2922327" y="2477698"/>
              <a:chExt cx="1395501" cy="477140"/>
            </a:xfrm>
          </p:grpSpPr>
          <p:grpSp>
            <p:nvGrpSpPr>
              <p:cNvPr id="452" name="Group 451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</p:grpSpPr>
            <p:grpSp>
              <p:nvGrpSpPr>
                <p:cNvPr id="460" name="Group 459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</p:grpSpPr>
              <p:cxnSp>
                <p:nvCxnSpPr>
                  <p:cNvPr id="466" name="Straight Connector 465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7" name="Straight Connector 466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8" name="Straight Connector 467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0" name="Straight Arrow Connector 469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61" name="Rectangle 460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56" name="Rectangle 455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7" name="Rectangle 436"/>
            <p:cNvSpPr/>
            <p:nvPr/>
          </p:nvSpPr>
          <p:spPr>
            <a:xfrm>
              <a:off x="4049483" y="3092770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1" name="Rectangle 470"/>
          <p:cNvSpPr/>
          <p:nvPr/>
        </p:nvSpPr>
        <p:spPr>
          <a:xfrm>
            <a:off x="3986878" y="2236643"/>
            <a:ext cx="572569" cy="857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2" name="Group 471"/>
          <p:cNvGrpSpPr/>
          <p:nvPr/>
        </p:nvGrpSpPr>
        <p:grpSpPr>
          <a:xfrm>
            <a:off x="4096414" y="2721155"/>
            <a:ext cx="1395501" cy="529915"/>
            <a:chOff x="5168646" y="2670129"/>
            <a:chExt cx="1395501" cy="529915"/>
          </a:xfrm>
        </p:grpSpPr>
        <p:grpSp>
          <p:nvGrpSpPr>
            <p:cNvPr id="473" name="Group 472"/>
            <p:cNvGrpSpPr/>
            <p:nvPr/>
          </p:nvGrpSpPr>
          <p:grpSpPr>
            <a:xfrm>
              <a:off x="5168646" y="2670129"/>
              <a:ext cx="1395501" cy="477140"/>
              <a:chOff x="2922327" y="2477698"/>
              <a:chExt cx="1395501" cy="477140"/>
            </a:xfrm>
            <a:solidFill>
              <a:srgbClr val="7030A0"/>
            </a:solidFill>
          </p:grpSpPr>
          <p:grpSp>
            <p:nvGrpSpPr>
              <p:cNvPr id="475" name="Group 474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477" name="Group 476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479" name="Straight Connector 478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0" name="Straight Connector 479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1" name="Straight Connector 480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2" name="Straight Arrow Connector 481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78" name="Rectangle 477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476" name="Rectangle 475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474" name="Rectangle 473"/>
            <p:cNvSpPr/>
            <p:nvPr/>
          </p:nvSpPr>
          <p:spPr>
            <a:xfrm>
              <a:off x="6296808" y="3086884"/>
              <a:ext cx="113160" cy="1131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4" name="Group 483"/>
          <p:cNvGrpSpPr/>
          <p:nvPr/>
        </p:nvGrpSpPr>
        <p:grpSpPr>
          <a:xfrm>
            <a:off x="6226658" y="2721155"/>
            <a:ext cx="1395501" cy="533259"/>
            <a:chOff x="7298890" y="2670129"/>
            <a:chExt cx="1395501" cy="533259"/>
          </a:xfrm>
          <a:solidFill>
            <a:srgbClr val="7030A0"/>
          </a:solidFill>
        </p:grpSpPr>
        <p:grpSp>
          <p:nvGrpSpPr>
            <p:cNvPr id="485" name="Group 484"/>
            <p:cNvGrpSpPr/>
            <p:nvPr/>
          </p:nvGrpSpPr>
          <p:grpSpPr>
            <a:xfrm>
              <a:off x="7298890" y="2670129"/>
              <a:ext cx="1395501" cy="477140"/>
              <a:chOff x="2922327" y="2477698"/>
              <a:chExt cx="1395501" cy="477140"/>
            </a:xfrm>
            <a:grpFill/>
          </p:grpSpPr>
          <p:grpSp>
            <p:nvGrpSpPr>
              <p:cNvPr id="487" name="Group 486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489" name="Group 488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491" name="Straight Connector 490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2" name="Straight Connector 491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3" name="Straight Connector 492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4" name="Straight Arrow Connector 493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90" name="Rectangle 489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488" name="Rectangle 487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486" name="Rectangle 485"/>
            <p:cNvSpPr/>
            <p:nvPr/>
          </p:nvSpPr>
          <p:spPr>
            <a:xfrm>
              <a:off x="8423999" y="3090228"/>
              <a:ext cx="113160" cy="113160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7030A0"/>
                  </a:solidFill>
                </a:ln>
              </a:endParaRPr>
            </a:p>
          </p:txBody>
        </p:sp>
      </p:grpSp>
      <p:grpSp>
        <p:nvGrpSpPr>
          <p:cNvPr id="502" name="Group 501"/>
          <p:cNvGrpSpPr/>
          <p:nvPr/>
        </p:nvGrpSpPr>
        <p:grpSpPr>
          <a:xfrm>
            <a:off x="10201428" y="3107910"/>
            <a:ext cx="548893" cy="548893"/>
            <a:chOff x="11643107" y="2158069"/>
            <a:chExt cx="548893" cy="54889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503" name="Rectangle 502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4" name="TextBox 503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d           </a:t>
              </a:r>
            </a:p>
          </p:txBody>
        </p:sp>
      </p:grpSp>
      <p:grpSp>
        <p:nvGrpSpPr>
          <p:cNvPr id="505" name="Group 504"/>
          <p:cNvGrpSpPr/>
          <p:nvPr/>
        </p:nvGrpSpPr>
        <p:grpSpPr>
          <a:xfrm>
            <a:off x="10748377" y="3104106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506" name="Rectangle 505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7" name="TextBox 506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R           </a:t>
              </a:r>
            </a:p>
          </p:txBody>
        </p:sp>
      </p:grpSp>
      <p:grpSp>
        <p:nvGrpSpPr>
          <p:cNvPr id="508" name="Group 507"/>
          <p:cNvGrpSpPr/>
          <p:nvPr/>
        </p:nvGrpSpPr>
        <p:grpSpPr>
          <a:xfrm>
            <a:off x="9648652" y="3104105"/>
            <a:ext cx="548893" cy="548893"/>
            <a:chOff x="11643107" y="2158069"/>
            <a:chExt cx="548893" cy="548893"/>
          </a:xfrm>
          <a:solidFill>
            <a:schemeClr val="tx1"/>
          </a:solidFill>
        </p:grpSpPr>
        <p:sp>
          <p:nvSpPr>
            <p:cNvPr id="509" name="Rectangle 508"/>
            <p:cNvSpPr/>
            <p:nvPr/>
          </p:nvSpPr>
          <p:spPr>
            <a:xfrm>
              <a:off x="11643107" y="2158069"/>
              <a:ext cx="548893" cy="54889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0" name="TextBox 509"/>
            <p:cNvSpPr txBox="1"/>
            <p:nvPr/>
          </p:nvSpPr>
          <p:spPr>
            <a:xfrm>
              <a:off x="11776119" y="2247849"/>
              <a:ext cx="234075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sto MT" panose="02040603050505030304" pitchFamily="18" charset="0"/>
                </a:rPr>
                <a:t>L           </a:t>
              </a:r>
            </a:p>
          </p:txBody>
        </p:sp>
      </p:grpSp>
      <p:cxnSp>
        <p:nvCxnSpPr>
          <p:cNvPr id="496" name="Straight Arrow Connector 495"/>
          <p:cNvCxnSpPr/>
          <p:nvPr/>
        </p:nvCxnSpPr>
        <p:spPr>
          <a:xfrm flipV="1">
            <a:off x="11182191" y="3375349"/>
            <a:ext cx="339235" cy="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1" name="Group 510"/>
          <p:cNvGrpSpPr/>
          <p:nvPr/>
        </p:nvGrpSpPr>
        <p:grpSpPr>
          <a:xfrm>
            <a:off x="9033999" y="2404020"/>
            <a:ext cx="1400614" cy="1220856"/>
            <a:chOff x="7976325" y="2325298"/>
            <a:chExt cx="1400614" cy="1220856"/>
          </a:xfrm>
        </p:grpSpPr>
        <p:grpSp>
          <p:nvGrpSpPr>
            <p:cNvPr id="512" name="Group 511"/>
            <p:cNvGrpSpPr/>
            <p:nvPr/>
          </p:nvGrpSpPr>
          <p:grpSpPr>
            <a:xfrm>
              <a:off x="7976325" y="2325298"/>
              <a:ext cx="1400614" cy="1183693"/>
              <a:chOff x="3599762" y="2132867"/>
              <a:chExt cx="1400614" cy="1183693"/>
            </a:xfrm>
          </p:grpSpPr>
          <p:grpSp>
            <p:nvGrpSpPr>
              <p:cNvPr id="514" name="Group 513"/>
              <p:cNvGrpSpPr/>
              <p:nvPr/>
            </p:nvGrpSpPr>
            <p:grpSpPr>
              <a:xfrm>
                <a:off x="3599762" y="2132867"/>
                <a:ext cx="1400614" cy="1183693"/>
                <a:chOff x="3599762" y="2132867"/>
                <a:chExt cx="1400614" cy="1183693"/>
              </a:xfrm>
            </p:grpSpPr>
            <p:grpSp>
              <p:nvGrpSpPr>
                <p:cNvPr id="516" name="Group 515"/>
                <p:cNvGrpSpPr/>
                <p:nvPr/>
              </p:nvGrpSpPr>
              <p:grpSpPr>
                <a:xfrm>
                  <a:off x="3599762" y="2193252"/>
                  <a:ext cx="1344032" cy="1123308"/>
                  <a:chOff x="3881773" y="2167615"/>
                  <a:chExt cx="1344032" cy="1123308"/>
                </a:xfrm>
              </p:grpSpPr>
              <p:cxnSp>
                <p:nvCxnSpPr>
                  <p:cNvPr id="518" name="Straight Connector 517"/>
                  <p:cNvCxnSpPr/>
                  <p:nvPr/>
                </p:nvCxnSpPr>
                <p:spPr>
                  <a:xfrm>
                    <a:off x="3881773" y="3290318"/>
                    <a:ext cx="271283" cy="605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9" name="Straight Connector 518"/>
                  <p:cNvCxnSpPr/>
                  <p:nvPr/>
                </p:nvCxnSpPr>
                <p:spPr>
                  <a:xfrm flipV="1">
                    <a:off x="4153056" y="2167615"/>
                    <a:ext cx="0" cy="1122703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0" name="Straight Connector 519"/>
                  <p:cNvCxnSpPr/>
                  <p:nvPr/>
                </p:nvCxnSpPr>
                <p:spPr>
                  <a:xfrm>
                    <a:off x="4153056" y="2167615"/>
                    <a:ext cx="1072749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1" name="Straight Arrow Connector 520"/>
                  <p:cNvCxnSpPr/>
                  <p:nvPr/>
                </p:nvCxnSpPr>
                <p:spPr>
                  <a:xfrm>
                    <a:off x="5225805" y="2167615"/>
                    <a:ext cx="0" cy="664196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17" name="Rectangle 516"/>
                <p:cNvSpPr/>
                <p:nvPr/>
              </p:nvSpPr>
              <p:spPr>
                <a:xfrm>
                  <a:off x="4887216" y="2132867"/>
                  <a:ext cx="113160" cy="11316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15" name="Rectangle 514"/>
              <p:cNvSpPr/>
              <p:nvPr/>
            </p:nvSpPr>
            <p:spPr>
              <a:xfrm>
                <a:off x="3814464" y="2136067"/>
                <a:ext cx="113160" cy="11316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3" name="Rectangle 512"/>
            <p:cNvSpPr/>
            <p:nvPr/>
          </p:nvSpPr>
          <p:spPr>
            <a:xfrm>
              <a:off x="8194911" y="3432994"/>
              <a:ext cx="113160" cy="113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2" name="Group 521"/>
          <p:cNvGrpSpPr/>
          <p:nvPr/>
        </p:nvGrpSpPr>
        <p:grpSpPr>
          <a:xfrm>
            <a:off x="8351054" y="2734080"/>
            <a:ext cx="1395501" cy="533259"/>
            <a:chOff x="7298890" y="2670129"/>
            <a:chExt cx="1395501" cy="533259"/>
          </a:xfrm>
          <a:solidFill>
            <a:srgbClr val="7030A0"/>
          </a:solidFill>
        </p:grpSpPr>
        <p:grpSp>
          <p:nvGrpSpPr>
            <p:cNvPr id="523" name="Group 522"/>
            <p:cNvGrpSpPr/>
            <p:nvPr/>
          </p:nvGrpSpPr>
          <p:grpSpPr>
            <a:xfrm>
              <a:off x="7298890" y="2670129"/>
              <a:ext cx="1395501" cy="477140"/>
              <a:chOff x="2922327" y="2477698"/>
              <a:chExt cx="1395501" cy="477140"/>
            </a:xfrm>
            <a:grpFill/>
          </p:grpSpPr>
          <p:grpSp>
            <p:nvGrpSpPr>
              <p:cNvPr id="525" name="Group 524"/>
              <p:cNvGrpSpPr/>
              <p:nvPr/>
            </p:nvGrpSpPr>
            <p:grpSpPr>
              <a:xfrm>
                <a:off x="2982302" y="2477698"/>
                <a:ext cx="1335526" cy="477140"/>
                <a:chOff x="2982302" y="2477698"/>
                <a:chExt cx="1335526" cy="477140"/>
              </a:xfrm>
              <a:grpFill/>
            </p:grpSpPr>
            <p:grpSp>
              <p:nvGrpSpPr>
                <p:cNvPr id="527" name="Group 526"/>
                <p:cNvGrpSpPr/>
                <p:nvPr/>
              </p:nvGrpSpPr>
              <p:grpSpPr>
                <a:xfrm>
                  <a:off x="2982302" y="2525350"/>
                  <a:ext cx="1335526" cy="429488"/>
                  <a:chOff x="3264313" y="2499713"/>
                  <a:chExt cx="1335526" cy="429488"/>
                </a:xfrm>
                <a:grpFill/>
              </p:grpSpPr>
              <p:cxnSp>
                <p:nvCxnSpPr>
                  <p:cNvPr id="529" name="Straight Connector 528"/>
                  <p:cNvCxnSpPr/>
                  <p:nvPr/>
                </p:nvCxnSpPr>
                <p:spPr>
                  <a:xfrm flipH="1">
                    <a:off x="4375448" y="2929201"/>
                    <a:ext cx="224391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0" name="Straight Connector 529"/>
                  <p:cNvCxnSpPr/>
                  <p:nvPr/>
                </p:nvCxnSpPr>
                <p:spPr>
                  <a:xfrm flipV="1">
                    <a:off x="4383993" y="2499713"/>
                    <a:ext cx="0" cy="421878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1" name="Straight Connector 530"/>
                  <p:cNvCxnSpPr/>
                  <p:nvPr/>
                </p:nvCxnSpPr>
                <p:spPr>
                  <a:xfrm flipH="1">
                    <a:off x="3264313" y="2499713"/>
                    <a:ext cx="1111135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2" name="Straight Arrow Connector 531"/>
                  <p:cNvCxnSpPr/>
                  <p:nvPr/>
                </p:nvCxnSpPr>
                <p:spPr>
                  <a:xfrm>
                    <a:off x="3264313" y="2499713"/>
                    <a:ext cx="0" cy="332098"/>
                  </a:xfrm>
                  <a:prstGeom prst="straightConnector1">
                    <a:avLst/>
                  </a:prstGeom>
                  <a:grpFill/>
                  <a:ln w="38100"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28" name="Rectangle 527"/>
                <p:cNvSpPr/>
                <p:nvPr/>
              </p:nvSpPr>
              <p:spPr>
                <a:xfrm>
                  <a:off x="4043914" y="2477698"/>
                  <a:ext cx="113160" cy="113160"/>
                </a:xfrm>
                <a:prstGeom prst="rect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rgbClr val="7030A0"/>
                      </a:solidFill>
                    </a:ln>
                  </a:endParaRPr>
                </a:p>
              </p:txBody>
            </p:sp>
          </p:grpSp>
          <p:sp>
            <p:nvSpPr>
              <p:cNvPr id="526" name="Rectangle 525"/>
              <p:cNvSpPr/>
              <p:nvPr/>
            </p:nvSpPr>
            <p:spPr>
              <a:xfrm>
                <a:off x="2922327" y="2477698"/>
                <a:ext cx="113160" cy="113160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rgbClr val="7030A0"/>
                    </a:solidFill>
                  </a:ln>
                </a:endParaRPr>
              </a:p>
            </p:txBody>
          </p:sp>
        </p:grpSp>
        <p:sp>
          <p:nvSpPr>
            <p:cNvPr id="524" name="Rectangle 523"/>
            <p:cNvSpPr/>
            <p:nvPr/>
          </p:nvSpPr>
          <p:spPr>
            <a:xfrm>
              <a:off x="8423999" y="3090228"/>
              <a:ext cx="113160" cy="113160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7030A0"/>
                  </a:solidFill>
                </a:ln>
              </a:endParaRPr>
            </a:p>
          </p:txBody>
        </p:sp>
      </p:grpSp>
      <p:grpSp>
        <p:nvGrpSpPr>
          <p:cNvPr id="273" name="Group 272"/>
          <p:cNvGrpSpPr/>
          <p:nvPr/>
        </p:nvGrpSpPr>
        <p:grpSpPr>
          <a:xfrm>
            <a:off x="10318692" y="1776032"/>
            <a:ext cx="617280" cy="1299758"/>
            <a:chOff x="9315288" y="1750121"/>
            <a:chExt cx="617280" cy="1299758"/>
          </a:xfrm>
        </p:grpSpPr>
        <p:cxnSp>
          <p:nvCxnSpPr>
            <p:cNvPr id="274" name="Straight Arrow Connector 273"/>
            <p:cNvCxnSpPr/>
            <p:nvPr/>
          </p:nvCxnSpPr>
          <p:spPr>
            <a:xfrm flipH="1">
              <a:off x="9555112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5" name="TextBox 274"/>
            <p:cNvSpPr txBox="1"/>
            <p:nvPr/>
          </p:nvSpPr>
          <p:spPr>
            <a:xfrm>
              <a:off x="9315288" y="1750121"/>
              <a:ext cx="61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tail           </a:t>
              </a:r>
            </a:p>
          </p:txBody>
        </p:sp>
      </p:grpSp>
      <p:grpSp>
        <p:nvGrpSpPr>
          <p:cNvPr id="371" name="Group 370"/>
          <p:cNvGrpSpPr/>
          <p:nvPr/>
        </p:nvGrpSpPr>
        <p:grpSpPr>
          <a:xfrm>
            <a:off x="1419568" y="1776032"/>
            <a:ext cx="729688" cy="1299758"/>
            <a:chOff x="2491874" y="1750121"/>
            <a:chExt cx="729688" cy="1299758"/>
          </a:xfrm>
        </p:grpSpPr>
        <p:cxnSp>
          <p:nvCxnSpPr>
            <p:cNvPr id="372" name="Straight Arrow Connector 371"/>
            <p:cNvCxnSpPr/>
            <p:nvPr/>
          </p:nvCxnSpPr>
          <p:spPr>
            <a:xfrm flipH="1">
              <a:off x="2796960" y="2076625"/>
              <a:ext cx="3928" cy="97325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" name="TextBox 408"/>
            <p:cNvSpPr txBox="1"/>
            <p:nvPr/>
          </p:nvSpPr>
          <p:spPr>
            <a:xfrm>
              <a:off x="2491874" y="1750121"/>
              <a:ext cx="729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head       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194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" grpId="0" animBg="1"/>
      <p:bldP spid="553" grpId="0" animBg="1"/>
      <p:bldP spid="554" grpId="0" animBg="1"/>
      <p:bldP spid="55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CCC7-E697-4F97-AA2C-4941AA788381}" type="datetime4">
              <a:rPr lang="en-US" smtClean="0"/>
              <a:t>23 March, 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B40B-4036-4F81-8802-F73264B7193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1825"/>
      </p:ext>
    </p:extLst>
  </p:cSld>
  <p:clrMapOvr>
    <a:masterClrMapping/>
  </p:clrMapOvr>
</p:sld>
</file>

<file path=ppt/theme/theme1.xml><?xml version="1.0" encoding="utf-8"?>
<a:theme xmlns:a="http://schemas.openxmlformats.org/drawingml/2006/main" name="Swapnil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apnil" id="{5D784A22-E3FE-414C-A0F8-91ADBFB46EC2}" vid="{872D0E90-6D7F-4EF3-AD0B-6E7EBD1D98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Swapnil</Template>
  <TotalTime>5102</TotalTime>
  <Words>2444</Words>
  <Application>Microsoft Office PowerPoint</Application>
  <PresentationFormat>Widescreen</PresentationFormat>
  <Paragraphs>999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Calisto MT</vt:lpstr>
      <vt:lpstr>Georgia</vt:lpstr>
      <vt:lpstr>Times New Roman</vt:lpstr>
      <vt:lpstr>Wingdings</vt:lpstr>
      <vt:lpstr>Swapnil</vt:lpstr>
      <vt:lpstr>Doubly Linked List</vt:lpstr>
      <vt:lpstr> Structure of DLL</vt:lpstr>
      <vt:lpstr>PowerPoint Presentation</vt:lpstr>
      <vt:lpstr>Operations of DLL</vt:lpstr>
      <vt:lpstr>Find an Element (First Occurrence)</vt:lpstr>
      <vt:lpstr>Find an Element (First Occurrence)</vt:lpstr>
      <vt:lpstr>Delete Interior Element(First Occurrence)</vt:lpstr>
      <vt:lpstr>Delete Interior Element(By Ref)</vt:lpstr>
      <vt:lpstr>INSERT  IN  EMPTY  LIST</vt:lpstr>
      <vt:lpstr>Insert at First</vt:lpstr>
      <vt:lpstr>Insert at Last</vt:lpstr>
      <vt:lpstr>Insert at Last</vt:lpstr>
      <vt:lpstr>Insert After/Interior</vt:lpstr>
      <vt:lpstr>Insert After/Interior (By Ref)</vt:lpstr>
      <vt:lpstr>LAB  PRACTICE</vt:lpstr>
      <vt:lpstr>Insert at First</vt:lpstr>
      <vt:lpstr>Insert at Last</vt:lpstr>
      <vt:lpstr>Insert After First Occurrence</vt:lpstr>
      <vt:lpstr>Insert After First Occurrence</vt:lpstr>
      <vt:lpstr>Insert After Last Occurrence</vt:lpstr>
      <vt:lpstr>Delete  From  First</vt:lpstr>
      <vt:lpstr>Delete From Last</vt:lpstr>
      <vt:lpstr>Delete First Occurrence</vt:lpstr>
      <vt:lpstr>Delete  Last  Occurrence</vt:lpstr>
      <vt:lpstr>Length</vt:lpstr>
      <vt:lpstr>Length</vt:lpstr>
      <vt:lpstr>Length</vt:lpstr>
      <vt:lpstr>Find  k-th  Node</vt:lpstr>
      <vt:lpstr>Cut Paste</vt:lpstr>
      <vt:lpstr>Cut Paste</vt:lpstr>
      <vt:lpstr>Cut Paste</vt:lpstr>
      <vt:lpstr>Cut Paste</vt:lpstr>
      <vt:lpstr>Cut Paste</vt:lpstr>
      <vt:lpstr>Cut Paste</vt:lpstr>
      <vt:lpstr>Cut Paste</vt:lpstr>
      <vt:lpstr>Find  Middle  Element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 List</dc:title>
  <dc:creator>ACER</dc:creator>
  <cp:lastModifiedBy>Ehasan Mahmud</cp:lastModifiedBy>
  <cp:revision>633</cp:revision>
  <dcterms:created xsi:type="dcterms:W3CDTF">2020-04-01T09:54:48Z</dcterms:created>
  <dcterms:modified xsi:type="dcterms:W3CDTF">2024-03-23T10:11:33Z</dcterms:modified>
</cp:coreProperties>
</file>