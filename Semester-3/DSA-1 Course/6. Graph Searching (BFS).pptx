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27"/>
  </p:notesMasterIdLst>
  <p:sldIdLst>
    <p:sldId id="256" r:id="rId2"/>
    <p:sldId id="261" r:id="rId3"/>
    <p:sldId id="280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79" r:id="rId17"/>
    <p:sldId id="257" r:id="rId18"/>
    <p:sldId id="258" r:id="rId19"/>
    <p:sldId id="259" r:id="rId20"/>
    <p:sldId id="260" r:id="rId21"/>
    <p:sldId id="262" r:id="rId22"/>
    <p:sldId id="263" r:id="rId23"/>
    <p:sldId id="265" r:id="rId24"/>
    <p:sldId id="264" r:id="rId25"/>
    <p:sldId id="266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8" d="100"/>
          <a:sy n="98" d="100"/>
        </p:scale>
        <p:origin x="11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7D4233-533A-43CA-BF6B-BD4562E8E7AA}" type="datetimeFigureOut">
              <a:rPr lang="en-US" smtClean="0"/>
              <a:t>30-Sep-24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08B3F-B946-4EF1-937A-55BDC37AE6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2860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2754183"/>
            <a:ext cx="10058400" cy="1056979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48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Georgia" panose="02040502050405020303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DB6CD356-0478-4303-A40E-DA3991FFCF19}" type="datetime1">
              <a:rPr lang="en-US" smtClean="0"/>
              <a:t>30-Sep-24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20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SWAPNIL BISWAS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83A7CAF5-550C-4560-8A67-900A224557D8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188720" y="4199467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405467" y="4673600"/>
            <a:ext cx="22573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Georgia" panose="02040502050405020303" pitchFamily="18" charset="0"/>
              </a:rPr>
              <a:t>PREPARED  BY</a:t>
            </a:r>
          </a:p>
          <a:p>
            <a:r>
              <a:rPr lang="en-US" sz="1600" b="1" dirty="0">
                <a:latin typeface="Georgia" panose="02040502050405020303" pitchFamily="18" charset="0"/>
              </a:rPr>
              <a:t>SWAPNIL  BISWAS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4A999DA-AE45-FD10-1EFF-DD56533FD26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9978" y="1329351"/>
            <a:ext cx="1388897" cy="1310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078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5EE2C-D808-4FDB-ADE2-97A6FF283FC8}" type="datetime1">
              <a:rPr lang="en-US" smtClean="0"/>
              <a:t>30-Sep-24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SWAPNIL BISWAS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7CAF5-550C-4560-8A67-900A224557D8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logo with a person's face and text&#10;&#10;Description automatically generated">
            <a:extLst>
              <a:ext uri="{FF2B5EF4-FFF2-40B4-BE49-F238E27FC236}">
                <a16:creationId xmlns:a16="http://schemas.microsoft.com/office/drawing/2014/main" id="{A6352D3F-8123-140E-C919-9CF65209E12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3247" y="316758"/>
            <a:ext cx="1259869" cy="1188476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2291655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hankyo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3060852"/>
            <a:ext cx="10058400" cy="891726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48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1215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1800" cap="all" spc="200" baseline="0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FA1B2-A290-47F8-A877-51FB7BE753DE}" type="datetime1">
              <a:rPr lang="en-US" smtClean="0"/>
              <a:t>30-Sep-24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SWAPNIL BISWAS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7CAF5-550C-4560-8A67-900A224557D8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188720" y="4182533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5F220BC8-62B0-2DC7-6B68-A6DB3DBBD2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9978" y="1329351"/>
            <a:ext cx="1388897" cy="1310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5437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302E4-24B6-4521-866F-44FD5AEE2597}" type="datetime1">
              <a:rPr lang="en-US" smtClean="0"/>
              <a:t>30-Sep-24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SWAPNIL BISWAS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7CAF5-550C-4560-8A67-900A224557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8812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905DE-B44C-4181-963D-B890ED59307C}" type="datetime1">
              <a:rPr lang="en-US" smtClean="0"/>
              <a:t>30-Sep-24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SWAPNIL BISWAS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7CAF5-550C-4560-8A67-900A224557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304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12078-DB7E-4552-918D-0ADF82DCF7D3}" type="datetime1">
              <a:rPr lang="en-US" smtClean="0"/>
              <a:t>30-Sep-24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SWAPNIL BISWAS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7CAF5-550C-4560-8A67-900A224557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16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96FDF-9AC5-4604-810F-571EC2989994}" type="datetime1">
              <a:rPr lang="en-US" smtClean="0"/>
              <a:t>30-Sep-24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SWAPNIL BISWAS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7CAF5-550C-4560-8A67-900A224557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6103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D98A9FE1-9792-4234-A308-18DF5869D0D4}" type="datetime1">
              <a:rPr lang="en-US" smtClean="0"/>
              <a:t>30-Sep-24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SWAPNIL BISWAS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3A7CAF5-550C-4560-8A67-900A224557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8117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70D6F-D95A-49B3-B9EE-C341D29D158A}" type="datetime1">
              <a:rPr lang="en-US" smtClean="0"/>
              <a:t>30-Sep-24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SWAPNIL BISWAS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7CAF5-550C-4560-8A67-900A224557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0392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4AA8F-828C-49BC-AED4-471E0C147585}" type="datetime1">
              <a:rPr lang="en-US" smtClean="0"/>
              <a:t>30-Sep-24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SWAPNIL BISWAS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7CAF5-550C-4560-8A67-900A224557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2829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B08B5-6D41-4779-A14C-E79B16B5C6A4}" type="datetime1">
              <a:rPr lang="en-US" smtClean="0"/>
              <a:t>30-Sep-24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SWAPNIL BISWAS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7CAF5-550C-4560-8A67-900A224557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0963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ACF76-FF34-47C7-B4E0-E844E2043509}" type="datetime1">
              <a:rPr lang="en-US" smtClean="0"/>
              <a:t>30-Sep-24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SWAPNIL BISWAS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7CAF5-550C-4560-8A67-900A224557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072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54477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EF3CC9CC-B73A-446B-98B1-E928ED8C5D7D}" type="datetime1">
              <a:rPr lang="en-US" smtClean="0"/>
              <a:t>30-Sep-24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cap="all" baseline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SWAPNIL BISWAS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83A7CAF5-550C-4560-8A67-900A224557D8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Content Placeholder 3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4392" y="407469"/>
            <a:ext cx="1117546" cy="1039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563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Georgia" panose="02040502050405020303" pitchFamily="18" charset="0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800" kern="1200">
          <a:solidFill>
            <a:schemeClr val="tx1">
              <a:lumMod val="75000"/>
              <a:lumOff val="25000"/>
            </a:schemeClr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BREADTH  FIRST  SEARCH</a:t>
            </a:r>
          </a:p>
        </p:txBody>
      </p:sp>
    </p:spTree>
    <p:extLst>
      <p:ext uri="{BB962C8B-B14F-4D97-AF65-F5344CB8AC3E}">
        <p14:creationId xmlns:p14="http://schemas.microsoft.com/office/powerpoint/2010/main" val="34877326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VERTEX  REPRESENTATION</a:t>
            </a:r>
          </a:p>
        </p:txBody>
      </p:sp>
      <p:sp>
        <p:nvSpPr>
          <p:cNvPr id="4" name="Oval 3"/>
          <p:cNvSpPr/>
          <p:nvPr/>
        </p:nvSpPr>
        <p:spPr>
          <a:xfrm>
            <a:off x="1657884" y="3213219"/>
            <a:ext cx="572568" cy="57256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2417035" y="2417036"/>
            <a:ext cx="572568" cy="57256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2703319" y="3615122"/>
            <a:ext cx="572568" cy="57256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130751" y="4756236"/>
            <a:ext cx="572568" cy="57256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3744481" y="2844451"/>
            <a:ext cx="572568" cy="57256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3744481" y="4438743"/>
            <a:ext cx="572568" cy="57256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/>
          <p:cNvCxnSpPr>
            <a:stCxn id="4" idx="7"/>
            <a:endCxn id="5" idx="3"/>
          </p:cNvCxnSpPr>
          <p:nvPr/>
        </p:nvCxnSpPr>
        <p:spPr>
          <a:xfrm flipV="1">
            <a:off x="2146601" y="2905753"/>
            <a:ext cx="354285" cy="39131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stCxn id="4" idx="5"/>
            <a:endCxn id="6" idx="2"/>
          </p:cNvCxnSpPr>
          <p:nvPr/>
        </p:nvCxnSpPr>
        <p:spPr>
          <a:xfrm>
            <a:off x="2146601" y="3701936"/>
            <a:ext cx="556718" cy="19947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>
            <a:stCxn id="4" idx="6"/>
            <a:endCxn id="8" idx="2"/>
          </p:cNvCxnSpPr>
          <p:nvPr/>
        </p:nvCxnSpPr>
        <p:spPr>
          <a:xfrm flipV="1">
            <a:off x="2230452" y="3130735"/>
            <a:ext cx="1514029" cy="36876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>
            <a:stCxn id="7" idx="6"/>
            <a:endCxn id="9" idx="2"/>
          </p:cNvCxnSpPr>
          <p:nvPr/>
        </p:nvCxnSpPr>
        <p:spPr>
          <a:xfrm flipV="1">
            <a:off x="2703319" y="4725027"/>
            <a:ext cx="1041162" cy="31749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stCxn id="8" idx="4"/>
            <a:endCxn id="9" idx="0"/>
          </p:cNvCxnSpPr>
          <p:nvPr/>
        </p:nvCxnSpPr>
        <p:spPr>
          <a:xfrm>
            <a:off x="4030765" y="3417019"/>
            <a:ext cx="0" cy="102172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070891" y="2018253"/>
            <a:ext cx="55243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vertices are named uniquely for identification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0890" y="2403589"/>
            <a:ext cx="4374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Various conventions for vertex naming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8210" y="2820071"/>
            <a:ext cx="49464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Marked from 0 to n-1 uniquely (Here n = 6)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37248" y="2530239"/>
            <a:ext cx="332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9674" y="3332604"/>
            <a:ext cx="332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21395" y="3724485"/>
            <a:ext cx="332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64694" y="2963272"/>
            <a:ext cx="332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64694" y="4540361"/>
            <a:ext cx="332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50964" y="4883773"/>
            <a:ext cx="332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8210" y="3217539"/>
            <a:ext cx="33670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Marked from 1 to n uniquely</a:t>
            </a:r>
          </a:p>
        </p:txBody>
      </p:sp>
      <p:grpSp>
        <p:nvGrpSpPr>
          <p:cNvPr id="37" name="Group 36"/>
          <p:cNvGrpSpPr/>
          <p:nvPr/>
        </p:nvGrpSpPr>
        <p:grpSpPr>
          <a:xfrm>
            <a:off x="1762305" y="2526203"/>
            <a:ext cx="2463630" cy="2700788"/>
            <a:chOff x="1762305" y="2526203"/>
            <a:chExt cx="2463630" cy="2700788"/>
          </a:xfrm>
        </p:grpSpPr>
        <p:sp>
          <p:nvSpPr>
            <p:cNvPr id="31" name="Rectangle 30"/>
            <p:cNvSpPr/>
            <p:nvPr/>
          </p:nvSpPr>
          <p:spPr>
            <a:xfrm>
              <a:off x="2509879" y="2526203"/>
              <a:ext cx="386879" cy="36894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3839056" y="2946277"/>
              <a:ext cx="386879" cy="36894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1762305" y="3304971"/>
              <a:ext cx="386879" cy="36894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2786068" y="3723063"/>
              <a:ext cx="386879" cy="36894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3834936" y="4556354"/>
              <a:ext cx="386879" cy="36894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2226729" y="4858048"/>
              <a:ext cx="386879" cy="36894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9" name="Group 38"/>
          <p:cNvGrpSpPr/>
          <p:nvPr/>
        </p:nvGrpSpPr>
        <p:grpSpPr>
          <a:xfrm>
            <a:off x="1781749" y="2530239"/>
            <a:ext cx="2407162" cy="2722866"/>
            <a:chOff x="7922765" y="4003024"/>
            <a:chExt cx="2407162" cy="2722866"/>
          </a:xfrm>
        </p:grpSpPr>
        <p:sp>
          <p:nvSpPr>
            <p:cNvPr id="40" name="TextBox 39"/>
            <p:cNvSpPr txBox="1"/>
            <p:nvPr/>
          </p:nvSpPr>
          <p:spPr>
            <a:xfrm>
              <a:off x="8670339" y="4003024"/>
              <a:ext cx="3321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6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7922765" y="4805389"/>
              <a:ext cx="3321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1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8954486" y="5197270"/>
              <a:ext cx="3321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3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9997785" y="4436057"/>
              <a:ext cx="3321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2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9997785" y="6013146"/>
              <a:ext cx="3321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5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8384055" y="6356558"/>
              <a:ext cx="3321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4</a:t>
              </a:r>
            </a:p>
          </p:txBody>
        </p:sp>
      </p:grpSp>
      <p:sp>
        <p:nvSpPr>
          <p:cNvPr id="46" name="TextBox 45"/>
          <p:cNvSpPr txBox="1"/>
          <p:nvPr/>
        </p:nvSpPr>
        <p:spPr>
          <a:xfrm>
            <a:off x="5488210" y="3628150"/>
            <a:ext cx="446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Marked with alphabets starting from ‘A’</a:t>
            </a:r>
          </a:p>
        </p:txBody>
      </p:sp>
      <p:grpSp>
        <p:nvGrpSpPr>
          <p:cNvPr id="47" name="Group 46"/>
          <p:cNvGrpSpPr/>
          <p:nvPr/>
        </p:nvGrpSpPr>
        <p:grpSpPr>
          <a:xfrm>
            <a:off x="1747692" y="2532708"/>
            <a:ext cx="2463630" cy="2700788"/>
            <a:chOff x="1762305" y="2526203"/>
            <a:chExt cx="2463630" cy="2700788"/>
          </a:xfrm>
        </p:grpSpPr>
        <p:sp>
          <p:nvSpPr>
            <p:cNvPr id="48" name="Rectangle 47"/>
            <p:cNvSpPr/>
            <p:nvPr/>
          </p:nvSpPr>
          <p:spPr>
            <a:xfrm>
              <a:off x="2509879" y="2526203"/>
              <a:ext cx="386879" cy="36894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/>
            <p:cNvSpPr/>
            <p:nvPr/>
          </p:nvSpPr>
          <p:spPr>
            <a:xfrm>
              <a:off x="3839056" y="2946277"/>
              <a:ext cx="386879" cy="36894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/>
            <p:cNvSpPr/>
            <p:nvPr/>
          </p:nvSpPr>
          <p:spPr>
            <a:xfrm>
              <a:off x="1762305" y="3304971"/>
              <a:ext cx="386879" cy="36894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/>
            <p:cNvSpPr/>
            <p:nvPr/>
          </p:nvSpPr>
          <p:spPr>
            <a:xfrm>
              <a:off x="2786068" y="3723063"/>
              <a:ext cx="386879" cy="36894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/>
            <p:cNvSpPr/>
            <p:nvPr/>
          </p:nvSpPr>
          <p:spPr>
            <a:xfrm>
              <a:off x="3834936" y="4556354"/>
              <a:ext cx="386879" cy="36894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/>
            <p:cNvSpPr/>
            <p:nvPr/>
          </p:nvSpPr>
          <p:spPr>
            <a:xfrm>
              <a:off x="2226729" y="4858048"/>
              <a:ext cx="386879" cy="36894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1789674" y="2535256"/>
            <a:ext cx="2434414" cy="2722866"/>
            <a:chOff x="7922765" y="4003024"/>
            <a:chExt cx="2434414" cy="2722866"/>
          </a:xfrm>
        </p:grpSpPr>
        <p:sp>
          <p:nvSpPr>
            <p:cNvPr id="24" name="TextBox 23"/>
            <p:cNvSpPr txBox="1"/>
            <p:nvPr/>
          </p:nvSpPr>
          <p:spPr>
            <a:xfrm>
              <a:off x="8670339" y="4003024"/>
              <a:ext cx="3433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7922765" y="4805389"/>
              <a:ext cx="3433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8954486" y="5197270"/>
              <a:ext cx="3385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9997785" y="4436057"/>
              <a:ext cx="3593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9997785" y="6013146"/>
              <a:ext cx="3193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F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8384055" y="6356558"/>
              <a:ext cx="3273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</a:t>
              </a:r>
            </a:p>
          </p:txBody>
        </p:sp>
      </p:grpSp>
      <p:sp>
        <p:nvSpPr>
          <p:cNvPr id="54" name="TextBox 53"/>
          <p:cNvSpPr txBox="1"/>
          <p:nvPr/>
        </p:nvSpPr>
        <p:spPr>
          <a:xfrm>
            <a:off x="5070889" y="4066897"/>
            <a:ext cx="45681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All the conventions are inter-changeable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312730" y="2847957"/>
            <a:ext cx="6463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***</a:t>
            </a:r>
          </a:p>
        </p:txBody>
      </p:sp>
      <p:sp>
        <p:nvSpPr>
          <p:cNvPr id="56" name="Date Placeholder 5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6F5C5-1289-488C-A132-6D605AB3109A}" type="datetime1">
              <a:rPr lang="en-US" smtClean="0"/>
              <a:t>30-Sep-24</a:t>
            </a:fld>
            <a:endParaRPr lang="en-US"/>
          </a:p>
        </p:txBody>
      </p:sp>
      <p:sp>
        <p:nvSpPr>
          <p:cNvPr id="57" name="Footer Placeholder 5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SWAPNIL BISWAS</a:t>
            </a:r>
          </a:p>
        </p:txBody>
      </p:sp>
      <p:sp>
        <p:nvSpPr>
          <p:cNvPr id="58" name="Slide Number Placeholder 5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7CAF5-550C-4560-8A67-900A224557D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943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30" grpId="0"/>
      <p:bldP spid="46" grpId="0"/>
      <p:bldP spid="54" grpId="0"/>
      <p:bldP spid="5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Edge Representation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016808"/>
            <a:ext cx="50626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Bahnschrift" panose="020B0502040204020203" pitchFamily="34" charset="0"/>
              </a:rPr>
              <a:t>An edge is represented by the 2 end vertices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446946"/>
            <a:ext cx="1989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Bahnschrift" panose="020B0502040204020203" pitchFamily="34" charset="0"/>
              </a:rPr>
              <a:t>e1 = (0,1) or (1,0)</a:t>
            </a:r>
          </a:p>
        </p:txBody>
      </p:sp>
      <p:sp>
        <p:nvSpPr>
          <p:cNvPr id="20" name="Oval 19"/>
          <p:cNvSpPr/>
          <p:nvPr/>
        </p:nvSpPr>
        <p:spPr>
          <a:xfrm>
            <a:off x="8639798" y="2142585"/>
            <a:ext cx="487110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8152688" y="2816278"/>
            <a:ext cx="487110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/>
          <p:cNvSpPr/>
          <p:nvPr/>
        </p:nvSpPr>
        <p:spPr>
          <a:xfrm>
            <a:off x="9843331" y="2142585"/>
            <a:ext cx="487110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9243701" y="3059833"/>
            <a:ext cx="487110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8756591" y="3917511"/>
            <a:ext cx="487110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/>
          <p:cNvSpPr/>
          <p:nvPr/>
        </p:nvSpPr>
        <p:spPr>
          <a:xfrm>
            <a:off x="10233589" y="3430401"/>
            <a:ext cx="487110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Connector 27"/>
          <p:cNvCxnSpPr>
            <a:stCxn id="20" idx="6"/>
            <a:endCxn id="24" idx="2"/>
          </p:cNvCxnSpPr>
          <p:nvPr/>
        </p:nvCxnSpPr>
        <p:spPr>
          <a:xfrm>
            <a:off x="9126908" y="2386140"/>
            <a:ext cx="71642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20" idx="3"/>
            <a:endCxn id="22" idx="0"/>
          </p:cNvCxnSpPr>
          <p:nvPr/>
        </p:nvCxnSpPr>
        <p:spPr>
          <a:xfrm flipH="1">
            <a:off x="8396243" y="2558359"/>
            <a:ext cx="314891" cy="25791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stCxn id="22" idx="5"/>
            <a:endCxn id="26" idx="1"/>
          </p:cNvCxnSpPr>
          <p:nvPr/>
        </p:nvCxnSpPr>
        <p:spPr>
          <a:xfrm>
            <a:off x="8568462" y="3232052"/>
            <a:ext cx="259465" cy="75679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25" idx="7"/>
            <a:endCxn id="24" idx="4"/>
          </p:cNvCxnSpPr>
          <p:nvPr/>
        </p:nvCxnSpPr>
        <p:spPr>
          <a:xfrm flipV="1">
            <a:off x="9659475" y="2629695"/>
            <a:ext cx="427411" cy="50147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stCxn id="20" idx="5"/>
            <a:endCxn id="25" idx="1"/>
          </p:cNvCxnSpPr>
          <p:nvPr/>
        </p:nvCxnSpPr>
        <p:spPr>
          <a:xfrm>
            <a:off x="9055572" y="2558359"/>
            <a:ext cx="259465" cy="57281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9931234" y="218902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27701" y="2189027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47712" y="2875167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11925" y="348929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30705" y="3118722"/>
            <a:ext cx="316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45296" y="397640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325084" y="2053802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e1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803800" y="2766488"/>
            <a:ext cx="429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e3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10518" y="2527304"/>
            <a:ext cx="4267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e2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61176" y="2368313"/>
            <a:ext cx="433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e5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05377" y="3461890"/>
            <a:ext cx="439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e4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97280" y="2896636"/>
            <a:ext cx="20409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Bahnschrift" panose="020B0502040204020203" pitchFamily="34" charset="0"/>
              </a:rPr>
              <a:t>e2 = (4,1) or (1,4)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97279" y="3349863"/>
            <a:ext cx="21435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Bahnschrift" panose="020B0502040204020203" pitchFamily="34" charset="0"/>
              </a:rPr>
              <a:t>e3 = (4,0) or (0,4)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97279" y="3799553"/>
            <a:ext cx="21242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Bahnschrift" panose="020B0502040204020203" pitchFamily="34" charset="0"/>
              </a:rPr>
              <a:t>e4 = (2,5) or (5,2)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97278" y="4249243"/>
            <a:ext cx="2021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Bahnschrift" panose="020B0502040204020203" pitchFamily="34" charset="0"/>
              </a:rPr>
              <a:t>e5 = (2,1) or (1,2)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47777-3963-4768-AB5B-60004ED40AC1}" type="datetime1">
              <a:rPr lang="en-US" smtClean="0"/>
              <a:t>30-Sep-24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SWAPNIL BISWAS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510A0-FB96-4102-84E6-46674F03B94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762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6" grpId="0"/>
      <p:bldP spid="56" grpId="0"/>
      <p:bldP spid="57" grpId="0"/>
      <p:bldP spid="58" grpId="0"/>
      <p:bldP spid="5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Graph Classification</a:t>
            </a:r>
          </a:p>
        </p:txBody>
      </p:sp>
      <p:sp>
        <p:nvSpPr>
          <p:cNvPr id="20" name="Oval 19"/>
          <p:cNvSpPr/>
          <p:nvPr/>
        </p:nvSpPr>
        <p:spPr>
          <a:xfrm>
            <a:off x="2273181" y="2423239"/>
            <a:ext cx="487110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1786071" y="3096932"/>
            <a:ext cx="487110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/>
          <p:cNvSpPr/>
          <p:nvPr/>
        </p:nvSpPr>
        <p:spPr>
          <a:xfrm>
            <a:off x="3476714" y="2423239"/>
            <a:ext cx="487110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2877084" y="3340487"/>
            <a:ext cx="487110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2389974" y="4198165"/>
            <a:ext cx="487110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/>
          <p:cNvSpPr/>
          <p:nvPr/>
        </p:nvSpPr>
        <p:spPr>
          <a:xfrm>
            <a:off x="3866972" y="3711055"/>
            <a:ext cx="487110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Connector 27"/>
          <p:cNvCxnSpPr>
            <a:stCxn id="20" idx="6"/>
            <a:endCxn id="24" idx="2"/>
          </p:cNvCxnSpPr>
          <p:nvPr/>
        </p:nvCxnSpPr>
        <p:spPr>
          <a:xfrm>
            <a:off x="2760291" y="2666794"/>
            <a:ext cx="71642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20" idx="3"/>
            <a:endCxn id="22" idx="0"/>
          </p:cNvCxnSpPr>
          <p:nvPr/>
        </p:nvCxnSpPr>
        <p:spPr>
          <a:xfrm flipH="1">
            <a:off x="2029626" y="2839013"/>
            <a:ext cx="314891" cy="25791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stCxn id="22" idx="5"/>
            <a:endCxn id="26" idx="1"/>
          </p:cNvCxnSpPr>
          <p:nvPr/>
        </p:nvCxnSpPr>
        <p:spPr>
          <a:xfrm>
            <a:off x="2201845" y="3512706"/>
            <a:ext cx="259465" cy="75679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25" idx="7"/>
            <a:endCxn id="24" idx="4"/>
          </p:cNvCxnSpPr>
          <p:nvPr/>
        </p:nvCxnSpPr>
        <p:spPr>
          <a:xfrm flipV="1">
            <a:off x="3292858" y="2910349"/>
            <a:ext cx="427411" cy="50147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stCxn id="20" idx="5"/>
            <a:endCxn id="25" idx="1"/>
          </p:cNvCxnSpPr>
          <p:nvPr/>
        </p:nvCxnSpPr>
        <p:spPr>
          <a:xfrm>
            <a:off x="2688955" y="2839013"/>
            <a:ext cx="259465" cy="57281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3564617" y="2469681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61084" y="2469681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81095" y="3155821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45308" y="376994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64088" y="3399376"/>
            <a:ext cx="316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78679" y="4257054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644" y="4943775"/>
            <a:ext cx="3105337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Bahnschrift" panose="020B0502040204020203" pitchFamily="34" charset="0"/>
              </a:rPr>
              <a:t>The edges have no direction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33488" y="1774373"/>
            <a:ext cx="53816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dirty="0">
                <a:latin typeface="Bahnschrift" panose="020B0502040204020203" pitchFamily="34" charset="0"/>
              </a:rPr>
              <a:t>Classification based on the direction of edge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6644" y="5294356"/>
            <a:ext cx="5301451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Bahnschrift" panose="020B0502040204020203" pitchFamily="34" charset="0"/>
              </a:rPr>
              <a:t>An edge can be represented as either (</a:t>
            </a:r>
            <a:r>
              <a:rPr lang="en-US" sz="1700" dirty="0" err="1">
                <a:latin typeface="Bahnschrift" panose="020B0502040204020203" pitchFamily="34" charset="0"/>
              </a:rPr>
              <a:t>u,v</a:t>
            </a:r>
            <a:r>
              <a:rPr lang="en-US" sz="1700" dirty="0">
                <a:latin typeface="Bahnschrift" panose="020B0502040204020203" pitchFamily="34" charset="0"/>
              </a:rPr>
              <a:t>) or (</a:t>
            </a:r>
            <a:r>
              <a:rPr lang="en-US" sz="1700" dirty="0" err="1">
                <a:latin typeface="Bahnschrift" panose="020B0502040204020203" pitchFamily="34" charset="0"/>
              </a:rPr>
              <a:t>v,u</a:t>
            </a:r>
            <a:r>
              <a:rPr lang="en-US" sz="1700" dirty="0">
                <a:latin typeface="Bahnschrift" panose="020B0502040204020203" pitchFamily="34" charset="0"/>
              </a:rPr>
              <a:t>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44971" y="2326737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e1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23687" y="3039423"/>
            <a:ext cx="429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e3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30405" y="2800239"/>
            <a:ext cx="4267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e2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881063" y="2641248"/>
            <a:ext cx="433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e5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25264" y="3734825"/>
            <a:ext cx="439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e4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96643" y="5634707"/>
            <a:ext cx="4214615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 err="1">
                <a:latin typeface="Bahnschrift" panose="020B0502040204020203" pitchFamily="34" charset="0"/>
              </a:rPr>
              <a:t>Eg</a:t>
            </a:r>
            <a:r>
              <a:rPr lang="en-US" sz="1700" dirty="0">
                <a:latin typeface="Bahnschrift" panose="020B0502040204020203" pitchFamily="34" charset="0"/>
              </a:rPr>
              <a:t>: e1 can be represented as (0,1) or (1,0)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19796" y="4511376"/>
            <a:ext cx="1871025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Undirected Graph</a:t>
            </a:r>
          </a:p>
        </p:txBody>
      </p:sp>
      <p:sp>
        <p:nvSpPr>
          <p:cNvPr id="2" name="Rectangle 1"/>
          <p:cNvSpPr/>
          <p:nvPr/>
        </p:nvSpPr>
        <p:spPr>
          <a:xfrm>
            <a:off x="3185611" y="4541499"/>
            <a:ext cx="1917107" cy="315274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7784918" y="2480862"/>
            <a:ext cx="487110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/>
          <p:cNvSpPr/>
          <p:nvPr/>
        </p:nvSpPr>
        <p:spPr>
          <a:xfrm>
            <a:off x="7297808" y="3154555"/>
            <a:ext cx="487110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/>
          <p:cNvSpPr/>
          <p:nvPr/>
        </p:nvSpPr>
        <p:spPr>
          <a:xfrm>
            <a:off x="8988451" y="2480862"/>
            <a:ext cx="487110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/>
          <p:cNvSpPr/>
          <p:nvPr/>
        </p:nvSpPr>
        <p:spPr>
          <a:xfrm>
            <a:off x="8388821" y="3398110"/>
            <a:ext cx="487110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/>
          <p:cNvSpPr/>
          <p:nvPr/>
        </p:nvSpPr>
        <p:spPr>
          <a:xfrm>
            <a:off x="7901711" y="4255788"/>
            <a:ext cx="487110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/>
          <p:cNvSpPr/>
          <p:nvPr/>
        </p:nvSpPr>
        <p:spPr>
          <a:xfrm>
            <a:off x="9378709" y="3768678"/>
            <a:ext cx="487110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/>
          <p:cNvSpPr txBox="1"/>
          <p:nvPr/>
        </p:nvSpPr>
        <p:spPr>
          <a:xfrm>
            <a:off x="9076354" y="2527304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872821" y="2527304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392832" y="3213444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2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457045" y="3827567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475825" y="3456999"/>
            <a:ext cx="316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4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990416" y="4314677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5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508381" y="5001398"/>
            <a:ext cx="5729454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Bahnschrift" panose="020B0502040204020203" pitchFamily="34" charset="0"/>
              </a:rPr>
              <a:t>All the edges have a direction from vertex-</a:t>
            </a:r>
            <a:r>
              <a:rPr lang="en-US" sz="1700" b="1" i="1" dirty="0">
                <a:latin typeface="Bahnschrift" panose="020B0502040204020203" pitchFamily="34" charset="0"/>
              </a:rPr>
              <a:t>u</a:t>
            </a:r>
            <a:r>
              <a:rPr lang="en-US" sz="1700" dirty="0">
                <a:latin typeface="Bahnschrift" panose="020B0502040204020203" pitchFamily="34" charset="0"/>
              </a:rPr>
              <a:t> to vertex-</a:t>
            </a:r>
            <a:r>
              <a:rPr lang="en-US" sz="1700" b="1" i="1" dirty="0">
                <a:latin typeface="Bahnschrift" panose="020B0502040204020203" pitchFamily="34" charset="0"/>
              </a:rPr>
              <a:t>v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508381" y="5351979"/>
            <a:ext cx="3393878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Bahnschrift" panose="020B0502040204020203" pitchFamily="34" charset="0"/>
              </a:rPr>
              <a:t>Edges are represented as (</a:t>
            </a:r>
            <a:r>
              <a:rPr lang="en-US" sz="1700" dirty="0" err="1">
                <a:latin typeface="Bahnschrift" panose="020B0502040204020203" pitchFamily="34" charset="0"/>
              </a:rPr>
              <a:t>u,v</a:t>
            </a:r>
            <a:r>
              <a:rPr lang="en-US" sz="1700" dirty="0">
                <a:latin typeface="Bahnschrift" panose="020B0502040204020203" pitchFamily="34" charset="0"/>
              </a:rPr>
              <a:t>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456708" y="2384360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e1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935424" y="3097046"/>
            <a:ext cx="429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e3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242142" y="2857862"/>
            <a:ext cx="4267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e2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392800" y="2698871"/>
            <a:ext cx="433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e5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437001" y="3792448"/>
            <a:ext cx="439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e4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508380" y="5692330"/>
            <a:ext cx="4624984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 err="1">
                <a:latin typeface="Bahnschrift" panose="020B0502040204020203" pitchFamily="34" charset="0"/>
              </a:rPr>
              <a:t>Eg</a:t>
            </a:r>
            <a:r>
              <a:rPr lang="en-US" sz="1700" dirty="0">
                <a:latin typeface="Bahnschrift" panose="020B0502040204020203" pitchFamily="34" charset="0"/>
              </a:rPr>
              <a:t>: e1 must be represented as (1,0). </a:t>
            </a:r>
            <a:r>
              <a:rPr lang="en-US" sz="1700" strike="sngStrike" dirty="0">
                <a:latin typeface="Bahnschrift" panose="020B0502040204020203" pitchFamily="34" charset="0"/>
              </a:rPr>
              <a:t>Not (0,1)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876813" y="4568999"/>
            <a:ext cx="1632178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Directed Graph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697348" y="4599122"/>
            <a:ext cx="1917107" cy="315274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/>
          <p:cNvCxnSpPr>
            <a:stCxn id="49" idx="3"/>
            <a:endCxn id="50" idx="0"/>
          </p:cNvCxnSpPr>
          <p:nvPr/>
        </p:nvCxnSpPr>
        <p:spPr>
          <a:xfrm flipH="1">
            <a:off x="7541363" y="2896636"/>
            <a:ext cx="314891" cy="25791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stCxn id="49" idx="6"/>
            <a:endCxn id="60" idx="2"/>
          </p:cNvCxnSpPr>
          <p:nvPr/>
        </p:nvCxnSpPr>
        <p:spPr>
          <a:xfrm>
            <a:off x="8272028" y="2724417"/>
            <a:ext cx="71642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49" idx="5"/>
            <a:endCxn id="61" idx="1"/>
          </p:cNvCxnSpPr>
          <p:nvPr/>
        </p:nvCxnSpPr>
        <p:spPr>
          <a:xfrm>
            <a:off x="8200692" y="2896636"/>
            <a:ext cx="259465" cy="57281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61" idx="7"/>
            <a:endCxn id="60" idx="4"/>
          </p:cNvCxnSpPr>
          <p:nvPr/>
        </p:nvCxnSpPr>
        <p:spPr>
          <a:xfrm flipV="1">
            <a:off x="8804595" y="2967972"/>
            <a:ext cx="427411" cy="50147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0" idx="5"/>
            <a:endCxn id="62" idx="1"/>
          </p:cNvCxnSpPr>
          <p:nvPr/>
        </p:nvCxnSpPr>
        <p:spPr>
          <a:xfrm>
            <a:off x="7713582" y="3570329"/>
            <a:ext cx="259465" cy="75679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765CC-E912-4307-9D6F-C1FCDAFF2CBF}" type="datetime1">
              <a:rPr lang="en-US" smtClean="0"/>
              <a:t>30-Sep-24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SWAPNIL BISWAS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510A0-FB96-4102-84E6-46674F03B94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08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2" grpId="0" animBg="1"/>
      <p:bldP spid="24" grpId="0" animBg="1"/>
      <p:bldP spid="25" grpId="0" animBg="1"/>
      <p:bldP spid="26" grpId="0" animBg="1"/>
      <p:bldP spid="27" grpId="0" animBg="1"/>
      <p:bldP spid="33" grpId="0"/>
      <p:bldP spid="34" grpId="0"/>
      <p:bldP spid="35" grpId="0"/>
      <p:bldP spid="36" grpId="0"/>
      <p:bldP spid="37" grpId="0"/>
      <p:bldP spid="38" grpId="0"/>
      <p:bldP spid="51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8" grpId="0"/>
      <p:bldP spid="2" grpId="0" animBg="1"/>
      <p:bldP spid="49" grpId="0" animBg="1"/>
      <p:bldP spid="50" grpId="0" animBg="1"/>
      <p:bldP spid="60" grpId="0" animBg="1"/>
      <p:bldP spid="61" grpId="0" animBg="1"/>
      <p:bldP spid="62" grpId="0" animBg="1"/>
      <p:bldP spid="63" grpId="0" animBg="1"/>
      <p:bldP spid="69" grpId="0"/>
      <p:bldP spid="70" grpId="0"/>
      <p:bldP spid="71" grpId="0"/>
      <p:bldP spid="72" grpId="0"/>
      <p:bldP spid="73" grpId="0"/>
      <p:bldP spid="74" grpId="0"/>
      <p:bldP spid="75" grpId="0"/>
      <p:bldP spid="77" grpId="0"/>
      <p:bldP spid="78" grpId="0"/>
      <p:bldP spid="79" grpId="0"/>
      <p:bldP spid="80" grpId="0"/>
      <p:bldP spid="81" grpId="0"/>
      <p:bldP spid="82" grpId="0"/>
      <p:bldP spid="83" grpId="0"/>
      <p:bldP spid="84" grpId="0"/>
      <p:bldP spid="8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Adjacent Vertex (Undirected Graph)</a:t>
            </a:r>
          </a:p>
        </p:txBody>
      </p:sp>
      <p:sp>
        <p:nvSpPr>
          <p:cNvPr id="20" name="Oval 19"/>
          <p:cNvSpPr/>
          <p:nvPr/>
        </p:nvSpPr>
        <p:spPr>
          <a:xfrm>
            <a:off x="8622706" y="2012878"/>
            <a:ext cx="487110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8135596" y="2686571"/>
            <a:ext cx="487110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/>
          <p:cNvSpPr/>
          <p:nvPr/>
        </p:nvSpPr>
        <p:spPr>
          <a:xfrm>
            <a:off x="9826239" y="2012878"/>
            <a:ext cx="487110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9226609" y="2930126"/>
            <a:ext cx="487110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8739499" y="3787804"/>
            <a:ext cx="487110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/>
          <p:cNvSpPr/>
          <p:nvPr/>
        </p:nvSpPr>
        <p:spPr>
          <a:xfrm>
            <a:off x="10216497" y="3300694"/>
            <a:ext cx="487110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Connector 27"/>
          <p:cNvCxnSpPr>
            <a:stCxn id="20" idx="6"/>
            <a:endCxn id="24" idx="2"/>
          </p:cNvCxnSpPr>
          <p:nvPr/>
        </p:nvCxnSpPr>
        <p:spPr>
          <a:xfrm>
            <a:off x="9109816" y="2256433"/>
            <a:ext cx="71642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20" idx="3"/>
            <a:endCxn id="22" idx="0"/>
          </p:cNvCxnSpPr>
          <p:nvPr/>
        </p:nvCxnSpPr>
        <p:spPr>
          <a:xfrm flipH="1">
            <a:off x="8379151" y="2428652"/>
            <a:ext cx="314891" cy="25791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stCxn id="22" idx="5"/>
            <a:endCxn id="26" idx="1"/>
          </p:cNvCxnSpPr>
          <p:nvPr/>
        </p:nvCxnSpPr>
        <p:spPr>
          <a:xfrm>
            <a:off x="8551370" y="3102345"/>
            <a:ext cx="259465" cy="75679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25" idx="7"/>
            <a:endCxn id="24" idx="4"/>
          </p:cNvCxnSpPr>
          <p:nvPr/>
        </p:nvCxnSpPr>
        <p:spPr>
          <a:xfrm flipV="1">
            <a:off x="9642383" y="2499988"/>
            <a:ext cx="427411" cy="50147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stCxn id="20" idx="5"/>
            <a:endCxn id="25" idx="1"/>
          </p:cNvCxnSpPr>
          <p:nvPr/>
        </p:nvCxnSpPr>
        <p:spPr>
          <a:xfrm>
            <a:off x="9038480" y="2428652"/>
            <a:ext cx="259465" cy="57281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9914142" y="2059320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10609" y="2059320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30620" y="2745460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94833" y="3359583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13613" y="2989015"/>
            <a:ext cx="316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28204" y="3846693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530412" y="2405267"/>
            <a:ext cx="2165978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Bahnschrift" panose="020B0502040204020203" pitchFamily="34" charset="0"/>
              </a:rPr>
              <a:t>Adjacent(0) = {1,4}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30412" y="2755848"/>
            <a:ext cx="2327881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Bahnschrift" panose="020B0502040204020203" pitchFamily="34" charset="0"/>
              </a:rPr>
              <a:t>Adjacent(1) = {0,2,4}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30411" y="3096199"/>
            <a:ext cx="2153154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Bahnschrift" panose="020B0502040204020203" pitchFamily="34" charset="0"/>
              </a:rPr>
              <a:t>Adjacent(2) = {1,5}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97280" y="1858931"/>
            <a:ext cx="6215163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700" b="1" dirty="0">
                <a:latin typeface="Bahnschrift" panose="020B0502040204020203" pitchFamily="34" charset="0"/>
              </a:rPr>
              <a:t>v</a:t>
            </a:r>
            <a:r>
              <a:rPr lang="en-US" sz="1700" dirty="0">
                <a:latin typeface="Bahnschrift" panose="020B0502040204020203" pitchFamily="34" charset="0"/>
              </a:rPr>
              <a:t> is an adjacent vertex of </a:t>
            </a:r>
            <a:r>
              <a:rPr lang="en-US" sz="1700" b="1" dirty="0">
                <a:latin typeface="Bahnschrift" panose="020B0502040204020203" pitchFamily="34" charset="0"/>
              </a:rPr>
              <a:t>u</a:t>
            </a:r>
            <a:r>
              <a:rPr lang="en-US" sz="1700" dirty="0">
                <a:latin typeface="Bahnschrift" panose="020B0502040204020203" pitchFamily="34" charset="0"/>
              </a:rPr>
              <a:t> if an edges exists between </a:t>
            </a:r>
            <a:r>
              <a:rPr lang="en-US" sz="1700" b="1" dirty="0">
                <a:latin typeface="Bahnschrift" panose="020B0502040204020203" pitchFamily="34" charset="0"/>
              </a:rPr>
              <a:t>u</a:t>
            </a:r>
            <a:r>
              <a:rPr lang="en-US" sz="1700" dirty="0">
                <a:latin typeface="Bahnschrift" panose="020B0502040204020203" pitchFamily="34" charset="0"/>
              </a:rPr>
              <a:t> and </a:t>
            </a:r>
            <a:r>
              <a:rPr lang="en-US" sz="1700" b="1" dirty="0">
                <a:latin typeface="Bahnschrift" panose="020B0502040204020203" pitchFamily="34" charset="0"/>
              </a:rPr>
              <a:t>v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30411" y="3433188"/>
            <a:ext cx="1915909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Bahnschrift" panose="020B0502040204020203" pitchFamily="34" charset="0"/>
              </a:rPr>
              <a:t>Adjacent(3) = {}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30411" y="3801544"/>
            <a:ext cx="2165978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Bahnschrift" panose="020B0502040204020203" pitchFamily="34" charset="0"/>
              </a:rPr>
              <a:t>Adjacent(4) = {0,1}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30411" y="4138533"/>
            <a:ext cx="2031325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Bahnschrift" panose="020B0502040204020203" pitchFamily="34" charset="0"/>
              </a:rPr>
              <a:t>Adjacent(5) = {2}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47FA5-D2C5-4B70-87D4-09B005668E5A}" type="datetime1">
              <a:rPr lang="en-US" smtClean="0"/>
              <a:t>30-Sep-24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SWAPNIL BISWAS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510A0-FB96-4102-84E6-46674F03B94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023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  <p:bldP spid="40" grpId="0"/>
      <p:bldP spid="46" grpId="0"/>
      <p:bldP spid="58" grpId="0"/>
      <p:bldP spid="39" grpId="0"/>
      <p:bldP spid="41" grpId="0"/>
      <p:bldP spid="4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Adjacent Vertex (Directed Graph)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530412" y="2405267"/>
            <a:ext cx="1920719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Bahnschrift" panose="020B0502040204020203" pitchFamily="34" charset="0"/>
              </a:rPr>
              <a:t>Adjacent(0) = {}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30412" y="2755848"/>
            <a:ext cx="2327881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Bahnschrift" panose="020B0502040204020203" pitchFamily="34" charset="0"/>
              </a:rPr>
              <a:t>Adjacent(1) = {0,2,4}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30411" y="3096199"/>
            <a:ext cx="2031325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Bahnschrift" panose="020B0502040204020203" pitchFamily="34" charset="0"/>
              </a:rPr>
              <a:t>Adjacent(2) = {5}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97280" y="1858931"/>
            <a:ext cx="5666936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700" b="1" dirty="0">
                <a:latin typeface="Bahnschrift" panose="020B0502040204020203" pitchFamily="34" charset="0"/>
              </a:rPr>
              <a:t>v</a:t>
            </a:r>
            <a:r>
              <a:rPr lang="en-US" sz="1700" dirty="0">
                <a:latin typeface="Bahnschrift" panose="020B0502040204020203" pitchFamily="34" charset="0"/>
              </a:rPr>
              <a:t> is an adjacent vertex of </a:t>
            </a:r>
            <a:r>
              <a:rPr lang="en-US" sz="1700" b="1" dirty="0">
                <a:latin typeface="Bahnschrift" panose="020B0502040204020203" pitchFamily="34" charset="0"/>
              </a:rPr>
              <a:t>u</a:t>
            </a:r>
            <a:r>
              <a:rPr lang="en-US" sz="1700" dirty="0">
                <a:latin typeface="Bahnschrift" panose="020B0502040204020203" pitchFamily="34" charset="0"/>
              </a:rPr>
              <a:t> if an edges exists from </a:t>
            </a:r>
            <a:r>
              <a:rPr lang="en-US" sz="1700" b="1" dirty="0">
                <a:latin typeface="Bahnschrift" panose="020B0502040204020203" pitchFamily="34" charset="0"/>
              </a:rPr>
              <a:t>u</a:t>
            </a:r>
            <a:r>
              <a:rPr lang="en-US" sz="1700" dirty="0">
                <a:latin typeface="Bahnschrift" panose="020B0502040204020203" pitchFamily="34" charset="0"/>
              </a:rPr>
              <a:t> to </a:t>
            </a:r>
            <a:r>
              <a:rPr lang="en-US" sz="1700" b="1" dirty="0">
                <a:latin typeface="Bahnschrift" panose="020B0502040204020203" pitchFamily="34" charset="0"/>
              </a:rPr>
              <a:t>v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30411" y="3433188"/>
            <a:ext cx="1915909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Bahnschrift" panose="020B0502040204020203" pitchFamily="34" charset="0"/>
              </a:rPr>
              <a:t>Adjacent(3) = {}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30411" y="3801544"/>
            <a:ext cx="2044149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Bahnschrift" panose="020B0502040204020203" pitchFamily="34" charset="0"/>
              </a:rPr>
              <a:t>Adjacent(4) = {0}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30411" y="4138533"/>
            <a:ext cx="1919115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Bahnschrift" panose="020B0502040204020203" pitchFamily="34" charset="0"/>
              </a:rPr>
              <a:t>Adjacent(5) = {}</a:t>
            </a:r>
          </a:p>
        </p:txBody>
      </p:sp>
      <p:sp>
        <p:nvSpPr>
          <p:cNvPr id="43" name="Oval 42"/>
          <p:cNvSpPr/>
          <p:nvPr/>
        </p:nvSpPr>
        <p:spPr>
          <a:xfrm>
            <a:off x="8818960" y="2309376"/>
            <a:ext cx="487110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/>
          <p:cNvSpPr/>
          <p:nvPr/>
        </p:nvSpPr>
        <p:spPr>
          <a:xfrm>
            <a:off x="8331850" y="2983069"/>
            <a:ext cx="487110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/>
          <p:cNvSpPr/>
          <p:nvPr/>
        </p:nvSpPr>
        <p:spPr>
          <a:xfrm>
            <a:off x="10022493" y="2309376"/>
            <a:ext cx="487110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/>
          <p:cNvSpPr/>
          <p:nvPr/>
        </p:nvSpPr>
        <p:spPr>
          <a:xfrm>
            <a:off x="9422863" y="3226624"/>
            <a:ext cx="487110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/>
          <p:cNvSpPr/>
          <p:nvPr/>
        </p:nvSpPr>
        <p:spPr>
          <a:xfrm>
            <a:off x="8935753" y="4084302"/>
            <a:ext cx="487110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10412751" y="3597192"/>
            <a:ext cx="487110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/>
          <p:cNvSpPr txBox="1"/>
          <p:nvPr/>
        </p:nvSpPr>
        <p:spPr>
          <a:xfrm>
            <a:off x="10110396" y="235581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906863" y="2355818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26874" y="3041958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491087" y="3656081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509867" y="3285513"/>
            <a:ext cx="316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024458" y="4143191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5</a:t>
            </a:r>
          </a:p>
        </p:txBody>
      </p:sp>
      <p:cxnSp>
        <p:nvCxnSpPr>
          <p:cNvPr id="65" name="Straight Arrow Connector 64"/>
          <p:cNvCxnSpPr>
            <a:stCxn id="43" idx="3"/>
            <a:endCxn id="44" idx="0"/>
          </p:cNvCxnSpPr>
          <p:nvPr/>
        </p:nvCxnSpPr>
        <p:spPr>
          <a:xfrm flipH="1">
            <a:off x="8575405" y="2725150"/>
            <a:ext cx="314891" cy="25791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>
            <a:stCxn id="43" idx="6"/>
            <a:endCxn id="45" idx="2"/>
          </p:cNvCxnSpPr>
          <p:nvPr/>
        </p:nvCxnSpPr>
        <p:spPr>
          <a:xfrm>
            <a:off x="9306070" y="2552931"/>
            <a:ext cx="71642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>
            <a:stCxn id="43" idx="5"/>
            <a:endCxn id="47" idx="1"/>
          </p:cNvCxnSpPr>
          <p:nvPr/>
        </p:nvCxnSpPr>
        <p:spPr>
          <a:xfrm>
            <a:off x="9234734" y="2725150"/>
            <a:ext cx="259465" cy="57281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/>
          <p:cNvCxnSpPr>
            <a:stCxn id="47" idx="7"/>
            <a:endCxn id="45" idx="4"/>
          </p:cNvCxnSpPr>
          <p:nvPr/>
        </p:nvCxnSpPr>
        <p:spPr>
          <a:xfrm flipV="1">
            <a:off x="9838637" y="2796486"/>
            <a:ext cx="427411" cy="50147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>
            <a:stCxn id="44" idx="5"/>
            <a:endCxn id="48" idx="1"/>
          </p:cNvCxnSpPr>
          <p:nvPr/>
        </p:nvCxnSpPr>
        <p:spPr>
          <a:xfrm>
            <a:off x="8747624" y="3398843"/>
            <a:ext cx="259465" cy="75679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53AE8-507D-4158-8C91-CE62E7A8032A}" type="datetime1">
              <a:rPr lang="en-US" smtClean="0"/>
              <a:t>30-Sep-24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SWAPNIL BISWAS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510A0-FB96-4102-84E6-46674F03B94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574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  <p:bldP spid="40" grpId="0"/>
      <p:bldP spid="46" grpId="0"/>
      <p:bldP spid="58" grpId="0"/>
      <p:bldP spid="39" grpId="0"/>
      <p:bldP spid="41" grpId="0"/>
      <p:bldP spid="4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Graph Representation in Computer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97280" y="1858931"/>
            <a:ext cx="2989921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700" dirty="0">
                <a:latin typeface="Bahnschrift" panose="020B0502040204020203" pitchFamily="34" charset="0"/>
              </a:rPr>
              <a:t>2 common representation: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20596" y="2284797"/>
            <a:ext cx="2169184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700" dirty="0">
                <a:latin typeface="Bahnschrift" panose="020B0502040204020203" pitchFamily="34" charset="0"/>
              </a:rPr>
              <a:t>Adjacency Matrix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89780" y="2284796"/>
            <a:ext cx="1152880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[2D Array]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20596" y="2710661"/>
            <a:ext cx="1867819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700" dirty="0">
                <a:latin typeface="Bahnschrift" panose="020B0502040204020203" pitchFamily="34" charset="0"/>
              </a:rPr>
              <a:t>Adjacency List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89780" y="2710661"/>
            <a:ext cx="1364476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[Linked List]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54256" y="2710660"/>
            <a:ext cx="930063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[vector]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6C61F-8DB7-4FF6-BD1E-565EE9D07F35}" type="datetime1">
              <a:rPr lang="en-US" smtClean="0"/>
              <a:t>30-Sep-24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SWAPNIL BISWAS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510A0-FB96-4102-84E6-46674F03B94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718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/>
      <p:bldP spid="27" grpId="0"/>
      <p:bldP spid="28" grpId="0"/>
      <p:bldP spid="29" grpId="0"/>
      <p:bldP spid="30" grpId="0"/>
      <p:bldP spid="3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Adjacency Matrix: Directed Graph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97280" y="1858931"/>
            <a:ext cx="4987263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700" dirty="0">
                <a:latin typeface="Bahnschrift" panose="020B0502040204020203" pitchFamily="34" charset="0"/>
              </a:rPr>
              <a:t>Adjacency is represented by a 2-D array/matrix</a:t>
            </a:r>
          </a:p>
        </p:txBody>
      </p:sp>
      <p:sp>
        <p:nvSpPr>
          <p:cNvPr id="63" name="Oval 62"/>
          <p:cNvSpPr/>
          <p:nvPr/>
        </p:nvSpPr>
        <p:spPr>
          <a:xfrm>
            <a:off x="9240125" y="2036376"/>
            <a:ext cx="487110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/>
          <p:cNvSpPr/>
          <p:nvPr/>
        </p:nvSpPr>
        <p:spPr>
          <a:xfrm>
            <a:off x="8753015" y="2710069"/>
            <a:ext cx="487110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/>
          <p:cNvSpPr/>
          <p:nvPr/>
        </p:nvSpPr>
        <p:spPr>
          <a:xfrm>
            <a:off x="10443658" y="2036376"/>
            <a:ext cx="487110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/>
          <p:cNvSpPr/>
          <p:nvPr/>
        </p:nvSpPr>
        <p:spPr>
          <a:xfrm>
            <a:off x="9844028" y="2953624"/>
            <a:ext cx="487110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/>
          <p:cNvSpPr/>
          <p:nvPr/>
        </p:nvSpPr>
        <p:spPr>
          <a:xfrm>
            <a:off x="9356918" y="3811302"/>
            <a:ext cx="487110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/>
          <p:cNvSpPr/>
          <p:nvPr/>
        </p:nvSpPr>
        <p:spPr>
          <a:xfrm>
            <a:off x="10833916" y="3324192"/>
            <a:ext cx="487110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TextBox 73"/>
          <p:cNvSpPr txBox="1"/>
          <p:nvPr/>
        </p:nvSpPr>
        <p:spPr>
          <a:xfrm>
            <a:off x="10531561" y="208281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328028" y="2082818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848039" y="2768958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2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912252" y="3383081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3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931032" y="3012513"/>
            <a:ext cx="316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445623" y="3870191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5</a:t>
            </a:r>
          </a:p>
        </p:txBody>
      </p:sp>
      <p:cxnSp>
        <p:nvCxnSpPr>
          <p:cNvPr id="80" name="Straight Arrow Connector 79"/>
          <p:cNvCxnSpPr>
            <a:stCxn id="63" idx="3"/>
            <a:endCxn id="64" idx="0"/>
          </p:cNvCxnSpPr>
          <p:nvPr/>
        </p:nvCxnSpPr>
        <p:spPr>
          <a:xfrm flipH="1">
            <a:off x="8996570" y="2452150"/>
            <a:ext cx="314891" cy="25791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>
            <a:stCxn id="63" idx="6"/>
            <a:endCxn id="70" idx="2"/>
          </p:cNvCxnSpPr>
          <p:nvPr/>
        </p:nvCxnSpPr>
        <p:spPr>
          <a:xfrm>
            <a:off x="9727235" y="2279931"/>
            <a:ext cx="71642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/>
          <p:cNvCxnSpPr>
            <a:stCxn id="63" idx="5"/>
            <a:endCxn id="71" idx="1"/>
          </p:cNvCxnSpPr>
          <p:nvPr/>
        </p:nvCxnSpPr>
        <p:spPr>
          <a:xfrm>
            <a:off x="9655899" y="2452150"/>
            <a:ext cx="259465" cy="57281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/>
          <p:cNvCxnSpPr>
            <a:stCxn id="71" idx="7"/>
            <a:endCxn id="70" idx="4"/>
          </p:cNvCxnSpPr>
          <p:nvPr/>
        </p:nvCxnSpPr>
        <p:spPr>
          <a:xfrm flipV="1">
            <a:off x="10259802" y="2523486"/>
            <a:ext cx="427411" cy="50147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/>
          <p:cNvCxnSpPr>
            <a:stCxn id="64" idx="5"/>
            <a:endCxn id="72" idx="1"/>
          </p:cNvCxnSpPr>
          <p:nvPr/>
        </p:nvCxnSpPr>
        <p:spPr>
          <a:xfrm>
            <a:off x="9168789" y="3125843"/>
            <a:ext cx="259465" cy="75679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1097279" y="2212874"/>
            <a:ext cx="3414717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700" dirty="0">
                <a:latin typeface="Bahnschrift" panose="020B0502040204020203" pitchFamily="34" charset="0"/>
              </a:rPr>
              <a:t>Dimension of the matrix is n x n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97279" y="2566571"/>
            <a:ext cx="3728906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700" dirty="0">
                <a:latin typeface="Bahnschrift" panose="020B0502040204020203" pitchFamily="34" charset="0"/>
              </a:rPr>
              <a:t>Vertices are represented by index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568645" y="2222831"/>
            <a:ext cx="1231427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[Here n = 6]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6010873" y="3543055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Rectangle 126"/>
          <p:cNvSpPr/>
          <p:nvPr/>
        </p:nvSpPr>
        <p:spPr>
          <a:xfrm>
            <a:off x="6438257" y="3543055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Rectangle 127"/>
          <p:cNvSpPr/>
          <p:nvPr/>
        </p:nvSpPr>
        <p:spPr>
          <a:xfrm>
            <a:off x="6866478" y="3543055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Rectangle 128"/>
          <p:cNvSpPr/>
          <p:nvPr/>
        </p:nvSpPr>
        <p:spPr>
          <a:xfrm>
            <a:off x="7293862" y="3543055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Rectangle 129"/>
          <p:cNvSpPr/>
          <p:nvPr/>
        </p:nvSpPr>
        <p:spPr>
          <a:xfrm>
            <a:off x="7721246" y="3543055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Rectangle 130"/>
          <p:cNvSpPr/>
          <p:nvPr/>
        </p:nvSpPr>
        <p:spPr>
          <a:xfrm>
            <a:off x="8148630" y="3543055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Rectangle 131"/>
          <p:cNvSpPr/>
          <p:nvPr/>
        </p:nvSpPr>
        <p:spPr>
          <a:xfrm>
            <a:off x="6010967" y="3971276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Rectangle 132"/>
          <p:cNvSpPr/>
          <p:nvPr/>
        </p:nvSpPr>
        <p:spPr>
          <a:xfrm>
            <a:off x="6438351" y="3971276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Rectangle 133"/>
          <p:cNvSpPr/>
          <p:nvPr/>
        </p:nvSpPr>
        <p:spPr>
          <a:xfrm>
            <a:off x="6866572" y="3971276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Rectangle 134"/>
          <p:cNvSpPr/>
          <p:nvPr/>
        </p:nvSpPr>
        <p:spPr>
          <a:xfrm>
            <a:off x="7293956" y="3971276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Rectangle 135"/>
          <p:cNvSpPr/>
          <p:nvPr/>
        </p:nvSpPr>
        <p:spPr>
          <a:xfrm>
            <a:off x="7721340" y="3971276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Rectangle 136"/>
          <p:cNvSpPr/>
          <p:nvPr/>
        </p:nvSpPr>
        <p:spPr>
          <a:xfrm>
            <a:off x="8148724" y="3971276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Rectangle 137"/>
          <p:cNvSpPr/>
          <p:nvPr/>
        </p:nvSpPr>
        <p:spPr>
          <a:xfrm>
            <a:off x="6010779" y="4399497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Rectangle 138"/>
          <p:cNvSpPr/>
          <p:nvPr/>
        </p:nvSpPr>
        <p:spPr>
          <a:xfrm>
            <a:off x="6438163" y="4399497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Rectangle 139"/>
          <p:cNvSpPr/>
          <p:nvPr/>
        </p:nvSpPr>
        <p:spPr>
          <a:xfrm>
            <a:off x="6866384" y="4399497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Rectangle 140"/>
          <p:cNvSpPr/>
          <p:nvPr/>
        </p:nvSpPr>
        <p:spPr>
          <a:xfrm>
            <a:off x="7293768" y="4399497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Rectangle 141"/>
          <p:cNvSpPr/>
          <p:nvPr/>
        </p:nvSpPr>
        <p:spPr>
          <a:xfrm>
            <a:off x="7721152" y="4399497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Rectangle 142"/>
          <p:cNvSpPr/>
          <p:nvPr/>
        </p:nvSpPr>
        <p:spPr>
          <a:xfrm>
            <a:off x="8148536" y="4399497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Rectangle 143"/>
          <p:cNvSpPr/>
          <p:nvPr/>
        </p:nvSpPr>
        <p:spPr>
          <a:xfrm>
            <a:off x="6010873" y="4827718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Rectangle 144"/>
          <p:cNvSpPr/>
          <p:nvPr/>
        </p:nvSpPr>
        <p:spPr>
          <a:xfrm>
            <a:off x="6438257" y="4827718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Rectangle 145"/>
          <p:cNvSpPr/>
          <p:nvPr/>
        </p:nvSpPr>
        <p:spPr>
          <a:xfrm>
            <a:off x="6866478" y="4827718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Rectangle 146"/>
          <p:cNvSpPr/>
          <p:nvPr/>
        </p:nvSpPr>
        <p:spPr>
          <a:xfrm>
            <a:off x="7293862" y="4827718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Rectangle 147"/>
          <p:cNvSpPr/>
          <p:nvPr/>
        </p:nvSpPr>
        <p:spPr>
          <a:xfrm>
            <a:off x="7721246" y="4827718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Rectangle 148"/>
          <p:cNvSpPr/>
          <p:nvPr/>
        </p:nvSpPr>
        <p:spPr>
          <a:xfrm>
            <a:off x="8148630" y="4827718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Rectangle 149"/>
          <p:cNvSpPr/>
          <p:nvPr/>
        </p:nvSpPr>
        <p:spPr>
          <a:xfrm>
            <a:off x="6010685" y="5255939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Rectangle 150"/>
          <p:cNvSpPr/>
          <p:nvPr/>
        </p:nvSpPr>
        <p:spPr>
          <a:xfrm>
            <a:off x="6438069" y="5255939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Rectangle 151"/>
          <p:cNvSpPr/>
          <p:nvPr/>
        </p:nvSpPr>
        <p:spPr>
          <a:xfrm>
            <a:off x="6866290" y="5255939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Rectangle 152"/>
          <p:cNvSpPr/>
          <p:nvPr/>
        </p:nvSpPr>
        <p:spPr>
          <a:xfrm>
            <a:off x="7293674" y="5255939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Rectangle 153"/>
          <p:cNvSpPr/>
          <p:nvPr/>
        </p:nvSpPr>
        <p:spPr>
          <a:xfrm>
            <a:off x="7721058" y="5255939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Rectangle 154"/>
          <p:cNvSpPr/>
          <p:nvPr/>
        </p:nvSpPr>
        <p:spPr>
          <a:xfrm>
            <a:off x="8148442" y="5255939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Rectangle 155"/>
          <p:cNvSpPr/>
          <p:nvPr/>
        </p:nvSpPr>
        <p:spPr>
          <a:xfrm>
            <a:off x="6010779" y="5684160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Rectangle 156"/>
          <p:cNvSpPr/>
          <p:nvPr/>
        </p:nvSpPr>
        <p:spPr>
          <a:xfrm>
            <a:off x="6438163" y="5684160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Rectangle 157"/>
          <p:cNvSpPr/>
          <p:nvPr/>
        </p:nvSpPr>
        <p:spPr>
          <a:xfrm>
            <a:off x="6866384" y="5684160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Rectangle 158"/>
          <p:cNvSpPr/>
          <p:nvPr/>
        </p:nvSpPr>
        <p:spPr>
          <a:xfrm>
            <a:off x="7293768" y="5684160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" name="Rectangle 159"/>
          <p:cNvSpPr/>
          <p:nvPr/>
        </p:nvSpPr>
        <p:spPr>
          <a:xfrm>
            <a:off x="7721152" y="5684160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Rectangle 160"/>
          <p:cNvSpPr/>
          <p:nvPr/>
        </p:nvSpPr>
        <p:spPr>
          <a:xfrm>
            <a:off x="8148536" y="5684160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" name="TextBox 161"/>
          <p:cNvSpPr txBox="1"/>
          <p:nvPr/>
        </p:nvSpPr>
        <p:spPr>
          <a:xfrm>
            <a:off x="6075821" y="3204874"/>
            <a:ext cx="30489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0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6923645" y="3204872"/>
            <a:ext cx="296876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2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499733" y="3204873"/>
            <a:ext cx="25680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1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7347557" y="3202660"/>
            <a:ext cx="304892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3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8195381" y="3202658"/>
            <a:ext cx="304892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5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7771469" y="3202659"/>
            <a:ext cx="304892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4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5660067" y="3582116"/>
            <a:ext cx="30489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0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5660067" y="4008414"/>
            <a:ext cx="25680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1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5645909" y="4434712"/>
            <a:ext cx="296876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2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5645909" y="4902988"/>
            <a:ext cx="30008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3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5649410" y="5276965"/>
            <a:ext cx="308098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4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5649410" y="5721298"/>
            <a:ext cx="303288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5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1097279" y="2961318"/>
            <a:ext cx="4802918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700" dirty="0">
                <a:latin typeface="Bahnschrift" panose="020B0502040204020203" pitchFamily="34" charset="0"/>
              </a:rPr>
              <a:t>Initially all the values of the matrix are set to 0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7029030" y="2909711"/>
            <a:ext cx="474810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 err="1">
                <a:latin typeface="Bahnschrift" panose="020B0502040204020203" pitchFamily="34" charset="0"/>
              </a:rPr>
              <a:t>adj</a:t>
            </a:r>
            <a:endParaRPr lang="en-US" sz="1700" dirty="0">
              <a:latin typeface="Bahnschrift" panose="020B0502040204020203" pitchFamily="34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6064252" y="3573225"/>
            <a:ext cx="2445681" cy="2528694"/>
            <a:chOff x="6064252" y="3573225"/>
            <a:chExt cx="2445681" cy="2528694"/>
          </a:xfrm>
        </p:grpSpPr>
        <p:sp>
          <p:nvSpPr>
            <p:cNvPr id="183" name="TextBox 182"/>
            <p:cNvSpPr txBox="1"/>
            <p:nvPr/>
          </p:nvSpPr>
          <p:spPr>
            <a:xfrm>
              <a:off x="6085298" y="3575441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184" name="TextBox 183"/>
            <p:cNvSpPr txBox="1"/>
            <p:nvPr/>
          </p:nvSpPr>
          <p:spPr>
            <a:xfrm>
              <a:off x="6933122" y="3575439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185" name="TextBox 184"/>
            <p:cNvSpPr txBox="1"/>
            <p:nvPr/>
          </p:nvSpPr>
          <p:spPr>
            <a:xfrm>
              <a:off x="6509210" y="3575440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186" name="TextBox 185"/>
            <p:cNvSpPr txBox="1"/>
            <p:nvPr/>
          </p:nvSpPr>
          <p:spPr>
            <a:xfrm>
              <a:off x="7357034" y="3573227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187" name="TextBox 186"/>
            <p:cNvSpPr txBox="1"/>
            <p:nvPr/>
          </p:nvSpPr>
          <p:spPr>
            <a:xfrm>
              <a:off x="8204858" y="3573225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188" name="TextBox 187"/>
            <p:cNvSpPr txBox="1"/>
            <p:nvPr/>
          </p:nvSpPr>
          <p:spPr>
            <a:xfrm>
              <a:off x="7780946" y="3573226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189" name="TextBox 188"/>
            <p:cNvSpPr txBox="1"/>
            <p:nvPr/>
          </p:nvSpPr>
          <p:spPr>
            <a:xfrm>
              <a:off x="6075821" y="4008414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190" name="TextBox 189"/>
            <p:cNvSpPr txBox="1"/>
            <p:nvPr/>
          </p:nvSpPr>
          <p:spPr>
            <a:xfrm>
              <a:off x="6923645" y="4008412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191" name="TextBox 190"/>
            <p:cNvSpPr txBox="1"/>
            <p:nvPr/>
          </p:nvSpPr>
          <p:spPr>
            <a:xfrm>
              <a:off x="6499733" y="4008413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192" name="TextBox 191"/>
            <p:cNvSpPr txBox="1"/>
            <p:nvPr/>
          </p:nvSpPr>
          <p:spPr>
            <a:xfrm>
              <a:off x="7347557" y="4006200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193" name="TextBox 192"/>
            <p:cNvSpPr txBox="1"/>
            <p:nvPr/>
          </p:nvSpPr>
          <p:spPr>
            <a:xfrm>
              <a:off x="8195381" y="4006198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194" name="TextBox 193"/>
            <p:cNvSpPr txBox="1"/>
            <p:nvPr/>
          </p:nvSpPr>
          <p:spPr>
            <a:xfrm>
              <a:off x="7771469" y="4006199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195" name="TextBox 194"/>
            <p:cNvSpPr txBox="1"/>
            <p:nvPr/>
          </p:nvSpPr>
          <p:spPr>
            <a:xfrm>
              <a:off x="6073729" y="4453809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196" name="TextBox 195"/>
            <p:cNvSpPr txBox="1"/>
            <p:nvPr/>
          </p:nvSpPr>
          <p:spPr>
            <a:xfrm>
              <a:off x="6921553" y="4453807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197" name="TextBox 196"/>
            <p:cNvSpPr txBox="1"/>
            <p:nvPr/>
          </p:nvSpPr>
          <p:spPr>
            <a:xfrm>
              <a:off x="6497641" y="4453808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198" name="TextBox 197"/>
            <p:cNvSpPr txBox="1"/>
            <p:nvPr/>
          </p:nvSpPr>
          <p:spPr>
            <a:xfrm>
              <a:off x="7345465" y="4451595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199" name="TextBox 198"/>
            <p:cNvSpPr txBox="1"/>
            <p:nvPr/>
          </p:nvSpPr>
          <p:spPr>
            <a:xfrm>
              <a:off x="8193289" y="4451593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00" name="TextBox 199"/>
            <p:cNvSpPr txBox="1"/>
            <p:nvPr/>
          </p:nvSpPr>
          <p:spPr>
            <a:xfrm>
              <a:off x="7769377" y="4451594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01" name="TextBox 200"/>
            <p:cNvSpPr txBox="1"/>
            <p:nvPr/>
          </p:nvSpPr>
          <p:spPr>
            <a:xfrm>
              <a:off x="6064252" y="4886782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02" name="TextBox 201"/>
            <p:cNvSpPr txBox="1"/>
            <p:nvPr/>
          </p:nvSpPr>
          <p:spPr>
            <a:xfrm>
              <a:off x="6912076" y="4886780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03" name="TextBox 202"/>
            <p:cNvSpPr txBox="1"/>
            <p:nvPr/>
          </p:nvSpPr>
          <p:spPr>
            <a:xfrm>
              <a:off x="6488164" y="4886781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04" name="TextBox 203"/>
            <p:cNvSpPr txBox="1"/>
            <p:nvPr/>
          </p:nvSpPr>
          <p:spPr>
            <a:xfrm>
              <a:off x="7335988" y="4884568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05" name="TextBox 204"/>
            <p:cNvSpPr txBox="1"/>
            <p:nvPr/>
          </p:nvSpPr>
          <p:spPr>
            <a:xfrm>
              <a:off x="8183812" y="4884566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06" name="TextBox 205"/>
            <p:cNvSpPr txBox="1"/>
            <p:nvPr/>
          </p:nvSpPr>
          <p:spPr>
            <a:xfrm>
              <a:off x="7759900" y="4884567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07" name="TextBox 206"/>
            <p:cNvSpPr txBox="1"/>
            <p:nvPr/>
          </p:nvSpPr>
          <p:spPr>
            <a:xfrm>
              <a:off x="6085481" y="5315003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08" name="TextBox 207"/>
            <p:cNvSpPr txBox="1"/>
            <p:nvPr/>
          </p:nvSpPr>
          <p:spPr>
            <a:xfrm>
              <a:off x="6933305" y="5315001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09" name="TextBox 208"/>
            <p:cNvSpPr txBox="1"/>
            <p:nvPr/>
          </p:nvSpPr>
          <p:spPr>
            <a:xfrm>
              <a:off x="6509393" y="5315002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10" name="TextBox 209"/>
            <p:cNvSpPr txBox="1"/>
            <p:nvPr/>
          </p:nvSpPr>
          <p:spPr>
            <a:xfrm>
              <a:off x="7357217" y="5312789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11" name="TextBox 210"/>
            <p:cNvSpPr txBox="1"/>
            <p:nvPr/>
          </p:nvSpPr>
          <p:spPr>
            <a:xfrm>
              <a:off x="8205041" y="5312787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12" name="TextBox 211"/>
            <p:cNvSpPr txBox="1"/>
            <p:nvPr/>
          </p:nvSpPr>
          <p:spPr>
            <a:xfrm>
              <a:off x="7781129" y="5312788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13" name="TextBox 212"/>
            <p:cNvSpPr txBox="1"/>
            <p:nvPr/>
          </p:nvSpPr>
          <p:spPr>
            <a:xfrm>
              <a:off x="6076004" y="5747976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14" name="TextBox 213"/>
            <p:cNvSpPr txBox="1"/>
            <p:nvPr/>
          </p:nvSpPr>
          <p:spPr>
            <a:xfrm>
              <a:off x="6923828" y="5747974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15" name="TextBox 214"/>
            <p:cNvSpPr txBox="1"/>
            <p:nvPr/>
          </p:nvSpPr>
          <p:spPr>
            <a:xfrm>
              <a:off x="6499916" y="5747975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16" name="TextBox 215"/>
            <p:cNvSpPr txBox="1"/>
            <p:nvPr/>
          </p:nvSpPr>
          <p:spPr>
            <a:xfrm>
              <a:off x="7347740" y="5745762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17" name="TextBox 216"/>
            <p:cNvSpPr txBox="1"/>
            <p:nvPr/>
          </p:nvSpPr>
          <p:spPr>
            <a:xfrm>
              <a:off x="8195564" y="5745760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18" name="TextBox 217"/>
            <p:cNvSpPr txBox="1"/>
            <p:nvPr/>
          </p:nvSpPr>
          <p:spPr>
            <a:xfrm>
              <a:off x="7771652" y="5745761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</p:grpSp>
      <p:sp>
        <p:nvSpPr>
          <p:cNvPr id="117" name="TextBox 116"/>
          <p:cNvSpPr txBox="1"/>
          <p:nvPr/>
        </p:nvSpPr>
        <p:spPr>
          <a:xfrm>
            <a:off x="1097279" y="3358214"/>
            <a:ext cx="3809056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700" dirty="0">
                <a:latin typeface="Bahnschrift" panose="020B0502040204020203" pitchFamily="34" charset="0"/>
              </a:rPr>
              <a:t>Now consider the edges one by one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097236" y="3730075"/>
            <a:ext cx="3382657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700" dirty="0">
                <a:latin typeface="Bahnschrift" panose="020B0502040204020203" pitchFamily="34" charset="0"/>
              </a:rPr>
              <a:t>For an edge (</a:t>
            </a:r>
            <a:r>
              <a:rPr lang="en-US" sz="1700" dirty="0" err="1">
                <a:latin typeface="Bahnschrift" panose="020B0502040204020203" pitchFamily="34" charset="0"/>
              </a:rPr>
              <a:t>u,v</a:t>
            </a:r>
            <a:r>
              <a:rPr lang="en-US" sz="1700" dirty="0">
                <a:latin typeface="Bahnschrift" panose="020B0502040204020203" pitchFamily="34" charset="0"/>
              </a:rPr>
              <a:t>) do </a:t>
            </a:r>
            <a:r>
              <a:rPr lang="en-US" sz="1700" dirty="0" err="1">
                <a:latin typeface="Bahnschrift" panose="020B0502040204020203" pitchFamily="34" charset="0"/>
              </a:rPr>
              <a:t>adj</a:t>
            </a:r>
            <a:r>
              <a:rPr lang="en-US" sz="1700" dirty="0">
                <a:latin typeface="Bahnschrift" panose="020B0502040204020203" pitchFamily="34" charset="0"/>
              </a:rPr>
              <a:t>[u][v] = 1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8155132" y="4397575"/>
            <a:ext cx="428221" cy="428221"/>
            <a:chOff x="883125" y="5015247"/>
            <a:chExt cx="428221" cy="428221"/>
          </a:xfrm>
        </p:grpSpPr>
        <p:sp>
          <p:nvSpPr>
            <p:cNvPr id="119" name="Rectangle 118"/>
            <p:cNvSpPr/>
            <p:nvPr/>
          </p:nvSpPr>
          <p:spPr>
            <a:xfrm>
              <a:off x="883125" y="5015247"/>
              <a:ext cx="428221" cy="428221"/>
            </a:xfrm>
            <a:prstGeom prst="rect">
              <a:avLst/>
            </a:prstGeom>
            <a:solidFill>
              <a:srgbClr val="FF00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TextBox 120"/>
            <p:cNvSpPr txBox="1"/>
            <p:nvPr/>
          </p:nvSpPr>
          <p:spPr>
            <a:xfrm>
              <a:off x="968834" y="5055002"/>
              <a:ext cx="25680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1</a:t>
              </a:r>
            </a:p>
          </p:txBody>
        </p:sp>
      </p:grpSp>
      <p:cxnSp>
        <p:nvCxnSpPr>
          <p:cNvPr id="5" name="Straight Arrow Connector 4"/>
          <p:cNvCxnSpPr>
            <a:stCxn id="63" idx="3"/>
            <a:endCxn id="64" idx="0"/>
          </p:cNvCxnSpPr>
          <p:nvPr/>
        </p:nvCxnSpPr>
        <p:spPr>
          <a:xfrm flipH="1">
            <a:off x="8996570" y="2452150"/>
            <a:ext cx="314891" cy="257919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6" name="Group 175"/>
          <p:cNvGrpSpPr/>
          <p:nvPr/>
        </p:nvGrpSpPr>
        <p:grpSpPr>
          <a:xfrm>
            <a:off x="6874983" y="3974585"/>
            <a:ext cx="428221" cy="428221"/>
            <a:chOff x="883125" y="5015247"/>
            <a:chExt cx="428221" cy="428221"/>
          </a:xfrm>
        </p:grpSpPr>
        <p:sp>
          <p:nvSpPr>
            <p:cNvPr id="219" name="Rectangle 218"/>
            <p:cNvSpPr/>
            <p:nvPr/>
          </p:nvSpPr>
          <p:spPr>
            <a:xfrm>
              <a:off x="883125" y="5015247"/>
              <a:ext cx="428221" cy="428221"/>
            </a:xfrm>
            <a:prstGeom prst="rect">
              <a:avLst/>
            </a:prstGeom>
            <a:solidFill>
              <a:srgbClr val="FF00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0" name="TextBox 219"/>
            <p:cNvSpPr txBox="1"/>
            <p:nvPr/>
          </p:nvSpPr>
          <p:spPr>
            <a:xfrm>
              <a:off x="968834" y="5055002"/>
              <a:ext cx="25680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1</a:t>
              </a:r>
            </a:p>
          </p:txBody>
        </p:sp>
      </p:grpSp>
      <p:cxnSp>
        <p:nvCxnSpPr>
          <p:cNvPr id="9" name="Straight Arrow Connector 8"/>
          <p:cNvCxnSpPr>
            <a:stCxn id="63" idx="5"/>
            <a:endCxn id="71" idx="1"/>
          </p:cNvCxnSpPr>
          <p:nvPr/>
        </p:nvCxnSpPr>
        <p:spPr>
          <a:xfrm>
            <a:off x="9655899" y="2452150"/>
            <a:ext cx="259465" cy="57281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1" name="Group 220"/>
          <p:cNvGrpSpPr/>
          <p:nvPr/>
        </p:nvGrpSpPr>
        <p:grpSpPr>
          <a:xfrm>
            <a:off x="7727936" y="3971276"/>
            <a:ext cx="428221" cy="428221"/>
            <a:chOff x="883125" y="5015247"/>
            <a:chExt cx="428221" cy="428221"/>
          </a:xfrm>
        </p:grpSpPr>
        <p:sp>
          <p:nvSpPr>
            <p:cNvPr id="222" name="Rectangle 221"/>
            <p:cNvSpPr/>
            <p:nvPr/>
          </p:nvSpPr>
          <p:spPr>
            <a:xfrm>
              <a:off x="883125" y="5015247"/>
              <a:ext cx="428221" cy="428221"/>
            </a:xfrm>
            <a:prstGeom prst="rect">
              <a:avLst/>
            </a:prstGeom>
            <a:solidFill>
              <a:srgbClr val="FF00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3" name="TextBox 222"/>
            <p:cNvSpPr txBox="1"/>
            <p:nvPr/>
          </p:nvSpPr>
          <p:spPr>
            <a:xfrm>
              <a:off x="968834" y="5055002"/>
              <a:ext cx="25680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1</a:t>
              </a:r>
            </a:p>
          </p:txBody>
        </p:sp>
      </p:grpSp>
      <p:cxnSp>
        <p:nvCxnSpPr>
          <p:cNvPr id="11" name="Straight Arrow Connector 10"/>
          <p:cNvCxnSpPr>
            <a:stCxn id="63" idx="6"/>
            <a:endCxn id="70" idx="2"/>
          </p:cNvCxnSpPr>
          <p:nvPr/>
        </p:nvCxnSpPr>
        <p:spPr>
          <a:xfrm>
            <a:off x="9727235" y="2279931"/>
            <a:ext cx="716423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4" name="Group 223"/>
          <p:cNvGrpSpPr/>
          <p:nvPr/>
        </p:nvGrpSpPr>
        <p:grpSpPr>
          <a:xfrm>
            <a:off x="6009177" y="3971276"/>
            <a:ext cx="428221" cy="428221"/>
            <a:chOff x="883125" y="5015247"/>
            <a:chExt cx="428221" cy="428221"/>
          </a:xfrm>
        </p:grpSpPr>
        <p:sp>
          <p:nvSpPr>
            <p:cNvPr id="225" name="Rectangle 224"/>
            <p:cNvSpPr/>
            <p:nvPr/>
          </p:nvSpPr>
          <p:spPr>
            <a:xfrm>
              <a:off x="883125" y="5015247"/>
              <a:ext cx="428221" cy="428221"/>
            </a:xfrm>
            <a:prstGeom prst="rect">
              <a:avLst/>
            </a:prstGeom>
            <a:solidFill>
              <a:srgbClr val="FF00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6" name="TextBox 225"/>
            <p:cNvSpPr txBox="1"/>
            <p:nvPr/>
          </p:nvSpPr>
          <p:spPr>
            <a:xfrm>
              <a:off x="968834" y="5055002"/>
              <a:ext cx="25680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1</a:t>
              </a:r>
            </a:p>
          </p:txBody>
        </p:sp>
      </p:grpSp>
      <p:cxnSp>
        <p:nvCxnSpPr>
          <p:cNvPr id="13" name="Straight Arrow Connector 12"/>
          <p:cNvCxnSpPr>
            <a:stCxn id="71" idx="7"/>
            <a:endCxn id="70" idx="4"/>
          </p:cNvCxnSpPr>
          <p:nvPr/>
        </p:nvCxnSpPr>
        <p:spPr>
          <a:xfrm flipV="1">
            <a:off x="10259802" y="2523486"/>
            <a:ext cx="427411" cy="50147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7" name="Group 226"/>
          <p:cNvGrpSpPr/>
          <p:nvPr/>
        </p:nvGrpSpPr>
        <p:grpSpPr>
          <a:xfrm>
            <a:off x="6016995" y="5250846"/>
            <a:ext cx="428221" cy="428221"/>
            <a:chOff x="883125" y="5015247"/>
            <a:chExt cx="428221" cy="428221"/>
          </a:xfrm>
        </p:grpSpPr>
        <p:sp>
          <p:nvSpPr>
            <p:cNvPr id="228" name="Rectangle 227"/>
            <p:cNvSpPr/>
            <p:nvPr/>
          </p:nvSpPr>
          <p:spPr>
            <a:xfrm>
              <a:off x="883125" y="5015247"/>
              <a:ext cx="428221" cy="428221"/>
            </a:xfrm>
            <a:prstGeom prst="rect">
              <a:avLst/>
            </a:prstGeom>
            <a:solidFill>
              <a:srgbClr val="FF00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9" name="TextBox 228"/>
            <p:cNvSpPr txBox="1"/>
            <p:nvPr/>
          </p:nvSpPr>
          <p:spPr>
            <a:xfrm>
              <a:off x="968834" y="5055002"/>
              <a:ext cx="25680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1</a:t>
              </a:r>
            </a:p>
          </p:txBody>
        </p:sp>
      </p:grpSp>
      <p:cxnSp>
        <p:nvCxnSpPr>
          <p:cNvPr id="15" name="Straight Arrow Connector 14"/>
          <p:cNvCxnSpPr>
            <a:stCxn id="64" idx="5"/>
            <a:endCxn id="72" idx="1"/>
          </p:cNvCxnSpPr>
          <p:nvPr/>
        </p:nvCxnSpPr>
        <p:spPr>
          <a:xfrm>
            <a:off x="9168789" y="3125843"/>
            <a:ext cx="259465" cy="756795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FBCE1-166C-45C8-92E5-D1A05550BC24}" type="datetime1">
              <a:rPr lang="en-US" smtClean="0"/>
              <a:t>30-Sep-24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SWAPNIL BISWAS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510A0-FB96-4102-84E6-46674F03B94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97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1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>
                      <p:stCondLst>
                        <p:cond delay="indefinite"/>
                      </p:stCondLst>
                      <p:childTnLst>
                        <p:par>
                          <p:cTn id="223" fill="hold">
                            <p:stCondLst>
                              <p:cond delay="0"/>
                            </p:stCondLst>
                            <p:childTnLst>
                              <p:par>
                                <p:cTn id="2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>
                      <p:stCondLst>
                        <p:cond delay="indefinite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/>
      <p:bldP spid="85" grpId="0"/>
      <p:bldP spid="86" grpId="0"/>
      <p:bldP spid="87" grpId="0"/>
      <p:bldP spid="126" grpId="0" animBg="1"/>
      <p:bldP spid="127" grpId="0" animBg="1"/>
      <p:bldP spid="128" grpId="0" animBg="1"/>
      <p:bldP spid="129" grpId="0" animBg="1"/>
      <p:bldP spid="130" grpId="0" animBg="1"/>
      <p:bldP spid="131" grpId="0" animBg="1"/>
      <p:bldP spid="132" grpId="0" animBg="1"/>
      <p:bldP spid="133" grpId="0" animBg="1"/>
      <p:bldP spid="134" grpId="0" animBg="1"/>
      <p:bldP spid="135" grpId="0" animBg="1"/>
      <p:bldP spid="136" grpId="0" animBg="1"/>
      <p:bldP spid="137" grpId="0" animBg="1"/>
      <p:bldP spid="138" grpId="0" animBg="1"/>
      <p:bldP spid="139" grpId="0" animBg="1"/>
      <p:bldP spid="140" grpId="0" animBg="1"/>
      <p:bldP spid="141" grpId="0" animBg="1"/>
      <p:bldP spid="142" grpId="0" animBg="1"/>
      <p:bldP spid="143" grpId="0" animBg="1"/>
      <p:bldP spid="144" grpId="0" animBg="1"/>
      <p:bldP spid="145" grpId="0" animBg="1"/>
      <p:bldP spid="146" grpId="0" animBg="1"/>
      <p:bldP spid="147" grpId="0" animBg="1"/>
      <p:bldP spid="148" grpId="0" animBg="1"/>
      <p:bldP spid="149" grpId="0" animBg="1"/>
      <p:bldP spid="150" grpId="0" animBg="1"/>
      <p:bldP spid="151" grpId="0" animBg="1"/>
      <p:bldP spid="152" grpId="0" animBg="1"/>
      <p:bldP spid="153" grpId="0" animBg="1"/>
      <p:bldP spid="154" grpId="0" animBg="1"/>
      <p:bldP spid="155" grpId="0" animBg="1"/>
      <p:bldP spid="156" grpId="0" animBg="1"/>
      <p:bldP spid="157" grpId="0" animBg="1"/>
      <p:bldP spid="158" grpId="0" animBg="1"/>
      <p:bldP spid="159" grpId="0" animBg="1"/>
      <p:bldP spid="160" grpId="0" animBg="1"/>
      <p:bldP spid="161" grpId="0" animBg="1"/>
      <p:bldP spid="162" grpId="0"/>
      <p:bldP spid="163" grpId="0"/>
      <p:bldP spid="164" grpId="0"/>
      <p:bldP spid="165" grpId="0"/>
      <p:bldP spid="166" grpId="0"/>
      <p:bldP spid="167" grpId="0"/>
      <p:bldP spid="168" grpId="0"/>
      <p:bldP spid="169" grpId="0"/>
      <p:bldP spid="170" grpId="0"/>
      <p:bldP spid="171" grpId="0"/>
      <p:bldP spid="172" grpId="0"/>
      <p:bldP spid="173" grpId="0"/>
      <p:bldP spid="174" grpId="0"/>
      <p:bldP spid="175" grpId="0"/>
      <p:bldP spid="117" grpId="0"/>
      <p:bldP spid="11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028044" y="54200"/>
            <a:ext cx="10058400" cy="1450757"/>
          </a:xfrm>
        </p:spPr>
        <p:txBody>
          <a:bodyPr/>
          <a:lstStyle/>
          <a:p>
            <a:r>
              <a:rPr lang="en-US" dirty="0"/>
              <a:t>Adjacency Matrix: Undirected Graph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97280" y="1858931"/>
            <a:ext cx="4051109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700" dirty="0">
                <a:latin typeface="Bahnschrift" panose="020B0502040204020203" pitchFamily="34" charset="0"/>
              </a:rPr>
              <a:t>The process is almost same as before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97279" y="2212874"/>
            <a:ext cx="3986989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700" dirty="0">
                <a:latin typeface="Bahnschrift" panose="020B0502040204020203" pitchFamily="34" charset="0"/>
              </a:rPr>
              <a:t>Difference is that for an edge (</a:t>
            </a:r>
            <a:r>
              <a:rPr lang="en-US" sz="1700" dirty="0" err="1">
                <a:latin typeface="Bahnschrift" panose="020B0502040204020203" pitchFamily="34" charset="0"/>
              </a:rPr>
              <a:t>u,v</a:t>
            </a:r>
            <a:r>
              <a:rPr lang="en-US" sz="1700" dirty="0">
                <a:latin typeface="Bahnschrift" panose="020B0502040204020203" pitchFamily="34" charset="0"/>
              </a:rPr>
              <a:t>) do: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447656" y="2585920"/>
            <a:ext cx="1422184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700" dirty="0" err="1">
                <a:latin typeface="Bahnschrift" panose="020B0502040204020203" pitchFamily="34" charset="0"/>
              </a:rPr>
              <a:t>adj</a:t>
            </a:r>
            <a:r>
              <a:rPr lang="en-US" sz="1700" dirty="0">
                <a:latin typeface="Bahnschrift" panose="020B0502040204020203" pitchFamily="34" charset="0"/>
              </a:rPr>
              <a:t>[u][v]=1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6010873" y="3543055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Rectangle 126"/>
          <p:cNvSpPr/>
          <p:nvPr/>
        </p:nvSpPr>
        <p:spPr>
          <a:xfrm>
            <a:off x="6438257" y="3543055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Rectangle 127"/>
          <p:cNvSpPr/>
          <p:nvPr/>
        </p:nvSpPr>
        <p:spPr>
          <a:xfrm>
            <a:off x="6866478" y="3543055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Rectangle 128"/>
          <p:cNvSpPr/>
          <p:nvPr/>
        </p:nvSpPr>
        <p:spPr>
          <a:xfrm>
            <a:off x="7293862" y="3543055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Rectangle 129"/>
          <p:cNvSpPr/>
          <p:nvPr/>
        </p:nvSpPr>
        <p:spPr>
          <a:xfrm>
            <a:off x="7721246" y="3543055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Rectangle 130"/>
          <p:cNvSpPr/>
          <p:nvPr/>
        </p:nvSpPr>
        <p:spPr>
          <a:xfrm>
            <a:off x="8148630" y="3543055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Rectangle 131"/>
          <p:cNvSpPr/>
          <p:nvPr/>
        </p:nvSpPr>
        <p:spPr>
          <a:xfrm>
            <a:off x="6010967" y="3971276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Rectangle 132"/>
          <p:cNvSpPr/>
          <p:nvPr/>
        </p:nvSpPr>
        <p:spPr>
          <a:xfrm>
            <a:off x="6438351" y="3971276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Rectangle 133"/>
          <p:cNvSpPr/>
          <p:nvPr/>
        </p:nvSpPr>
        <p:spPr>
          <a:xfrm>
            <a:off x="6866572" y="3971276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Rectangle 134"/>
          <p:cNvSpPr/>
          <p:nvPr/>
        </p:nvSpPr>
        <p:spPr>
          <a:xfrm>
            <a:off x="7293956" y="3971276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Rectangle 135"/>
          <p:cNvSpPr/>
          <p:nvPr/>
        </p:nvSpPr>
        <p:spPr>
          <a:xfrm>
            <a:off x="7721340" y="3971276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Rectangle 136"/>
          <p:cNvSpPr/>
          <p:nvPr/>
        </p:nvSpPr>
        <p:spPr>
          <a:xfrm>
            <a:off x="8148724" y="3971276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Rectangle 137"/>
          <p:cNvSpPr/>
          <p:nvPr/>
        </p:nvSpPr>
        <p:spPr>
          <a:xfrm>
            <a:off x="6010779" y="4399497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Rectangle 138"/>
          <p:cNvSpPr/>
          <p:nvPr/>
        </p:nvSpPr>
        <p:spPr>
          <a:xfrm>
            <a:off x="6438163" y="4399497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Rectangle 139"/>
          <p:cNvSpPr/>
          <p:nvPr/>
        </p:nvSpPr>
        <p:spPr>
          <a:xfrm>
            <a:off x="6866384" y="4399497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Rectangle 140"/>
          <p:cNvSpPr/>
          <p:nvPr/>
        </p:nvSpPr>
        <p:spPr>
          <a:xfrm>
            <a:off x="7293768" y="4399497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Rectangle 141"/>
          <p:cNvSpPr/>
          <p:nvPr/>
        </p:nvSpPr>
        <p:spPr>
          <a:xfrm>
            <a:off x="7721152" y="4399497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Rectangle 142"/>
          <p:cNvSpPr/>
          <p:nvPr/>
        </p:nvSpPr>
        <p:spPr>
          <a:xfrm>
            <a:off x="8148536" y="4399497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Rectangle 143"/>
          <p:cNvSpPr/>
          <p:nvPr/>
        </p:nvSpPr>
        <p:spPr>
          <a:xfrm>
            <a:off x="6010873" y="4827718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Rectangle 144"/>
          <p:cNvSpPr/>
          <p:nvPr/>
        </p:nvSpPr>
        <p:spPr>
          <a:xfrm>
            <a:off x="6438257" y="4827718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Rectangle 145"/>
          <p:cNvSpPr/>
          <p:nvPr/>
        </p:nvSpPr>
        <p:spPr>
          <a:xfrm>
            <a:off x="6866478" y="4827718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Rectangle 146"/>
          <p:cNvSpPr/>
          <p:nvPr/>
        </p:nvSpPr>
        <p:spPr>
          <a:xfrm>
            <a:off x="7293862" y="4827718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Rectangle 147"/>
          <p:cNvSpPr/>
          <p:nvPr/>
        </p:nvSpPr>
        <p:spPr>
          <a:xfrm>
            <a:off x="7721246" y="4827718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Rectangle 148"/>
          <p:cNvSpPr/>
          <p:nvPr/>
        </p:nvSpPr>
        <p:spPr>
          <a:xfrm>
            <a:off x="8148630" y="4827718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Rectangle 149"/>
          <p:cNvSpPr/>
          <p:nvPr/>
        </p:nvSpPr>
        <p:spPr>
          <a:xfrm>
            <a:off x="6010685" y="5255939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Rectangle 150"/>
          <p:cNvSpPr/>
          <p:nvPr/>
        </p:nvSpPr>
        <p:spPr>
          <a:xfrm>
            <a:off x="6438069" y="5255939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Rectangle 151"/>
          <p:cNvSpPr/>
          <p:nvPr/>
        </p:nvSpPr>
        <p:spPr>
          <a:xfrm>
            <a:off x="6866290" y="5255939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Rectangle 152"/>
          <p:cNvSpPr/>
          <p:nvPr/>
        </p:nvSpPr>
        <p:spPr>
          <a:xfrm>
            <a:off x="7293674" y="5255939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Rectangle 153"/>
          <p:cNvSpPr/>
          <p:nvPr/>
        </p:nvSpPr>
        <p:spPr>
          <a:xfrm>
            <a:off x="7721058" y="5255939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Rectangle 154"/>
          <p:cNvSpPr/>
          <p:nvPr/>
        </p:nvSpPr>
        <p:spPr>
          <a:xfrm>
            <a:off x="8148442" y="5255939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Rectangle 155"/>
          <p:cNvSpPr/>
          <p:nvPr/>
        </p:nvSpPr>
        <p:spPr>
          <a:xfrm>
            <a:off x="6010779" y="5684160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Rectangle 156"/>
          <p:cNvSpPr/>
          <p:nvPr/>
        </p:nvSpPr>
        <p:spPr>
          <a:xfrm>
            <a:off x="6438163" y="5684160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Rectangle 157"/>
          <p:cNvSpPr/>
          <p:nvPr/>
        </p:nvSpPr>
        <p:spPr>
          <a:xfrm>
            <a:off x="6866384" y="5684160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Rectangle 158"/>
          <p:cNvSpPr/>
          <p:nvPr/>
        </p:nvSpPr>
        <p:spPr>
          <a:xfrm>
            <a:off x="7293768" y="5684160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" name="Rectangle 159"/>
          <p:cNvSpPr/>
          <p:nvPr/>
        </p:nvSpPr>
        <p:spPr>
          <a:xfrm>
            <a:off x="7721152" y="5684160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Rectangle 160"/>
          <p:cNvSpPr/>
          <p:nvPr/>
        </p:nvSpPr>
        <p:spPr>
          <a:xfrm>
            <a:off x="8148536" y="5684160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" name="TextBox 161"/>
          <p:cNvSpPr txBox="1"/>
          <p:nvPr/>
        </p:nvSpPr>
        <p:spPr>
          <a:xfrm>
            <a:off x="6075821" y="3204874"/>
            <a:ext cx="30489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0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6923645" y="3204872"/>
            <a:ext cx="296876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2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499733" y="3204873"/>
            <a:ext cx="25680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1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7347557" y="3202660"/>
            <a:ext cx="304892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3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8195381" y="3202658"/>
            <a:ext cx="304892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5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7771469" y="3202659"/>
            <a:ext cx="304892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4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5660067" y="3582116"/>
            <a:ext cx="30489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0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5660067" y="4008414"/>
            <a:ext cx="25680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1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5645909" y="4434712"/>
            <a:ext cx="296876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2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5645909" y="4902988"/>
            <a:ext cx="30008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3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5649410" y="5276965"/>
            <a:ext cx="308098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4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5649410" y="5721298"/>
            <a:ext cx="303288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5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7029030" y="2909711"/>
            <a:ext cx="474810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 err="1">
                <a:latin typeface="Bahnschrift" panose="020B0502040204020203" pitchFamily="34" charset="0"/>
              </a:rPr>
              <a:t>adj</a:t>
            </a:r>
            <a:endParaRPr lang="en-US" sz="1700" dirty="0">
              <a:latin typeface="Bahnschrift" panose="020B0502040204020203" pitchFamily="34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6064252" y="3573225"/>
            <a:ext cx="2445681" cy="2528694"/>
            <a:chOff x="6064252" y="3573225"/>
            <a:chExt cx="2445681" cy="2528694"/>
          </a:xfrm>
        </p:grpSpPr>
        <p:sp>
          <p:nvSpPr>
            <p:cNvPr id="183" name="TextBox 182"/>
            <p:cNvSpPr txBox="1"/>
            <p:nvPr/>
          </p:nvSpPr>
          <p:spPr>
            <a:xfrm>
              <a:off x="6085298" y="3575441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184" name="TextBox 183"/>
            <p:cNvSpPr txBox="1"/>
            <p:nvPr/>
          </p:nvSpPr>
          <p:spPr>
            <a:xfrm>
              <a:off x="6933122" y="3575439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185" name="TextBox 184"/>
            <p:cNvSpPr txBox="1"/>
            <p:nvPr/>
          </p:nvSpPr>
          <p:spPr>
            <a:xfrm>
              <a:off x="6509210" y="3575440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186" name="TextBox 185"/>
            <p:cNvSpPr txBox="1"/>
            <p:nvPr/>
          </p:nvSpPr>
          <p:spPr>
            <a:xfrm>
              <a:off x="7357034" y="3573227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187" name="TextBox 186"/>
            <p:cNvSpPr txBox="1"/>
            <p:nvPr/>
          </p:nvSpPr>
          <p:spPr>
            <a:xfrm>
              <a:off x="8204858" y="3573225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188" name="TextBox 187"/>
            <p:cNvSpPr txBox="1"/>
            <p:nvPr/>
          </p:nvSpPr>
          <p:spPr>
            <a:xfrm>
              <a:off x="7780946" y="3573226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189" name="TextBox 188"/>
            <p:cNvSpPr txBox="1"/>
            <p:nvPr/>
          </p:nvSpPr>
          <p:spPr>
            <a:xfrm>
              <a:off x="6075821" y="4008414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190" name="TextBox 189"/>
            <p:cNvSpPr txBox="1"/>
            <p:nvPr/>
          </p:nvSpPr>
          <p:spPr>
            <a:xfrm>
              <a:off x="6923645" y="4008412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191" name="TextBox 190"/>
            <p:cNvSpPr txBox="1"/>
            <p:nvPr/>
          </p:nvSpPr>
          <p:spPr>
            <a:xfrm>
              <a:off x="6499733" y="4008413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192" name="TextBox 191"/>
            <p:cNvSpPr txBox="1"/>
            <p:nvPr/>
          </p:nvSpPr>
          <p:spPr>
            <a:xfrm>
              <a:off x="7347557" y="4006200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193" name="TextBox 192"/>
            <p:cNvSpPr txBox="1"/>
            <p:nvPr/>
          </p:nvSpPr>
          <p:spPr>
            <a:xfrm>
              <a:off x="8195381" y="4006198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194" name="TextBox 193"/>
            <p:cNvSpPr txBox="1"/>
            <p:nvPr/>
          </p:nvSpPr>
          <p:spPr>
            <a:xfrm>
              <a:off x="7771469" y="4006199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195" name="TextBox 194"/>
            <p:cNvSpPr txBox="1"/>
            <p:nvPr/>
          </p:nvSpPr>
          <p:spPr>
            <a:xfrm>
              <a:off x="6073729" y="4453809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196" name="TextBox 195"/>
            <p:cNvSpPr txBox="1"/>
            <p:nvPr/>
          </p:nvSpPr>
          <p:spPr>
            <a:xfrm>
              <a:off x="6921553" y="4453807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197" name="TextBox 196"/>
            <p:cNvSpPr txBox="1"/>
            <p:nvPr/>
          </p:nvSpPr>
          <p:spPr>
            <a:xfrm>
              <a:off x="6497641" y="4453808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198" name="TextBox 197"/>
            <p:cNvSpPr txBox="1"/>
            <p:nvPr/>
          </p:nvSpPr>
          <p:spPr>
            <a:xfrm>
              <a:off x="7345465" y="4451595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199" name="TextBox 198"/>
            <p:cNvSpPr txBox="1"/>
            <p:nvPr/>
          </p:nvSpPr>
          <p:spPr>
            <a:xfrm>
              <a:off x="8193289" y="4451593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00" name="TextBox 199"/>
            <p:cNvSpPr txBox="1"/>
            <p:nvPr/>
          </p:nvSpPr>
          <p:spPr>
            <a:xfrm>
              <a:off x="7769377" y="4451594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01" name="TextBox 200"/>
            <p:cNvSpPr txBox="1"/>
            <p:nvPr/>
          </p:nvSpPr>
          <p:spPr>
            <a:xfrm>
              <a:off x="6064252" y="4886782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02" name="TextBox 201"/>
            <p:cNvSpPr txBox="1"/>
            <p:nvPr/>
          </p:nvSpPr>
          <p:spPr>
            <a:xfrm>
              <a:off x="6912076" y="4886780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03" name="TextBox 202"/>
            <p:cNvSpPr txBox="1"/>
            <p:nvPr/>
          </p:nvSpPr>
          <p:spPr>
            <a:xfrm>
              <a:off x="6488164" y="4886781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04" name="TextBox 203"/>
            <p:cNvSpPr txBox="1"/>
            <p:nvPr/>
          </p:nvSpPr>
          <p:spPr>
            <a:xfrm>
              <a:off x="7335988" y="4884568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05" name="TextBox 204"/>
            <p:cNvSpPr txBox="1"/>
            <p:nvPr/>
          </p:nvSpPr>
          <p:spPr>
            <a:xfrm>
              <a:off x="8183812" y="4884566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06" name="TextBox 205"/>
            <p:cNvSpPr txBox="1"/>
            <p:nvPr/>
          </p:nvSpPr>
          <p:spPr>
            <a:xfrm>
              <a:off x="7759900" y="4884567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07" name="TextBox 206"/>
            <p:cNvSpPr txBox="1"/>
            <p:nvPr/>
          </p:nvSpPr>
          <p:spPr>
            <a:xfrm>
              <a:off x="6085481" y="5315003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08" name="TextBox 207"/>
            <p:cNvSpPr txBox="1"/>
            <p:nvPr/>
          </p:nvSpPr>
          <p:spPr>
            <a:xfrm>
              <a:off x="6933305" y="5315001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09" name="TextBox 208"/>
            <p:cNvSpPr txBox="1"/>
            <p:nvPr/>
          </p:nvSpPr>
          <p:spPr>
            <a:xfrm>
              <a:off x="6509393" y="5315002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10" name="TextBox 209"/>
            <p:cNvSpPr txBox="1"/>
            <p:nvPr/>
          </p:nvSpPr>
          <p:spPr>
            <a:xfrm>
              <a:off x="7357217" y="5312789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11" name="TextBox 210"/>
            <p:cNvSpPr txBox="1"/>
            <p:nvPr/>
          </p:nvSpPr>
          <p:spPr>
            <a:xfrm>
              <a:off x="8205041" y="5312787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12" name="TextBox 211"/>
            <p:cNvSpPr txBox="1"/>
            <p:nvPr/>
          </p:nvSpPr>
          <p:spPr>
            <a:xfrm>
              <a:off x="7781129" y="5312788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13" name="TextBox 212"/>
            <p:cNvSpPr txBox="1"/>
            <p:nvPr/>
          </p:nvSpPr>
          <p:spPr>
            <a:xfrm>
              <a:off x="6076004" y="5747976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14" name="TextBox 213"/>
            <p:cNvSpPr txBox="1"/>
            <p:nvPr/>
          </p:nvSpPr>
          <p:spPr>
            <a:xfrm>
              <a:off x="6923828" y="5747974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15" name="TextBox 214"/>
            <p:cNvSpPr txBox="1"/>
            <p:nvPr/>
          </p:nvSpPr>
          <p:spPr>
            <a:xfrm>
              <a:off x="6499916" y="5747975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16" name="TextBox 215"/>
            <p:cNvSpPr txBox="1"/>
            <p:nvPr/>
          </p:nvSpPr>
          <p:spPr>
            <a:xfrm>
              <a:off x="7347740" y="5745762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17" name="TextBox 216"/>
            <p:cNvSpPr txBox="1"/>
            <p:nvPr/>
          </p:nvSpPr>
          <p:spPr>
            <a:xfrm>
              <a:off x="8195564" y="5745760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18" name="TextBox 217"/>
            <p:cNvSpPr txBox="1"/>
            <p:nvPr/>
          </p:nvSpPr>
          <p:spPr>
            <a:xfrm>
              <a:off x="7771652" y="5745761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</p:grpSp>
      <p:sp>
        <p:nvSpPr>
          <p:cNvPr id="117" name="TextBox 116"/>
          <p:cNvSpPr txBox="1"/>
          <p:nvPr/>
        </p:nvSpPr>
        <p:spPr>
          <a:xfrm>
            <a:off x="1447656" y="2972742"/>
            <a:ext cx="1422184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700" dirty="0" err="1">
                <a:latin typeface="Bahnschrift" panose="020B0502040204020203" pitchFamily="34" charset="0"/>
              </a:rPr>
              <a:t>adj</a:t>
            </a:r>
            <a:r>
              <a:rPr lang="en-US" sz="1700" dirty="0">
                <a:latin typeface="Bahnschrift" panose="020B0502040204020203" pitchFamily="34" charset="0"/>
              </a:rPr>
              <a:t>[v][u]=1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8155132" y="4397575"/>
            <a:ext cx="428221" cy="428221"/>
            <a:chOff x="883125" y="5015247"/>
            <a:chExt cx="428221" cy="428221"/>
          </a:xfrm>
        </p:grpSpPr>
        <p:sp>
          <p:nvSpPr>
            <p:cNvPr id="119" name="Rectangle 118"/>
            <p:cNvSpPr/>
            <p:nvPr/>
          </p:nvSpPr>
          <p:spPr>
            <a:xfrm>
              <a:off x="883125" y="5015247"/>
              <a:ext cx="428221" cy="428221"/>
            </a:xfrm>
            <a:prstGeom prst="rect">
              <a:avLst/>
            </a:prstGeom>
            <a:solidFill>
              <a:srgbClr val="FF00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TextBox 120"/>
            <p:cNvSpPr txBox="1"/>
            <p:nvPr/>
          </p:nvSpPr>
          <p:spPr>
            <a:xfrm>
              <a:off x="968834" y="5055002"/>
              <a:ext cx="25680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1</a:t>
              </a:r>
            </a:p>
          </p:txBody>
        </p:sp>
      </p:grpSp>
      <p:grpSp>
        <p:nvGrpSpPr>
          <p:cNvPr id="176" name="Group 175"/>
          <p:cNvGrpSpPr/>
          <p:nvPr/>
        </p:nvGrpSpPr>
        <p:grpSpPr>
          <a:xfrm>
            <a:off x="6874983" y="3974585"/>
            <a:ext cx="428221" cy="428221"/>
            <a:chOff x="883125" y="5015247"/>
            <a:chExt cx="428221" cy="428221"/>
          </a:xfrm>
        </p:grpSpPr>
        <p:sp>
          <p:nvSpPr>
            <p:cNvPr id="219" name="Rectangle 218"/>
            <p:cNvSpPr/>
            <p:nvPr/>
          </p:nvSpPr>
          <p:spPr>
            <a:xfrm>
              <a:off x="883125" y="5015247"/>
              <a:ext cx="428221" cy="428221"/>
            </a:xfrm>
            <a:prstGeom prst="rect">
              <a:avLst/>
            </a:prstGeom>
            <a:solidFill>
              <a:srgbClr val="FF00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0" name="TextBox 219"/>
            <p:cNvSpPr txBox="1"/>
            <p:nvPr/>
          </p:nvSpPr>
          <p:spPr>
            <a:xfrm>
              <a:off x="968834" y="5055002"/>
              <a:ext cx="25680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1</a:t>
              </a:r>
            </a:p>
          </p:txBody>
        </p:sp>
      </p:grpSp>
      <p:grpSp>
        <p:nvGrpSpPr>
          <p:cNvPr id="221" name="Group 220"/>
          <p:cNvGrpSpPr/>
          <p:nvPr/>
        </p:nvGrpSpPr>
        <p:grpSpPr>
          <a:xfrm>
            <a:off x="7727936" y="3971276"/>
            <a:ext cx="428221" cy="428221"/>
            <a:chOff x="883125" y="5015247"/>
            <a:chExt cx="428221" cy="428221"/>
          </a:xfrm>
        </p:grpSpPr>
        <p:sp>
          <p:nvSpPr>
            <p:cNvPr id="222" name="Rectangle 221"/>
            <p:cNvSpPr/>
            <p:nvPr/>
          </p:nvSpPr>
          <p:spPr>
            <a:xfrm>
              <a:off x="883125" y="5015247"/>
              <a:ext cx="428221" cy="428221"/>
            </a:xfrm>
            <a:prstGeom prst="rect">
              <a:avLst/>
            </a:prstGeom>
            <a:solidFill>
              <a:srgbClr val="FF00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3" name="TextBox 222"/>
            <p:cNvSpPr txBox="1"/>
            <p:nvPr/>
          </p:nvSpPr>
          <p:spPr>
            <a:xfrm>
              <a:off x="968834" y="5055002"/>
              <a:ext cx="25680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1</a:t>
              </a:r>
            </a:p>
          </p:txBody>
        </p:sp>
      </p:grpSp>
      <p:grpSp>
        <p:nvGrpSpPr>
          <p:cNvPr id="224" name="Group 223"/>
          <p:cNvGrpSpPr/>
          <p:nvPr/>
        </p:nvGrpSpPr>
        <p:grpSpPr>
          <a:xfrm>
            <a:off x="6009177" y="3971276"/>
            <a:ext cx="428221" cy="428221"/>
            <a:chOff x="883125" y="5015247"/>
            <a:chExt cx="428221" cy="428221"/>
          </a:xfrm>
        </p:grpSpPr>
        <p:sp>
          <p:nvSpPr>
            <p:cNvPr id="225" name="Rectangle 224"/>
            <p:cNvSpPr/>
            <p:nvPr/>
          </p:nvSpPr>
          <p:spPr>
            <a:xfrm>
              <a:off x="883125" y="5015247"/>
              <a:ext cx="428221" cy="428221"/>
            </a:xfrm>
            <a:prstGeom prst="rect">
              <a:avLst/>
            </a:prstGeom>
            <a:solidFill>
              <a:srgbClr val="FF00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6" name="TextBox 225"/>
            <p:cNvSpPr txBox="1"/>
            <p:nvPr/>
          </p:nvSpPr>
          <p:spPr>
            <a:xfrm>
              <a:off x="968834" y="5055002"/>
              <a:ext cx="25680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1</a:t>
              </a:r>
            </a:p>
          </p:txBody>
        </p:sp>
      </p:grpSp>
      <p:grpSp>
        <p:nvGrpSpPr>
          <p:cNvPr id="227" name="Group 226"/>
          <p:cNvGrpSpPr/>
          <p:nvPr/>
        </p:nvGrpSpPr>
        <p:grpSpPr>
          <a:xfrm>
            <a:off x="6016995" y="5250846"/>
            <a:ext cx="428221" cy="428221"/>
            <a:chOff x="883125" y="5015247"/>
            <a:chExt cx="428221" cy="428221"/>
          </a:xfrm>
        </p:grpSpPr>
        <p:sp>
          <p:nvSpPr>
            <p:cNvPr id="228" name="Rectangle 227"/>
            <p:cNvSpPr/>
            <p:nvPr/>
          </p:nvSpPr>
          <p:spPr>
            <a:xfrm>
              <a:off x="883125" y="5015247"/>
              <a:ext cx="428221" cy="428221"/>
            </a:xfrm>
            <a:prstGeom prst="rect">
              <a:avLst/>
            </a:prstGeom>
            <a:solidFill>
              <a:srgbClr val="FF00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9" name="TextBox 228"/>
            <p:cNvSpPr txBox="1"/>
            <p:nvPr/>
          </p:nvSpPr>
          <p:spPr>
            <a:xfrm>
              <a:off x="968834" y="5055002"/>
              <a:ext cx="25680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1</a:t>
              </a:r>
            </a:p>
          </p:txBody>
        </p:sp>
      </p:grpSp>
      <p:sp>
        <p:nvSpPr>
          <p:cNvPr id="177" name="Oval 176"/>
          <p:cNvSpPr/>
          <p:nvPr/>
        </p:nvSpPr>
        <p:spPr>
          <a:xfrm>
            <a:off x="9249098" y="2041854"/>
            <a:ext cx="487110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8" name="Oval 177"/>
          <p:cNvSpPr/>
          <p:nvPr/>
        </p:nvSpPr>
        <p:spPr>
          <a:xfrm>
            <a:off x="8761988" y="2715547"/>
            <a:ext cx="487110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9" name="Oval 178"/>
          <p:cNvSpPr/>
          <p:nvPr/>
        </p:nvSpPr>
        <p:spPr>
          <a:xfrm>
            <a:off x="10452631" y="2041854"/>
            <a:ext cx="487110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0" name="Oval 179"/>
          <p:cNvSpPr/>
          <p:nvPr/>
        </p:nvSpPr>
        <p:spPr>
          <a:xfrm>
            <a:off x="9853001" y="2959102"/>
            <a:ext cx="487110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1" name="Oval 180"/>
          <p:cNvSpPr/>
          <p:nvPr/>
        </p:nvSpPr>
        <p:spPr>
          <a:xfrm>
            <a:off x="9365891" y="3816780"/>
            <a:ext cx="487110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2" name="Oval 181"/>
          <p:cNvSpPr/>
          <p:nvPr/>
        </p:nvSpPr>
        <p:spPr>
          <a:xfrm>
            <a:off x="10842889" y="3329670"/>
            <a:ext cx="487110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0" name="Straight Connector 229"/>
          <p:cNvCxnSpPr>
            <a:stCxn id="177" idx="6"/>
            <a:endCxn id="179" idx="2"/>
          </p:cNvCxnSpPr>
          <p:nvPr/>
        </p:nvCxnSpPr>
        <p:spPr>
          <a:xfrm>
            <a:off x="9736208" y="2285409"/>
            <a:ext cx="71642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Straight Connector 230"/>
          <p:cNvCxnSpPr>
            <a:stCxn id="177" idx="3"/>
            <a:endCxn id="178" idx="0"/>
          </p:cNvCxnSpPr>
          <p:nvPr/>
        </p:nvCxnSpPr>
        <p:spPr>
          <a:xfrm flipH="1">
            <a:off x="9005543" y="2457628"/>
            <a:ext cx="314891" cy="25791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Straight Connector 231"/>
          <p:cNvCxnSpPr>
            <a:stCxn id="178" idx="5"/>
            <a:endCxn id="181" idx="1"/>
          </p:cNvCxnSpPr>
          <p:nvPr/>
        </p:nvCxnSpPr>
        <p:spPr>
          <a:xfrm>
            <a:off x="9177762" y="3131321"/>
            <a:ext cx="259465" cy="75679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Straight Connector 232"/>
          <p:cNvCxnSpPr>
            <a:stCxn id="180" idx="7"/>
            <a:endCxn id="179" idx="4"/>
          </p:cNvCxnSpPr>
          <p:nvPr/>
        </p:nvCxnSpPr>
        <p:spPr>
          <a:xfrm flipV="1">
            <a:off x="10268775" y="2528964"/>
            <a:ext cx="427411" cy="50147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Straight Connector 233"/>
          <p:cNvCxnSpPr>
            <a:stCxn id="177" idx="5"/>
            <a:endCxn id="180" idx="1"/>
          </p:cNvCxnSpPr>
          <p:nvPr/>
        </p:nvCxnSpPr>
        <p:spPr>
          <a:xfrm>
            <a:off x="9664872" y="2457628"/>
            <a:ext cx="259465" cy="57281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5" name="TextBox 234"/>
          <p:cNvSpPr txBox="1"/>
          <p:nvPr/>
        </p:nvSpPr>
        <p:spPr>
          <a:xfrm>
            <a:off x="10540534" y="2088296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0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9337001" y="2088296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1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8857012" y="2774436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2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10921225" y="3388559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3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9940005" y="3017991"/>
            <a:ext cx="316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4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9454596" y="3875669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5</a:t>
            </a:r>
          </a:p>
        </p:txBody>
      </p:sp>
      <p:grpSp>
        <p:nvGrpSpPr>
          <p:cNvPr id="241" name="Group 240"/>
          <p:cNvGrpSpPr/>
          <p:nvPr/>
        </p:nvGrpSpPr>
        <p:grpSpPr>
          <a:xfrm>
            <a:off x="6435536" y="4401543"/>
            <a:ext cx="428221" cy="428221"/>
            <a:chOff x="883125" y="5015247"/>
            <a:chExt cx="428221" cy="428221"/>
          </a:xfrm>
        </p:grpSpPr>
        <p:sp>
          <p:nvSpPr>
            <p:cNvPr id="242" name="Rectangle 241"/>
            <p:cNvSpPr/>
            <p:nvPr/>
          </p:nvSpPr>
          <p:spPr>
            <a:xfrm>
              <a:off x="883125" y="5015247"/>
              <a:ext cx="428221" cy="428221"/>
            </a:xfrm>
            <a:prstGeom prst="rect">
              <a:avLst/>
            </a:prstGeom>
            <a:solidFill>
              <a:srgbClr val="FF00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3" name="TextBox 242"/>
            <p:cNvSpPr txBox="1"/>
            <p:nvPr/>
          </p:nvSpPr>
          <p:spPr>
            <a:xfrm>
              <a:off x="968834" y="5055002"/>
              <a:ext cx="25680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1</a:t>
              </a:r>
            </a:p>
          </p:txBody>
        </p:sp>
      </p:grpSp>
      <p:cxnSp>
        <p:nvCxnSpPr>
          <p:cNvPr id="6" name="Straight Connector 5"/>
          <p:cNvCxnSpPr>
            <a:stCxn id="177" idx="3"/>
            <a:endCxn id="178" idx="0"/>
          </p:cNvCxnSpPr>
          <p:nvPr/>
        </p:nvCxnSpPr>
        <p:spPr>
          <a:xfrm flipH="1">
            <a:off x="9005543" y="2457628"/>
            <a:ext cx="314891" cy="25791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4" name="TextBox 243"/>
          <p:cNvSpPr txBox="1"/>
          <p:nvPr/>
        </p:nvSpPr>
        <p:spPr>
          <a:xfrm>
            <a:off x="1085008" y="3382228"/>
            <a:ext cx="274466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700" dirty="0">
                <a:latin typeface="Bahnschrift" panose="020B0502040204020203" pitchFamily="34" charset="0"/>
              </a:rPr>
              <a:t>Means u is adjacent to v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1102377" y="3706172"/>
            <a:ext cx="2505814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700" dirty="0">
                <a:latin typeface="Bahnschrift" panose="020B0502040204020203" pitchFamily="34" charset="0"/>
              </a:rPr>
              <a:t>Also v is adjacent to u</a:t>
            </a:r>
          </a:p>
        </p:txBody>
      </p:sp>
      <p:cxnSp>
        <p:nvCxnSpPr>
          <p:cNvPr id="10" name="Straight Connector 9"/>
          <p:cNvCxnSpPr>
            <a:stCxn id="177" idx="5"/>
            <a:endCxn id="180" idx="1"/>
          </p:cNvCxnSpPr>
          <p:nvPr/>
        </p:nvCxnSpPr>
        <p:spPr>
          <a:xfrm>
            <a:off x="9664872" y="2457628"/>
            <a:ext cx="259465" cy="57281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6" name="Group 245"/>
          <p:cNvGrpSpPr/>
          <p:nvPr/>
        </p:nvGrpSpPr>
        <p:grpSpPr>
          <a:xfrm>
            <a:off x="6871575" y="5679028"/>
            <a:ext cx="428221" cy="428221"/>
            <a:chOff x="883125" y="5015247"/>
            <a:chExt cx="428221" cy="428221"/>
          </a:xfrm>
        </p:grpSpPr>
        <p:sp>
          <p:nvSpPr>
            <p:cNvPr id="247" name="Rectangle 246"/>
            <p:cNvSpPr/>
            <p:nvPr/>
          </p:nvSpPr>
          <p:spPr>
            <a:xfrm>
              <a:off x="883125" y="5015247"/>
              <a:ext cx="428221" cy="428221"/>
            </a:xfrm>
            <a:prstGeom prst="rect">
              <a:avLst/>
            </a:prstGeom>
            <a:solidFill>
              <a:srgbClr val="FF00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8" name="TextBox 247"/>
            <p:cNvSpPr txBox="1"/>
            <p:nvPr/>
          </p:nvSpPr>
          <p:spPr>
            <a:xfrm>
              <a:off x="968834" y="5055002"/>
              <a:ext cx="25680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1</a:t>
              </a:r>
            </a:p>
          </p:txBody>
        </p:sp>
      </p:grpSp>
      <p:grpSp>
        <p:nvGrpSpPr>
          <p:cNvPr id="249" name="Group 248"/>
          <p:cNvGrpSpPr/>
          <p:nvPr/>
        </p:nvGrpSpPr>
        <p:grpSpPr>
          <a:xfrm>
            <a:off x="6435535" y="5252630"/>
            <a:ext cx="428221" cy="428221"/>
            <a:chOff x="883125" y="5015247"/>
            <a:chExt cx="428221" cy="428221"/>
          </a:xfrm>
        </p:grpSpPr>
        <p:sp>
          <p:nvSpPr>
            <p:cNvPr id="250" name="Rectangle 249"/>
            <p:cNvSpPr/>
            <p:nvPr/>
          </p:nvSpPr>
          <p:spPr>
            <a:xfrm>
              <a:off x="883125" y="5015247"/>
              <a:ext cx="428221" cy="428221"/>
            </a:xfrm>
            <a:prstGeom prst="rect">
              <a:avLst/>
            </a:prstGeom>
            <a:solidFill>
              <a:srgbClr val="FF00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1" name="TextBox 250"/>
            <p:cNvSpPr txBox="1"/>
            <p:nvPr/>
          </p:nvSpPr>
          <p:spPr>
            <a:xfrm>
              <a:off x="968834" y="5055002"/>
              <a:ext cx="25680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1</a:t>
              </a:r>
            </a:p>
          </p:txBody>
        </p:sp>
      </p:grpSp>
      <p:cxnSp>
        <p:nvCxnSpPr>
          <p:cNvPr id="14" name="Straight Connector 13"/>
          <p:cNvCxnSpPr>
            <a:stCxn id="177" idx="6"/>
            <a:endCxn id="179" idx="2"/>
          </p:cNvCxnSpPr>
          <p:nvPr/>
        </p:nvCxnSpPr>
        <p:spPr>
          <a:xfrm>
            <a:off x="9736208" y="2285409"/>
            <a:ext cx="716423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2" name="Group 251"/>
          <p:cNvGrpSpPr/>
          <p:nvPr/>
        </p:nvGrpSpPr>
        <p:grpSpPr>
          <a:xfrm>
            <a:off x="6433760" y="3551677"/>
            <a:ext cx="428221" cy="428221"/>
            <a:chOff x="883125" y="5015247"/>
            <a:chExt cx="428221" cy="428221"/>
          </a:xfrm>
        </p:grpSpPr>
        <p:sp>
          <p:nvSpPr>
            <p:cNvPr id="253" name="Rectangle 252"/>
            <p:cNvSpPr/>
            <p:nvPr/>
          </p:nvSpPr>
          <p:spPr>
            <a:xfrm>
              <a:off x="883125" y="5015247"/>
              <a:ext cx="428221" cy="428221"/>
            </a:xfrm>
            <a:prstGeom prst="rect">
              <a:avLst/>
            </a:prstGeom>
            <a:solidFill>
              <a:srgbClr val="FF00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4" name="TextBox 253"/>
            <p:cNvSpPr txBox="1"/>
            <p:nvPr/>
          </p:nvSpPr>
          <p:spPr>
            <a:xfrm>
              <a:off x="968834" y="5055002"/>
              <a:ext cx="25680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1</a:t>
              </a:r>
            </a:p>
          </p:txBody>
        </p:sp>
      </p:grpSp>
      <p:cxnSp>
        <p:nvCxnSpPr>
          <p:cNvPr id="17" name="Straight Connector 16"/>
          <p:cNvCxnSpPr>
            <a:stCxn id="178" idx="5"/>
            <a:endCxn id="181" idx="1"/>
          </p:cNvCxnSpPr>
          <p:nvPr/>
        </p:nvCxnSpPr>
        <p:spPr>
          <a:xfrm>
            <a:off x="9177762" y="3131321"/>
            <a:ext cx="259465" cy="756795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5" name="Group 254"/>
          <p:cNvGrpSpPr/>
          <p:nvPr/>
        </p:nvGrpSpPr>
        <p:grpSpPr>
          <a:xfrm>
            <a:off x="7724718" y="3551677"/>
            <a:ext cx="428221" cy="428221"/>
            <a:chOff x="883125" y="5015247"/>
            <a:chExt cx="428221" cy="428221"/>
          </a:xfrm>
        </p:grpSpPr>
        <p:sp>
          <p:nvSpPr>
            <p:cNvPr id="256" name="Rectangle 255"/>
            <p:cNvSpPr/>
            <p:nvPr/>
          </p:nvSpPr>
          <p:spPr>
            <a:xfrm>
              <a:off x="883125" y="5015247"/>
              <a:ext cx="428221" cy="428221"/>
            </a:xfrm>
            <a:prstGeom prst="rect">
              <a:avLst/>
            </a:prstGeom>
            <a:solidFill>
              <a:srgbClr val="FF00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7" name="TextBox 256"/>
            <p:cNvSpPr txBox="1"/>
            <p:nvPr/>
          </p:nvSpPr>
          <p:spPr>
            <a:xfrm>
              <a:off x="968834" y="5055002"/>
              <a:ext cx="25680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1</a:t>
              </a:r>
            </a:p>
          </p:txBody>
        </p:sp>
      </p:grpSp>
      <p:cxnSp>
        <p:nvCxnSpPr>
          <p:cNvPr id="21" name="Straight Connector 20"/>
          <p:cNvCxnSpPr>
            <a:stCxn id="179" idx="4"/>
            <a:endCxn id="180" idx="7"/>
          </p:cNvCxnSpPr>
          <p:nvPr/>
        </p:nvCxnSpPr>
        <p:spPr>
          <a:xfrm flipH="1">
            <a:off x="10268775" y="2528964"/>
            <a:ext cx="427411" cy="501474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4322D-1033-403A-A4FE-C5DD7B620839}" type="datetime1">
              <a:rPr lang="en-US" smtClean="0"/>
              <a:t>30-Sep-24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SWAPNIL BISWAS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510A0-FB96-4102-84E6-46674F03B94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740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9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4" dur="5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9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0" fill="hold">
                      <p:stCondLst>
                        <p:cond delay="indefinite"/>
                      </p:stCondLst>
                      <p:childTnLst>
                        <p:par>
                          <p:cTn id="231" fill="hold">
                            <p:stCondLst>
                              <p:cond delay="0"/>
                            </p:stCondLst>
                            <p:childTnLst>
                              <p:par>
                                <p:cTn id="2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>
                      <p:stCondLst>
                        <p:cond delay="indefinite"/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4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>
                      <p:stCondLst>
                        <p:cond delay="indefinite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0" fill="hold">
                      <p:stCondLst>
                        <p:cond delay="indefinite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4"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9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/>
      <p:bldP spid="85" grpId="0"/>
      <p:bldP spid="86" grpId="0"/>
      <p:bldP spid="126" grpId="0" animBg="1"/>
      <p:bldP spid="127" grpId="0" animBg="1"/>
      <p:bldP spid="128" grpId="0" animBg="1"/>
      <p:bldP spid="129" grpId="0" animBg="1"/>
      <p:bldP spid="130" grpId="0" animBg="1"/>
      <p:bldP spid="131" grpId="0" animBg="1"/>
      <p:bldP spid="132" grpId="0" animBg="1"/>
      <p:bldP spid="133" grpId="0" animBg="1"/>
      <p:bldP spid="134" grpId="0" animBg="1"/>
      <p:bldP spid="135" grpId="0" animBg="1"/>
      <p:bldP spid="136" grpId="0" animBg="1"/>
      <p:bldP spid="137" grpId="0" animBg="1"/>
      <p:bldP spid="138" grpId="0" animBg="1"/>
      <p:bldP spid="139" grpId="0" animBg="1"/>
      <p:bldP spid="140" grpId="0" animBg="1"/>
      <p:bldP spid="141" grpId="0" animBg="1"/>
      <p:bldP spid="142" grpId="0" animBg="1"/>
      <p:bldP spid="143" grpId="0" animBg="1"/>
      <p:bldP spid="144" grpId="0" animBg="1"/>
      <p:bldP spid="145" grpId="0" animBg="1"/>
      <p:bldP spid="146" grpId="0" animBg="1"/>
      <p:bldP spid="147" grpId="0" animBg="1"/>
      <p:bldP spid="148" grpId="0" animBg="1"/>
      <p:bldP spid="149" grpId="0" animBg="1"/>
      <p:bldP spid="150" grpId="0" animBg="1"/>
      <p:bldP spid="151" grpId="0" animBg="1"/>
      <p:bldP spid="152" grpId="0" animBg="1"/>
      <p:bldP spid="153" grpId="0" animBg="1"/>
      <p:bldP spid="154" grpId="0" animBg="1"/>
      <p:bldP spid="155" grpId="0" animBg="1"/>
      <p:bldP spid="156" grpId="0" animBg="1"/>
      <p:bldP spid="157" grpId="0" animBg="1"/>
      <p:bldP spid="158" grpId="0" animBg="1"/>
      <p:bldP spid="159" grpId="0" animBg="1"/>
      <p:bldP spid="160" grpId="0" animBg="1"/>
      <p:bldP spid="161" grpId="0" animBg="1"/>
      <p:bldP spid="162" grpId="0"/>
      <p:bldP spid="163" grpId="0"/>
      <p:bldP spid="164" grpId="0"/>
      <p:bldP spid="165" grpId="0"/>
      <p:bldP spid="166" grpId="0"/>
      <p:bldP spid="167" grpId="0"/>
      <p:bldP spid="168" grpId="0"/>
      <p:bldP spid="169" grpId="0"/>
      <p:bldP spid="170" grpId="0"/>
      <p:bldP spid="171" grpId="0"/>
      <p:bldP spid="172" grpId="0"/>
      <p:bldP spid="173" grpId="0"/>
      <p:bldP spid="175" grpId="0"/>
      <p:bldP spid="117" grpId="0"/>
      <p:bldP spid="244" grpId="0"/>
      <p:bldP spid="24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97280" y="1858931"/>
            <a:ext cx="8382423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700" dirty="0">
                <a:latin typeface="Bahnschrift" panose="020B0502040204020203" pitchFamily="34" charset="0"/>
              </a:rPr>
              <a:t>Determine whether the adjacency matrix represents a directed or undirected graph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1319232" y="2846218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Rectangle 126"/>
          <p:cNvSpPr/>
          <p:nvPr/>
        </p:nvSpPr>
        <p:spPr>
          <a:xfrm>
            <a:off x="1746616" y="2846218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Rectangle 127"/>
          <p:cNvSpPr/>
          <p:nvPr/>
        </p:nvSpPr>
        <p:spPr>
          <a:xfrm>
            <a:off x="2174837" y="2846218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Rectangle 128"/>
          <p:cNvSpPr/>
          <p:nvPr/>
        </p:nvSpPr>
        <p:spPr>
          <a:xfrm>
            <a:off x="2602221" y="2846218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Rectangle 129"/>
          <p:cNvSpPr/>
          <p:nvPr/>
        </p:nvSpPr>
        <p:spPr>
          <a:xfrm>
            <a:off x="3029605" y="2846218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Rectangle 130"/>
          <p:cNvSpPr/>
          <p:nvPr/>
        </p:nvSpPr>
        <p:spPr>
          <a:xfrm>
            <a:off x="3456989" y="2846218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Rectangle 131"/>
          <p:cNvSpPr/>
          <p:nvPr/>
        </p:nvSpPr>
        <p:spPr>
          <a:xfrm>
            <a:off x="1319326" y="3274439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Rectangle 132"/>
          <p:cNvSpPr/>
          <p:nvPr/>
        </p:nvSpPr>
        <p:spPr>
          <a:xfrm>
            <a:off x="1746710" y="3274439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Rectangle 133"/>
          <p:cNvSpPr/>
          <p:nvPr/>
        </p:nvSpPr>
        <p:spPr>
          <a:xfrm>
            <a:off x="2174931" y="3274439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Rectangle 134"/>
          <p:cNvSpPr/>
          <p:nvPr/>
        </p:nvSpPr>
        <p:spPr>
          <a:xfrm>
            <a:off x="2602315" y="3274439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Rectangle 135"/>
          <p:cNvSpPr/>
          <p:nvPr/>
        </p:nvSpPr>
        <p:spPr>
          <a:xfrm>
            <a:off x="3029699" y="3274439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Rectangle 136"/>
          <p:cNvSpPr/>
          <p:nvPr/>
        </p:nvSpPr>
        <p:spPr>
          <a:xfrm>
            <a:off x="3457083" y="3274439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Rectangle 137"/>
          <p:cNvSpPr/>
          <p:nvPr/>
        </p:nvSpPr>
        <p:spPr>
          <a:xfrm>
            <a:off x="1319138" y="3702660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Rectangle 138"/>
          <p:cNvSpPr/>
          <p:nvPr/>
        </p:nvSpPr>
        <p:spPr>
          <a:xfrm>
            <a:off x="1746522" y="3702660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Rectangle 139"/>
          <p:cNvSpPr/>
          <p:nvPr/>
        </p:nvSpPr>
        <p:spPr>
          <a:xfrm>
            <a:off x="2174743" y="3702660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Rectangle 140"/>
          <p:cNvSpPr/>
          <p:nvPr/>
        </p:nvSpPr>
        <p:spPr>
          <a:xfrm>
            <a:off x="2602127" y="3702660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Rectangle 141"/>
          <p:cNvSpPr/>
          <p:nvPr/>
        </p:nvSpPr>
        <p:spPr>
          <a:xfrm>
            <a:off x="3029511" y="3702660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Rectangle 142"/>
          <p:cNvSpPr/>
          <p:nvPr/>
        </p:nvSpPr>
        <p:spPr>
          <a:xfrm>
            <a:off x="3456895" y="3702660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Rectangle 143"/>
          <p:cNvSpPr/>
          <p:nvPr/>
        </p:nvSpPr>
        <p:spPr>
          <a:xfrm>
            <a:off x="1319232" y="4130881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Rectangle 144"/>
          <p:cNvSpPr/>
          <p:nvPr/>
        </p:nvSpPr>
        <p:spPr>
          <a:xfrm>
            <a:off x="1746616" y="4130881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Rectangle 145"/>
          <p:cNvSpPr/>
          <p:nvPr/>
        </p:nvSpPr>
        <p:spPr>
          <a:xfrm>
            <a:off x="2174837" y="4130881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Rectangle 146"/>
          <p:cNvSpPr/>
          <p:nvPr/>
        </p:nvSpPr>
        <p:spPr>
          <a:xfrm>
            <a:off x="2602221" y="4130881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Rectangle 147"/>
          <p:cNvSpPr/>
          <p:nvPr/>
        </p:nvSpPr>
        <p:spPr>
          <a:xfrm>
            <a:off x="3029605" y="4130881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Rectangle 148"/>
          <p:cNvSpPr/>
          <p:nvPr/>
        </p:nvSpPr>
        <p:spPr>
          <a:xfrm>
            <a:off x="3456989" y="4130881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Rectangle 149"/>
          <p:cNvSpPr/>
          <p:nvPr/>
        </p:nvSpPr>
        <p:spPr>
          <a:xfrm>
            <a:off x="1319044" y="4559102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Rectangle 150"/>
          <p:cNvSpPr/>
          <p:nvPr/>
        </p:nvSpPr>
        <p:spPr>
          <a:xfrm>
            <a:off x="1746428" y="4559102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Rectangle 151"/>
          <p:cNvSpPr/>
          <p:nvPr/>
        </p:nvSpPr>
        <p:spPr>
          <a:xfrm>
            <a:off x="2174649" y="4559102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Rectangle 152"/>
          <p:cNvSpPr/>
          <p:nvPr/>
        </p:nvSpPr>
        <p:spPr>
          <a:xfrm>
            <a:off x="2602033" y="4559102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Rectangle 153"/>
          <p:cNvSpPr/>
          <p:nvPr/>
        </p:nvSpPr>
        <p:spPr>
          <a:xfrm>
            <a:off x="3029417" y="4559102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Rectangle 154"/>
          <p:cNvSpPr/>
          <p:nvPr/>
        </p:nvSpPr>
        <p:spPr>
          <a:xfrm>
            <a:off x="3456801" y="4559102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Rectangle 155"/>
          <p:cNvSpPr/>
          <p:nvPr/>
        </p:nvSpPr>
        <p:spPr>
          <a:xfrm>
            <a:off x="1319138" y="4987323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Rectangle 156"/>
          <p:cNvSpPr/>
          <p:nvPr/>
        </p:nvSpPr>
        <p:spPr>
          <a:xfrm>
            <a:off x="1746522" y="4987323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Rectangle 157"/>
          <p:cNvSpPr/>
          <p:nvPr/>
        </p:nvSpPr>
        <p:spPr>
          <a:xfrm>
            <a:off x="2174743" y="4987323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Rectangle 158"/>
          <p:cNvSpPr/>
          <p:nvPr/>
        </p:nvSpPr>
        <p:spPr>
          <a:xfrm>
            <a:off x="2602127" y="4987323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" name="Rectangle 159"/>
          <p:cNvSpPr/>
          <p:nvPr/>
        </p:nvSpPr>
        <p:spPr>
          <a:xfrm>
            <a:off x="3029511" y="4987323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Rectangle 160"/>
          <p:cNvSpPr/>
          <p:nvPr/>
        </p:nvSpPr>
        <p:spPr>
          <a:xfrm>
            <a:off x="3456895" y="4987323"/>
            <a:ext cx="428221" cy="4282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" name="TextBox 161"/>
          <p:cNvSpPr txBox="1"/>
          <p:nvPr/>
        </p:nvSpPr>
        <p:spPr>
          <a:xfrm>
            <a:off x="1384180" y="2508037"/>
            <a:ext cx="30489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0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2232004" y="2508035"/>
            <a:ext cx="296876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2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1808092" y="2508036"/>
            <a:ext cx="25680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1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2655916" y="2505823"/>
            <a:ext cx="304892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3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3503740" y="2505821"/>
            <a:ext cx="304892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5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3079828" y="2505822"/>
            <a:ext cx="304892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4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968426" y="2885279"/>
            <a:ext cx="30489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0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968426" y="3311577"/>
            <a:ext cx="25680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1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954268" y="3737875"/>
            <a:ext cx="296876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2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954268" y="4206151"/>
            <a:ext cx="30008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3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957769" y="4580128"/>
            <a:ext cx="308098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4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957769" y="5024461"/>
            <a:ext cx="303288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5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2337389" y="2212874"/>
            <a:ext cx="474810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 err="1">
                <a:latin typeface="Bahnschrift" panose="020B0502040204020203" pitchFamily="34" charset="0"/>
              </a:rPr>
              <a:t>adj</a:t>
            </a:r>
            <a:endParaRPr lang="en-US" sz="1700" dirty="0">
              <a:latin typeface="Bahnschrift" panose="020B0502040204020203" pitchFamily="34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1372611" y="2876388"/>
            <a:ext cx="2445681" cy="2528694"/>
            <a:chOff x="6064252" y="3573225"/>
            <a:chExt cx="2445681" cy="2528694"/>
          </a:xfrm>
        </p:grpSpPr>
        <p:sp>
          <p:nvSpPr>
            <p:cNvPr id="183" name="TextBox 182"/>
            <p:cNvSpPr txBox="1"/>
            <p:nvPr/>
          </p:nvSpPr>
          <p:spPr>
            <a:xfrm>
              <a:off x="6085298" y="3575441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184" name="TextBox 183"/>
            <p:cNvSpPr txBox="1"/>
            <p:nvPr/>
          </p:nvSpPr>
          <p:spPr>
            <a:xfrm>
              <a:off x="6933122" y="3575439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185" name="TextBox 184"/>
            <p:cNvSpPr txBox="1"/>
            <p:nvPr/>
          </p:nvSpPr>
          <p:spPr>
            <a:xfrm>
              <a:off x="6509210" y="3575440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186" name="TextBox 185"/>
            <p:cNvSpPr txBox="1"/>
            <p:nvPr/>
          </p:nvSpPr>
          <p:spPr>
            <a:xfrm>
              <a:off x="7357034" y="3573227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187" name="TextBox 186"/>
            <p:cNvSpPr txBox="1"/>
            <p:nvPr/>
          </p:nvSpPr>
          <p:spPr>
            <a:xfrm>
              <a:off x="8204858" y="3573225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188" name="TextBox 187"/>
            <p:cNvSpPr txBox="1"/>
            <p:nvPr/>
          </p:nvSpPr>
          <p:spPr>
            <a:xfrm>
              <a:off x="7780946" y="3573226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189" name="TextBox 188"/>
            <p:cNvSpPr txBox="1"/>
            <p:nvPr/>
          </p:nvSpPr>
          <p:spPr>
            <a:xfrm>
              <a:off x="6075821" y="4008414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190" name="TextBox 189"/>
            <p:cNvSpPr txBox="1"/>
            <p:nvPr/>
          </p:nvSpPr>
          <p:spPr>
            <a:xfrm>
              <a:off x="6923645" y="4008412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191" name="TextBox 190"/>
            <p:cNvSpPr txBox="1"/>
            <p:nvPr/>
          </p:nvSpPr>
          <p:spPr>
            <a:xfrm>
              <a:off x="6499733" y="4008413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192" name="TextBox 191"/>
            <p:cNvSpPr txBox="1"/>
            <p:nvPr/>
          </p:nvSpPr>
          <p:spPr>
            <a:xfrm>
              <a:off x="7347557" y="4006200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193" name="TextBox 192"/>
            <p:cNvSpPr txBox="1"/>
            <p:nvPr/>
          </p:nvSpPr>
          <p:spPr>
            <a:xfrm>
              <a:off x="8195381" y="4006198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194" name="TextBox 193"/>
            <p:cNvSpPr txBox="1"/>
            <p:nvPr/>
          </p:nvSpPr>
          <p:spPr>
            <a:xfrm>
              <a:off x="7771469" y="4006199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195" name="TextBox 194"/>
            <p:cNvSpPr txBox="1"/>
            <p:nvPr/>
          </p:nvSpPr>
          <p:spPr>
            <a:xfrm>
              <a:off x="6073729" y="4453809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196" name="TextBox 195"/>
            <p:cNvSpPr txBox="1"/>
            <p:nvPr/>
          </p:nvSpPr>
          <p:spPr>
            <a:xfrm>
              <a:off x="6921553" y="4453807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197" name="TextBox 196"/>
            <p:cNvSpPr txBox="1"/>
            <p:nvPr/>
          </p:nvSpPr>
          <p:spPr>
            <a:xfrm>
              <a:off x="6497641" y="4453808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198" name="TextBox 197"/>
            <p:cNvSpPr txBox="1"/>
            <p:nvPr/>
          </p:nvSpPr>
          <p:spPr>
            <a:xfrm>
              <a:off x="7345465" y="4451595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199" name="TextBox 198"/>
            <p:cNvSpPr txBox="1"/>
            <p:nvPr/>
          </p:nvSpPr>
          <p:spPr>
            <a:xfrm>
              <a:off x="8193289" y="4451593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00" name="TextBox 199"/>
            <p:cNvSpPr txBox="1"/>
            <p:nvPr/>
          </p:nvSpPr>
          <p:spPr>
            <a:xfrm>
              <a:off x="7769377" y="4451594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01" name="TextBox 200"/>
            <p:cNvSpPr txBox="1"/>
            <p:nvPr/>
          </p:nvSpPr>
          <p:spPr>
            <a:xfrm>
              <a:off x="6064252" y="4886782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02" name="TextBox 201"/>
            <p:cNvSpPr txBox="1"/>
            <p:nvPr/>
          </p:nvSpPr>
          <p:spPr>
            <a:xfrm>
              <a:off x="6912076" y="4886780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03" name="TextBox 202"/>
            <p:cNvSpPr txBox="1"/>
            <p:nvPr/>
          </p:nvSpPr>
          <p:spPr>
            <a:xfrm>
              <a:off x="6488164" y="4886781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04" name="TextBox 203"/>
            <p:cNvSpPr txBox="1"/>
            <p:nvPr/>
          </p:nvSpPr>
          <p:spPr>
            <a:xfrm>
              <a:off x="7335988" y="4884568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05" name="TextBox 204"/>
            <p:cNvSpPr txBox="1"/>
            <p:nvPr/>
          </p:nvSpPr>
          <p:spPr>
            <a:xfrm>
              <a:off x="8183812" y="4884566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06" name="TextBox 205"/>
            <p:cNvSpPr txBox="1"/>
            <p:nvPr/>
          </p:nvSpPr>
          <p:spPr>
            <a:xfrm>
              <a:off x="7759900" y="4884567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07" name="TextBox 206"/>
            <p:cNvSpPr txBox="1"/>
            <p:nvPr/>
          </p:nvSpPr>
          <p:spPr>
            <a:xfrm>
              <a:off x="6085481" y="5315003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08" name="TextBox 207"/>
            <p:cNvSpPr txBox="1"/>
            <p:nvPr/>
          </p:nvSpPr>
          <p:spPr>
            <a:xfrm>
              <a:off x="6933305" y="5315001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09" name="TextBox 208"/>
            <p:cNvSpPr txBox="1"/>
            <p:nvPr/>
          </p:nvSpPr>
          <p:spPr>
            <a:xfrm>
              <a:off x="6509393" y="5315002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10" name="TextBox 209"/>
            <p:cNvSpPr txBox="1"/>
            <p:nvPr/>
          </p:nvSpPr>
          <p:spPr>
            <a:xfrm>
              <a:off x="7357217" y="5312789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11" name="TextBox 210"/>
            <p:cNvSpPr txBox="1"/>
            <p:nvPr/>
          </p:nvSpPr>
          <p:spPr>
            <a:xfrm>
              <a:off x="8205041" y="5312787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12" name="TextBox 211"/>
            <p:cNvSpPr txBox="1"/>
            <p:nvPr/>
          </p:nvSpPr>
          <p:spPr>
            <a:xfrm>
              <a:off x="7781129" y="5312788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13" name="TextBox 212"/>
            <p:cNvSpPr txBox="1"/>
            <p:nvPr/>
          </p:nvSpPr>
          <p:spPr>
            <a:xfrm>
              <a:off x="6076004" y="5747976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14" name="TextBox 213"/>
            <p:cNvSpPr txBox="1"/>
            <p:nvPr/>
          </p:nvSpPr>
          <p:spPr>
            <a:xfrm>
              <a:off x="6923828" y="5747974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15" name="TextBox 214"/>
            <p:cNvSpPr txBox="1"/>
            <p:nvPr/>
          </p:nvSpPr>
          <p:spPr>
            <a:xfrm>
              <a:off x="6499916" y="5747975"/>
              <a:ext cx="30489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16" name="TextBox 215"/>
            <p:cNvSpPr txBox="1"/>
            <p:nvPr/>
          </p:nvSpPr>
          <p:spPr>
            <a:xfrm>
              <a:off x="7347740" y="5745762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17" name="TextBox 216"/>
            <p:cNvSpPr txBox="1"/>
            <p:nvPr/>
          </p:nvSpPr>
          <p:spPr>
            <a:xfrm>
              <a:off x="8195564" y="5745760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  <p:sp>
          <p:nvSpPr>
            <p:cNvPr id="218" name="TextBox 217"/>
            <p:cNvSpPr txBox="1"/>
            <p:nvPr/>
          </p:nvSpPr>
          <p:spPr>
            <a:xfrm>
              <a:off x="7771652" y="5745761"/>
              <a:ext cx="304892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dirty="0">
                  <a:latin typeface="Bahnschrift" panose="020B0502040204020203" pitchFamily="34" charset="0"/>
                </a:rPr>
                <a:t>0</a:t>
              </a: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3463491" y="3700738"/>
            <a:ext cx="428221" cy="428221"/>
            <a:chOff x="883125" y="5015247"/>
            <a:chExt cx="428221" cy="428221"/>
          </a:xfrm>
        </p:grpSpPr>
        <p:sp>
          <p:nvSpPr>
            <p:cNvPr id="119" name="Rectangle 118"/>
            <p:cNvSpPr/>
            <p:nvPr/>
          </p:nvSpPr>
          <p:spPr>
            <a:xfrm>
              <a:off x="883125" y="5015247"/>
              <a:ext cx="428221" cy="428221"/>
            </a:xfrm>
            <a:prstGeom prst="rect">
              <a:avLst/>
            </a:prstGeom>
            <a:solidFill>
              <a:srgbClr val="FF00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TextBox 120"/>
            <p:cNvSpPr txBox="1"/>
            <p:nvPr/>
          </p:nvSpPr>
          <p:spPr>
            <a:xfrm>
              <a:off x="968834" y="5055002"/>
              <a:ext cx="25680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1</a:t>
              </a:r>
            </a:p>
          </p:txBody>
        </p:sp>
      </p:grpSp>
      <p:grpSp>
        <p:nvGrpSpPr>
          <p:cNvPr id="176" name="Group 175"/>
          <p:cNvGrpSpPr/>
          <p:nvPr/>
        </p:nvGrpSpPr>
        <p:grpSpPr>
          <a:xfrm>
            <a:off x="2183342" y="3277748"/>
            <a:ext cx="428221" cy="428221"/>
            <a:chOff x="883125" y="5015247"/>
            <a:chExt cx="428221" cy="428221"/>
          </a:xfrm>
        </p:grpSpPr>
        <p:sp>
          <p:nvSpPr>
            <p:cNvPr id="219" name="Rectangle 218"/>
            <p:cNvSpPr/>
            <p:nvPr/>
          </p:nvSpPr>
          <p:spPr>
            <a:xfrm>
              <a:off x="883125" y="5015247"/>
              <a:ext cx="428221" cy="428221"/>
            </a:xfrm>
            <a:prstGeom prst="rect">
              <a:avLst/>
            </a:prstGeom>
            <a:solidFill>
              <a:srgbClr val="FF00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0" name="TextBox 219"/>
            <p:cNvSpPr txBox="1"/>
            <p:nvPr/>
          </p:nvSpPr>
          <p:spPr>
            <a:xfrm>
              <a:off x="968834" y="5055002"/>
              <a:ext cx="25680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1</a:t>
              </a:r>
            </a:p>
          </p:txBody>
        </p:sp>
      </p:grpSp>
      <p:grpSp>
        <p:nvGrpSpPr>
          <p:cNvPr id="221" name="Group 220"/>
          <p:cNvGrpSpPr/>
          <p:nvPr/>
        </p:nvGrpSpPr>
        <p:grpSpPr>
          <a:xfrm>
            <a:off x="3036295" y="3274439"/>
            <a:ext cx="428221" cy="428221"/>
            <a:chOff x="883125" y="5015247"/>
            <a:chExt cx="428221" cy="428221"/>
          </a:xfrm>
        </p:grpSpPr>
        <p:sp>
          <p:nvSpPr>
            <p:cNvPr id="222" name="Rectangle 221"/>
            <p:cNvSpPr/>
            <p:nvPr/>
          </p:nvSpPr>
          <p:spPr>
            <a:xfrm>
              <a:off x="883125" y="5015247"/>
              <a:ext cx="428221" cy="428221"/>
            </a:xfrm>
            <a:prstGeom prst="rect">
              <a:avLst/>
            </a:prstGeom>
            <a:solidFill>
              <a:srgbClr val="FF00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3" name="TextBox 222"/>
            <p:cNvSpPr txBox="1"/>
            <p:nvPr/>
          </p:nvSpPr>
          <p:spPr>
            <a:xfrm>
              <a:off x="968834" y="5055002"/>
              <a:ext cx="25680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1</a:t>
              </a:r>
            </a:p>
          </p:txBody>
        </p:sp>
      </p:grpSp>
      <p:grpSp>
        <p:nvGrpSpPr>
          <p:cNvPr id="224" name="Group 223"/>
          <p:cNvGrpSpPr/>
          <p:nvPr/>
        </p:nvGrpSpPr>
        <p:grpSpPr>
          <a:xfrm>
            <a:off x="1317536" y="3274439"/>
            <a:ext cx="428221" cy="428221"/>
            <a:chOff x="883125" y="5015247"/>
            <a:chExt cx="428221" cy="428221"/>
          </a:xfrm>
        </p:grpSpPr>
        <p:sp>
          <p:nvSpPr>
            <p:cNvPr id="225" name="Rectangle 224"/>
            <p:cNvSpPr/>
            <p:nvPr/>
          </p:nvSpPr>
          <p:spPr>
            <a:xfrm>
              <a:off x="883125" y="5015247"/>
              <a:ext cx="428221" cy="428221"/>
            </a:xfrm>
            <a:prstGeom prst="rect">
              <a:avLst/>
            </a:prstGeom>
            <a:solidFill>
              <a:srgbClr val="FF00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6" name="TextBox 225"/>
            <p:cNvSpPr txBox="1"/>
            <p:nvPr/>
          </p:nvSpPr>
          <p:spPr>
            <a:xfrm>
              <a:off x="968834" y="5055002"/>
              <a:ext cx="25680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1</a:t>
              </a:r>
            </a:p>
          </p:txBody>
        </p:sp>
      </p:grpSp>
      <p:grpSp>
        <p:nvGrpSpPr>
          <p:cNvPr id="227" name="Group 226"/>
          <p:cNvGrpSpPr/>
          <p:nvPr/>
        </p:nvGrpSpPr>
        <p:grpSpPr>
          <a:xfrm>
            <a:off x="1325354" y="4554009"/>
            <a:ext cx="428221" cy="428221"/>
            <a:chOff x="883125" y="5015247"/>
            <a:chExt cx="428221" cy="428221"/>
          </a:xfrm>
        </p:grpSpPr>
        <p:sp>
          <p:nvSpPr>
            <p:cNvPr id="228" name="Rectangle 227"/>
            <p:cNvSpPr/>
            <p:nvPr/>
          </p:nvSpPr>
          <p:spPr>
            <a:xfrm>
              <a:off x="883125" y="5015247"/>
              <a:ext cx="428221" cy="428221"/>
            </a:xfrm>
            <a:prstGeom prst="rect">
              <a:avLst/>
            </a:prstGeom>
            <a:solidFill>
              <a:srgbClr val="FF00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9" name="TextBox 228"/>
            <p:cNvSpPr txBox="1"/>
            <p:nvPr/>
          </p:nvSpPr>
          <p:spPr>
            <a:xfrm>
              <a:off x="968834" y="5055002"/>
              <a:ext cx="25680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1</a:t>
              </a:r>
            </a:p>
          </p:txBody>
        </p:sp>
      </p:grpSp>
      <p:grpSp>
        <p:nvGrpSpPr>
          <p:cNvPr id="241" name="Group 240"/>
          <p:cNvGrpSpPr/>
          <p:nvPr/>
        </p:nvGrpSpPr>
        <p:grpSpPr>
          <a:xfrm>
            <a:off x="1743895" y="3704706"/>
            <a:ext cx="428221" cy="428221"/>
            <a:chOff x="883125" y="5015247"/>
            <a:chExt cx="428221" cy="428221"/>
          </a:xfrm>
        </p:grpSpPr>
        <p:sp>
          <p:nvSpPr>
            <p:cNvPr id="242" name="Rectangle 241"/>
            <p:cNvSpPr/>
            <p:nvPr/>
          </p:nvSpPr>
          <p:spPr>
            <a:xfrm>
              <a:off x="883125" y="5015247"/>
              <a:ext cx="428221" cy="428221"/>
            </a:xfrm>
            <a:prstGeom prst="rect">
              <a:avLst/>
            </a:prstGeom>
            <a:solidFill>
              <a:srgbClr val="FF00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3" name="TextBox 242"/>
            <p:cNvSpPr txBox="1"/>
            <p:nvPr/>
          </p:nvSpPr>
          <p:spPr>
            <a:xfrm>
              <a:off x="968834" y="5055002"/>
              <a:ext cx="25680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1</a:t>
              </a:r>
            </a:p>
          </p:txBody>
        </p:sp>
      </p:grpSp>
      <p:grpSp>
        <p:nvGrpSpPr>
          <p:cNvPr id="246" name="Group 245"/>
          <p:cNvGrpSpPr/>
          <p:nvPr/>
        </p:nvGrpSpPr>
        <p:grpSpPr>
          <a:xfrm>
            <a:off x="2179934" y="4982191"/>
            <a:ext cx="428221" cy="428221"/>
            <a:chOff x="883125" y="5015247"/>
            <a:chExt cx="428221" cy="428221"/>
          </a:xfrm>
        </p:grpSpPr>
        <p:sp>
          <p:nvSpPr>
            <p:cNvPr id="247" name="Rectangle 246"/>
            <p:cNvSpPr/>
            <p:nvPr/>
          </p:nvSpPr>
          <p:spPr>
            <a:xfrm>
              <a:off x="883125" y="5015247"/>
              <a:ext cx="428221" cy="428221"/>
            </a:xfrm>
            <a:prstGeom prst="rect">
              <a:avLst/>
            </a:prstGeom>
            <a:solidFill>
              <a:srgbClr val="FF00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8" name="TextBox 247"/>
            <p:cNvSpPr txBox="1"/>
            <p:nvPr/>
          </p:nvSpPr>
          <p:spPr>
            <a:xfrm>
              <a:off x="968834" y="5055002"/>
              <a:ext cx="25680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1</a:t>
              </a:r>
            </a:p>
          </p:txBody>
        </p:sp>
      </p:grpSp>
      <p:grpSp>
        <p:nvGrpSpPr>
          <p:cNvPr id="249" name="Group 248"/>
          <p:cNvGrpSpPr/>
          <p:nvPr/>
        </p:nvGrpSpPr>
        <p:grpSpPr>
          <a:xfrm>
            <a:off x="1743894" y="4555793"/>
            <a:ext cx="428221" cy="428221"/>
            <a:chOff x="883125" y="5015247"/>
            <a:chExt cx="428221" cy="428221"/>
          </a:xfrm>
        </p:grpSpPr>
        <p:sp>
          <p:nvSpPr>
            <p:cNvPr id="250" name="Rectangle 249"/>
            <p:cNvSpPr/>
            <p:nvPr/>
          </p:nvSpPr>
          <p:spPr>
            <a:xfrm>
              <a:off x="883125" y="5015247"/>
              <a:ext cx="428221" cy="428221"/>
            </a:xfrm>
            <a:prstGeom prst="rect">
              <a:avLst/>
            </a:prstGeom>
            <a:solidFill>
              <a:srgbClr val="FF00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1" name="TextBox 250"/>
            <p:cNvSpPr txBox="1"/>
            <p:nvPr/>
          </p:nvSpPr>
          <p:spPr>
            <a:xfrm>
              <a:off x="968834" y="5055002"/>
              <a:ext cx="25680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1</a:t>
              </a:r>
            </a:p>
          </p:txBody>
        </p:sp>
      </p:grpSp>
      <p:grpSp>
        <p:nvGrpSpPr>
          <p:cNvPr id="252" name="Group 251"/>
          <p:cNvGrpSpPr/>
          <p:nvPr/>
        </p:nvGrpSpPr>
        <p:grpSpPr>
          <a:xfrm>
            <a:off x="1742119" y="2854840"/>
            <a:ext cx="428221" cy="428221"/>
            <a:chOff x="883125" y="5015247"/>
            <a:chExt cx="428221" cy="428221"/>
          </a:xfrm>
        </p:grpSpPr>
        <p:sp>
          <p:nvSpPr>
            <p:cNvPr id="253" name="Rectangle 252"/>
            <p:cNvSpPr/>
            <p:nvPr/>
          </p:nvSpPr>
          <p:spPr>
            <a:xfrm>
              <a:off x="883125" y="5015247"/>
              <a:ext cx="428221" cy="428221"/>
            </a:xfrm>
            <a:prstGeom prst="rect">
              <a:avLst/>
            </a:prstGeom>
            <a:solidFill>
              <a:srgbClr val="FF00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4" name="TextBox 253"/>
            <p:cNvSpPr txBox="1"/>
            <p:nvPr/>
          </p:nvSpPr>
          <p:spPr>
            <a:xfrm>
              <a:off x="968834" y="5055002"/>
              <a:ext cx="25680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1</a:t>
              </a:r>
            </a:p>
          </p:txBody>
        </p:sp>
      </p:grpSp>
      <p:grpSp>
        <p:nvGrpSpPr>
          <p:cNvPr id="255" name="Group 254"/>
          <p:cNvGrpSpPr/>
          <p:nvPr/>
        </p:nvGrpSpPr>
        <p:grpSpPr>
          <a:xfrm>
            <a:off x="3033077" y="2854840"/>
            <a:ext cx="428221" cy="428221"/>
            <a:chOff x="883125" y="5015247"/>
            <a:chExt cx="428221" cy="428221"/>
          </a:xfrm>
        </p:grpSpPr>
        <p:sp>
          <p:nvSpPr>
            <p:cNvPr id="256" name="Rectangle 255"/>
            <p:cNvSpPr/>
            <p:nvPr/>
          </p:nvSpPr>
          <p:spPr>
            <a:xfrm>
              <a:off x="883125" y="5015247"/>
              <a:ext cx="428221" cy="428221"/>
            </a:xfrm>
            <a:prstGeom prst="rect">
              <a:avLst/>
            </a:prstGeom>
            <a:solidFill>
              <a:srgbClr val="FF00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7" name="TextBox 256"/>
            <p:cNvSpPr txBox="1"/>
            <p:nvPr/>
          </p:nvSpPr>
          <p:spPr>
            <a:xfrm>
              <a:off x="968834" y="5055002"/>
              <a:ext cx="256802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1</a:t>
              </a:r>
            </a:p>
          </p:txBody>
        </p:sp>
      </p:grpSp>
      <p:sp>
        <p:nvSpPr>
          <p:cNvPr id="174" name="TextBox 173"/>
          <p:cNvSpPr txBox="1"/>
          <p:nvPr/>
        </p:nvSpPr>
        <p:spPr>
          <a:xfrm>
            <a:off x="1593367" y="5663484"/>
            <a:ext cx="1871025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Undirected Graph</a:t>
            </a:r>
          </a:p>
        </p:txBody>
      </p:sp>
      <p:sp>
        <p:nvSpPr>
          <p:cNvPr id="258" name="Rectangle 257"/>
          <p:cNvSpPr/>
          <p:nvPr/>
        </p:nvSpPr>
        <p:spPr>
          <a:xfrm>
            <a:off x="1559182" y="5693607"/>
            <a:ext cx="1917107" cy="315274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9" name="TextBox 258"/>
          <p:cNvSpPr txBox="1"/>
          <p:nvPr/>
        </p:nvSpPr>
        <p:spPr>
          <a:xfrm>
            <a:off x="4269436" y="2406757"/>
            <a:ext cx="6151043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700" dirty="0">
                <a:latin typeface="Bahnschrift" panose="020B0502040204020203" pitchFamily="34" charset="0"/>
              </a:rPr>
              <a:t>For every pair (</a:t>
            </a:r>
            <a:r>
              <a:rPr lang="en-US" sz="1700" dirty="0" err="1">
                <a:latin typeface="Bahnschrift" panose="020B0502040204020203" pitchFamily="34" charset="0"/>
              </a:rPr>
              <a:t>u,v</a:t>
            </a:r>
            <a:r>
              <a:rPr lang="en-US" sz="1700" dirty="0">
                <a:latin typeface="Bahnschrift" panose="020B0502040204020203" pitchFamily="34" charset="0"/>
              </a:rPr>
              <a:t>) if </a:t>
            </a:r>
            <a:r>
              <a:rPr lang="en-US" sz="1700" dirty="0" err="1">
                <a:latin typeface="Bahnschrift" panose="020B0502040204020203" pitchFamily="34" charset="0"/>
              </a:rPr>
              <a:t>adj</a:t>
            </a:r>
            <a:r>
              <a:rPr lang="en-US" sz="1700" dirty="0">
                <a:latin typeface="Bahnschrift" panose="020B0502040204020203" pitchFamily="34" charset="0"/>
              </a:rPr>
              <a:t>[u][v] =1 then there is also </a:t>
            </a:r>
            <a:r>
              <a:rPr lang="en-US" sz="1700" dirty="0" err="1">
                <a:latin typeface="Bahnschrift" panose="020B0502040204020203" pitchFamily="34" charset="0"/>
              </a:rPr>
              <a:t>adj</a:t>
            </a:r>
            <a:r>
              <a:rPr lang="en-US" sz="1700" dirty="0">
                <a:latin typeface="Bahnschrift" panose="020B0502040204020203" pitchFamily="34" charset="0"/>
              </a:rPr>
              <a:t>[v][u] =1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4305904" y="2845462"/>
            <a:ext cx="2375971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700" dirty="0">
                <a:latin typeface="Bahnschrift" panose="020B0502040204020203" pitchFamily="34" charset="0"/>
              </a:rPr>
              <a:t>Construct the graph</a:t>
            </a:r>
          </a:p>
        </p:txBody>
      </p:sp>
      <p:sp>
        <p:nvSpPr>
          <p:cNvPr id="261" name="Oval 260"/>
          <p:cNvSpPr/>
          <p:nvPr/>
        </p:nvSpPr>
        <p:spPr>
          <a:xfrm>
            <a:off x="9551039" y="3309361"/>
            <a:ext cx="487110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2" name="Oval 261"/>
          <p:cNvSpPr/>
          <p:nvPr/>
        </p:nvSpPr>
        <p:spPr>
          <a:xfrm>
            <a:off x="9063929" y="3983054"/>
            <a:ext cx="487110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3" name="Oval 262"/>
          <p:cNvSpPr/>
          <p:nvPr/>
        </p:nvSpPr>
        <p:spPr>
          <a:xfrm>
            <a:off x="10754572" y="3309361"/>
            <a:ext cx="487110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4" name="Oval 263"/>
          <p:cNvSpPr/>
          <p:nvPr/>
        </p:nvSpPr>
        <p:spPr>
          <a:xfrm>
            <a:off x="10154942" y="4226609"/>
            <a:ext cx="487110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5" name="Oval 264"/>
          <p:cNvSpPr/>
          <p:nvPr/>
        </p:nvSpPr>
        <p:spPr>
          <a:xfrm>
            <a:off x="9667832" y="5084287"/>
            <a:ext cx="487110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6" name="Oval 265"/>
          <p:cNvSpPr/>
          <p:nvPr/>
        </p:nvSpPr>
        <p:spPr>
          <a:xfrm>
            <a:off x="11144830" y="4597177"/>
            <a:ext cx="487110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7" name="Straight Connector 266"/>
          <p:cNvCxnSpPr>
            <a:stCxn id="261" idx="6"/>
            <a:endCxn id="263" idx="2"/>
          </p:cNvCxnSpPr>
          <p:nvPr/>
        </p:nvCxnSpPr>
        <p:spPr>
          <a:xfrm>
            <a:off x="10038149" y="3552916"/>
            <a:ext cx="71642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Straight Connector 267"/>
          <p:cNvCxnSpPr>
            <a:stCxn id="261" idx="3"/>
            <a:endCxn id="262" idx="0"/>
          </p:cNvCxnSpPr>
          <p:nvPr/>
        </p:nvCxnSpPr>
        <p:spPr>
          <a:xfrm flipH="1">
            <a:off x="9307484" y="3725135"/>
            <a:ext cx="314891" cy="25791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Straight Connector 268"/>
          <p:cNvCxnSpPr>
            <a:stCxn id="262" idx="5"/>
            <a:endCxn id="265" idx="1"/>
          </p:cNvCxnSpPr>
          <p:nvPr/>
        </p:nvCxnSpPr>
        <p:spPr>
          <a:xfrm>
            <a:off x="9479703" y="4398828"/>
            <a:ext cx="259465" cy="75679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Straight Connector 269"/>
          <p:cNvCxnSpPr>
            <a:stCxn id="264" idx="7"/>
            <a:endCxn id="263" idx="4"/>
          </p:cNvCxnSpPr>
          <p:nvPr/>
        </p:nvCxnSpPr>
        <p:spPr>
          <a:xfrm flipV="1">
            <a:off x="10570716" y="3796471"/>
            <a:ext cx="427411" cy="50147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Straight Connector 270"/>
          <p:cNvCxnSpPr>
            <a:stCxn id="261" idx="5"/>
            <a:endCxn id="264" idx="1"/>
          </p:cNvCxnSpPr>
          <p:nvPr/>
        </p:nvCxnSpPr>
        <p:spPr>
          <a:xfrm>
            <a:off x="9966813" y="3725135"/>
            <a:ext cx="259465" cy="57281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2" name="TextBox 271"/>
          <p:cNvSpPr txBox="1"/>
          <p:nvPr/>
        </p:nvSpPr>
        <p:spPr>
          <a:xfrm>
            <a:off x="10842475" y="3355803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0</a:t>
            </a:r>
          </a:p>
        </p:txBody>
      </p:sp>
      <p:sp>
        <p:nvSpPr>
          <p:cNvPr id="273" name="TextBox 272"/>
          <p:cNvSpPr txBox="1"/>
          <p:nvPr/>
        </p:nvSpPr>
        <p:spPr>
          <a:xfrm>
            <a:off x="9638942" y="3355803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1</a:t>
            </a:r>
          </a:p>
        </p:txBody>
      </p:sp>
      <p:sp>
        <p:nvSpPr>
          <p:cNvPr id="274" name="TextBox 273"/>
          <p:cNvSpPr txBox="1"/>
          <p:nvPr/>
        </p:nvSpPr>
        <p:spPr>
          <a:xfrm>
            <a:off x="9158953" y="4041943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2</a:t>
            </a:r>
          </a:p>
        </p:txBody>
      </p:sp>
      <p:sp>
        <p:nvSpPr>
          <p:cNvPr id="275" name="TextBox 274"/>
          <p:cNvSpPr txBox="1"/>
          <p:nvPr/>
        </p:nvSpPr>
        <p:spPr>
          <a:xfrm>
            <a:off x="11223166" y="465606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3</a:t>
            </a:r>
          </a:p>
        </p:txBody>
      </p:sp>
      <p:sp>
        <p:nvSpPr>
          <p:cNvPr id="276" name="TextBox 275"/>
          <p:cNvSpPr txBox="1"/>
          <p:nvPr/>
        </p:nvSpPr>
        <p:spPr>
          <a:xfrm>
            <a:off x="10241946" y="4285498"/>
            <a:ext cx="316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4</a:t>
            </a:r>
          </a:p>
        </p:txBody>
      </p:sp>
      <p:sp>
        <p:nvSpPr>
          <p:cNvPr id="277" name="TextBox 276"/>
          <p:cNvSpPr txBox="1"/>
          <p:nvPr/>
        </p:nvSpPr>
        <p:spPr>
          <a:xfrm>
            <a:off x="9756537" y="5143176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5</a:t>
            </a:r>
          </a:p>
        </p:txBody>
      </p:sp>
      <p:sp>
        <p:nvSpPr>
          <p:cNvPr id="278" name="TextBox 277"/>
          <p:cNvSpPr txBox="1"/>
          <p:nvPr/>
        </p:nvSpPr>
        <p:spPr>
          <a:xfrm>
            <a:off x="4525055" y="3230331"/>
            <a:ext cx="473559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Bahnschrift" panose="020B0502040204020203" pitchFamily="34" charset="0"/>
              </a:rPr>
              <a:t>As the matrix size is 6x6 so total vertices, n=6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782938" y="3067672"/>
            <a:ext cx="346959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9" name="TextBox 278"/>
          <p:cNvSpPr txBox="1"/>
          <p:nvPr/>
        </p:nvSpPr>
        <p:spPr>
          <a:xfrm>
            <a:off x="4519935" y="3548163"/>
            <a:ext cx="1632178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 err="1">
                <a:latin typeface="Bahnschrift" panose="020B0502040204020203" pitchFamily="34" charset="0"/>
              </a:rPr>
              <a:t>Adj</a:t>
            </a:r>
            <a:r>
              <a:rPr lang="en-US" sz="1700" dirty="0">
                <a:latin typeface="Bahnschrift" panose="020B0502040204020203" pitchFamily="34" charset="0"/>
              </a:rPr>
              <a:t>(0) = {1,4}</a:t>
            </a:r>
          </a:p>
        </p:txBody>
      </p:sp>
      <p:cxnSp>
        <p:nvCxnSpPr>
          <p:cNvPr id="280" name="Straight Arrow Connector 279"/>
          <p:cNvCxnSpPr/>
          <p:nvPr/>
        </p:nvCxnSpPr>
        <p:spPr>
          <a:xfrm>
            <a:off x="782937" y="3486332"/>
            <a:ext cx="346959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1" name="TextBox 280"/>
          <p:cNvSpPr txBox="1"/>
          <p:nvPr/>
        </p:nvSpPr>
        <p:spPr>
          <a:xfrm>
            <a:off x="4520029" y="3896118"/>
            <a:ext cx="1794081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 err="1">
                <a:latin typeface="Bahnschrift" panose="020B0502040204020203" pitchFamily="34" charset="0"/>
              </a:rPr>
              <a:t>Adj</a:t>
            </a:r>
            <a:r>
              <a:rPr lang="en-US" sz="1700" dirty="0">
                <a:latin typeface="Bahnschrift" panose="020B0502040204020203" pitchFamily="34" charset="0"/>
              </a:rPr>
              <a:t>(1) = {0,2,4}</a:t>
            </a:r>
          </a:p>
        </p:txBody>
      </p:sp>
      <p:cxnSp>
        <p:nvCxnSpPr>
          <p:cNvPr id="282" name="Straight Arrow Connector 281"/>
          <p:cNvCxnSpPr/>
          <p:nvPr/>
        </p:nvCxnSpPr>
        <p:spPr>
          <a:xfrm>
            <a:off x="782936" y="3931727"/>
            <a:ext cx="346959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3" name="TextBox 282"/>
          <p:cNvSpPr txBox="1"/>
          <p:nvPr/>
        </p:nvSpPr>
        <p:spPr>
          <a:xfrm>
            <a:off x="4520028" y="4262007"/>
            <a:ext cx="1619354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 err="1">
                <a:latin typeface="Bahnschrift" panose="020B0502040204020203" pitchFamily="34" charset="0"/>
              </a:rPr>
              <a:t>Adj</a:t>
            </a:r>
            <a:r>
              <a:rPr lang="en-US" sz="1700" dirty="0">
                <a:latin typeface="Bahnschrift" panose="020B0502040204020203" pitchFamily="34" charset="0"/>
              </a:rPr>
              <a:t>(2) = {1,5}</a:t>
            </a:r>
          </a:p>
        </p:txBody>
      </p:sp>
      <p:cxnSp>
        <p:nvCxnSpPr>
          <p:cNvPr id="284" name="Straight Arrow Connector 283"/>
          <p:cNvCxnSpPr/>
          <p:nvPr/>
        </p:nvCxnSpPr>
        <p:spPr>
          <a:xfrm>
            <a:off x="782935" y="4383122"/>
            <a:ext cx="346959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5" name="TextBox 284"/>
          <p:cNvSpPr txBox="1"/>
          <p:nvPr/>
        </p:nvSpPr>
        <p:spPr>
          <a:xfrm>
            <a:off x="4528459" y="4653560"/>
            <a:ext cx="1382110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 err="1">
                <a:latin typeface="Bahnschrift" panose="020B0502040204020203" pitchFamily="34" charset="0"/>
              </a:rPr>
              <a:t>Adj</a:t>
            </a:r>
            <a:r>
              <a:rPr lang="en-US" sz="1700" dirty="0">
                <a:latin typeface="Bahnschrift" panose="020B0502040204020203" pitchFamily="34" charset="0"/>
              </a:rPr>
              <a:t>(3) = {}</a:t>
            </a:r>
          </a:p>
        </p:txBody>
      </p:sp>
      <p:cxnSp>
        <p:nvCxnSpPr>
          <p:cNvPr id="286" name="Straight Arrow Connector 285"/>
          <p:cNvCxnSpPr/>
          <p:nvPr/>
        </p:nvCxnSpPr>
        <p:spPr>
          <a:xfrm>
            <a:off x="790530" y="4757278"/>
            <a:ext cx="346959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7" name="TextBox 286"/>
          <p:cNvSpPr txBox="1"/>
          <p:nvPr/>
        </p:nvSpPr>
        <p:spPr>
          <a:xfrm>
            <a:off x="4528459" y="5019329"/>
            <a:ext cx="1632178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 err="1">
                <a:latin typeface="Bahnschrift" panose="020B0502040204020203" pitchFamily="34" charset="0"/>
              </a:rPr>
              <a:t>Adj</a:t>
            </a:r>
            <a:r>
              <a:rPr lang="en-US" sz="1700" dirty="0">
                <a:latin typeface="Bahnschrift" panose="020B0502040204020203" pitchFamily="34" charset="0"/>
              </a:rPr>
              <a:t>(4) = {0,1}</a:t>
            </a:r>
          </a:p>
        </p:txBody>
      </p:sp>
      <p:cxnSp>
        <p:nvCxnSpPr>
          <p:cNvPr id="288" name="Straight Arrow Connector 287"/>
          <p:cNvCxnSpPr/>
          <p:nvPr/>
        </p:nvCxnSpPr>
        <p:spPr>
          <a:xfrm>
            <a:off x="782934" y="5225894"/>
            <a:ext cx="346959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9" name="TextBox 288"/>
          <p:cNvSpPr txBox="1"/>
          <p:nvPr/>
        </p:nvSpPr>
        <p:spPr>
          <a:xfrm>
            <a:off x="4528459" y="5373272"/>
            <a:ext cx="1497526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 err="1">
                <a:latin typeface="Bahnschrift" panose="020B0502040204020203" pitchFamily="34" charset="0"/>
              </a:rPr>
              <a:t>Adj</a:t>
            </a:r>
            <a:r>
              <a:rPr lang="en-US" sz="1700" dirty="0">
                <a:latin typeface="Bahnschrift" panose="020B0502040204020203" pitchFamily="34" charset="0"/>
              </a:rPr>
              <a:t>(5) = {2}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EB6DF-10E5-4691-A626-F864BBCEE884}" type="datetime1">
              <a:rPr lang="en-US" smtClean="0"/>
              <a:t>30-Sep-24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SWAPNIL BISWAS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510A0-FB96-4102-84E6-46674F03B94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093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5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5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5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0" dur="5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3" dur="5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6"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9" dur="5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5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5" dur="5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8"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1" dur="5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4"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7" dur="5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0" dur="5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>
                      <p:stCondLst>
                        <p:cond delay="indefinite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6" fill="hold">
                      <p:stCondLst>
                        <p:cond delay="indefinite"/>
                      </p:stCondLst>
                      <p:childTnLst>
                        <p:par>
                          <p:cTn id="257" fill="hold">
                            <p:stCondLst>
                              <p:cond delay="0"/>
                            </p:stCondLst>
                            <p:childTnLst>
                              <p:par>
                                <p:cTn id="2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0" dur="5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1" fill="hold">
                      <p:stCondLst>
                        <p:cond delay="indefinite"/>
                      </p:stCondLst>
                      <p:childTnLst>
                        <p:par>
                          <p:cTn id="262" fill="hold">
                            <p:stCondLst>
                              <p:cond delay="0"/>
                            </p:stCondLst>
                            <p:childTnLst>
                              <p:par>
                                <p:cTn id="2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5" dur="5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8"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9" fill="hold">
                      <p:stCondLst>
                        <p:cond delay="indefinite"/>
                      </p:stCondLst>
                      <p:childTnLst>
                        <p:par>
                          <p:cTn id="270" fill="hold">
                            <p:stCondLst>
                              <p:cond delay="0"/>
                            </p:stCondLst>
                            <p:childTnLst>
                              <p:par>
                                <p:cTn id="2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3" dur="5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4" fill="hold">
                      <p:stCondLst>
                        <p:cond delay="indefinite"/>
                      </p:stCondLst>
                      <p:childTnLst>
                        <p:par>
                          <p:cTn id="275" fill="hold">
                            <p:stCondLst>
                              <p:cond delay="0"/>
                            </p:stCondLst>
                            <p:childTnLst>
                              <p:par>
                                <p:cTn id="2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8" dur="5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9" fill="hold">
                      <p:stCondLst>
                        <p:cond delay="indefinite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8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3" dur="5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6" dur="5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7" fill="hold">
                      <p:stCondLst>
                        <p:cond delay="indefinite"/>
                      </p:stCondLst>
                      <p:childTnLst>
                        <p:par>
                          <p:cTn id="288" fill="hold">
                            <p:stCondLst>
                              <p:cond delay="0"/>
                            </p:stCondLst>
                            <p:childTnLst>
                              <p:par>
                                <p:cTn id="28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1" dur="5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2" fill="hold">
                      <p:stCondLst>
                        <p:cond delay="indefinite"/>
                      </p:stCondLst>
                      <p:childTnLst>
                        <p:par>
                          <p:cTn id="293" fill="hold">
                            <p:stCondLst>
                              <p:cond delay="0"/>
                            </p:stCondLst>
                            <p:childTnLst>
                              <p:par>
                                <p:cTn id="2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6" dur="5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7" fill="hold">
                      <p:stCondLst>
                        <p:cond delay="indefinite"/>
                      </p:stCondLst>
                      <p:childTnLst>
                        <p:par>
                          <p:cTn id="298" fill="hold">
                            <p:stCondLst>
                              <p:cond delay="0"/>
                            </p:stCondLst>
                            <p:childTnLst>
                              <p:par>
                                <p:cTn id="29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1" dur="5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2" fill="hold">
                      <p:stCondLst>
                        <p:cond delay="indefinite"/>
                      </p:stCondLst>
                      <p:childTnLst>
                        <p:par>
                          <p:cTn id="303" fill="hold">
                            <p:stCondLst>
                              <p:cond delay="0"/>
                            </p:stCondLst>
                            <p:childTnLst>
                              <p:par>
                                <p:cTn id="30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6" dur="5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7" fill="hold">
                      <p:stCondLst>
                        <p:cond delay="indefinite"/>
                      </p:stCondLst>
                      <p:childTnLst>
                        <p:par>
                          <p:cTn id="308" fill="hold">
                            <p:stCondLst>
                              <p:cond delay="0"/>
                            </p:stCondLst>
                            <p:childTnLst>
                              <p:par>
                                <p:cTn id="30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1" dur="5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2" fill="hold">
                      <p:stCondLst>
                        <p:cond delay="indefinite"/>
                      </p:stCondLst>
                      <p:childTnLst>
                        <p:par>
                          <p:cTn id="313" fill="hold">
                            <p:stCondLst>
                              <p:cond delay="0"/>
                            </p:stCondLst>
                            <p:childTnLst>
                              <p:par>
                                <p:cTn id="3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6" dur="50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7" fill="hold">
                      <p:stCondLst>
                        <p:cond delay="indefinite"/>
                      </p:stCondLst>
                      <p:childTnLst>
                        <p:par>
                          <p:cTn id="318" fill="hold">
                            <p:stCondLst>
                              <p:cond delay="0"/>
                            </p:stCondLst>
                            <p:childTnLst>
                              <p:par>
                                <p:cTn id="3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1" dur="5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2" fill="hold">
                      <p:stCondLst>
                        <p:cond delay="indefinite"/>
                      </p:stCondLst>
                      <p:childTnLst>
                        <p:par>
                          <p:cTn id="323" fill="hold">
                            <p:stCondLst>
                              <p:cond delay="0"/>
                            </p:stCondLst>
                            <p:childTnLst>
                              <p:par>
                                <p:cTn id="3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6" dur="5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7" fill="hold">
                      <p:stCondLst>
                        <p:cond delay="indefinite"/>
                      </p:stCondLst>
                      <p:childTnLst>
                        <p:par>
                          <p:cTn id="328" fill="hold">
                            <p:stCondLst>
                              <p:cond delay="0"/>
                            </p:stCondLst>
                            <p:childTnLst>
                              <p:par>
                                <p:cTn id="3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1" dur="5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/>
      <p:bldP spid="126" grpId="0" animBg="1"/>
      <p:bldP spid="127" grpId="0" animBg="1"/>
      <p:bldP spid="128" grpId="0" animBg="1"/>
      <p:bldP spid="129" grpId="0" animBg="1"/>
      <p:bldP spid="130" grpId="0" animBg="1"/>
      <p:bldP spid="131" grpId="0" animBg="1"/>
      <p:bldP spid="132" grpId="0" animBg="1"/>
      <p:bldP spid="133" grpId="0" animBg="1"/>
      <p:bldP spid="134" grpId="0" animBg="1"/>
      <p:bldP spid="135" grpId="0" animBg="1"/>
      <p:bldP spid="136" grpId="0" animBg="1"/>
      <p:bldP spid="137" grpId="0" animBg="1"/>
      <p:bldP spid="138" grpId="0" animBg="1"/>
      <p:bldP spid="139" grpId="0" animBg="1"/>
      <p:bldP spid="140" grpId="0" animBg="1"/>
      <p:bldP spid="141" grpId="0" animBg="1"/>
      <p:bldP spid="142" grpId="0" animBg="1"/>
      <p:bldP spid="143" grpId="0" animBg="1"/>
      <p:bldP spid="144" grpId="0" animBg="1"/>
      <p:bldP spid="145" grpId="0" animBg="1"/>
      <p:bldP spid="146" grpId="0" animBg="1"/>
      <p:bldP spid="147" grpId="0" animBg="1"/>
      <p:bldP spid="148" grpId="0" animBg="1"/>
      <p:bldP spid="149" grpId="0" animBg="1"/>
      <p:bldP spid="150" grpId="0" animBg="1"/>
      <p:bldP spid="151" grpId="0" animBg="1"/>
      <p:bldP spid="152" grpId="0" animBg="1"/>
      <p:bldP spid="153" grpId="0" animBg="1"/>
      <p:bldP spid="154" grpId="0" animBg="1"/>
      <p:bldP spid="155" grpId="0" animBg="1"/>
      <p:bldP spid="156" grpId="0" animBg="1"/>
      <p:bldP spid="157" grpId="0" animBg="1"/>
      <p:bldP spid="158" grpId="0" animBg="1"/>
      <p:bldP spid="159" grpId="0" animBg="1"/>
      <p:bldP spid="160" grpId="0" animBg="1"/>
      <p:bldP spid="161" grpId="0" animBg="1"/>
      <p:bldP spid="162" grpId="0"/>
      <p:bldP spid="163" grpId="0"/>
      <p:bldP spid="164" grpId="0"/>
      <p:bldP spid="165" grpId="0"/>
      <p:bldP spid="166" grpId="0"/>
      <p:bldP spid="167" grpId="0"/>
      <p:bldP spid="168" grpId="0"/>
      <p:bldP spid="169" grpId="0"/>
      <p:bldP spid="170" grpId="0"/>
      <p:bldP spid="171" grpId="0"/>
      <p:bldP spid="172" grpId="0"/>
      <p:bldP spid="173" grpId="0"/>
      <p:bldP spid="175" grpId="0"/>
      <p:bldP spid="174" grpId="0"/>
      <p:bldP spid="258" grpId="0" animBg="1"/>
      <p:bldP spid="259" grpId="0"/>
      <p:bldP spid="260" grpId="0"/>
      <p:bldP spid="261" grpId="0" animBg="1"/>
      <p:bldP spid="262" grpId="0" animBg="1"/>
      <p:bldP spid="263" grpId="0" animBg="1"/>
      <p:bldP spid="264" grpId="0" animBg="1"/>
      <p:bldP spid="265" grpId="0" animBg="1"/>
      <p:bldP spid="266" grpId="0" animBg="1"/>
      <p:bldP spid="272" grpId="0"/>
      <p:bldP spid="273" grpId="0"/>
      <p:bldP spid="274" grpId="0"/>
      <p:bldP spid="275" grpId="0"/>
      <p:bldP spid="276" grpId="0"/>
      <p:bldP spid="277" grpId="0"/>
      <p:bldP spid="278" grpId="0"/>
      <p:bldP spid="279" grpId="0"/>
      <p:bldP spid="281" grpId="0"/>
      <p:bldP spid="283" grpId="0"/>
      <p:bldP spid="285" grpId="0"/>
      <p:bldP spid="287" grpId="0"/>
      <p:bldP spid="28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Adjacency List: Directed Graph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97280" y="1858931"/>
            <a:ext cx="7024680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700" dirty="0">
                <a:latin typeface="Bahnschrift" panose="020B0502040204020203" pitchFamily="34" charset="0"/>
              </a:rPr>
              <a:t>Each of the vertex need a separate list to store their adjacent vertices</a:t>
            </a:r>
          </a:p>
        </p:txBody>
      </p:sp>
      <p:sp>
        <p:nvSpPr>
          <p:cNvPr id="63" name="Oval 62"/>
          <p:cNvSpPr/>
          <p:nvPr/>
        </p:nvSpPr>
        <p:spPr>
          <a:xfrm>
            <a:off x="9240125" y="2036376"/>
            <a:ext cx="487110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/>
          <p:cNvSpPr/>
          <p:nvPr/>
        </p:nvSpPr>
        <p:spPr>
          <a:xfrm>
            <a:off x="8753015" y="2710069"/>
            <a:ext cx="487110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/>
          <p:cNvSpPr/>
          <p:nvPr/>
        </p:nvSpPr>
        <p:spPr>
          <a:xfrm>
            <a:off x="10443658" y="2036376"/>
            <a:ext cx="487110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/>
          <p:cNvSpPr/>
          <p:nvPr/>
        </p:nvSpPr>
        <p:spPr>
          <a:xfrm>
            <a:off x="9844028" y="2953624"/>
            <a:ext cx="487110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/>
          <p:cNvSpPr/>
          <p:nvPr/>
        </p:nvSpPr>
        <p:spPr>
          <a:xfrm>
            <a:off x="9356918" y="3811302"/>
            <a:ext cx="487110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/>
          <p:cNvSpPr/>
          <p:nvPr/>
        </p:nvSpPr>
        <p:spPr>
          <a:xfrm>
            <a:off x="10833916" y="3324192"/>
            <a:ext cx="487110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TextBox 73"/>
          <p:cNvSpPr txBox="1"/>
          <p:nvPr/>
        </p:nvSpPr>
        <p:spPr>
          <a:xfrm>
            <a:off x="10531561" y="208281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328028" y="2082818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848039" y="2768958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2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912252" y="3383081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3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931032" y="3012513"/>
            <a:ext cx="316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445623" y="3870191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5</a:t>
            </a:r>
          </a:p>
        </p:txBody>
      </p:sp>
      <p:cxnSp>
        <p:nvCxnSpPr>
          <p:cNvPr id="80" name="Straight Arrow Connector 79"/>
          <p:cNvCxnSpPr>
            <a:stCxn id="63" idx="3"/>
            <a:endCxn id="64" idx="0"/>
          </p:cNvCxnSpPr>
          <p:nvPr/>
        </p:nvCxnSpPr>
        <p:spPr>
          <a:xfrm flipH="1">
            <a:off x="8996570" y="2452150"/>
            <a:ext cx="314891" cy="25791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/>
          <p:cNvCxnSpPr>
            <a:stCxn id="63" idx="5"/>
            <a:endCxn id="71" idx="1"/>
          </p:cNvCxnSpPr>
          <p:nvPr/>
        </p:nvCxnSpPr>
        <p:spPr>
          <a:xfrm>
            <a:off x="9655899" y="2452150"/>
            <a:ext cx="259465" cy="57281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/>
          <p:cNvCxnSpPr>
            <a:stCxn id="71" idx="7"/>
            <a:endCxn id="70" idx="4"/>
          </p:cNvCxnSpPr>
          <p:nvPr/>
        </p:nvCxnSpPr>
        <p:spPr>
          <a:xfrm flipV="1">
            <a:off x="10259802" y="2523486"/>
            <a:ext cx="427411" cy="50147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/>
          <p:cNvCxnSpPr>
            <a:stCxn id="64" idx="5"/>
            <a:endCxn id="72" idx="1"/>
          </p:cNvCxnSpPr>
          <p:nvPr/>
        </p:nvCxnSpPr>
        <p:spPr>
          <a:xfrm>
            <a:off x="9168789" y="3125843"/>
            <a:ext cx="259465" cy="75679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TextBox 176"/>
          <p:cNvSpPr txBox="1"/>
          <p:nvPr/>
        </p:nvSpPr>
        <p:spPr>
          <a:xfrm>
            <a:off x="1097280" y="2202497"/>
            <a:ext cx="3514104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700" dirty="0">
                <a:latin typeface="Bahnschrift" panose="020B0502040204020203" pitchFamily="34" charset="0"/>
              </a:rPr>
              <a:t>So how many lists are required?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4611384" y="2206673"/>
            <a:ext cx="595035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700" dirty="0">
                <a:latin typeface="Bahnschrift" panose="020B0502040204020203" pitchFamily="34" charset="0"/>
              </a:rPr>
              <a:t>n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5272680" y="2192584"/>
            <a:ext cx="140455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700" dirty="0">
                <a:latin typeface="Bahnschrift" panose="020B0502040204020203" pitchFamily="34" charset="0"/>
              </a:rPr>
              <a:t>Here, n =6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1391330" y="2560833"/>
            <a:ext cx="5109091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700" dirty="0">
                <a:latin typeface="Bahnschrift" panose="020B0502040204020203" pitchFamily="34" charset="0"/>
              </a:rPr>
              <a:t>list_0 contains the adjacent vertices of vertex-0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1391329" y="2869075"/>
            <a:ext cx="4950394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700" dirty="0">
                <a:latin typeface="Bahnschrift" panose="020B0502040204020203" pitchFamily="34" charset="0"/>
              </a:rPr>
              <a:t>list_1 contains the adjacent vertices of vertex-1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1391329" y="3575441"/>
            <a:ext cx="497604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700" dirty="0" err="1">
                <a:latin typeface="Bahnschrift" panose="020B0502040204020203" pitchFamily="34" charset="0"/>
              </a:rPr>
              <a:t>list_i</a:t>
            </a:r>
            <a:r>
              <a:rPr lang="en-US" sz="1700" dirty="0">
                <a:latin typeface="Bahnschrift" panose="020B0502040204020203" pitchFamily="34" charset="0"/>
              </a:rPr>
              <a:t> contains the adjacent vertices of vertex-</a:t>
            </a:r>
            <a:r>
              <a:rPr lang="en-US" sz="1700" dirty="0" err="1">
                <a:latin typeface="Bahnschrift" panose="020B0502040204020203" pitchFamily="34" charset="0"/>
              </a:rPr>
              <a:t>i</a:t>
            </a:r>
            <a:endParaRPr lang="en-US" sz="1700" dirty="0">
              <a:latin typeface="Bahnschrift" panose="020B0502040204020203" pitchFamily="34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1774987" y="2869075"/>
            <a:ext cx="277640" cy="855393"/>
            <a:chOff x="1450813" y="4503109"/>
            <a:chExt cx="277640" cy="855393"/>
          </a:xfrm>
        </p:grpSpPr>
        <p:sp>
          <p:nvSpPr>
            <p:cNvPr id="232" name="TextBox 231"/>
            <p:cNvSpPr txBox="1"/>
            <p:nvPr/>
          </p:nvSpPr>
          <p:spPr>
            <a:xfrm>
              <a:off x="1450813" y="4503109"/>
              <a:ext cx="27764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b="1" dirty="0">
                  <a:latin typeface="Bahnschrift" panose="020B0502040204020203" pitchFamily="34" charset="0"/>
                </a:rPr>
                <a:t>.</a:t>
              </a:r>
            </a:p>
          </p:txBody>
        </p:sp>
        <p:sp>
          <p:nvSpPr>
            <p:cNvPr id="233" name="TextBox 232"/>
            <p:cNvSpPr txBox="1"/>
            <p:nvPr/>
          </p:nvSpPr>
          <p:spPr>
            <a:xfrm>
              <a:off x="1450813" y="4638418"/>
              <a:ext cx="27764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b="1" dirty="0">
                  <a:latin typeface="Bahnschrift" panose="020B0502040204020203" pitchFamily="34" charset="0"/>
                </a:rPr>
                <a:t>.</a:t>
              </a:r>
            </a:p>
          </p:txBody>
        </p:sp>
        <p:sp>
          <p:nvSpPr>
            <p:cNvPr id="234" name="TextBox 233"/>
            <p:cNvSpPr txBox="1"/>
            <p:nvPr/>
          </p:nvSpPr>
          <p:spPr>
            <a:xfrm>
              <a:off x="1450813" y="4773727"/>
              <a:ext cx="27764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b="1" dirty="0">
                  <a:latin typeface="Bahnschrift" panose="020B0502040204020203" pitchFamily="34" charset="0"/>
                </a:rPr>
                <a:t>.</a:t>
              </a:r>
            </a:p>
          </p:txBody>
        </p:sp>
      </p:grpSp>
      <p:sp>
        <p:nvSpPr>
          <p:cNvPr id="235" name="TextBox 234"/>
          <p:cNvSpPr txBox="1"/>
          <p:nvPr/>
        </p:nvSpPr>
        <p:spPr>
          <a:xfrm>
            <a:off x="1055331" y="3944469"/>
            <a:ext cx="6915676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700" dirty="0">
                <a:latin typeface="Bahnschrift" panose="020B0502040204020203" pitchFamily="34" charset="0"/>
              </a:rPr>
              <a:t>This concept can be generalized by declaring an array of list of size n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1391329" y="4418767"/>
            <a:ext cx="1023037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Bahnschrift" panose="020B0502040204020203" pitchFamily="34" charset="0"/>
              </a:rPr>
              <a:t>list[0]</a:t>
            </a:r>
          </a:p>
        </p:txBody>
      </p:sp>
      <p:cxnSp>
        <p:nvCxnSpPr>
          <p:cNvPr id="8" name="Straight Arrow Connector 7"/>
          <p:cNvCxnSpPr>
            <a:stCxn id="70" idx="2"/>
            <a:endCxn id="63" idx="6"/>
          </p:cNvCxnSpPr>
          <p:nvPr/>
        </p:nvCxnSpPr>
        <p:spPr>
          <a:xfrm flipH="1">
            <a:off x="9727235" y="2279931"/>
            <a:ext cx="71642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2414366" y="4621376"/>
            <a:ext cx="33328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7" name="Rectangle 236"/>
          <p:cNvSpPr/>
          <p:nvPr/>
        </p:nvSpPr>
        <p:spPr>
          <a:xfrm>
            <a:off x="2924693" y="4443450"/>
            <a:ext cx="387342" cy="38734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8" name="TextBox 237"/>
          <p:cNvSpPr txBox="1"/>
          <p:nvPr/>
        </p:nvSpPr>
        <p:spPr>
          <a:xfrm>
            <a:off x="2989963" y="4460149"/>
            <a:ext cx="25680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1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1391329" y="4882571"/>
            <a:ext cx="974947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Bahnschrift" panose="020B0502040204020203" pitchFamily="34" charset="0"/>
              </a:rPr>
              <a:t>list[1]</a:t>
            </a:r>
          </a:p>
        </p:txBody>
      </p:sp>
      <p:cxnSp>
        <p:nvCxnSpPr>
          <p:cNvPr id="244" name="Straight Arrow Connector 243"/>
          <p:cNvCxnSpPr/>
          <p:nvPr/>
        </p:nvCxnSpPr>
        <p:spPr>
          <a:xfrm>
            <a:off x="2414366" y="5085180"/>
            <a:ext cx="33328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5" name="Rectangle 244"/>
          <p:cNvSpPr/>
          <p:nvPr/>
        </p:nvSpPr>
        <p:spPr>
          <a:xfrm>
            <a:off x="2924693" y="4907254"/>
            <a:ext cx="387342" cy="38734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6" name="TextBox 245"/>
          <p:cNvSpPr txBox="1"/>
          <p:nvPr/>
        </p:nvSpPr>
        <p:spPr>
          <a:xfrm>
            <a:off x="2972871" y="4923953"/>
            <a:ext cx="296876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312035" y="4907254"/>
            <a:ext cx="387342" cy="38734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/>
          <p:cNvSpPr txBox="1"/>
          <p:nvPr/>
        </p:nvSpPr>
        <p:spPr>
          <a:xfrm>
            <a:off x="3360213" y="4923953"/>
            <a:ext cx="308098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91329" y="5371058"/>
            <a:ext cx="1015021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Bahnschrift" panose="020B0502040204020203" pitchFamily="34" charset="0"/>
              </a:rPr>
              <a:t>list[2]</a:t>
            </a:r>
          </a:p>
        </p:txBody>
      </p:sp>
      <p:cxnSp>
        <p:nvCxnSpPr>
          <p:cNvPr id="44" name="Straight Arrow Connector 43"/>
          <p:cNvCxnSpPr/>
          <p:nvPr/>
        </p:nvCxnSpPr>
        <p:spPr>
          <a:xfrm>
            <a:off x="2414366" y="5573667"/>
            <a:ext cx="33328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2924693" y="5395741"/>
            <a:ext cx="387342" cy="38734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/>
          <p:cNvSpPr txBox="1"/>
          <p:nvPr/>
        </p:nvSpPr>
        <p:spPr>
          <a:xfrm>
            <a:off x="2972871" y="5412440"/>
            <a:ext cx="303288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257659" y="4400151"/>
            <a:ext cx="1018227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Bahnschrift" panose="020B0502040204020203" pitchFamily="34" charset="0"/>
              </a:rPr>
              <a:t>list[3]</a:t>
            </a:r>
          </a:p>
        </p:txBody>
      </p:sp>
      <p:cxnSp>
        <p:nvCxnSpPr>
          <p:cNvPr id="50" name="Straight Arrow Connector 49"/>
          <p:cNvCxnSpPr/>
          <p:nvPr/>
        </p:nvCxnSpPr>
        <p:spPr>
          <a:xfrm>
            <a:off x="5280696" y="4602760"/>
            <a:ext cx="33328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5827626" y="4414378"/>
            <a:ext cx="729687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NULL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257659" y="4805691"/>
            <a:ext cx="1026243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Bahnschrift" panose="020B0502040204020203" pitchFamily="34" charset="0"/>
              </a:rPr>
              <a:t>list[4]</a:t>
            </a:r>
          </a:p>
        </p:txBody>
      </p:sp>
      <p:cxnSp>
        <p:nvCxnSpPr>
          <p:cNvPr id="54" name="Straight Arrow Connector 53"/>
          <p:cNvCxnSpPr/>
          <p:nvPr/>
        </p:nvCxnSpPr>
        <p:spPr>
          <a:xfrm>
            <a:off x="5280696" y="5008300"/>
            <a:ext cx="33328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 54"/>
          <p:cNvSpPr/>
          <p:nvPr/>
        </p:nvSpPr>
        <p:spPr>
          <a:xfrm>
            <a:off x="5791023" y="4830374"/>
            <a:ext cx="387342" cy="38734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/>
          <p:cNvSpPr txBox="1"/>
          <p:nvPr/>
        </p:nvSpPr>
        <p:spPr>
          <a:xfrm>
            <a:off x="5839201" y="4847073"/>
            <a:ext cx="30489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269234" y="5277568"/>
            <a:ext cx="1021433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Bahnschrift" panose="020B0502040204020203" pitchFamily="34" charset="0"/>
              </a:rPr>
              <a:t>list[5]</a:t>
            </a:r>
          </a:p>
        </p:txBody>
      </p:sp>
      <p:cxnSp>
        <p:nvCxnSpPr>
          <p:cNvPr id="59" name="Straight Arrow Connector 58"/>
          <p:cNvCxnSpPr/>
          <p:nvPr/>
        </p:nvCxnSpPr>
        <p:spPr>
          <a:xfrm>
            <a:off x="5292271" y="5480177"/>
            <a:ext cx="33328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5839201" y="5291795"/>
            <a:ext cx="729687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NULL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04761-4F1C-4E3D-A477-06D73945D2C2}" type="datetime1">
              <a:rPr lang="en-US" smtClean="0"/>
              <a:t>30-Sep-24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SWAPNIL BISWAS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510A0-FB96-4102-84E6-46674F03B94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4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/>
      <p:bldP spid="177" grpId="0"/>
      <p:bldP spid="178" grpId="0"/>
      <p:bldP spid="179" grpId="0"/>
      <p:bldP spid="181" grpId="0"/>
      <p:bldP spid="182" grpId="0"/>
      <p:bldP spid="231" grpId="0"/>
      <p:bldP spid="235" grpId="0"/>
      <p:bldP spid="236" grpId="0"/>
      <p:bldP spid="237" grpId="0" animBg="1"/>
      <p:bldP spid="238" grpId="0"/>
      <p:bldP spid="243" grpId="0"/>
      <p:bldP spid="245" grpId="0" animBg="1"/>
      <p:bldP spid="246" grpId="0"/>
      <p:bldP spid="41" grpId="0" animBg="1"/>
      <p:bldP spid="42" grpId="0"/>
      <p:bldP spid="43" grpId="0"/>
      <p:bldP spid="45" grpId="0" animBg="1"/>
      <p:bldP spid="46" grpId="0"/>
      <p:bldP spid="49" grpId="0"/>
      <p:bldP spid="52" grpId="0"/>
      <p:bldP spid="53" grpId="0"/>
      <p:bldP spid="55" grpId="0" animBg="1"/>
      <p:bldP spid="56" grpId="0"/>
      <p:bldP spid="57" grpId="0"/>
      <p:bldP spid="6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Adjacency List: Undirected Graph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1279295" y="2026356"/>
            <a:ext cx="1023037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Bahnschrift" panose="020B0502040204020203" pitchFamily="34" charset="0"/>
              </a:rPr>
              <a:t>list[0]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2302332" y="2228965"/>
            <a:ext cx="33328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7" name="Rectangle 236"/>
          <p:cNvSpPr/>
          <p:nvPr/>
        </p:nvSpPr>
        <p:spPr>
          <a:xfrm>
            <a:off x="2812659" y="2051039"/>
            <a:ext cx="387342" cy="38734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8" name="TextBox 237"/>
          <p:cNvSpPr txBox="1"/>
          <p:nvPr/>
        </p:nvSpPr>
        <p:spPr>
          <a:xfrm>
            <a:off x="2877929" y="2067738"/>
            <a:ext cx="25680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1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1279295" y="2598754"/>
            <a:ext cx="974947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Bahnschrift" panose="020B0502040204020203" pitchFamily="34" charset="0"/>
              </a:rPr>
              <a:t>list[1]</a:t>
            </a:r>
          </a:p>
        </p:txBody>
      </p:sp>
      <p:cxnSp>
        <p:nvCxnSpPr>
          <p:cNvPr id="244" name="Straight Arrow Connector 243"/>
          <p:cNvCxnSpPr/>
          <p:nvPr/>
        </p:nvCxnSpPr>
        <p:spPr>
          <a:xfrm>
            <a:off x="2302332" y="2801363"/>
            <a:ext cx="33328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5" name="Rectangle 244"/>
          <p:cNvSpPr/>
          <p:nvPr/>
        </p:nvSpPr>
        <p:spPr>
          <a:xfrm>
            <a:off x="3196104" y="2624267"/>
            <a:ext cx="387342" cy="38734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6" name="TextBox 245"/>
          <p:cNvSpPr txBox="1"/>
          <p:nvPr/>
        </p:nvSpPr>
        <p:spPr>
          <a:xfrm>
            <a:off x="3244282" y="2640966"/>
            <a:ext cx="296876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83446" y="2624267"/>
            <a:ext cx="387342" cy="38734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/>
          <p:cNvSpPr txBox="1"/>
          <p:nvPr/>
        </p:nvSpPr>
        <p:spPr>
          <a:xfrm>
            <a:off x="3631624" y="2640966"/>
            <a:ext cx="308098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79295" y="3181221"/>
            <a:ext cx="1015021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Bahnschrift" panose="020B0502040204020203" pitchFamily="34" charset="0"/>
              </a:rPr>
              <a:t>list[2]</a:t>
            </a:r>
          </a:p>
        </p:txBody>
      </p:sp>
      <p:cxnSp>
        <p:nvCxnSpPr>
          <p:cNvPr id="44" name="Straight Arrow Connector 43"/>
          <p:cNvCxnSpPr/>
          <p:nvPr/>
        </p:nvCxnSpPr>
        <p:spPr>
          <a:xfrm>
            <a:off x="2302332" y="3383830"/>
            <a:ext cx="33328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2812659" y="3205904"/>
            <a:ext cx="387342" cy="38734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/>
          <p:cNvSpPr txBox="1"/>
          <p:nvPr/>
        </p:nvSpPr>
        <p:spPr>
          <a:xfrm>
            <a:off x="2860837" y="3222603"/>
            <a:ext cx="25680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76089" y="3779132"/>
            <a:ext cx="1018227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Bahnschrift" panose="020B0502040204020203" pitchFamily="34" charset="0"/>
              </a:rPr>
              <a:t>list[3]</a:t>
            </a:r>
          </a:p>
        </p:txBody>
      </p:sp>
      <p:cxnSp>
        <p:nvCxnSpPr>
          <p:cNvPr id="50" name="Straight Arrow Connector 49"/>
          <p:cNvCxnSpPr/>
          <p:nvPr/>
        </p:nvCxnSpPr>
        <p:spPr>
          <a:xfrm>
            <a:off x="2299126" y="3981741"/>
            <a:ext cx="33328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2757165" y="3792612"/>
            <a:ext cx="729687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NULL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76089" y="4233470"/>
            <a:ext cx="1026243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Bahnschrift" panose="020B0502040204020203" pitchFamily="34" charset="0"/>
              </a:rPr>
              <a:t>list[4]</a:t>
            </a:r>
          </a:p>
        </p:txBody>
      </p:sp>
      <p:cxnSp>
        <p:nvCxnSpPr>
          <p:cNvPr id="54" name="Straight Arrow Connector 53"/>
          <p:cNvCxnSpPr/>
          <p:nvPr/>
        </p:nvCxnSpPr>
        <p:spPr>
          <a:xfrm>
            <a:off x="2299126" y="4436079"/>
            <a:ext cx="33328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 54"/>
          <p:cNvSpPr/>
          <p:nvPr/>
        </p:nvSpPr>
        <p:spPr>
          <a:xfrm>
            <a:off x="2809453" y="4258153"/>
            <a:ext cx="387342" cy="38734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/>
          <p:cNvSpPr txBox="1"/>
          <p:nvPr/>
        </p:nvSpPr>
        <p:spPr>
          <a:xfrm>
            <a:off x="2857631" y="4274852"/>
            <a:ext cx="30489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80899" y="4808176"/>
            <a:ext cx="1021433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Bahnschrift" panose="020B0502040204020203" pitchFamily="34" charset="0"/>
              </a:rPr>
              <a:t>list[5]</a:t>
            </a:r>
          </a:p>
        </p:txBody>
      </p:sp>
      <p:cxnSp>
        <p:nvCxnSpPr>
          <p:cNvPr id="59" name="Straight Arrow Connector 58"/>
          <p:cNvCxnSpPr/>
          <p:nvPr/>
        </p:nvCxnSpPr>
        <p:spPr>
          <a:xfrm>
            <a:off x="2303936" y="5010785"/>
            <a:ext cx="33328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Oval 60"/>
          <p:cNvSpPr/>
          <p:nvPr/>
        </p:nvSpPr>
        <p:spPr>
          <a:xfrm>
            <a:off x="9012654" y="2079307"/>
            <a:ext cx="487110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/>
          <p:cNvSpPr/>
          <p:nvPr/>
        </p:nvSpPr>
        <p:spPr>
          <a:xfrm>
            <a:off x="8525544" y="2753000"/>
            <a:ext cx="487110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/>
          <p:cNvSpPr/>
          <p:nvPr/>
        </p:nvSpPr>
        <p:spPr>
          <a:xfrm>
            <a:off x="10216187" y="2079307"/>
            <a:ext cx="487110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/>
          <p:cNvSpPr/>
          <p:nvPr/>
        </p:nvSpPr>
        <p:spPr>
          <a:xfrm>
            <a:off x="9616557" y="2996555"/>
            <a:ext cx="487110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/>
          <p:cNvSpPr/>
          <p:nvPr/>
        </p:nvSpPr>
        <p:spPr>
          <a:xfrm>
            <a:off x="9129447" y="3854233"/>
            <a:ext cx="487110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/>
          <p:cNvSpPr/>
          <p:nvPr/>
        </p:nvSpPr>
        <p:spPr>
          <a:xfrm>
            <a:off x="10606445" y="3367123"/>
            <a:ext cx="487110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9" name="Straight Connector 68"/>
          <p:cNvCxnSpPr>
            <a:stCxn id="61" idx="6"/>
            <a:endCxn id="65" idx="2"/>
          </p:cNvCxnSpPr>
          <p:nvPr/>
        </p:nvCxnSpPr>
        <p:spPr>
          <a:xfrm>
            <a:off x="9499764" y="2322862"/>
            <a:ext cx="71642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/>
          <p:cNvCxnSpPr>
            <a:stCxn id="61" idx="3"/>
            <a:endCxn id="62" idx="0"/>
          </p:cNvCxnSpPr>
          <p:nvPr/>
        </p:nvCxnSpPr>
        <p:spPr>
          <a:xfrm flipH="1">
            <a:off x="8769099" y="2495081"/>
            <a:ext cx="314891" cy="25791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/>
          <p:cNvCxnSpPr>
            <a:stCxn id="62" idx="5"/>
            <a:endCxn id="67" idx="1"/>
          </p:cNvCxnSpPr>
          <p:nvPr/>
        </p:nvCxnSpPr>
        <p:spPr>
          <a:xfrm>
            <a:off x="8941318" y="3168774"/>
            <a:ext cx="259465" cy="75679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/>
          <p:cNvCxnSpPr>
            <a:stCxn id="66" idx="7"/>
            <a:endCxn id="65" idx="4"/>
          </p:cNvCxnSpPr>
          <p:nvPr/>
        </p:nvCxnSpPr>
        <p:spPr>
          <a:xfrm flipV="1">
            <a:off x="10032331" y="2566417"/>
            <a:ext cx="427411" cy="50147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>
            <a:stCxn id="61" idx="5"/>
            <a:endCxn id="66" idx="1"/>
          </p:cNvCxnSpPr>
          <p:nvPr/>
        </p:nvCxnSpPr>
        <p:spPr>
          <a:xfrm>
            <a:off x="9428428" y="2495081"/>
            <a:ext cx="259465" cy="57281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10304090" y="2125749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100557" y="2125749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1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620568" y="2811889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2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684781" y="3426012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3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703561" y="3055444"/>
            <a:ext cx="316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4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218152" y="3913122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5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199976" y="2048836"/>
            <a:ext cx="387342" cy="38734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TextBox 94"/>
          <p:cNvSpPr txBox="1"/>
          <p:nvPr/>
        </p:nvSpPr>
        <p:spPr>
          <a:xfrm>
            <a:off x="3265246" y="2065535"/>
            <a:ext cx="308098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4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817249" y="2624267"/>
            <a:ext cx="387342" cy="38734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TextBox 96"/>
          <p:cNvSpPr txBox="1"/>
          <p:nvPr/>
        </p:nvSpPr>
        <p:spPr>
          <a:xfrm>
            <a:off x="2865427" y="2640966"/>
            <a:ext cx="30489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0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196104" y="3204275"/>
            <a:ext cx="387342" cy="38734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TextBox 98"/>
          <p:cNvSpPr txBox="1"/>
          <p:nvPr/>
        </p:nvSpPr>
        <p:spPr>
          <a:xfrm>
            <a:off x="3244282" y="3220974"/>
            <a:ext cx="303288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5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191253" y="4258153"/>
            <a:ext cx="387342" cy="38734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TextBox 100"/>
          <p:cNvSpPr txBox="1"/>
          <p:nvPr/>
        </p:nvSpPr>
        <p:spPr>
          <a:xfrm>
            <a:off x="3239431" y="4274852"/>
            <a:ext cx="25680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1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2825604" y="4831939"/>
            <a:ext cx="387342" cy="38734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TextBox 102"/>
          <p:cNvSpPr txBox="1"/>
          <p:nvPr/>
        </p:nvSpPr>
        <p:spPr>
          <a:xfrm>
            <a:off x="2873782" y="4848638"/>
            <a:ext cx="296876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2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FB80F-B1A7-4032-B619-C97E7191C205}" type="datetime1">
              <a:rPr lang="en-US" smtClean="0"/>
              <a:t>30-Sep-24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SWAPNIL BISWAS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510A0-FB96-4102-84E6-46674F03B94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969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6" grpId="0"/>
      <p:bldP spid="237" grpId="0" animBg="1"/>
      <p:bldP spid="238" grpId="0"/>
      <p:bldP spid="243" grpId="0"/>
      <p:bldP spid="245" grpId="0" animBg="1"/>
      <p:bldP spid="246" grpId="0"/>
      <p:bldP spid="41" grpId="0" animBg="1"/>
      <p:bldP spid="42" grpId="0"/>
      <p:bldP spid="43" grpId="0"/>
      <p:bldP spid="45" grpId="0" animBg="1"/>
      <p:bldP spid="46" grpId="0"/>
      <p:bldP spid="49" grpId="0"/>
      <p:bldP spid="52" grpId="0"/>
      <p:bldP spid="53" grpId="0"/>
      <p:bldP spid="55" grpId="0" animBg="1"/>
      <p:bldP spid="56" grpId="0"/>
      <p:bldP spid="57" grpId="0"/>
      <p:bldP spid="94" grpId="0" animBg="1"/>
      <p:bldP spid="95" grpId="0"/>
      <p:bldP spid="96" grpId="0" animBg="1"/>
      <p:bldP spid="97" grpId="0"/>
      <p:bldP spid="98" grpId="0" animBg="1"/>
      <p:bldP spid="99" grpId="0"/>
      <p:bldP spid="100" grpId="0" animBg="1"/>
      <p:bldP spid="101" grpId="0"/>
      <p:bldP spid="102" grpId="0" animBg="1"/>
      <p:bldP spid="10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 of Directed Graph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97280" y="1730565"/>
            <a:ext cx="3579826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700" dirty="0">
                <a:latin typeface="Bahnschrift" panose="020B0502040204020203" pitchFamily="34" charset="0"/>
              </a:rPr>
              <a:t>First input: Number of vertices, 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920661" y="1730565"/>
            <a:ext cx="144783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Bahnschrift" panose="020B0502040204020203" pitchFamily="34" charset="0"/>
              </a:rPr>
              <a:t>Here, n = 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94503" y="2815969"/>
            <a:ext cx="2119491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700" dirty="0">
                <a:latin typeface="Bahnschrift" panose="020B0502040204020203" pitchFamily="34" charset="0"/>
              </a:rPr>
              <a:t>Adjacency Matrix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928926" y="2815969"/>
            <a:ext cx="1867819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700" dirty="0">
                <a:latin typeface="Bahnschrift" panose="020B0502040204020203" pitchFamily="34" charset="0"/>
              </a:rPr>
              <a:t>Adjacency List</a:t>
            </a:r>
          </a:p>
        </p:txBody>
      </p:sp>
      <p:cxnSp>
        <p:nvCxnSpPr>
          <p:cNvPr id="3" name="Straight Connector 2"/>
          <p:cNvCxnSpPr/>
          <p:nvPr/>
        </p:nvCxnSpPr>
        <p:spPr>
          <a:xfrm>
            <a:off x="4787130" y="2815969"/>
            <a:ext cx="9388" cy="346815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1094503" y="3245426"/>
            <a:ext cx="7337419" cy="1244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1094503" y="1994164"/>
            <a:ext cx="3642344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700" dirty="0">
                <a:latin typeface="Bahnschrift" panose="020B0502040204020203" pitchFamily="34" charset="0"/>
              </a:rPr>
              <a:t>Second input: Number of edges, 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917884" y="1994164"/>
            <a:ext cx="143661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Bahnschrift" panose="020B0502040204020203" pitchFamily="34" charset="0"/>
              </a:rPr>
              <a:t>Here, e = 6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97280" y="2236695"/>
            <a:ext cx="5195653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700" dirty="0">
                <a:latin typeface="Bahnschrift" panose="020B0502040204020203" pitchFamily="34" charset="0"/>
              </a:rPr>
              <a:t>Now take e number of edges as input in form of u v</a:t>
            </a:r>
          </a:p>
        </p:txBody>
      </p:sp>
      <p:sp>
        <p:nvSpPr>
          <p:cNvPr id="73" name="Oval 72"/>
          <p:cNvSpPr/>
          <p:nvPr/>
        </p:nvSpPr>
        <p:spPr>
          <a:xfrm>
            <a:off x="9537728" y="2019893"/>
            <a:ext cx="487110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/>
          <p:cNvSpPr/>
          <p:nvPr/>
        </p:nvSpPr>
        <p:spPr>
          <a:xfrm>
            <a:off x="9050618" y="2693586"/>
            <a:ext cx="487110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/>
          <p:cNvSpPr/>
          <p:nvPr/>
        </p:nvSpPr>
        <p:spPr>
          <a:xfrm>
            <a:off x="10741261" y="2019893"/>
            <a:ext cx="487110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/>
          <p:cNvSpPr/>
          <p:nvPr/>
        </p:nvSpPr>
        <p:spPr>
          <a:xfrm>
            <a:off x="10141631" y="2937141"/>
            <a:ext cx="487110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Oval 76"/>
          <p:cNvSpPr/>
          <p:nvPr/>
        </p:nvSpPr>
        <p:spPr>
          <a:xfrm>
            <a:off x="9654521" y="3794819"/>
            <a:ext cx="487110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TextBox 78"/>
          <p:cNvSpPr txBox="1"/>
          <p:nvPr/>
        </p:nvSpPr>
        <p:spPr>
          <a:xfrm>
            <a:off x="10829164" y="206633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625631" y="2066335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145642" y="2752475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2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228635" y="299603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3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743226" y="3853708"/>
            <a:ext cx="316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4</a:t>
            </a:r>
          </a:p>
        </p:txBody>
      </p:sp>
      <p:cxnSp>
        <p:nvCxnSpPr>
          <p:cNvPr id="105" name="Straight Arrow Connector 104"/>
          <p:cNvCxnSpPr>
            <a:stCxn id="73" idx="3"/>
            <a:endCxn id="74" idx="0"/>
          </p:cNvCxnSpPr>
          <p:nvPr/>
        </p:nvCxnSpPr>
        <p:spPr>
          <a:xfrm flipH="1">
            <a:off x="9294173" y="2435667"/>
            <a:ext cx="314891" cy="25791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/>
          <p:cNvCxnSpPr>
            <a:stCxn id="73" idx="5"/>
            <a:endCxn id="76" idx="1"/>
          </p:cNvCxnSpPr>
          <p:nvPr/>
        </p:nvCxnSpPr>
        <p:spPr>
          <a:xfrm>
            <a:off x="9953502" y="2435667"/>
            <a:ext cx="259465" cy="57281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/>
          <p:cNvCxnSpPr>
            <a:stCxn id="76" idx="7"/>
            <a:endCxn id="75" idx="4"/>
          </p:cNvCxnSpPr>
          <p:nvPr/>
        </p:nvCxnSpPr>
        <p:spPr>
          <a:xfrm flipV="1">
            <a:off x="10557405" y="2507003"/>
            <a:ext cx="427411" cy="50147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/>
          <p:cNvCxnSpPr>
            <a:stCxn id="74" idx="5"/>
            <a:endCxn id="77" idx="1"/>
          </p:cNvCxnSpPr>
          <p:nvPr/>
        </p:nvCxnSpPr>
        <p:spPr>
          <a:xfrm>
            <a:off x="9466392" y="3109360"/>
            <a:ext cx="259465" cy="75679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/>
          <p:cNvCxnSpPr>
            <a:stCxn id="75" idx="2"/>
            <a:endCxn id="73" idx="6"/>
          </p:cNvCxnSpPr>
          <p:nvPr/>
        </p:nvCxnSpPr>
        <p:spPr>
          <a:xfrm flipH="1">
            <a:off x="10024838" y="2263448"/>
            <a:ext cx="71642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1085390" y="3290577"/>
            <a:ext cx="901209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 err="1">
                <a:latin typeface="Bahnschrift" panose="020B0502040204020203" pitchFamily="34" charset="0"/>
              </a:rPr>
              <a:t>cin</a:t>
            </a:r>
            <a:r>
              <a:rPr lang="en-US" sz="1700" dirty="0">
                <a:latin typeface="Bahnschrift" panose="020B0502040204020203" pitchFamily="34" charset="0"/>
              </a:rPr>
              <a:t> &gt;&gt; n;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3290707" y="3290576"/>
            <a:ext cx="896399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 err="1">
                <a:latin typeface="Bahnschrift" panose="020B0502040204020203" pitchFamily="34" charset="0"/>
              </a:rPr>
              <a:t>cin</a:t>
            </a:r>
            <a:r>
              <a:rPr lang="en-US" sz="1700" dirty="0">
                <a:latin typeface="Bahnschrift" panose="020B0502040204020203" pitchFamily="34" charset="0"/>
              </a:rPr>
              <a:t> &gt;&gt; e;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982336" y="3290577"/>
            <a:ext cx="1308371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 err="1">
                <a:latin typeface="Bahnschrift" panose="020B0502040204020203" pitchFamily="34" charset="0"/>
              </a:rPr>
              <a:t>int</a:t>
            </a:r>
            <a:r>
              <a:rPr lang="en-US" sz="1700" dirty="0">
                <a:latin typeface="Bahnschrift" panose="020B0502040204020203" pitchFamily="34" charset="0"/>
              </a:rPr>
              <a:t> </a:t>
            </a:r>
            <a:r>
              <a:rPr lang="en-US" sz="1700" dirty="0" err="1">
                <a:latin typeface="Bahnschrift" panose="020B0502040204020203" pitchFamily="34" charset="0"/>
              </a:rPr>
              <a:t>adj</a:t>
            </a:r>
            <a:r>
              <a:rPr lang="en-US" sz="1700" dirty="0">
                <a:latin typeface="Bahnschrift" panose="020B0502040204020203" pitchFamily="34" charset="0"/>
              </a:rPr>
              <a:t>[n][n];</a:t>
            </a:r>
          </a:p>
        </p:txBody>
      </p:sp>
      <p:sp>
        <p:nvSpPr>
          <p:cNvPr id="8" name="Rectangle 7"/>
          <p:cNvSpPr/>
          <p:nvPr/>
        </p:nvSpPr>
        <p:spPr>
          <a:xfrm>
            <a:off x="1854135" y="4501695"/>
            <a:ext cx="348893" cy="34889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TextBox 118"/>
          <p:cNvSpPr txBox="1"/>
          <p:nvPr/>
        </p:nvSpPr>
        <p:spPr>
          <a:xfrm>
            <a:off x="1091067" y="3562890"/>
            <a:ext cx="1739579" cy="8771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for(</a:t>
            </a:r>
            <a:r>
              <a:rPr lang="en-US" sz="1700" dirty="0" err="1">
                <a:latin typeface="Bahnschrift" panose="020B0502040204020203" pitchFamily="34" charset="0"/>
              </a:rPr>
              <a:t>i</a:t>
            </a:r>
            <a:r>
              <a:rPr lang="en-US" sz="1700" dirty="0">
                <a:latin typeface="Bahnschrift" panose="020B0502040204020203" pitchFamily="34" charset="0"/>
              </a:rPr>
              <a:t>=1; </a:t>
            </a:r>
            <a:r>
              <a:rPr lang="en-US" sz="1700" dirty="0" err="1">
                <a:latin typeface="Bahnschrift" panose="020B0502040204020203" pitchFamily="34" charset="0"/>
              </a:rPr>
              <a:t>i</a:t>
            </a:r>
            <a:r>
              <a:rPr lang="en-US" sz="1700" dirty="0">
                <a:latin typeface="Bahnschrift" panose="020B0502040204020203" pitchFamily="34" charset="0"/>
              </a:rPr>
              <a:t>&lt;=e; </a:t>
            </a:r>
            <a:r>
              <a:rPr lang="en-US" sz="1700" dirty="0" err="1">
                <a:latin typeface="Bahnschrift" panose="020B0502040204020203" pitchFamily="34" charset="0"/>
              </a:rPr>
              <a:t>i</a:t>
            </a:r>
            <a:r>
              <a:rPr lang="en-US" sz="1700" dirty="0">
                <a:latin typeface="Bahnschrift" panose="020B0502040204020203" pitchFamily="34" charset="0"/>
              </a:rPr>
              <a:t>++){</a:t>
            </a:r>
          </a:p>
          <a:p>
            <a:endParaRPr lang="en-US" sz="1700" dirty="0">
              <a:latin typeface="Bahnschrift" panose="020B0502040204020203" pitchFamily="34" charset="0"/>
            </a:endParaRPr>
          </a:p>
          <a:p>
            <a:r>
              <a:rPr lang="en-US" sz="1700" dirty="0">
                <a:latin typeface="Bahnschrift" panose="020B0502040204020203" pitchFamily="34" charset="0"/>
              </a:rPr>
              <a:t>}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257849" y="3824434"/>
            <a:ext cx="1269899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 err="1">
                <a:latin typeface="Bahnschrift" panose="020B0502040204020203" pitchFamily="34" charset="0"/>
              </a:rPr>
              <a:t>cin</a:t>
            </a:r>
            <a:r>
              <a:rPr lang="en-US" sz="1700" dirty="0">
                <a:latin typeface="Bahnschrift" panose="020B0502040204020203" pitchFamily="34" charset="0"/>
              </a:rPr>
              <a:t> &gt;&gt; u &gt;&gt; v;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2526213" y="3833466"/>
            <a:ext cx="1183337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 err="1">
                <a:latin typeface="Bahnschrift" panose="020B0502040204020203" pitchFamily="34" charset="0"/>
              </a:rPr>
              <a:t>adj</a:t>
            </a:r>
            <a:r>
              <a:rPr lang="en-US" sz="1700" dirty="0">
                <a:latin typeface="Bahnschrift" panose="020B0502040204020203" pitchFamily="34" charset="0"/>
              </a:rPr>
              <a:t>[u][v]=1;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898798" y="3251296"/>
            <a:ext cx="901209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 err="1">
                <a:latin typeface="Bahnschrift" panose="020B0502040204020203" pitchFamily="34" charset="0"/>
              </a:rPr>
              <a:t>cin</a:t>
            </a:r>
            <a:r>
              <a:rPr lang="en-US" sz="1700" dirty="0">
                <a:latin typeface="Bahnschrift" panose="020B0502040204020203" pitchFamily="34" charset="0"/>
              </a:rPr>
              <a:t> &gt;&gt; n;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7511571" y="3251295"/>
            <a:ext cx="896399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 err="1">
                <a:latin typeface="Bahnschrift" panose="020B0502040204020203" pitchFamily="34" charset="0"/>
              </a:rPr>
              <a:t>cin</a:t>
            </a:r>
            <a:r>
              <a:rPr lang="en-US" sz="1700" dirty="0">
                <a:latin typeface="Bahnschrift" panose="020B0502040204020203" pitchFamily="34" charset="0"/>
              </a:rPr>
              <a:t> &gt;&gt; e;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5795744" y="3251296"/>
            <a:ext cx="1824538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vector&lt;</a:t>
            </a:r>
            <a:r>
              <a:rPr lang="en-US" sz="1700" dirty="0" err="1">
                <a:latin typeface="Bahnschrift" panose="020B0502040204020203" pitchFamily="34" charset="0"/>
              </a:rPr>
              <a:t>int</a:t>
            </a:r>
            <a:r>
              <a:rPr lang="en-US" sz="1700" dirty="0">
                <a:latin typeface="Bahnschrift" panose="020B0502040204020203" pitchFamily="34" charset="0"/>
              </a:rPr>
              <a:t>&gt;</a:t>
            </a:r>
            <a:r>
              <a:rPr lang="en-US" sz="1700" dirty="0" err="1">
                <a:latin typeface="Bahnschrift" panose="020B0502040204020203" pitchFamily="34" charset="0"/>
              </a:rPr>
              <a:t>adj</a:t>
            </a:r>
            <a:r>
              <a:rPr lang="en-US" sz="1700" dirty="0">
                <a:latin typeface="Bahnschrift" panose="020B0502040204020203" pitchFamily="34" charset="0"/>
              </a:rPr>
              <a:t>[n];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904475" y="3523609"/>
            <a:ext cx="1739579" cy="8771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for(</a:t>
            </a:r>
            <a:r>
              <a:rPr lang="en-US" sz="1700" dirty="0" err="1">
                <a:latin typeface="Bahnschrift" panose="020B0502040204020203" pitchFamily="34" charset="0"/>
              </a:rPr>
              <a:t>i</a:t>
            </a:r>
            <a:r>
              <a:rPr lang="en-US" sz="1700" dirty="0">
                <a:latin typeface="Bahnschrift" panose="020B0502040204020203" pitchFamily="34" charset="0"/>
              </a:rPr>
              <a:t>=1; </a:t>
            </a:r>
            <a:r>
              <a:rPr lang="en-US" sz="1700" dirty="0" err="1">
                <a:latin typeface="Bahnschrift" panose="020B0502040204020203" pitchFamily="34" charset="0"/>
              </a:rPr>
              <a:t>i</a:t>
            </a:r>
            <a:r>
              <a:rPr lang="en-US" sz="1700" dirty="0">
                <a:latin typeface="Bahnschrift" panose="020B0502040204020203" pitchFamily="34" charset="0"/>
              </a:rPr>
              <a:t>&lt;=e; </a:t>
            </a:r>
            <a:r>
              <a:rPr lang="en-US" sz="1700" dirty="0" err="1">
                <a:latin typeface="Bahnschrift" panose="020B0502040204020203" pitchFamily="34" charset="0"/>
              </a:rPr>
              <a:t>i</a:t>
            </a:r>
            <a:r>
              <a:rPr lang="en-US" sz="1700" dirty="0">
                <a:latin typeface="Bahnschrift" panose="020B0502040204020203" pitchFamily="34" charset="0"/>
              </a:rPr>
              <a:t>++){</a:t>
            </a:r>
          </a:p>
          <a:p>
            <a:endParaRPr lang="en-US" sz="1700" dirty="0">
              <a:latin typeface="Bahnschrift" panose="020B0502040204020203" pitchFamily="34" charset="0"/>
            </a:endParaRPr>
          </a:p>
          <a:p>
            <a:r>
              <a:rPr lang="en-US" sz="1700" dirty="0">
                <a:latin typeface="Bahnschrift" panose="020B0502040204020203" pitchFamily="34" charset="0"/>
              </a:rPr>
              <a:t>}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5071257" y="3785153"/>
            <a:ext cx="1269899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 err="1">
                <a:latin typeface="Bahnschrift" panose="020B0502040204020203" pitchFamily="34" charset="0"/>
              </a:rPr>
              <a:t>cin</a:t>
            </a:r>
            <a:r>
              <a:rPr lang="en-US" sz="1700" dirty="0">
                <a:latin typeface="Bahnschrift" panose="020B0502040204020203" pitchFamily="34" charset="0"/>
              </a:rPr>
              <a:t> &gt;&gt; u &gt;&gt; v;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6339621" y="3794185"/>
            <a:ext cx="2109873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 err="1">
                <a:latin typeface="Bahnschrift" panose="020B0502040204020203" pitchFamily="34" charset="0"/>
              </a:rPr>
              <a:t>adj</a:t>
            </a:r>
            <a:r>
              <a:rPr lang="en-US" sz="1700" dirty="0">
                <a:latin typeface="Bahnschrift" panose="020B0502040204020203" pitchFamily="34" charset="0"/>
              </a:rPr>
              <a:t>[u].</a:t>
            </a:r>
            <a:r>
              <a:rPr lang="en-US" sz="1700" dirty="0" err="1">
                <a:latin typeface="Bahnschrift" panose="020B0502040204020203" pitchFamily="34" charset="0"/>
              </a:rPr>
              <a:t>push_back</a:t>
            </a:r>
            <a:r>
              <a:rPr lang="en-US" sz="1700" dirty="0">
                <a:latin typeface="Bahnschrift" panose="020B0502040204020203" pitchFamily="34" charset="0"/>
              </a:rPr>
              <a:t>(v);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380199" y="2479226"/>
            <a:ext cx="841897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Bahnschrift" panose="020B0502040204020203" pitchFamily="34" charset="0"/>
              </a:rPr>
              <a:t>1     2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883887" y="4496645"/>
            <a:ext cx="30489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0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1854135" y="4850257"/>
            <a:ext cx="348893" cy="34889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TextBox 140"/>
          <p:cNvSpPr txBox="1"/>
          <p:nvPr/>
        </p:nvSpPr>
        <p:spPr>
          <a:xfrm>
            <a:off x="1883887" y="4845207"/>
            <a:ext cx="30489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0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1854135" y="5199150"/>
            <a:ext cx="348893" cy="34889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TextBox 146"/>
          <p:cNvSpPr txBox="1"/>
          <p:nvPr/>
        </p:nvSpPr>
        <p:spPr>
          <a:xfrm>
            <a:off x="1883887" y="5194100"/>
            <a:ext cx="30489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0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1854135" y="5553093"/>
            <a:ext cx="348893" cy="34889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TextBox 148"/>
          <p:cNvSpPr txBox="1"/>
          <p:nvPr/>
        </p:nvSpPr>
        <p:spPr>
          <a:xfrm>
            <a:off x="1883887" y="5548043"/>
            <a:ext cx="30489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0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1854135" y="5907036"/>
            <a:ext cx="348893" cy="34889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TextBox 150"/>
          <p:cNvSpPr txBox="1"/>
          <p:nvPr/>
        </p:nvSpPr>
        <p:spPr>
          <a:xfrm>
            <a:off x="1883887" y="5901986"/>
            <a:ext cx="30489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0</a:t>
            </a:r>
          </a:p>
        </p:txBody>
      </p:sp>
      <p:cxnSp>
        <p:nvCxnSpPr>
          <p:cNvPr id="13" name="Straight Arrow Connector 12"/>
          <p:cNvCxnSpPr>
            <a:stCxn id="76" idx="2"/>
            <a:endCxn id="74" idx="6"/>
          </p:cNvCxnSpPr>
          <p:nvPr/>
        </p:nvCxnSpPr>
        <p:spPr>
          <a:xfrm flipH="1" flipV="1">
            <a:off x="9537728" y="2937141"/>
            <a:ext cx="603903" cy="24355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Rectangle 151"/>
          <p:cNvSpPr/>
          <p:nvPr/>
        </p:nvSpPr>
        <p:spPr>
          <a:xfrm>
            <a:off x="2209865" y="4501695"/>
            <a:ext cx="348893" cy="34889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TextBox 152"/>
          <p:cNvSpPr txBox="1"/>
          <p:nvPr/>
        </p:nvSpPr>
        <p:spPr>
          <a:xfrm>
            <a:off x="2239617" y="4496645"/>
            <a:ext cx="30489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0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2209865" y="4850257"/>
            <a:ext cx="348893" cy="34889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TextBox 154"/>
          <p:cNvSpPr txBox="1"/>
          <p:nvPr/>
        </p:nvSpPr>
        <p:spPr>
          <a:xfrm>
            <a:off x="2239617" y="4845207"/>
            <a:ext cx="30489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0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2209865" y="5199150"/>
            <a:ext cx="348893" cy="34889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TextBox 156"/>
          <p:cNvSpPr txBox="1"/>
          <p:nvPr/>
        </p:nvSpPr>
        <p:spPr>
          <a:xfrm>
            <a:off x="2239617" y="5194100"/>
            <a:ext cx="30489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0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2209865" y="5553093"/>
            <a:ext cx="348893" cy="34889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TextBox 158"/>
          <p:cNvSpPr txBox="1"/>
          <p:nvPr/>
        </p:nvSpPr>
        <p:spPr>
          <a:xfrm>
            <a:off x="2239617" y="5548043"/>
            <a:ext cx="30489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0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2209865" y="5907036"/>
            <a:ext cx="348893" cy="34889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TextBox 160"/>
          <p:cNvSpPr txBox="1"/>
          <p:nvPr/>
        </p:nvSpPr>
        <p:spPr>
          <a:xfrm>
            <a:off x="2239617" y="5901986"/>
            <a:ext cx="30489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0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2555611" y="4501695"/>
            <a:ext cx="348893" cy="34889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TextBox 162"/>
          <p:cNvSpPr txBox="1"/>
          <p:nvPr/>
        </p:nvSpPr>
        <p:spPr>
          <a:xfrm>
            <a:off x="2585363" y="4496645"/>
            <a:ext cx="30489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0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2555611" y="4850257"/>
            <a:ext cx="348893" cy="34889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TextBox 164"/>
          <p:cNvSpPr txBox="1"/>
          <p:nvPr/>
        </p:nvSpPr>
        <p:spPr>
          <a:xfrm>
            <a:off x="2585363" y="4845207"/>
            <a:ext cx="30489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0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2555611" y="5199150"/>
            <a:ext cx="348893" cy="34889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TextBox 166"/>
          <p:cNvSpPr txBox="1"/>
          <p:nvPr/>
        </p:nvSpPr>
        <p:spPr>
          <a:xfrm>
            <a:off x="2585363" y="5194100"/>
            <a:ext cx="30489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0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2555611" y="5553093"/>
            <a:ext cx="348893" cy="34889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9" name="TextBox 168"/>
          <p:cNvSpPr txBox="1"/>
          <p:nvPr/>
        </p:nvSpPr>
        <p:spPr>
          <a:xfrm>
            <a:off x="2585363" y="5548043"/>
            <a:ext cx="30489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0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2555611" y="5907036"/>
            <a:ext cx="348893" cy="34889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1" name="TextBox 170"/>
          <p:cNvSpPr txBox="1"/>
          <p:nvPr/>
        </p:nvSpPr>
        <p:spPr>
          <a:xfrm>
            <a:off x="2585363" y="5901986"/>
            <a:ext cx="30489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0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2911341" y="4501695"/>
            <a:ext cx="348893" cy="34889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3" name="TextBox 172"/>
          <p:cNvSpPr txBox="1"/>
          <p:nvPr/>
        </p:nvSpPr>
        <p:spPr>
          <a:xfrm>
            <a:off x="2941093" y="4496645"/>
            <a:ext cx="30489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0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2911341" y="4850257"/>
            <a:ext cx="348893" cy="34889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5" name="TextBox 174"/>
          <p:cNvSpPr txBox="1"/>
          <p:nvPr/>
        </p:nvSpPr>
        <p:spPr>
          <a:xfrm>
            <a:off x="2941093" y="4845207"/>
            <a:ext cx="30489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0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2911341" y="5199150"/>
            <a:ext cx="348893" cy="34889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7" name="TextBox 176"/>
          <p:cNvSpPr txBox="1"/>
          <p:nvPr/>
        </p:nvSpPr>
        <p:spPr>
          <a:xfrm>
            <a:off x="2941093" y="5194100"/>
            <a:ext cx="30489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0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2911341" y="5553093"/>
            <a:ext cx="348893" cy="34889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9" name="TextBox 178"/>
          <p:cNvSpPr txBox="1"/>
          <p:nvPr/>
        </p:nvSpPr>
        <p:spPr>
          <a:xfrm>
            <a:off x="2941093" y="5548043"/>
            <a:ext cx="30489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0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2911341" y="5907036"/>
            <a:ext cx="348893" cy="34889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1" name="TextBox 180"/>
          <p:cNvSpPr txBox="1"/>
          <p:nvPr/>
        </p:nvSpPr>
        <p:spPr>
          <a:xfrm>
            <a:off x="2941093" y="5901986"/>
            <a:ext cx="30489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0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3260063" y="4501695"/>
            <a:ext cx="348893" cy="34889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3" name="TextBox 182"/>
          <p:cNvSpPr txBox="1"/>
          <p:nvPr/>
        </p:nvSpPr>
        <p:spPr>
          <a:xfrm>
            <a:off x="3289815" y="4496645"/>
            <a:ext cx="30489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0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3260063" y="4850257"/>
            <a:ext cx="348893" cy="34889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5" name="TextBox 184"/>
          <p:cNvSpPr txBox="1"/>
          <p:nvPr/>
        </p:nvSpPr>
        <p:spPr>
          <a:xfrm>
            <a:off x="3289815" y="4845207"/>
            <a:ext cx="30489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0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3260063" y="5199150"/>
            <a:ext cx="348893" cy="34889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7" name="TextBox 186"/>
          <p:cNvSpPr txBox="1"/>
          <p:nvPr/>
        </p:nvSpPr>
        <p:spPr>
          <a:xfrm>
            <a:off x="3289815" y="5194100"/>
            <a:ext cx="30489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0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3260063" y="5553093"/>
            <a:ext cx="348893" cy="34889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9" name="TextBox 188"/>
          <p:cNvSpPr txBox="1"/>
          <p:nvPr/>
        </p:nvSpPr>
        <p:spPr>
          <a:xfrm>
            <a:off x="3289815" y="5548043"/>
            <a:ext cx="30489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0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3260063" y="5907036"/>
            <a:ext cx="348893" cy="34889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1" name="TextBox 190"/>
          <p:cNvSpPr txBox="1"/>
          <p:nvPr/>
        </p:nvSpPr>
        <p:spPr>
          <a:xfrm>
            <a:off x="3289815" y="5901986"/>
            <a:ext cx="30489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0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1530949" y="4509756"/>
            <a:ext cx="30489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0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1530949" y="4858318"/>
            <a:ext cx="25680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1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1530949" y="5207211"/>
            <a:ext cx="296876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2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1530949" y="5561154"/>
            <a:ext cx="30008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3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1530949" y="5915097"/>
            <a:ext cx="308098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4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1867187" y="4188567"/>
            <a:ext cx="30489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0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2222917" y="4188567"/>
            <a:ext cx="25680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1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2568663" y="4188567"/>
            <a:ext cx="296876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2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2924393" y="4188567"/>
            <a:ext cx="30008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3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3273115" y="4188567"/>
            <a:ext cx="308098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4</a:t>
            </a:r>
          </a:p>
        </p:txBody>
      </p:sp>
      <p:sp>
        <p:nvSpPr>
          <p:cNvPr id="202" name="Rectangle 201"/>
          <p:cNvSpPr/>
          <p:nvPr/>
        </p:nvSpPr>
        <p:spPr>
          <a:xfrm>
            <a:off x="3258339" y="5201675"/>
            <a:ext cx="348893" cy="348893"/>
          </a:xfrm>
          <a:prstGeom prst="rect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3" name="TextBox 202"/>
          <p:cNvSpPr txBox="1"/>
          <p:nvPr/>
        </p:nvSpPr>
        <p:spPr>
          <a:xfrm>
            <a:off x="3305183" y="5196625"/>
            <a:ext cx="25680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1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2309360" y="2467782"/>
            <a:ext cx="849913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Bahnschrift" panose="020B0502040204020203" pitchFamily="34" charset="0"/>
              </a:rPr>
              <a:t>0     1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3237099" y="2484294"/>
            <a:ext cx="845103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Bahnschrift" panose="020B0502040204020203" pitchFamily="34" charset="0"/>
              </a:rPr>
              <a:t>1     3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4155055" y="2486094"/>
            <a:ext cx="885179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Bahnschrift" panose="020B0502040204020203" pitchFamily="34" charset="0"/>
              </a:rPr>
              <a:t>3     2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5084216" y="2474650"/>
            <a:ext cx="893193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Bahnschrift" panose="020B0502040204020203" pitchFamily="34" charset="0"/>
              </a:rPr>
              <a:t>3     0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6011955" y="2491162"/>
            <a:ext cx="893193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Bahnschrift" panose="020B0502040204020203" pitchFamily="34" charset="0"/>
              </a:rPr>
              <a:t>2     4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5576661" y="4187409"/>
            <a:ext cx="723275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 err="1">
                <a:latin typeface="Bahnschrift" panose="020B0502040204020203" pitchFamily="34" charset="0"/>
              </a:rPr>
              <a:t>adj</a:t>
            </a:r>
            <a:r>
              <a:rPr lang="en-US" sz="1700" dirty="0">
                <a:latin typeface="Bahnschrift" panose="020B0502040204020203" pitchFamily="34" charset="0"/>
              </a:rPr>
              <a:t>[0]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5576944" y="4595252"/>
            <a:ext cx="675185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 err="1">
                <a:latin typeface="Bahnschrift" panose="020B0502040204020203" pitchFamily="34" charset="0"/>
              </a:rPr>
              <a:t>adj</a:t>
            </a:r>
            <a:r>
              <a:rPr lang="en-US" sz="1700" dirty="0">
                <a:latin typeface="Bahnschrift" panose="020B0502040204020203" pitchFamily="34" charset="0"/>
              </a:rPr>
              <a:t>[1]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5567843" y="5003095"/>
            <a:ext cx="715260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 err="1">
                <a:latin typeface="Bahnschrift" panose="020B0502040204020203" pitchFamily="34" charset="0"/>
              </a:rPr>
              <a:t>adj</a:t>
            </a:r>
            <a:r>
              <a:rPr lang="en-US" sz="1700" dirty="0">
                <a:latin typeface="Bahnschrift" panose="020B0502040204020203" pitchFamily="34" charset="0"/>
              </a:rPr>
              <a:t>[2]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5565473" y="5431294"/>
            <a:ext cx="718466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 err="1">
                <a:latin typeface="Bahnschrift" panose="020B0502040204020203" pitchFamily="34" charset="0"/>
              </a:rPr>
              <a:t>adj</a:t>
            </a:r>
            <a:r>
              <a:rPr lang="en-US" sz="1700" dirty="0">
                <a:latin typeface="Bahnschrift" panose="020B0502040204020203" pitchFamily="34" charset="0"/>
              </a:rPr>
              <a:t>[3]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5565440" y="5839137"/>
            <a:ext cx="726481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 err="1">
                <a:latin typeface="Bahnschrift" panose="020B0502040204020203" pitchFamily="34" charset="0"/>
              </a:rPr>
              <a:t>adj</a:t>
            </a:r>
            <a:r>
              <a:rPr lang="en-US" sz="1700" dirty="0">
                <a:latin typeface="Bahnschrift" panose="020B0502040204020203" pitchFamily="34" charset="0"/>
              </a:rPr>
              <a:t>[4]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6291531" y="4621791"/>
            <a:ext cx="348893" cy="348893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7" name="TextBox 216"/>
          <p:cNvSpPr txBox="1"/>
          <p:nvPr/>
        </p:nvSpPr>
        <p:spPr>
          <a:xfrm>
            <a:off x="6328196" y="4616741"/>
            <a:ext cx="296876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2</a:t>
            </a:r>
          </a:p>
        </p:txBody>
      </p:sp>
      <p:sp>
        <p:nvSpPr>
          <p:cNvPr id="218" name="Rectangle 217"/>
          <p:cNvSpPr/>
          <p:nvPr/>
        </p:nvSpPr>
        <p:spPr>
          <a:xfrm>
            <a:off x="6640424" y="4621791"/>
            <a:ext cx="348893" cy="348893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9" name="TextBox 218"/>
          <p:cNvSpPr txBox="1"/>
          <p:nvPr/>
        </p:nvSpPr>
        <p:spPr>
          <a:xfrm>
            <a:off x="6677089" y="4616741"/>
            <a:ext cx="30008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3</a:t>
            </a:r>
          </a:p>
        </p:txBody>
      </p:sp>
      <p:sp>
        <p:nvSpPr>
          <p:cNvPr id="220" name="Rectangle 219"/>
          <p:cNvSpPr/>
          <p:nvPr/>
        </p:nvSpPr>
        <p:spPr>
          <a:xfrm>
            <a:off x="6281190" y="4227434"/>
            <a:ext cx="348893" cy="348893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1" name="TextBox 220"/>
          <p:cNvSpPr txBox="1"/>
          <p:nvPr/>
        </p:nvSpPr>
        <p:spPr>
          <a:xfrm>
            <a:off x="6317855" y="4222384"/>
            <a:ext cx="25680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1</a:t>
            </a:r>
          </a:p>
        </p:txBody>
      </p:sp>
      <p:sp>
        <p:nvSpPr>
          <p:cNvPr id="224" name="Rectangle 223"/>
          <p:cNvSpPr/>
          <p:nvPr/>
        </p:nvSpPr>
        <p:spPr>
          <a:xfrm>
            <a:off x="6285877" y="5028501"/>
            <a:ext cx="348893" cy="348893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5" name="TextBox 224"/>
          <p:cNvSpPr txBox="1"/>
          <p:nvPr/>
        </p:nvSpPr>
        <p:spPr>
          <a:xfrm>
            <a:off x="6322542" y="5023451"/>
            <a:ext cx="308098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4</a:t>
            </a:r>
          </a:p>
        </p:txBody>
      </p:sp>
      <p:sp>
        <p:nvSpPr>
          <p:cNvPr id="228" name="Rectangle 227"/>
          <p:cNvSpPr/>
          <p:nvPr/>
        </p:nvSpPr>
        <p:spPr>
          <a:xfrm>
            <a:off x="6294423" y="5436344"/>
            <a:ext cx="348893" cy="348893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9" name="TextBox 228"/>
          <p:cNvSpPr txBox="1"/>
          <p:nvPr/>
        </p:nvSpPr>
        <p:spPr>
          <a:xfrm>
            <a:off x="6331088" y="5431294"/>
            <a:ext cx="296876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2</a:t>
            </a:r>
          </a:p>
        </p:txBody>
      </p:sp>
      <p:sp>
        <p:nvSpPr>
          <p:cNvPr id="230" name="Rectangle 229"/>
          <p:cNvSpPr/>
          <p:nvPr/>
        </p:nvSpPr>
        <p:spPr>
          <a:xfrm>
            <a:off x="6643316" y="5436344"/>
            <a:ext cx="348893" cy="348893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1" name="TextBox 230"/>
          <p:cNvSpPr txBox="1"/>
          <p:nvPr/>
        </p:nvSpPr>
        <p:spPr>
          <a:xfrm>
            <a:off x="6679981" y="5431294"/>
            <a:ext cx="30489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0</a:t>
            </a:r>
          </a:p>
        </p:txBody>
      </p:sp>
      <p:cxnSp>
        <p:nvCxnSpPr>
          <p:cNvPr id="15" name="Straight Arrow Connector 14"/>
          <p:cNvCxnSpPr>
            <a:stCxn id="73" idx="3"/>
            <a:endCxn id="74" idx="0"/>
          </p:cNvCxnSpPr>
          <p:nvPr/>
        </p:nvCxnSpPr>
        <p:spPr>
          <a:xfrm flipH="1">
            <a:off x="9294173" y="2435667"/>
            <a:ext cx="314891" cy="257919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2" name="Rectangle 231"/>
          <p:cNvSpPr/>
          <p:nvPr/>
        </p:nvSpPr>
        <p:spPr>
          <a:xfrm>
            <a:off x="2556878" y="4852782"/>
            <a:ext cx="348893" cy="348893"/>
          </a:xfrm>
          <a:prstGeom prst="rect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3" name="TextBox 232"/>
          <p:cNvSpPr txBox="1"/>
          <p:nvPr/>
        </p:nvSpPr>
        <p:spPr>
          <a:xfrm>
            <a:off x="2603722" y="4847732"/>
            <a:ext cx="25680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1</a:t>
            </a:r>
          </a:p>
        </p:txBody>
      </p:sp>
      <p:cxnSp>
        <p:nvCxnSpPr>
          <p:cNvPr id="17" name="Straight Arrow Connector 16"/>
          <p:cNvCxnSpPr>
            <a:stCxn id="75" idx="2"/>
            <a:endCxn id="73" idx="6"/>
          </p:cNvCxnSpPr>
          <p:nvPr/>
        </p:nvCxnSpPr>
        <p:spPr>
          <a:xfrm flipH="1">
            <a:off x="10024838" y="2263448"/>
            <a:ext cx="716423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4" name="Rectangle 233"/>
          <p:cNvSpPr/>
          <p:nvPr/>
        </p:nvSpPr>
        <p:spPr>
          <a:xfrm>
            <a:off x="2214447" y="4501530"/>
            <a:ext cx="348893" cy="348893"/>
          </a:xfrm>
          <a:prstGeom prst="rect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5" name="TextBox 234"/>
          <p:cNvSpPr txBox="1"/>
          <p:nvPr/>
        </p:nvSpPr>
        <p:spPr>
          <a:xfrm>
            <a:off x="2261291" y="4496480"/>
            <a:ext cx="25680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1</a:t>
            </a:r>
          </a:p>
        </p:txBody>
      </p:sp>
      <p:cxnSp>
        <p:nvCxnSpPr>
          <p:cNvPr id="19" name="Straight Arrow Connector 18"/>
          <p:cNvCxnSpPr>
            <a:stCxn id="73" idx="5"/>
            <a:endCxn id="76" idx="1"/>
          </p:cNvCxnSpPr>
          <p:nvPr/>
        </p:nvCxnSpPr>
        <p:spPr>
          <a:xfrm>
            <a:off x="9953502" y="2435667"/>
            <a:ext cx="259465" cy="57281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Rectangle 238"/>
          <p:cNvSpPr/>
          <p:nvPr/>
        </p:nvSpPr>
        <p:spPr>
          <a:xfrm>
            <a:off x="2915839" y="4852782"/>
            <a:ext cx="348893" cy="348893"/>
          </a:xfrm>
          <a:prstGeom prst="rect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0" name="TextBox 239"/>
          <p:cNvSpPr txBox="1"/>
          <p:nvPr/>
        </p:nvSpPr>
        <p:spPr>
          <a:xfrm>
            <a:off x="2962683" y="4847732"/>
            <a:ext cx="25680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1</a:t>
            </a:r>
          </a:p>
        </p:txBody>
      </p:sp>
      <p:cxnSp>
        <p:nvCxnSpPr>
          <p:cNvPr id="21" name="Straight Arrow Connector 20"/>
          <p:cNvCxnSpPr>
            <a:stCxn id="76" idx="2"/>
            <a:endCxn id="74" idx="6"/>
          </p:cNvCxnSpPr>
          <p:nvPr/>
        </p:nvCxnSpPr>
        <p:spPr>
          <a:xfrm flipH="1" flipV="1">
            <a:off x="9537728" y="2937141"/>
            <a:ext cx="603903" cy="243555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1" name="Rectangle 240"/>
          <p:cNvSpPr/>
          <p:nvPr/>
        </p:nvSpPr>
        <p:spPr>
          <a:xfrm>
            <a:off x="2555678" y="5552762"/>
            <a:ext cx="348893" cy="348893"/>
          </a:xfrm>
          <a:prstGeom prst="rect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2" name="TextBox 241"/>
          <p:cNvSpPr txBox="1"/>
          <p:nvPr/>
        </p:nvSpPr>
        <p:spPr>
          <a:xfrm>
            <a:off x="2602522" y="5547712"/>
            <a:ext cx="25680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1</a:t>
            </a:r>
          </a:p>
        </p:txBody>
      </p:sp>
      <p:cxnSp>
        <p:nvCxnSpPr>
          <p:cNvPr id="23" name="Straight Arrow Connector 22"/>
          <p:cNvCxnSpPr>
            <a:stCxn id="76" idx="7"/>
            <a:endCxn id="75" idx="4"/>
          </p:cNvCxnSpPr>
          <p:nvPr/>
        </p:nvCxnSpPr>
        <p:spPr>
          <a:xfrm flipV="1">
            <a:off x="10557405" y="2507003"/>
            <a:ext cx="427411" cy="50147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7" name="Rectangle 246"/>
          <p:cNvSpPr/>
          <p:nvPr/>
        </p:nvSpPr>
        <p:spPr>
          <a:xfrm>
            <a:off x="1854861" y="5552762"/>
            <a:ext cx="348893" cy="348893"/>
          </a:xfrm>
          <a:prstGeom prst="rect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8" name="TextBox 247"/>
          <p:cNvSpPr txBox="1"/>
          <p:nvPr/>
        </p:nvSpPr>
        <p:spPr>
          <a:xfrm>
            <a:off x="1901705" y="5547712"/>
            <a:ext cx="25680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1</a:t>
            </a:r>
          </a:p>
        </p:txBody>
      </p:sp>
      <p:cxnSp>
        <p:nvCxnSpPr>
          <p:cNvPr id="25" name="Straight Arrow Connector 24"/>
          <p:cNvCxnSpPr>
            <a:stCxn id="74" idx="5"/>
            <a:endCxn id="77" idx="1"/>
          </p:cNvCxnSpPr>
          <p:nvPr/>
        </p:nvCxnSpPr>
        <p:spPr>
          <a:xfrm>
            <a:off x="9466392" y="3109360"/>
            <a:ext cx="259465" cy="756795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546A-13EB-4B4E-A782-DE280B3CC4D9}" type="datetime1">
              <a:rPr lang="en-US" smtClean="0"/>
              <a:t>30-Sep-24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SWAPNIL BISWAS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510A0-FB96-4102-84E6-46674F03B94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741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8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>
                      <p:stCondLst>
                        <p:cond delay="indefinite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1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2" fill="hold">
                      <p:stCondLst>
                        <p:cond delay="indefinite"/>
                      </p:stCondLst>
                      <p:childTnLst>
                        <p:par>
                          <p:cTn id="243" fill="hold">
                            <p:stCondLst>
                              <p:cond delay="0"/>
                            </p:stCondLst>
                            <p:childTnLst>
                              <p:par>
                                <p:cTn id="2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6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>
                      <p:stCondLst>
                        <p:cond delay="indefinite"/>
                      </p:stCondLst>
                      <p:childTnLst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id="2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2" fill="hold">
                      <p:stCondLst>
                        <p:cond delay="indefinite"/>
                      </p:stCondLst>
                      <p:childTnLst>
                        <p:par>
                          <p:cTn id="253" fill="hold">
                            <p:stCondLst>
                              <p:cond delay="0"/>
                            </p:stCondLst>
                            <p:childTnLst>
                              <p:par>
                                <p:cTn id="2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7" fill="hold">
                      <p:stCondLst>
                        <p:cond delay="indefinite"/>
                      </p:stCondLst>
                      <p:childTnLst>
                        <p:par>
                          <p:cTn id="258" fill="hold">
                            <p:stCondLst>
                              <p:cond delay="0"/>
                            </p:stCondLst>
                            <p:childTnLst>
                              <p:par>
                                <p:cTn id="2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1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2" fill="hold">
                      <p:stCondLst>
                        <p:cond delay="indefinite"/>
                      </p:stCondLst>
                      <p:childTnLst>
                        <p:par>
                          <p:cTn id="263" fill="hold">
                            <p:stCondLst>
                              <p:cond delay="0"/>
                            </p:stCondLst>
                            <p:childTnLst>
                              <p:par>
                                <p:cTn id="2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6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7" fill="hold">
                      <p:stCondLst>
                        <p:cond delay="indefinite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1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2" fill="hold">
                      <p:stCondLst>
                        <p:cond delay="indefinite"/>
                      </p:stCondLst>
                      <p:childTnLst>
                        <p:par>
                          <p:cTn id="273" fill="hold">
                            <p:stCondLst>
                              <p:cond delay="0"/>
                            </p:stCondLst>
                            <p:childTnLst>
                              <p:par>
                                <p:cTn id="2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6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7" fill="hold">
                      <p:stCondLst>
                        <p:cond delay="indefinite"/>
                      </p:stCondLst>
                      <p:childTnLst>
                        <p:par>
                          <p:cTn id="278" fill="hold">
                            <p:stCondLst>
                              <p:cond delay="0"/>
                            </p:stCondLst>
                            <p:childTnLst>
                              <p:par>
                                <p:cTn id="2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1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2" fill="hold">
                      <p:stCondLst>
                        <p:cond delay="indefinite"/>
                      </p:stCondLst>
                      <p:childTnLst>
                        <p:par>
                          <p:cTn id="283" fill="hold">
                            <p:stCondLst>
                              <p:cond delay="0"/>
                            </p:stCondLst>
                            <p:childTnLst>
                              <p:par>
                                <p:cTn id="2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6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7" fill="hold">
                      <p:stCondLst>
                        <p:cond delay="indefinite"/>
                      </p:stCondLst>
                      <p:childTnLst>
                        <p:par>
                          <p:cTn id="288" fill="hold">
                            <p:stCondLst>
                              <p:cond delay="0"/>
                            </p:stCondLst>
                            <p:childTnLst>
                              <p:par>
                                <p:cTn id="28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2" fill="hold">
                      <p:stCondLst>
                        <p:cond delay="indefinite"/>
                      </p:stCondLst>
                      <p:childTnLst>
                        <p:par>
                          <p:cTn id="293" fill="hold">
                            <p:stCondLst>
                              <p:cond delay="0"/>
                            </p:stCondLst>
                            <p:childTnLst>
                              <p:par>
                                <p:cTn id="2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6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7" fill="hold">
                      <p:stCondLst>
                        <p:cond delay="indefinite"/>
                      </p:stCondLst>
                      <p:childTnLst>
                        <p:par>
                          <p:cTn id="298" fill="hold">
                            <p:stCondLst>
                              <p:cond delay="0"/>
                            </p:stCondLst>
                            <p:childTnLst>
                              <p:par>
                                <p:cTn id="29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1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4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5" fill="hold">
                      <p:stCondLst>
                        <p:cond delay="indefinite"/>
                      </p:stCondLst>
                      <p:childTnLst>
                        <p:par>
                          <p:cTn id="306" fill="hold">
                            <p:stCondLst>
                              <p:cond delay="0"/>
                            </p:stCondLst>
                            <p:childTnLst>
                              <p:par>
                                <p:cTn id="30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9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2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3" fill="hold">
                      <p:stCondLst>
                        <p:cond delay="indefinite"/>
                      </p:stCondLst>
                      <p:childTnLst>
                        <p:par>
                          <p:cTn id="314" fill="hold">
                            <p:stCondLst>
                              <p:cond delay="0"/>
                            </p:stCondLst>
                            <p:childTnLst>
                              <p:par>
                                <p:cTn id="3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8" fill="hold">
                      <p:stCondLst>
                        <p:cond delay="indefinite"/>
                      </p:stCondLst>
                      <p:childTnLst>
                        <p:par>
                          <p:cTn id="319" fill="hold">
                            <p:stCondLst>
                              <p:cond delay="0"/>
                            </p:stCondLst>
                            <p:childTnLst>
                              <p:par>
                                <p:cTn id="3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2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3" fill="hold">
                      <p:stCondLst>
                        <p:cond delay="indefinite"/>
                      </p:stCondLst>
                      <p:childTnLst>
                        <p:par>
                          <p:cTn id="324" fill="hold">
                            <p:stCondLst>
                              <p:cond delay="0"/>
                            </p:stCondLst>
                            <p:childTnLst>
                              <p:par>
                                <p:cTn id="3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7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0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1" fill="hold">
                      <p:stCondLst>
                        <p:cond delay="indefinite"/>
                      </p:stCondLst>
                      <p:childTnLst>
                        <p:par>
                          <p:cTn id="332" fill="hold">
                            <p:stCondLst>
                              <p:cond delay="0"/>
                            </p:stCondLst>
                            <p:childTnLst>
                              <p:par>
                                <p:cTn id="3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5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8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9" fill="hold">
                      <p:stCondLst>
                        <p:cond delay="indefinite"/>
                      </p:stCondLst>
                      <p:childTnLst>
                        <p:par>
                          <p:cTn id="340" fill="hold">
                            <p:stCondLst>
                              <p:cond delay="0"/>
                            </p:stCondLst>
                            <p:childTnLst>
                              <p:par>
                                <p:cTn id="3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4" fill="hold">
                      <p:stCondLst>
                        <p:cond delay="indefinite"/>
                      </p:stCondLst>
                      <p:childTnLst>
                        <p:par>
                          <p:cTn id="345" fill="hold">
                            <p:stCondLst>
                              <p:cond delay="0"/>
                            </p:stCondLst>
                            <p:childTnLst>
                              <p:par>
                                <p:cTn id="3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8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9" fill="hold">
                      <p:stCondLst>
                        <p:cond delay="indefinite"/>
                      </p:stCondLst>
                      <p:childTnLst>
                        <p:par>
                          <p:cTn id="350" fill="hold">
                            <p:stCondLst>
                              <p:cond delay="0"/>
                            </p:stCondLst>
                            <p:childTnLst>
                              <p:par>
                                <p:cTn id="3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3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6"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7" fill="hold">
                      <p:stCondLst>
                        <p:cond delay="indefinite"/>
                      </p:stCondLst>
                      <p:childTnLst>
                        <p:par>
                          <p:cTn id="358" fill="hold">
                            <p:stCondLst>
                              <p:cond delay="0"/>
                            </p:stCondLst>
                            <p:childTnLst>
                              <p:par>
                                <p:cTn id="3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1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4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5" fill="hold">
                      <p:stCondLst>
                        <p:cond delay="indefinite"/>
                      </p:stCondLst>
                      <p:childTnLst>
                        <p:par>
                          <p:cTn id="366" fill="hold">
                            <p:stCondLst>
                              <p:cond delay="0"/>
                            </p:stCondLst>
                            <p:childTnLst>
                              <p:par>
                                <p:cTn id="3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0" fill="hold">
                      <p:stCondLst>
                        <p:cond delay="indefinite"/>
                      </p:stCondLst>
                      <p:childTnLst>
                        <p:par>
                          <p:cTn id="371" fill="hold">
                            <p:stCondLst>
                              <p:cond delay="0"/>
                            </p:stCondLst>
                            <p:childTnLst>
                              <p:par>
                                <p:cTn id="3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4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5" fill="hold">
                      <p:stCondLst>
                        <p:cond delay="indefinite"/>
                      </p:stCondLst>
                      <p:childTnLst>
                        <p:par>
                          <p:cTn id="376" fill="hold">
                            <p:stCondLst>
                              <p:cond delay="0"/>
                            </p:stCondLst>
                            <p:childTnLst>
                              <p:par>
                                <p:cTn id="3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9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2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3" fill="hold">
                      <p:stCondLst>
                        <p:cond delay="indefinite"/>
                      </p:stCondLst>
                      <p:childTnLst>
                        <p:par>
                          <p:cTn id="384" fill="hold">
                            <p:stCondLst>
                              <p:cond delay="0"/>
                            </p:stCondLst>
                            <p:childTnLst>
                              <p:par>
                                <p:cTn id="3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7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0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1" fill="hold">
                      <p:stCondLst>
                        <p:cond delay="indefinite"/>
                      </p:stCondLst>
                      <p:childTnLst>
                        <p:par>
                          <p:cTn id="392" fill="hold">
                            <p:stCondLst>
                              <p:cond delay="0"/>
                            </p:stCondLst>
                            <p:childTnLst>
                              <p:par>
                                <p:cTn id="39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6" fill="hold">
                      <p:stCondLst>
                        <p:cond delay="indefinite"/>
                      </p:stCondLst>
                      <p:childTnLst>
                        <p:par>
                          <p:cTn id="397" fill="hold">
                            <p:stCondLst>
                              <p:cond delay="0"/>
                            </p:stCondLst>
                            <p:childTnLst>
                              <p:par>
                                <p:cTn id="3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0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1" fill="hold">
                      <p:stCondLst>
                        <p:cond delay="indefinite"/>
                      </p:stCondLst>
                      <p:childTnLst>
                        <p:par>
                          <p:cTn id="402" fill="hold">
                            <p:stCondLst>
                              <p:cond delay="0"/>
                            </p:stCondLst>
                            <p:childTnLst>
                              <p:par>
                                <p:cTn id="4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5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8"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9" fill="hold">
                      <p:stCondLst>
                        <p:cond delay="indefinite"/>
                      </p:stCondLst>
                      <p:childTnLst>
                        <p:par>
                          <p:cTn id="410" fill="hold">
                            <p:stCondLst>
                              <p:cond delay="0"/>
                            </p:stCondLst>
                            <p:childTnLst>
                              <p:par>
                                <p:cTn id="4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3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6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7" fill="hold">
                      <p:stCondLst>
                        <p:cond delay="indefinite"/>
                      </p:stCondLst>
                      <p:childTnLst>
                        <p:par>
                          <p:cTn id="418" fill="hold">
                            <p:stCondLst>
                              <p:cond delay="0"/>
                            </p:stCondLst>
                            <p:childTnLst>
                              <p:par>
                                <p:cTn id="4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2" fill="hold">
                      <p:stCondLst>
                        <p:cond delay="indefinite"/>
                      </p:stCondLst>
                      <p:childTnLst>
                        <p:par>
                          <p:cTn id="423" fill="hold">
                            <p:stCondLst>
                              <p:cond delay="0"/>
                            </p:stCondLst>
                            <p:childTnLst>
                              <p:par>
                                <p:cTn id="4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6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7" fill="hold">
                      <p:stCondLst>
                        <p:cond delay="indefinite"/>
                      </p:stCondLst>
                      <p:childTnLst>
                        <p:par>
                          <p:cTn id="428" fill="hold">
                            <p:stCondLst>
                              <p:cond delay="0"/>
                            </p:stCondLst>
                            <p:childTnLst>
                              <p:par>
                                <p:cTn id="4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1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4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5" fill="hold">
                      <p:stCondLst>
                        <p:cond delay="indefinite"/>
                      </p:stCondLst>
                      <p:childTnLst>
                        <p:par>
                          <p:cTn id="436" fill="hold">
                            <p:stCondLst>
                              <p:cond delay="0"/>
                            </p:stCondLst>
                            <p:childTnLst>
                              <p:par>
                                <p:cTn id="4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9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2"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/>
      <p:bldP spid="60" grpId="0"/>
      <p:bldP spid="70" grpId="0"/>
      <p:bldP spid="71" grpId="0"/>
      <p:bldP spid="72" grpId="0"/>
      <p:bldP spid="110" grpId="0"/>
      <p:bldP spid="111" grpId="0"/>
      <p:bldP spid="112" grpId="0"/>
      <p:bldP spid="8" grpId="0" animBg="1"/>
      <p:bldP spid="119" grpId="0"/>
      <p:bldP spid="120" grpId="0"/>
      <p:bldP spid="121" grpId="0"/>
      <p:bldP spid="122" grpId="0"/>
      <p:bldP spid="123" grpId="0"/>
      <p:bldP spid="124" grpId="0"/>
      <p:bldP spid="125" grpId="0"/>
      <p:bldP spid="126" grpId="0"/>
      <p:bldP spid="127" grpId="0"/>
      <p:bldP spid="133" grpId="0"/>
      <p:bldP spid="134" grpId="0"/>
      <p:bldP spid="140" grpId="0" animBg="1"/>
      <p:bldP spid="141" grpId="0"/>
      <p:bldP spid="146" grpId="0" animBg="1"/>
      <p:bldP spid="147" grpId="0"/>
      <p:bldP spid="148" grpId="0" animBg="1"/>
      <p:bldP spid="149" grpId="0"/>
      <p:bldP spid="150" grpId="0" animBg="1"/>
      <p:bldP spid="151" grpId="0"/>
      <p:bldP spid="152" grpId="0" animBg="1"/>
      <p:bldP spid="153" grpId="0"/>
      <p:bldP spid="154" grpId="0" animBg="1"/>
      <p:bldP spid="155" grpId="0"/>
      <p:bldP spid="156" grpId="0" animBg="1"/>
      <p:bldP spid="157" grpId="0"/>
      <p:bldP spid="158" grpId="0" animBg="1"/>
      <p:bldP spid="159" grpId="0"/>
      <p:bldP spid="160" grpId="0" animBg="1"/>
      <p:bldP spid="161" grpId="0"/>
      <p:bldP spid="162" grpId="0" animBg="1"/>
      <p:bldP spid="163" grpId="0"/>
      <p:bldP spid="164" grpId="0" animBg="1"/>
      <p:bldP spid="165" grpId="0"/>
      <p:bldP spid="166" grpId="0" animBg="1"/>
      <p:bldP spid="167" grpId="0"/>
      <p:bldP spid="168" grpId="0" animBg="1"/>
      <p:bldP spid="169" grpId="0"/>
      <p:bldP spid="170" grpId="0" animBg="1"/>
      <p:bldP spid="171" grpId="0"/>
      <p:bldP spid="172" grpId="0" animBg="1"/>
      <p:bldP spid="173" grpId="0"/>
      <p:bldP spid="174" grpId="0" animBg="1"/>
      <p:bldP spid="175" grpId="0"/>
      <p:bldP spid="176" grpId="0" animBg="1"/>
      <p:bldP spid="177" grpId="0"/>
      <p:bldP spid="178" grpId="0" animBg="1"/>
      <p:bldP spid="179" grpId="0"/>
      <p:bldP spid="180" grpId="0" animBg="1"/>
      <p:bldP spid="181" grpId="0"/>
      <p:bldP spid="182" grpId="0" animBg="1"/>
      <p:bldP spid="183" grpId="0"/>
      <p:bldP spid="184" grpId="0" animBg="1"/>
      <p:bldP spid="185" grpId="0"/>
      <p:bldP spid="186" grpId="0" animBg="1"/>
      <p:bldP spid="187" grpId="0"/>
      <p:bldP spid="188" grpId="0" animBg="1"/>
      <p:bldP spid="189" grpId="0"/>
      <p:bldP spid="190" grpId="0" animBg="1"/>
      <p:bldP spid="191" grpId="0"/>
      <p:bldP spid="192" grpId="0"/>
      <p:bldP spid="193" grpId="0"/>
      <p:bldP spid="194" grpId="0"/>
      <p:bldP spid="195" grpId="0"/>
      <p:bldP spid="196" grpId="0"/>
      <p:bldP spid="197" grpId="0"/>
      <p:bldP spid="198" grpId="0"/>
      <p:bldP spid="199" grpId="0"/>
      <p:bldP spid="200" grpId="0"/>
      <p:bldP spid="201" grpId="0"/>
      <p:bldP spid="202" grpId="0" animBg="1"/>
      <p:bldP spid="203" grpId="0"/>
      <p:bldP spid="204" grpId="0"/>
      <p:bldP spid="205" grpId="0"/>
      <p:bldP spid="206" grpId="0"/>
      <p:bldP spid="207" grpId="0"/>
      <p:bldP spid="208" grpId="0"/>
      <p:bldP spid="209" grpId="0"/>
      <p:bldP spid="210" grpId="0"/>
      <p:bldP spid="211" grpId="0"/>
      <p:bldP spid="212" grpId="0"/>
      <p:bldP spid="213" grpId="0"/>
      <p:bldP spid="216" grpId="0" animBg="1"/>
      <p:bldP spid="217" grpId="0"/>
      <p:bldP spid="218" grpId="0" animBg="1"/>
      <p:bldP spid="219" grpId="0"/>
      <p:bldP spid="220" grpId="0" animBg="1"/>
      <p:bldP spid="221" grpId="0"/>
      <p:bldP spid="224" grpId="0" animBg="1"/>
      <p:bldP spid="225" grpId="0"/>
      <p:bldP spid="228" grpId="0" animBg="1"/>
      <p:bldP spid="229" grpId="0"/>
      <p:bldP spid="230" grpId="0" animBg="1"/>
      <p:bldP spid="231" grpId="0"/>
      <p:bldP spid="232" grpId="0" animBg="1"/>
      <p:bldP spid="233" grpId="0"/>
      <p:bldP spid="234" grpId="0" animBg="1"/>
      <p:bldP spid="235" grpId="0"/>
      <p:bldP spid="239" grpId="0" animBg="1"/>
      <p:bldP spid="240" grpId="0"/>
      <p:bldP spid="241" grpId="0" animBg="1"/>
      <p:bldP spid="242" grpId="0"/>
      <p:bldP spid="247" grpId="0" animBg="1"/>
      <p:bldP spid="24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 of Undirected Graph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19270" y="1934218"/>
            <a:ext cx="2119491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700" dirty="0">
                <a:latin typeface="Bahnschrift" panose="020B0502040204020203" pitchFamily="34" charset="0"/>
              </a:rPr>
              <a:t>Adjacency Matrix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953693" y="1934218"/>
            <a:ext cx="1867819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700" dirty="0">
                <a:latin typeface="Bahnschrift" panose="020B0502040204020203" pitchFamily="34" charset="0"/>
              </a:rPr>
              <a:t>Adjacency List</a:t>
            </a:r>
          </a:p>
        </p:txBody>
      </p:sp>
      <p:cxnSp>
        <p:nvCxnSpPr>
          <p:cNvPr id="3" name="Straight Connector 2"/>
          <p:cNvCxnSpPr/>
          <p:nvPr/>
        </p:nvCxnSpPr>
        <p:spPr>
          <a:xfrm>
            <a:off x="4811897" y="1934218"/>
            <a:ext cx="9388" cy="346815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1119270" y="2363675"/>
            <a:ext cx="7337419" cy="1244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1110157" y="2408826"/>
            <a:ext cx="901209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 err="1">
                <a:latin typeface="Bahnschrift" panose="020B0502040204020203" pitchFamily="34" charset="0"/>
              </a:rPr>
              <a:t>cin</a:t>
            </a:r>
            <a:r>
              <a:rPr lang="en-US" sz="1700" dirty="0">
                <a:latin typeface="Bahnschrift" panose="020B0502040204020203" pitchFamily="34" charset="0"/>
              </a:rPr>
              <a:t> &gt;&gt; n;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3315474" y="2408825"/>
            <a:ext cx="896399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 err="1">
                <a:latin typeface="Bahnschrift" panose="020B0502040204020203" pitchFamily="34" charset="0"/>
              </a:rPr>
              <a:t>cin</a:t>
            </a:r>
            <a:r>
              <a:rPr lang="en-US" sz="1700" dirty="0">
                <a:latin typeface="Bahnschrift" panose="020B0502040204020203" pitchFamily="34" charset="0"/>
              </a:rPr>
              <a:t> &gt;&gt; e;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2007103" y="2408826"/>
            <a:ext cx="1308371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 err="1">
                <a:latin typeface="Bahnschrift" panose="020B0502040204020203" pitchFamily="34" charset="0"/>
              </a:rPr>
              <a:t>int</a:t>
            </a:r>
            <a:r>
              <a:rPr lang="en-US" sz="1700" dirty="0">
                <a:latin typeface="Bahnschrift" panose="020B0502040204020203" pitchFamily="34" charset="0"/>
              </a:rPr>
              <a:t> </a:t>
            </a:r>
            <a:r>
              <a:rPr lang="en-US" sz="1700" dirty="0" err="1">
                <a:latin typeface="Bahnschrift" panose="020B0502040204020203" pitchFamily="34" charset="0"/>
              </a:rPr>
              <a:t>adj</a:t>
            </a:r>
            <a:r>
              <a:rPr lang="en-US" sz="1700" dirty="0">
                <a:latin typeface="Bahnschrift" panose="020B0502040204020203" pitchFamily="34" charset="0"/>
              </a:rPr>
              <a:t>[n][n];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115834" y="2681139"/>
            <a:ext cx="1739579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for(</a:t>
            </a:r>
            <a:r>
              <a:rPr lang="en-US" sz="1700" dirty="0" err="1">
                <a:latin typeface="Bahnschrift" panose="020B0502040204020203" pitchFamily="34" charset="0"/>
              </a:rPr>
              <a:t>i</a:t>
            </a:r>
            <a:r>
              <a:rPr lang="en-US" sz="1700" dirty="0">
                <a:latin typeface="Bahnschrift" panose="020B0502040204020203" pitchFamily="34" charset="0"/>
              </a:rPr>
              <a:t>=1; </a:t>
            </a:r>
            <a:r>
              <a:rPr lang="en-US" sz="1700" dirty="0" err="1">
                <a:latin typeface="Bahnschrift" panose="020B0502040204020203" pitchFamily="34" charset="0"/>
              </a:rPr>
              <a:t>i</a:t>
            </a:r>
            <a:r>
              <a:rPr lang="en-US" sz="1700" dirty="0">
                <a:latin typeface="Bahnschrift" panose="020B0502040204020203" pitchFamily="34" charset="0"/>
              </a:rPr>
              <a:t>&lt;=e; </a:t>
            </a:r>
            <a:r>
              <a:rPr lang="en-US" sz="1700" dirty="0" err="1">
                <a:latin typeface="Bahnschrift" panose="020B0502040204020203" pitchFamily="34" charset="0"/>
              </a:rPr>
              <a:t>i</a:t>
            </a:r>
            <a:r>
              <a:rPr lang="en-US" sz="1700" dirty="0">
                <a:latin typeface="Bahnschrift" panose="020B0502040204020203" pitchFamily="34" charset="0"/>
              </a:rPr>
              <a:t>++){</a:t>
            </a:r>
          </a:p>
          <a:p>
            <a:endParaRPr lang="en-US" sz="1700" dirty="0">
              <a:latin typeface="Bahnschrift" panose="020B0502040204020203" pitchFamily="34" charset="0"/>
            </a:endParaRPr>
          </a:p>
          <a:p>
            <a:endParaRPr lang="en-US" sz="1700" dirty="0">
              <a:latin typeface="Bahnschrift" panose="020B0502040204020203" pitchFamily="34" charset="0"/>
            </a:endParaRPr>
          </a:p>
          <a:p>
            <a:r>
              <a:rPr lang="en-US" sz="1700" dirty="0">
                <a:latin typeface="Bahnschrift" panose="020B0502040204020203" pitchFamily="34" charset="0"/>
              </a:rPr>
              <a:t>}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282616" y="2942683"/>
            <a:ext cx="1269899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 err="1">
                <a:latin typeface="Bahnschrift" panose="020B0502040204020203" pitchFamily="34" charset="0"/>
              </a:rPr>
              <a:t>cin</a:t>
            </a:r>
            <a:r>
              <a:rPr lang="en-US" sz="1700" dirty="0">
                <a:latin typeface="Bahnschrift" panose="020B0502040204020203" pitchFamily="34" charset="0"/>
              </a:rPr>
              <a:t> &gt;&gt; u &gt;&gt; v;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2550980" y="2951715"/>
            <a:ext cx="1183337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 err="1">
                <a:latin typeface="Bahnschrift" panose="020B0502040204020203" pitchFamily="34" charset="0"/>
              </a:rPr>
              <a:t>adj</a:t>
            </a:r>
            <a:r>
              <a:rPr lang="en-US" sz="1700" dirty="0">
                <a:latin typeface="Bahnschrift" panose="020B0502040204020203" pitchFamily="34" charset="0"/>
              </a:rPr>
              <a:t>[u][v]=1;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923565" y="2369545"/>
            <a:ext cx="901209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 err="1">
                <a:latin typeface="Bahnschrift" panose="020B0502040204020203" pitchFamily="34" charset="0"/>
              </a:rPr>
              <a:t>cin</a:t>
            </a:r>
            <a:r>
              <a:rPr lang="en-US" sz="1700" dirty="0">
                <a:latin typeface="Bahnschrift" panose="020B0502040204020203" pitchFamily="34" charset="0"/>
              </a:rPr>
              <a:t> &gt;&gt; n;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7536338" y="2369544"/>
            <a:ext cx="896399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 err="1">
                <a:latin typeface="Bahnschrift" panose="020B0502040204020203" pitchFamily="34" charset="0"/>
              </a:rPr>
              <a:t>cin</a:t>
            </a:r>
            <a:r>
              <a:rPr lang="en-US" sz="1700" dirty="0">
                <a:latin typeface="Bahnschrift" panose="020B0502040204020203" pitchFamily="34" charset="0"/>
              </a:rPr>
              <a:t> &gt;&gt; e;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5820511" y="2369545"/>
            <a:ext cx="1824538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vector&lt;</a:t>
            </a:r>
            <a:r>
              <a:rPr lang="en-US" sz="1700" dirty="0" err="1">
                <a:latin typeface="Bahnschrift" panose="020B0502040204020203" pitchFamily="34" charset="0"/>
              </a:rPr>
              <a:t>int</a:t>
            </a:r>
            <a:r>
              <a:rPr lang="en-US" sz="1700" dirty="0">
                <a:latin typeface="Bahnschrift" panose="020B0502040204020203" pitchFamily="34" charset="0"/>
              </a:rPr>
              <a:t>&gt;</a:t>
            </a:r>
            <a:r>
              <a:rPr lang="en-US" sz="1700" dirty="0" err="1">
                <a:latin typeface="Bahnschrift" panose="020B0502040204020203" pitchFamily="34" charset="0"/>
              </a:rPr>
              <a:t>adj</a:t>
            </a:r>
            <a:r>
              <a:rPr lang="en-US" sz="1700" dirty="0">
                <a:latin typeface="Bahnschrift" panose="020B0502040204020203" pitchFamily="34" charset="0"/>
              </a:rPr>
              <a:t>[n];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929242" y="2641858"/>
            <a:ext cx="1739579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for(</a:t>
            </a:r>
            <a:r>
              <a:rPr lang="en-US" sz="1700" dirty="0" err="1">
                <a:latin typeface="Bahnschrift" panose="020B0502040204020203" pitchFamily="34" charset="0"/>
              </a:rPr>
              <a:t>i</a:t>
            </a:r>
            <a:r>
              <a:rPr lang="en-US" sz="1700" dirty="0">
                <a:latin typeface="Bahnschrift" panose="020B0502040204020203" pitchFamily="34" charset="0"/>
              </a:rPr>
              <a:t>=1; </a:t>
            </a:r>
            <a:r>
              <a:rPr lang="en-US" sz="1700" dirty="0" err="1">
                <a:latin typeface="Bahnschrift" panose="020B0502040204020203" pitchFamily="34" charset="0"/>
              </a:rPr>
              <a:t>i</a:t>
            </a:r>
            <a:r>
              <a:rPr lang="en-US" sz="1700" dirty="0">
                <a:latin typeface="Bahnschrift" panose="020B0502040204020203" pitchFamily="34" charset="0"/>
              </a:rPr>
              <a:t>&lt;=e; </a:t>
            </a:r>
            <a:r>
              <a:rPr lang="en-US" sz="1700" dirty="0" err="1">
                <a:latin typeface="Bahnschrift" panose="020B0502040204020203" pitchFamily="34" charset="0"/>
              </a:rPr>
              <a:t>i</a:t>
            </a:r>
            <a:r>
              <a:rPr lang="en-US" sz="1700" dirty="0">
                <a:latin typeface="Bahnschrift" panose="020B0502040204020203" pitchFamily="34" charset="0"/>
              </a:rPr>
              <a:t>++){</a:t>
            </a:r>
          </a:p>
          <a:p>
            <a:endParaRPr lang="en-US" sz="1700" dirty="0">
              <a:latin typeface="Bahnschrift" panose="020B0502040204020203" pitchFamily="34" charset="0"/>
            </a:endParaRPr>
          </a:p>
          <a:p>
            <a:endParaRPr lang="en-US" sz="1700" dirty="0">
              <a:latin typeface="Bahnschrift" panose="020B0502040204020203" pitchFamily="34" charset="0"/>
            </a:endParaRPr>
          </a:p>
          <a:p>
            <a:r>
              <a:rPr lang="en-US" sz="1700" dirty="0">
                <a:latin typeface="Bahnschrift" panose="020B0502040204020203" pitchFamily="34" charset="0"/>
              </a:rPr>
              <a:t>}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5096024" y="2903402"/>
            <a:ext cx="1269899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 err="1">
                <a:latin typeface="Bahnschrift" panose="020B0502040204020203" pitchFamily="34" charset="0"/>
              </a:rPr>
              <a:t>cin</a:t>
            </a:r>
            <a:r>
              <a:rPr lang="en-US" sz="1700" dirty="0">
                <a:latin typeface="Bahnschrift" panose="020B0502040204020203" pitchFamily="34" charset="0"/>
              </a:rPr>
              <a:t> &gt;&gt; u &gt;&gt; v;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6364388" y="2912434"/>
            <a:ext cx="2109873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 err="1">
                <a:latin typeface="Bahnschrift" panose="020B0502040204020203" pitchFamily="34" charset="0"/>
              </a:rPr>
              <a:t>adj</a:t>
            </a:r>
            <a:r>
              <a:rPr lang="en-US" sz="1700" dirty="0">
                <a:latin typeface="Bahnschrift" panose="020B0502040204020203" pitchFamily="34" charset="0"/>
              </a:rPr>
              <a:t>[u].</a:t>
            </a:r>
            <a:r>
              <a:rPr lang="en-US" sz="1700" dirty="0" err="1">
                <a:latin typeface="Bahnschrift" panose="020B0502040204020203" pitchFamily="34" charset="0"/>
              </a:rPr>
              <a:t>push_back</a:t>
            </a:r>
            <a:r>
              <a:rPr lang="en-US" sz="1700" dirty="0">
                <a:latin typeface="Bahnschrift" panose="020B0502040204020203" pitchFamily="34" charset="0"/>
              </a:rPr>
              <a:t>(v);</a:t>
            </a:r>
          </a:p>
        </p:txBody>
      </p:sp>
      <p:sp>
        <p:nvSpPr>
          <p:cNvPr id="142" name="Oval 141"/>
          <p:cNvSpPr/>
          <p:nvPr/>
        </p:nvSpPr>
        <p:spPr>
          <a:xfrm>
            <a:off x="9382714" y="2408825"/>
            <a:ext cx="487110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Oval 142"/>
          <p:cNvSpPr/>
          <p:nvPr/>
        </p:nvSpPr>
        <p:spPr>
          <a:xfrm>
            <a:off x="8895604" y="3082518"/>
            <a:ext cx="487110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Oval 143"/>
          <p:cNvSpPr/>
          <p:nvPr/>
        </p:nvSpPr>
        <p:spPr>
          <a:xfrm>
            <a:off x="10586247" y="2408825"/>
            <a:ext cx="487110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Oval 144"/>
          <p:cNvSpPr/>
          <p:nvPr/>
        </p:nvSpPr>
        <p:spPr>
          <a:xfrm>
            <a:off x="9986617" y="3326073"/>
            <a:ext cx="487110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4" name="Oval 213"/>
          <p:cNvSpPr/>
          <p:nvPr/>
        </p:nvSpPr>
        <p:spPr>
          <a:xfrm>
            <a:off x="9499507" y="4183751"/>
            <a:ext cx="487110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5" name="Oval 214"/>
          <p:cNvSpPr/>
          <p:nvPr/>
        </p:nvSpPr>
        <p:spPr>
          <a:xfrm>
            <a:off x="10976505" y="3696641"/>
            <a:ext cx="487110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2" name="Straight Connector 221"/>
          <p:cNvCxnSpPr>
            <a:stCxn id="142" idx="6"/>
            <a:endCxn id="144" idx="2"/>
          </p:cNvCxnSpPr>
          <p:nvPr/>
        </p:nvCxnSpPr>
        <p:spPr>
          <a:xfrm>
            <a:off x="9869824" y="2652380"/>
            <a:ext cx="71642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Straight Connector 222"/>
          <p:cNvCxnSpPr>
            <a:stCxn id="142" idx="3"/>
            <a:endCxn id="143" idx="0"/>
          </p:cNvCxnSpPr>
          <p:nvPr/>
        </p:nvCxnSpPr>
        <p:spPr>
          <a:xfrm flipH="1">
            <a:off x="9139159" y="2824599"/>
            <a:ext cx="314891" cy="25791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Straight Connector 225"/>
          <p:cNvCxnSpPr>
            <a:stCxn id="143" idx="5"/>
            <a:endCxn id="214" idx="1"/>
          </p:cNvCxnSpPr>
          <p:nvPr/>
        </p:nvCxnSpPr>
        <p:spPr>
          <a:xfrm>
            <a:off x="9311378" y="3498292"/>
            <a:ext cx="259465" cy="75679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Straight Connector 226"/>
          <p:cNvCxnSpPr>
            <a:stCxn id="145" idx="7"/>
            <a:endCxn id="144" idx="4"/>
          </p:cNvCxnSpPr>
          <p:nvPr/>
        </p:nvCxnSpPr>
        <p:spPr>
          <a:xfrm flipV="1">
            <a:off x="10402391" y="2895935"/>
            <a:ext cx="427411" cy="50147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Straight Connector 235"/>
          <p:cNvCxnSpPr>
            <a:stCxn id="142" idx="5"/>
            <a:endCxn id="145" idx="1"/>
          </p:cNvCxnSpPr>
          <p:nvPr/>
        </p:nvCxnSpPr>
        <p:spPr>
          <a:xfrm>
            <a:off x="9798488" y="2824599"/>
            <a:ext cx="259465" cy="57281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7" name="TextBox 236"/>
          <p:cNvSpPr txBox="1"/>
          <p:nvPr/>
        </p:nvSpPr>
        <p:spPr>
          <a:xfrm>
            <a:off x="10674150" y="245526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0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9470617" y="2455267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1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8990628" y="3141407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2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11054841" y="375553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3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10073621" y="3384962"/>
            <a:ext cx="316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4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9588212" y="424264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5</a:t>
            </a:r>
          </a:p>
        </p:txBody>
      </p:sp>
      <p:sp>
        <p:nvSpPr>
          <p:cNvPr id="249" name="TextBox 248"/>
          <p:cNvSpPr txBox="1"/>
          <p:nvPr/>
        </p:nvSpPr>
        <p:spPr>
          <a:xfrm>
            <a:off x="1308988" y="3220031"/>
            <a:ext cx="1183337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b="1" dirty="0" err="1">
                <a:solidFill>
                  <a:srgbClr val="FF0000"/>
                </a:solidFill>
                <a:latin typeface="Bahnschrift" panose="020B0502040204020203" pitchFamily="34" charset="0"/>
              </a:rPr>
              <a:t>adj</a:t>
            </a:r>
            <a:r>
              <a:rPr lang="en-US" sz="1700" b="1" dirty="0">
                <a:solidFill>
                  <a:srgbClr val="FF0000"/>
                </a:solidFill>
                <a:latin typeface="Bahnschrift" panose="020B0502040204020203" pitchFamily="34" charset="0"/>
              </a:rPr>
              <a:t>[v][u]=1;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5123875" y="3187734"/>
            <a:ext cx="2109873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b="1" dirty="0" err="1">
                <a:solidFill>
                  <a:srgbClr val="FF0000"/>
                </a:solidFill>
                <a:latin typeface="Bahnschrift" panose="020B0502040204020203" pitchFamily="34" charset="0"/>
              </a:rPr>
              <a:t>adj</a:t>
            </a:r>
            <a:r>
              <a:rPr lang="en-US" sz="1700" b="1" dirty="0">
                <a:solidFill>
                  <a:srgbClr val="FF0000"/>
                </a:solidFill>
                <a:latin typeface="Bahnschrift" panose="020B0502040204020203" pitchFamily="34" charset="0"/>
              </a:rPr>
              <a:t>[v].</a:t>
            </a:r>
            <a:r>
              <a:rPr lang="en-US" sz="1700" b="1" dirty="0" err="1">
                <a:solidFill>
                  <a:srgbClr val="FF0000"/>
                </a:solidFill>
                <a:latin typeface="Bahnschrift" panose="020B0502040204020203" pitchFamily="34" charset="0"/>
              </a:rPr>
              <a:t>push_back</a:t>
            </a:r>
            <a:r>
              <a:rPr lang="en-US" sz="1700" b="1" dirty="0">
                <a:solidFill>
                  <a:srgbClr val="FF0000"/>
                </a:solidFill>
                <a:latin typeface="Bahnschrift" panose="020B0502040204020203" pitchFamily="34" charset="0"/>
              </a:rPr>
              <a:t>(u);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094A5-7C72-4FEE-A6C1-1CD921E39814}" type="datetime1">
              <a:rPr lang="en-US" smtClean="0"/>
              <a:t>30-Sep-24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SWAPNIL BISWAS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510A0-FB96-4102-84E6-46674F03B94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9505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8930" y="2259175"/>
            <a:ext cx="2119491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700" dirty="0">
                <a:latin typeface="Bahnschrift" panose="020B0502040204020203" pitchFamily="34" charset="0"/>
              </a:rPr>
              <a:t>Adjacency Matrix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33353" y="2259175"/>
            <a:ext cx="1867819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700" dirty="0">
                <a:latin typeface="Bahnschrift" panose="020B0502040204020203" pitchFamily="34" charset="0"/>
              </a:rPr>
              <a:t>Adjacency List</a:t>
            </a:r>
          </a:p>
        </p:txBody>
      </p:sp>
      <p:cxnSp>
        <p:nvCxnSpPr>
          <p:cNvPr id="40" name="Straight Connector 39"/>
          <p:cNvCxnSpPr/>
          <p:nvPr/>
        </p:nvCxnSpPr>
        <p:spPr>
          <a:xfrm flipH="1">
            <a:off x="4770586" y="2259175"/>
            <a:ext cx="20972" cy="375706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 flipV="1">
            <a:off x="1098930" y="2688632"/>
            <a:ext cx="7337419" cy="1244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1893188" y="3124216"/>
            <a:ext cx="348893" cy="34889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/>
          <p:cNvSpPr txBox="1"/>
          <p:nvPr/>
        </p:nvSpPr>
        <p:spPr>
          <a:xfrm>
            <a:off x="1922940" y="3119166"/>
            <a:ext cx="30489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93188" y="3472778"/>
            <a:ext cx="348893" cy="34889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/>
          <p:cNvSpPr txBox="1"/>
          <p:nvPr/>
        </p:nvSpPr>
        <p:spPr>
          <a:xfrm>
            <a:off x="1922940" y="3467728"/>
            <a:ext cx="30489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93188" y="3821671"/>
            <a:ext cx="348893" cy="34889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/>
          <p:cNvSpPr txBox="1"/>
          <p:nvPr/>
        </p:nvSpPr>
        <p:spPr>
          <a:xfrm>
            <a:off x="1922940" y="3816621"/>
            <a:ext cx="30489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893188" y="4175614"/>
            <a:ext cx="348893" cy="34889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Box 60"/>
          <p:cNvSpPr txBox="1"/>
          <p:nvPr/>
        </p:nvSpPr>
        <p:spPr>
          <a:xfrm>
            <a:off x="1922940" y="4170564"/>
            <a:ext cx="30489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893188" y="4529557"/>
            <a:ext cx="348893" cy="34889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/>
          <p:cNvSpPr txBox="1"/>
          <p:nvPr/>
        </p:nvSpPr>
        <p:spPr>
          <a:xfrm>
            <a:off x="1922940" y="4524507"/>
            <a:ext cx="30489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248918" y="3124216"/>
            <a:ext cx="348893" cy="34889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/>
          <p:cNvSpPr txBox="1"/>
          <p:nvPr/>
        </p:nvSpPr>
        <p:spPr>
          <a:xfrm>
            <a:off x="2278670" y="3119166"/>
            <a:ext cx="30489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248918" y="3472778"/>
            <a:ext cx="348893" cy="34889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/>
          <p:cNvSpPr txBox="1"/>
          <p:nvPr/>
        </p:nvSpPr>
        <p:spPr>
          <a:xfrm>
            <a:off x="2278670" y="3467728"/>
            <a:ext cx="30489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248918" y="3821671"/>
            <a:ext cx="348893" cy="34889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Box 70"/>
          <p:cNvSpPr txBox="1"/>
          <p:nvPr/>
        </p:nvSpPr>
        <p:spPr>
          <a:xfrm>
            <a:off x="2278670" y="3816621"/>
            <a:ext cx="30489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0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248918" y="4175614"/>
            <a:ext cx="348893" cy="34889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TextBox 72"/>
          <p:cNvSpPr txBox="1"/>
          <p:nvPr/>
        </p:nvSpPr>
        <p:spPr>
          <a:xfrm>
            <a:off x="2278670" y="4170564"/>
            <a:ext cx="30489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248918" y="4529557"/>
            <a:ext cx="348893" cy="34889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TextBox 74"/>
          <p:cNvSpPr txBox="1"/>
          <p:nvPr/>
        </p:nvSpPr>
        <p:spPr>
          <a:xfrm>
            <a:off x="2278670" y="4524507"/>
            <a:ext cx="30489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0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594664" y="3124216"/>
            <a:ext cx="348893" cy="34889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TextBox 76"/>
          <p:cNvSpPr txBox="1"/>
          <p:nvPr/>
        </p:nvSpPr>
        <p:spPr>
          <a:xfrm>
            <a:off x="2624416" y="3119166"/>
            <a:ext cx="30489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0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594664" y="3472778"/>
            <a:ext cx="348893" cy="34889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TextBox 78"/>
          <p:cNvSpPr txBox="1"/>
          <p:nvPr/>
        </p:nvSpPr>
        <p:spPr>
          <a:xfrm>
            <a:off x="2624416" y="3467728"/>
            <a:ext cx="30489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0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594664" y="3821671"/>
            <a:ext cx="348893" cy="34889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TextBox 80"/>
          <p:cNvSpPr txBox="1"/>
          <p:nvPr/>
        </p:nvSpPr>
        <p:spPr>
          <a:xfrm>
            <a:off x="2624416" y="3816621"/>
            <a:ext cx="30489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0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594664" y="4175614"/>
            <a:ext cx="348893" cy="34889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TextBox 82"/>
          <p:cNvSpPr txBox="1"/>
          <p:nvPr/>
        </p:nvSpPr>
        <p:spPr>
          <a:xfrm>
            <a:off x="2624416" y="4170564"/>
            <a:ext cx="30489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0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594664" y="4529557"/>
            <a:ext cx="348893" cy="34889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TextBox 84"/>
          <p:cNvSpPr txBox="1"/>
          <p:nvPr/>
        </p:nvSpPr>
        <p:spPr>
          <a:xfrm>
            <a:off x="2624416" y="4524507"/>
            <a:ext cx="30489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0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950394" y="3124216"/>
            <a:ext cx="348893" cy="34889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TextBox 86"/>
          <p:cNvSpPr txBox="1"/>
          <p:nvPr/>
        </p:nvSpPr>
        <p:spPr>
          <a:xfrm>
            <a:off x="2980146" y="3119166"/>
            <a:ext cx="30489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0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950394" y="3472778"/>
            <a:ext cx="348893" cy="34889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TextBox 88"/>
          <p:cNvSpPr txBox="1"/>
          <p:nvPr/>
        </p:nvSpPr>
        <p:spPr>
          <a:xfrm>
            <a:off x="2980146" y="3467728"/>
            <a:ext cx="30489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0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950394" y="3821671"/>
            <a:ext cx="348893" cy="34889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TextBox 90"/>
          <p:cNvSpPr txBox="1"/>
          <p:nvPr/>
        </p:nvSpPr>
        <p:spPr>
          <a:xfrm>
            <a:off x="2980146" y="3816621"/>
            <a:ext cx="30489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0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950394" y="4175614"/>
            <a:ext cx="348893" cy="34889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TextBox 92"/>
          <p:cNvSpPr txBox="1"/>
          <p:nvPr/>
        </p:nvSpPr>
        <p:spPr>
          <a:xfrm>
            <a:off x="2980146" y="4170564"/>
            <a:ext cx="30489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0</a:t>
            </a:r>
          </a:p>
        </p:txBody>
      </p:sp>
      <p:sp>
        <p:nvSpPr>
          <p:cNvPr id="94" name="Rectangle 93"/>
          <p:cNvSpPr/>
          <p:nvPr/>
        </p:nvSpPr>
        <p:spPr>
          <a:xfrm>
            <a:off x="2950394" y="4529557"/>
            <a:ext cx="348893" cy="34889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TextBox 94"/>
          <p:cNvSpPr txBox="1"/>
          <p:nvPr/>
        </p:nvSpPr>
        <p:spPr>
          <a:xfrm>
            <a:off x="2980146" y="4524507"/>
            <a:ext cx="30489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0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299116" y="3124216"/>
            <a:ext cx="348893" cy="34889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TextBox 96"/>
          <p:cNvSpPr txBox="1"/>
          <p:nvPr/>
        </p:nvSpPr>
        <p:spPr>
          <a:xfrm>
            <a:off x="3328868" y="3119166"/>
            <a:ext cx="30489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0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299116" y="3472778"/>
            <a:ext cx="348893" cy="34889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TextBox 98"/>
          <p:cNvSpPr txBox="1"/>
          <p:nvPr/>
        </p:nvSpPr>
        <p:spPr>
          <a:xfrm>
            <a:off x="3328868" y="3467728"/>
            <a:ext cx="30489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0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299116" y="3821671"/>
            <a:ext cx="348893" cy="34889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TextBox 100"/>
          <p:cNvSpPr txBox="1"/>
          <p:nvPr/>
        </p:nvSpPr>
        <p:spPr>
          <a:xfrm>
            <a:off x="3328868" y="3816621"/>
            <a:ext cx="30489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0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299116" y="4175614"/>
            <a:ext cx="348893" cy="34889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TextBox 102"/>
          <p:cNvSpPr txBox="1"/>
          <p:nvPr/>
        </p:nvSpPr>
        <p:spPr>
          <a:xfrm>
            <a:off x="3328868" y="4170564"/>
            <a:ext cx="30489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0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299116" y="4529557"/>
            <a:ext cx="348893" cy="34889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TextBox 104"/>
          <p:cNvSpPr txBox="1"/>
          <p:nvPr/>
        </p:nvSpPr>
        <p:spPr>
          <a:xfrm>
            <a:off x="3328868" y="4524507"/>
            <a:ext cx="30489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0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570002" y="3132277"/>
            <a:ext cx="30489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570002" y="3480839"/>
            <a:ext cx="25680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570002" y="3829732"/>
            <a:ext cx="296876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2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570002" y="4183675"/>
            <a:ext cx="30008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3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570002" y="4537618"/>
            <a:ext cx="308098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4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906240" y="2811088"/>
            <a:ext cx="30489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2261970" y="2811088"/>
            <a:ext cx="25680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1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2607716" y="2811088"/>
            <a:ext cx="296876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2963446" y="2811088"/>
            <a:ext cx="30008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3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312168" y="2811088"/>
            <a:ext cx="308098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4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3297392" y="3824196"/>
            <a:ext cx="348893" cy="348893"/>
          </a:xfrm>
          <a:prstGeom prst="rect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TextBox 128"/>
          <p:cNvSpPr txBox="1"/>
          <p:nvPr/>
        </p:nvSpPr>
        <p:spPr>
          <a:xfrm>
            <a:off x="3344236" y="3819146"/>
            <a:ext cx="25680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1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5567163" y="2953564"/>
            <a:ext cx="723275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 err="1">
                <a:latin typeface="Bahnschrift" panose="020B0502040204020203" pitchFamily="34" charset="0"/>
              </a:rPr>
              <a:t>adj</a:t>
            </a:r>
            <a:r>
              <a:rPr lang="en-US" sz="1700" dirty="0">
                <a:latin typeface="Bahnschrift" panose="020B0502040204020203" pitchFamily="34" charset="0"/>
              </a:rPr>
              <a:t>[0]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5567446" y="3361407"/>
            <a:ext cx="675185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 err="1">
                <a:latin typeface="Bahnschrift" panose="020B0502040204020203" pitchFamily="34" charset="0"/>
              </a:rPr>
              <a:t>adj</a:t>
            </a:r>
            <a:r>
              <a:rPr lang="en-US" sz="1700" dirty="0">
                <a:latin typeface="Bahnschrift" panose="020B0502040204020203" pitchFamily="34" charset="0"/>
              </a:rPr>
              <a:t>[1]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5558345" y="3769250"/>
            <a:ext cx="715260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 err="1">
                <a:latin typeface="Bahnschrift" panose="020B0502040204020203" pitchFamily="34" charset="0"/>
              </a:rPr>
              <a:t>adj</a:t>
            </a:r>
            <a:r>
              <a:rPr lang="en-US" sz="1700" dirty="0">
                <a:latin typeface="Bahnschrift" panose="020B0502040204020203" pitchFamily="34" charset="0"/>
              </a:rPr>
              <a:t>[2]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5555975" y="4197449"/>
            <a:ext cx="718466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 err="1">
                <a:latin typeface="Bahnschrift" panose="020B0502040204020203" pitchFamily="34" charset="0"/>
              </a:rPr>
              <a:t>adj</a:t>
            </a:r>
            <a:r>
              <a:rPr lang="en-US" sz="1700" dirty="0">
                <a:latin typeface="Bahnschrift" panose="020B0502040204020203" pitchFamily="34" charset="0"/>
              </a:rPr>
              <a:t>[3]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5555942" y="4605292"/>
            <a:ext cx="726481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 err="1">
                <a:latin typeface="Bahnschrift" panose="020B0502040204020203" pitchFamily="34" charset="0"/>
              </a:rPr>
              <a:t>adj</a:t>
            </a:r>
            <a:r>
              <a:rPr lang="en-US" sz="1700" dirty="0">
                <a:latin typeface="Bahnschrift" panose="020B0502040204020203" pitchFamily="34" charset="0"/>
              </a:rPr>
              <a:t>[4]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6282033" y="3387946"/>
            <a:ext cx="348893" cy="348893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TextBox 135"/>
          <p:cNvSpPr txBox="1"/>
          <p:nvPr/>
        </p:nvSpPr>
        <p:spPr>
          <a:xfrm>
            <a:off x="6318698" y="3382896"/>
            <a:ext cx="296876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2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6630926" y="3387946"/>
            <a:ext cx="348893" cy="348893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TextBox 137"/>
          <p:cNvSpPr txBox="1"/>
          <p:nvPr/>
        </p:nvSpPr>
        <p:spPr>
          <a:xfrm>
            <a:off x="6667591" y="3382896"/>
            <a:ext cx="30008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3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6271692" y="2993589"/>
            <a:ext cx="348893" cy="348893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TextBox 139"/>
          <p:cNvSpPr txBox="1"/>
          <p:nvPr/>
        </p:nvSpPr>
        <p:spPr>
          <a:xfrm>
            <a:off x="6308357" y="2988539"/>
            <a:ext cx="25680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1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6276379" y="3794656"/>
            <a:ext cx="348893" cy="348893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TextBox 145"/>
          <p:cNvSpPr txBox="1"/>
          <p:nvPr/>
        </p:nvSpPr>
        <p:spPr>
          <a:xfrm>
            <a:off x="6313044" y="3789606"/>
            <a:ext cx="308098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4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6284925" y="4202499"/>
            <a:ext cx="348893" cy="348893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TextBox 147"/>
          <p:cNvSpPr txBox="1"/>
          <p:nvPr/>
        </p:nvSpPr>
        <p:spPr>
          <a:xfrm>
            <a:off x="6321590" y="4197449"/>
            <a:ext cx="296876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2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6633818" y="4202499"/>
            <a:ext cx="348893" cy="348893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TextBox 149"/>
          <p:cNvSpPr txBox="1"/>
          <p:nvPr/>
        </p:nvSpPr>
        <p:spPr>
          <a:xfrm>
            <a:off x="6670483" y="4197449"/>
            <a:ext cx="30489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0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2595931" y="3475303"/>
            <a:ext cx="348893" cy="348893"/>
          </a:xfrm>
          <a:prstGeom prst="rect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TextBox 151"/>
          <p:cNvSpPr txBox="1"/>
          <p:nvPr/>
        </p:nvSpPr>
        <p:spPr>
          <a:xfrm>
            <a:off x="2642775" y="3470253"/>
            <a:ext cx="25680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1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2253500" y="3124051"/>
            <a:ext cx="348893" cy="348893"/>
          </a:xfrm>
          <a:prstGeom prst="rect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TextBox 153"/>
          <p:cNvSpPr txBox="1"/>
          <p:nvPr/>
        </p:nvSpPr>
        <p:spPr>
          <a:xfrm>
            <a:off x="2300344" y="3119001"/>
            <a:ext cx="25680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1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2954892" y="3475303"/>
            <a:ext cx="348893" cy="348893"/>
          </a:xfrm>
          <a:prstGeom prst="rect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TextBox 155"/>
          <p:cNvSpPr txBox="1"/>
          <p:nvPr/>
        </p:nvSpPr>
        <p:spPr>
          <a:xfrm>
            <a:off x="3001736" y="3470253"/>
            <a:ext cx="25680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1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2594731" y="4175283"/>
            <a:ext cx="348893" cy="348893"/>
          </a:xfrm>
          <a:prstGeom prst="rect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TextBox 157"/>
          <p:cNvSpPr txBox="1"/>
          <p:nvPr/>
        </p:nvSpPr>
        <p:spPr>
          <a:xfrm>
            <a:off x="2641575" y="4170233"/>
            <a:ext cx="25680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1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1893914" y="4175283"/>
            <a:ext cx="348893" cy="348893"/>
          </a:xfrm>
          <a:prstGeom prst="rect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" name="TextBox 159"/>
          <p:cNvSpPr txBox="1"/>
          <p:nvPr/>
        </p:nvSpPr>
        <p:spPr>
          <a:xfrm>
            <a:off x="1940758" y="4170233"/>
            <a:ext cx="25680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1</a:t>
            </a:r>
          </a:p>
        </p:txBody>
      </p:sp>
      <p:sp>
        <p:nvSpPr>
          <p:cNvPr id="161" name="Oval 160"/>
          <p:cNvSpPr/>
          <p:nvPr/>
        </p:nvSpPr>
        <p:spPr>
          <a:xfrm>
            <a:off x="9212988" y="2275491"/>
            <a:ext cx="487110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" name="Oval 161"/>
          <p:cNvSpPr/>
          <p:nvPr/>
        </p:nvSpPr>
        <p:spPr>
          <a:xfrm>
            <a:off x="8725878" y="2949184"/>
            <a:ext cx="487110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Oval 162"/>
          <p:cNvSpPr/>
          <p:nvPr/>
        </p:nvSpPr>
        <p:spPr>
          <a:xfrm>
            <a:off x="10416521" y="2275491"/>
            <a:ext cx="487110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" name="Oval 163"/>
          <p:cNvSpPr/>
          <p:nvPr/>
        </p:nvSpPr>
        <p:spPr>
          <a:xfrm>
            <a:off x="9816891" y="3192739"/>
            <a:ext cx="487110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Oval 164"/>
          <p:cNvSpPr/>
          <p:nvPr/>
        </p:nvSpPr>
        <p:spPr>
          <a:xfrm>
            <a:off x="9329781" y="4050417"/>
            <a:ext cx="487110" cy="48711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" name="TextBox 165"/>
          <p:cNvSpPr txBox="1"/>
          <p:nvPr/>
        </p:nvSpPr>
        <p:spPr>
          <a:xfrm>
            <a:off x="10504424" y="2321933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0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9300891" y="2321933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1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8820902" y="3008073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2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9903895" y="325162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3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9418486" y="4109306"/>
            <a:ext cx="316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4</a:t>
            </a:r>
          </a:p>
        </p:txBody>
      </p:sp>
      <p:cxnSp>
        <p:nvCxnSpPr>
          <p:cNvPr id="171" name="Straight Arrow Connector 170"/>
          <p:cNvCxnSpPr>
            <a:stCxn id="161" idx="3"/>
            <a:endCxn id="162" idx="0"/>
          </p:cNvCxnSpPr>
          <p:nvPr/>
        </p:nvCxnSpPr>
        <p:spPr>
          <a:xfrm flipH="1">
            <a:off x="8969433" y="2691265"/>
            <a:ext cx="314891" cy="25791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Arrow Connector 171"/>
          <p:cNvCxnSpPr>
            <a:stCxn id="161" idx="5"/>
            <a:endCxn id="164" idx="1"/>
          </p:cNvCxnSpPr>
          <p:nvPr/>
        </p:nvCxnSpPr>
        <p:spPr>
          <a:xfrm>
            <a:off x="9628762" y="2691265"/>
            <a:ext cx="259465" cy="57281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Arrow Connector 172"/>
          <p:cNvCxnSpPr>
            <a:stCxn id="164" idx="7"/>
            <a:endCxn id="163" idx="4"/>
          </p:cNvCxnSpPr>
          <p:nvPr/>
        </p:nvCxnSpPr>
        <p:spPr>
          <a:xfrm flipV="1">
            <a:off x="10232665" y="2762601"/>
            <a:ext cx="427411" cy="50147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Arrow Connector 173"/>
          <p:cNvCxnSpPr>
            <a:stCxn id="162" idx="5"/>
            <a:endCxn id="165" idx="1"/>
          </p:cNvCxnSpPr>
          <p:nvPr/>
        </p:nvCxnSpPr>
        <p:spPr>
          <a:xfrm>
            <a:off x="9141652" y="3364958"/>
            <a:ext cx="259465" cy="75679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Arrow Connector 174"/>
          <p:cNvCxnSpPr>
            <a:stCxn id="163" idx="2"/>
            <a:endCxn id="161" idx="6"/>
          </p:cNvCxnSpPr>
          <p:nvPr/>
        </p:nvCxnSpPr>
        <p:spPr>
          <a:xfrm flipH="1">
            <a:off x="9700098" y="2519046"/>
            <a:ext cx="71642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Arrow Connector 175"/>
          <p:cNvCxnSpPr>
            <a:stCxn id="164" idx="2"/>
            <a:endCxn id="162" idx="6"/>
          </p:cNvCxnSpPr>
          <p:nvPr/>
        </p:nvCxnSpPr>
        <p:spPr>
          <a:xfrm flipH="1" flipV="1">
            <a:off x="9212988" y="3192739"/>
            <a:ext cx="603903" cy="24355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3" name="TextBox 182"/>
          <p:cNvSpPr txBox="1"/>
          <p:nvPr/>
        </p:nvSpPr>
        <p:spPr>
          <a:xfrm>
            <a:off x="1097279" y="1877382"/>
            <a:ext cx="4015843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700" dirty="0">
                <a:latin typeface="Bahnschrift" panose="020B0502040204020203" pitchFamily="34" charset="0"/>
              </a:rPr>
              <a:t>Find the adjacent vertices of vertex-3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flipV="1">
            <a:off x="1397332" y="4352100"/>
            <a:ext cx="2606467" cy="1709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6" name="TextBox 185"/>
          <p:cNvSpPr txBox="1"/>
          <p:nvPr/>
        </p:nvSpPr>
        <p:spPr>
          <a:xfrm>
            <a:off x="1084555" y="5137241"/>
            <a:ext cx="2903359" cy="8771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for(</a:t>
            </a:r>
            <a:r>
              <a:rPr lang="en-US" sz="1700" dirty="0" err="1">
                <a:latin typeface="Bahnschrift" panose="020B0502040204020203" pitchFamily="34" charset="0"/>
              </a:rPr>
              <a:t>i</a:t>
            </a:r>
            <a:r>
              <a:rPr lang="en-US" sz="1700" dirty="0">
                <a:latin typeface="Bahnschrift" panose="020B0502040204020203" pitchFamily="34" charset="0"/>
              </a:rPr>
              <a:t>=0; </a:t>
            </a:r>
            <a:r>
              <a:rPr lang="en-US" sz="1700" dirty="0" err="1">
                <a:latin typeface="Bahnschrift" panose="020B0502040204020203" pitchFamily="34" charset="0"/>
              </a:rPr>
              <a:t>i</a:t>
            </a:r>
            <a:r>
              <a:rPr lang="en-US" sz="1700" dirty="0">
                <a:latin typeface="Bahnschrift" panose="020B0502040204020203" pitchFamily="34" charset="0"/>
              </a:rPr>
              <a:t>&lt;n; </a:t>
            </a:r>
            <a:r>
              <a:rPr lang="en-US" sz="1700" dirty="0" err="1">
                <a:latin typeface="Bahnschrift" panose="020B0502040204020203" pitchFamily="34" charset="0"/>
              </a:rPr>
              <a:t>i</a:t>
            </a:r>
            <a:r>
              <a:rPr lang="en-US" sz="1700" dirty="0">
                <a:latin typeface="Bahnschrift" panose="020B0502040204020203" pitchFamily="34" charset="0"/>
              </a:rPr>
              <a:t>++){      //n=5 here</a:t>
            </a:r>
          </a:p>
          <a:p>
            <a:endParaRPr lang="en-US" sz="1700" dirty="0">
              <a:latin typeface="Bahnschrift" panose="020B0502040204020203" pitchFamily="34" charset="0"/>
            </a:endParaRPr>
          </a:p>
          <a:p>
            <a:r>
              <a:rPr lang="en-US" sz="1700" dirty="0">
                <a:latin typeface="Bahnschrift" panose="020B0502040204020203" pitchFamily="34" charset="0"/>
              </a:rPr>
              <a:t>}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1415374" y="5465275"/>
            <a:ext cx="2869696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if(</a:t>
            </a:r>
            <a:r>
              <a:rPr lang="en-US" sz="1700" dirty="0" err="1">
                <a:latin typeface="Bahnschrift" panose="020B0502040204020203" pitchFamily="34" charset="0"/>
              </a:rPr>
              <a:t>adj</a:t>
            </a:r>
            <a:r>
              <a:rPr lang="en-US" sz="1700" dirty="0">
                <a:latin typeface="Bahnschrift" panose="020B0502040204020203" pitchFamily="34" charset="0"/>
              </a:rPr>
              <a:t>[3][</a:t>
            </a:r>
            <a:r>
              <a:rPr lang="en-US" sz="1700" dirty="0" err="1">
                <a:latin typeface="Bahnschrift" panose="020B0502040204020203" pitchFamily="34" charset="0"/>
              </a:rPr>
              <a:t>i</a:t>
            </a:r>
            <a:r>
              <a:rPr lang="en-US" sz="1700" dirty="0">
                <a:latin typeface="Bahnschrift" panose="020B0502040204020203" pitchFamily="34" charset="0"/>
              </a:rPr>
              <a:t>]==1) {</a:t>
            </a:r>
            <a:r>
              <a:rPr lang="en-US" sz="1700" dirty="0" err="1">
                <a:latin typeface="Bahnschrift" panose="020B0502040204020203" pitchFamily="34" charset="0"/>
              </a:rPr>
              <a:t>printf</a:t>
            </a:r>
            <a:r>
              <a:rPr lang="en-US" sz="1700" dirty="0">
                <a:latin typeface="Bahnschrift" panose="020B0502040204020203" pitchFamily="34" charset="0"/>
              </a:rPr>
              <a:t>(“%d “, </a:t>
            </a:r>
            <a:r>
              <a:rPr lang="en-US" sz="1700" dirty="0" err="1">
                <a:latin typeface="Bahnschrift" panose="020B0502040204020203" pitchFamily="34" charset="0"/>
              </a:rPr>
              <a:t>i</a:t>
            </a:r>
            <a:r>
              <a:rPr lang="en-US" sz="1700" dirty="0">
                <a:latin typeface="Bahnschrift" panose="020B0502040204020203" pitchFamily="34" charset="0"/>
              </a:rPr>
              <a:t>);</a:t>
            </a:r>
          </a:p>
        </p:txBody>
      </p:sp>
      <p:cxnSp>
        <p:nvCxnSpPr>
          <p:cNvPr id="188" name="Straight Arrow Connector 187"/>
          <p:cNvCxnSpPr/>
          <p:nvPr/>
        </p:nvCxnSpPr>
        <p:spPr>
          <a:xfrm flipV="1">
            <a:off x="5283172" y="4393562"/>
            <a:ext cx="2606467" cy="1709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9" name="TextBox 188"/>
          <p:cNvSpPr txBox="1"/>
          <p:nvPr/>
        </p:nvSpPr>
        <p:spPr>
          <a:xfrm>
            <a:off x="5280238" y="5139076"/>
            <a:ext cx="2731838" cy="8771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for(</a:t>
            </a:r>
            <a:r>
              <a:rPr lang="en-US" sz="1700" dirty="0" err="1">
                <a:latin typeface="Bahnschrift" panose="020B0502040204020203" pitchFamily="34" charset="0"/>
              </a:rPr>
              <a:t>i</a:t>
            </a:r>
            <a:r>
              <a:rPr lang="en-US" sz="1700" dirty="0">
                <a:latin typeface="Bahnschrift" panose="020B0502040204020203" pitchFamily="34" charset="0"/>
              </a:rPr>
              <a:t>=0; </a:t>
            </a:r>
            <a:r>
              <a:rPr lang="en-US" sz="1700" dirty="0" err="1">
                <a:latin typeface="Bahnschrift" panose="020B0502040204020203" pitchFamily="34" charset="0"/>
              </a:rPr>
              <a:t>i</a:t>
            </a:r>
            <a:r>
              <a:rPr lang="en-US" sz="1700" dirty="0">
                <a:latin typeface="Bahnschrift" panose="020B0502040204020203" pitchFamily="34" charset="0"/>
              </a:rPr>
              <a:t>&lt;</a:t>
            </a:r>
            <a:r>
              <a:rPr lang="en-US" sz="1700" dirty="0" err="1">
                <a:latin typeface="Bahnschrift" panose="020B0502040204020203" pitchFamily="34" charset="0"/>
              </a:rPr>
              <a:t>adj</a:t>
            </a:r>
            <a:r>
              <a:rPr lang="en-US" sz="1700" dirty="0">
                <a:latin typeface="Bahnschrift" panose="020B0502040204020203" pitchFamily="34" charset="0"/>
              </a:rPr>
              <a:t>[3].size(); </a:t>
            </a:r>
            <a:r>
              <a:rPr lang="en-US" sz="1700" dirty="0" err="1">
                <a:latin typeface="Bahnschrift" panose="020B0502040204020203" pitchFamily="34" charset="0"/>
              </a:rPr>
              <a:t>i</a:t>
            </a:r>
            <a:r>
              <a:rPr lang="en-US" sz="1700" dirty="0">
                <a:latin typeface="Bahnschrift" panose="020B0502040204020203" pitchFamily="34" charset="0"/>
              </a:rPr>
              <a:t>++){ </a:t>
            </a:r>
          </a:p>
          <a:p>
            <a:endParaRPr lang="en-US" sz="1700" dirty="0">
              <a:latin typeface="Bahnschrift" panose="020B0502040204020203" pitchFamily="34" charset="0"/>
            </a:endParaRPr>
          </a:p>
          <a:p>
            <a:r>
              <a:rPr lang="en-US" sz="1700" dirty="0">
                <a:latin typeface="Bahnschrift" panose="020B0502040204020203" pitchFamily="34" charset="0"/>
              </a:rPr>
              <a:t>}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5611057" y="5467110"/>
            <a:ext cx="2153154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 err="1">
                <a:latin typeface="Bahnschrift" panose="020B0502040204020203" pitchFamily="34" charset="0"/>
              </a:rPr>
              <a:t>printf</a:t>
            </a:r>
            <a:r>
              <a:rPr lang="en-US" sz="1700" dirty="0">
                <a:latin typeface="Bahnschrift" panose="020B0502040204020203" pitchFamily="34" charset="0"/>
              </a:rPr>
              <a:t>(“%d “, </a:t>
            </a:r>
            <a:r>
              <a:rPr lang="en-US" sz="1700" dirty="0" err="1">
                <a:latin typeface="Bahnschrift" panose="020B0502040204020203" pitchFamily="34" charset="0"/>
              </a:rPr>
              <a:t>adj</a:t>
            </a:r>
            <a:r>
              <a:rPr lang="en-US" sz="1700" dirty="0">
                <a:latin typeface="Bahnschrift" panose="020B0502040204020203" pitchFamily="34" charset="0"/>
              </a:rPr>
              <a:t>[3][</a:t>
            </a:r>
            <a:r>
              <a:rPr lang="en-US" sz="1700" dirty="0" err="1">
                <a:latin typeface="Bahnschrift" panose="020B0502040204020203" pitchFamily="34" charset="0"/>
              </a:rPr>
              <a:t>i</a:t>
            </a:r>
            <a:r>
              <a:rPr lang="en-US" sz="1700" dirty="0">
                <a:latin typeface="Bahnschrift" panose="020B0502040204020203" pitchFamily="34" charset="0"/>
              </a:rPr>
              <a:t>]);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1BE47-5375-47AD-9497-4312D2902892}" type="datetime1">
              <a:rPr lang="en-US" smtClean="0"/>
              <a:t>30-Sep-24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SWAPNIL BISWAS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510A0-FB96-4102-84E6-46674F03B94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478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8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0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6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9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2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5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8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1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4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7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0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3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6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9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2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5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8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9" fill="hold">
                      <p:stCondLst>
                        <p:cond delay="indefinite"/>
                      </p:stCondLst>
                      <p:childTnLst>
                        <p:par>
                          <p:cTn id="290" fill="hold">
                            <p:stCondLst>
                              <p:cond delay="0"/>
                            </p:stCondLst>
                            <p:childTnLst>
                              <p:par>
                                <p:cTn id="29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4" fill="hold">
                      <p:stCondLst>
                        <p:cond delay="indefinite"/>
                      </p:stCondLst>
                      <p:childTnLst>
                        <p:par>
                          <p:cTn id="295" fill="hold">
                            <p:stCondLst>
                              <p:cond delay="0"/>
                            </p:stCondLst>
                            <p:childTnLst>
                              <p:par>
                                <p:cTn id="29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8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1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2" fill="hold">
                      <p:stCondLst>
                        <p:cond delay="indefinite"/>
                      </p:stCondLst>
                      <p:childTnLst>
                        <p:par>
                          <p:cTn id="303" fill="hold">
                            <p:stCondLst>
                              <p:cond delay="0"/>
                            </p:stCondLst>
                            <p:childTnLst>
                              <p:par>
                                <p:cTn id="30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6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7" fill="hold">
                      <p:stCondLst>
                        <p:cond delay="indefinite"/>
                      </p:stCondLst>
                      <p:childTnLst>
                        <p:par>
                          <p:cTn id="308" fill="hold">
                            <p:stCondLst>
                              <p:cond delay="0"/>
                            </p:stCondLst>
                            <p:childTnLst>
                              <p:par>
                                <p:cTn id="30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1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4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39" grpId="0"/>
      <p:bldP spid="45" grpId="0" animBg="1"/>
      <p:bldP spid="55" grpId="0"/>
      <p:bldP spid="56" grpId="0" animBg="1"/>
      <p:bldP spid="57" grpId="0"/>
      <p:bldP spid="58" grpId="0" animBg="1"/>
      <p:bldP spid="59" grpId="0"/>
      <p:bldP spid="60" grpId="0" animBg="1"/>
      <p:bldP spid="61" grpId="0"/>
      <p:bldP spid="62" grpId="0" animBg="1"/>
      <p:bldP spid="65" grpId="0"/>
      <p:bldP spid="66" grpId="0" animBg="1"/>
      <p:bldP spid="67" grpId="0"/>
      <p:bldP spid="68" grpId="0" animBg="1"/>
      <p:bldP spid="69" grpId="0"/>
      <p:bldP spid="70" grpId="0" animBg="1"/>
      <p:bldP spid="71" grpId="0"/>
      <p:bldP spid="72" grpId="0" animBg="1"/>
      <p:bldP spid="73" grpId="0"/>
      <p:bldP spid="74" grpId="0" animBg="1"/>
      <p:bldP spid="75" grpId="0"/>
      <p:bldP spid="76" grpId="0" animBg="1"/>
      <p:bldP spid="77" grpId="0"/>
      <p:bldP spid="78" grpId="0" animBg="1"/>
      <p:bldP spid="79" grpId="0"/>
      <p:bldP spid="80" grpId="0" animBg="1"/>
      <p:bldP spid="81" grpId="0"/>
      <p:bldP spid="82" grpId="0" animBg="1"/>
      <p:bldP spid="83" grpId="0"/>
      <p:bldP spid="84" grpId="0" animBg="1"/>
      <p:bldP spid="85" grpId="0"/>
      <p:bldP spid="86" grpId="0" animBg="1"/>
      <p:bldP spid="87" grpId="0"/>
      <p:bldP spid="88" grpId="0" animBg="1"/>
      <p:bldP spid="89" grpId="0"/>
      <p:bldP spid="90" grpId="0" animBg="1"/>
      <p:bldP spid="91" grpId="0"/>
      <p:bldP spid="92" grpId="0" animBg="1"/>
      <p:bldP spid="93" grpId="0"/>
      <p:bldP spid="94" grpId="0" animBg="1"/>
      <p:bldP spid="95" grpId="0"/>
      <p:bldP spid="96" grpId="0" animBg="1"/>
      <p:bldP spid="97" grpId="0"/>
      <p:bldP spid="98" grpId="0" animBg="1"/>
      <p:bldP spid="99" grpId="0"/>
      <p:bldP spid="100" grpId="0" animBg="1"/>
      <p:bldP spid="101" grpId="0"/>
      <p:bldP spid="102" grpId="0" animBg="1"/>
      <p:bldP spid="103" grpId="0"/>
      <p:bldP spid="104" grpId="0" animBg="1"/>
      <p:bldP spid="105" grpId="0"/>
      <p:bldP spid="106" grpId="0"/>
      <p:bldP spid="107" grpId="0"/>
      <p:bldP spid="108" grpId="0"/>
      <p:bldP spid="109" grpId="0"/>
      <p:bldP spid="113" grpId="0"/>
      <p:bldP spid="114" grpId="0"/>
      <p:bldP spid="115" grpId="0"/>
      <p:bldP spid="116" grpId="0"/>
      <p:bldP spid="117" grpId="0"/>
      <p:bldP spid="118" grpId="0"/>
      <p:bldP spid="128" grpId="0" animBg="1"/>
      <p:bldP spid="129" grpId="0"/>
      <p:bldP spid="130" grpId="0"/>
      <p:bldP spid="131" grpId="0"/>
      <p:bldP spid="132" grpId="0"/>
      <p:bldP spid="133" grpId="0"/>
      <p:bldP spid="134" grpId="0"/>
      <p:bldP spid="135" grpId="0" animBg="1"/>
      <p:bldP spid="136" grpId="0"/>
      <p:bldP spid="137" grpId="0" animBg="1"/>
      <p:bldP spid="138" grpId="0"/>
      <p:bldP spid="139" grpId="0" animBg="1"/>
      <p:bldP spid="140" grpId="0"/>
      <p:bldP spid="141" grpId="0" animBg="1"/>
      <p:bldP spid="146" grpId="0"/>
      <p:bldP spid="147" grpId="0" animBg="1"/>
      <p:bldP spid="148" grpId="0"/>
      <p:bldP spid="149" grpId="0" animBg="1"/>
      <p:bldP spid="150" grpId="0"/>
      <p:bldP spid="151" grpId="0" animBg="1"/>
      <p:bldP spid="152" grpId="0"/>
      <p:bldP spid="153" grpId="0" animBg="1"/>
      <p:bldP spid="154" grpId="0"/>
      <p:bldP spid="155" grpId="0" animBg="1"/>
      <p:bldP spid="156" grpId="0"/>
      <p:bldP spid="157" grpId="0" animBg="1"/>
      <p:bldP spid="158" grpId="0"/>
      <p:bldP spid="159" grpId="0" animBg="1"/>
      <p:bldP spid="160" grpId="0"/>
      <p:bldP spid="183" grpId="0"/>
      <p:bldP spid="186" grpId="0"/>
      <p:bldP spid="187" grpId="0"/>
      <p:bldP spid="189" grpId="0"/>
      <p:bldP spid="19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 and Answers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1097279" y="1877382"/>
            <a:ext cx="8177239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700" dirty="0">
                <a:latin typeface="Bahnschrift" panose="020B0502040204020203" pitchFamily="34" charset="0"/>
              </a:rPr>
              <a:t>Is the adjacency sequence same for Adjacency matrix and Adjacency list method?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384242" y="2183229"/>
            <a:ext cx="2053767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Bahnschrift" panose="020B0502040204020203" pitchFamily="34" charset="0"/>
              </a:rPr>
              <a:t>May not be same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392076" y="2463692"/>
            <a:ext cx="6595075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Bahnschrift" panose="020B0502040204020203" pitchFamily="34" charset="0"/>
              </a:rPr>
              <a:t>Adjacency matrix provides sorted sequence of adjacent vertices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403461" y="2786904"/>
            <a:ext cx="6582251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Bahnschrift" panose="020B0502040204020203" pitchFamily="34" charset="0"/>
              </a:rPr>
              <a:t>Adjacency list preserves the input sequence of adjacent vertices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097279" y="3287087"/>
            <a:ext cx="6135013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700" dirty="0">
                <a:latin typeface="Bahnschrift" panose="020B0502040204020203" pitchFamily="34" charset="0"/>
              </a:rPr>
              <a:t>How to check whether an edge (u  v) exists in a graph or not?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403462" y="3696425"/>
            <a:ext cx="2222083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Bahnschrift" panose="020B0502040204020203" pitchFamily="34" charset="0"/>
              </a:rPr>
              <a:t>Adjacency matrix: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675503" y="4105763"/>
            <a:ext cx="1503938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if(</a:t>
            </a:r>
            <a:r>
              <a:rPr lang="en-US" sz="1700" dirty="0" err="1">
                <a:latin typeface="Bahnschrift" panose="020B0502040204020203" pitchFamily="34" charset="0"/>
              </a:rPr>
              <a:t>adj</a:t>
            </a:r>
            <a:r>
              <a:rPr lang="en-US" sz="1700" dirty="0">
                <a:latin typeface="Bahnschrift" panose="020B0502040204020203" pitchFamily="34" charset="0"/>
              </a:rPr>
              <a:t>[u][v]==1)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3184249" y="4105763"/>
            <a:ext cx="214674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 err="1">
                <a:latin typeface="Bahnschrift" panose="020B0502040204020203" pitchFamily="34" charset="0"/>
              </a:rPr>
              <a:t>printf</a:t>
            </a:r>
            <a:r>
              <a:rPr lang="en-US" sz="1700" dirty="0">
                <a:latin typeface="Bahnschrift" panose="020B0502040204020203" pitchFamily="34" charset="0"/>
              </a:rPr>
              <a:t>(“Edge exists”);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675503" y="4459706"/>
            <a:ext cx="595035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else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3184249" y="4459706"/>
            <a:ext cx="214674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 err="1">
                <a:latin typeface="Bahnschrift" panose="020B0502040204020203" pitchFamily="34" charset="0"/>
              </a:rPr>
              <a:t>printf</a:t>
            </a:r>
            <a:r>
              <a:rPr lang="en-US" sz="1700" dirty="0">
                <a:latin typeface="Bahnschrift" panose="020B0502040204020203" pitchFamily="34" charset="0"/>
              </a:rPr>
              <a:t>(“Edge exists”);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6365216" y="3696425"/>
            <a:ext cx="1854995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Bahnschrift" panose="020B0502040204020203" pitchFamily="34" charset="0"/>
              </a:rPr>
              <a:t>Adjacency list: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6637257" y="4105763"/>
            <a:ext cx="2701381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for(</a:t>
            </a:r>
            <a:r>
              <a:rPr lang="en-US" sz="1700" dirty="0" err="1">
                <a:latin typeface="Bahnschrift" panose="020B0502040204020203" pitchFamily="34" charset="0"/>
              </a:rPr>
              <a:t>i</a:t>
            </a:r>
            <a:r>
              <a:rPr lang="en-US" sz="1700" dirty="0">
                <a:latin typeface="Bahnschrift" panose="020B0502040204020203" pitchFamily="34" charset="0"/>
              </a:rPr>
              <a:t>=0; </a:t>
            </a:r>
            <a:r>
              <a:rPr lang="en-US" sz="1700" dirty="0" err="1">
                <a:latin typeface="Bahnschrift" panose="020B0502040204020203" pitchFamily="34" charset="0"/>
              </a:rPr>
              <a:t>i</a:t>
            </a:r>
            <a:r>
              <a:rPr lang="en-US" sz="1700" dirty="0">
                <a:latin typeface="Bahnschrift" panose="020B0502040204020203" pitchFamily="34" charset="0"/>
              </a:rPr>
              <a:t>&lt;</a:t>
            </a:r>
            <a:r>
              <a:rPr lang="en-US" sz="1700" dirty="0" err="1">
                <a:latin typeface="Bahnschrift" panose="020B0502040204020203" pitchFamily="34" charset="0"/>
              </a:rPr>
              <a:t>adj</a:t>
            </a:r>
            <a:r>
              <a:rPr lang="en-US" sz="1700" dirty="0">
                <a:latin typeface="Bahnschrift" panose="020B0502040204020203" pitchFamily="34" charset="0"/>
              </a:rPr>
              <a:t>[u].size(); </a:t>
            </a:r>
            <a:r>
              <a:rPr lang="en-US" sz="1700" dirty="0" err="1">
                <a:latin typeface="Bahnschrift" panose="020B0502040204020203" pitchFamily="34" charset="0"/>
              </a:rPr>
              <a:t>i</a:t>
            </a:r>
            <a:r>
              <a:rPr lang="en-US" sz="1700" dirty="0">
                <a:latin typeface="Bahnschrift" panose="020B0502040204020203" pitchFamily="34" charset="0"/>
              </a:rPr>
              <a:t>++){</a:t>
            </a:r>
          </a:p>
          <a:p>
            <a:endParaRPr lang="en-US" sz="1700" dirty="0">
              <a:latin typeface="Bahnschrift" panose="020B0502040204020203" pitchFamily="34" charset="0"/>
            </a:endParaRPr>
          </a:p>
          <a:p>
            <a:endParaRPr lang="en-US" sz="1700" dirty="0">
              <a:latin typeface="Bahnschrift" panose="020B0502040204020203" pitchFamily="34" charset="0"/>
            </a:endParaRPr>
          </a:p>
          <a:p>
            <a:r>
              <a:rPr lang="en-US" sz="1700" dirty="0">
                <a:latin typeface="Bahnschrift" panose="020B0502040204020203" pitchFamily="34" charset="0"/>
              </a:rPr>
              <a:t>}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7019345" y="4375097"/>
            <a:ext cx="1486304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if(</a:t>
            </a:r>
            <a:r>
              <a:rPr lang="en-US" sz="1700" dirty="0" err="1">
                <a:latin typeface="Bahnschrift" panose="020B0502040204020203" pitchFamily="34" charset="0"/>
              </a:rPr>
              <a:t>adj</a:t>
            </a:r>
            <a:r>
              <a:rPr lang="en-US" sz="1700" dirty="0">
                <a:latin typeface="Bahnschrift" panose="020B0502040204020203" pitchFamily="34" charset="0"/>
              </a:rPr>
              <a:t>[u][</a:t>
            </a:r>
            <a:r>
              <a:rPr lang="en-US" sz="1700" dirty="0" err="1">
                <a:latin typeface="Bahnschrift" panose="020B0502040204020203" pitchFamily="34" charset="0"/>
              </a:rPr>
              <a:t>i</a:t>
            </a:r>
            <a:r>
              <a:rPr lang="en-US" sz="1700" dirty="0">
                <a:latin typeface="Bahnschrift" panose="020B0502040204020203" pitchFamily="34" charset="0"/>
              </a:rPr>
              <a:t>]==v)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8505649" y="4375096"/>
            <a:ext cx="214674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 err="1">
                <a:latin typeface="Bahnschrift" panose="020B0502040204020203" pitchFamily="34" charset="0"/>
              </a:rPr>
              <a:t>printf</a:t>
            </a:r>
            <a:r>
              <a:rPr lang="en-US" sz="1700" dirty="0">
                <a:latin typeface="Bahnschrift" panose="020B0502040204020203" pitchFamily="34" charset="0"/>
              </a:rPr>
              <a:t>(“Edge exists”);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7019345" y="4642651"/>
            <a:ext cx="595035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else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8528091" y="4642651"/>
            <a:ext cx="214674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 err="1">
                <a:latin typeface="Bahnschrift" panose="020B0502040204020203" pitchFamily="34" charset="0"/>
              </a:rPr>
              <a:t>printf</a:t>
            </a:r>
            <a:r>
              <a:rPr lang="en-US" sz="1700" dirty="0">
                <a:latin typeface="Bahnschrift" panose="020B0502040204020203" pitchFamily="34" charset="0"/>
              </a:rPr>
              <a:t>(“Edge exists”);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1097278" y="5264148"/>
            <a:ext cx="1005840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700" dirty="0">
                <a:latin typeface="Bahnschrift" panose="020B0502040204020203" pitchFamily="34" charset="0"/>
              </a:rPr>
              <a:t>Which one is better approach to represent a graph between Adjacency Matrix and Adjacency List?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1751639" y="5737427"/>
            <a:ext cx="702436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Bahnschrift" panose="020B0502040204020203" pitchFamily="34" charset="0"/>
              </a:rPr>
              <a:t>Think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1520903" y="5767550"/>
            <a:ext cx="1145386" cy="315274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72D3D-9DEA-44BC-BDF7-B783124BAAC0}" type="datetime1">
              <a:rPr lang="en-US" smtClean="0"/>
              <a:t>30-Sep-24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SWAPNIL BISWAS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510A0-FB96-4102-84E6-46674F03B94B}" type="slidenum">
              <a:rPr lang="en-US" smtClean="0"/>
              <a:t>16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25C143-BE20-8FFF-03B9-CE11E6F2F8B3}"/>
              </a:ext>
            </a:extLst>
          </p:cNvPr>
          <p:cNvSpPr txBox="1"/>
          <p:nvPr/>
        </p:nvSpPr>
        <p:spPr>
          <a:xfrm>
            <a:off x="2897025" y="5681209"/>
            <a:ext cx="83155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i="0" dirty="0">
                <a:solidFill>
                  <a:srgbClr val="040C28"/>
                </a:solidFill>
                <a:effectLst/>
                <a:latin typeface="Google Sans"/>
              </a:rPr>
              <a:t>If you have a graph with a lot of vertices, then the adjacency list might be better</a:t>
            </a:r>
            <a:r>
              <a:rPr lang="en-US" sz="1400" b="0" i="0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Google Sans"/>
              </a:rPr>
              <a:t>. If you want to be able to quickly tell if there is an edge between two vertices, then the adjacency matrix might be better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351775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3" grpId="0"/>
      <p:bldP spid="120" grpId="0"/>
      <p:bldP spid="121" grpId="0"/>
      <p:bldP spid="122" grpId="0"/>
      <p:bldP spid="123" grpId="0"/>
      <p:bldP spid="124" grpId="0"/>
      <p:bldP spid="125" grpId="0"/>
      <p:bldP spid="126" grpId="0"/>
      <p:bldP spid="127" grpId="0"/>
      <p:bldP spid="142" grpId="0"/>
      <p:bldP spid="143" grpId="0"/>
      <p:bldP spid="144" grpId="0"/>
      <p:bldP spid="145" grpId="0"/>
      <p:bldP spid="179" grpId="0"/>
      <p:bldP spid="180" grpId="0"/>
      <p:bldP spid="181" grpId="0"/>
      <p:bldP spid="182" grpId="0"/>
      <p:bldP spid="184" grpId="0"/>
      <p:bldP spid="18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LINEAR  SEARCHING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1266348" y="2644367"/>
            <a:ext cx="495657" cy="49565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762005" y="2644367"/>
            <a:ext cx="495657" cy="49565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257662" y="2644367"/>
            <a:ext cx="495657" cy="49565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753319" y="2644366"/>
            <a:ext cx="495657" cy="49565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097280" y="1784290"/>
            <a:ext cx="23214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Array Searching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033755"/>
            <a:ext cx="2946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Linked List Searching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8524" y="319129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54181" y="319129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49838" y="319129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45495" y="319129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</a:t>
            </a:r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1514176" y="2191441"/>
            <a:ext cx="1" cy="42729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2009833" y="2191441"/>
            <a:ext cx="1" cy="42729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2488013" y="2188683"/>
            <a:ext cx="1" cy="42729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2983670" y="2188683"/>
            <a:ext cx="1" cy="42729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1360351" y="2118751"/>
            <a:ext cx="307649" cy="4984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1836154" y="2117559"/>
            <a:ext cx="307649" cy="4984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2371440" y="2117559"/>
            <a:ext cx="307649" cy="4984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5125010" y="2644367"/>
            <a:ext cx="495657" cy="49565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5620667" y="2644367"/>
            <a:ext cx="495657" cy="49565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6116324" y="2644367"/>
            <a:ext cx="495657" cy="49565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6611981" y="2644366"/>
            <a:ext cx="495657" cy="49565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/>
          <p:cNvSpPr txBox="1"/>
          <p:nvPr/>
        </p:nvSpPr>
        <p:spPr>
          <a:xfrm>
            <a:off x="5217186" y="319129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12843" y="319129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08500" y="319129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04157" y="319129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53952" y="2114126"/>
            <a:ext cx="307649" cy="4984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Arrow Connector 33"/>
          <p:cNvCxnSpPr/>
          <p:nvPr/>
        </p:nvCxnSpPr>
        <p:spPr>
          <a:xfrm>
            <a:off x="6859808" y="2153121"/>
            <a:ext cx="1" cy="42729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>
            <a:off x="6369624" y="2153121"/>
            <a:ext cx="1" cy="42729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>
            <a:off x="5868495" y="2153121"/>
            <a:ext cx="1" cy="42729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5372837" y="2153121"/>
            <a:ext cx="1" cy="42729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6707812" y="2117560"/>
            <a:ext cx="307649" cy="4984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/>
          <p:cNvSpPr/>
          <p:nvPr/>
        </p:nvSpPr>
        <p:spPr>
          <a:xfrm>
            <a:off x="6244511" y="2093149"/>
            <a:ext cx="307649" cy="4984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>
          <a:xfrm>
            <a:off x="5731765" y="2131757"/>
            <a:ext cx="307649" cy="4984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/>
          <p:cNvSpPr txBox="1"/>
          <p:nvPr/>
        </p:nvSpPr>
        <p:spPr>
          <a:xfrm>
            <a:off x="1093176" y="3520923"/>
            <a:ext cx="23289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Forward to backward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50437" y="3562055"/>
            <a:ext cx="229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Backward to forward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520121" y="5253075"/>
            <a:ext cx="495657" cy="49565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/>
          <p:nvPr/>
        </p:nvSpPr>
        <p:spPr>
          <a:xfrm>
            <a:off x="2376724" y="5253074"/>
            <a:ext cx="495657" cy="49565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3233328" y="5253074"/>
            <a:ext cx="495657" cy="49565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/>
          <p:cNvSpPr/>
          <p:nvPr/>
        </p:nvSpPr>
        <p:spPr>
          <a:xfrm>
            <a:off x="4060480" y="5253074"/>
            <a:ext cx="495657" cy="49565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/>
          <p:cNvSpPr txBox="1"/>
          <p:nvPr/>
        </p:nvSpPr>
        <p:spPr>
          <a:xfrm>
            <a:off x="2322930" y="5914051"/>
            <a:ext cx="13358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head to tail</a:t>
            </a:r>
          </a:p>
        </p:txBody>
      </p:sp>
      <p:cxnSp>
        <p:nvCxnSpPr>
          <p:cNvPr id="58" name="Straight Arrow Connector 57"/>
          <p:cNvCxnSpPr/>
          <p:nvPr/>
        </p:nvCxnSpPr>
        <p:spPr>
          <a:xfrm>
            <a:off x="1624415" y="4804189"/>
            <a:ext cx="1" cy="42729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>
            <a:off x="4444072" y="4804189"/>
            <a:ext cx="1" cy="42729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>
            <a:stCxn id="43" idx="3"/>
            <a:endCxn id="44" idx="1"/>
          </p:cNvCxnSpPr>
          <p:nvPr/>
        </p:nvCxnSpPr>
        <p:spPr>
          <a:xfrm flipV="1">
            <a:off x="2015778" y="5500903"/>
            <a:ext cx="360946" cy="1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>
            <a:stCxn id="44" idx="3"/>
            <a:endCxn id="45" idx="1"/>
          </p:cNvCxnSpPr>
          <p:nvPr/>
        </p:nvCxnSpPr>
        <p:spPr>
          <a:xfrm>
            <a:off x="2872381" y="5500903"/>
            <a:ext cx="360947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>
            <a:stCxn id="45" idx="3"/>
            <a:endCxn id="46" idx="1"/>
          </p:cNvCxnSpPr>
          <p:nvPr/>
        </p:nvCxnSpPr>
        <p:spPr>
          <a:xfrm>
            <a:off x="3728985" y="5500903"/>
            <a:ext cx="331495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/>
          <p:nvPr/>
        </p:nvCxnSpPr>
        <p:spPr>
          <a:xfrm>
            <a:off x="1894774" y="4805097"/>
            <a:ext cx="1" cy="42729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/>
          <p:nvPr/>
        </p:nvCxnSpPr>
        <p:spPr>
          <a:xfrm>
            <a:off x="2624552" y="4785988"/>
            <a:ext cx="1" cy="42729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/>
          <p:nvPr/>
        </p:nvCxnSpPr>
        <p:spPr>
          <a:xfrm>
            <a:off x="3502749" y="4805879"/>
            <a:ext cx="1" cy="42729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/>
          <p:nvPr/>
        </p:nvCxnSpPr>
        <p:spPr>
          <a:xfrm>
            <a:off x="4171577" y="4804189"/>
            <a:ext cx="1" cy="42729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Rectangle 74"/>
          <p:cNvSpPr/>
          <p:nvPr/>
        </p:nvSpPr>
        <p:spPr>
          <a:xfrm>
            <a:off x="5499956" y="5253075"/>
            <a:ext cx="495657" cy="49565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/>
          <p:cNvSpPr/>
          <p:nvPr/>
        </p:nvSpPr>
        <p:spPr>
          <a:xfrm>
            <a:off x="6356559" y="5253074"/>
            <a:ext cx="495657" cy="49565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/>
          <p:cNvSpPr/>
          <p:nvPr/>
        </p:nvSpPr>
        <p:spPr>
          <a:xfrm>
            <a:off x="7213163" y="5253074"/>
            <a:ext cx="495657" cy="49565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/>
          <p:cNvSpPr/>
          <p:nvPr/>
        </p:nvSpPr>
        <p:spPr>
          <a:xfrm>
            <a:off x="8040315" y="5253074"/>
            <a:ext cx="495657" cy="49565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TextBox 78"/>
          <p:cNvSpPr txBox="1"/>
          <p:nvPr/>
        </p:nvSpPr>
        <p:spPr>
          <a:xfrm>
            <a:off x="6302765" y="5914051"/>
            <a:ext cx="13358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tail to head</a:t>
            </a:r>
          </a:p>
        </p:txBody>
      </p:sp>
      <p:cxnSp>
        <p:nvCxnSpPr>
          <p:cNvPr id="80" name="Straight Arrow Connector 79"/>
          <p:cNvCxnSpPr/>
          <p:nvPr/>
        </p:nvCxnSpPr>
        <p:spPr>
          <a:xfrm>
            <a:off x="5604250" y="4804189"/>
            <a:ext cx="1" cy="42729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/>
          <p:nvPr/>
        </p:nvCxnSpPr>
        <p:spPr>
          <a:xfrm>
            <a:off x="8423907" y="4804189"/>
            <a:ext cx="1" cy="42729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/>
          <p:cNvCxnSpPr>
            <a:stCxn id="75" idx="3"/>
            <a:endCxn id="76" idx="1"/>
          </p:cNvCxnSpPr>
          <p:nvPr/>
        </p:nvCxnSpPr>
        <p:spPr>
          <a:xfrm flipV="1">
            <a:off x="5995613" y="5500903"/>
            <a:ext cx="360946" cy="1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/>
          <p:cNvCxnSpPr>
            <a:stCxn id="76" idx="3"/>
            <a:endCxn id="77" idx="1"/>
          </p:cNvCxnSpPr>
          <p:nvPr/>
        </p:nvCxnSpPr>
        <p:spPr>
          <a:xfrm>
            <a:off x="6852216" y="5500903"/>
            <a:ext cx="360947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/>
          <p:cNvCxnSpPr>
            <a:stCxn id="77" idx="3"/>
            <a:endCxn id="78" idx="1"/>
          </p:cNvCxnSpPr>
          <p:nvPr/>
        </p:nvCxnSpPr>
        <p:spPr>
          <a:xfrm>
            <a:off x="7708820" y="5500903"/>
            <a:ext cx="331495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/>
          <p:cNvCxnSpPr/>
          <p:nvPr/>
        </p:nvCxnSpPr>
        <p:spPr>
          <a:xfrm>
            <a:off x="5874609" y="4805097"/>
            <a:ext cx="1" cy="42729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/>
          <p:cNvCxnSpPr/>
          <p:nvPr/>
        </p:nvCxnSpPr>
        <p:spPr>
          <a:xfrm>
            <a:off x="6604387" y="4785988"/>
            <a:ext cx="1" cy="42729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/>
          <p:cNvCxnSpPr/>
          <p:nvPr/>
        </p:nvCxnSpPr>
        <p:spPr>
          <a:xfrm>
            <a:off x="7482584" y="4805879"/>
            <a:ext cx="1" cy="42729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/>
          <p:cNvCxnSpPr/>
          <p:nvPr/>
        </p:nvCxnSpPr>
        <p:spPr>
          <a:xfrm>
            <a:off x="8151412" y="4804189"/>
            <a:ext cx="1" cy="42729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1097280" y="4463680"/>
            <a:ext cx="684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head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311390" y="4438860"/>
            <a:ext cx="489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tail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062981" y="4463680"/>
            <a:ext cx="684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head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246737" y="4463680"/>
            <a:ext cx="489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tail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786962" y="4750426"/>
            <a:ext cx="307649" cy="4984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ectangle 93"/>
          <p:cNvSpPr/>
          <p:nvPr/>
        </p:nvSpPr>
        <p:spPr>
          <a:xfrm>
            <a:off x="2445670" y="4715833"/>
            <a:ext cx="307649" cy="4984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Rectangle 94"/>
          <p:cNvSpPr/>
          <p:nvPr/>
        </p:nvSpPr>
        <p:spPr>
          <a:xfrm>
            <a:off x="3402510" y="4746254"/>
            <a:ext cx="307649" cy="4984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ectangle 95"/>
          <p:cNvSpPr/>
          <p:nvPr/>
        </p:nvSpPr>
        <p:spPr>
          <a:xfrm>
            <a:off x="4033307" y="4733066"/>
            <a:ext cx="307649" cy="4984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Rectangle 96"/>
          <p:cNvSpPr/>
          <p:nvPr/>
        </p:nvSpPr>
        <p:spPr>
          <a:xfrm>
            <a:off x="7980011" y="4733065"/>
            <a:ext cx="307649" cy="4984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 97"/>
          <p:cNvSpPr/>
          <p:nvPr/>
        </p:nvSpPr>
        <p:spPr>
          <a:xfrm>
            <a:off x="7355525" y="4728871"/>
            <a:ext cx="307649" cy="4984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ectangle 98"/>
          <p:cNvSpPr/>
          <p:nvPr/>
        </p:nvSpPr>
        <p:spPr>
          <a:xfrm>
            <a:off x="6490553" y="4716465"/>
            <a:ext cx="307649" cy="4984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 99"/>
          <p:cNvSpPr/>
          <p:nvPr/>
        </p:nvSpPr>
        <p:spPr>
          <a:xfrm>
            <a:off x="5233729" y="2102814"/>
            <a:ext cx="307649" cy="4984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TextBox 100"/>
          <p:cNvSpPr txBox="1"/>
          <p:nvPr/>
        </p:nvSpPr>
        <p:spPr>
          <a:xfrm>
            <a:off x="8080285" y="1908483"/>
            <a:ext cx="31751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Searching is direction-wise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5731765" y="4728870"/>
            <a:ext cx="307649" cy="4984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TextBox 102"/>
          <p:cNvSpPr txBox="1"/>
          <p:nvPr/>
        </p:nvSpPr>
        <p:spPr>
          <a:xfrm>
            <a:off x="8080285" y="2328412"/>
            <a:ext cx="32500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Direction can be defined as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344509" y="2719739"/>
            <a:ext cx="26175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Forward to backward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344509" y="3081978"/>
            <a:ext cx="2583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Backward to forward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344509" y="3450538"/>
            <a:ext cx="16516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Head to tail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344509" y="3831797"/>
            <a:ext cx="1656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Tail to head</a:t>
            </a:r>
          </a:p>
        </p:txBody>
      </p:sp>
      <p:sp>
        <p:nvSpPr>
          <p:cNvPr id="108" name="Date Placeholder 10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B6EE8-FD38-4D3A-90A4-0E869676C7A6}" type="datetime1">
              <a:rPr lang="en-US" smtClean="0"/>
              <a:t>30-Sep-24</a:t>
            </a:fld>
            <a:endParaRPr lang="en-US"/>
          </a:p>
        </p:txBody>
      </p:sp>
      <p:sp>
        <p:nvSpPr>
          <p:cNvPr id="109" name="Footer Placeholder 10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SWAPNIL BISWAS</a:t>
            </a:r>
          </a:p>
        </p:txBody>
      </p:sp>
      <p:sp>
        <p:nvSpPr>
          <p:cNvPr id="110" name="Slide Number Placeholder 10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7CAF5-550C-4560-8A67-900A224557D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109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5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5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6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9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0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3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4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7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8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1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2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5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6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9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0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3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4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7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8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1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2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5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6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>
                      <p:stCondLst>
                        <p:cond delay="indefinite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3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4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fill="hold">
                      <p:stCondLst>
                        <p:cond delay="indefinite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5" fill="hold">
                      <p:stCondLst>
                        <p:cond delay="indefinite"/>
                      </p:stCondLst>
                      <p:childTnLst>
                        <p:par>
                          <p:cTn id="266" fill="hold">
                            <p:stCondLst>
                              <p:cond delay="0"/>
                            </p:stCondLst>
                            <p:childTnLst>
                              <p:par>
                                <p:cTn id="2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1" fill="hold">
                      <p:stCondLst>
                        <p:cond delay="indefinite"/>
                      </p:stCondLst>
                      <p:childTnLst>
                        <p:par>
                          <p:cTn id="272" fill="hold">
                            <p:stCondLst>
                              <p:cond delay="0"/>
                            </p:stCondLst>
                            <p:childTnLst>
                              <p:par>
                                <p:cTn id="2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7" fill="hold">
                      <p:stCondLst>
                        <p:cond delay="indefinite"/>
                      </p:stCondLst>
                      <p:childTnLst>
                        <p:par>
                          <p:cTn id="278" fill="hold">
                            <p:stCondLst>
                              <p:cond delay="0"/>
                            </p:stCondLst>
                            <p:childTnLst>
                              <p:par>
                                <p:cTn id="27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1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2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5" fill="hold">
                      <p:stCondLst>
                        <p:cond delay="indefinite"/>
                      </p:stCondLst>
                      <p:childTnLst>
                        <p:par>
                          <p:cTn id="286" fill="hold">
                            <p:stCondLst>
                              <p:cond delay="0"/>
                            </p:stCondLst>
                            <p:childTnLst>
                              <p:par>
                                <p:cTn id="28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9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0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1" fill="hold">
                      <p:stCondLst>
                        <p:cond delay="indefinite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5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6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7" fill="hold">
                      <p:stCondLst>
                        <p:cond delay="indefinite"/>
                      </p:stCondLst>
                      <p:childTnLst>
                        <p:par>
                          <p:cTn id="298" fill="hold">
                            <p:stCondLst>
                              <p:cond delay="0"/>
                            </p:stCondLst>
                            <p:childTnLst>
                              <p:par>
                                <p:cTn id="29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1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2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3" fill="hold">
                      <p:stCondLst>
                        <p:cond delay="indefinite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7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8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9" fill="hold">
                      <p:stCondLst>
                        <p:cond delay="indefinite"/>
                      </p:stCondLst>
                      <p:childTnLst>
                        <p:par>
                          <p:cTn id="310" fill="hold">
                            <p:stCondLst>
                              <p:cond delay="0"/>
                            </p:stCondLst>
                            <p:childTnLst>
                              <p:par>
                                <p:cTn id="3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3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4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/>
      <p:bldP spid="10" grpId="0"/>
      <p:bldP spid="11" grpId="0"/>
      <p:bldP spid="12" grpId="0"/>
      <p:bldP spid="13" grpId="0"/>
      <p:bldP spid="14" grpId="0"/>
      <p:bldP spid="21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/>
      <p:bldP spid="30" grpId="0"/>
      <p:bldP spid="31" grpId="0"/>
      <p:bldP spid="32" grpId="0"/>
      <p:bldP spid="33" grpId="0" animBg="1"/>
      <p:bldP spid="38" grpId="0" animBg="1"/>
      <p:bldP spid="39" grpId="0" animBg="1"/>
      <p:bldP spid="40" grpId="0" animBg="1"/>
      <p:bldP spid="41" grpId="0"/>
      <p:bldP spid="42" grpId="0"/>
      <p:bldP spid="43" grpId="0" animBg="1"/>
      <p:bldP spid="44" grpId="0" animBg="1"/>
      <p:bldP spid="45" grpId="0" animBg="1"/>
      <p:bldP spid="46" grpId="0" animBg="1"/>
      <p:bldP spid="51" grpId="0"/>
      <p:bldP spid="75" grpId="0" animBg="1"/>
      <p:bldP spid="76" grpId="0" animBg="1"/>
      <p:bldP spid="77" grpId="0" animBg="1"/>
      <p:bldP spid="78" grpId="0" animBg="1"/>
      <p:bldP spid="79" grpId="0"/>
      <p:bldP spid="89" grpId="0"/>
      <p:bldP spid="90" grpId="0"/>
      <p:bldP spid="91" grpId="0"/>
      <p:bldP spid="92" grpId="0"/>
      <p:bldP spid="93" grpId="0" animBg="1"/>
      <p:bldP spid="94" grpId="0" animBg="1"/>
      <p:bldP spid="95" grpId="0" animBg="1"/>
      <p:bldP spid="96" grpId="0" animBg="1"/>
      <p:bldP spid="97" grpId="0" animBg="1"/>
      <p:bldP spid="98" grpId="0" animBg="1"/>
      <p:bldP spid="99" grpId="0" animBg="1"/>
      <p:bldP spid="100" grpId="0" animBg="1"/>
      <p:bldP spid="101" grpId="0"/>
      <p:bldP spid="102" grpId="0" animBg="1"/>
      <p:bldP spid="103" grpId="0"/>
      <p:bldP spid="104" grpId="0"/>
      <p:bldP spid="105" grpId="0"/>
      <p:bldP spid="106" grpId="0"/>
      <p:bldP spid="10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GRAPH  SEARCHING</a:t>
            </a:r>
          </a:p>
        </p:txBody>
      </p:sp>
      <p:sp>
        <p:nvSpPr>
          <p:cNvPr id="4" name="Oval 3"/>
          <p:cNvSpPr/>
          <p:nvPr/>
        </p:nvSpPr>
        <p:spPr>
          <a:xfrm>
            <a:off x="1657884" y="3213219"/>
            <a:ext cx="572568" cy="57256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2417035" y="2417036"/>
            <a:ext cx="572568" cy="57256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2703319" y="3615122"/>
            <a:ext cx="572568" cy="57256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130751" y="4756236"/>
            <a:ext cx="572568" cy="57256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3744481" y="2844451"/>
            <a:ext cx="572568" cy="57256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3744481" y="4438743"/>
            <a:ext cx="572568" cy="57256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/>
          <p:cNvCxnSpPr>
            <a:stCxn id="4" idx="7"/>
            <a:endCxn id="5" idx="3"/>
          </p:cNvCxnSpPr>
          <p:nvPr/>
        </p:nvCxnSpPr>
        <p:spPr>
          <a:xfrm flipV="1">
            <a:off x="2146601" y="2905753"/>
            <a:ext cx="354285" cy="39131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4" idx="5"/>
            <a:endCxn id="6" idx="2"/>
          </p:cNvCxnSpPr>
          <p:nvPr/>
        </p:nvCxnSpPr>
        <p:spPr>
          <a:xfrm>
            <a:off x="2146601" y="3701936"/>
            <a:ext cx="556718" cy="19947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4" idx="6"/>
            <a:endCxn id="8" idx="2"/>
          </p:cNvCxnSpPr>
          <p:nvPr/>
        </p:nvCxnSpPr>
        <p:spPr>
          <a:xfrm flipV="1">
            <a:off x="2230452" y="3130735"/>
            <a:ext cx="1514029" cy="36876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7" idx="6"/>
            <a:endCxn id="9" idx="2"/>
          </p:cNvCxnSpPr>
          <p:nvPr/>
        </p:nvCxnSpPr>
        <p:spPr>
          <a:xfrm flipV="1">
            <a:off x="2703319" y="4725027"/>
            <a:ext cx="1041162" cy="31749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8" idx="4"/>
            <a:endCxn id="9" idx="0"/>
          </p:cNvCxnSpPr>
          <p:nvPr/>
        </p:nvCxnSpPr>
        <p:spPr>
          <a:xfrm>
            <a:off x="4030765" y="3417019"/>
            <a:ext cx="0" cy="102172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967550" y="1948652"/>
            <a:ext cx="48726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 forward to backward searching possible?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99411" y="2333988"/>
            <a:ext cx="7521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99410" y="2703320"/>
            <a:ext cx="4652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Because there is no unique first element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9073" y="3072652"/>
            <a:ext cx="35869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 well no unique last element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99410" y="3466785"/>
            <a:ext cx="2772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Also no linear ordering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67550" y="4045584"/>
            <a:ext cx="46711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Linear searching is not possible in graphs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67550" y="4450207"/>
            <a:ext cx="33553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Possible searching methods: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09073" y="4800252"/>
            <a:ext cx="2563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Level wise searching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09073" y="5163617"/>
            <a:ext cx="26505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Depth wise searching</a:t>
            </a:r>
          </a:p>
        </p:txBody>
      </p:sp>
      <p:sp>
        <p:nvSpPr>
          <p:cNvPr id="38" name="Date Placeholder 3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5B20C-0A88-43EE-A40B-E85673BFA9EB}" type="datetime1">
              <a:rPr lang="en-US" smtClean="0"/>
              <a:t>30-Sep-24</a:t>
            </a:fld>
            <a:endParaRPr lang="en-US"/>
          </a:p>
        </p:txBody>
      </p:sp>
      <p:sp>
        <p:nvSpPr>
          <p:cNvPr id="39" name="Footer Placeholder 3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SWAPNIL BISWAS</a:t>
            </a:r>
          </a:p>
        </p:txBody>
      </p:sp>
      <p:sp>
        <p:nvSpPr>
          <p:cNvPr id="40" name="Slide Number Placeholder 3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7CAF5-550C-4560-8A67-900A224557D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981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LEVEL  OF  A  VERTEX</a:t>
            </a:r>
          </a:p>
        </p:txBody>
      </p:sp>
      <p:sp>
        <p:nvSpPr>
          <p:cNvPr id="4" name="Oval 3"/>
          <p:cNvSpPr/>
          <p:nvPr/>
        </p:nvSpPr>
        <p:spPr>
          <a:xfrm>
            <a:off x="1686940" y="3348653"/>
            <a:ext cx="572568" cy="57256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2720411" y="2458341"/>
            <a:ext cx="572568" cy="57256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2720411" y="3348653"/>
            <a:ext cx="572568" cy="57256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3753882" y="3348653"/>
            <a:ext cx="572568" cy="57256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1685231" y="4364179"/>
            <a:ext cx="572568" cy="57256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/>
          <p:cNvSpPr/>
          <p:nvPr/>
        </p:nvSpPr>
        <p:spPr>
          <a:xfrm>
            <a:off x="2720411" y="4364179"/>
            <a:ext cx="572568" cy="57256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/>
          <p:cNvSpPr/>
          <p:nvPr/>
        </p:nvSpPr>
        <p:spPr>
          <a:xfrm>
            <a:off x="3753882" y="4364179"/>
            <a:ext cx="572568" cy="57256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/>
          <p:cNvCxnSpPr>
            <a:stCxn id="5" idx="2"/>
            <a:endCxn id="4" idx="0"/>
          </p:cNvCxnSpPr>
          <p:nvPr/>
        </p:nvCxnSpPr>
        <p:spPr>
          <a:xfrm flipH="1">
            <a:off x="1973224" y="2744625"/>
            <a:ext cx="747187" cy="60402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5" idx="4"/>
            <a:endCxn id="6" idx="0"/>
          </p:cNvCxnSpPr>
          <p:nvPr/>
        </p:nvCxnSpPr>
        <p:spPr>
          <a:xfrm>
            <a:off x="3006695" y="3030909"/>
            <a:ext cx="0" cy="31774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5" idx="6"/>
            <a:endCxn id="8" idx="0"/>
          </p:cNvCxnSpPr>
          <p:nvPr/>
        </p:nvCxnSpPr>
        <p:spPr>
          <a:xfrm>
            <a:off x="3292979" y="2744625"/>
            <a:ext cx="747187" cy="60402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4" idx="4"/>
            <a:endCxn id="26" idx="0"/>
          </p:cNvCxnSpPr>
          <p:nvPr/>
        </p:nvCxnSpPr>
        <p:spPr>
          <a:xfrm flipH="1">
            <a:off x="1971515" y="3921221"/>
            <a:ext cx="1709" cy="44295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6" idx="4"/>
            <a:endCxn id="27" idx="0"/>
          </p:cNvCxnSpPr>
          <p:nvPr/>
        </p:nvCxnSpPr>
        <p:spPr>
          <a:xfrm>
            <a:off x="3006695" y="3921221"/>
            <a:ext cx="0" cy="44295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stCxn id="6" idx="5"/>
            <a:endCxn id="28" idx="0"/>
          </p:cNvCxnSpPr>
          <p:nvPr/>
        </p:nvCxnSpPr>
        <p:spPr>
          <a:xfrm>
            <a:off x="3209128" y="3837370"/>
            <a:ext cx="831038" cy="52680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2581514" y="2042759"/>
            <a:ext cx="8503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source</a:t>
            </a:r>
          </a:p>
        </p:txBody>
      </p:sp>
      <p:sp>
        <p:nvSpPr>
          <p:cNvPr id="42" name="Oval 41"/>
          <p:cNvSpPr/>
          <p:nvPr/>
        </p:nvSpPr>
        <p:spPr>
          <a:xfrm>
            <a:off x="2720411" y="2458341"/>
            <a:ext cx="572568" cy="572568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/>
          <p:cNvSpPr txBox="1"/>
          <p:nvPr/>
        </p:nvSpPr>
        <p:spPr>
          <a:xfrm>
            <a:off x="4993187" y="2089009"/>
            <a:ext cx="40742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Source indicates the starting vertex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60347" y="2458341"/>
            <a:ext cx="29843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Can be chosen randomly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60347" y="2790875"/>
            <a:ext cx="514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Can be fixed based on the problem statement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60347" y="3160207"/>
            <a:ext cx="44904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Here source has been chosen randomly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993186" y="3598139"/>
            <a:ext cx="22175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level(source) = 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840734" y="2573176"/>
            <a:ext cx="332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93186" y="3994847"/>
            <a:ext cx="5169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level(vertex) = 1 + level of it’s predecessors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60347" y="4391555"/>
            <a:ext cx="46316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When a vertex has a unique predecessor</a:t>
            </a:r>
          </a:p>
        </p:txBody>
      </p:sp>
      <p:sp>
        <p:nvSpPr>
          <p:cNvPr id="51" name="Oval 50"/>
          <p:cNvSpPr/>
          <p:nvPr/>
        </p:nvSpPr>
        <p:spPr>
          <a:xfrm>
            <a:off x="1685231" y="3348904"/>
            <a:ext cx="572568" cy="572568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1805444" y="3450271"/>
            <a:ext cx="332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</a:t>
            </a:r>
          </a:p>
        </p:txBody>
      </p:sp>
      <p:sp>
        <p:nvSpPr>
          <p:cNvPr id="53" name="Oval 52"/>
          <p:cNvSpPr/>
          <p:nvPr/>
        </p:nvSpPr>
        <p:spPr>
          <a:xfrm>
            <a:off x="2718702" y="3348653"/>
            <a:ext cx="572568" cy="572568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/>
          <p:cNvSpPr txBox="1"/>
          <p:nvPr/>
        </p:nvSpPr>
        <p:spPr>
          <a:xfrm>
            <a:off x="2838915" y="3462338"/>
            <a:ext cx="332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</a:t>
            </a:r>
          </a:p>
        </p:txBody>
      </p:sp>
      <p:sp>
        <p:nvSpPr>
          <p:cNvPr id="55" name="Oval 54"/>
          <p:cNvSpPr/>
          <p:nvPr/>
        </p:nvSpPr>
        <p:spPr>
          <a:xfrm>
            <a:off x="3750464" y="3345931"/>
            <a:ext cx="572568" cy="572568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/>
          <p:cNvSpPr txBox="1"/>
          <p:nvPr/>
        </p:nvSpPr>
        <p:spPr>
          <a:xfrm>
            <a:off x="3877513" y="3464339"/>
            <a:ext cx="332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</a:t>
            </a:r>
          </a:p>
        </p:txBody>
      </p:sp>
      <p:sp>
        <p:nvSpPr>
          <p:cNvPr id="57" name="Oval 56"/>
          <p:cNvSpPr/>
          <p:nvPr/>
        </p:nvSpPr>
        <p:spPr>
          <a:xfrm>
            <a:off x="1685231" y="4364179"/>
            <a:ext cx="572568" cy="57256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/>
          <p:cNvSpPr txBox="1"/>
          <p:nvPr/>
        </p:nvSpPr>
        <p:spPr>
          <a:xfrm>
            <a:off x="1805444" y="4465797"/>
            <a:ext cx="332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</a:t>
            </a:r>
          </a:p>
        </p:txBody>
      </p:sp>
      <p:sp>
        <p:nvSpPr>
          <p:cNvPr id="59" name="Oval 58"/>
          <p:cNvSpPr/>
          <p:nvPr/>
        </p:nvSpPr>
        <p:spPr>
          <a:xfrm>
            <a:off x="2718702" y="4364179"/>
            <a:ext cx="572568" cy="57256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2838915" y="4469266"/>
            <a:ext cx="332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</a:t>
            </a:r>
          </a:p>
        </p:txBody>
      </p:sp>
      <p:sp>
        <p:nvSpPr>
          <p:cNvPr id="62" name="Oval 61"/>
          <p:cNvSpPr/>
          <p:nvPr/>
        </p:nvSpPr>
        <p:spPr>
          <a:xfrm>
            <a:off x="3750464" y="4363548"/>
            <a:ext cx="572568" cy="57256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62"/>
          <p:cNvSpPr txBox="1"/>
          <p:nvPr/>
        </p:nvSpPr>
        <p:spPr>
          <a:xfrm>
            <a:off x="3877513" y="4465797"/>
            <a:ext cx="332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</a:t>
            </a:r>
          </a:p>
        </p:txBody>
      </p:sp>
      <p:sp>
        <p:nvSpPr>
          <p:cNvPr id="64" name="Date Placeholder 6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5603A-BCE1-499E-9FC5-825BC89D6F74}" type="datetime1">
              <a:rPr lang="en-US" smtClean="0"/>
              <a:t>30-Sep-24</a:t>
            </a:fld>
            <a:endParaRPr lang="en-US"/>
          </a:p>
        </p:txBody>
      </p:sp>
      <p:sp>
        <p:nvSpPr>
          <p:cNvPr id="65" name="Footer Placeholder 6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SWAPNIL BISWAS</a:t>
            </a:r>
          </a:p>
        </p:txBody>
      </p:sp>
      <p:sp>
        <p:nvSpPr>
          <p:cNvPr id="66" name="Slide Number Placeholder 6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7CAF5-550C-4560-8A67-900A224557D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567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2" grpId="0" animBg="1"/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 animBg="1"/>
      <p:bldP spid="52" grpId="0"/>
      <p:bldP spid="53" grpId="0" animBg="1"/>
      <p:bldP spid="54" grpId="0"/>
      <p:bldP spid="55" grpId="0" animBg="1"/>
      <p:bldP spid="56" grpId="0"/>
      <p:bldP spid="57" grpId="0" animBg="1"/>
      <p:bldP spid="58" grpId="0"/>
      <p:bldP spid="59" grpId="0" animBg="1"/>
      <p:bldP spid="60" grpId="0"/>
      <p:bldP spid="62" grpId="0" animBg="1"/>
      <p:bldP spid="6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LEVEL  OF  A  VERTEX</a:t>
            </a:r>
          </a:p>
        </p:txBody>
      </p:sp>
      <p:sp>
        <p:nvSpPr>
          <p:cNvPr id="4" name="Oval 3"/>
          <p:cNvSpPr/>
          <p:nvPr/>
        </p:nvSpPr>
        <p:spPr>
          <a:xfrm>
            <a:off x="1686940" y="3348653"/>
            <a:ext cx="572568" cy="57256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2720411" y="2458341"/>
            <a:ext cx="572568" cy="57256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2720411" y="3348653"/>
            <a:ext cx="572568" cy="57256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753882" y="3348653"/>
            <a:ext cx="572568" cy="57256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1685231" y="4364179"/>
            <a:ext cx="572568" cy="57256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2720411" y="4364179"/>
            <a:ext cx="572568" cy="57256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3753882" y="4364179"/>
            <a:ext cx="572568" cy="57256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/>
          <p:cNvCxnSpPr>
            <a:stCxn id="5" idx="2"/>
            <a:endCxn id="4" idx="0"/>
          </p:cNvCxnSpPr>
          <p:nvPr/>
        </p:nvCxnSpPr>
        <p:spPr>
          <a:xfrm flipH="1">
            <a:off x="1973224" y="2744625"/>
            <a:ext cx="747187" cy="60402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5" idx="4"/>
            <a:endCxn id="6" idx="0"/>
          </p:cNvCxnSpPr>
          <p:nvPr/>
        </p:nvCxnSpPr>
        <p:spPr>
          <a:xfrm>
            <a:off x="3006695" y="3030909"/>
            <a:ext cx="0" cy="31774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5" idx="6"/>
            <a:endCxn id="7" idx="0"/>
          </p:cNvCxnSpPr>
          <p:nvPr/>
        </p:nvCxnSpPr>
        <p:spPr>
          <a:xfrm>
            <a:off x="3292979" y="2744625"/>
            <a:ext cx="747187" cy="60402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4" idx="4"/>
            <a:endCxn id="8" idx="0"/>
          </p:cNvCxnSpPr>
          <p:nvPr/>
        </p:nvCxnSpPr>
        <p:spPr>
          <a:xfrm flipH="1">
            <a:off x="1971515" y="3921221"/>
            <a:ext cx="1709" cy="44295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6" idx="4"/>
            <a:endCxn id="9" idx="0"/>
          </p:cNvCxnSpPr>
          <p:nvPr/>
        </p:nvCxnSpPr>
        <p:spPr>
          <a:xfrm>
            <a:off x="3006695" y="3921221"/>
            <a:ext cx="0" cy="44295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6" idx="5"/>
            <a:endCxn id="10" idx="0"/>
          </p:cNvCxnSpPr>
          <p:nvPr/>
        </p:nvCxnSpPr>
        <p:spPr>
          <a:xfrm>
            <a:off x="3209128" y="3837370"/>
            <a:ext cx="831038" cy="52680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581514" y="2042759"/>
            <a:ext cx="8503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source</a:t>
            </a:r>
          </a:p>
        </p:txBody>
      </p:sp>
      <p:sp>
        <p:nvSpPr>
          <p:cNvPr id="18" name="Oval 17"/>
          <p:cNvSpPr/>
          <p:nvPr/>
        </p:nvSpPr>
        <p:spPr>
          <a:xfrm>
            <a:off x="2720411" y="2458341"/>
            <a:ext cx="572568" cy="572568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2840734" y="2573176"/>
            <a:ext cx="332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</a:t>
            </a:r>
          </a:p>
        </p:txBody>
      </p:sp>
      <p:sp>
        <p:nvSpPr>
          <p:cNvPr id="20" name="Oval 19"/>
          <p:cNvSpPr/>
          <p:nvPr/>
        </p:nvSpPr>
        <p:spPr>
          <a:xfrm>
            <a:off x="1685231" y="3348904"/>
            <a:ext cx="572568" cy="572568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1805444" y="3450271"/>
            <a:ext cx="332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</a:t>
            </a:r>
          </a:p>
        </p:txBody>
      </p:sp>
      <p:sp>
        <p:nvSpPr>
          <p:cNvPr id="22" name="Oval 21"/>
          <p:cNvSpPr/>
          <p:nvPr/>
        </p:nvSpPr>
        <p:spPr>
          <a:xfrm>
            <a:off x="2718702" y="3348653"/>
            <a:ext cx="572568" cy="572568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2838915" y="3462338"/>
            <a:ext cx="332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</a:t>
            </a:r>
          </a:p>
        </p:txBody>
      </p:sp>
      <p:sp>
        <p:nvSpPr>
          <p:cNvPr id="24" name="Oval 23"/>
          <p:cNvSpPr/>
          <p:nvPr/>
        </p:nvSpPr>
        <p:spPr>
          <a:xfrm>
            <a:off x="3750464" y="3345931"/>
            <a:ext cx="572568" cy="572568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/>
          <p:cNvSpPr txBox="1"/>
          <p:nvPr/>
        </p:nvSpPr>
        <p:spPr>
          <a:xfrm>
            <a:off x="3877513" y="3464339"/>
            <a:ext cx="332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</a:t>
            </a:r>
          </a:p>
        </p:txBody>
      </p:sp>
      <p:sp>
        <p:nvSpPr>
          <p:cNvPr id="26" name="Oval 25"/>
          <p:cNvSpPr/>
          <p:nvPr/>
        </p:nvSpPr>
        <p:spPr>
          <a:xfrm>
            <a:off x="1685231" y="4364179"/>
            <a:ext cx="572568" cy="572568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1805444" y="4465797"/>
            <a:ext cx="332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</a:t>
            </a:r>
          </a:p>
        </p:txBody>
      </p:sp>
      <p:sp>
        <p:nvSpPr>
          <p:cNvPr id="28" name="Oval 27"/>
          <p:cNvSpPr/>
          <p:nvPr/>
        </p:nvSpPr>
        <p:spPr>
          <a:xfrm>
            <a:off x="2718702" y="4364179"/>
            <a:ext cx="572568" cy="57256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/>
          <p:cNvSpPr/>
          <p:nvPr/>
        </p:nvSpPr>
        <p:spPr>
          <a:xfrm>
            <a:off x="3750464" y="4363548"/>
            <a:ext cx="572568" cy="57256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Arrow Connector 32"/>
          <p:cNvCxnSpPr>
            <a:stCxn id="18" idx="3"/>
            <a:endCxn id="26" idx="7"/>
          </p:cNvCxnSpPr>
          <p:nvPr/>
        </p:nvCxnSpPr>
        <p:spPr>
          <a:xfrm flipH="1">
            <a:off x="2173948" y="2947058"/>
            <a:ext cx="630314" cy="150097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017715" y="2089009"/>
            <a:ext cx="22175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level(source) = 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17715" y="2458341"/>
            <a:ext cx="6139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level(vertex) = 1 + </a:t>
            </a:r>
            <a:r>
              <a:rPr lang="en-US" b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minimum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level of it’s predecessors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84876" y="2855049"/>
            <a:ext cx="4660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When a vertex has multiple predecessors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19986" y="5189350"/>
            <a:ext cx="359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Level of predecessors = {0, 1}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22265" y="5525664"/>
            <a:ext cx="34758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Min level of predecessors = 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33113" y="5865580"/>
            <a:ext cx="22539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level = 1 + 0 = 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379912" y="5185748"/>
            <a:ext cx="3637790" cy="10455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/>
          <p:cNvSpPr txBox="1"/>
          <p:nvPr/>
        </p:nvSpPr>
        <p:spPr>
          <a:xfrm>
            <a:off x="2838915" y="4469266"/>
            <a:ext cx="332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77513" y="4465797"/>
            <a:ext cx="332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</a:t>
            </a:r>
          </a:p>
        </p:txBody>
      </p:sp>
      <p:sp>
        <p:nvSpPr>
          <p:cNvPr id="43" name="Date Placeholder 4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983F1-5C46-4111-B924-5B6CBC4EDFBE}" type="datetime1">
              <a:rPr lang="en-US" smtClean="0"/>
              <a:t>30-Sep-24</a:t>
            </a:fld>
            <a:endParaRPr lang="en-US"/>
          </a:p>
        </p:txBody>
      </p:sp>
      <p:sp>
        <p:nvSpPr>
          <p:cNvPr id="44" name="Footer Placeholder 4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SWAPNIL BISWAS</a:t>
            </a:r>
          </a:p>
        </p:txBody>
      </p:sp>
      <p:sp>
        <p:nvSpPr>
          <p:cNvPr id="45" name="Slide Number Placeholder 4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7CAF5-550C-4560-8A67-900A224557D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690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 animBg="1"/>
      <p:bldP spid="21" grpId="0"/>
      <p:bldP spid="22" grpId="0" animBg="1"/>
      <p:bldP spid="23" grpId="0"/>
      <p:bldP spid="24" grpId="0" animBg="1"/>
      <p:bldP spid="25" grpId="0"/>
      <p:bldP spid="26" grpId="0" animBg="1"/>
      <p:bldP spid="27" grpId="0"/>
      <p:bldP spid="28" grpId="0" animBg="1"/>
      <p:bldP spid="30" grpId="0" animBg="1"/>
      <p:bldP spid="36" grpId="0"/>
      <p:bldP spid="37" grpId="0"/>
      <p:bldP spid="38" grpId="0"/>
      <p:bldP spid="39" grpId="0"/>
      <p:bldP spid="40" grpId="0"/>
      <p:bldP spid="41" grpId="0"/>
      <p:bldP spid="42" grpId="0" animBg="1"/>
      <p:bldP spid="29" grpId="0"/>
      <p:bldP spid="3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EXERCISE</a:t>
            </a:r>
          </a:p>
        </p:txBody>
      </p:sp>
      <p:sp>
        <p:nvSpPr>
          <p:cNvPr id="4" name="Oval 3"/>
          <p:cNvSpPr/>
          <p:nvPr/>
        </p:nvSpPr>
        <p:spPr>
          <a:xfrm>
            <a:off x="3241704" y="2612165"/>
            <a:ext cx="572568" cy="57256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2146418" y="3388408"/>
            <a:ext cx="572568" cy="57256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2718986" y="5216034"/>
            <a:ext cx="572568" cy="57256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1573850" y="4573425"/>
            <a:ext cx="572568" cy="57256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2850022" y="4144711"/>
            <a:ext cx="572568" cy="57256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3626265" y="3469593"/>
            <a:ext cx="572568" cy="57256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3995158" y="4643466"/>
            <a:ext cx="572568" cy="57256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4549211" y="2815840"/>
            <a:ext cx="572568" cy="57256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4819828" y="3858427"/>
            <a:ext cx="572568" cy="57256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/>
          <p:cNvCxnSpPr>
            <a:stCxn id="8" idx="1"/>
            <a:endCxn id="5" idx="5"/>
          </p:cNvCxnSpPr>
          <p:nvPr/>
        </p:nvCxnSpPr>
        <p:spPr>
          <a:xfrm flipH="1" flipV="1">
            <a:off x="2635135" y="3877125"/>
            <a:ext cx="298738" cy="35143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8" idx="2"/>
            <a:endCxn id="7" idx="7"/>
          </p:cNvCxnSpPr>
          <p:nvPr/>
        </p:nvCxnSpPr>
        <p:spPr>
          <a:xfrm flipH="1">
            <a:off x="2062567" y="4430995"/>
            <a:ext cx="787455" cy="22628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4" idx="5"/>
            <a:endCxn id="9" idx="0"/>
          </p:cNvCxnSpPr>
          <p:nvPr/>
        </p:nvCxnSpPr>
        <p:spPr>
          <a:xfrm>
            <a:off x="3730421" y="3100882"/>
            <a:ext cx="182128" cy="36871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8" idx="6"/>
            <a:endCxn id="12" idx="2"/>
          </p:cNvCxnSpPr>
          <p:nvPr/>
        </p:nvCxnSpPr>
        <p:spPr>
          <a:xfrm flipV="1">
            <a:off x="3422590" y="4144711"/>
            <a:ext cx="1397238" cy="28628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9" idx="7"/>
            <a:endCxn id="11" idx="3"/>
          </p:cNvCxnSpPr>
          <p:nvPr/>
        </p:nvCxnSpPr>
        <p:spPr>
          <a:xfrm flipV="1">
            <a:off x="4114982" y="3304557"/>
            <a:ext cx="518080" cy="24888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>
            <a:stCxn id="6" idx="6"/>
            <a:endCxn id="10" idx="3"/>
          </p:cNvCxnSpPr>
          <p:nvPr/>
        </p:nvCxnSpPr>
        <p:spPr>
          <a:xfrm flipV="1">
            <a:off x="3291554" y="5132183"/>
            <a:ext cx="787455" cy="37013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stCxn id="12" idx="3"/>
            <a:endCxn id="10" idx="7"/>
          </p:cNvCxnSpPr>
          <p:nvPr/>
        </p:nvCxnSpPr>
        <p:spPr>
          <a:xfrm flipH="1">
            <a:off x="4483875" y="4347144"/>
            <a:ext cx="419804" cy="38017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stCxn id="7" idx="5"/>
            <a:endCxn id="6" idx="2"/>
          </p:cNvCxnSpPr>
          <p:nvPr/>
        </p:nvCxnSpPr>
        <p:spPr>
          <a:xfrm>
            <a:off x="2062567" y="5062142"/>
            <a:ext cx="656419" cy="44017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>
            <a:stCxn id="5" idx="3"/>
            <a:endCxn id="7" idx="0"/>
          </p:cNvCxnSpPr>
          <p:nvPr/>
        </p:nvCxnSpPr>
        <p:spPr>
          <a:xfrm flipH="1">
            <a:off x="1860134" y="3877125"/>
            <a:ext cx="370135" cy="6963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>
            <a:stCxn id="5" idx="7"/>
            <a:endCxn id="4" idx="2"/>
          </p:cNvCxnSpPr>
          <p:nvPr/>
        </p:nvCxnSpPr>
        <p:spPr>
          <a:xfrm flipV="1">
            <a:off x="2635135" y="2898449"/>
            <a:ext cx="606569" cy="57381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>
            <a:stCxn id="11" idx="5"/>
            <a:endCxn id="12" idx="0"/>
          </p:cNvCxnSpPr>
          <p:nvPr/>
        </p:nvCxnSpPr>
        <p:spPr>
          <a:xfrm>
            <a:off x="5037928" y="3304557"/>
            <a:ext cx="68184" cy="55387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1121504" y="2011228"/>
            <a:ext cx="4093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Write down the level of the vertices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84289" y="2011228"/>
            <a:ext cx="1329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Level-0</a:t>
            </a:r>
          </a:p>
        </p:txBody>
      </p:sp>
      <p:sp>
        <p:nvSpPr>
          <p:cNvPr id="50" name="Oval 49"/>
          <p:cNvSpPr/>
          <p:nvPr/>
        </p:nvSpPr>
        <p:spPr>
          <a:xfrm>
            <a:off x="2718986" y="5216034"/>
            <a:ext cx="572568" cy="572568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/>
          <p:cNvSpPr txBox="1"/>
          <p:nvPr/>
        </p:nvSpPr>
        <p:spPr>
          <a:xfrm>
            <a:off x="2844509" y="5317652"/>
            <a:ext cx="332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622026" y="5757828"/>
            <a:ext cx="8503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source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48972" y="2384894"/>
            <a:ext cx="599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84289" y="2815401"/>
            <a:ext cx="1329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Level-1</a:t>
            </a:r>
          </a:p>
        </p:txBody>
      </p:sp>
      <p:sp>
        <p:nvSpPr>
          <p:cNvPr id="54" name="Oval 53"/>
          <p:cNvSpPr/>
          <p:nvPr/>
        </p:nvSpPr>
        <p:spPr>
          <a:xfrm>
            <a:off x="3995158" y="4641296"/>
            <a:ext cx="572568" cy="572568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/>
          <p:cNvSpPr/>
          <p:nvPr/>
        </p:nvSpPr>
        <p:spPr>
          <a:xfrm>
            <a:off x="1573850" y="4573425"/>
            <a:ext cx="572568" cy="572568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/>
          <p:cNvSpPr txBox="1"/>
          <p:nvPr/>
        </p:nvSpPr>
        <p:spPr>
          <a:xfrm>
            <a:off x="4127570" y="4757405"/>
            <a:ext cx="332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97373" y="4687364"/>
            <a:ext cx="332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48972" y="3222751"/>
            <a:ext cx="869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2, 3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84289" y="3672829"/>
            <a:ext cx="1329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Level-2</a:t>
            </a:r>
          </a:p>
        </p:txBody>
      </p:sp>
      <p:sp>
        <p:nvSpPr>
          <p:cNvPr id="58" name="Oval 57"/>
          <p:cNvSpPr/>
          <p:nvPr/>
        </p:nvSpPr>
        <p:spPr>
          <a:xfrm>
            <a:off x="4819684" y="3864620"/>
            <a:ext cx="572568" cy="572568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/>
          <p:cNvSpPr/>
          <p:nvPr/>
        </p:nvSpPr>
        <p:spPr>
          <a:xfrm>
            <a:off x="2849878" y="4144711"/>
            <a:ext cx="572568" cy="572568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/>
          <p:cNvSpPr/>
          <p:nvPr/>
        </p:nvSpPr>
        <p:spPr>
          <a:xfrm>
            <a:off x="2146418" y="3389120"/>
            <a:ext cx="572568" cy="572568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/>
          <p:cNvSpPr txBox="1"/>
          <p:nvPr/>
        </p:nvSpPr>
        <p:spPr>
          <a:xfrm>
            <a:off x="2266631" y="3502905"/>
            <a:ext cx="332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966303" y="4270610"/>
            <a:ext cx="332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940041" y="3977812"/>
            <a:ext cx="332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748971" y="4042161"/>
            <a:ext cx="11384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0, 1, 5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384289" y="4463745"/>
            <a:ext cx="1329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Level-3</a:t>
            </a:r>
          </a:p>
        </p:txBody>
      </p:sp>
      <p:sp>
        <p:nvSpPr>
          <p:cNvPr id="63" name="Oval 62"/>
          <p:cNvSpPr/>
          <p:nvPr/>
        </p:nvSpPr>
        <p:spPr>
          <a:xfrm>
            <a:off x="4543546" y="2818010"/>
            <a:ext cx="572568" cy="572568"/>
          </a:xfrm>
          <a:prstGeom prst="ellipse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/>
          <p:cNvSpPr/>
          <p:nvPr/>
        </p:nvSpPr>
        <p:spPr>
          <a:xfrm>
            <a:off x="3236039" y="2612165"/>
            <a:ext cx="572568" cy="572568"/>
          </a:xfrm>
          <a:prstGeom prst="ellipse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/>
          <p:cNvSpPr txBox="1"/>
          <p:nvPr/>
        </p:nvSpPr>
        <p:spPr>
          <a:xfrm>
            <a:off x="3365198" y="2731240"/>
            <a:ext cx="332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85091" y="2935225"/>
            <a:ext cx="332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8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748971" y="4836904"/>
            <a:ext cx="8522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7, 8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384289" y="5259194"/>
            <a:ext cx="1329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Level-4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748970" y="5588274"/>
            <a:ext cx="599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</a:t>
            </a:r>
          </a:p>
        </p:txBody>
      </p:sp>
      <p:sp>
        <p:nvSpPr>
          <p:cNvPr id="68" name="Oval 67"/>
          <p:cNvSpPr/>
          <p:nvPr/>
        </p:nvSpPr>
        <p:spPr>
          <a:xfrm>
            <a:off x="3626121" y="3467423"/>
            <a:ext cx="572568" cy="572568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/>
          <p:cNvSpPr txBox="1"/>
          <p:nvPr/>
        </p:nvSpPr>
        <p:spPr>
          <a:xfrm>
            <a:off x="3747342" y="3571211"/>
            <a:ext cx="332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</a:t>
            </a:r>
          </a:p>
        </p:txBody>
      </p:sp>
      <p:sp>
        <p:nvSpPr>
          <p:cNvPr id="69" name="Date Placeholder 6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BBE6A-AC43-4F28-977F-3118FE51D9E6}" type="datetime1">
              <a:rPr lang="en-US" smtClean="0"/>
              <a:t>30-Sep-24</a:t>
            </a:fld>
            <a:endParaRPr lang="en-US"/>
          </a:p>
        </p:txBody>
      </p:sp>
      <p:sp>
        <p:nvSpPr>
          <p:cNvPr id="70" name="Footer Placeholder 6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SWAPNIL BISWAS</a:t>
            </a:r>
          </a:p>
        </p:txBody>
      </p:sp>
      <p:sp>
        <p:nvSpPr>
          <p:cNvPr id="71" name="Slide Number Placeholder 7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7CAF5-550C-4560-8A67-900A224557D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060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  <p:bldP spid="49" grpId="0"/>
      <p:bldP spid="52" grpId="0"/>
      <p:bldP spid="53" grpId="0"/>
      <p:bldP spid="54" grpId="0" animBg="1"/>
      <p:bldP spid="55" grpId="0" animBg="1"/>
      <p:bldP spid="56" grpId="0"/>
      <p:bldP spid="57" grpId="0"/>
      <p:bldP spid="58" grpId="0" animBg="1"/>
      <p:bldP spid="59" grpId="0" animBg="1"/>
      <p:bldP spid="60" grpId="0" animBg="1"/>
      <p:bldP spid="61" grpId="0"/>
      <p:bldP spid="62" grpId="0"/>
      <p:bldP spid="63" grpId="0" animBg="1"/>
      <p:bldP spid="64" grpId="0" animBg="1"/>
      <p:bldP spid="65" grpId="0"/>
      <p:bldP spid="66" grpId="0"/>
      <p:bldP spid="67" grpId="0"/>
      <p:bldP spid="6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PARENT  CHILD  RELATION</a:t>
            </a:r>
          </a:p>
        </p:txBody>
      </p:sp>
      <p:sp>
        <p:nvSpPr>
          <p:cNvPr id="4" name="Oval 3"/>
          <p:cNvSpPr/>
          <p:nvPr/>
        </p:nvSpPr>
        <p:spPr>
          <a:xfrm>
            <a:off x="3241704" y="2612165"/>
            <a:ext cx="572568" cy="57256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2146418" y="3388408"/>
            <a:ext cx="572568" cy="57256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2718986" y="5216034"/>
            <a:ext cx="572568" cy="57256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1573850" y="4573425"/>
            <a:ext cx="572568" cy="57256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2850022" y="4144711"/>
            <a:ext cx="572568" cy="57256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3626265" y="3469593"/>
            <a:ext cx="572568" cy="57256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3995158" y="4643466"/>
            <a:ext cx="572568" cy="57256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4549211" y="2815840"/>
            <a:ext cx="572568" cy="57256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4819828" y="3858427"/>
            <a:ext cx="572568" cy="57256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/>
          <p:cNvCxnSpPr>
            <a:stCxn id="8" idx="1"/>
            <a:endCxn id="5" idx="5"/>
          </p:cNvCxnSpPr>
          <p:nvPr/>
        </p:nvCxnSpPr>
        <p:spPr>
          <a:xfrm flipH="1" flipV="1">
            <a:off x="2635135" y="3877125"/>
            <a:ext cx="298738" cy="35143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8" idx="2"/>
            <a:endCxn id="7" idx="7"/>
          </p:cNvCxnSpPr>
          <p:nvPr/>
        </p:nvCxnSpPr>
        <p:spPr>
          <a:xfrm flipH="1">
            <a:off x="2062567" y="4430995"/>
            <a:ext cx="787455" cy="22628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4" idx="5"/>
            <a:endCxn id="9" idx="0"/>
          </p:cNvCxnSpPr>
          <p:nvPr/>
        </p:nvCxnSpPr>
        <p:spPr>
          <a:xfrm>
            <a:off x="3730421" y="3100882"/>
            <a:ext cx="182128" cy="36871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8" idx="6"/>
            <a:endCxn id="12" idx="2"/>
          </p:cNvCxnSpPr>
          <p:nvPr/>
        </p:nvCxnSpPr>
        <p:spPr>
          <a:xfrm flipV="1">
            <a:off x="3422590" y="4144711"/>
            <a:ext cx="1397238" cy="28628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9" idx="7"/>
            <a:endCxn id="11" idx="3"/>
          </p:cNvCxnSpPr>
          <p:nvPr/>
        </p:nvCxnSpPr>
        <p:spPr>
          <a:xfrm flipV="1">
            <a:off x="4114982" y="3304557"/>
            <a:ext cx="518080" cy="24888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>
            <a:stCxn id="6" idx="6"/>
            <a:endCxn id="10" idx="3"/>
          </p:cNvCxnSpPr>
          <p:nvPr/>
        </p:nvCxnSpPr>
        <p:spPr>
          <a:xfrm flipV="1">
            <a:off x="3291554" y="5132183"/>
            <a:ext cx="787455" cy="37013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stCxn id="12" idx="3"/>
            <a:endCxn id="10" idx="7"/>
          </p:cNvCxnSpPr>
          <p:nvPr/>
        </p:nvCxnSpPr>
        <p:spPr>
          <a:xfrm flipH="1">
            <a:off x="4483875" y="4347144"/>
            <a:ext cx="419804" cy="38017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stCxn id="7" idx="5"/>
            <a:endCxn id="6" idx="2"/>
          </p:cNvCxnSpPr>
          <p:nvPr/>
        </p:nvCxnSpPr>
        <p:spPr>
          <a:xfrm>
            <a:off x="2062567" y="5062142"/>
            <a:ext cx="656419" cy="44017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>
            <a:stCxn id="5" idx="3"/>
            <a:endCxn id="7" idx="0"/>
          </p:cNvCxnSpPr>
          <p:nvPr/>
        </p:nvCxnSpPr>
        <p:spPr>
          <a:xfrm flipH="1">
            <a:off x="1860134" y="3877125"/>
            <a:ext cx="370135" cy="6963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>
            <a:stCxn id="5" idx="7"/>
            <a:endCxn id="4" idx="2"/>
          </p:cNvCxnSpPr>
          <p:nvPr/>
        </p:nvCxnSpPr>
        <p:spPr>
          <a:xfrm flipV="1">
            <a:off x="2635135" y="2898449"/>
            <a:ext cx="606569" cy="57381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>
            <a:stCxn id="11" idx="5"/>
            <a:endCxn id="12" idx="0"/>
          </p:cNvCxnSpPr>
          <p:nvPr/>
        </p:nvCxnSpPr>
        <p:spPr>
          <a:xfrm>
            <a:off x="5037928" y="3304557"/>
            <a:ext cx="68184" cy="55387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1121504" y="2011228"/>
            <a:ext cx="49180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Parent of </a:t>
            </a:r>
            <a:r>
              <a:rPr lang="en-US" b="1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is </a:t>
            </a:r>
            <a:r>
              <a:rPr lang="en-US" b="1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if the level of </a:t>
            </a:r>
            <a:r>
              <a:rPr lang="en-US" b="1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is set by </a:t>
            </a:r>
            <a:r>
              <a:rPr lang="en-US" b="1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84289" y="2011228"/>
            <a:ext cx="1329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Level-0</a:t>
            </a:r>
          </a:p>
        </p:txBody>
      </p:sp>
      <p:sp>
        <p:nvSpPr>
          <p:cNvPr id="50" name="Oval 49"/>
          <p:cNvSpPr/>
          <p:nvPr/>
        </p:nvSpPr>
        <p:spPr>
          <a:xfrm>
            <a:off x="2718986" y="5216034"/>
            <a:ext cx="572568" cy="572568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/>
          <p:cNvSpPr txBox="1"/>
          <p:nvPr/>
        </p:nvSpPr>
        <p:spPr>
          <a:xfrm>
            <a:off x="2844509" y="5317652"/>
            <a:ext cx="332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622026" y="5757828"/>
            <a:ext cx="8503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source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48972" y="2384894"/>
            <a:ext cx="599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84289" y="2815401"/>
            <a:ext cx="1329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Level-1</a:t>
            </a:r>
          </a:p>
        </p:txBody>
      </p:sp>
      <p:sp>
        <p:nvSpPr>
          <p:cNvPr id="54" name="Oval 53"/>
          <p:cNvSpPr/>
          <p:nvPr/>
        </p:nvSpPr>
        <p:spPr>
          <a:xfrm>
            <a:off x="3995158" y="4641296"/>
            <a:ext cx="572568" cy="572568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/>
          <p:cNvSpPr/>
          <p:nvPr/>
        </p:nvSpPr>
        <p:spPr>
          <a:xfrm>
            <a:off x="1573850" y="4573425"/>
            <a:ext cx="572568" cy="572568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/>
          <p:cNvSpPr txBox="1"/>
          <p:nvPr/>
        </p:nvSpPr>
        <p:spPr>
          <a:xfrm>
            <a:off x="4127570" y="4757405"/>
            <a:ext cx="332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97373" y="4687364"/>
            <a:ext cx="332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48972" y="3222751"/>
            <a:ext cx="869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2, 3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84289" y="3672829"/>
            <a:ext cx="1329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Level-2</a:t>
            </a:r>
          </a:p>
        </p:txBody>
      </p:sp>
      <p:sp>
        <p:nvSpPr>
          <p:cNvPr id="58" name="Oval 57"/>
          <p:cNvSpPr/>
          <p:nvPr/>
        </p:nvSpPr>
        <p:spPr>
          <a:xfrm>
            <a:off x="4819684" y="3864620"/>
            <a:ext cx="572568" cy="572568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/>
          <p:cNvSpPr/>
          <p:nvPr/>
        </p:nvSpPr>
        <p:spPr>
          <a:xfrm>
            <a:off x="2849878" y="4144711"/>
            <a:ext cx="572568" cy="572568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/>
          <p:cNvSpPr/>
          <p:nvPr/>
        </p:nvSpPr>
        <p:spPr>
          <a:xfrm>
            <a:off x="2146418" y="3389120"/>
            <a:ext cx="572568" cy="572568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/>
          <p:cNvSpPr txBox="1"/>
          <p:nvPr/>
        </p:nvSpPr>
        <p:spPr>
          <a:xfrm>
            <a:off x="2266631" y="3502905"/>
            <a:ext cx="332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966303" y="4270610"/>
            <a:ext cx="332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940041" y="3977812"/>
            <a:ext cx="332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748971" y="4042161"/>
            <a:ext cx="869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0, 1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384289" y="4463745"/>
            <a:ext cx="1329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Level-3</a:t>
            </a:r>
          </a:p>
        </p:txBody>
      </p:sp>
      <p:sp>
        <p:nvSpPr>
          <p:cNvPr id="63" name="Oval 62"/>
          <p:cNvSpPr/>
          <p:nvPr/>
        </p:nvSpPr>
        <p:spPr>
          <a:xfrm>
            <a:off x="4543546" y="2818010"/>
            <a:ext cx="572568" cy="572568"/>
          </a:xfrm>
          <a:prstGeom prst="ellipse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/>
          <p:cNvSpPr/>
          <p:nvPr/>
        </p:nvSpPr>
        <p:spPr>
          <a:xfrm>
            <a:off x="3236039" y="2612165"/>
            <a:ext cx="572568" cy="572568"/>
          </a:xfrm>
          <a:prstGeom prst="ellipse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/>
          <p:cNvSpPr txBox="1"/>
          <p:nvPr/>
        </p:nvSpPr>
        <p:spPr>
          <a:xfrm>
            <a:off x="3365198" y="2731240"/>
            <a:ext cx="332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85091" y="2935225"/>
            <a:ext cx="332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8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748971" y="4836904"/>
            <a:ext cx="599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7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384289" y="5259194"/>
            <a:ext cx="1329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Level-4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748970" y="5588274"/>
            <a:ext cx="599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</a:t>
            </a:r>
          </a:p>
        </p:txBody>
      </p:sp>
      <p:sp>
        <p:nvSpPr>
          <p:cNvPr id="68" name="Oval 67"/>
          <p:cNvSpPr/>
          <p:nvPr/>
        </p:nvSpPr>
        <p:spPr>
          <a:xfrm>
            <a:off x="3626121" y="3467423"/>
            <a:ext cx="572568" cy="572568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/>
          <p:cNvSpPr txBox="1"/>
          <p:nvPr/>
        </p:nvSpPr>
        <p:spPr>
          <a:xfrm>
            <a:off x="3747342" y="3571211"/>
            <a:ext cx="332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</a:t>
            </a:r>
          </a:p>
        </p:txBody>
      </p:sp>
      <p:cxnSp>
        <p:nvCxnSpPr>
          <p:cNvPr id="13" name="Straight Arrow Connector 12"/>
          <p:cNvCxnSpPr>
            <a:stCxn id="50" idx="2"/>
            <a:endCxn id="7" idx="5"/>
          </p:cNvCxnSpPr>
          <p:nvPr/>
        </p:nvCxnSpPr>
        <p:spPr>
          <a:xfrm flipH="1" flipV="1">
            <a:off x="2062567" y="5062142"/>
            <a:ext cx="656419" cy="440176"/>
          </a:xfrm>
          <a:prstGeom prst="straightConnector1">
            <a:avLst/>
          </a:prstGeom>
          <a:ln w="571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50" idx="6"/>
            <a:endCxn id="54" idx="3"/>
          </p:cNvCxnSpPr>
          <p:nvPr/>
        </p:nvCxnSpPr>
        <p:spPr>
          <a:xfrm flipV="1">
            <a:off x="3291554" y="5130013"/>
            <a:ext cx="787455" cy="372305"/>
          </a:xfrm>
          <a:prstGeom prst="straightConnector1">
            <a:avLst/>
          </a:prstGeom>
          <a:ln w="571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55" idx="0"/>
            <a:endCxn id="60" idx="3"/>
          </p:cNvCxnSpPr>
          <p:nvPr/>
        </p:nvCxnSpPr>
        <p:spPr>
          <a:xfrm flipV="1">
            <a:off x="1860134" y="3877837"/>
            <a:ext cx="370135" cy="695588"/>
          </a:xfrm>
          <a:prstGeom prst="straightConnector1">
            <a:avLst/>
          </a:prstGeom>
          <a:ln w="571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55" idx="7"/>
            <a:endCxn id="59" idx="2"/>
          </p:cNvCxnSpPr>
          <p:nvPr/>
        </p:nvCxnSpPr>
        <p:spPr>
          <a:xfrm flipV="1">
            <a:off x="2062567" y="4430995"/>
            <a:ext cx="787311" cy="226281"/>
          </a:xfrm>
          <a:prstGeom prst="straightConnector1">
            <a:avLst/>
          </a:prstGeom>
          <a:ln w="571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7433454" y="4037628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5</a:t>
            </a:r>
          </a:p>
        </p:txBody>
      </p:sp>
      <p:cxnSp>
        <p:nvCxnSpPr>
          <p:cNvPr id="26" name="Straight Arrow Connector 25"/>
          <p:cNvCxnSpPr>
            <a:stCxn id="10" idx="7"/>
            <a:endCxn id="58" idx="3"/>
          </p:cNvCxnSpPr>
          <p:nvPr/>
        </p:nvCxnSpPr>
        <p:spPr>
          <a:xfrm flipV="1">
            <a:off x="4483875" y="4353337"/>
            <a:ext cx="419660" cy="373980"/>
          </a:xfrm>
          <a:prstGeom prst="straightConnector1">
            <a:avLst/>
          </a:prstGeom>
          <a:ln w="571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60" idx="7"/>
            <a:endCxn id="64" idx="2"/>
          </p:cNvCxnSpPr>
          <p:nvPr/>
        </p:nvCxnSpPr>
        <p:spPr>
          <a:xfrm flipV="1">
            <a:off x="2635135" y="2898449"/>
            <a:ext cx="600904" cy="574522"/>
          </a:xfrm>
          <a:prstGeom prst="straightConnector1">
            <a:avLst/>
          </a:prstGeom>
          <a:ln w="571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7147222" y="4828544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8</a:t>
            </a:r>
          </a:p>
        </p:txBody>
      </p:sp>
      <p:cxnSp>
        <p:nvCxnSpPr>
          <p:cNvPr id="33" name="Straight Arrow Connector 32"/>
          <p:cNvCxnSpPr>
            <a:stCxn id="58" idx="0"/>
            <a:endCxn id="11" idx="5"/>
          </p:cNvCxnSpPr>
          <p:nvPr/>
        </p:nvCxnSpPr>
        <p:spPr>
          <a:xfrm flipH="1" flipV="1">
            <a:off x="5037928" y="3304557"/>
            <a:ext cx="68040" cy="560063"/>
          </a:xfrm>
          <a:prstGeom prst="straightConnector1">
            <a:avLst/>
          </a:prstGeom>
          <a:ln w="571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64" idx="5"/>
            <a:endCxn id="68" idx="0"/>
          </p:cNvCxnSpPr>
          <p:nvPr/>
        </p:nvCxnSpPr>
        <p:spPr>
          <a:xfrm>
            <a:off x="3724756" y="3100882"/>
            <a:ext cx="187649" cy="366541"/>
          </a:xfrm>
          <a:prstGeom prst="straightConnector1">
            <a:avLst/>
          </a:prstGeom>
          <a:ln w="571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Rectangle 71"/>
          <p:cNvSpPr/>
          <p:nvPr/>
        </p:nvSpPr>
        <p:spPr>
          <a:xfrm>
            <a:off x="8169779" y="2935225"/>
            <a:ext cx="2985901" cy="212405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TextBox 72"/>
          <p:cNvSpPr txBox="1"/>
          <p:nvPr/>
        </p:nvSpPr>
        <p:spPr>
          <a:xfrm>
            <a:off x="8265158" y="3073546"/>
            <a:ext cx="27144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One vertex can have multiple child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265157" y="3913131"/>
            <a:ext cx="27144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But one vertex can not have multiple parent</a:t>
            </a:r>
          </a:p>
        </p:txBody>
      </p:sp>
      <p:sp>
        <p:nvSpPr>
          <p:cNvPr id="76" name="Date Placeholder 7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B64A8-BFA0-4A49-84C7-57C82932B326}" type="datetime1">
              <a:rPr lang="en-US" smtClean="0"/>
              <a:t>30-Sep-24</a:t>
            </a:fld>
            <a:endParaRPr lang="en-US"/>
          </a:p>
        </p:txBody>
      </p:sp>
      <p:sp>
        <p:nvSpPr>
          <p:cNvPr id="77" name="Footer Placeholder 7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SWAPNIL BISWAS</a:t>
            </a:r>
          </a:p>
        </p:txBody>
      </p:sp>
      <p:sp>
        <p:nvSpPr>
          <p:cNvPr id="78" name="Slide Number Placeholder 7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7CAF5-550C-4560-8A67-900A224557D8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67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2" grpId="0"/>
      <p:bldP spid="53" grpId="0"/>
      <p:bldP spid="54" grpId="0" animBg="1"/>
      <p:bldP spid="55" grpId="0" animBg="1"/>
      <p:bldP spid="56" grpId="0"/>
      <p:bldP spid="57" grpId="0"/>
      <p:bldP spid="58" grpId="0" animBg="1"/>
      <p:bldP spid="59" grpId="0" animBg="1"/>
      <p:bldP spid="60" grpId="0" animBg="1"/>
      <p:bldP spid="61" grpId="0"/>
      <p:bldP spid="62" grpId="0"/>
      <p:bldP spid="63" grpId="0" animBg="1"/>
      <p:bldP spid="64" grpId="0" animBg="1"/>
      <p:bldP spid="65" grpId="0"/>
      <p:bldP spid="66" grpId="0"/>
      <p:bldP spid="67" grpId="0"/>
      <p:bldP spid="68" grpId="0" animBg="1"/>
      <p:bldP spid="69" grpId="0"/>
      <p:bldP spid="70" grpId="0"/>
      <p:bldP spid="72" grpId="0" animBg="1"/>
      <p:bldP spid="73" grpId="0"/>
      <p:bldP spid="7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LEVEL  FINDING</a:t>
            </a:r>
          </a:p>
        </p:txBody>
      </p:sp>
      <p:sp>
        <p:nvSpPr>
          <p:cNvPr id="4" name="Oval 3"/>
          <p:cNvSpPr/>
          <p:nvPr/>
        </p:nvSpPr>
        <p:spPr>
          <a:xfrm>
            <a:off x="1413475" y="3741759"/>
            <a:ext cx="572568" cy="57256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2446946" y="2851447"/>
            <a:ext cx="572568" cy="57256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2446946" y="3741759"/>
            <a:ext cx="572568" cy="57256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1411766" y="4757285"/>
            <a:ext cx="572568" cy="57256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2446946" y="4757285"/>
            <a:ext cx="572568" cy="57256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3480417" y="4757285"/>
            <a:ext cx="572568" cy="57256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/>
          <p:cNvCxnSpPr>
            <a:stCxn id="5" idx="2"/>
            <a:endCxn id="4" idx="0"/>
          </p:cNvCxnSpPr>
          <p:nvPr/>
        </p:nvCxnSpPr>
        <p:spPr>
          <a:xfrm flipH="1">
            <a:off x="1699759" y="3137731"/>
            <a:ext cx="747187" cy="60402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5" idx="4"/>
            <a:endCxn id="6" idx="0"/>
          </p:cNvCxnSpPr>
          <p:nvPr/>
        </p:nvCxnSpPr>
        <p:spPr>
          <a:xfrm>
            <a:off x="2733230" y="3424015"/>
            <a:ext cx="0" cy="31774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4" idx="4"/>
            <a:endCxn id="8" idx="0"/>
          </p:cNvCxnSpPr>
          <p:nvPr/>
        </p:nvCxnSpPr>
        <p:spPr>
          <a:xfrm flipH="1">
            <a:off x="1698050" y="4314327"/>
            <a:ext cx="1709" cy="44295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6" idx="4"/>
            <a:endCxn id="9" idx="0"/>
          </p:cNvCxnSpPr>
          <p:nvPr/>
        </p:nvCxnSpPr>
        <p:spPr>
          <a:xfrm>
            <a:off x="2733230" y="4314327"/>
            <a:ext cx="0" cy="44295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6" idx="5"/>
            <a:endCxn id="10" idx="0"/>
          </p:cNvCxnSpPr>
          <p:nvPr/>
        </p:nvCxnSpPr>
        <p:spPr>
          <a:xfrm>
            <a:off x="2935663" y="4230476"/>
            <a:ext cx="831038" cy="52680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308049" y="2435865"/>
            <a:ext cx="8503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source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7269" y="2966282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31979" y="3843377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5450" y="3855444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1979" y="4858903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5450" y="4862372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04048" y="4858903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74023" y="1837768"/>
            <a:ext cx="100223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Propose a method to find the level of each vertex </a:t>
            </a:r>
            <a:r>
              <a:rPr lang="en-US" u="sng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where the source is given</a:t>
            </a:r>
            <a:r>
              <a:rPr lang="en-US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(Here source = A)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01596" y="2482115"/>
            <a:ext cx="3329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vertex </a:t>
            </a:r>
            <a:r>
              <a:rPr lang="en-US" b="1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passes 2 phases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07821" y="2907134"/>
            <a:ext cx="45007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Level of </a:t>
            </a:r>
            <a:r>
              <a:rPr lang="en-US" b="1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is set by some other vertex </a:t>
            </a:r>
            <a:r>
              <a:rPr lang="en-US" b="1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07821" y="3290709"/>
            <a:ext cx="44626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sets the level of some other vertex </a:t>
            </a:r>
            <a:r>
              <a:rPr lang="en-US" b="1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01596" y="3836395"/>
            <a:ext cx="4222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 phase-1: </a:t>
            </a:r>
            <a:r>
              <a:rPr lang="en-US" b="1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becomes the child of </a:t>
            </a:r>
            <a:r>
              <a:rPr lang="en-US" b="1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01596" y="4245656"/>
            <a:ext cx="4508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 phase-2: </a:t>
            </a:r>
            <a:r>
              <a:rPr lang="en-US" b="1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becomes the parent of </a:t>
            </a:r>
            <a:r>
              <a:rPr lang="en-US" b="1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7D6A0-C204-41E7-A86A-A5100004F749}" type="datetime1">
              <a:rPr lang="en-US" smtClean="0"/>
              <a:t>30-Sep-24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SWAPNIL BISWAS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7CAF5-550C-4560-8A67-900A224557D8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364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  <p:bldP spid="35" grpId="0"/>
      <p:bldP spid="36" grpId="0"/>
      <p:bldP spid="37" grpId="0"/>
      <p:bldP spid="3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LEVEL  FINDING</a:t>
            </a:r>
          </a:p>
        </p:txBody>
      </p:sp>
      <p:sp>
        <p:nvSpPr>
          <p:cNvPr id="4" name="Oval 3"/>
          <p:cNvSpPr/>
          <p:nvPr/>
        </p:nvSpPr>
        <p:spPr>
          <a:xfrm>
            <a:off x="1413475" y="3741759"/>
            <a:ext cx="572568" cy="57256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2446946" y="2851447"/>
            <a:ext cx="572568" cy="57256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2446946" y="3741759"/>
            <a:ext cx="572568" cy="57256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1411766" y="4757285"/>
            <a:ext cx="572568" cy="57256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2446946" y="4757285"/>
            <a:ext cx="572568" cy="57256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3480417" y="4757285"/>
            <a:ext cx="572568" cy="57256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/>
          <p:cNvCxnSpPr>
            <a:stCxn id="5" idx="2"/>
            <a:endCxn id="4" idx="0"/>
          </p:cNvCxnSpPr>
          <p:nvPr/>
        </p:nvCxnSpPr>
        <p:spPr>
          <a:xfrm flipH="1">
            <a:off x="1699759" y="3137731"/>
            <a:ext cx="747187" cy="60402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5" idx="4"/>
            <a:endCxn id="6" idx="0"/>
          </p:cNvCxnSpPr>
          <p:nvPr/>
        </p:nvCxnSpPr>
        <p:spPr>
          <a:xfrm>
            <a:off x="2733230" y="3424015"/>
            <a:ext cx="0" cy="31774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4" idx="4"/>
            <a:endCxn id="8" idx="0"/>
          </p:cNvCxnSpPr>
          <p:nvPr/>
        </p:nvCxnSpPr>
        <p:spPr>
          <a:xfrm flipH="1">
            <a:off x="1698050" y="4314327"/>
            <a:ext cx="1709" cy="44295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6" idx="4"/>
            <a:endCxn id="9" idx="0"/>
          </p:cNvCxnSpPr>
          <p:nvPr/>
        </p:nvCxnSpPr>
        <p:spPr>
          <a:xfrm>
            <a:off x="2733230" y="4314327"/>
            <a:ext cx="0" cy="44295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6" idx="5"/>
            <a:endCxn id="10" idx="0"/>
          </p:cNvCxnSpPr>
          <p:nvPr/>
        </p:nvCxnSpPr>
        <p:spPr>
          <a:xfrm>
            <a:off x="2935663" y="4230476"/>
            <a:ext cx="831038" cy="52680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308049" y="2435865"/>
            <a:ext cx="8503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source</a:t>
            </a:r>
          </a:p>
        </p:txBody>
      </p:sp>
      <p:sp>
        <p:nvSpPr>
          <p:cNvPr id="18" name="Oval 17"/>
          <p:cNvSpPr/>
          <p:nvPr/>
        </p:nvSpPr>
        <p:spPr>
          <a:xfrm>
            <a:off x="2446946" y="2851447"/>
            <a:ext cx="572568" cy="572568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2567269" y="2966282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</a:p>
        </p:txBody>
      </p:sp>
      <p:sp>
        <p:nvSpPr>
          <p:cNvPr id="20" name="Oval 19"/>
          <p:cNvSpPr/>
          <p:nvPr/>
        </p:nvSpPr>
        <p:spPr>
          <a:xfrm>
            <a:off x="1411766" y="3742010"/>
            <a:ext cx="572568" cy="572568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1531979" y="3843377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</a:t>
            </a:r>
          </a:p>
        </p:txBody>
      </p:sp>
      <p:sp>
        <p:nvSpPr>
          <p:cNvPr id="22" name="Oval 21"/>
          <p:cNvSpPr/>
          <p:nvPr/>
        </p:nvSpPr>
        <p:spPr>
          <a:xfrm>
            <a:off x="2445237" y="3741759"/>
            <a:ext cx="572568" cy="572568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2565450" y="3855444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</a:t>
            </a:r>
          </a:p>
        </p:txBody>
      </p:sp>
      <p:sp>
        <p:nvSpPr>
          <p:cNvPr id="26" name="Oval 25"/>
          <p:cNvSpPr/>
          <p:nvPr/>
        </p:nvSpPr>
        <p:spPr>
          <a:xfrm>
            <a:off x="1411766" y="4757285"/>
            <a:ext cx="572568" cy="57256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1531979" y="4858903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</a:t>
            </a:r>
          </a:p>
        </p:txBody>
      </p:sp>
      <p:sp>
        <p:nvSpPr>
          <p:cNvPr id="28" name="Oval 27"/>
          <p:cNvSpPr/>
          <p:nvPr/>
        </p:nvSpPr>
        <p:spPr>
          <a:xfrm>
            <a:off x="2445237" y="4757285"/>
            <a:ext cx="572568" cy="57256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/>
          <p:cNvSpPr txBox="1"/>
          <p:nvPr/>
        </p:nvSpPr>
        <p:spPr>
          <a:xfrm>
            <a:off x="2565450" y="4862372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</a:t>
            </a:r>
          </a:p>
        </p:txBody>
      </p:sp>
      <p:sp>
        <p:nvSpPr>
          <p:cNvPr id="30" name="Oval 29"/>
          <p:cNvSpPr/>
          <p:nvPr/>
        </p:nvSpPr>
        <p:spPr>
          <a:xfrm>
            <a:off x="3476999" y="4756654"/>
            <a:ext cx="572568" cy="57256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>
            <a:off x="3604048" y="4858903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74023" y="1837768"/>
            <a:ext cx="100223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Propose a method to find the level of each vertex </a:t>
            </a:r>
            <a:r>
              <a:rPr lang="en-US" u="sng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where the source is given</a:t>
            </a:r>
            <a:r>
              <a:rPr lang="en-US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(Here source = A)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01596" y="2482115"/>
            <a:ext cx="3329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vertex </a:t>
            </a:r>
            <a:r>
              <a:rPr lang="en-US" b="1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passes 2 phases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07821" y="2907134"/>
            <a:ext cx="45007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Level of </a:t>
            </a:r>
            <a:r>
              <a:rPr lang="en-US" b="1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is set by some other vertex </a:t>
            </a:r>
            <a:r>
              <a:rPr lang="en-US" b="1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07821" y="3290709"/>
            <a:ext cx="44626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sets the level of some other vertex </a:t>
            </a:r>
            <a:r>
              <a:rPr lang="en-US" b="1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01596" y="3836395"/>
            <a:ext cx="4222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 phase-1: </a:t>
            </a:r>
            <a:r>
              <a:rPr lang="en-US" b="1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becomes the child of </a:t>
            </a:r>
            <a:r>
              <a:rPr lang="en-US" b="1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01596" y="4245656"/>
            <a:ext cx="4508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 phase-2: </a:t>
            </a:r>
            <a:r>
              <a:rPr lang="en-US" b="1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becomes the parent of </a:t>
            </a:r>
            <a:r>
              <a:rPr lang="en-US" b="1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</a:t>
            </a:r>
          </a:p>
        </p:txBody>
      </p:sp>
      <p:sp>
        <p:nvSpPr>
          <p:cNvPr id="39" name="Date Placeholder 3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9E0B8-8A4F-40B1-ACF9-581189EF24EA}" type="datetime1">
              <a:rPr lang="en-US" smtClean="0"/>
              <a:t>30-Sep-24</a:t>
            </a:fld>
            <a:endParaRPr lang="en-US"/>
          </a:p>
        </p:txBody>
      </p:sp>
      <p:sp>
        <p:nvSpPr>
          <p:cNvPr id="40" name="Footer Placeholder 3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SWAPNIL BISWAS</a:t>
            </a:r>
          </a:p>
        </p:txBody>
      </p:sp>
      <p:sp>
        <p:nvSpPr>
          <p:cNvPr id="41" name="Slide Number Placeholder 4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7CAF5-550C-4560-8A67-900A224557D8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335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  <p:bldP spid="35" grpId="0"/>
      <p:bldP spid="36" grpId="0"/>
      <p:bldP spid="37" grpId="0"/>
      <p:bldP spid="3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LEVEL  FINDING</a:t>
            </a:r>
          </a:p>
        </p:txBody>
      </p:sp>
      <p:sp>
        <p:nvSpPr>
          <p:cNvPr id="4" name="Oval 3"/>
          <p:cNvSpPr/>
          <p:nvPr/>
        </p:nvSpPr>
        <p:spPr>
          <a:xfrm>
            <a:off x="1413475" y="3741759"/>
            <a:ext cx="572568" cy="57256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2446946" y="2851447"/>
            <a:ext cx="572568" cy="57256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2446946" y="3741759"/>
            <a:ext cx="572568" cy="57256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1411766" y="4757285"/>
            <a:ext cx="572568" cy="57256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2446946" y="4757285"/>
            <a:ext cx="572568" cy="57256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3480417" y="4757285"/>
            <a:ext cx="572568" cy="57256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/>
          <p:cNvCxnSpPr>
            <a:stCxn id="5" idx="2"/>
            <a:endCxn id="4" idx="0"/>
          </p:cNvCxnSpPr>
          <p:nvPr/>
        </p:nvCxnSpPr>
        <p:spPr>
          <a:xfrm flipH="1">
            <a:off x="1699759" y="3137731"/>
            <a:ext cx="747187" cy="60402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5" idx="4"/>
            <a:endCxn id="6" idx="0"/>
          </p:cNvCxnSpPr>
          <p:nvPr/>
        </p:nvCxnSpPr>
        <p:spPr>
          <a:xfrm>
            <a:off x="2733230" y="3424015"/>
            <a:ext cx="0" cy="31774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4" idx="4"/>
            <a:endCxn id="8" idx="0"/>
          </p:cNvCxnSpPr>
          <p:nvPr/>
        </p:nvCxnSpPr>
        <p:spPr>
          <a:xfrm flipH="1">
            <a:off x="1698050" y="4314327"/>
            <a:ext cx="1709" cy="44295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6" idx="4"/>
            <a:endCxn id="9" idx="0"/>
          </p:cNvCxnSpPr>
          <p:nvPr/>
        </p:nvCxnSpPr>
        <p:spPr>
          <a:xfrm>
            <a:off x="2733230" y="4314327"/>
            <a:ext cx="0" cy="44295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6" idx="5"/>
            <a:endCxn id="10" idx="0"/>
          </p:cNvCxnSpPr>
          <p:nvPr/>
        </p:nvCxnSpPr>
        <p:spPr>
          <a:xfrm>
            <a:off x="2935663" y="4230476"/>
            <a:ext cx="831038" cy="52680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308049" y="2435865"/>
            <a:ext cx="8503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source</a:t>
            </a:r>
          </a:p>
        </p:txBody>
      </p:sp>
      <p:sp>
        <p:nvSpPr>
          <p:cNvPr id="18" name="Oval 17"/>
          <p:cNvSpPr/>
          <p:nvPr/>
        </p:nvSpPr>
        <p:spPr>
          <a:xfrm>
            <a:off x="2446946" y="2851447"/>
            <a:ext cx="572568" cy="572568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2567269" y="2966282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</a:p>
        </p:txBody>
      </p:sp>
      <p:sp>
        <p:nvSpPr>
          <p:cNvPr id="20" name="Oval 19"/>
          <p:cNvSpPr/>
          <p:nvPr/>
        </p:nvSpPr>
        <p:spPr>
          <a:xfrm>
            <a:off x="1411766" y="3742010"/>
            <a:ext cx="572568" cy="572568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1531979" y="3843377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</a:t>
            </a:r>
          </a:p>
        </p:txBody>
      </p:sp>
      <p:sp>
        <p:nvSpPr>
          <p:cNvPr id="22" name="Oval 21"/>
          <p:cNvSpPr/>
          <p:nvPr/>
        </p:nvSpPr>
        <p:spPr>
          <a:xfrm>
            <a:off x="2445237" y="3741759"/>
            <a:ext cx="572568" cy="572568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2565450" y="3855444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</a:t>
            </a:r>
          </a:p>
        </p:txBody>
      </p:sp>
      <p:sp>
        <p:nvSpPr>
          <p:cNvPr id="26" name="Oval 25"/>
          <p:cNvSpPr/>
          <p:nvPr/>
        </p:nvSpPr>
        <p:spPr>
          <a:xfrm>
            <a:off x="1411766" y="4757285"/>
            <a:ext cx="572568" cy="57256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1531979" y="4858903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</a:t>
            </a:r>
          </a:p>
        </p:txBody>
      </p:sp>
      <p:sp>
        <p:nvSpPr>
          <p:cNvPr id="28" name="Oval 27"/>
          <p:cNvSpPr/>
          <p:nvPr/>
        </p:nvSpPr>
        <p:spPr>
          <a:xfrm>
            <a:off x="2445237" y="4757285"/>
            <a:ext cx="572568" cy="57256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/>
          <p:cNvSpPr txBox="1"/>
          <p:nvPr/>
        </p:nvSpPr>
        <p:spPr>
          <a:xfrm>
            <a:off x="2565450" y="4862372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</a:t>
            </a:r>
          </a:p>
        </p:txBody>
      </p:sp>
      <p:sp>
        <p:nvSpPr>
          <p:cNvPr id="30" name="Oval 29"/>
          <p:cNvSpPr/>
          <p:nvPr/>
        </p:nvSpPr>
        <p:spPr>
          <a:xfrm>
            <a:off x="3476999" y="4756654"/>
            <a:ext cx="572568" cy="57256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>
            <a:off x="3604048" y="4858903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74023" y="1837768"/>
            <a:ext cx="100223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Propose a method to find the level of each vertex </a:t>
            </a:r>
            <a:r>
              <a:rPr lang="en-US" u="sng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where the source is given</a:t>
            </a:r>
            <a:r>
              <a:rPr lang="en-US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(Here source = A)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05597" y="2482115"/>
            <a:ext cx="20590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There is a story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46004" y="3630200"/>
            <a:ext cx="7003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When someone exits from the </a:t>
            </a:r>
            <a:r>
              <a:rPr lang="en-US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danger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line, he becomes senior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46004" y="2843920"/>
            <a:ext cx="2798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There is a </a:t>
            </a:r>
            <a:r>
              <a:rPr lang="en-US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danger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line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46004" y="3237060"/>
            <a:ext cx="7083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Everyone must pass the </a:t>
            </a:r>
            <a:r>
              <a:rPr lang="en-US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danger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line to become a senior student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7197808" y="5178375"/>
            <a:ext cx="346104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>
            <a:off x="7197807" y="5860614"/>
            <a:ext cx="346104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4246003" y="4023340"/>
            <a:ext cx="63139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Then that senior pushes all his juniors in the </a:t>
            </a:r>
            <a:r>
              <a:rPr lang="en-US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danger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line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46002" y="4435610"/>
            <a:ext cx="56071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Source is the first person to enter the </a:t>
            </a:r>
            <a:r>
              <a:rPr lang="en-US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danger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line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17377" y="4972395"/>
            <a:ext cx="1010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Senior: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527590" y="4984575"/>
            <a:ext cx="7954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NULL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17376" y="5331899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Level: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527590" y="5353907"/>
            <a:ext cx="7954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NULL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17376" y="5723239"/>
            <a:ext cx="989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Junior: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527590" y="5735419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077192" y="2840915"/>
            <a:ext cx="332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97807" y="5317866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578890" y="4984575"/>
            <a:ext cx="877162" cy="11323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/>
          <p:cNvSpPr txBox="1"/>
          <p:nvPr/>
        </p:nvSpPr>
        <p:spPr>
          <a:xfrm>
            <a:off x="5593734" y="4972395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244682" y="5291706"/>
            <a:ext cx="296489" cy="4216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/>
          <p:cNvSpPr txBox="1"/>
          <p:nvPr/>
        </p:nvSpPr>
        <p:spPr>
          <a:xfrm>
            <a:off x="5581931" y="5333182"/>
            <a:ext cx="332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589521" y="5723239"/>
            <a:ext cx="6367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B, C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135350" y="5342268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589028" y="5341857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97260" y="3861305"/>
            <a:ext cx="332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051164" y="3787614"/>
            <a:ext cx="332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525434" y="5012886"/>
            <a:ext cx="877162" cy="11323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/>
          <p:cNvSpPr/>
          <p:nvPr/>
        </p:nvSpPr>
        <p:spPr>
          <a:xfrm>
            <a:off x="7100151" y="5312459"/>
            <a:ext cx="753434" cy="5042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/>
          <p:cNvSpPr txBox="1"/>
          <p:nvPr/>
        </p:nvSpPr>
        <p:spPr>
          <a:xfrm>
            <a:off x="5465304" y="4998555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202617" y="5341727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453593" y="5359997"/>
            <a:ext cx="332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477522" y="5717149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74494" y="4858903"/>
            <a:ext cx="332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588708" y="5345216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503361" y="4954125"/>
            <a:ext cx="877162" cy="11323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TextBox 74"/>
          <p:cNvSpPr txBox="1"/>
          <p:nvPr/>
        </p:nvSpPr>
        <p:spPr>
          <a:xfrm>
            <a:off x="5493045" y="5005889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244682" y="5360643"/>
            <a:ext cx="877162" cy="3384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TextBox 76"/>
          <p:cNvSpPr txBox="1"/>
          <p:nvPr/>
        </p:nvSpPr>
        <p:spPr>
          <a:xfrm>
            <a:off x="7237446" y="5361690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477522" y="5397395"/>
            <a:ext cx="332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418855" y="5693731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F, D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616147" y="5369462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994016" y="5369462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168639" y="4828220"/>
            <a:ext cx="332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191105" y="4827402"/>
            <a:ext cx="332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440904" y="4894944"/>
            <a:ext cx="877162" cy="11323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TextBox 84"/>
          <p:cNvSpPr txBox="1"/>
          <p:nvPr/>
        </p:nvSpPr>
        <p:spPr>
          <a:xfrm>
            <a:off x="5480384" y="4990981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218372" y="5350246"/>
            <a:ext cx="1135037" cy="3494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TextBox 86"/>
          <p:cNvSpPr txBox="1"/>
          <p:nvPr/>
        </p:nvSpPr>
        <p:spPr>
          <a:xfrm>
            <a:off x="7211421" y="5352844"/>
            <a:ext cx="696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   D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481518" y="5403532"/>
            <a:ext cx="332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433893" y="5727225"/>
            <a:ext cx="7954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NULL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464833" y="4950387"/>
            <a:ext cx="877162" cy="11323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TextBox 90"/>
          <p:cNvSpPr txBox="1"/>
          <p:nvPr/>
        </p:nvSpPr>
        <p:spPr>
          <a:xfrm>
            <a:off x="5488260" y="4997071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196340" y="5331899"/>
            <a:ext cx="877162" cy="3845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TextBox 92"/>
          <p:cNvSpPr txBox="1"/>
          <p:nvPr/>
        </p:nvSpPr>
        <p:spPr>
          <a:xfrm>
            <a:off x="7189924" y="5365114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487752" y="5382296"/>
            <a:ext cx="332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498110" y="5761755"/>
            <a:ext cx="7954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NULL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501832" y="4915857"/>
            <a:ext cx="877162" cy="11323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TextBox 96"/>
          <p:cNvSpPr txBox="1"/>
          <p:nvPr/>
        </p:nvSpPr>
        <p:spPr>
          <a:xfrm>
            <a:off x="5497010" y="5001903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254891" y="5404576"/>
            <a:ext cx="877162" cy="4009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TextBox 98"/>
          <p:cNvSpPr txBox="1"/>
          <p:nvPr/>
        </p:nvSpPr>
        <p:spPr>
          <a:xfrm>
            <a:off x="5511586" y="5413489"/>
            <a:ext cx="332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505708" y="5761280"/>
            <a:ext cx="7954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NULL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5520276" y="4976957"/>
            <a:ext cx="877162" cy="11323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TextBox 102"/>
          <p:cNvSpPr txBox="1"/>
          <p:nvPr/>
        </p:nvSpPr>
        <p:spPr>
          <a:xfrm rot="19256232">
            <a:off x="5606815" y="5404679"/>
            <a:ext cx="679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END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145821" y="5907494"/>
            <a:ext cx="46634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Write down the seniority sequence</a:t>
            </a:r>
          </a:p>
        </p:txBody>
      </p:sp>
      <p:sp>
        <p:nvSpPr>
          <p:cNvPr id="105" name="Date Placeholder 10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5C132-37A2-4258-8736-3775DA58CDF6}" type="datetime1">
              <a:rPr lang="en-US" smtClean="0"/>
              <a:t>30-Sep-24</a:t>
            </a:fld>
            <a:endParaRPr lang="en-US"/>
          </a:p>
        </p:txBody>
      </p:sp>
      <p:sp>
        <p:nvSpPr>
          <p:cNvPr id="106" name="Footer Placeholder 10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SWAPNIL BISWAS</a:t>
            </a:r>
          </a:p>
        </p:txBody>
      </p:sp>
      <p:sp>
        <p:nvSpPr>
          <p:cNvPr id="107" name="Slide Number Placeholder 10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7CAF5-550C-4560-8A67-900A224557D8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160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4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5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6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7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2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3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indefinite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8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9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2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3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indefinite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8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1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fill="hold">
                      <p:stCondLst>
                        <p:cond delay="indefinite"/>
                      </p:stCondLst>
                      <p:childTnLst>
                        <p:par>
                          <p:cTn id="239" fill="hold">
                            <p:stCondLst>
                              <p:cond delay="0"/>
                            </p:stCondLst>
                            <p:childTnLst>
                              <p:par>
                                <p:cTn id="2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2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7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8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1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4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9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0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1" fill="hold">
                      <p:stCondLst>
                        <p:cond delay="indefinite"/>
                      </p:stCondLst>
                      <p:childTnLst>
                        <p:par>
                          <p:cTn id="262" fill="hold">
                            <p:stCondLst>
                              <p:cond delay="0"/>
                            </p:stCondLst>
                            <p:childTnLst>
                              <p:par>
                                <p:cTn id="2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5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6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7" fill="hold">
                      <p:stCondLst>
                        <p:cond delay="indefinite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1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2" fill="hold">
                      <p:stCondLst>
                        <p:cond delay="indefinite"/>
                      </p:stCondLst>
                      <p:childTnLst>
                        <p:par>
                          <p:cTn id="273" fill="hold">
                            <p:stCondLst>
                              <p:cond delay="0"/>
                            </p:stCondLst>
                            <p:childTnLst>
                              <p:par>
                                <p:cTn id="27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6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7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0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3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4" fill="hold">
                      <p:stCondLst>
                        <p:cond delay="indefinite"/>
                      </p:stCondLst>
                      <p:childTnLst>
                        <p:par>
                          <p:cTn id="285" fill="hold">
                            <p:stCondLst>
                              <p:cond delay="0"/>
                            </p:stCondLst>
                            <p:childTnLst>
                              <p:par>
                                <p:cTn id="28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8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9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0" fill="hold">
                      <p:stCondLst>
                        <p:cond delay="indefinite"/>
                      </p:stCondLst>
                      <p:childTnLst>
                        <p:par>
                          <p:cTn id="291" fill="hold">
                            <p:stCondLst>
                              <p:cond delay="0"/>
                            </p:stCondLst>
                            <p:childTnLst>
                              <p:par>
                                <p:cTn id="29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4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5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6" fill="hold">
                      <p:stCondLst>
                        <p:cond delay="indefinite"/>
                      </p:stCondLst>
                      <p:childTnLst>
                        <p:par>
                          <p:cTn id="297" fill="hold">
                            <p:stCondLst>
                              <p:cond delay="0"/>
                            </p:stCondLst>
                            <p:childTnLst>
                              <p:par>
                                <p:cTn id="2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0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3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6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7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8" fill="hold">
                      <p:stCondLst>
                        <p:cond delay="indefinite"/>
                      </p:stCondLst>
                      <p:childTnLst>
                        <p:par>
                          <p:cTn id="309" fill="hold">
                            <p:stCondLst>
                              <p:cond delay="0"/>
                            </p:stCondLst>
                            <p:childTnLst>
                              <p:par>
                                <p:cTn id="3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2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3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4" fill="hold">
                      <p:stCondLst>
                        <p:cond delay="indefinite"/>
                      </p:stCondLst>
                      <p:childTnLst>
                        <p:par>
                          <p:cTn id="315" fill="hold">
                            <p:stCondLst>
                              <p:cond delay="0"/>
                            </p:stCondLst>
                            <p:childTnLst>
                              <p:par>
                                <p:cTn id="3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8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9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0" fill="hold">
                      <p:stCondLst>
                        <p:cond delay="indefinite"/>
                      </p:stCondLst>
                      <p:childTnLst>
                        <p:par>
                          <p:cTn id="321" fill="hold">
                            <p:stCondLst>
                              <p:cond delay="0"/>
                            </p:stCondLst>
                            <p:childTnLst>
                              <p:par>
                                <p:cTn id="3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4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5" fill="hold">
                      <p:stCondLst>
                        <p:cond delay="indefinite"/>
                      </p:stCondLst>
                      <p:childTnLst>
                        <p:par>
                          <p:cTn id="326" fill="hold">
                            <p:stCondLst>
                              <p:cond delay="0"/>
                            </p:stCondLst>
                            <p:childTnLst>
                              <p:par>
                                <p:cTn id="3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9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0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3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4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0" grpId="0" animBg="1"/>
      <p:bldP spid="22" grpId="0" animBg="1"/>
      <p:bldP spid="26" grpId="0" animBg="1"/>
      <p:bldP spid="28" grpId="0" animBg="1"/>
      <p:bldP spid="30" grpId="0" animBg="1"/>
      <p:bldP spid="34" grpId="0"/>
      <p:bldP spid="39" grpId="0"/>
      <p:bldP spid="40" grpId="0"/>
      <p:bldP spid="41" grpId="0"/>
      <p:bldP spid="43" grpId="0"/>
      <p:bldP spid="44" grpId="0"/>
      <p:bldP spid="45" grpId="0"/>
      <p:bldP spid="46" grpId="0"/>
      <p:bldP spid="48" grpId="0"/>
      <p:bldP spid="49" grpId="0"/>
      <p:bldP spid="50" grpId="0"/>
      <p:bldP spid="51" grpId="0"/>
      <p:bldP spid="52" grpId="0"/>
      <p:bldP spid="53" grpId="0"/>
      <p:bldP spid="55" grpId="0" animBg="1"/>
      <p:bldP spid="56" grpId="0"/>
      <p:bldP spid="57" grpId="0" animBg="1"/>
      <p:bldP spid="58" grpId="0"/>
      <p:bldP spid="59" grpId="0"/>
      <p:bldP spid="60" grpId="0"/>
      <p:bldP spid="61" grpId="0"/>
      <p:bldP spid="62" grpId="0"/>
      <p:bldP spid="63" grpId="0"/>
      <p:bldP spid="64" grpId="0" animBg="1"/>
      <p:bldP spid="66" grpId="0" animBg="1"/>
      <p:bldP spid="67" grpId="0"/>
      <p:bldP spid="65" grpId="0"/>
      <p:bldP spid="69" grpId="0"/>
      <p:bldP spid="70" grpId="0"/>
      <p:bldP spid="71" grpId="0"/>
      <p:bldP spid="72" grpId="0"/>
      <p:bldP spid="73" grpId="0" animBg="1"/>
      <p:bldP spid="75" grpId="0"/>
      <p:bldP spid="76" grpId="0" animBg="1"/>
      <p:bldP spid="77" grpId="0"/>
      <p:bldP spid="78" grpId="0"/>
      <p:bldP spid="79" grpId="0"/>
      <p:bldP spid="80" grpId="0"/>
      <p:bldP spid="81" grpId="0"/>
      <p:bldP spid="82" grpId="0"/>
      <p:bldP spid="83" grpId="0"/>
      <p:bldP spid="84" grpId="0" animBg="1"/>
      <p:bldP spid="85" grpId="0"/>
      <p:bldP spid="86" grpId="0" animBg="1"/>
      <p:bldP spid="87" grpId="0"/>
      <p:bldP spid="88" grpId="0"/>
      <p:bldP spid="89" grpId="0"/>
      <p:bldP spid="90" grpId="0" animBg="1"/>
      <p:bldP spid="91" grpId="0"/>
      <p:bldP spid="92" grpId="0" animBg="1"/>
      <p:bldP spid="93" grpId="0"/>
      <p:bldP spid="94" grpId="0"/>
      <p:bldP spid="95" grpId="0"/>
      <p:bldP spid="96" grpId="0" animBg="1"/>
      <p:bldP spid="97" grpId="0"/>
      <p:bldP spid="98" grpId="0" animBg="1"/>
      <p:bldP spid="99" grpId="0"/>
      <p:bldP spid="101" grpId="0"/>
      <p:bldP spid="102" grpId="0" animBg="1"/>
      <p:bldP spid="103" grpId="0"/>
      <p:bldP spid="104" grpId="0"/>
    </p:bldLst>
  </p:timing>
</p:sld>
</file>

<file path=ppt/theme/theme1.xml><?xml version="1.0" encoding="utf-8"?>
<a:theme xmlns:a="http://schemas.openxmlformats.org/drawingml/2006/main" name="Swapnil">
  <a:themeElements>
    <a:clrScheme name="Retrospect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wapnil" id="{5D784A22-E3FE-414C-A0F8-91ADBFB46EC2}" vid="{872D0E90-6D7F-4EF3-AD0B-6E7EBD1D98A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Swapnil</Template>
  <TotalTime>1271</TotalTime>
  <Words>2324</Words>
  <Application>Microsoft Office PowerPoint</Application>
  <PresentationFormat>Widescreen</PresentationFormat>
  <Paragraphs>863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4" baseType="lpstr">
      <vt:lpstr>Arial</vt:lpstr>
      <vt:lpstr>Bahnschrift</vt:lpstr>
      <vt:lpstr>Calibri</vt:lpstr>
      <vt:lpstr>Georgia</vt:lpstr>
      <vt:lpstr>Google Sans</vt:lpstr>
      <vt:lpstr>Tahoma</vt:lpstr>
      <vt:lpstr>Times New Roman</vt:lpstr>
      <vt:lpstr>Wingdings</vt:lpstr>
      <vt:lpstr>Swapnil</vt:lpstr>
      <vt:lpstr>BREADTH  FIRST  SEARCH</vt:lpstr>
      <vt:lpstr>VERTEX  REPRESENTATION</vt:lpstr>
      <vt:lpstr>Edge Representation</vt:lpstr>
      <vt:lpstr>Graph Classification</vt:lpstr>
      <vt:lpstr>Adjacent Vertex (Undirected Graph)</vt:lpstr>
      <vt:lpstr>Adjacent Vertex (Directed Graph)</vt:lpstr>
      <vt:lpstr>Graph Representation in Computer</vt:lpstr>
      <vt:lpstr>Adjacency Matrix: Directed Graph</vt:lpstr>
      <vt:lpstr>Adjacency Matrix: Undirected Graph</vt:lpstr>
      <vt:lpstr>Task</vt:lpstr>
      <vt:lpstr>Adjacency List: Directed Graph</vt:lpstr>
      <vt:lpstr>Adjacency List: Undirected Graph</vt:lpstr>
      <vt:lpstr>Input of Directed Graph</vt:lpstr>
      <vt:lpstr>Input of Undirected Graph</vt:lpstr>
      <vt:lpstr>Task</vt:lpstr>
      <vt:lpstr>Questions and Answers</vt:lpstr>
      <vt:lpstr>LINEAR  SEARCHING</vt:lpstr>
      <vt:lpstr>GRAPH  SEARCHING</vt:lpstr>
      <vt:lpstr>LEVEL  OF  A  VERTEX</vt:lpstr>
      <vt:lpstr>LEVEL  OF  A  VERTEX</vt:lpstr>
      <vt:lpstr>EXERCISE</vt:lpstr>
      <vt:lpstr>PARENT  CHILD  RELATION</vt:lpstr>
      <vt:lpstr>LEVEL  FINDING</vt:lpstr>
      <vt:lpstr>LEVEL  FINDING</vt:lpstr>
      <vt:lpstr>LEVEL  FINDING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ACER</dc:creator>
  <cp:lastModifiedBy>Ehasan Mahmud</cp:lastModifiedBy>
  <cp:revision>257</cp:revision>
  <dcterms:created xsi:type="dcterms:W3CDTF">2022-05-28T09:40:38Z</dcterms:created>
  <dcterms:modified xsi:type="dcterms:W3CDTF">2024-09-30T13:05:14Z</dcterms:modified>
</cp:coreProperties>
</file>