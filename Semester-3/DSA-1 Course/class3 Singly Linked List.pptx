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0" r:id="rId1"/>
  </p:sldMasterIdLst>
  <p:notesMasterIdLst>
    <p:notesMasterId r:id="rId31"/>
  </p:notesMasterIdLst>
  <p:sldIdLst>
    <p:sldId id="256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86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3" r:id="rId25"/>
    <p:sldId id="284" r:id="rId26"/>
    <p:sldId id="285" r:id="rId27"/>
    <p:sldId id="287" r:id="rId28"/>
    <p:sldId id="288" r:id="rId29"/>
    <p:sldId id="260" r:id="rId30"/>
  </p:sldIdLst>
  <p:sldSz cx="12192000" cy="6858000"/>
  <p:notesSz cx="6858000" cy="9144000"/>
  <p:embeddedFontLst>
    <p:embeddedFont>
      <p:font typeface="Calisto MT" panose="02040603050505030304" pitchFamily="18" charset="0"/>
      <p:regular r:id="rId32"/>
      <p:bold r:id="rId33"/>
      <p:italic r:id="rId34"/>
      <p:boldItalic r:id="rId35"/>
    </p:embeddedFont>
    <p:embeddedFont>
      <p:font typeface="Lustria" panose="020B0604020202020204" charset="0"/>
      <p:regular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39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5B0E107A-E1BE-4FF4-267B-3C5CE8171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94087848-E317-FD4D-4EDF-C67D190F34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>
            <a:extLst>
              <a:ext uri="{FF2B5EF4-FFF2-40B4-BE49-F238E27FC236}">
                <a16:creationId xmlns:a16="http://schemas.microsoft.com/office/drawing/2014/main" id="{C591979D-985E-0D84-B2E7-3A6F085C84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836850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2" name="Google Shape;62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3" name="Google Shape;623;p5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SWAPNIL  BISWAS, CSE, MIST</a:t>
            </a:r>
            <a:endParaRPr/>
          </a:p>
        </p:txBody>
      </p:sp>
      <p:sp>
        <p:nvSpPr>
          <p:cNvPr id="624" name="Google Shape;624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1">
                <a:solidFill>
                  <a:srgbClr val="FF0000"/>
                </a:solidFill>
                <a:latin typeface="Times New Roman" panose="02020603050405020304" pitchFamily="18" charset="0"/>
                <a:ea typeface="Adobe Gothic Std B" panose="020B0800000000000000" pitchFamily="34" charset="-128"/>
                <a:cs typeface="Times New Roman" panose="02020603050405020304" pitchFamily="18" charset="0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7" name="Google Shape;17;p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 b="1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811699E4-54BD-425A-B974-B9C5510FE47E}" type="datetime4">
              <a:rPr lang="en-US" smtClean="0"/>
              <a:t>March 6, 2024</a:t>
            </a:fld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Prepared By: Swapnil Biswas, CSE, BSMRU, Kishoreganj</a:t>
            </a:r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49F532-7243-47FC-D09C-D4713F1C03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06312" y="1322759"/>
            <a:ext cx="1566675" cy="147828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1">
                <a:solidFill>
                  <a:srgbClr val="FF0000"/>
                </a:solidFill>
                <a:latin typeface="Times New Roman" panose="02020603050405020304" pitchFamily="18" charset="0"/>
                <a:ea typeface="Adobe Gothic Std B" panose="020B0800000000000000" pitchFamily="34" charset="-128"/>
                <a:cs typeface="Times New Roman" panose="02020603050405020304" pitchFamily="18" charset="0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Lustria"/>
                <a:ea typeface="Lustria"/>
                <a:cs typeface="Lustria"/>
                <a:sym typeface="Lustria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Lustria"/>
                <a:ea typeface="Lustria"/>
                <a:cs typeface="Lustria"/>
                <a:sym typeface="Lustria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Lustria"/>
                <a:ea typeface="Lustria"/>
                <a:cs typeface="Lustria"/>
                <a:sym typeface="Lustria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Lustria"/>
                <a:ea typeface="Lustria"/>
                <a:cs typeface="Lustria"/>
                <a:sym typeface="Lustria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Lustria"/>
                <a:ea typeface="Lustria"/>
                <a:cs typeface="Lustria"/>
                <a:sym typeface="Lustria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5CA62E38-59FD-451F-9AA6-B569CE35F9BD}" type="datetime4">
              <a:rPr lang="en-US" smtClean="0"/>
              <a:t>March 6, 2024</a:t>
            </a:fld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Prepared By: Swapnil Biswas, CSE, BSMRU, Kishoreganj</a:t>
            </a:r>
            <a:endParaRPr dirty="0"/>
          </a:p>
        </p:txBody>
      </p:sp>
      <p:sp>
        <p:nvSpPr>
          <p:cNvPr id="28" name="Google Shape;28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12ABEE-1D5C-F7DD-FA00-0B67D876F4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91474" y="230188"/>
            <a:ext cx="1124651" cy="10611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Lustria"/>
                <a:ea typeface="Lustria"/>
                <a:cs typeface="Lustria"/>
                <a:sym typeface="Lustr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ED59170E-FA97-4EBC-91AA-D9408DCB5C9E}" type="datetime4">
              <a:rPr lang="en-US" smtClean="0"/>
              <a:t>March 6, 2024</a:t>
            </a:fld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Lustria"/>
                <a:ea typeface="Lustria"/>
                <a:cs typeface="Lustria"/>
                <a:sym typeface="Lustr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Prepared By: Swapnil Biswas, CSE, BSMRU, Kishoreganj</a:t>
            </a:r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9D2200BD-6997-40CF-A696-287A7193B0AB}" type="datetime4">
              <a:rPr lang="en-US" smtClean="0"/>
              <a:t>March 6, 2024</a:t>
            </a:fld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Prepared By: Swapnil Biswas, CSE, BSMRU, Kishoreganj</a:t>
            </a:r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02853AEC-41FE-414C-A5B2-71CEE9911443}" type="datetime4">
              <a:rPr lang="en-US" smtClean="0"/>
              <a:t>March 6, 2024</a:t>
            </a:fld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Prepared By: Swapnil Biswas, CSE, BSMRU, Kishoreganj</a:t>
            </a:r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7C08D174-C8E7-4CCD-B906-256E6E04796C}" type="datetime4">
              <a:rPr lang="en-US" smtClean="0"/>
              <a:t>March 6, 2024</a:t>
            </a:fld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Prepared By: Swapnil Biswas, CSE, BSMRU, Kishoreganj</a:t>
            </a:r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303406CD-523C-46D0-AA28-1AC4B322DF22}" type="datetime4">
              <a:rPr lang="en-US" smtClean="0"/>
              <a:t>March 6, 2024</a:t>
            </a:fld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Prepared By: Swapnil Biswas, CSE, BSMRU, Kishoreganj</a:t>
            </a:r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53059D5D-AD07-4234-A724-79DA315CF95A}" type="datetime4">
              <a:rPr lang="en-US" smtClean="0"/>
              <a:t>March 6, 2024</a:t>
            </a:fld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Prepared By: Swapnil Biswas, CSE, BSMRU, Kishoreganj</a:t>
            </a:r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E8B90C8D-45AD-4FBE-8F20-DED2B71275E2}" type="datetime4">
              <a:rPr lang="en-US" smtClean="0"/>
              <a:t>March 6, 2024</a:t>
            </a:fld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Prepared By: Swapnil Biswas, CSE, BSMRU, Kishoreganj</a:t>
            </a:r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D208724D-FA30-4E87-BA40-0E0AA8FBA6E8}" type="datetime4">
              <a:rPr lang="en-US" smtClean="0"/>
              <a:t>March 6, 2024</a:t>
            </a:fld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Prepared By: Swapnil Biswas, CSE, BSMRU, Kishoreganj</a:t>
            </a:r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72CCCC14-0D03-4778-B338-180056700A97}" type="datetime4">
              <a:rPr lang="en-US" smtClean="0"/>
              <a:t>March 6, 2024</a:t>
            </a:fld>
            <a:endParaRPr/>
          </a:p>
        </p:txBody>
      </p:sp>
      <p:sp>
        <p:nvSpPr>
          <p:cNvPr id="84" name="Google Shape;84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Prepared By: Swapnil Biswas, CSE, BSMRU, Kishoreganj</a:t>
            </a:r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Lustria"/>
                <a:ea typeface="Lustria"/>
                <a:cs typeface="Lustria"/>
                <a:sym typeface="Lustr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20AE8B65-DEFB-4A0B-BD6B-2393FCEDE848}" type="datetime4">
              <a:rPr lang="en-US" smtClean="0"/>
              <a:t>March 6, 2024</a:t>
            </a:fld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Lustria"/>
                <a:ea typeface="Lustria"/>
                <a:cs typeface="Lustria"/>
                <a:sym typeface="Lustr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Prepared By: Swapnil Biswas, CSE, BSMRU, Kishoreganj</a:t>
            </a:r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392D2540-3D2D-4A45-BC50-3E047882611D}" type="datetime4">
              <a:rPr lang="en-US" smtClean="0"/>
              <a:t>March 6, 2024</a:t>
            </a:fld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Prepared By: Swapnil Biswas, CSE, BSMRU, Kishoreganj</a:t>
            </a:r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>
            <a:spLocks noGrp="1"/>
          </p:cNvSpPr>
          <p:nvPr>
            <p:ph type="title"/>
          </p:nvPr>
        </p:nvSpPr>
        <p:spPr>
          <a:xfrm>
            <a:off x="831850" y="150150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Arial"/>
              <a:buNone/>
            </a:pPr>
            <a:r>
              <a:rPr lang="en-US" sz="4600" dirty="0"/>
              <a:t>SINGLY  LINKED  LIST</a:t>
            </a:r>
            <a:endParaRPr sz="4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F490C287-5E91-6F17-EBF8-150998733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>
            <a:extLst>
              <a:ext uri="{FF2B5EF4-FFF2-40B4-BE49-F238E27FC236}">
                <a16:creationId xmlns:a16="http://schemas.microsoft.com/office/drawing/2014/main" id="{F4E35D7D-D389-0095-F0B1-6FA239C944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sz="4400" spc="-5" dirty="0">
                <a:solidFill>
                  <a:srgbClr val="CC0000"/>
                </a:solidFill>
                <a:latin typeface="Times New Roman"/>
                <a:cs typeface="Times New Roman"/>
              </a:rPr>
              <a:t>Variables</a:t>
            </a:r>
            <a:endParaRPr dirty="0"/>
          </a:p>
        </p:txBody>
      </p:sp>
      <p:sp>
        <p:nvSpPr>
          <p:cNvPr id="101" name="Google Shape;101;p15">
            <a:extLst>
              <a:ext uri="{FF2B5EF4-FFF2-40B4-BE49-F238E27FC236}">
                <a16:creationId xmlns:a16="http://schemas.microsoft.com/office/drawing/2014/main" id="{18E7E09A-9018-2DCB-0303-77F8C712314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ABB2B9-C12F-B909-DFEB-5BBEC722F4C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30857D0-153E-402C-AB46-D381B81476F0}" type="datetime4">
              <a:rPr lang="en-US" smtClean="0"/>
              <a:t>March 6, 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8712B8-D503-587C-AB05-C0B2DF1A93E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Prepared By: Swapnil Biswas, CSE, BSMRU, Kishoreganj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103F21-97BA-8BF2-A29C-FB5EE9145B67}"/>
              </a:ext>
            </a:extLst>
          </p:cNvPr>
          <p:cNvSpPr txBox="1"/>
          <p:nvPr/>
        </p:nvSpPr>
        <p:spPr>
          <a:xfrm>
            <a:off x="931492" y="1959459"/>
            <a:ext cx="5734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0"/>
              </a:rPr>
              <a:t>The picture is the basic scenario of a memory (RAM)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AEA329-29E8-6FF6-7D0B-A646C82685DD}"/>
              </a:ext>
            </a:extLst>
          </p:cNvPr>
          <p:cNvSpPr txBox="1"/>
          <p:nvPr/>
        </p:nvSpPr>
        <p:spPr>
          <a:xfrm>
            <a:off x="931492" y="2510536"/>
            <a:ext cx="6655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0"/>
              </a:rPr>
              <a:t>When we declare a variable, it occupies a block in the memory.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94E618-6A22-E698-AD6E-3F30C5FFA255}"/>
              </a:ext>
            </a:extLst>
          </p:cNvPr>
          <p:cNvSpPr txBox="1"/>
          <p:nvPr/>
        </p:nvSpPr>
        <p:spPr>
          <a:xfrm>
            <a:off x="931492" y="3061613"/>
            <a:ext cx="5734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0"/>
              </a:rPr>
              <a:t>For example: Let we declared a variable of int.          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3272CC-5077-2956-D712-6A5C1B54D2E5}"/>
              </a:ext>
            </a:extLst>
          </p:cNvPr>
          <p:cNvSpPr txBox="1"/>
          <p:nvPr/>
        </p:nvSpPr>
        <p:spPr>
          <a:xfrm>
            <a:off x="931492" y="3658666"/>
            <a:ext cx="5734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>
                <a:latin typeface="Calisto MT" panose="02040603050505030304" pitchFamily="18" charset="0"/>
              </a:rPr>
              <a:t>int</a:t>
            </a:r>
            <a:r>
              <a:rPr lang="en-US" sz="1800" dirty="0">
                <a:latin typeface="Calisto MT" panose="02040603050505030304" pitchFamily="18" charset="0"/>
              </a:rPr>
              <a:t> a = 5;          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1895D8-EC9E-3E32-B854-73FEEE196508}"/>
              </a:ext>
            </a:extLst>
          </p:cNvPr>
          <p:cNvSpPr txBox="1"/>
          <p:nvPr/>
        </p:nvSpPr>
        <p:spPr>
          <a:xfrm>
            <a:off x="931492" y="4214478"/>
            <a:ext cx="72041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0"/>
              </a:rPr>
              <a:t>Summary is: When we declare a variable, it locks a random location in the memory.         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0F7201-02DD-937C-FD52-88852E47BDF4}"/>
              </a:ext>
            </a:extLst>
          </p:cNvPr>
          <p:cNvSpPr txBox="1"/>
          <p:nvPr/>
        </p:nvSpPr>
        <p:spPr>
          <a:xfrm>
            <a:off x="931492" y="5047289"/>
            <a:ext cx="72041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0"/>
              </a:rPr>
              <a:t>It means, variable is a way by which we can communicate with the memory.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B095F32-7E29-D774-92E8-F6140CC4960F}"/>
              </a:ext>
            </a:extLst>
          </p:cNvPr>
          <p:cNvGrpSpPr/>
          <p:nvPr/>
        </p:nvGrpSpPr>
        <p:grpSpPr>
          <a:xfrm>
            <a:off x="8411215" y="3061613"/>
            <a:ext cx="2744465" cy="2744456"/>
            <a:chOff x="8135597" y="2832311"/>
            <a:chExt cx="2744465" cy="274445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51B9C0A-D9A4-E520-133E-E03D0CD5EBD8}"/>
                </a:ext>
              </a:extLst>
            </p:cNvPr>
            <p:cNvSpPr/>
            <p:nvPr/>
          </p:nvSpPr>
          <p:spPr>
            <a:xfrm>
              <a:off x="8135597" y="2832315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0923317-3C5E-C8FC-743A-A7E6090E3C2F}"/>
                </a:ext>
              </a:extLst>
            </p:cNvPr>
            <p:cNvSpPr/>
            <p:nvPr/>
          </p:nvSpPr>
          <p:spPr>
            <a:xfrm>
              <a:off x="8684490" y="2832314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069825A-40D9-F859-9797-B8AB81CA1399}"/>
                </a:ext>
              </a:extLst>
            </p:cNvPr>
            <p:cNvSpPr/>
            <p:nvPr/>
          </p:nvSpPr>
          <p:spPr>
            <a:xfrm>
              <a:off x="9233383" y="2832313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6F728A5-AD5C-F73E-34B6-859747EB2AC6}"/>
                </a:ext>
              </a:extLst>
            </p:cNvPr>
            <p:cNvSpPr/>
            <p:nvPr/>
          </p:nvSpPr>
          <p:spPr>
            <a:xfrm>
              <a:off x="9782276" y="2832312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506159F-A268-2B29-5ABC-1BBE7FD3D380}"/>
                </a:ext>
              </a:extLst>
            </p:cNvPr>
            <p:cNvSpPr/>
            <p:nvPr/>
          </p:nvSpPr>
          <p:spPr>
            <a:xfrm>
              <a:off x="10331169" y="2832311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3DA4F32-9683-A9D2-4ABE-22FAC028F9EF}"/>
                </a:ext>
              </a:extLst>
            </p:cNvPr>
            <p:cNvSpPr/>
            <p:nvPr/>
          </p:nvSpPr>
          <p:spPr>
            <a:xfrm>
              <a:off x="8135597" y="3381208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54BEC59-A2A7-05F1-2010-A74FE595E3AE}"/>
                </a:ext>
              </a:extLst>
            </p:cNvPr>
            <p:cNvSpPr/>
            <p:nvPr/>
          </p:nvSpPr>
          <p:spPr>
            <a:xfrm>
              <a:off x="8684490" y="3381207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244A0D1-2D69-622C-1E67-6198194B42EF}"/>
                </a:ext>
              </a:extLst>
            </p:cNvPr>
            <p:cNvSpPr/>
            <p:nvPr/>
          </p:nvSpPr>
          <p:spPr>
            <a:xfrm>
              <a:off x="9233383" y="3381206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994459C-F231-89E5-5C6E-5AC1CC0393FB}"/>
                </a:ext>
              </a:extLst>
            </p:cNvPr>
            <p:cNvSpPr/>
            <p:nvPr/>
          </p:nvSpPr>
          <p:spPr>
            <a:xfrm>
              <a:off x="9782276" y="3381205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8EA4D48-3601-AC0B-E995-6967CE9C1DB7}"/>
                </a:ext>
              </a:extLst>
            </p:cNvPr>
            <p:cNvSpPr/>
            <p:nvPr/>
          </p:nvSpPr>
          <p:spPr>
            <a:xfrm>
              <a:off x="10331169" y="3381204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EB0A995-8664-5ABE-1E66-970E185090C4}"/>
                </a:ext>
              </a:extLst>
            </p:cNvPr>
            <p:cNvSpPr/>
            <p:nvPr/>
          </p:nvSpPr>
          <p:spPr>
            <a:xfrm>
              <a:off x="8135597" y="3930097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D03241B7-3B48-FBCB-21F7-78AE54B4C95E}"/>
                </a:ext>
              </a:extLst>
            </p:cNvPr>
            <p:cNvSpPr/>
            <p:nvPr/>
          </p:nvSpPr>
          <p:spPr>
            <a:xfrm>
              <a:off x="8684490" y="3930096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0498A709-85FA-CB93-AEB3-B46669EA23E0}"/>
                </a:ext>
              </a:extLst>
            </p:cNvPr>
            <p:cNvSpPr/>
            <p:nvPr/>
          </p:nvSpPr>
          <p:spPr>
            <a:xfrm>
              <a:off x="9233383" y="3930095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A5E02E7-3C9F-70E7-9819-4905DABB8687}"/>
                </a:ext>
              </a:extLst>
            </p:cNvPr>
            <p:cNvSpPr/>
            <p:nvPr/>
          </p:nvSpPr>
          <p:spPr>
            <a:xfrm>
              <a:off x="9782276" y="3930094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3A33950-5C09-090E-F8D8-237934E43110}"/>
                </a:ext>
              </a:extLst>
            </p:cNvPr>
            <p:cNvSpPr/>
            <p:nvPr/>
          </p:nvSpPr>
          <p:spPr>
            <a:xfrm>
              <a:off x="10331169" y="3930093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0ECFB26-E706-94F7-5FEC-8F4E75BE12C6}"/>
                </a:ext>
              </a:extLst>
            </p:cNvPr>
            <p:cNvSpPr/>
            <p:nvPr/>
          </p:nvSpPr>
          <p:spPr>
            <a:xfrm>
              <a:off x="8135597" y="4478990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B16C08A-F01A-A758-B67C-641A1B0EE832}"/>
                </a:ext>
              </a:extLst>
            </p:cNvPr>
            <p:cNvSpPr/>
            <p:nvPr/>
          </p:nvSpPr>
          <p:spPr>
            <a:xfrm>
              <a:off x="8684490" y="4478989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6EA6C55-B8FA-E423-EF68-889EC978F538}"/>
                </a:ext>
              </a:extLst>
            </p:cNvPr>
            <p:cNvSpPr/>
            <p:nvPr/>
          </p:nvSpPr>
          <p:spPr>
            <a:xfrm>
              <a:off x="9233383" y="4478988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528B6E2-31E0-CB81-E845-5B51916FEC73}"/>
                </a:ext>
              </a:extLst>
            </p:cNvPr>
            <p:cNvSpPr/>
            <p:nvPr/>
          </p:nvSpPr>
          <p:spPr>
            <a:xfrm>
              <a:off x="9782276" y="4478987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C96345B3-E696-A62D-1BD3-DDFCBDCB306C}"/>
                </a:ext>
              </a:extLst>
            </p:cNvPr>
            <p:cNvSpPr/>
            <p:nvPr/>
          </p:nvSpPr>
          <p:spPr>
            <a:xfrm>
              <a:off x="10331169" y="4478986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A08E6D9E-DAE6-7A99-1358-129BC8E0B776}"/>
                </a:ext>
              </a:extLst>
            </p:cNvPr>
            <p:cNvSpPr/>
            <p:nvPr/>
          </p:nvSpPr>
          <p:spPr>
            <a:xfrm>
              <a:off x="8135597" y="5027874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110591C-07E2-6E84-BE54-AE010F518664}"/>
                </a:ext>
              </a:extLst>
            </p:cNvPr>
            <p:cNvSpPr/>
            <p:nvPr/>
          </p:nvSpPr>
          <p:spPr>
            <a:xfrm>
              <a:off x="8684490" y="5027873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C6DF981B-E691-A370-65A7-6876207F12A4}"/>
                </a:ext>
              </a:extLst>
            </p:cNvPr>
            <p:cNvSpPr/>
            <p:nvPr/>
          </p:nvSpPr>
          <p:spPr>
            <a:xfrm>
              <a:off x="9233383" y="5027872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BA49EC1A-1876-A91D-B722-2C7EBACE60CA}"/>
                </a:ext>
              </a:extLst>
            </p:cNvPr>
            <p:cNvSpPr/>
            <p:nvPr/>
          </p:nvSpPr>
          <p:spPr>
            <a:xfrm>
              <a:off x="9782276" y="5027871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94721372-D920-76C6-46A0-FA3797BEFDD9}"/>
                </a:ext>
              </a:extLst>
            </p:cNvPr>
            <p:cNvSpPr/>
            <p:nvPr/>
          </p:nvSpPr>
          <p:spPr>
            <a:xfrm>
              <a:off x="10331169" y="5027870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304C2E7-AABE-A43B-C96F-DDEF4CB8CD0B}"/>
              </a:ext>
            </a:extLst>
          </p:cNvPr>
          <p:cNvGrpSpPr/>
          <p:nvPr/>
        </p:nvGrpSpPr>
        <p:grpSpPr>
          <a:xfrm>
            <a:off x="8960107" y="3610503"/>
            <a:ext cx="548893" cy="548893"/>
            <a:chOff x="7037811" y="4753432"/>
            <a:chExt cx="548893" cy="548893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C3385E83-34EA-9108-5A13-103A4224244B}"/>
                </a:ext>
              </a:extLst>
            </p:cNvPr>
            <p:cNvSpPr/>
            <p:nvPr/>
          </p:nvSpPr>
          <p:spPr>
            <a:xfrm>
              <a:off x="7037811" y="4753432"/>
              <a:ext cx="548893" cy="548893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1A14B41B-1DDF-604C-4513-39B392207BA7}"/>
                </a:ext>
              </a:extLst>
            </p:cNvPr>
            <p:cNvSpPr txBox="1"/>
            <p:nvPr/>
          </p:nvSpPr>
          <p:spPr>
            <a:xfrm>
              <a:off x="7170824" y="4843204"/>
              <a:ext cx="2828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dirty="0">
                  <a:latin typeface="Calisto MT" panose="02040603050505030304" pitchFamily="18" charset="0"/>
                </a:rPr>
                <a:t>5          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01912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313BD-1ED8-723B-96FF-79C797895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1F493D-257C-61F9-F95A-47CBA86FD2C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CA62E38-59FD-451F-9AA6-B569CE35F9BD}" type="datetime4">
              <a:rPr lang="en-US" smtClean="0"/>
              <a:t>March 6,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1DF52F-9D89-C747-0B52-00E403482AC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Prepared By: Swapnil Biswas, CSE, BSMRU, Kishoreganj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8F65E9-9C7A-6108-9FFE-85812B93576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3ACDBF-6634-6018-F31B-E37410D67E76}"/>
              </a:ext>
            </a:extLst>
          </p:cNvPr>
          <p:cNvSpPr txBox="1"/>
          <p:nvPr/>
        </p:nvSpPr>
        <p:spPr>
          <a:xfrm>
            <a:off x="931492" y="1889692"/>
            <a:ext cx="5734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0"/>
              </a:rPr>
              <a:t>Pointer is Big Brother of Variable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88B307-278F-6632-FD92-A78E021F00F4}"/>
              </a:ext>
            </a:extLst>
          </p:cNvPr>
          <p:cNvSpPr txBox="1"/>
          <p:nvPr/>
        </p:nvSpPr>
        <p:spPr>
          <a:xfrm>
            <a:off x="931492" y="2389869"/>
            <a:ext cx="71186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0"/>
              </a:rPr>
              <a:t>Because, we can do all the tasks of a variable through a pointer, and also we can do some other tasks also that can’t be done by a variable.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ED3BE2-3B38-584D-019D-5BA4E1781775}"/>
              </a:ext>
            </a:extLst>
          </p:cNvPr>
          <p:cNvSpPr txBox="1"/>
          <p:nvPr/>
        </p:nvSpPr>
        <p:spPr>
          <a:xfrm>
            <a:off x="931492" y="3331805"/>
            <a:ext cx="71186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0"/>
              </a:rPr>
              <a:t>So, now you can imagine a pointer like this when you declare a pointer in your program:                                            </a:t>
            </a:r>
          </a:p>
          <a:p>
            <a:r>
              <a:rPr lang="en-US" sz="1800" dirty="0">
                <a:latin typeface="Calisto MT" panose="02040603050505030304" pitchFamily="18" charset="0"/>
              </a:rPr>
              <a:t>     </a:t>
            </a:r>
            <a:r>
              <a:rPr lang="en-US" sz="1800" b="1" dirty="0" err="1">
                <a:latin typeface="Calisto MT" panose="02040603050505030304" pitchFamily="18" charset="0"/>
              </a:rPr>
              <a:t>int</a:t>
            </a:r>
            <a:r>
              <a:rPr lang="en-US" sz="1800" b="1" dirty="0">
                <a:latin typeface="Calisto MT" panose="02040603050505030304" pitchFamily="18" charset="0"/>
              </a:rPr>
              <a:t> *p</a:t>
            </a:r>
            <a:r>
              <a:rPr lang="en-US" sz="1800" dirty="0">
                <a:latin typeface="Calisto MT" panose="02040603050505030304" pitchFamily="18" charset="0"/>
              </a:rPr>
              <a:t>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CA2BED-609C-7603-558A-8955328B06AC}"/>
              </a:ext>
            </a:extLst>
          </p:cNvPr>
          <p:cNvSpPr txBox="1"/>
          <p:nvPr/>
        </p:nvSpPr>
        <p:spPr>
          <a:xfrm>
            <a:off x="931491" y="4385980"/>
            <a:ext cx="72468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0"/>
              </a:rPr>
              <a:t>We can consider that initially it has no relationship with the memory!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36E0929-ED2E-4227-4EFE-9A7B9D3D9CC0}"/>
              </a:ext>
            </a:extLst>
          </p:cNvPr>
          <p:cNvCxnSpPr/>
          <p:nvPr/>
        </p:nvCxnSpPr>
        <p:spPr>
          <a:xfrm>
            <a:off x="9186729" y="2245984"/>
            <a:ext cx="5097" cy="53348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8DDC425-2D99-217F-19A5-F4D18623A54D}"/>
              </a:ext>
            </a:extLst>
          </p:cNvPr>
          <p:cNvSpPr txBox="1"/>
          <p:nvPr/>
        </p:nvSpPr>
        <p:spPr>
          <a:xfrm>
            <a:off x="9033482" y="1876651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sto MT" panose="02040603050505030304" pitchFamily="18" charset="0"/>
              </a:rPr>
              <a:t>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C3E7C1-119D-B10C-FB85-B772E09B67E6}"/>
              </a:ext>
            </a:extLst>
          </p:cNvPr>
          <p:cNvSpPr txBox="1"/>
          <p:nvPr/>
        </p:nvSpPr>
        <p:spPr>
          <a:xfrm>
            <a:off x="931492" y="4930636"/>
            <a:ext cx="72468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0"/>
              </a:rPr>
              <a:t>But when the pointer is in a relationship with the memory, then it works like a variable and also more than a variable.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29F70F5-8467-E3DB-9414-5F6444F87A3E}"/>
              </a:ext>
            </a:extLst>
          </p:cNvPr>
          <p:cNvGrpSpPr/>
          <p:nvPr/>
        </p:nvGrpSpPr>
        <p:grpSpPr>
          <a:xfrm>
            <a:off x="8411215" y="3061613"/>
            <a:ext cx="2744465" cy="2744456"/>
            <a:chOff x="8135597" y="2832311"/>
            <a:chExt cx="2744465" cy="2744456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1CF50A1-9862-DB26-9F51-8E6F83DA40E0}"/>
                </a:ext>
              </a:extLst>
            </p:cNvPr>
            <p:cNvSpPr/>
            <p:nvPr/>
          </p:nvSpPr>
          <p:spPr>
            <a:xfrm>
              <a:off x="8135597" y="2832315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0771847-4973-D95D-2879-EDEF935CA0B3}"/>
                </a:ext>
              </a:extLst>
            </p:cNvPr>
            <p:cNvSpPr/>
            <p:nvPr/>
          </p:nvSpPr>
          <p:spPr>
            <a:xfrm>
              <a:off x="8684490" y="2832314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3E7942A-C2BF-5D92-9042-4ABF99D2E5C2}"/>
                </a:ext>
              </a:extLst>
            </p:cNvPr>
            <p:cNvSpPr/>
            <p:nvPr/>
          </p:nvSpPr>
          <p:spPr>
            <a:xfrm>
              <a:off x="9233383" y="2832313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E3E415F-2B75-9426-0379-A4D0EBE3FB8E}"/>
                </a:ext>
              </a:extLst>
            </p:cNvPr>
            <p:cNvSpPr/>
            <p:nvPr/>
          </p:nvSpPr>
          <p:spPr>
            <a:xfrm>
              <a:off x="9782276" y="2832312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1DB347A-2DF2-D25E-45B7-B74724E5D679}"/>
                </a:ext>
              </a:extLst>
            </p:cNvPr>
            <p:cNvSpPr/>
            <p:nvPr/>
          </p:nvSpPr>
          <p:spPr>
            <a:xfrm>
              <a:off x="10331169" y="2832311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0C1C1AEC-FC1C-3F42-CDBB-4415FFB474B7}"/>
                </a:ext>
              </a:extLst>
            </p:cNvPr>
            <p:cNvSpPr/>
            <p:nvPr/>
          </p:nvSpPr>
          <p:spPr>
            <a:xfrm>
              <a:off x="8135597" y="3381208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5F1D9DB-CB5E-F67B-3649-3CC95CC518F2}"/>
                </a:ext>
              </a:extLst>
            </p:cNvPr>
            <p:cNvSpPr/>
            <p:nvPr/>
          </p:nvSpPr>
          <p:spPr>
            <a:xfrm>
              <a:off x="8684490" y="3381207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696123B-8788-E427-939C-63BD5645A521}"/>
                </a:ext>
              </a:extLst>
            </p:cNvPr>
            <p:cNvSpPr/>
            <p:nvPr/>
          </p:nvSpPr>
          <p:spPr>
            <a:xfrm>
              <a:off x="9233383" y="3381206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9553C2B-CC93-3754-4AF2-28BC3BCF5BD8}"/>
                </a:ext>
              </a:extLst>
            </p:cNvPr>
            <p:cNvSpPr/>
            <p:nvPr/>
          </p:nvSpPr>
          <p:spPr>
            <a:xfrm>
              <a:off x="9782276" y="3381205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44EBAE9-BD1A-229C-D3A0-F7CF05CC11F2}"/>
                </a:ext>
              </a:extLst>
            </p:cNvPr>
            <p:cNvSpPr/>
            <p:nvPr/>
          </p:nvSpPr>
          <p:spPr>
            <a:xfrm>
              <a:off x="10331169" y="3381204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A661576-5BB4-05D3-C2B2-6FD7D990D7C9}"/>
                </a:ext>
              </a:extLst>
            </p:cNvPr>
            <p:cNvSpPr/>
            <p:nvPr/>
          </p:nvSpPr>
          <p:spPr>
            <a:xfrm>
              <a:off x="8135597" y="3930097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8216757-1529-CB9B-AB3C-09279233E517}"/>
                </a:ext>
              </a:extLst>
            </p:cNvPr>
            <p:cNvSpPr/>
            <p:nvPr/>
          </p:nvSpPr>
          <p:spPr>
            <a:xfrm>
              <a:off x="8684490" y="3930096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D03C6EF-5E56-86D5-79FB-F331096CCE9A}"/>
                </a:ext>
              </a:extLst>
            </p:cNvPr>
            <p:cNvSpPr/>
            <p:nvPr/>
          </p:nvSpPr>
          <p:spPr>
            <a:xfrm>
              <a:off x="9233383" y="3930095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BE122FA-70F5-6230-8D7F-735D420DE52F}"/>
                </a:ext>
              </a:extLst>
            </p:cNvPr>
            <p:cNvSpPr/>
            <p:nvPr/>
          </p:nvSpPr>
          <p:spPr>
            <a:xfrm>
              <a:off x="9782276" y="3930094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7B3DDF7-36CD-3676-7D68-EB329516FC87}"/>
                </a:ext>
              </a:extLst>
            </p:cNvPr>
            <p:cNvSpPr/>
            <p:nvPr/>
          </p:nvSpPr>
          <p:spPr>
            <a:xfrm>
              <a:off x="10331169" y="3930093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FFE100D-8D1E-6001-0F8C-6E68D34BC2FD}"/>
                </a:ext>
              </a:extLst>
            </p:cNvPr>
            <p:cNvSpPr/>
            <p:nvPr/>
          </p:nvSpPr>
          <p:spPr>
            <a:xfrm>
              <a:off x="8135597" y="4478990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364B6268-F802-66CE-6805-5A96240741C6}"/>
                </a:ext>
              </a:extLst>
            </p:cNvPr>
            <p:cNvSpPr/>
            <p:nvPr/>
          </p:nvSpPr>
          <p:spPr>
            <a:xfrm>
              <a:off x="8684490" y="4478989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D5DB3FB0-DAD4-206E-0C6D-6D7D95346767}"/>
                </a:ext>
              </a:extLst>
            </p:cNvPr>
            <p:cNvSpPr/>
            <p:nvPr/>
          </p:nvSpPr>
          <p:spPr>
            <a:xfrm>
              <a:off x="9233383" y="4478988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CA9D67B-3097-E4FC-E832-8D7190A09E21}"/>
                </a:ext>
              </a:extLst>
            </p:cNvPr>
            <p:cNvSpPr/>
            <p:nvPr/>
          </p:nvSpPr>
          <p:spPr>
            <a:xfrm>
              <a:off x="9782276" y="4478987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2F668310-CC56-DB76-76AE-0B401E604D13}"/>
                </a:ext>
              </a:extLst>
            </p:cNvPr>
            <p:cNvSpPr/>
            <p:nvPr/>
          </p:nvSpPr>
          <p:spPr>
            <a:xfrm>
              <a:off x="10331169" y="4478986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D494F0AF-33E1-C175-763F-380B4DB43D92}"/>
                </a:ext>
              </a:extLst>
            </p:cNvPr>
            <p:cNvSpPr/>
            <p:nvPr/>
          </p:nvSpPr>
          <p:spPr>
            <a:xfrm>
              <a:off x="8135597" y="5027874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CE531394-BC58-7668-5C23-7A6C5EA2F15F}"/>
                </a:ext>
              </a:extLst>
            </p:cNvPr>
            <p:cNvSpPr/>
            <p:nvPr/>
          </p:nvSpPr>
          <p:spPr>
            <a:xfrm>
              <a:off x="8684490" y="5027873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78D30B40-DC71-BE9D-5596-1E7653620816}"/>
                </a:ext>
              </a:extLst>
            </p:cNvPr>
            <p:cNvSpPr/>
            <p:nvPr/>
          </p:nvSpPr>
          <p:spPr>
            <a:xfrm>
              <a:off x="9233383" y="5027872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5B948922-76C7-F8E4-7594-62ACE6C8D321}"/>
                </a:ext>
              </a:extLst>
            </p:cNvPr>
            <p:cNvSpPr/>
            <p:nvPr/>
          </p:nvSpPr>
          <p:spPr>
            <a:xfrm>
              <a:off x="9782276" y="5027871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7084B53F-329E-EFB3-C286-30B903351A45}"/>
                </a:ext>
              </a:extLst>
            </p:cNvPr>
            <p:cNvSpPr/>
            <p:nvPr/>
          </p:nvSpPr>
          <p:spPr>
            <a:xfrm>
              <a:off x="10331169" y="5027870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23780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2" grpId="0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157D3-E592-9561-13FC-B82EB961F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54FCAB-C9C6-8C25-944E-F79F69D8608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CA62E38-59FD-451F-9AA6-B569CE35F9BD}" type="datetime4">
              <a:rPr lang="en-US" smtClean="0"/>
              <a:t>March 6,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99D03D-0424-91C8-ADB3-D32854EBE1A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Prepared By: Swapnil Biswas, CSE, BSMRU, Kishoreganj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A64AD7-4808-A612-7207-7D845344F9D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58D2DA-ACB2-C11B-4DA5-A450CF5D170D}"/>
              </a:ext>
            </a:extLst>
          </p:cNvPr>
          <p:cNvSpPr txBox="1"/>
          <p:nvPr/>
        </p:nvSpPr>
        <p:spPr>
          <a:xfrm>
            <a:off x="914400" y="2033899"/>
            <a:ext cx="731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0"/>
              </a:rPr>
              <a:t>So, how can you build a relationship between pointer and memory?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1E77EA-2641-9D32-ECB8-1717C04E93D2}"/>
              </a:ext>
            </a:extLst>
          </p:cNvPr>
          <p:cNvSpPr txBox="1"/>
          <p:nvPr/>
        </p:nvSpPr>
        <p:spPr>
          <a:xfrm>
            <a:off x="914400" y="2561776"/>
            <a:ext cx="6503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0"/>
              </a:rPr>
              <a:t>You are searching for : </a:t>
            </a:r>
            <a:r>
              <a:rPr lang="en-US" sz="1800" b="1" dirty="0">
                <a:latin typeface="Calisto MT" panose="02040603050505030304" pitchFamily="18" charset="0"/>
              </a:rPr>
              <a:t>MALLOC</a:t>
            </a:r>
            <a:r>
              <a:rPr lang="en-US" sz="1800" dirty="0">
                <a:latin typeface="Calisto MT" panose="02040603050505030304" pitchFamily="18" charset="0"/>
              </a:rPr>
              <a:t> </a:t>
            </a:r>
            <a:r>
              <a:rPr lang="en-US" sz="1800" dirty="0">
                <a:latin typeface="Calisto MT" panose="02040603050505030304" pitchFamily="18" charset="0"/>
                <a:sym typeface="Wingdings" panose="05000000000000000000" pitchFamily="2" charset="2"/>
              </a:rPr>
              <a:t> (Memory Allocation)</a:t>
            </a:r>
            <a:endParaRPr lang="en-US" sz="1800" dirty="0">
              <a:latin typeface="Calisto MT" panose="0204060305050503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904305-622F-7DC2-DA36-C99FDC00861C}"/>
              </a:ext>
            </a:extLst>
          </p:cNvPr>
          <p:cNvSpPr txBox="1"/>
          <p:nvPr/>
        </p:nvSpPr>
        <p:spPr>
          <a:xfrm>
            <a:off x="914400" y="3061613"/>
            <a:ext cx="71528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0"/>
              </a:rPr>
              <a:t>When a pointer is </a:t>
            </a:r>
            <a:r>
              <a:rPr lang="en-US" sz="1800" dirty="0" err="1">
                <a:latin typeface="Calisto MT" panose="02040603050505030304" pitchFamily="18" charset="0"/>
              </a:rPr>
              <a:t>malloced</a:t>
            </a:r>
            <a:r>
              <a:rPr lang="en-US" sz="1800" dirty="0">
                <a:latin typeface="Calisto MT" panose="02040603050505030304" pitchFamily="18" charset="0"/>
              </a:rPr>
              <a:t> then it posts a  relationship status with the memory </a:t>
            </a:r>
            <a:r>
              <a:rPr lang="en-US" sz="1800" dirty="0">
                <a:latin typeface="Calisto MT" panose="02040603050505030304" pitchFamily="18" charset="0"/>
                <a:sym typeface="Wingdings" panose="05000000000000000000" pitchFamily="2" charset="2"/>
              </a:rPr>
              <a:t></a:t>
            </a:r>
            <a:endParaRPr lang="en-US" sz="1800" dirty="0">
              <a:latin typeface="Calisto MT" panose="0204060305050503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A334A1-504E-B657-0BF2-386A553096E8}"/>
              </a:ext>
            </a:extLst>
          </p:cNvPr>
          <p:cNvSpPr txBox="1"/>
          <p:nvPr/>
        </p:nvSpPr>
        <p:spPr>
          <a:xfrm>
            <a:off x="914400" y="3790063"/>
            <a:ext cx="5734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0"/>
              </a:rPr>
              <a:t>Lets </a:t>
            </a:r>
            <a:r>
              <a:rPr lang="en-US" sz="1800" dirty="0" err="1">
                <a:latin typeface="Calisto MT" panose="02040603050505030304" pitchFamily="18" charset="0"/>
              </a:rPr>
              <a:t>malloc</a:t>
            </a:r>
            <a:r>
              <a:rPr lang="en-US" sz="1800" dirty="0">
                <a:latin typeface="Calisto MT" panose="02040603050505030304" pitchFamily="18" charset="0"/>
              </a:rPr>
              <a:t> our pointer  </a:t>
            </a:r>
            <a:r>
              <a:rPr lang="en-US" sz="1800" b="1" dirty="0">
                <a:latin typeface="Calisto MT" panose="02040603050505030304" pitchFamily="18" charset="0"/>
              </a:rPr>
              <a:t>p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8944183-0675-ECFA-17D1-59DD4B390FC2}"/>
              </a:ext>
            </a:extLst>
          </p:cNvPr>
          <p:cNvCxnSpPr/>
          <p:nvPr/>
        </p:nvCxnSpPr>
        <p:spPr>
          <a:xfrm>
            <a:off x="9186729" y="2245984"/>
            <a:ext cx="5097" cy="53348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191A6BC-19D3-4ADF-CE38-CA34A4129A88}"/>
              </a:ext>
            </a:extLst>
          </p:cNvPr>
          <p:cNvSpPr txBox="1"/>
          <p:nvPr/>
        </p:nvSpPr>
        <p:spPr>
          <a:xfrm>
            <a:off x="9033482" y="1876651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sto MT" panose="02040603050505030304" pitchFamily="18" charset="0"/>
              </a:rPr>
              <a:t>p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D52F055-37B5-7E6F-5966-DE7D7266F44F}"/>
              </a:ext>
            </a:extLst>
          </p:cNvPr>
          <p:cNvGrpSpPr/>
          <p:nvPr/>
        </p:nvGrpSpPr>
        <p:grpSpPr>
          <a:xfrm>
            <a:off x="8411215" y="3061613"/>
            <a:ext cx="2744465" cy="2744456"/>
            <a:chOff x="8135597" y="2832311"/>
            <a:chExt cx="2744465" cy="2744456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52CE365-5F3F-E91C-4DB1-08ECF9C018B1}"/>
                </a:ext>
              </a:extLst>
            </p:cNvPr>
            <p:cNvSpPr/>
            <p:nvPr/>
          </p:nvSpPr>
          <p:spPr>
            <a:xfrm>
              <a:off x="8135597" y="2832315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EE17FD9-4831-CCCF-D364-AFF18A38BAC9}"/>
                </a:ext>
              </a:extLst>
            </p:cNvPr>
            <p:cNvSpPr/>
            <p:nvPr/>
          </p:nvSpPr>
          <p:spPr>
            <a:xfrm>
              <a:off x="8684490" y="2832314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37708A7-A154-3C99-C7BD-DB39B40BAD4F}"/>
                </a:ext>
              </a:extLst>
            </p:cNvPr>
            <p:cNvSpPr/>
            <p:nvPr/>
          </p:nvSpPr>
          <p:spPr>
            <a:xfrm>
              <a:off x="9233383" y="2832313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74E1CED-AB9A-E9CA-722F-0ED16A9FAB28}"/>
                </a:ext>
              </a:extLst>
            </p:cNvPr>
            <p:cNvSpPr/>
            <p:nvPr/>
          </p:nvSpPr>
          <p:spPr>
            <a:xfrm>
              <a:off x="9782276" y="2832312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D5FDA57-A711-5731-09F4-7703A6471A28}"/>
                </a:ext>
              </a:extLst>
            </p:cNvPr>
            <p:cNvSpPr/>
            <p:nvPr/>
          </p:nvSpPr>
          <p:spPr>
            <a:xfrm>
              <a:off x="10331169" y="2832311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DB5C0B6-6D03-4B66-414E-1B7E6BDAEE4D}"/>
                </a:ext>
              </a:extLst>
            </p:cNvPr>
            <p:cNvSpPr/>
            <p:nvPr/>
          </p:nvSpPr>
          <p:spPr>
            <a:xfrm>
              <a:off x="8135597" y="3381208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75C901A-FC6B-8F4E-04FF-0114113D5FFC}"/>
                </a:ext>
              </a:extLst>
            </p:cNvPr>
            <p:cNvSpPr/>
            <p:nvPr/>
          </p:nvSpPr>
          <p:spPr>
            <a:xfrm>
              <a:off x="8684490" y="3381207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DB06C36-D3C9-0862-4A62-EF4AC082361C}"/>
                </a:ext>
              </a:extLst>
            </p:cNvPr>
            <p:cNvSpPr/>
            <p:nvPr/>
          </p:nvSpPr>
          <p:spPr>
            <a:xfrm>
              <a:off x="9233383" y="3381206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01057F2-315F-3910-A3D3-ADACD8FBB226}"/>
                </a:ext>
              </a:extLst>
            </p:cNvPr>
            <p:cNvSpPr/>
            <p:nvPr/>
          </p:nvSpPr>
          <p:spPr>
            <a:xfrm>
              <a:off x="9782276" y="3381205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F4FE15B-34B6-A4E8-1445-2FE4E447A969}"/>
                </a:ext>
              </a:extLst>
            </p:cNvPr>
            <p:cNvSpPr/>
            <p:nvPr/>
          </p:nvSpPr>
          <p:spPr>
            <a:xfrm>
              <a:off x="10331169" y="3381204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A262CBA-D905-7DF2-86CB-2A44C18F51CA}"/>
                </a:ext>
              </a:extLst>
            </p:cNvPr>
            <p:cNvSpPr/>
            <p:nvPr/>
          </p:nvSpPr>
          <p:spPr>
            <a:xfrm>
              <a:off x="8135597" y="3930097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6E12112E-308E-F31D-A752-5198ECC258E6}"/>
                </a:ext>
              </a:extLst>
            </p:cNvPr>
            <p:cNvSpPr/>
            <p:nvPr/>
          </p:nvSpPr>
          <p:spPr>
            <a:xfrm>
              <a:off x="8684490" y="3930096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3CE9F1EB-5492-F5F9-6186-DFE4E5371502}"/>
                </a:ext>
              </a:extLst>
            </p:cNvPr>
            <p:cNvSpPr/>
            <p:nvPr/>
          </p:nvSpPr>
          <p:spPr>
            <a:xfrm>
              <a:off x="9233383" y="3930095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F2C4024-DFBB-9A71-5C8A-F00AFDD984A8}"/>
                </a:ext>
              </a:extLst>
            </p:cNvPr>
            <p:cNvSpPr/>
            <p:nvPr/>
          </p:nvSpPr>
          <p:spPr>
            <a:xfrm>
              <a:off x="9782276" y="3930094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B5ACD7A8-439F-C95D-AB9D-47251163168D}"/>
                </a:ext>
              </a:extLst>
            </p:cNvPr>
            <p:cNvSpPr/>
            <p:nvPr/>
          </p:nvSpPr>
          <p:spPr>
            <a:xfrm>
              <a:off x="10331169" y="3930093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A45B5F4-019C-0513-551F-82835B21CF7C}"/>
                </a:ext>
              </a:extLst>
            </p:cNvPr>
            <p:cNvSpPr/>
            <p:nvPr/>
          </p:nvSpPr>
          <p:spPr>
            <a:xfrm>
              <a:off x="8135597" y="4478990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74101E95-44DD-9663-8609-51A603C6B0E4}"/>
                </a:ext>
              </a:extLst>
            </p:cNvPr>
            <p:cNvSpPr/>
            <p:nvPr/>
          </p:nvSpPr>
          <p:spPr>
            <a:xfrm>
              <a:off x="8684490" y="4478989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DAE83270-F642-AEF7-D4C0-5DEDB2A50B2D}"/>
                </a:ext>
              </a:extLst>
            </p:cNvPr>
            <p:cNvSpPr/>
            <p:nvPr/>
          </p:nvSpPr>
          <p:spPr>
            <a:xfrm>
              <a:off x="9233383" y="4478988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C1706A2-D21E-567D-2C60-507A24FBEA3C}"/>
                </a:ext>
              </a:extLst>
            </p:cNvPr>
            <p:cNvSpPr/>
            <p:nvPr/>
          </p:nvSpPr>
          <p:spPr>
            <a:xfrm>
              <a:off x="9782276" y="4478987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D40B3341-4CB1-46D8-DDFC-EDCB0D246EA9}"/>
                </a:ext>
              </a:extLst>
            </p:cNvPr>
            <p:cNvSpPr/>
            <p:nvPr/>
          </p:nvSpPr>
          <p:spPr>
            <a:xfrm>
              <a:off x="10331169" y="4478986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F20188CE-EBFE-63DA-8633-27412FAC8804}"/>
                </a:ext>
              </a:extLst>
            </p:cNvPr>
            <p:cNvSpPr/>
            <p:nvPr/>
          </p:nvSpPr>
          <p:spPr>
            <a:xfrm>
              <a:off x="8135597" y="5027874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4F50B671-D0FD-4994-F3DB-3ACA0E2D4376}"/>
                </a:ext>
              </a:extLst>
            </p:cNvPr>
            <p:cNvSpPr/>
            <p:nvPr/>
          </p:nvSpPr>
          <p:spPr>
            <a:xfrm>
              <a:off x="8684490" y="5027873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4EACA35C-42BC-CCAB-001A-3B49C4E1756A}"/>
                </a:ext>
              </a:extLst>
            </p:cNvPr>
            <p:cNvSpPr/>
            <p:nvPr/>
          </p:nvSpPr>
          <p:spPr>
            <a:xfrm>
              <a:off x="9233383" y="5027872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F9CB148F-EB71-E9C3-92E7-53C92F4BEB7B}"/>
                </a:ext>
              </a:extLst>
            </p:cNvPr>
            <p:cNvSpPr/>
            <p:nvPr/>
          </p:nvSpPr>
          <p:spPr>
            <a:xfrm>
              <a:off x="9782276" y="5027871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92259BEF-49AA-68C3-04CC-D4495C39F9EE}"/>
                </a:ext>
              </a:extLst>
            </p:cNvPr>
            <p:cNvSpPr/>
            <p:nvPr/>
          </p:nvSpPr>
          <p:spPr>
            <a:xfrm>
              <a:off x="10331169" y="5027870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26066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32BAA-9890-9782-F3BA-A1C00D67C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D1B97-C058-5D72-8476-820C927FA3B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CA62E38-59FD-451F-9AA6-B569CE35F9BD}" type="datetime4">
              <a:rPr lang="en-US" smtClean="0"/>
              <a:t>March 6,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C59D9D-699B-341B-2133-3513791A7F6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Prepared By: Swapnil Biswas, CSE, BSMRU, Kishoreganj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0BE05-65F4-62E1-DFF6-F1314E84459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B80E54-9917-2E93-A738-7D5BD78B35A4}"/>
              </a:ext>
            </a:extLst>
          </p:cNvPr>
          <p:cNvSpPr txBox="1"/>
          <p:nvPr/>
        </p:nvSpPr>
        <p:spPr>
          <a:xfrm>
            <a:off x="931492" y="2033899"/>
            <a:ext cx="5734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0"/>
              </a:rPr>
              <a:t>p = (</a:t>
            </a:r>
            <a:r>
              <a:rPr lang="en-US" sz="1800" dirty="0" err="1">
                <a:latin typeface="Calisto MT" panose="02040603050505030304" pitchFamily="18" charset="0"/>
              </a:rPr>
              <a:t>int</a:t>
            </a:r>
            <a:r>
              <a:rPr lang="en-US" sz="1800" dirty="0">
                <a:latin typeface="Calisto MT" panose="02040603050505030304" pitchFamily="18" charset="0"/>
              </a:rPr>
              <a:t>*) </a:t>
            </a:r>
            <a:r>
              <a:rPr lang="en-US" sz="1800" dirty="0" err="1">
                <a:latin typeface="Calisto MT" panose="02040603050505030304" pitchFamily="18" charset="0"/>
              </a:rPr>
              <a:t>malloc</a:t>
            </a:r>
            <a:r>
              <a:rPr lang="en-US" sz="1800" dirty="0">
                <a:latin typeface="Calisto MT" panose="02040603050505030304" pitchFamily="18" charset="0"/>
              </a:rPr>
              <a:t>(</a:t>
            </a:r>
            <a:r>
              <a:rPr lang="en-US" sz="1800" dirty="0" err="1">
                <a:latin typeface="Calisto MT" panose="02040603050505030304" pitchFamily="18" charset="0"/>
              </a:rPr>
              <a:t>sizeof</a:t>
            </a:r>
            <a:r>
              <a:rPr lang="en-US" sz="1800" dirty="0">
                <a:latin typeface="Calisto MT" panose="02040603050505030304" pitchFamily="18" charset="0"/>
              </a:rPr>
              <a:t>(</a:t>
            </a:r>
            <a:r>
              <a:rPr lang="en-US" sz="1800" dirty="0" err="1">
                <a:latin typeface="Calisto MT" panose="02040603050505030304" pitchFamily="18" charset="0"/>
              </a:rPr>
              <a:t>int</a:t>
            </a:r>
            <a:r>
              <a:rPr lang="en-US" sz="1800" dirty="0">
                <a:latin typeface="Calisto MT" panose="02040603050505030304" pitchFamily="18" charset="0"/>
              </a:rPr>
              <a:t>));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0D2D2E-6D76-1765-7CD0-D3ADCCC070A3}"/>
              </a:ext>
            </a:extLst>
          </p:cNvPr>
          <p:cNvSpPr txBox="1"/>
          <p:nvPr/>
        </p:nvSpPr>
        <p:spPr>
          <a:xfrm>
            <a:off x="931491" y="2534580"/>
            <a:ext cx="7131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0"/>
              </a:rPr>
              <a:t>Syntax:  </a:t>
            </a:r>
            <a:r>
              <a:rPr lang="en-US" sz="1800" b="1" dirty="0" err="1">
                <a:latin typeface="Calisto MT" panose="02040603050505030304" pitchFamily="18" charset="0"/>
              </a:rPr>
              <a:t>pointerName</a:t>
            </a:r>
            <a:r>
              <a:rPr lang="en-US" sz="1800" b="1" dirty="0">
                <a:latin typeface="Calisto MT" panose="02040603050505030304" pitchFamily="18" charset="0"/>
              </a:rPr>
              <a:t> = (</a:t>
            </a:r>
            <a:r>
              <a:rPr lang="en-US" sz="1800" b="1" dirty="0" err="1">
                <a:latin typeface="Calisto MT" panose="02040603050505030304" pitchFamily="18" charset="0"/>
              </a:rPr>
              <a:t>DataType</a:t>
            </a:r>
            <a:r>
              <a:rPr lang="en-US" sz="1800" b="1" dirty="0">
                <a:latin typeface="Calisto MT" panose="02040603050505030304" pitchFamily="18" charset="0"/>
              </a:rPr>
              <a:t>*) </a:t>
            </a:r>
            <a:r>
              <a:rPr lang="en-US" sz="1800" b="1" dirty="0" err="1">
                <a:latin typeface="Calisto MT" panose="02040603050505030304" pitchFamily="18" charset="0"/>
              </a:rPr>
              <a:t>malloc</a:t>
            </a:r>
            <a:r>
              <a:rPr lang="en-US" sz="1800" b="1" dirty="0">
                <a:latin typeface="Calisto MT" panose="02040603050505030304" pitchFamily="18" charset="0"/>
              </a:rPr>
              <a:t>(</a:t>
            </a:r>
            <a:r>
              <a:rPr lang="en-US" sz="1800" b="1" dirty="0" err="1">
                <a:latin typeface="Calisto MT" panose="02040603050505030304" pitchFamily="18" charset="0"/>
              </a:rPr>
              <a:t>sizeof</a:t>
            </a:r>
            <a:r>
              <a:rPr lang="en-US" sz="1800" b="1" dirty="0">
                <a:latin typeface="Calisto MT" panose="02040603050505030304" pitchFamily="18" charset="0"/>
              </a:rPr>
              <a:t>(</a:t>
            </a:r>
            <a:r>
              <a:rPr lang="en-US" sz="1800" b="1" dirty="0" err="1">
                <a:latin typeface="Calisto MT" panose="02040603050505030304" pitchFamily="18" charset="0"/>
              </a:rPr>
              <a:t>DataType</a:t>
            </a:r>
            <a:r>
              <a:rPr lang="en-US" sz="1800" b="1" dirty="0">
                <a:latin typeface="Calisto MT" panose="02040603050505030304" pitchFamily="18" charset="0"/>
              </a:rPr>
              <a:t>));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8AC06C-6138-BA2F-3260-CC1E6D245106}"/>
              </a:ext>
            </a:extLst>
          </p:cNvPr>
          <p:cNvSpPr txBox="1"/>
          <p:nvPr/>
        </p:nvSpPr>
        <p:spPr>
          <a:xfrm>
            <a:off x="931492" y="3035261"/>
            <a:ext cx="65674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0"/>
              </a:rPr>
              <a:t>Now our </a:t>
            </a:r>
            <a:r>
              <a:rPr lang="en-US" sz="1800" b="1" dirty="0">
                <a:latin typeface="Calisto MT" panose="02040603050505030304" pitchFamily="18" charset="0"/>
              </a:rPr>
              <a:t>p </a:t>
            </a:r>
            <a:r>
              <a:rPr lang="en-US" sz="1800" dirty="0">
                <a:latin typeface="Calisto MT" panose="02040603050505030304" pitchFamily="18" charset="0"/>
              </a:rPr>
              <a:t>has posted relationship status.</a:t>
            </a:r>
            <a:r>
              <a:rPr lang="en-US" sz="1800" b="1" dirty="0">
                <a:latin typeface="Calisto MT" panose="02040603050505030304" pitchFamily="18" charset="0"/>
              </a:rPr>
              <a:t> Congratulations!</a:t>
            </a:r>
            <a:endParaRPr lang="en-US" sz="1800" dirty="0">
              <a:latin typeface="Calisto MT" panose="0204060305050503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88E9FF-F9FC-7B9A-2BE8-AF643061D39C}"/>
              </a:ext>
            </a:extLst>
          </p:cNvPr>
          <p:cNvSpPr txBox="1"/>
          <p:nvPr/>
        </p:nvSpPr>
        <p:spPr>
          <a:xfrm>
            <a:off x="931492" y="3563237"/>
            <a:ext cx="6281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0"/>
              </a:rPr>
              <a:t>Now, </a:t>
            </a:r>
            <a:r>
              <a:rPr lang="en-US" sz="1800" b="1" dirty="0">
                <a:latin typeface="Calisto MT" panose="02040603050505030304" pitchFamily="18" charset="0"/>
              </a:rPr>
              <a:t>p</a:t>
            </a:r>
            <a:r>
              <a:rPr lang="en-US" sz="1800" dirty="0">
                <a:latin typeface="Calisto MT" panose="02040603050505030304" pitchFamily="18" charset="0"/>
              </a:rPr>
              <a:t> will act as a variable and also more than a variable.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403735-19DB-12B2-3214-39A393050FB6}"/>
              </a:ext>
            </a:extLst>
          </p:cNvPr>
          <p:cNvSpPr txBox="1"/>
          <p:nvPr/>
        </p:nvSpPr>
        <p:spPr>
          <a:xfrm>
            <a:off x="931492" y="4091114"/>
            <a:ext cx="5734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0"/>
              </a:rPr>
              <a:t>So, lets try to assign a value by our pointer </a:t>
            </a:r>
            <a:r>
              <a:rPr lang="en-US" sz="1800" b="1" dirty="0">
                <a:latin typeface="Calisto MT" panose="02040603050505030304" pitchFamily="18" charset="0"/>
              </a:rPr>
              <a:t>p</a:t>
            </a:r>
            <a:endParaRPr lang="en-US" sz="1800" dirty="0">
              <a:latin typeface="Calisto MT" panose="0204060305050503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8B61CF-43DC-A52F-86BE-80E62FB605FE}"/>
              </a:ext>
            </a:extLst>
          </p:cNvPr>
          <p:cNvSpPr txBox="1"/>
          <p:nvPr/>
        </p:nvSpPr>
        <p:spPr>
          <a:xfrm>
            <a:off x="931492" y="4666378"/>
            <a:ext cx="5734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0"/>
              </a:rPr>
              <a:t>As our pointer is of primitive data type, so: *p = 10;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0A51FB-C3C2-2939-C08D-BB1935B44346}"/>
              </a:ext>
            </a:extLst>
          </p:cNvPr>
          <p:cNvSpPr txBox="1"/>
          <p:nvPr/>
        </p:nvSpPr>
        <p:spPr>
          <a:xfrm>
            <a:off x="931492" y="5227282"/>
            <a:ext cx="6930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0"/>
              </a:rPr>
              <a:t>For complex data type:  </a:t>
            </a:r>
            <a:r>
              <a:rPr lang="en-US" sz="1800" b="1" dirty="0" err="1">
                <a:latin typeface="Calisto MT" panose="02040603050505030304" pitchFamily="18" charset="0"/>
              </a:rPr>
              <a:t>pointerName</a:t>
            </a:r>
            <a:r>
              <a:rPr lang="en-US" sz="1800" b="1" dirty="0">
                <a:latin typeface="Calisto MT" panose="02040603050505030304" pitchFamily="18" charset="0"/>
              </a:rPr>
              <a:t> -&gt; </a:t>
            </a:r>
            <a:r>
              <a:rPr lang="en-US" sz="1800" b="1" dirty="0" err="1">
                <a:latin typeface="Calisto MT" panose="02040603050505030304" pitchFamily="18" charset="0"/>
              </a:rPr>
              <a:t>attributeName</a:t>
            </a:r>
            <a:r>
              <a:rPr lang="en-US" sz="1800" b="1" dirty="0">
                <a:latin typeface="Calisto MT" panose="02040603050505030304" pitchFamily="18" charset="0"/>
              </a:rPr>
              <a:t> = value;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A4EBE09-D752-29B4-57A3-AE158C5ED8C4}"/>
              </a:ext>
            </a:extLst>
          </p:cNvPr>
          <p:cNvCxnSpPr/>
          <p:nvPr/>
        </p:nvCxnSpPr>
        <p:spPr>
          <a:xfrm>
            <a:off x="9186729" y="2245984"/>
            <a:ext cx="5097" cy="53348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9A4419D-80E6-C459-CEFA-2E1E36E02691}"/>
              </a:ext>
            </a:extLst>
          </p:cNvPr>
          <p:cNvSpPr txBox="1"/>
          <p:nvPr/>
        </p:nvSpPr>
        <p:spPr>
          <a:xfrm>
            <a:off x="9033482" y="1876651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sto MT" panose="02040603050505030304" pitchFamily="18" charset="0"/>
              </a:rPr>
              <a:t>p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410816B-410D-0864-8FEE-501E625C3E74}"/>
              </a:ext>
            </a:extLst>
          </p:cNvPr>
          <p:cNvGrpSpPr/>
          <p:nvPr/>
        </p:nvGrpSpPr>
        <p:grpSpPr>
          <a:xfrm>
            <a:off x="8411215" y="3061613"/>
            <a:ext cx="2744465" cy="2744456"/>
            <a:chOff x="8135597" y="2832311"/>
            <a:chExt cx="2744465" cy="2744456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AB6AE92-1063-D8EE-A925-4AF733D970CC}"/>
                </a:ext>
              </a:extLst>
            </p:cNvPr>
            <p:cNvSpPr/>
            <p:nvPr/>
          </p:nvSpPr>
          <p:spPr>
            <a:xfrm>
              <a:off x="8135597" y="2832315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924C39F-6376-1A33-A774-C4209022B526}"/>
                </a:ext>
              </a:extLst>
            </p:cNvPr>
            <p:cNvSpPr/>
            <p:nvPr/>
          </p:nvSpPr>
          <p:spPr>
            <a:xfrm>
              <a:off x="8684490" y="2832314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13DA227-F731-86E9-E72B-4583E70BE73D}"/>
                </a:ext>
              </a:extLst>
            </p:cNvPr>
            <p:cNvSpPr/>
            <p:nvPr/>
          </p:nvSpPr>
          <p:spPr>
            <a:xfrm>
              <a:off x="9233383" y="2832313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96AED37-1117-C681-9036-0FD7ADBAD631}"/>
                </a:ext>
              </a:extLst>
            </p:cNvPr>
            <p:cNvSpPr/>
            <p:nvPr/>
          </p:nvSpPr>
          <p:spPr>
            <a:xfrm>
              <a:off x="9782276" y="2832312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6D17324-F5BD-1C7B-4574-C72209B80D21}"/>
                </a:ext>
              </a:extLst>
            </p:cNvPr>
            <p:cNvSpPr/>
            <p:nvPr/>
          </p:nvSpPr>
          <p:spPr>
            <a:xfrm>
              <a:off x="10331169" y="2832311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4141AD7-CB2C-E4C9-FD46-04B5514CF752}"/>
                </a:ext>
              </a:extLst>
            </p:cNvPr>
            <p:cNvSpPr/>
            <p:nvPr/>
          </p:nvSpPr>
          <p:spPr>
            <a:xfrm>
              <a:off x="8135597" y="3381208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D5FA7AF7-2601-1504-0450-9390E661FBEB}"/>
                </a:ext>
              </a:extLst>
            </p:cNvPr>
            <p:cNvSpPr/>
            <p:nvPr/>
          </p:nvSpPr>
          <p:spPr>
            <a:xfrm>
              <a:off x="8684490" y="3381207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9609C231-0B9F-E516-E1A1-2E3DB7FC221C}"/>
                </a:ext>
              </a:extLst>
            </p:cNvPr>
            <p:cNvSpPr/>
            <p:nvPr/>
          </p:nvSpPr>
          <p:spPr>
            <a:xfrm>
              <a:off x="9233383" y="3381206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18EF8F0-AEB8-FEFF-CB79-D07280DAA901}"/>
                </a:ext>
              </a:extLst>
            </p:cNvPr>
            <p:cNvSpPr/>
            <p:nvPr/>
          </p:nvSpPr>
          <p:spPr>
            <a:xfrm>
              <a:off x="9782276" y="3381205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DB390CAB-74EE-C61A-A8C6-A64CE2F71EAA}"/>
                </a:ext>
              </a:extLst>
            </p:cNvPr>
            <p:cNvSpPr/>
            <p:nvPr/>
          </p:nvSpPr>
          <p:spPr>
            <a:xfrm>
              <a:off x="10331169" y="3381204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D95BE43-B82E-588C-EA58-55303F2FC973}"/>
                </a:ext>
              </a:extLst>
            </p:cNvPr>
            <p:cNvSpPr/>
            <p:nvPr/>
          </p:nvSpPr>
          <p:spPr>
            <a:xfrm>
              <a:off x="8135597" y="3930097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F0AC5642-A5C6-9029-1CAE-E5708B008AEE}"/>
                </a:ext>
              </a:extLst>
            </p:cNvPr>
            <p:cNvSpPr/>
            <p:nvPr/>
          </p:nvSpPr>
          <p:spPr>
            <a:xfrm>
              <a:off x="8684490" y="3930096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F8C3234-9201-2BC3-63DE-7A87ACFC7A54}"/>
                </a:ext>
              </a:extLst>
            </p:cNvPr>
            <p:cNvSpPr/>
            <p:nvPr/>
          </p:nvSpPr>
          <p:spPr>
            <a:xfrm>
              <a:off x="9233383" y="3930095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A655108-3694-6F97-15AD-E1BEBF0EE424}"/>
                </a:ext>
              </a:extLst>
            </p:cNvPr>
            <p:cNvSpPr/>
            <p:nvPr/>
          </p:nvSpPr>
          <p:spPr>
            <a:xfrm>
              <a:off x="9782276" y="3930094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13DA5EF0-4CFE-996F-4B32-1AB3F26F5580}"/>
                </a:ext>
              </a:extLst>
            </p:cNvPr>
            <p:cNvSpPr/>
            <p:nvPr/>
          </p:nvSpPr>
          <p:spPr>
            <a:xfrm>
              <a:off x="10331169" y="3930093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64E783FC-45E7-77C1-EA34-CE6E41F9E699}"/>
                </a:ext>
              </a:extLst>
            </p:cNvPr>
            <p:cNvSpPr/>
            <p:nvPr/>
          </p:nvSpPr>
          <p:spPr>
            <a:xfrm>
              <a:off x="8135597" y="4478990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C91E044E-D3BF-3265-E54F-FBF2CD40B7A4}"/>
                </a:ext>
              </a:extLst>
            </p:cNvPr>
            <p:cNvSpPr/>
            <p:nvPr/>
          </p:nvSpPr>
          <p:spPr>
            <a:xfrm>
              <a:off x="8684490" y="4478989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8D96C6E2-DCB5-F59E-2C5A-EECDBDBAB819}"/>
                </a:ext>
              </a:extLst>
            </p:cNvPr>
            <p:cNvSpPr/>
            <p:nvPr/>
          </p:nvSpPr>
          <p:spPr>
            <a:xfrm>
              <a:off x="9233383" y="4478988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2CE3578F-E8FB-0D6A-047F-5586280AF95A}"/>
                </a:ext>
              </a:extLst>
            </p:cNvPr>
            <p:cNvSpPr/>
            <p:nvPr/>
          </p:nvSpPr>
          <p:spPr>
            <a:xfrm>
              <a:off x="9782276" y="4478987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58EA6A97-702A-0FED-82AD-BCBF8279C151}"/>
                </a:ext>
              </a:extLst>
            </p:cNvPr>
            <p:cNvSpPr/>
            <p:nvPr/>
          </p:nvSpPr>
          <p:spPr>
            <a:xfrm>
              <a:off x="10331169" y="4478986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34FAC24E-FA82-45A3-ED8D-4056019AACE4}"/>
                </a:ext>
              </a:extLst>
            </p:cNvPr>
            <p:cNvSpPr/>
            <p:nvPr/>
          </p:nvSpPr>
          <p:spPr>
            <a:xfrm>
              <a:off x="8135597" y="5027874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84BCA037-0ECB-BDAC-64B9-53C51CFDF3B5}"/>
                </a:ext>
              </a:extLst>
            </p:cNvPr>
            <p:cNvSpPr/>
            <p:nvPr/>
          </p:nvSpPr>
          <p:spPr>
            <a:xfrm>
              <a:off x="8684490" y="5027873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9DBF9A34-8F21-C555-BDCE-F3CF009BE544}"/>
                </a:ext>
              </a:extLst>
            </p:cNvPr>
            <p:cNvSpPr/>
            <p:nvPr/>
          </p:nvSpPr>
          <p:spPr>
            <a:xfrm>
              <a:off x="9233383" y="5027872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77A7EE63-A388-A310-FA8D-C6C889D3A19A}"/>
                </a:ext>
              </a:extLst>
            </p:cNvPr>
            <p:cNvSpPr/>
            <p:nvPr/>
          </p:nvSpPr>
          <p:spPr>
            <a:xfrm>
              <a:off x="9782276" y="5027871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B592E9C8-9AA7-A7DE-F057-FA7EA288A4D1}"/>
                </a:ext>
              </a:extLst>
            </p:cNvPr>
            <p:cNvSpPr/>
            <p:nvPr/>
          </p:nvSpPr>
          <p:spPr>
            <a:xfrm>
              <a:off x="10331169" y="5027870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2" name="Rectangle 41">
            <a:extLst>
              <a:ext uri="{FF2B5EF4-FFF2-40B4-BE49-F238E27FC236}">
                <a16:creationId xmlns:a16="http://schemas.microsoft.com/office/drawing/2014/main" id="{545852D7-541F-11F8-5BC4-A1D0429B0B8E}"/>
              </a:ext>
            </a:extLst>
          </p:cNvPr>
          <p:cNvSpPr/>
          <p:nvPr/>
        </p:nvSpPr>
        <p:spPr>
          <a:xfrm>
            <a:off x="9033482" y="2245983"/>
            <a:ext cx="306494" cy="5334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387DB6B-B467-E715-148F-C71FC3218DF8}"/>
              </a:ext>
            </a:extLst>
          </p:cNvPr>
          <p:cNvGrpSpPr/>
          <p:nvPr/>
        </p:nvGrpSpPr>
        <p:grpSpPr>
          <a:xfrm>
            <a:off x="8960108" y="3061613"/>
            <a:ext cx="548893" cy="548893"/>
            <a:chOff x="7037811" y="4753432"/>
            <a:chExt cx="548893" cy="548893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06A6A1E7-D8C8-E579-EB4C-18E00FB2641F}"/>
                </a:ext>
              </a:extLst>
            </p:cNvPr>
            <p:cNvSpPr/>
            <p:nvPr/>
          </p:nvSpPr>
          <p:spPr>
            <a:xfrm>
              <a:off x="7037811" y="4753432"/>
              <a:ext cx="548893" cy="548893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C3128394-C841-596C-6E25-D37C2C146F66}"/>
                </a:ext>
              </a:extLst>
            </p:cNvPr>
            <p:cNvSpPr txBox="1"/>
            <p:nvPr/>
          </p:nvSpPr>
          <p:spPr>
            <a:xfrm>
              <a:off x="7104316" y="4843212"/>
              <a:ext cx="4158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10           </a:t>
              </a:r>
            </a:p>
          </p:txBody>
        </p:sp>
      </p:grp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D462776-D2F9-CB89-6D63-0A10767BEA0D}"/>
              </a:ext>
            </a:extLst>
          </p:cNvPr>
          <p:cNvCxnSpPr/>
          <p:nvPr/>
        </p:nvCxnSpPr>
        <p:spPr>
          <a:xfrm>
            <a:off x="9186729" y="2249170"/>
            <a:ext cx="9970" cy="915961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8478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4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32BAA-9890-9782-F3BA-A1C00D67C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Equality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D1B97-C058-5D72-8476-820C927FA3B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CA62E38-59FD-451F-9AA6-B569CE35F9BD}" type="datetime4">
              <a:rPr lang="en-US" smtClean="0"/>
              <a:t>March 6,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C59D9D-699B-341B-2133-3513791A7F6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Prepared By: Swapnil Biswas, CSE, BSMRU, Kishoreganj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0BE05-65F4-62E1-DFF6-F1314E84459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187EB6-C279-CE1E-097C-852EC9A923EF}"/>
              </a:ext>
            </a:extLst>
          </p:cNvPr>
          <p:cNvSpPr txBox="1"/>
          <p:nvPr/>
        </p:nvSpPr>
        <p:spPr>
          <a:xfrm>
            <a:off x="931491" y="2033899"/>
            <a:ext cx="6853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0"/>
              </a:rPr>
              <a:t>Let, we have two simple integer variables </a:t>
            </a:r>
            <a:r>
              <a:rPr lang="en-US" sz="1800" b="1" dirty="0">
                <a:latin typeface="Calisto MT" panose="02040603050505030304" pitchFamily="18" charset="0"/>
              </a:rPr>
              <a:t>a</a:t>
            </a:r>
            <a:r>
              <a:rPr lang="en-US" sz="1800" dirty="0">
                <a:latin typeface="Calisto MT" panose="02040603050505030304" pitchFamily="18" charset="0"/>
              </a:rPr>
              <a:t> and </a:t>
            </a:r>
            <a:r>
              <a:rPr lang="en-US" sz="1800" b="1" dirty="0">
                <a:latin typeface="Calisto MT" panose="02040603050505030304" pitchFamily="18" charset="0"/>
              </a:rPr>
              <a:t>b</a:t>
            </a:r>
            <a:r>
              <a:rPr lang="en-US" sz="1800" dirty="0">
                <a:latin typeface="Calisto MT" panose="02040603050505030304" pitchFamily="18" charset="0"/>
              </a:rPr>
              <a:t> in our program. 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C97CBAC-7227-A9AB-5601-1C19E889E3F1}"/>
              </a:ext>
            </a:extLst>
          </p:cNvPr>
          <p:cNvSpPr txBox="1"/>
          <p:nvPr/>
        </p:nvSpPr>
        <p:spPr>
          <a:xfrm>
            <a:off x="931492" y="2470719"/>
            <a:ext cx="5734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>
                <a:latin typeface="Calisto MT" panose="02040603050505030304" pitchFamily="18" charset="0"/>
              </a:rPr>
              <a:t>int</a:t>
            </a:r>
            <a:r>
              <a:rPr lang="en-US" sz="1800" dirty="0">
                <a:latin typeface="Calisto MT" panose="02040603050505030304" pitchFamily="18" charset="0"/>
              </a:rPr>
              <a:t> a = 10;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DEED6CA-1A31-F1D7-82AA-65CD4D7687F0}"/>
              </a:ext>
            </a:extLst>
          </p:cNvPr>
          <p:cNvSpPr txBox="1"/>
          <p:nvPr/>
        </p:nvSpPr>
        <p:spPr>
          <a:xfrm>
            <a:off x="931490" y="2931354"/>
            <a:ext cx="5734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>
                <a:latin typeface="Calisto MT" panose="02040603050505030304" pitchFamily="18" charset="0"/>
              </a:rPr>
              <a:t>int</a:t>
            </a:r>
            <a:r>
              <a:rPr lang="en-US" sz="1800" dirty="0">
                <a:latin typeface="Calisto MT" panose="02040603050505030304" pitchFamily="18" charset="0"/>
              </a:rPr>
              <a:t> b = 25;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83E98FB1-C7D0-F77F-E960-475A6D5A7B48}"/>
              </a:ext>
            </a:extLst>
          </p:cNvPr>
          <p:cNvGrpSpPr/>
          <p:nvPr/>
        </p:nvGrpSpPr>
        <p:grpSpPr>
          <a:xfrm>
            <a:off x="8411215" y="3061613"/>
            <a:ext cx="2744465" cy="2744456"/>
            <a:chOff x="8135597" y="2832311"/>
            <a:chExt cx="2744465" cy="2744456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DCA1840F-3F4D-F318-EC46-BC0D723C963B}"/>
                </a:ext>
              </a:extLst>
            </p:cNvPr>
            <p:cNvSpPr/>
            <p:nvPr/>
          </p:nvSpPr>
          <p:spPr>
            <a:xfrm>
              <a:off x="8135597" y="2832315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E0527DA4-3016-B02F-BAB6-B614D05A6455}"/>
                </a:ext>
              </a:extLst>
            </p:cNvPr>
            <p:cNvSpPr/>
            <p:nvPr/>
          </p:nvSpPr>
          <p:spPr>
            <a:xfrm>
              <a:off x="8684490" y="2832314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548D7FF7-DD6A-600C-AF96-BB77FE7EECD2}"/>
                </a:ext>
              </a:extLst>
            </p:cNvPr>
            <p:cNvSpPr/>
            <p:nvPr/>
          </p:nvSpPr>
          <p:spPr>
            <a:xfrm>
              <a:off x="9233383" y="2832313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24026171-D1ED-CE3F-FA63-29F7CCF91A5B}"/>
                </a:ext>
              </a:extLst>
            </p:cNvPr>
            <p:cNvSpPr/>
            <p:nvPr/>
          </p:nvSpPr>
          <p:spPr>
            <a:xfrm>
              <a:off x="9782276" y="2832312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E07ACE8D-38F1-010A-6B06-8A8A90EFBDC5}"/>
                </a:ext>
              </a:extLst>
            </p:cNvPr>
            <p:cNvSpPr/>
            <p:nvPr/>
          </p:nvSpPr>
          <p:spPr>
            <a:xfrm>
              <a:off x="10331169" y="2832311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316487A1-53DF-6606-8E15-5B2FB0742B84}"/>
                </a:ext>
              </a:extLst>
            </p:cNvPr>
            <p:cNvSpPr/>
            <p:nvPr/>
          </p:nvSpPr>
          <p:spPr>
            <a:xfrm>
              <a:off x="8135597" y="3381208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9B3BCEF2-BD1F-139C-5CF6-87CB6C0CDA95}"/>
                </a:ext>
              </a:extLst>
            </p:cNvPr>
            <p:cNvSpPr/>
            <p:nvPr/>
          </p:nvSpPr>
          <p:spPr>
            <a:xfrm>
              <a:off x="8684490" y="3381207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1611B170-080F-3DC3-B932-A4697603FF2A}"/>
                </a:ext>
              </a:extLst>
            </p:cNvPr>
            <p:cNvSpPr/>
            <p:nvPr/>
          </p:nvSpPr>
          <p:spPr>
            <a:xfrm>
              <a:off x="9233383" y="3381206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5501F6E0-C38E-502F-B852-E5DC2F71F01D}"/>
                </a:ext>
              </a:extLst>
            </p:cNvPr>
            <p:cNvSpPr/>
            <p:nvPr/>
          </p:nvSpPr>
          <p:spPr>
            <a:xfrm>
              <a:off x="9782276" y="3381205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EC900C8F-8302-0B4A-9302-B525D38A087C}"/>
                </a:ext>
              </a:extLst>
            </p:cNvPr>
            <p:cNvSpPr/>
            <p:nvPr/>
          </p:nvSpPr>
          <p:spPr>
            <a:xfrm>
              <a:off x="10331169" y="3381204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D37E1530-BB3F-B957-5300-06CB151F4563}"/>
                </a:ext>
              </a:extLst>
            </p:cNvPr>
            <p:cNvSpPr/>
            <p:nvPr/>
          </p:nvSpPr>
          <p:spPr>
            <a:xfrm>
              <a:off x="8135597" y="3930097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56021494-A829-2E1D-C089-DD5E16297BB2}"/>
                </a:ext>
              </a:extLst>
            </p:cNvPr>
            <p:cNvSpPr/>
            <p:nvPr/>
          </p:nvSpPr>
          <p:spPr>
            <a:xfrm>
              <a:off x="8684490" y="3930096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F0723418-B0EA-4E8A-8322-1BF0E2211A8E}"/>
                </a:ext>
              </a:extLst>
            </p:cNvPr>
            <p:cNvSpPr/>
            <p:nvPr/>
          </p:nvSpPr>
          <p:spPr>
            <a:xfrm>
              <a:off x="9233383" y="3930095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B50C1A94-AC89-99B1-9B43-EB8D1D7C9E7C}"/>
                </a:ext>
              </a:extLst>
            </p:cNvPr>
            <p:cNvSpPr/>
            <p:nvPr/>
          </p:nvSpPr>
          <p:spPr>
            <a:xfrm>
              <a:off x="9782276" y="3930094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E7A2AF96-8B3E-767E-577C-AB85D03DB71D}"/>
                </a:ext>
              </a:extLst>
            </p:cNvPr>
            <p:cNvSpPr/>
            <p:nvPr/>
          </p:nvSpPr>
          <p:spPr>
            <a:xfrm>
              <a:off x="10331169" y="3930093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54EFF09-3F16-4317-1050-A3D5405EB3F6}"/>
                </a:ext>
              </a:extLst>
            </p:cNvPr>
            <p:cNvSpPr/>
            <p:nvPr/>
          </p:nvSpPr>
          <p:spPr>
            <a:xfrm>
              <a:off x="8135597" y="4478990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80DFF640-4478-7E2C-4813-4D39E49A3282}"/>
                </a:ext>
              </a:extLst>
            </p:cNvPr>
            <p:cNvSpPr/>
            <p:nvPr/>
          </p:nvSpPr>
          <p:spPr>
            <a:xfrm>
              <a:off x="8684490" y="4478989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2AC94742-0ED6-3A35-30E1-EE5312DF90A7}"/>
                </a:ext>
              </a:extLst>
            </p:cNvPr>
            <p:cNvSpPr/>
            <p:nvPr/>
          </p:nvSpPr>
          <p:spPr>
            <a:xfrm>
              <a:off x="9233383" y="4478988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88D82CF3-83E1-16B2-AE25-902B99C353C4}"/>
                </a:ext>
              </a:extLst>
            </p:cNvPr>
            <p:cNvSpPr/>
            <p:nvPr/>
          </p:nvSpPr>
          <p:spPr>
            <a:xfrm>
              <a:off x="9782276" y="4478987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48A21503-2269-72AA-4306-10D7D10E5B95}"/>
                </a:ext>
              </a:extLst>
            </p:cNvPr>
            <p:cNvSpPr/>
            <p:nvPr/>
          </p:nvSpPr>
          <p:spPr>
            <a:xfrm>
              <a:off x="10331169" y="4478986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55DD0C86-7C93-CDB3-A645-38E66B819121}"/>
                </a:ext>
              </a:extLst>
            </p:cNvPr>
            <p:cNvSpPr/>
            <p:nvPr/>
          </p:nvSpPr>
          <p:spPr>
            <a:xfrm>
              <a:off x="8135597" y="5027874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2F12E1AD-7C7E-F5FD-8612-067EB1D94619}"/>
                </a:ext>
              </a:extLst>
            </p:cNvPr>
            <p:cNvSpPr/>
            <p:nvPr/>
          </p:nvSpPr>
          <p:spPr>
            <a:xfrm>
              <a:off x="8684490" y="5027873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1F1C3C99-55B9-00C8-F67E-38D260B7ECBC}"/>
                </a:ext>
              </a:extLst>
            </p:cNvPr>
            <p:cNvSpPr/>
            <p:nvPr/>
          </p:nvSpPr>
          <p:spPr>
            <a:xfrm>
              <a:off x="9233383" y="5027872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F32EE6BC-CF3D-BFA8-F9A7-ED5A63BEC2FF}"/>
                </a:ext>
              </a:extLst>
            </p:cNvPr>
            <p:cNvSpPr/>
            <p:nvPr/>
          </p:nvSpPr>
          <p:spPr>
            <a:xfrm>
              <a:off x="9782276" y="5027871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21137144-9AA1-9927-92C2-59CF6D6511B8}"/>
                </a:ext>
              </a:extLst>
            </p:cNvPr>
            <p:cNvSpPr/>
            <p:nvPr/>
          </p:nvSpPr>
          <p:spPr>
            <a:xfrm>
              <a:off x="10331169" y="5027870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BAEFA72F-A522-9E5C-DD2D-70A455F7E86D}"/>
              </a:ext>
            </a:extLst>
          </p:cNvPr>
          <p:cNvGrpSpPr/>
          <p:nvPr/>
        </p:nvGrpSpPr>
        <p:grpSpPr>
          <a:xfrm>
            <a:off x="8960108" y="3061613"/>
            <a:ext cx="548893" cy="548893"/>
            <a:chOff x="7037811" y="4753432"/>
            <a:chExt cx="548893" cy="548893"/>
          </a:xfrm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A0E0249F-C2D3-F741-9E33-2F3A45285FE9}"/>
                </a:ext>
              </a:extLst>
            </p:cNvPr>
            <p:cNvSpPr/>
            <p:nvPr/>
          </p:nvSpPr>
          <p:spPr>
            <a:xfrm>
              <a:off x="7037811" y="4753432"/>
              <a:ext cx="548893" cy="548893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139D3A97-5BD3-4BC3-61DA-BE5991DD32D6}"/>
                </a:ext>
              </a:extLst>
            </p:cNvPr>
            <p:cNvSpPr txBox="1"/>
            <p:nvPr/>
          </p:nvSpPr>
          <p:spPr>
            <a:xfrm>
              <a:off x="7104316" y="4843212"/>
              <a:ext cx="4158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dirty="0">
                  <a:latin typeface="Calisto MT" panose="02040603050505030304" pitchFamily="18" charset="0"/>
                </a:rPr>
                <a:t>10           </a:t>
              </a:r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F455F494-19D3-9C50-B040-FECF89B262DE}"/>
              </a:ext>
            </a:extLst>
          </p:cNvPr>
          <p:cNvGrpSpPr/>
          <p:nvPr/>
        </p:nvGrpSpPr>
        <p:grpSpPr>
          <a:xfrm>
            <a:off x="10606787" y="3061612"/>
            <a:ext cx="548893" cy="548893"/>
            <a:chOff x="7037811" y="4753432"/>
            <a:chExt cx="548893" cy="548893"/>
          </a:xfrm>
          <a:solidFill>
            <a:srgbClr val="92D050"/>
          </a:solidFill>
        </p:grpSpPr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829B3A1F-1A7C-1568-FDBA-C10A8F095B14}"/>
                </a:ext>
              </a:extLst>
            </p:cNvPr>
            <p:cNvSpPr/>
            <p:nvPr/>
          </p:nvSpPr>
          <p:spPr>
            <a:xfrm>
              <a:off x="7037811" y="4753432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7B27C91A-0105-148C-00BC-111933B76219}"/>
                </a:ext>
              </a:extLst>
            </p:cNvPr>
            <p:cNvSpPr txBox="1"/>
            <p:nvPr/>
          </p:nvSpPr>
          <p:spPr>
            <a:xfrm>
              <a:off x="7104316" y="4843212"/>
              <a:ext cx="415881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800" dirty="0">
                  <a:latin typeface="Calisto MT" panose="02040603050505030304" pitchFamily="18" charset="0"/>
                </a:rPr>
                <a:t>25           </a:t>
              </a:r>
            </a:p>
          </p:txBody>
        </p:sp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35FE2593-0FF7-8BB6-5682-EABF642992BC}"/>
              </a:ext>
            </a:extLst>
          </p:cNvPr>
          <p:cNvSpPr txBox="1"/>
          <p:nvPr/>
        </p:nvSpPr>
        <p:spPr>
          <a:xfrm>
            <a:off x="9082787" y="2692283"/>
            <a:ext cx="303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Calisto MT" panose="02040603050505030304" pitchFamily="18" charset="0"/>
              </a:rPr>
              <a:t>a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804D05A-53D4-0D81-521A-AC51850F3704}"/>
              </a:ext>
            </a:extLst>
          </p:cNvPr>
          <p:cNvSpPr txBox="1"/>
          <p:nvPr/>
        </p:nvSpPr>
        <p:spPr>
          <a:xfrm>
            <a:off x="10729464" y="2668160"/>
            <a:ext cx="303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Calisto MT" panose="02040603050505030304" pitchFamily="18" charset="0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230379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7" grpId="0"/>
      <p:bldP spid="48" grpId="0"/>
      <p:bldP spid="81" grpId="0"/>
      <p:bldP spid="8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9E96-53BD-302E-AB84-608345783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Equality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4E26B4-5C20-3E44-86AD-58397D75ACA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CA62E38-59FD-451F-9AA6-B569CE35F9BD}" type="datetime4">
              <a:rPr lang="en-US" smtClean="0"/>
              <a:t>March 6,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2E5E7E-9004-1AAE-3D34-9562CA923B0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Prepared By: Swapnil Biswas, CSE, BSMRU, Kishoreganj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757767-4680-8C52-53FD-EC5C51EC519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0C5157-8438-5BD2-0913-57B7B309847E}"/>
              </a:ext>
            </a:extLst>
          </p:cNvPr>
          <p:cNvSpPr txBox="1"/>
          <p:nvPr/>
        </p:nvSpPr>
        <p:spPr>
          <a:xfrm>
            <a:off x="931491" y="2033899"/>
            <a:ext cx="6853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0"/>
              </a:rPr>
              <a:t>Let, we have two simple integer variables </a:t>
            </a:r>
            <a:r>
              <a:rPr lang="en-US" sz="1800" b="1" dirty="0">
                <a:latin typeface="Calisto MT" panose="02040603050505030304" pitchFamily="18" charset="0"/>
              </a:rPr>
              <a:t>a</a:t>
            </a:r>
            <a:r>
              <a:rPr lang="en-US" sz="1800" dirty="0">
                <a:latin typeface="Calisto MT" panose="02040603050505030304" pitchFamily="18" charset="0"/>
              </a:rPr>
              <a:t> and </a:t>
            </a:r>
            <a:r>
              <a:rPr lang="en-US" sz="1800" b="1" dirty="0">
                <a:latin typeface="Calisto MT" panose="02040603050505030304" pitchFamily="18" charset="0"/>
              </a:rPr>
              <a:t>b</a:t>
            </a:r>
            <a:r>
              <a:rPr lang="en-US" sz="1800" dirty="0">
                <a:latin typeface="Calisto MT" panose="02040603050505030304" pitchFamily="18" charset="0"/>
              </a:rPr>
              <a:t> in our program.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7EBAE3-032A-831D-B058-A3EA7D4C2CF9}"/>
              </a:ext>
            </a:extLst>
          </p:cNvPr>
          <p:cNvSpPr txBox="1"/>
          <p:nvPr/>
        </p:nvSpPr>
        <p:spPr>
          <a:xfrm>
            <a:off x="931492" y="2470719"/>
            <a:ext cx="5734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>
                <a:latin typeface="Calisto MT" panose="02040603050505030304" pitchFamily="18" charset="0"/>
              </a:rPr>
              <a:t>int</a:t>
            </a:r>
            <a:r>
              <a:rPr lang="en-US" sz="1800" dirty="0">
                <a:latin typeface="Calisto MT" panose="02040603050505030304" pitchFamily="18" charset="0"/>
              </a:rPr>
              <a:t> a = 10;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2CCFDA-8E4A-C091-B28F-30EF990AD871}"/>
              </a:ext>
            </a:extLst>
          </p:cNvPr>
          <p:cNvSpPr txBox="1"/>
          <p:nvPr/>
        </p:nvSpPr>
        <p:spPr>
          <a:xfrm>
            <a:off x="931490" y="2931354"/>
            <a:ext cx="5734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>
                <a:latin typeface="Calisto MT" panose="02040603050505030304" pitchFamily="18" charset="0"/>
              </a:rPr>
              <a:t>int</a:t>
            </a:r>
            <a:r>
              <a:rPr lang="en-US" sz="1800" dirty="0">
                <a:latin typeface="Calisto MT" panose="02040603050505030304" pitchFamily="18" charset="0"/>
              </a:rPr>
              <a:t> b = 25;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BCC368-1567-C607-A0B5-D3A906BE11D4}"/>
              </a:ext>
            </a:extLst>
          </p:cNvPr>
          <p:cNvSpPr txBox="1"/>
          <p:nvPr/>
        </p:nvSpPr>
        <p:spPr>
          <a:xfrm>
            <a:off x="931492" y="3438939"/>
            <a:ext cx="5734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0"/>
              </a:rPr>
              <a:t>What happens when we equal these two variable?        a = b;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34A6B5E-B789-AE9D-77A9-891E0A35A3E3}"/>
              </a:ext>
            </a:extLst>
          </p:cNvPr>
          <p:cNvGrpSpPr/>
          <p:nvPr/>
        </p:nvGrpSpPr>
        <p:grpSpPr>
          <a:xfrm>
            <a:off x="8411215" y="3061613"/>
            <a:ext cx="2744465" cy="2744456"/>
            <a:chOff x="8135597" y="2832311"/>
            <a:chExt cx="2744465" cy="274445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7097A67-FC24-2EDB-602D-55256FD827B3}"/>
                </a:ext>
              </a:extLst>
            </p:cNvPr>
            <p:cNvSpPr/>
            <p:nvPr/>
          </p:nvSpPr>
          <p:spPr>
            <a:xfrm>
              <a:off x="8135597" y="2832315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1728C6A-8630-9658-37AC-6D0A5557B7B7}"/>
                </a:ext>
              </a:extLst>
            </p:cNvPr>
            <p:cNvSpPr/>
            <p:nvPr/>
          </p:nvSpPr>
          <p:spPr>
            <a:xfrm>
              <a:off x="8684490" y="2832314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E6032C5-E782-4039-9160-57DFBB99CA6E}"/>
                </a:ext>
              </a:extLst>
            </p:cNvPr>
            <p:cNvSpPr/>
            <p:nvPr/>
          </p:nvSpPr>
          <p:spPr>
            <a:xfrm>
              <a:off x="9233383" y="2832313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4BF7277-F6AE-64A8-F06D-370C539BE945}"/>
                </a:ext>
              </a:extLst>
            </p:cNvPr>
            <p:cNvSpPr/>
            <p:nvPr/>
          </p:nvSpPr>
          <p:spPr>
            <a:xfrm>
              <a:off x="9782276" y="2832312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9A84D20-FA03-D521-3882-298CD411C52E}"/>
                </a:ext>
              </a:extLst>
            </p:cNvPr>
            <p:cNvSpPr/>
            <p:nvPr/>
          </p:nvSpPr>
          <p:spPr>
            <a:xfrm>
              <a:off x="10331169" y="2832311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9A0C392-878D-2F8B-7C64-CBA60AFE3D9C}"/>
                </a:ext>
              </a:extLst>
            </p:cNvPr>
            <p:cNvSpPr/>
            <p:nvPr/>
          </p:nvSpPr>
          <p:spPr>
            <a:xfrm>
              <a:off x="8135597" y="3381208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8B8ECEA-1F01-8C74-80BA-94196C28A109}"/>
                </a:ext>
              </a:extLst>
            </p:cNvPr>
            <p:cNvSpPr/>
            <p:nvPr/>
          </p:nvSpPr>
          <p:spPr>
            <a:xfrm>
              <a:off x="8684490" y="3381207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9BD42F3-C215-320E-4A50-5B67FF6C68DC}"/>
                </a:ext>
              </a:extLst>
            </p:cNvPr>
            <p:cNvSpPr/>
            <p:nvPr/>
          </p:nvSpPr>
          <p:spPr>
            <a:xfrm>
              <a:off x="9233383" y="3381206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2DDC28B-56C4-F1FC-8919-6C82D3D58F52}"/>
                </a:ext>
              </a:extLst>
            </p:cNvPr>
            <p:cNvSpPr/>
            <p:nvPr/>
          </p:nvSpPr>
          <p:spPr>
            <a:xfrm>
              <a:off x="9782276" y="3381205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4120910-D69B-8CD5-2D8F-E8077B004327}"/>
                </a:ext>
              </a:extLst>
            </p:cNvPr>
            <p:cNvSpPr/>
            <p:nvPr/>
          </p:nvSpPr>
          <p:spPr>
            <a:xfrm>
              <a:off x="10331169" y="3381204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2BD45CA-73F0-D900-8A74-B8F2E92454D8}"/>
                </a:ext>
              </a:extLst>
            </p:cNvPr>
            <p:cNvSpPr/>
            <p:nvPr/>
          </p:nvSpPr>
          <p:spPr>
            <a:xfrm>
              <a:off x="8135597" y="3930097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64C6C32-73CA-1D48-3317-27F99A1EF69C}"/>
                </a:ext>
              </a:extLst>
            </p:cNvPr>
            <p:cNvSpPr/>
            <p:nvPr/>
          </p:nvSpPr>
          <p:spPr>
            <a:xfrm>
              <a:off x="8684490" y="3930096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65F86283-5B1A-A44D-5423-4820DDBA6B3B}"/>
                </a:ext>
              </a:extLst>
            </p:cNvPr>
            <p:cNvSpPr/>
            <p:nvPr/>
          </p:nvSpPr>
          <p:spPr>
            <a:xfrm>
              <a:off x="9233383" y="3930095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5D0C54E-D100-5480-564A-3F17AD270393}"/>
                </a:ext>
              </a:extLst>
            </p:cNvPr>
            <p:cNvSpPr/>
            <p:nvPr/>
          </p:nvSpPr>
          <p:spPr>
            <a:xfrm>
              <a:off x="9782276" y="3930094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F82778E-2132-AE69-6EFC-1BE8ED27AE68}"/>
                </a:ext>
              </a:extLst>
            </p:cNvPr>
            <p:cNvSpPr/>
            <p:nvPr/>
          </p:nvSpPr>
          <p:spPr>
            <a:xfrm>
              <a:off x="10331169" y="3930093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B208A91-A85C-53D1-DE4B-04E4B06D4B59}"/>
                </a:ext>
              </a:extLst>
            </p:cNvPr>
            <p:cNvSpPr/>
            <p:nvPr/>
          </p:nvSpPr>
          <p:spPr>
            <a:xfrm>
              <a:off x="8135597" y="4478990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D8EA121-861D-4FBF-D29D-EADA8021CAD8}"/>
                </a:ext>
              </a:extLst>
            </p:cNvPr>
            <p:cNvSpPr/>
            <p:nvPr/>
          </p:nvSpPr>
          <p:spPr>
            <a:xfrm>
              <a:off x="8684490" y="4478989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87D89F4-EE33-8219-C49D-F1FD83DF953B}"/>
                </a:ext>
              </a:extLst>
            </p:cNvPr>
            <p:cNvSpPr/>
            <p:nvPr/>
          </p:nvSpPr>
          <p:spPr>
            <a:xfrm>
              <a:off x="9233383" y="4478988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A450E11-F66F-7DC6-0C95-C86844049215}"/>
                </a:ext>
              </a:extLst>
            </p:cNvPr>
            <p:cNvSpPr/>
            <p:nvPr/>
          </p:nvSpPr>
          <p:spPr>
            <a:xfrm>
              <a:off x="9782276" y="4478987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21C94BDD-09C8-7C1D-FFEF-7310D8331A71}"/>
                </a:ext>
              </a:extLst>
            </p:cNvPr>
            <p:cNvSpPr/>
            <p:nvPr/>
          </p:nvSpPr>
          <p:spPr>
            <a:xfrm>
              <a:off x="10331169" y="4478986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732A4FB0-228E-EE4B-0C68-4C6C561847FD}"/>
                </a:ext>
              </a:extLst>
            </p:cNvPr>
            <p:cNvSpPr/>
            <p:nvPr/>
          </p:nvSpPr>
          <p:spPr>
            <a:xfrm>
              <a:off x="8135597" y="5027874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B60467EA-CD06-7E5A-4778-FD22BFD516D3}"/>
                </a:ext>
              </a:extLst>
            </p:cNvPr>
            <p:cNvSpPr/>
            <p:nvPr/>
          </p:nvSpPr>
          <p:spPr>
            <a:xfrm>
              <a:off x="8684490" y="5027873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3DF622B6-DC93-1CC1-A0ED-A2E690CC5D0E}"/>
                </a:ext>
              </a:extLst>
            </p:cNvPr>
            <p:cNvSpPr/>
            <p:nvPr/>
          </p:nvSpPr>
          <p:spPr>
            <a:xfrm>
              <a:off x="9233383" y="5027872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BC6E03C0-5BF4-E292-790A-595FE1FDD5B0}"/>
                </a:ext>
              </a:extLst>
            </p:cNvPr>
            <p:cNvSpPr/>
            <p:nvPr/>
          </p:nvSpPr>
          <p:spPr>
            <a:xfrm>
              <a:off x="9782276" y="5027871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D3DBE09-69B0-E6C9-F692-C4DB9A3FE5E6}"/>
                </a:ext>
              </a:extLst>
            </p:cNvPr>
            <p:cNvSpPr/>
            <p:nvPr/>
          </p:nvSpPr>
          <p:spPr>
            <a:xfrm>
              <a:off x="10331169" y="5027870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1A2F85D-AF11-67D6-1715-E528037A2D51}"/>
              </a:ext>
            </a:extLst>
          </p:cNvPr>
          <p:cNvGrpSpPr/>
          <p:nvPr/>
        </p:nvGrpSpPr>
        <p:grpSpPr>
          <a:xfrm>
            <a:off x="8960108" y="3061613"/>
            <a:ext cx="548893" cy="548893"/>
            <a:chOff x="7037811" y="4753432"/>
            <a:chExt cx="548893" cy="548893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061F0DB7-EB7A-4BE6-690B-3A56233BBC6F}"/>
                </a:ext>
              </a:extLst>
            </p:cNvPr>
            <p:cNvSpPr/>
            <p:nvPr/>
          </p:nvSpPr>
          <p:spPr>
            <a:xfrm>
              <a:off x="7037811" y="4753432"/>
              <a:ext cx="548893" cy="548893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BAFA1BD-446B-34D0-C43F-8FCD80245AC9}"/>
                </a:ext>
              </a:extLst>
            </p:cNvPr>
            <p:cNvSpPr txBox="1"/>
            <p:nvPr/>
          </p:nvSpPr>
          <p:spPr>
            <a:xfrm>
              <a:off x="7104316" y="4843212"/>
              <a:ext cx="4158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dirty="0">
                  <a:latin typeface="Calisto MT" panose="02040603050505030304" pitchFamily="18" charset="0"/>
                </a:rPr>
                <a:t>10           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B1BF4C3-6346-677C-4C8A-FF627AB8E29B}"/>
              </a:ext>
            </a:extLst>
          </p:cNvPr>
          <p:cNvGrpSpPr/>
          <p:nvPr/>
        </p:nvGrpSpPr>
        <p:grpSpPr>
          <a:xfrm>
            <a:off x="10606787" y="3061612"/>
            <a:ext cx="548893" cy="548893"/>
            <a:chOff x="7037811" y="4753432"/>
            <a:chExt cx="548893" cy="548893"/>
          </a:xfrm>
          <a:solidFill>
            <a:srgbClr val="92D050"/>
          </a:solidFill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E22F2D1A-60DA-1E7B-E281-90AA394424AA}"/>
                </a:ext>
              </a:extLst>
            </p:cNvPr>
            <p:cNvSpPr/>
            <p:nvPr/>
          </p:nvSpPr>
          <p:spPr>
            <a:xfrm>
              <a:off x="7037811" y="4753432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C9E1922-6FEE-13CC-9699-A2DF6FE27F4B}"/>
                </a:ext>
              </a:extLst>
            </p:cNvPr>
            <p:cNvSpPr txBox="1"/>
            <p:nvPr/>
          </p:nvSpPr>
          <p:spPr>
            <a:xfrm>
              <a:off x="7104316" y="4843212"/>
              <a:ext cx="415881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800" dirty="0">
                  <a:latin typeface="Calisto MT" panose="02040603050505030304" pitchFamily="18" charset="0"/>
                </a:rPr>
                <a:t>25           </a:t>
              </a: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559916D-E8CD-80E0-51A2-780CA597BDEC}"/>
              </a:ext>
            </a:extLst>
          </p:cNvPr>
          <p:cNvSpPr txBox="1"/>
          <p:nvPr/>
        </p:nvSpPr>
        <p:spPr>
          <a:xfrm>
            <a:off x="9082787" y="2692283"/>
            <a:ext cx="303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Calisto MT" panose="02040603050505030304" pitchFamily="18" charset="0"/>
              </a:rPr>
              <a:t>a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F63FED1-05AE-E33A-EEC6-96FB8BB2B529}"/>
              </a:ext>
            </a:extLst>
          </p:cNvPr>
          <p:cNvSpPr txBox="1"/>
          <p:nvPr/>
        </p:nvSpPr>
        <p:spPr>
          <a:xfrm>
            <a:off x="10729464" y="2668160"/>
            <a:ext cx="303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Calisto MT" panose="02040603050505030304" pitchFamily="18" charset="0"/>
              </a:rPr>
              <a:t>b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27DBF0B-1DAE-CAB6-4279-900061CEF859}"/>
              </a:ext>
            </a:extLst>
          </p:cNvPr>
          <p:cNvSpPr txBox="1"/>
          <p:nvPr/>
        </p:nvSpPr>
        <p:spPr>
          <a:xfrm>
            <a:off x="931492" y="4085270"/>
            <a:ext cx="4221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0"/>
              </a:rPr>
              <a:t>Simply, the value of </a:t>
            </a:r>
            <a:r>
              <a:rPr lang="en-US" sz="1800" b="1" dirty="0">
                <a:latin typeface="Calisto MT" panose="02040603050505030304" pitchFamily="18" charset="0"/>
              </a:rPr>
              <a:t>b</a:t>
            </a:r>
            <a:r>
              <a:rPr lang="en-US" sz="1800" dirty="0">
                <a:latin typeface="Calisto MT" panose="02040603050505030304" pitchFamily="18" charset="0"/>
              </a:rPr>
              <a:t> is copied to </a:t>
            </a:r>
            <a:r>
              <a:rPr lang="en-US" sz="1800" b="1" dirty="0">
                <a:latin typeface="Calisto MT" panose="02040603050505030304" pitchFamily="18" charset="0"/>
              </a:rPr>
              <a:t>a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64C9EF9-BB77-F2EC-4EE4-440B10054412}"/>
              </a:ext>
            </a:extLst>
          </p:cNvPr>
          <p:cNvGrpSpPr/>
          <p:nvPr/>
        </p:nvGrpSpPr>
        <p:grpSpPr>
          <a:xfrm>
            <a:off x="10606784" y="3061607"/>
            <a:ext cx="548893" cy="548893"/>
            <a:chOff x="7037811" y="4753432"/>
            <a:chExt cx="548893" cy="548893"/>
          </a:xfrm>
          <a:solidFill>
            <a:srgbClr val="92D050"/>
          </a:solidFill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13984899-E128-D124-148F-8A63631DF089}"/>
                </a:ext>
              </a:extLst>
            </p:cNvPr>
            <p:cNvSpPr/>
            <p:nvPr/>
          </p:nvSpPr>
          <p:spPr>
            <a:xfrm>
              <a:off x="7037811" y="4753432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50AB838-46B1-E706-EF6D-99127429F2FA}"/>
                </a:ext>
              </a:extLst>
            </p:cNvPr>
            <p:cNvSpPr txBox="1"/>
            <p:nvPr/>
          </p:nvSpPr>
          <p:spPr>
            <a:xfrm>
              <a:off x="7104316" y="4843212"/>
              <a:ext cx="415881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800" dirty="0">
                  <a:latin typeface="Calisto MT" panose="02040603050505030304" pitchFamily="18" charset="0"/>
                </a:rPr>
                <a:t>25           </a:t>
              </a:r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7DE153C1-93C3-6A6D-FA05-0A3026882409}"/>
              </a:ext>
            </a:extLst>
          </p:cNvPr>
          <p:cNvSpPr txBox="1"/>
          <p:nvPr/>
        </p:nvSpPr>
        <p:spPr>
          <a:xfrm>
            <a:off x="931492" y="4454602"/>
            <a:ext cx="5734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0"/>
              </a:rPr>
              <a:t>So, after this operation, value of </a:t>
            </a:r>
            <a:r>
              <a:rPr lang="en-US" sz="1800" b="1" dirty="0">
                <a:latin typeface="Calisto MT" panose="02040603050505030304" pitchFamily="18" charset="0"/>
              </a:rPr>
              <a:t>a</a:t>
            </a:r>
            <a:r>
              <a:rPr lang="en-US" sz="1800" dirty="0">
                <a:latin typeface="Calisto MT" panose="02040603050505030304" pitchFamily="18" charset="0"/>
              </a:rPr>
              <a:t> will be 25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37B9FB3-31FB-4489-0969-C9F33ED7028C}"/>
              </a:ext>
            </a:extLst>
          </p:cNvPr>
          <p:cNvSpPr txBox="1"/>
          <p:nvPr/>
        </p:nvSpPr>
        <p:spPr>
          <a:xfrm>
            <a:off x="931492" y="4823934"/>
            <a:ext cx="72297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0"/>
              </a:rPr>
              <a:t>Now, after this equality operation, if I bring any change into </a:t>
            </a:r>
            <a:r>
              <a:rPr lang="en-US" sz="1800" b="1" dirty="0">
                <a:latin typeface="Calisto MT" panose="02040603050505030304" pitchFamily="18" charset="0"/>
              </a:rPr>
              <a:t>b</a:t>
            </a:r>
            <a:r>
              <a:rPr lang="en-US" sz="1800" dirty="0">
                <a:latin typeface="Calisto MT" panose="02040603050505030304" pitchFamily="18" charset="0"/>
              </a:rPr>
              <a:t>, Let we made b = 40. Will it bring any change in </a:t>
            </a:r>
            <a:r>
              <a:rPr lang="en-US" sz="1800" b="1" dirty="0">
                <a:latin typeface="Calisto MT" panose="02040603050505030304" pitchFamily="18" charset="0"/>
              </a:rPr>
              <a:t>a</a:t>
            </a:r>
            <a:r>
              <a:rPr lang="en-US" sz="1800" dirty="0">
                <a:latin typeface="Calisto MT" panose="02040603050505030304" pitchFamily="18" charset="0"/>
              </a:rPr>
              <a:t>?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9074AE7-8A91-84A9-85E3-0232153C6A25}"/>
              </a:ext>
            </a:extLst>
          </p:cNvPr>
          <p:cNvSpPr txBox="1"/>
          <p:nvPr/>
        </p:nvSpPr>
        <p:spPr>
          <a:xfrm>
            <a:off x="931490" y="5482933"/>
            <a:ext cx="5734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>
                <a:latin typeface="Calisto MT" panose="02040603050505030304" pitchFamily="18" charset="0"/>
              </a:rPr>
              <a:t>Ans</a:t>
            </a:r>
            <a:r>
              <a:rPr lang="en-US" sz="1800" dirty="0">
                <a:latin typeface="Calisto MT" panose="02040603050505030304" pitchFamily="18" charset="0"/>
              </a:rPr>
              <a:t> is NO. Because </a:t>
            </a:r>
            <a:r>
              <a:rPr lang="en-US" sz="1800" b="1" dirty="0">
                <a:latin typeface="Calisto MT" panose="02040603050505030304" pitchFamily="18" charset="0"/>
              </a:rPr>
              <a:t>a</a:t>
            </a:r>
            <a:r>
              <a:rPr lang="en-US" sz="1800" dirty="0">
                <a:latin typeface="Calisto MT" panose="02040603050505030304" pitchFamily="18" charset="0"/>
              </a:rPr>
              <a:t> is totally a separate unit from </a:t>
            </a:r>
            <a:r>
              <a:rPr lang="en-US" sz="1800" b="1" dirty="0">
                <a:latin typeface="Calisto MT" panose="02040603050505030304" pitchFamily="18" charset="0"/>
              </a:rPr>
              <a:t>b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4493AD8F-E2AE-C3F9-E7F9-D4E0B25D57AD}"/>
              </a:ext>
            </a:extLst>
          </p:cNvPr>
          <p:cNvGrpSpPr/>
          <p:nvPr/>
        </p:nvGrpSpPr>
        <p:grpSpPr>
          <a:xfrm>
            <a:off x="10606781" y="3061600"/>
            <a:ext cx="548893" cy="548893"/>
            <a:chOff x="7037811" y="4753432"/>
            <a:chExt cx="548893" cy="548893"/>
          </a:xfrm>
          <a:solidFill>
            <a:srgbClr val="FFFF00"/>
          </a:solidFill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F4D4E9C0-19E4-9033-C840-60F3D1877E0F}"/>
                </a:ext>
              </a:extLst>
            </p:cNvPr>
            <p:cNvSpPr/>
            <p:nvPr/>
          </p:nvSpPr>
          <p:spPr>
            <a:xfrm>
              <a:off x="7037811" y="4753432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D3ADC0C9-6CAD-B194-6361-B1A5F68E685A}"/>
                </a:ext>
              </a:extLst>
            </p:cNvPr>
            <p:cNvSpPr txBox="1"/>
            <p:nvPr/>
          </p:nvSpPr>
          <p:spPr>
            <a:xfrm>
              <a:off x="7104316" y="4843212"/>
              <a:ext cx="415881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800" dirty="0">
                  <a:latin typeface="Calisto MT" panose="02040603050505030304" pitchFamily="18" charset="0"/>
                </a:rPr>
                <a:t>40          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11942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0.00463 L -0.13542 -0.00046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771" y="-2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9" grpId="0"/>
      <p:bldP spid="50" grpId="0"/>
      <p:bldP spid="5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D9918-863C-CF9C-95D4-BD3332838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 Equality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EFF08-0E26-1477-D12A-47256CC3C05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CA62E38-59FD-451F-9AA6-B569CE35F9BD}" type="datetime4">
              <a:rPr lang="en-US" smtClean="0"/>
              <a:t>March 6,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88E7B4-4C95-3864-6207-6D9B0B66AD5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Prepared By: Swapnil Biswas, CSE, BSMRU, Kishoreganj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1C7327-FF33-589A-0247-718479010DD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630E86-EC7C-0AB4-2D39-9F61E90716DA}"/>
              </a:ext>
            </a:extLst>
          </p:cNvPr>
          <p:cNvSpPr txBox="1"/>
          <p:nvPr/>
        </p:nvSpPr>
        <p:spPr>
          <a:xfrm>
            <a:off x="931491" y="1819926"/>
            <a:ext cx="6819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0"/>
              </a:rPr>
              <a:t>Let, we have two simple integer pointers </a:t>
            </a:r>
            <a:r>
              <a:rPr lang="en-US" sz="1800" b="1" dirty="0">
                <a:latin typeface="Calisto MT" panose="02040603050505030304" pitchFamily="18" charset="0"/>
              </a:rPr>
              <a:t>a</a:t>
            </a:r>
            <a:r>
              <a:rPr lang="en-US" sz="1800" dirty="0">
                <a:latin typeface="Calisto MT" panose="02040603050505030304" pitchFamily="18" charset="0"/>
              </a:rPr>
              <a:t> and </a:t>
            </a:r>
            <a:r>
              <a:rPr lang="en-US" sz="1800" b="1" dirty="0">
                <a:latin typeface="Calisto MT" panose="02040603050505030304" pitchFamily="18" charset="0"/>
              </a:rPr>
              <a:t>b</a:t>
            </a:r>
            <a:r>
              <a:rPr lang="en-US" sz="1800" dirty="0">
                <a:latin typeface="Calisto MT" panose="02040603050505030304" pitchFamily="18" charset="0"/>
              </a:rPr>
              <a:t> in our program.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19595C-7125-137B-4B71-792C286BA92C}"/>
              </a:ext>
            </a:extLst>
          </p:cNvPr>
          <p:cNvSpPr txBox="1"/>
          <p:nvPr/>
        </p:nvSpPr>
        <p:spPr>
          <a:xfrm>
            <a:off x="931492" y="2154231"/>
            <a:ext cx="1111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>
                <a:latin typeface="Calisto MT" panose="02040603050505030304" pitchFamily="18" charset="0"/>
              </a:rPr>
              <a:t>int</a:t>
            </a:r>
            <a:r>
              <a:rPr lang="en-US" sz="1800" dirty="0">
                <a:latin typeface="Calisto MT" panose="02040603050505030304" pitchFamily="18" charset="0"/>
              </a:rPr>
              <a:t> *a;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B05359-ADB8-09D3-711E-586ABF43483A}"/>
              </a:ext>
            </a:extLst>
          </p:cNvPr>
          <p:cNvSpPr txBox="1"/>
          <p:nvPr/>
        </p:nvSpPr>
        <p:spPr>
          <a:xfrm>
            <a:off x="2828849" y="2146277"/>
            <a:ext cx="1127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>
                <a:latin typeface="Calisto MT" panose="02040603050505030304" pitchFamily="18" charset="0"/>
              </a:rPr>
              <a:t>int</a:t>
            </a:r>
            <a:r>
              <a:rPr lang="en-US" sz="1800" dirty="0">
                <a:latin typeface="Calisto MT" panose="02040603050505030304" pitchFamily="18" charset="0"/>
              </a:rPr>
              <a:t> *b;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B21E43-B0A8-E328-8BF3-1A3B032F78CD}"/>
              </a:ext>
            </a:extLst>
          </p:cNvPr>
          <p:cNvSpPr txBox="1"/>
          <p:nvPr/>
        </p:nvSpPr>
        <p:spPr>
          <a:xfrm>
            <a:off x="931492" y="2515609"/>
            <a:ext cx="5734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0"/>
              </a:rPr>
              <a:t>First build their relationship with the memory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ADE30BF-1DEC-1974-BD9E-15074597F0AE}"/>
              </a:ext>
            </a:extLst>
          </p:cNvPr>
          <p:cNvGrpSpPr/>
          <p:nvPr/>
        </p:nvGrpSpPr>
        <p:grpSpPr>
          <a:xfrm>
            <a:off x="8536421" y="1942238"/>
            <a:ext cx="298480" cy="863677"/>
            <a:chOff x="8311096" y="570965"/>
            <a:chExt cx="298480" cy="1291329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7EFEA9C-6A61-27F7-1777-A47F482E5CE1}"/>
                </a:ext>
              </a:extLst>
            </p:cNvPr>
            <p:cNvSpPr txBox="1"/>
            <p:nvPr/>
          </p:nvSpPr>
          <p:spPr>
            <a:xfrm>
              <a:off x="8311096" y="570965"/>
              <a:ext cx="298480" cy="5522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Calisto MT" panose="02040603050505030304" pitchFamily="18" charset="0"/>
                </a:rPr>
                <a:t>a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D7739654-3A72-69ED-5CCC-B1EF39F01C67}"/>
                </a:ext>
              </a:extLst>
            </p:cNvPr>
            <p:cNvCxnSpPr/>
            <p:nvPr/>
          </p:nvCxnSpPr>
          <p:spPr>
            <a:xfrm>
              <a:off x="8460336" y="1067535"/>
              <a:ext cx="0" cy="794759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0FCE4FB-1857-795C-438D-6ED0AEE6AE30}"/>
              </a:ext>
            </a:extLst>
          </p:cNvPr>
          <p:cNvGrpSpPr/>
          <p:nvPr/>
        </p:nvGrpSpPr>
        <p:grpSpPr>
          <a:xfrm>
            <a:off x="8411215" y="3061613"/>
            <a:ext cx="2744465" cy="2744456"/>
            <a:chOff x="8135597" y="2832311"/>
            <a:chExt cx="2744465" cy="2744456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7715393-729A-5C19-2560-28AE3F216241}"/>
                </a:ext>
              </a:extLst>
            </p:cNvPr>
            <p:cNvSpPr/>
            <p:nvPr/>
          </p:nvSpPr>
          <p:spPr>
            <a:xfrm>
              <a:off x="8135597" y="2832315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5038E47-7325-12F8-5AD1-706A79D0D622}"/>
                </a:ext>
              </a:extLst>
            </p:cNvPr>
            <p:cNvSpPr/>
            <p:nvPr/>
          </p:nvSpPr>
          <p:spPr>
            <a:xfrm>
              <a:off x="8684490" y="2832314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0AFB2EF-21BF-FB7C-E6F2-FAB517847AE0}"/>
                </a:ext>
              </a:extLst>
            </p:cNvPr>
            <p:cNvSpPr/>
            <p:nvPr/>
          </p:nvSpPr>
          <p:spPr>
            <a:xfrm>
              <a:off x="9233383" y="2832313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81BAB50-A1EF-3D76-FF57-215558648B88}"/>
                </a:ext>
              </a:extLst>
            </p:cNvPr>
            <p:cNvSpPr/>
            <p:nvPr/>
          </p:nvSpPr>
          <p:spPr>
            <a:xfrm>
              <a:off x="9782276" y="2832312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020100C-16E9-DC9C-7C91-9B84E89A3D38}"/>
                </a:ext>
              </a:extLst>
            </p:cNvPr>
            <p:cNvSpPr/>
            <p:nvPr/>
          </p:nvSpPr>
          <p:spPr>
            <a:xfrm>
              <a:off x="10331169" y="2832311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8F40991-420B-6C42-98D3-2E228165417C}"/>
                </a:ext>
              </a:extLst>
            </p:cNvPr>
            <p:cNvSpPr/>
            <p:nvPr/>
          </p:nvSpPr>
          <p:spPr>
            <a:xfrm>
              <a:off x="8135597" y="3381208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BFBBB7E-44C3-CD66-B60D-FAC4C42E9A27}"/>
                </a:ext>
              </a:extLst>
            </p:cNvPr>
            <p:cNvSpPr/>
            <p:nvPr/>
          </p:nvSpPr>
          <p:spPr>
            <a:xfrm>
              <a:off x="8684490" y="3381207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9F86C96-EE98-0736-8B0F-3E2EA4A4E6A1}"/>
                </a:ext>
              </a:extLst>
            </p:cNvPr>
            <p:cNvSpPr/>
            <p:nvPr/>
          </p:nvSpPr>
          <p:spPr>
            <a:xfrm>
              <a:off x="9233383" y="3381206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0C94BF3-6A60-446C-960A-3448FACC5BFB}"/>
                </a:ext>
              </a:extLst>
            </p:cNvPr>
            <p:cNvSpPr/>
            <p:nvPr/>
          </p:nvSpPr>
          <p:spPr>
            <a:xfrm>
              <a:off x="9782276" y="3381205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C747DD8-3460-F7D4-C0DD-17A4969469C9}"/>
                </a:ext>
              </a:extLst>
            </p:cNvPr>
            <p:cNvSpPr/>
            <p:nvPr/>
          </p:nvSpPr>
          <p:spPr>
            <a:xfrm>
              <a:off x="10331169" y="3381204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CDA5066-1A5F-7B49-34EE-772A02FDA753}"/>
                </a:ext>
              </a:extLst>
            </p:cNvPr>
            <p:cNvSpPr/>
            <p:nvPr/>
          </p:nvSpPr>
          <p:spPr>
            <a:xfrm>
              <a:off x="8135597" y="3930097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32EA39D0-8B69-AF83-2884-2BC862491CBD}"/>
                </a:ext>
              </a:extLst>
            </p:cNvPr>
            <p:cNvSpPr/>
            <p:nvPr/>
          </p:nvSpPr>
          <p:spPr>
            <a:xfrm>
              <a:off x="8684490" y="3930096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203213F-C6D9-B610-0FB8-E47914B5897A}"/>
                </a:ext>
              </a:extLst>
            </p:cNvPr>
            <p:cNvSpPr/>
            <p:nvPr/>
          </p:nvSpPr>
          <p:spPr>
            <a:xfrm>
              <a:off x="9233383" y="3930095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6E662E6-2274-E065-0255-69899FC682FE}"/>
                </a:ext>
              </a:extLst>
            </p:cNvPr>
            <p:cNvSpPr/>
            <p:nvPr/>
          </p:nvSpPr>
          <p:spPr>
            <a:xfrm>
              <a:off x="9782276" y="3930094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F781C75-4FDF-766A-C951-CE1392A46A28}"/>
                </a:ext>
              </a:extLst>
            </p:cNvPr>
            <p:cNvSpPr/>
            <p:nvPr/>
          </p:nvSpPr>
          <p:spPr>
            <a:xfrm>
              <a:off x="10331169" y="3930093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9CE55D8-DBD4-230E-ECB5-B8C0D93A0856}"/>
                </a:ext>
              </a:extLst>
            </p:cNvPr>
            <p:cNvSpPr/>
            <p:nvPr/>
          </p:nvSpPr>
          <p:spPr>
            <a:xfrm>
              <a:off x="8135597" y="4478990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FC487905-2B62-4983-43FB-160D2E527159}"/>
                </a:ext>
              </a:extLst>
            </p:cNvPr>
            <p:cNvSpPr/>
            <p:nvPr/>
          </p:nvSpPr>
          <p:spPr>
            <a:xfrm>
              <a:off x="8684490" y="4478989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11FE77F-CE40-4284-ABFA-F67749BC721A}"/>
                </a:ext>
              </a:extLst>
            </p:cNvPr>
            <p:cNvSpPr/>
            <p:nvPr/>
          </p:nvSpPr>
          <p:spPr>
            <a:xfrm>
              <a:off x="9233383" y="4478988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E8ABFCA6-F115-EBCC-DF5B-92FA4EE1842C}"/>
                </a:ext>
              </a:extLst>
            </p:cNvPr>
            <p:cNvSpPr/>
            <p:nvPr/>
          </p:nvSpPr>
          <p:spPr>
            <a:xfrm>
              <a:off x="9782276" y="4478987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A8E6BCB1-4A81-0415-9546-92FC8B6DEECE}"/>
                </a:ext>
              </a:extLst>
            </p:cNvPr>
            <p:cNvSpPr/>
            <p:nvPr/>
          </p:nvSpPr>
          <p:spPr>
            <a:xfrm>
              <a:off x="10331169" y="4478986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71F59C39-F073-A210-2D9F-C44EBC5EACAD}"/>
                </a:ext>
              </a:extLst>
            </p:cNvPr>
            <p:cNvSpPr/>
            <p:nvPr/>
          </p:nvSpPr>
          <p:spPr>
            <a:xfrm>
              <a:off x="8135597" y="5027874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5D4A1F0-5048-7C15-75A6-DFA0960F91EB}"/>
                </a:ext>
              </a:extLst>
            </p:cNvPr>
            <p:cNvSpPr/>
            <p:nvPr/>
          </p:nvSpPr>
          <p:spPr>
            <a:xfrm>
              <a:off x="8684490" y="5027873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B0128D60-989A-0DB9-4858-5F44548AF0D7}"/>
                </a:ext>
              </a:extLst>
            </p:cNvPr>
            <p:cNvSpPr/>
            <p:nvPr/>
          </p:nvSpPr>
          <p:spPr>
            <a:xfrm>
              <a:off x="9233383" y="5027872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1162B73D-9A54-8093-8961-AD1879F04389}"/>
                </a:ext>
              </a:extLst>
            </p:cNvPr>
            <p:cNvSpPr/>
            <p:nvPr/>
          </p:nvSpPr>
          <p:spPr>
            <a:xfrm>
              <a:off x="9782276" y="5027871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540D50E6-102B-E58D-A2A4-0CE5E9D02B9D}"/>
                </a:ext>
              </a:extLst>
            </p:cNvPr>
            <p:cNvSpPr/>
            <p:nvPr/>
          </p:nvSpPr>
          <p:spPr>
            <a:xfrm>
              <a:off x="10331169" y="5027870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1ACF8819-6046-6B8D-B9AE-1B29ECB37076}"/>
              </a:ext>
            </a:extLst>
          </p:cNvPr>
          <p:cNvSpPr txBox="1"/>
          <p:nvPr/>
        </p:nvSpPr>
        <p:spPr>
          <a:xfrm>
            <a:off x="931491" y="2858165"/>
            <a:ext cx="3210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0"/>
              </a:rPr>
              <a:t>a = (</a:t>
            </a:r>
            <a:r>
              <a:rPr lang="en-US" sz="1800" dirty="0" err="1">
                <a:latin typeface="Calisto MT" panose="02040603050505030304" pitchFamily="18" charset="0"/>
              </a:rPr>
              <a:t>int</a:t>
            </a:r>
            <a:r>
              <a:rPr lang="en-US" sz="1800" dirty="0">
                <a:latin typeface="Calisto MT" panose="02040603050505030304" pitchFamily="18" charset="0"/>
              </a:rPr>
              <a:t>*)</a:t>
            </a:r>
            <a:r>
              <a:rPr lang="en-US" sz="1800" dirty="0" err="1">
                <a:latin typeface="Calisto MT" panose="02040603050505030304" pitchFamily="18" charset="0"/>
              </a:rPr>
              <a:t>malloc</a:t>
            </a:r>
            <a:r>
              <a:rPr lang="en-US" sz="1800" dirty="0">
                <a:latin typeface="Calisto MT" panose="02040603050505030304" pitchFamily="18" charset="0"/>
              </a:rPr>
              <a:t>(</a:t>
            </a:r>
            <a:r>
              <a:rPr lang="en-US" sz="1800" dirty="0" err="1">
                <a:latin typeface="Calisto MT" panose="02040603050505030304" pitchFamily="18" charset="0"/>
              </a:rPr>
              <a:t>sizeof</a:t>
            </a:r>
            <a:r>
              <a:rPr lang="en-US" sz="1800" dirty="0">
                <a:latin typeface="Calisto MT" panose="02040603050505030304" pitchFamily="18" charset="0"/>
              </a:rPr>
              <a:t>(</a:t>
            </a:r>
            <a:r>
              <a:rPr lang="en-US" sz="1800" dirty="0" err="1">
                <a:latin typeface="Calisto MT" panose="02040603050505030304" pitchFamily="18" charset="0"/>
              </a:rPr>
              <a:t>int</a:t>
            </a:r>
            <a:r>
              <a:rPr lang="en-US" sz="1800" dirty="0">
                <a:latin typeface="Calisto MT" panose="02040603050505030304" pitchFamily="18" charset="0"/>
              </a:rPr>
              <a:t>));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B098688-0CF5-6384-3CFD-44056D39993E}"/>
              </a:ext>
            </a:extLst>
          </p:cNvPr>
          <p:cNvSpPr txBox="1"/>
          <p:nvPr/>
        </p:nvSpPr>
        <p:spPr>
          <a:xfrm>
            <a:off x="4690484" y="2884287"/>
            <a:ext cx="3232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0"/>
              </a:rPr>
              <a:t>b = (</a:t>
            </a:r>
            <a:r>
              <a:rPr lang="en-US" sz="1800" dirty="0" err="1">
                <a:latin typeface="Calisto MT" panose="02040603050505030304" pitchFamily="18" charset="0"/>
              </a:rPr>
              <a:t>int</a:t>
            </a:r>
            <a:r>
              <a:rPr lang="en-US" sz="1800" dirty="0">
                <a:latin typeface="Calisto MT" panose="02040603050505030304" pitchFamily="18" charset="0"/>
              </a:rPr>
              <a:t>*)</a:t>
            </a:r>
            <a:r>
              <a:rPr lang="en-US" sz="1800" dirty="0" err="1">
                <a:latin typeface="Calisto MT" panose="02040603050505030304" pitchFamily="18" charset="0"/>
              </a:rPr>
              <a:t>malloc</a:t>
            </a:r>
            <a:r>
              <a:rPr lang="en-US" sz="1800" dirty="0">
                <a:latin typeface="Calisto MT" panose="02040603050505030304" pitchFamily="18" charset="0"/>
              </a:rPr>
              <a:t>(</a:t>
            </a:r>
            <a:r>
              <a:rPr lang="en-US" sz="1800" dirty="0" err="1">
                <a:latin typeface="Calisto MT" panose="02040603050505030304" pitchFamily="18" charset="0"/>
              </a:rPr>
              <a:t>sizeof</a:t>
            </a:r>
            <a:r>
              <a:rPr lang="en-US" sz="1800" dirty="0">
                <a:latin typeface="Calisto MT" panose="02040603050505030304" pitchFamily="18" charset="0"/>
              </a:rPr>
              <a:t>(</a:t>
            </a:r>
            <a:r>
              <a:rPr lang="en-US" sz="1800" dirty="0" err="1">
                <a:latin typeface="Calisto MT" panose="02040603050505030304" pitchFamily="18" charset="0"/>
              </a:rPr>
              <a:t>int</a:t>
            </a:r>
            <a:r>
              <a:rPr lang="en-US" sz="1800" dirty="0">
                <a:latin typeface="Calisto MT" panose="02040603050505030304" pitchFamily="18" charset="0"/>
              </a:rPr>
              <a:t>));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2B3CC6F-3E42-68B1-509A-6357F7D5AE0D}"/>
              </a:ext>
            </a:extLst>
          </p:cNvPr>
          <p:cNvSpPr txBox="1"/>
          <p:nvPr/>
        </p:nvSpPr>
        <p:spPr>
          <a:xfrm>
            <a:off x="931491" y="3245678"/>
            <a:ext cx="1384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0"/>
              </a:rPr>
              <a:t>*a = 10;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799EF1E-509F-7F68-8E35-20A0CB7098DA}"/>
              </a:ext>
            </a:extLst>
          </p:cNvPr>
          <p:cNvSpPr txBox="1"/>
          <p:nvPr/>
        </p:nvSpPr>
        <p:spPr>
          <a:xfrm>
            <a:off x="3100672" y="3247541"/>
            <a:ext cx="13345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0"/>
              </a:rPr>
              <a:t>*b = 25;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8A3E352-CC59-30EB-C42A-A3F478AB2649}"/>
              </a:ext>
            </a:extLst>
          </p:cNvPr>
          <p:cNvSpPr txBox="1"/>
          <p:nvPr/>
        </p:nvSpPr>
        <p:spPr>
          <a:xfrm>
            <a:off x="931491" y="3641691"/>
            <a:ext cx="5922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0"/>
              </a:rPr>
              <a:t>What happens when we equal these two pointer:  a = b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49D3BD5-7ED0-B08D-6B32-9303A8A6F5CB}"/>
              </a:ext>
            </a:extLst>
          </p:cNvPr>
          <p:cNvSpPr txBox="1"/>
          <p:nvPr/>
        </p:nvSpPr>
        <p:spPr>
          <a:xfrm>
            <a:off x="931491" y="4011023"/>
            <a:ext cx="7272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0"/>
              </a:rPr>
              <a:t>The memory location of pointer </a:t>
            </a:r>
            <a:r>
              <a:rPr lang="en-US" sz="1800" b="1" dirty="0">
                <a:latin typeface="Calisto MT" panose="02040603050505030304" pitchFamily="18" charset="0"/>
              </a:rPr>
              <a:t>b</a:t>
            </a:r>
            <a:r>
              <a:rPr lang="en-US" sz="1800" dirty="0">
                <a:latin typeface="Calisto MT" panose="02040603050505030304" pitchFamily="18" charset="0"/>
              </a:rPr>
              <a:t> will assigned to pointer </a:t>
            </a:r>
            <a:r>
              <a:rPr lang="en-US" sz="1800" b="1" dirty="0">
                <a:latin typeface="Calisto MT" panose="02040603050505030304" pitchFamily="18" charset="0"/>
              </a:rPr>
              <a:t>a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9D8EA89-99FD-0FCB-D339-916211476838}"/>
              </a:ext>
            </a:extLst>
          </p:cNvPr>
          <p:cNvSpPr txBox="1"/>
          <p:nvPr/>
        </p:nvSpPr>
        <p:spPr>
          <a:xfrm>
            <a:off x="931491" y="4417103"/>
            <a:ext cx="5734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0"/>
              </a:rPr>
              <a:t>More specifically pointer </a:t>
            </a:r>
            <a:r>
              <a:rPr lang="en-US" sz="1800" b="1" dirty="0">
                <a:latin typeface="Calisto MT" panose="02040603050505030304" pitchFamily="18" charset="0"/>
              </a:rPr>
              <a:t>a </a:t>
            </a:r>
            <a:r>
              <a:rPr lang="en-US" sz="1800" dirty="0">
                <a:latin typeface="Calisto MT" panose="02040603050505030304" pitchFamily="18" charset="0"/>
              </a:rPr>
              <a:t>will point on the pointer </a:t>
            </a:r>
            <a:r>
              <a:rPr lang="en-US" sz="1800" b="1" dirty="0">
                <a:latin typeface="Calisto MT" panose="02040603050505030304" pitchFamily="18" charset="0"/>
              </a:rPr>
              <a:t>b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A0FA2E1-3111-E931-20C8-5476E7EC79D9}"/>
              </a:ext>
            </a:extLst>
          </p:cNvPr>
          <p:cNvSpPr txBox="1"/>
          <p:nvPr/>
        </p:nvSpPr>
        <p:spPr>
          <a:xfrm>
            <a:off x="931491" y="4777431"/>
            <a:ext cx="3503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0"/>
              </a:rPr>
              <a:t>Now do the task: *b = *b + 30;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E00BE74-B6D0-C7C7-A193-E331CCBE762A}"/>
              </a:ext>
            </a:extLst>
          </p:cNvPr>
          <p:cNvSpPr txBox="1"/>
          <p:nvPr/>
        </p:nvSpPr>
        <p:spPr>
          <a:xfrm>
            <a:off x="931490" y="5137759"/>
            <a:ext cx="3503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0"/>
              </a:rPr>
              <a:t>What if you print *a,*b now?</a:t>
            </a:r>
            <a:endParaRPr lang="en-US" sz="1800" b="1" dirty="0">
              <a:latin typeface="Calisto MT" panose="02040603050505030304" pitchFamily="18" charset="0"/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3CBAFD78-3300-CD8F-2A37-5BD6947BB62A}"/>
              </a:ext>
            </a:extLst>
          </p:cNvPr>
          <p:cNvGrpSpPr/>
          <p:nvPr/>
        </p:nvGrpSpPr>
        <p:grpSpPr>
          <a:xfrm>
            <a:off x="10181497" y="1942238"/>
            <a:ext cx="301686" cy="863677"/>
            <a:chOff x="8311096" y="570965"/>
            <a:chExt cx="301686" cy="1291329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265F0AE6-6989-0F64-3A6A-598604A38865}"/>
                </a:ext>
              </a:extLst>
            </p:cNvPr>
            <p:cNvSpPr txBox="1"/>
            <p:nvPr/>
          </p:nvSpPr>
          <p:spPr>
            <a:xfrm>
              <a:off x="8311096" y="570965"/>
              <a:ext cx="301686" cy="5522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Calisto MT" panose="02040603050505030304" pitchFamily="18" charset="0"/>
                </a:rPr>
                <a:t>b</a:t>
              </a:r>
            </a:p>
          </p:txBody>
        </p: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86B4FE28-7E44-D643-04E6-B3E953954910}"/>
                </a:ext>
              </a:extLst>
            </p:cNvPr>
            <p:cNvCxnSpPr/>
            <p:nvPr/>
          </p:nvCxnSpPr>
          <p:spPr>
            <a:xfrm>
              <a:off x="8460336" y="1067535"/>
              <a:ext cx="0" cy="794759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04EB7D50-7E53-3F8C-BC96-3FE8D412241B}"/>
              </a:ext>
            </a:extLst>
          </p:cNvPr>
          <p:cNvGrpSpPr/>
          <p:nvPr/>
        </p:nvGrpSpPr>
        <p:grpSpPr>
          <a:xfrm>
            <a:off x="8315562" y="2240177"/>
            <a:ext cx="811046" cy="821440"/>
            <a:chOff x="8315562" y="2240177"/>
            <a:chExt cx="811046" cy="821440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9CEDBA00-BE32-6538-8192-BC3AC7C3F202}"/>
                </a:ext>
              </a:extLst>
            </p:cNvPr>
            <p:cNvSpPr/>
            <p:nvPr/>
          </p:nvSpPr>
          <p:spPr>
            <a:xfrm>
              <a:off x="8315562" y="2240177"/>
              <a:ext cx="811046" cy="5315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FB921AD2-B7AE-C782-5EF6-32CDCD76A64E}"/>
                </a:ext>
              </a:extLst>
            </p:cNvPr>
            <p:cNvCxnSpPr/>
            <p:nvPr/>
          </p:nvCxnSpPr>
          <p:spPr>
            <a:xfrm>
              <a:off x="8687538" y="2274358"/>
              <a:ext cx="1" cy="787259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108446BA-A41A-2543-0571-443845CE0FE6}"/>
              </a:ext>
            </a:extLst>
          </p:cNvPr>
          <p:cNvGrpSpPr/>
          <p:nvPr/>
        </p:nvGrpSpPr>
        <p:grpSpPr>
          <a:xfrm>
            <a:off x="9964082" y="2240177"/>
            <a:ext cx="811046" cy="821440"/>
            <a:chOff x="8315562" y="2240177"/>
            <a:chExt cx="811046" cy="821440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27559CBA-2975-8BD2-8FD5-EE7D278B2CD8}"/>
                </a:ext>
              </a:extLst>
            </p:cNvPr>
            <p:cNvSpPr/>
            <p:nvPr/>
          </p:nvSpPr>
          <p:spPr>
            <a:xfrm>
              <a:off x="8315562" y="2240177"/>
              <a:ext cx="811046" cy="5315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64675ABC-E5A6-8792-B18A-0AE9F641DC8B}"/>
                </a:ext>
              </a:extLst>
            </p:cNvPr>
            <p:cNvCxnSpPr/>
            <p:nvPr/>
          </p:nvCxnSpPr>
          <p:spPr>
            <a:xfrm>
              <a:off x="8687538" y="2274358"/>
              <a:ext cx="1" cy="787259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Rectangle 57">
            <a:extLst>
              <a:ext uri="{FF2B5EF4-FFF2-40B4-BE49-F238E27FC236}">
                <a16:creationId xmlns:a16="http://schemas.microsoft.com/office/drawing/2014/main" id="{63457C0F-E1DD-96DC-D05C-038B65F1B6AF}"/>
              </a:ext>
            </a:extLst>
          </p:cNvPr>
          <p:cNvSpPr/>
          <p:nvPr/>
        </p:nvSpPr>
        <p:spPr>
          <a:xfrm>
            <a:off x="8411215" y="3061607"/>
            <a:ext cx="548893" cy="54889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2F45BA2-F1DB-CF61-E476-AA1C66CD5E98}"/>
              </a:ext>
            </a:extLst>
          </p:cNvPr>
          <p:cNvSpPr/>
          <p:nvPr/>
        </p:nvSpPr>
        <p:spPr>
          <a:xfrm>
            <a:off x="10056290" y="3061606"/>
            <a:ext cx="548893" cy="54889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8733785-5C45-545D-366A-091DE870EA47}"/>
              </a:ext>
            </a:extLst>
          </p:cNvPr>
          <p:cNvSpPr txBox="1"/>
          <p:nvPr/>
        </p:nvSpPr>
        <p:spPr>
          <a:xfrm>
            <a:off x="8470394" y="3151386"/>
            <a:ext cx="425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Calisto MT" panose="02040603050505030304" pitchFamily="18" charset="0"/>
              </a:rPr>
              <a:t>10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8938B9B-F65B-EFB1-64A0-586C7D765E02}"/>
              </a:ext>
            </a:extLst>
          </p:cNvPr>
          <p:cNvSpPr txBox="1"/>
          <p:nvPr/>
        </p:nvSpPr>
        <p:spPr>
          <a:xfrm>
            <a:off x="10118970" y="3151386"/>
            <a:ext cx="425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Calisto MT" panose="02040603050505030304" pitchFamily="18" charset="0"/>
              </a:rPr>
              <a:t>25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13703A19-9233-1BB9-261B-A4CDEC32B4F9}"/>
              </a:ext>
            </a:extLst>
          </p:cNvPr>
          <p:cNvSpPr/>
          <p:nvPr/>
        </p:nvSpPr>
        <p:spPr>
          <a:xfrm>
            <a:off x="8536421" y="2240177"/>
            <a:ext cx="298480" cy="8026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2F463E0B-33AC-F6BA-DA46-5CBA970A1F79}"/>
              </a:ext>
            </a:extLst>
          </p:cNvPr>
          <p:cNvCxnSpPr>
            <a:endCxn id="18" idx="0"/>
          </p:cNvCxnSpPr>
          <p:nvPr/>
        </p:nvCxnSpPr>
        <p:spPr>
          <a:xfrm>
            <a:off x="8669810" y="2276034"/>
            <a:ext cx="1662531" cy="78558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4" name="Group 63">
            <a:extLst>
              <a:ext uri="{FF2B5EF4-FFF2-40B4-BE49-F238E27FC236}">
                <a16:creationId xmlns:a16="http://schemas.microsoft.com/office/drawing/2014/main" id="{425E38D4-8F80-F22E-D0EA-45DCC1C19F49}"/>
              </a:ext>
            </a:extLst>
          </p:cNvPr>
          <p:cNvGrpSpPr/>
          <p:nvPr/>
        </p:nvGrpSpPr>
        <p:grpSpPr>
          <a:xfrm>
            <a:off x="10054412" y="3061597"/>
            <a:ext cx="548893" cy="548893"/>
            <a:chOff x="11404490" y="2257022"/>
            <a:chExt cx="548893" cy="548893"/>
          </a:xfrm>
          <a:solidFill>
            <a:schemeClr val="bg1">
              <a:lumMod val="85000"/>
            </a:schemeClr>
          </a:solidFill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2446915A-919B-5B20-DD1A-C8D9C3E28915}"/>
                </a:ext>
              </a:extLst>
            </p:cNvPr>
            <p:cNvSpPr/>
            <p:nvPr/>
          </p:nvSpPr>
          <p:spPr>
            <a:xfrm>
              <a:off x="11404490" y="2257022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620DC4E5-61EE-4E32-5C7A-B68A4964C97A}"/>
                </a:ext>
              </a:extLst>
            </p:cNvPr>
            <p:cNvSpPr txBox="1"/>
            <p:nvPr/>
          </p:nvSpPr>
          <p:spPr>
            <a:xfrm>
              <a:off x="11467170" y="2346802"/>
              <a:ext cx="425136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800" dirty="0">
                  <a:latin typeface="Calisto MT" panose="02040603050505030304" pitchFamily="18" charset="0"/>
                </a:rPr>
                <a:t>55</a:t>
              </a:r>
            </a:p>
          </p:txBody>
        </p: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DCA2EBE9-AF77-E084-A8C8-2B18411486E0}"/>
              </a:ext>
            </a:extLst>
          </p:cNvPr>
          <p:cNvSpPr txBox="1"/>
          <p:nvPr/>
        </p:nvSpPr>
        <p:spPr>
          <a:xfrm>
            <a:off x="4642151" y="5137759"/>
            <a:ext cx="32809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Calisto MT" panose="02040603050505030304" pitchFamily="18" charset="0"/>
              </a:rPr>
              <a:t>Answer: 55 for both *a, and *b</a:t>
            </a:r>
            <a:endParaRPr lang="en-US" sz="1800" b="1" dirty="0">
              <a:latin typeface="Calisto MT" panose="02040603050505030304" pitchFamily="18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0124FBC-C1DE-8A5A-3C93-1733BF8287F3}"/>
              </a:ext>
            </a:extLst>
          </p:cNvPr>
          <p:cNvSpPr txBox="1"/>
          <p:nvPr/>
        </p:nvSpPr>
        <p:spPr>
          <a:xfrm>
            <a:off x="931491" y="5507091"/>
            <a:ext cx="6819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0"/>
              </a:rPr>
              <a:t>Means a and b are working on same memory location now</a:t>
            </a:r>
            <a:endParaRPr lang="en-US" sz="1800" b="1" dirty="0"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553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58" grpId="0" animBg="1"/>
      <p:bldP spid="59" grpId="0" animBg="1"/>
      <p:bldP spid="60" grpId="0"/>
      <p:bldP spid="61" grpId="0"/>
      <p:bldP spid="62" grpId="0" animBg="1"/>
      <p:bldP spid="67" grpId="0"/>
      <p:bldP spid="6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E2DA1-FEE0-5DE7-910A-2079C09C9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 Swapping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9FCAE2-8C67-5ABA-809D-26AD723425A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CA62E38-59FD-451F-9AA6-B569CE35F9BD}" type="datetime4">
              <a:rPr lang="en-US" smtClean="0"/>
              <a:t>March 6,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871189-74A2-5515-149D-F518B146B25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Prepared By: Swapnil Biswas, CSE, BSMRU, Kishoreganj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9F3B93-9EB2-8ADE-228B-1BC4B2324F1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55E2F1-A07A-5BED-6D67-105D4F1921DD}"/>
              </a:ext>
            </a:extLst>
          </p:cNvPr>
          <p:cNvSpPr txBox="1"/>
          <p:nvPr/>
        </p:nvSpPr>
        <p:spPr>
          <a:xfrm>
            <a:off x="931491" y="1819926"/>
            <a:ext cx="4614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0"/>
              </a:rPr>
              <a:t>Let’s do a task: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4AFECA-91C8-62D0-DF06-A9B5C7CABC8D}"/>
              </a:ext>
            </a:extLst>
          </p:cNvPr>
          <p:cNvSpPr txBox="1"/>
          <p:nvPr/>
        </p:nvSpPr>
        <p:spPr>
          <a:xfrm>
            <a:off x="931493" y="2154231"/>
            <a:ext cx="3734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>
                <a:latin typeface="Calisto MT" panose="02040603050505030304" pitchFamily="18" charset="0"/>
              </a:rPr>
              <a:t>int</a:t>
            </a:r>
            <a:r>
              <a:rPr lang="en-US" sz="1800" dirty="0">
                <a:latin typeface="Calisto MT" panose="02040603050505030304" pitchFamily="18" charset="0"/>
              </a:rPr>
              <a:t> *a =  (</a:t>
            </a:r>
            <a:r>
              <a:rPr lang="en-US" sz="1800" dirty="0" err="1">
                <a:latin typeface="Calisto MT" panose="02040603050505030304" pitchFamily="18" charset="0"/>
              </a:rPr>
              <a:t>int</a:t>
            </a:r>
            <a:r>
              <a:rPr lang="en-US" sz="1800" dirty="0">
                <a:latin typeface="Calisto MT" panose="02040603050505030304" pitchFamily="18" charset="0"/>
              </a:rPr>
              <a:t>*)</a:t>
            </a:r>
            <a:r>
              <a:rPr lang="en-US" sz="1800" dirty="0" err="1">
                <a:latin typeface="Calisto MT" panose="02040603050505030304" pitchFamily="18" charset="0"/>
              </a:rPr>
              <a:t>malloc</a:t>
            </a:r>
            <a:r>
              <a:rPr lang="en-US" sz="1800" dirty="0">
                <a:latin typeface="Calisto MT" panose="02040603050505030304" pitchFamily="18" charset="0"/>
              </a:rPr>
              <a:t>(</a:t>
            </a:r>
            <a:r>
              <a:rPr lang="en-US" sz="1800" dirty="0" err="1">
                <a:latin typeface="Calisto MT" panose="02040603050505030304" pitchFamily="18" charset="0"/>
              </a:rPr>
              <a:t>sizeof</a:t>
            </a:r>
            <a:r>
              <a:rPr lang="en-US" sz="1800" dirty="0">
                <a:latin typeface="Calisto MT" panose="02040603050505030304" pitchFamily="18" charset="0"/>
              </a:rPr>
              <a:t>(</a:t>
            </a:r>
            <a:r>
              <a:rPr lang="en-US" sz="1800" dirty="0" err="1">
                <a:latin typeface="Calisto MT" panose="02040603050505030304" pitchFamily="18" charset="0"/>
              </a:rPr>
              <a:t>int</a:t>
            </a:r>
            <a:r>
              <a:rPr lang="en-US" sz="1800" dirty="0">
                <a:latin typeface="Calisto MT" panose="02040603050505030304" pitchFamily="18" charset="0"/>
              </a:rPr>
              <a:t>));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D5E70CE-A323-DB70-3696-192A71EAD0E1}"/>
              </a:ext>
            </a:extLst>
          </p:cNvPr>
          <p:cNvGrpSpPr/>
          <p:nvPr/>
        </p:nvGrpSpPr>
        <p:grpSpPr>
          <a:xfrm>
            <a:off x="8411215" y="3061613"/>
            <a:ext cx="2744465" cy="2744456"/>
            <a:chOff x="8135597" y="2832311"/>
            <a:chExt cx="2744465" cy="2744456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5D0028B-B439-4F74-2203-ECCEFE60217F}"/>
                </a:ext>
              </a:extLst>
            </p:cNvPr>
            <p:cNvSpPr/>
            <p:nvPr/>
          </p:nvSpPr>
          <p:spPr>
            <a:xfrm>
              <a:off x="8135597" y="2832315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872F439-E510-42DA-22FA-559AD5AC88B7}"/>
                </a:ext>
              </a:extLst>
            </p:cNvPr>
            <p:cNvSpPr/>
            <p:nvPr/>
          </p:nvSpPr>
          <p:spPr>
            <a:xfrm>
              <a:off x="8684490" y="2832314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F616B05-E67B-7D40-724F-7782B7E03D3E}"/>
                </a:ext>
              </a:extLst>
            </p:cNvPr>
            <p:cNvSpPr/>
            <p:nvPr/>
          </p:nvSpPr>
          <p:spPr>
            <a:xfrm>
              <a:off x="9233383" y="2832313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37E0038-B73A-B349-C2F8-EE228BD1DB43}"/>
                </a:ext>
              </a:extLst>
            </p:cNvPr>
            <p:cNvSpPr/>
            <p:nvPr/>
          </p:nvSpPr>
          <p:spPr>
            <a:xfrm>
              <a:off x="9782276" y="2832312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5DCDC95-60EC-FC94-E909-E74FEE59A451}"/>
                </a:ext>
              </a:extLst>
            </p:cNvPr>
            <p:cNvSpPr/>
            <p:nvPr/>
          </p:nvSpPr>
          <p:spPr>
            <a:xfrm>
              <a:off x="10331169" y="2832311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B7C7D7F-072B-F59F-27B4-1B8093BF156C}"/>
                </a:ext>
              </a:extLst>
            </p:cNvPr>
            <p:cNvSpPr/>
            <p:nvPr/>
          </p:nvSpPr>
          <p:spPr>
            <a:xfrm>
              <a:off x="8135597" y="3381208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63C7B4F-0EA2-6B89-A198-8577157A76E4}"/>
                </a:ext>
              </a:extLst>
            </p:cNvPr>
            <p:cNvSpPr/>
            <p:nvPr/>
          </p:nvSpPr>
          <p:spPr>
            <a:xfrm>
              <a:off x="8684490" y="3381207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F7AB246-AA70-99DE-33C4-52D280732C7D}"/>
                </a:ext>
              </a:extLst>
            </p:cNvPr>
            <p:cNvSpPr/>
            <p:nvPr/>
          </p:nvSpPr>
          <p:spPr>
            <a:xfrm>
              <a:off x="9233383" y="3381206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98716DC-FEAF-FC7E-3DCA-264D413D0ED4}"/>
                </a:ext>
              </a:extLst>
            </p:cNvPr>
            <p:cNvSpPr/>
            <p:nvPr/>
          </p:nvSpPr>
          <p:spPr>
            <a:xfrm>
              <a:off x="9782276" y="3381205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86163E8-0140-A74E-05DE-057E5B0F322F}"/>
                </a:ext>
              </a:extLst>
            </p:cNvPr>
            <p:cNvSpPr/>
            <p:nvPr/>
          </p:nvSpPr>
          <p:spPr>
            <a:xfrm>
              <a:off x="10331169" y="3381204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02E7F22A-3387-0512-5D2B-5A1220FE852A}"/>
                </a:ext>
              </a:extLst>
            </p:cNvPr>
            <p:cNvSpPr/>
            <p:nvPr/>
          </p:nvSpPr>
          <p:spPr>
            <a:xfrm>
              <a:off x="8135597" y="3930097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4467D3A-9A07-FA1C-C9EA-F6259FB25742}"/>
                </a:ext>
              </a:extLst>
            </p:cNvPr>
            <p:cNvSpPr/>
            <p:nvPr/>
          </p:nvSpPr>
          <p:spPr>
            <a:xfrm>
              <a:off x="8684490" y="3930096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815038E-A007-11E2-790A-6B10C34B48A7}"/>
                </a:ext>
              </a:extLst>
            </p:cNvPr>
            <p:cNvSpPr/>
            <p:nvPr/>
          </p:nvSpPr>
          <p:spPr>
            <a:xfrm>
              <a:off x="9233383" y="3930095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7497E54-7CA3-8CBB-329C-CEFFB0DE7145}"/>
                </a:ext>
              </a:extLst>
            </p:cNvPr>
            <p:cNvSpPr/>
            <p:nvPr/>
          </p:nvSpPr>
          <p:spPr>
            <a:xfrm>
              <a:off x="9782276" y="3930094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9FCBD736-99C8-5E68-BD78-181B5F07F798}"/>
                </a:ext>
              </a:extLst>
            </p:cNvPr>
            <p:cNvSpPr/>
            <p:nvPr/>
          </p:nvSpPr>
          <p:spPr>
            <a:xfrm>
              <a:off x="10331169" y="3930093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69A54279-D78B-3C68-2FE9-EBAE57B2497B}"/>
                </a:ext>
              </a:extLst>
            </p:cNvPr>
            <p:cNvSpPr/>
            <p:nvPr/>
          </p:nvSpPr>
          <p:spPr>
            <a:xfrm>
              <a:off x="8135597" y="4478990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37F2F6C2-241D-8F4D-F861-A4D1EDBB05F3}"/>
                </a:ext>
              </a:extLst>
            </p:cNvPr>
            <p:cNvSpPr/>
            <p:nvPr/>
          </p:nvSpPr>
          <p:spPr>
            <a:xfrm>
              <a:off x="8684490" y="4478989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7F66F19-A914-414C-7D96-9F222A1806C4}"/>
                </a:ext>
              </a:extLst>
            </p:cNvPr>
            <p:cNvSpPr/>
            <p:nvPr/>
          </p:nvSpPr>
          <p:spPr>
            <a:xfrm>
              <a:off x="9233383" y="4478988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9434233-7C29-50F2-6A12-E3C1770EF9AD}"/>
                </a:ext>
              </a:extLst>
            </p:cNvPr>
            <p:cNvSpPr/>
            <p:nvPr/>
          </p:nvSpPr>
          <p:spPr>
            <a:xfrm>
              <a:off x="9782276" y="4478987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C0B77F7-59A1-7AE8-FC0F-14A35761521E}"/>
                </a:ext>
              </a:extLst>
            </p:cNvPr>
            <p:cNvSpPr/>
            <p:nvPr/>
          </p:nvSpPr>
          <p:spPr>
            <a:xfrm>
              <a:off x="10331169" y="4478986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8B1E5321-3CB9-3F99-01BF-5E61446CEE0E}"/>
                </a:ext>
              </a:extLst>
            </p:cNvPr>
            <p:cNvSpPr/>
            <p:nvPr/>
          </p:nvSpPr>
          <p:spPr>
            <a:xfrm>
              <a:off x="8135597" y="5027874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C8863B2E-A2B3-5698-1A8E-6900874FBA98}"/>
                </a:ext>
              </a:extLst>
            </p:cNvPr>
            <p:cNvSpPr/>
            <p:nvPr/>
          </p:nvSpPr>
          <p:spPr>
            <a:xfrm>
              <a:off x="8684490" y="5027873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2E23A8B-DE3D-EC80-9211-61D97EF7B5AB}"/>
                </a:ext>
              </a:extLst>
            </p:cNvPr>
            <p:cNvSpPr/>
            <p:nvPr/>
          </p:nvSpPr>
          <p:spPr>
            <a:xfrm>
              <a:off x="9233383" y="5027872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BDE4377E-E68F-AE91-F0F9-476838FABDF2}"/>
                </a:ext>
              </a:extLst>
            </p:cNvPr>
            <p:cNvSpPr/>
            <p:nvPr/>
          </p:nvSpPr>
          <p:spPr>
            <a:xfrm>
              <a:off x="9782276" y="5027871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A63E7F0F-A4DD-8465-9A02-9A74463CC795}"/>
                </a:ext>
              </a:extLst>
            </p:cNvPr>
            <p:cNvSpPr/>
            <p:nvPr/>
          </p:nvSpPr>
          <p:spPr>
            <a:xfrm>
              <a:off x="10331169" y="5027870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797D50E-DEA5-BCF5-19C5-A6A411293BC1}"/>
              </a:ext>
            </a:extLst>
          </p:cNvPr>
          <p:cNvGrpSpPr/>
          <p:nvPr/>
        </p:nvGrpSpPr>
        <p:grpSpPr>
          <a:xfrm>
            <a:off x="8326660" y="1942238"/>
            <a:ext cx="811046" cy="1112237"/>
            <a:chOff x="8326660" y="1942238"/>
            <a:chExt cx="811046" cy="1112237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E1D67F2-46F4-04B0-F370-E5EDF8C23B25}"/>
                </a:ext>
              </a:extLst>
            </p:cNvPr>
            <p:cNvSpPr txBox="1"/>
            <p:nvPr/>
          </p:nvSpPr>
          <p:spPr>
            <a:xfrm>
              <a:off x="8536421" y="1942238"/>
              <a:ext cx="2984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Calisto MT" panose="02040603050505030304" pitchFamily="18" charset="0"/>
                </a:rPr>
                <a:t>a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50CDC0A8-1210-8C7B-B89D-EB1DA090164D}"/>
                </a:ext>
              </a:extLst>
            </p:cNvPr>
            <p:cNvGrpSpPr/>
            <p:nvPr/>
          </p:nvGrpSpPr>
          <p:grpSpPr>
            <a:xfrm>
              <a:off x="8326660" y="2233035"/>
              <a:ext cx="811046" cy="821440"/>
              <a:chOff x="8315562" y="2240177"/>
              <a:chExt cx="811046" cy="821440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583CD0A8-6FCD-4505-E06E-E6389C73B69C}"/>
                  </a:ext>
                </a:extLst>
              </p:cNvPr>
              <p:cNvSpPr/>
              <p:nvPr/>
            </p:nvSpPr>
            <p:spPr>
              <a:xfrm>
                <a:off x="8315562" y="2240177"/>
                <a:ext cx="811046" cy="53155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B7FF9661-DDA7-E888-F911-4CA4880AF4CF}"/>
                  </a:ext>
                </a:extLst>
              </p:cNvPr>
              <p:cNvCxnSpPr/>
              <p:nvPr/>
            </p:nvCxnSpPr>
            <p:spPr>
              <a:xfrm>
                <a:off x="8687538" y="2274358"/>
                <a:ext cx="1" cy="787259"/>
              </a:xfrm>
              <a:prstGeom prst="straightConnector1">
                <a:avLst/>
              </a:prstGeom>
              <a:ln w="5715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36A438C7-8F77-0758-3C01-6E59590AE64B}"/>
              </a:ext>
            </a:extLst>
          </p:cNvPr>
          <p:cNvSpPr/>
          <p:nvPr/>
        </p:nvSpPr>
        <p:spPr>
          <a:xfrm>
            <a:off x="8411215" y="3061607"/>
            <a:ext cx="548893" cy="54889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014C85C3-D5B0-9171-548D-A84212781404}"/>
              </a:ext>
            </a:extLst>
          </p:cNvPr>
          <p:cNvGrpSpPr/>
          <p:nvPr/>
        </p:nvGrpSpPr>
        <p:grpSpPr>
          <a:xfrm>
            <a:off x="9630870" y="1923019"/>
            <a:ext cx="301686" cy="1133604"/>
            <a:chOff x="6278362" y="3023886"/>
            <a:chExt cx="301686" cy="1133604"/>
          </a:xfrm>
        </p:grpSpPr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9977A502-32C8-8E5F-D45D-447ED577FE8D}"/>
                </a:ext>
              </a:extLst>
            </p:cNvPr>
            <p:cNvCxnSpPr/>
            <p:nvPr/>
          </p:nvCxnSpPr>
          <p:spPr>
            <a:xfrm>
              <a:off x="6429205" y="3370231"/>
              <a:ext cx="1" cy="787259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5EBF569-89B0-499E-84FA-87312E200F2E}"/>
                </a:ext>
              </a:extLst>
            </p:cNvPr>
            <p:cNvSpPr txBox="1"/>
            <p:nvPr/>
          </p:nvSpPr>
          <p:spPr>
            <a:xfrm>
              <a:off x="6278362" y="302388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Calisto MT" panose="02040603050505030304" pitchFamily="18" charset="0"/>
                </a:rPr>
                <a:t>b</a:t>
              </a:r>
            </a:p>
          </p:txBody>
        </p:sp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B9BDFB3D-6DA8-54E3-2AA8-16D3E8A147CC}"/>
              </a:ext>
            </a:extLst>
          </p:cNvPr>
          <p:cNvSpPr/>
          <p:nvPr/>
        </p:nvSpPr>
        <p:spPr>
          <a:xfrm>
            <a:off x="9505283" y="3056613"/>
            <a:ext cx="548893" cy="54889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99BEC95-64FB-1D90-D64C-7BC131B1CE73}"/>
              </a:ext>
            </a:extLst>
          </p:cNvPr>
          <p:cNvSpPr txBox="1"/>
          <p:nvPr/>
        </p:nvSpPr>
        <p:spPr>
          <a:xfrm>
            <a:off x="931493" y="2488536"/>
            <a:ext cx="3734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>
                <a:latin typeface="Calisto MT" panose="02040603050505030304" pitchFamily="18" charset="0"/>
              </a:rPr>
              <a:t>int</a:t>
            </a:r>
            <a:r>
              <a:rPr lang="en-US" sz="1800" dirty="0">
                <a:latin typeface="Calisto MT" panose="02040603050505030304" pitchFamily="18" charset="0"/>
              </a:rPr>
              <a:t> *b =  (</a:t>
            </a:r>
            <a:r>
              <a:rPr lang="en-US" sz="1800" dirty="0" err="1">
                <a:latin typeface="Calisto MT" panose="02040603050505030304" pitchFamily="18" charset="0"/>
              </a:rPr>
              <a:t>int</a:t>
            </a:r>
            <a:r>
              <a:rPr lang="en-US" sz="1800" dirty="0">
                <a:latin typeface="Calisto MT" panose="02040603050505030304" pitchFamily="18" charset="0"/>
              </a:rPr>
              <a:t>*)</a:t>
            </a:r>
            <a:r>
              <a:rPr lang="en-US" sz="1800" dirty="0" err="1">
                <a:latin typeface="Calisto MT" panose="02040603050505030304" pitchFamily="18" charset="0"/>
              </a:rPr>
              <a:t>malloc</a:t>
            </a:r>
            <a:r>
              <a:rPr lang="en-US" sz="1800" dirty="0">
                <a:latin typeface="Calisto MT" panose="02040603050505030304" pitchFamily="18" charset="0"/>
              </a:rPr>
              <a:t>(</a:t>
            </a:r>
            <a:r>
              <a:rPr lang="en-US" sz="1800" dirty="0" err="1">
                <a:latin typeface="Calisto MT" panose="02040603050505030304" pitchFamily="18" charset="0"/>
              </a:rPr>
              <a:t>sizeof</a:t>
            </a:r>
            <a:r>
              <a:rPr lang="en-US" sz="1800" dirty="0">
                <a:latin typeface="Calisto MT" panose="02040603050505030304" pitchFamily="18" charset="0"/>
              </a:rPr>
              <a:t>(</a:t>
            </a:r>
            <a:r>
              <a:rPr lang="en-US" sz="1800" dirty="0" err="1">
                <a:latin typeface="Calisto MT" panose="02040603050505030304" pitchFamily="18" charset="0"/>
              </a:rPr>
              <a:t>int</a:t>
            </a:r>
            <a:r>
              <a:rPr lang="en-US" sz="1800" dirty="0">
                <a:latin typeface="Calisto MT" panose="02040603050505030304" pitchFamily="18" charset="0"/>
              </a:rPr>
              <a:t>));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5B09C15-D953-8128-CE21-3C6F47F83BC3}"/>
              </a:ext>
            </a:extLst>
          </p:cNvPr>
          <p:cNvSpPr txBox="1"/>
          <p:nvPr/>
        </p:nvSpPr>
        <p:spPr>
          <a:xfrm>
            <a:off x="931491" y="2871947"/>
            <a:ext cx="72035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>
                <a:latin typeface="Calisto MT" panose="02040603050505030304" pitchFamily="18" charset="0"/>
              </a:rPr>
              <a:t>Now point </a:t>
            </a:r>
            <a:r>
              <a:rPr lang="en-US" sz="1800" b="1" i="1" dirty="0">
                <a:latin typeface="Calisto MT" panose="02040603050505030304" pitchFamily="18" charset="0"/>
              </a:rPr>
              <a:t>b</a:t>
            </a:r>
            <a:r>
              <a:rPr lang="en-US" sz="1800" dirty="0">
                <a:latin typeface="Calisto MT" panose="02040603050505030304" pitchFamily="18" charset="0"/>
              </a:rPr>
              <a:t> on where </a:t>
            </a:r>
            <a:r>
              <a:rPr lang="en-US" sz="1800" b="1" i="1" dirty="0">
                <a:latin typeface="Calisto MT" panose="02040603050505030304" pitchFamily="18" charset="0"/>
              </a:rPr>
              <a:t>Pointer-a</a:t>
            </a:r>
            <a:r>
              <a:rPr lang="en-US" sz="1800" dirty="0">
                <a:latin typeface="Calisto MT" panose="02040603050505030304" pitchFamily="18" charset="0"/>
              </a:rPr>
              <a:t> is initially pointing and also point </a:t>
            </a:r>
            <a:r>
              <a:rPr lang="en-US" sz="1800" b="1" i="1" dirty="0">
                <a:latin typeface="Calisto MT" panose="02040603050505030304" pitchFamily="18" charset="0"/>
              </a:rPr>
              <a:t>a</a:t>
            </a:r>
            <a:r>
              <a:rPr lang="en-US" sz="1800" dirty="0">
                <a:latin typeface="Calisto MT" panose="02040603050505030304" pitchFamily="18" charset="0"/>
              </a:rPr>
              <a:t> on where </a:t>
            </a:r>
            <a:r>
              <a:rPr lang="en-US" sz="1800" b="1" i="1" dirty="0">
                <a:latin typeface="Calisto MT" panose="02040603050505030304" pitchFamily="18" charset="0"/>
              </a:rPr>
              <a:t>Pointer-b</a:t>
            </a:r>
            <a:r>
              <a:rPr lang="en-US" sz="1800" dirty="0">
                <a:latin typeface="Calisto MT" panose="02040603050505030304" pitchFamily="18" charset="0"/>
              </a:rPr>
              <a:t> is initially pointing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D46EDD5-AA23-9963-D2CF-A05A43E02C4C}"/>
              </a:ext>
            </a:extLst>
          </p:cNvPr>
          <p:cNvSpPr txBox="1"/>
          <p:nvPr/>
        </p:nvSpPr>
        <p:spPr>
          <a:xfrm>
            <a:off x="931491" y="3532357"/>
            <a:ext cx="4845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0"/>
              </a:rPr>
              <a:t>If we do: b = a and then a = b, will it be ok?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48CE970-0048-71A8-C1A5-B6784B7356F2}"/>
              </a:ext>
            </a:extLst>
          </p:cNvPr>
          <p:cNvSpPr txBox="1"/>
          <p:nvPr/>
        </p:nvSpPr>
        <p:spPr>
          <a:xfrm>
            <a:off x="931491" y="3901689"/>
            <a:ext cx="1751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0"/>
              </a:rPr>
              <a:t>Let’s check: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9035A48-0E50-7E7F-627C-FEBFEFE871CF}"/>
              </a:ext>
            </a:extLst>
          </p:cNvPr>
          <p:cNvSpPr txBox="1"/>
          <p:nvPr/>
        </p:nvSpPr>
        <p:spPr>
          <a:xfrm>
            <a:off x="2938329" y="3901689"/>
            <a:ext cx="1531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Calisto MT" panose="02040603050505030304" pitchFamily="18" charset="0"/>
              </a:rPr>
              <a:t>First do b = a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368DAB4-8887-D4CE-D1A8-83EA5B9EC982}"/>
              </a:ext>
            </a:extLst>
          </p:cNvPr>
          <p:cNvSpPr txBox="1"/>
          <p:nvPr/>
        </p:nvSpPr>
        <p:spPr>
          <a:xfrm>
            <a:off x="5035434" y="3901689"/>
            <a:ext cx="1673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Calisto MT" panose="02040603050505030304" pitchFamily="18" charset="0"/>
              </a:rPr>
              <a:t>Then do a = b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10B25E2-E35D-5465-94E8-62269A818D54}"/>
              </a:ext>
            </a:extLst>
          </p:cNvPr>
          <p:cNvSpPr txBox="1"/>
          <p:nvPr/>
        </p:nvSpPr>
        <p:spPr>
          <a:xfrm>
            <a:off x="931491" y="4308101"/>
            <a:ext cx="3341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>
                <a:latin typeface="Calisto MT" panose="02040603050505030304" pitchFamily="18" charset="0"/>
              </a:rPr>
              <a:t>Did it fulfil the requirement?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C1A0A49-FF89-E118-E8BE-5B055062A53C}"/>
              </a:ext>
            </a:extLst>
          </p:cNvPr>
          <p:cNvSpPr txBox="1"/>
          <p:nvPr/>
        </p:nvSpPr>
        <p:spPr>
          <a:xfrm>
            <a:off x="4276889" y="4308101"/>
            <a:ext cx="512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  <a:latin typeface="Calisto MT" panose="02040603050505030304" pitchFamily="18" charset="0"/>
              </a:rPr>
              <a:t>No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54513B1-E271-79F5-2790-93724CF784FD}"/>
              </a:ext>
            </a:extLst>
          </p:cNvPr>
          <p:cNvSpPr txBox="1"/>
          <p:nvPr/>
        </p:nvSpPr>
        <p:spPr>
          <a:xfrm>
            <a:off x="945290" y="4677433"/>
            <a:ext cx="44471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0"/>
              </a:rPr>
              <a:t>Lets try another way from the beginning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DB4B091-8ACC-E0DC-C0F1-1FE19482AB8B}"/>
              </a:ext>
            </a:extLst>
          </p:cNvPr>
          <p:cNvSpPr txBox="1"/>
          <p:nvPr/>
        </p:nvSpPr>
        <p:spPr>
          <a:xfrm>
            <a:off x="945290" y="5046765"/>
            <a:ext cx="6079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0"/>
              </a:rPr>
              <a:t>Take a temporary pointer c and point it on where b points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2CDD0D8-46AC-1D0E-E2EC-57F860C35A5B}"/>
              </a:ext>
            </a:extLst>
          </p:cNvPr>
          <p:cNvSpPr txBox="1"/>
          <p:nvPr/>
        </p:nvSpPr>
        <p:spPr>
          <a:xfrm>
            <a:off x="945289" y="5416097"/>
            <a:ext cx="6079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>
                <a:latin typeface="Calisto MT" panose="02040603050505030304" pitchFamily="18" charset="0"/>
              </a:rPr>
              <a:t>int</a:t>
            </a:r>
            <a:r>
              <a:rPr lang="en-US" sz="1800" dirty="0">
                <a:latin typeface="Calisto MT" panose="02040603050505030304" pitchFamily="18" charset="0"/>
              </a:rPr>
              <a:t> *c = b;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31F3DB5-A954-6F21-79F0-ABF43DCBCDB5}"/>
              </a:ext>
            </a:extLst>
          </p:cNvPr>
          <p:cNvSpPr txBox="1"/>
          <p:nvPr/>
        </p:nvSpPr>
        <p:spPr>
          <a:xfrm>
            <a:off x="945288" y="5785429"/>
            <a:ext cx="1353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0"/>
              </a:rPr>
              <a:t>Now do: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50C1A87-34DC-8829-0F85-2D5198AD0568}"/>
              </a:ext>
            </a:extLst>
          </p:cNvPr>
          <p:cNvSpPr txBox="1"/>
          <p:nvPr/>
        </p:nvSpPr>
        <p:spPr>
          <a:xfrm>
            <a:off x="2624414" y="5785429"/>
            <a:ext cx="759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Calisto MT" panose="02040603050505030304" pitchFamily="18" charset="0"/>
              </a:rPr>
              <a:t>b = a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A4C958E-10A8-B048-9B5E-A1D2D072522C}"/>
              </a:ext>
            </a:extLst>
          </p:cNvPr>
          <p:cNvSpPr txBox="1"/>
          <p:nvPr/>
        </p:nvSpPr>
        <p:spPr>
          <a:xfrm>
            <a:off x="4198926" y="5785429"/>
            <a:ext cx="1673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Calisto MT" panose="02040603050505030304" pitchFamily="18" charset="0"/>
              </a:rPr>
              <a:t>Then do a = c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5757A4D-5BFD-17A3-E571-63431DF48325}"/>
              </a:ext>
            </a:extLst>
          </p:cNvPr>
          <p:cNvSpPr/>
          <p:nvPr/>
        </p:nvSpPr>
        <p:spPr>
          <a:xfrm>
            <a:off x="9520242" y="2267216"/>
            <a:ext cx="439069" cy="7801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72EA629D-A9D0-8314-81B7-B3144DF0FCC4}"/>
              </a:ext>
            </a:extLst>
          </p:cNvPr>
          <p:cNvCxnSpPr>
            <a:stCxn id="43" idx="2"/>
          </p:cNvCxnSpPr>
          <p:nvPr/>
        </p:nvCxnSpPr>
        <p:spPr>
          <a:xfrm flipH="1">
            <a:off x="8830714" y="2292351"/>
            <a:ext cx="950999" cy="75500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D504F3E5-AFBA-17A3-D141-A9DA246E9826}"/>
              </a:ext>
            </a:extLst>
          </p:cNvPr>
          <p:cNvSpPr/>
          <p:nvPr/>
        </p:nvSpPr>
        <p:spPr>
          <a:xfrm>
            <a:off x="8809264" y="2264372"/>
            <a:ext cx="1017970" cy="7829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50863CDC-9054-DB48-7108-186BF98AD6F1}"/>
              </a:ext>
            </a:extLst>
          </p:cNvPr>
          <p:cNvCxnSpPr/>
          <p:nvPr/>
        </p:nvCxnSpPr>
        <p:spPr>
          <a:xfrm>
            <a:off x="9777995" y="2266853"/>
            <a:ext cx="1" cy="787259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" name="Group 62">
            <a:extLst>
              <a:ext uri="{FF2B5EF4-FFF2-40B4-BE49-F238E27FC236}">
                <a16:creationId xmlns:a16="http://schemas.microsoft.com/office/drawing/2014/main" id="{5ECCE1D5-30E1-A1C8-7D81-45405336AC1E}"/>
              </a:ext>
            </a:extLst>
          </p:cNvPr>
          <p:cNvGrpSpPr/>
          <p:nvPr/>
        </p:nvGrpSpPr>
        <p:grpSpPr>
          <a:xfrm>
            <a:off x="9907389" y="1923019"/>
            <a:ext cx="1187065" cy="1138588"/>
            <a:chOff x="5416500" y="3023886"/>
            <a:chExt cx="1227992" cy="1124332"/>
          </a:xfrm>
        </p:grpSpPr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32D64879-553A-FC42-0A67-48B998C6865A}"/>
                </a:ext>
              </a:extLst>
            </p:cNvPr>
            <p:cNvCxnSpPr/>
            <p:nvPr/>
          </p:nvCxnSpPr>
          <p:spPr>
            <a:xfrm flipH="1">
              <a:off x="5416500" y="3370231"/>
              <a:ext cx="1012705" cy="777987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40BE43DB-4FD6-97F3-78FE-98F9D086709B}"/>
                </a:ext>
              </a:extLst>
            </p:cNvPr>
            <p:cNvSpPr txBox="1"/>
            <p:nvPr/>
          </p:nvSpPr>
          <p:spPr>
            <a:xfrm>
              <a:off x="6345671" y="3023886"/>
              <a:ext cx="298821" cy="3647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Calisto MT" panose="02040603050505030304" pitchFamily="18" charset="0"/>
                </a:rPr>
                <a:t>c</a:t>
              </a:r>
            </a:p>
          </p:txBody>
        </p:sp>
      </p:grpSp>
      <p:sp>
        <p:nvSpPr>
          <p:cNvPr id="66" name="Rectangle 65">
            <a:extLst>
              <a:ext uri="{FF2B5EF4-FFF2-40B4-BE49-F238E27FC236}">
                <a16:creationId xmlns:a16="http://schemas.microsoft.com/office/drawing/2014/main" id="{CB3B8EED-5A4F-D71E-1729-72FC9ED84B54}"/>
              </a:ext>
            </a:extLst>
          </p:cNvPr>
          <p:cNvSpPr/>
          <p:nvPr/>
        </p:nvSpPr>
        <p:spPr>
          <a:xfrm>
            <a:off x="9494606" y="2264372"/>
            <a:ext cx="412783" cy="7829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1D19D7F0-96D5-9A03-BAFD-91A9D5213B06}"/>
              </a:ext>
            </a:extLst>
          </p:cNvPr>
          <p:cNvCxnSpPr/>
          <p:nvPr/>
        </p:nvCxnSpPr>
        <p:spPr>
          <a:xfrm flipH="1">
            <a:off x="8828855" y="2257611"/>
            <a:ext cx="954042" cy="78974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8" name="Group 67">
            <a:extLst>
              <a:ext uri="{FF2B5EF4-FFF2-40B4-BE49-F238E27FC236}">
                <a16:creationId xmlns:a16="http://schemas.microsoft.com/office/drawing/2014/main" id="{9B14EF6D-5081-77A7-4DF9-4705AD63746E}"/>
              </a:ext>
            </a:extLst>
          </p:cNvPr>
          <p:cNvGrpSpPr/>
          <p:nvPr/>
        </p:nvGrpSpPr>
        <p:grpSpPr>
          <a:xfrm>
            <a:off x="8414933" y="2257611"/>
            <a:ext cx="1286065" cy="796501"/>
            <a:chOff x="8414933" y="2257611"/>
            <a:chExt cx="1286065" cy="796501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7E9A9165-1D74-49D3-7FCF-F40BC1E4B723}"/>
                </a:ext>
              </a:extLst>
            </p:cNvPr>
            <p:cNvSpPr/>
            <p:nvPr/>
          </p:nvSpPr>
          <p:spPr>
            <a:xfrm>
              <a:off x="8414933" y="2257611"/>
              <a:ext cx="394331" cy="79650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BCF79865-490C-7BED-DE78-182749F81026}"/>
                </a:ext>
              </a:extLst>
            </p:cNvPr>
            <p:cNvCxnSpPr>
              <a:endCxn id="66" idx="2"/>
            </p:cNvCxnSpPr>
            <p:nvPr/>
          </p:nvCxnSpPr>
          <p:spPr>
            <a:xfrm>
              <a:off x="8687159" y="2266852"/>
              <a:ext cx="1013839" cy="780499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CAD3CD0D-9DB9-1953-37AE-21391BD74EF0}"/>
              </a:ext>
            </a:extLst>
          </p:cNvPr>
          <p:cNvSpPr txBox="1"/>
          <p:nvPr/>
        </p:nvSpPr>
        <p:spPr>
          <a:xfrm>
            <a:off x="6056261" y="5785429"/>
            <a:ext cx="1674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accent2"/>
                </a:solidFill>
                <a:latin typeface="Calisto MT" panose="02040603050505030304" pitchFamily="18" charset="0"/>
              </a:rPr>
              <a:t>Now it’s done</a:t>
            </a:r>
          </a:p>
        </p:txBody>
      </p:sp>
    </p:spTree>
    <p:extLst>
      <p:ext uri="{BB962C8B-B14F-4D97-AF65-F5344CB8AC3E}">
        <p14:creationId xmlns:p14="http://schemas.microsoft.com/office/powerpoint/2010/main" val="312835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40" grpId="0" animBg="1"/>
      <p:bldP spid="44" grpId="0" animBg="1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 animBg="1"/>
      <p:bldP spid="61" grpId="0" animBg="1"/>
      <p:bldP spid="66" grpId="0" animBg="1"/>
      <p:bldP spid="7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F1DEA-5C74-7715-F2CE-3B879086A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F27E0D-377D-7DB8-1C61-40F83E5ECFD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CA62E38-59FD-451F-9AA6-B569CE35F9BD}" type="datetime4">
              <a:rPr lang="en-US" smtClean="0"/>
              <a:t>March 6,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460E8-0553-24F3-77E7-37BAE902E2E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Prepared By: Swapnil Biswas, CSE, BSMRU, Kishoreganj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D3B90F-7E8B-1292-0E93-CD02328D52C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097C81-E55C-E421-DDC4-A384C06D7EA6}"/>
              </a:ext>
            </a:extLst>
          </p:cNvPr>
          <p:cNvSpPr txBox="1"/>
          <p:nvPr/>
        </p:nvSpPr>
        <p:spPr>
          <a:xfrm>
            <a:off x="744796" y="1892505"/>
            <a:ext cx="5758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0"/>
              </a:rPr>
              <a:t>Do the following tasks and answer the question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3625AB-7324-B991-908C-F2BE555B94EA}"/>
              </a:ext>
            </a:extLst>
          </p:cNvPr>
          <p:cNvSpPr txBox="1"/>
          <p:nvPr/>
        </p:nvSpPr>
        <p:spPr>
          <a:xfrm>
            <a:off x="744796" y="2432516"/>
            <a:ext cx="3647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>
                <a:latin typeface="Calisto MT" panose="02040603050505030304" pitchFamily="18" charset="0"/>
              </a:rPr>
              <a:t>int</a:t>
            </a:r>
            <a:r>
              <a:rPr lang="en-US" sz="1800" dirty="0">
                <a:latin typeface="Calisto MT" panose="02040603050505030304" pitchFamily="18" charset="0"/>
              </a:rPr>
              <a:t> *a = (</a:t>
            </a:r>
            <a:r>
              <a:rPr lang="en-US" sz="1800" dirty="0" err="1">
                <a:latin typeface="Calisto MT" panose="02040603050505030304" pitchFamily="18" charset="0"/>
              </a:rPr>
              <a:t>int</a:t>
            </a:r>
            <a:r>
              <a:rPr lang="en-US" sz="1800" dirty="0">
                <a:latin typeface="Calisto MT" panose="02040603050505030304" pitchFamily="18" charset="0"/>
              </a:rPr>
              <a:t>*)</a:t>
            </a:r>
            <a:r>
              <a:rPr lang="en-US" sz="1800" dirty="0" err="1">
                <a:latin typeface="Calisto MT" panose="02040603050505030304" pitchFamily="18" charset="0"/>
              </a:rPr>
              <a:t>malloc</a:t>
            </a:r>
            <a:r>
              <a:rPr lang="en-US" sz="1800" dirty="0">
                <a:latin typeface="Calisto MT" panose="02040603050505030304" pitchFamily="18" charset="0"/>
              </a:rPr>
              <a:t>(</a:t>
            </a:r>
            <a:r>
              <a:rPr lang="en-US" sz="1800" dirty="0" err="1">
                <a:latin typeface="Calisto MT" panose="02040603050505030304" pitchFamily="18" charset="0"/>
              </a:rPr>
              <a:t>sizeof</a:t>
            </a:r>
            <a:r>
              <a:rPr lang="en-US" sz="1800" dirty="0">
                <a:latin typeface="Calisto MT" panose="02040603050505030304" pitchFamily="18" charset="0"/>
              </a:rPr>
              <a:t>(</a:t>
            </a:r>
            <a:r>
              <a:rPr lang="en-US" sz="1800" dirty="0" err="1">
                <a:latin typeface="Calisto MT" panose="02040603050505030304" pitchFamily="18" charset="0"/>
              </a:rPr>
              <a:t>int</a:t>
            </a:r>
            <a:r>
              <a:rPr lang="en-US" sz="1800" dirty="0">
                <a:latin typeface="Calisto MT" panose="02040603050505030304" pitchFamily="18" charset="0"/>
              </a:rPr>
              <a:t>));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408176-4F13-10C6-2CCC-0A8F1BFE82EE}"/>
              </a:ext>
            </a:extLst>
          </p:cNvPr>
          <p:cNvSpPr txBox="1"/>
          <p:nvPr/>
        </p:nvSpPr>
        <p:spPr>
          <a:xfrm>
            <a:off x="744796" y="5007833"/>
            <a:ext cx="3898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0"/>
              </a:rPr>
              <a:t>What’s the value of *a, *b, *c now?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D838537-A3A9-8FDE-FCE8-BE2362071608}"/>
              </a:ext>
            </a:extLst>
          </p:cNvPr>
          <p:cNvGrpSpPr/>
          <p:nvPr/>
        </p:nvGrpSpPr>
        <p:grpSpPr>
          <a:xfrm>
            <a:off x="8411215" y="3061613"/>
            <a:ext cx="2744465" cy="2744456"/>
            <a:chOff x="8135597" y="2832311"/>
            <a:chExt cx="2744465" cy="274445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6880FFA-0179-3245-4390-33AC91ADBD4C}"/>
                </a:ext>
              </a:extLst>
            </p:cNvPr>
            <p:cNvSpPr/>
            <p:nvPr/>
          </p:nvSpPr>
          <p:spPr>
            <a:xfrm>
              <a:off x="8135597" y="2832315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EF9257F-7574-29B7-BF7E-E584B62EA684}"/>
                </a:ext>
              </a:extLst>
            </p:cNvPr>
            <p:cNvSpPr/>
            <p:nvPr/>
          </p:nvSpPr>
          <p:spPr>
            <a:xfrm>
              <a:off x="8684490" y="2832314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7ECA705-6F9A-BEBF-CF0F-519ADF5A49CB}"/>
                </a:ext>
              </a:extLst>
            </p:cNvPr>
            <p:cNvSpPr/>
            <p:nvPr/>
          </p:nvSpPr>
          <p:spPr>
            <a:xfrm>
              <a:off x="9233383" y="2832313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14E21EC-8CA3-1E2F-499C-7380123523A5}"/>
                </a:ext>
              </a:extLst>
            </p:cNvPr>
            <p:cNvSpPr/>
            <p:nvPr/>
          </p:nvSpPr>
          <p:spPr>
            <a:xfrm>
              <a:off x="9782276" y="2832312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A40A1AC-D073-BB8E-4ADA-A8C0995CFD14}"/>
                </a:ext>
              </a:extLst>
            </p:cNvPr>
            <p:cNvSpPr/>
            <p:nvPr/>
          </p:nvSpPr>
          <p:spPr>
            <a:xfrm>
              <a:off x="10331169" y="2832311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FDC4BD9-F757-8783-2DA1-0735C58F0735}"/>
                </a:ext>
              </a:extLst>
            </p:cNvPr>
            <p:cNvSpPr/>
            <p:nvPr/>
          </p:nvSpPr>
          <p:spPr>
            <a:xfrm>
              <a:off x="8135597" y="3381208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877F632-3017-114F-AB5E-7A47002C0798}"/>
                </a:ext>
              </a:extLst>
            </p:cNvPr>
            <p:cNvSpPr/>
            <p:nvPr/>
          </p:nvSpPr>
          <p:spPr>
            <a:xfrm>
              <a:off x="8684490" y="3381207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1DAE3A3-394A-C112-4A64-75D6C3449F7C}"/>
                </a:ext>
              </a:extLst>
            </p:cNvPr>
            <p:cNvSpPr/>
            <p:nvPr/>
          </p:nvSpPr>
          <p:spPr>
            <a:xfrm>
              <a:off x="9233383" y="3381206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12158C4-FF08-25FC-657A-3F8A55617F1A}"/>
                </a:ext>
              </a:extLst>
            </p:cNvPr>
            <p:cNvSpPr/>
            <p:nvPr/>
          </p:nvSpPr>
          <p:spPr>
            <a:xfrm>
              <a:off x="9782276" y="3381205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0B9C481-6001-EA9A-D60F-D7F93A11F3B2}"/>
                </a:ext>
              </a:extLst>
            </p:cNvPr>
            <p:cNvSpPr/>
            <p:nvPr/>
          </p:nvSpPr>
          <p:spPr>
            <a:xfrm>
              <a:off x="10331169" y="3381204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89E1288-3A1C-6480-129E-8303CE889F03}"/>
                </a:ext>
              </a:extLst>
            </p:cNvPr>
            <p:cNvSpPr/>
            <p:nvPr/>
          </p:nvSpPr>
          <p:spPr>
            <a:xfrm>
              <a:off x="8135597" y="3930097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A733B2E-188C-5D4F-631A-F2612D2333BB}"/>
                </a:ext>
              </a:extLst>
            </p:cNvPr>
            <p:cNvSpPr/>
            <p:nvPr/>
          </p:nvSpPr>
          <p:spPr>
            <a:xfrm>
              <a:off x="8684490" y="3930096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07DE4F01-8A20-DE04-CAD0-1AD8200EEB5E}"/>
                </a:ext>
              </a:extLst>
            </p:cNvPr>
            <p:cNvSpPr/>
            <p:nvPr/>
          </p:nvSpPr>
          <p:spPr>
            <a:xfrm>
              <a:off x="9233383" y="3930095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9D551C19-CA14-B3FF-C892-026131BC4FE5}"/>
                </a:ext>
              </a:extLst>
            </p:cNvPr>
            <p:cNvSpPr/>
            <p:nvPr/>
          </p:nvSpPr>
          <p:spPr>
            <a:xfrm>
              <a:off x="9782276" y="3930094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FE3B395-D85A-35B3-492C-38E8A6214C60}"/>
                </a:ext>
              </a:extLst>
            </p:cNvPr>
            <p:cNvSpPr/>
            <p:nvPr/>
          </p:nvSpPr>
          <p:spPr>
            <a:xfrm>
              <a:off x="10331169" y="3930093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1EAAB0B-DF18-A149-0653-A77AF8D7E757}"/>
                </a:ext>
              </a:extLst>
            </p:cNvPr>
            <p:cNvSpPr/>
            <p:nvPr/>
          </p:nvSpPr>
          <p:spPr>
            <a:xfrm>
              <a:off x="8135597" y="4478990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5F09DC41-4B33-062C-B4A6-05ECB9BB3AEA}"/>
                </a:ext>
              </a:extLst>
            </p:cNvPr>
            <p:cNvSpPr/>
            <p:nvPr/>
          </p:nvSpPr>
          <p:spPr>
            <a:xfrm>
              <a:off x="8684490" y="4478989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E92CE1F-646B-20EE-B4D7-889FBD39E14A}"/>
                </a:ext>
              </a:extLst>
            </p:cNvPr>
            <p:cNvSpPr/>
            <p:nvPr/>
          </p:nvSpPr>
          <p:spPr>
            <a:xfrm>
              <a:off x="9233383" y="4478988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FE79E7F-7390-5323-FEF3-86101110E036}"/>
                </a:ext>
              </a:extLst>
            </p:cNvPr>
            <p:cNvSpPr/>
            <p:nvPr/>
          </p:nvSpPr>
          <p:spPr>
            <a:xfrm>
              <a:off x="9782276" y="4478987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575AFA73-A258-081B-1B64-D04BDD476B85}"/>
                </a:ext>
              </a:extLst>
            </p:cNvPr>
            <p:cNvSpPr/>
            <p:nvPr/>
          </p:nvSpPr>
          <p:spPr>
            <a:xfrm>
              <a:off x="10331169" y="4478986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3EC11CD-BAD7-0EB7-24F6-B1D542C6C90D}"/>
                </a:ext>
              </a:extLst>
            </p:cNvPr>
            <p:cNvSpPr/>
            <p:nvPr/>
          </p:nvSpPr>
          <p:spPr>
            <a:xfrm>
              <a:off x="8135597" y="5027874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070114C6-C8C4-8147-C6FB-6C0244D5BE0C}"/>
                </a:ext>
              </a:extLst>
            </p:cNvPr>
            <p:cNvSpPr/>
            <p:nvPr/>
          </p:nvSpPr>
          <p:spPr>
            <a:xfrm>
              <a:off x="8684490" y="5027873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EFBD0362-2A4D-4D4B-175C-F2A2E20517A9}"/>
                </a:ext>
              </a:extLst>
            </p:cNvPr>
            <p:cNvSpPr/>
            <p:nvPr/>
          </p:nvSpPr>
          <p:spPr>
            <a:xfrm>
              <a:off x="9233383" y="5027872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7BA536C0-2EF2-28E9-8B60-305CD3779104}"/>
                </a:ext>
              </a:extLst>
            </p:cNvPr>
            <p:cNvSpPr/>
            <p:nvPr/>
          </p:nvSpPr>
          <p:spPr>
            <a:xfrm>
              <a:off x="9782276" y="5027871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2C3380F5-C23F-5456-6151-219C0748726C}"/>
                </a:ext>
              </a:extLst>
            </p:cNvPr>
            <p:cNvSpPr/>
            <p:nvPr/>
          </p:nvSpPr>
          <p:spPr>
            <a:xfrm>
              <a:off x="10331169" y="5027870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954A0B8D-8786-0B42-2972-CB1D73712F3C}"/>
              </a:ext>
            </a:extLst>
          </p:cNvPr>
          <p:cNvSpPr txBox="1"/>
          <p:nvPr/>
        </p:nvSpPr>
        <p:spPr>
          <a:xfrm>
            <a:off x="752356" y="2948549"/>
            <a:ext cx="3647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>
                <a:latin typeface="Calisto MT" panose="02040603050505030304" pitchFamily="18" charset="0"/>
              </a:rPr>
              <a:t>int</a:t>
            </a:r>
            <a:r>
              <a:rPr lang="en-US" sz="1800" dirty="0">
                <a:latin typeface="Calisto MT" panose="02040603050505030304" pitchFamily="18" charset="0"/>
              </a:rPr>
              <a:t> *b = (</a:t>
            </a:r>
            <a:r>
              <a:rPr lang="en-US" sz="1800" dirty="0" err="1">
                <a:latin typeface="Calisto MT" panose="02040603050505030304" pitchFamily="18" charset="0"/>
              </a:rPr>
              <a:t>int</a:t>
            </a:r>
            <a:r>
              <a:rPr lang="en-US" sz="1800" dirty="0">
                <a:latin typeface="Calisto MT" panose="02040603050505030304" pitchFamily="18" charset="0"/>
              </a:rPr>
              <a:t>*)</a:t>
            </a:r>
            <a:r>
              <a:rPr lang="en-US" sz="1800" dirty="0" err="1">
                <a:latin typeface="Calisto MT" panose="02040603050505030304" pitchFamily="18" charset="0"/>
              </a:rPr>
              <a:t>malloc</a:t>
            </a:r>
            <a:r>
              <a:rPr lang="en-US" sz="1800" dirty="0">
                <a:latin typeface="Calisto MT" panose="02040603050505030304" pitchFamily="18" charset="0"/>
              </a:rPr>
              <a:t>(</a:t>
            </a:r>
            <a:r>
              <a:rPr lang="en-US" sz="1800" dirty="0" err="1">
                <a:latin typeface="Calisto MT" panose="02040603050505030304" pitchFamily="18" charset="0"/>
              </a:rPr>
              <a:t>sizeof</a:t>
            </a:r>
            <a:r>
              <a:rPr lang="en-US" sz="1800" dirty="0">
                <a:latin typeface="Calisto MT" panose="02040603050505030304" pitchFamily="18" charset="0"/>
              </a:rPr>
              <a:t>(</a:t>
            </a:r>
            <a:r>
              <a:rPr lang="en-US" sz="1800" dirty="0" err="1">
                <a:latin typeface="Calisto MT" panose="02040603050505030304" pitchFamily="18" charset="0"/>
              </a:rPr>
              <a:t>int</a:t>
            </a:r>
            <a:r>
              <a:rPr lang="en-US" sz="1800" dirty="0">
                <a:latin typeface="Calisto MT" panose="02040603050505030304" pitchFamily="18" charset="0"/>
              </a:rPr>
              <a:t>));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A795832-BFEB-CCEA-4833-79B8E2380897}"/>
              </a:ext>
            </a:extLst>
          </p:cNvPr>
          <p:cNvSpPr txBox="1"/>
          <p:nvPr/>
        </p:nvSpPr>
        <p:spPr>
          <a:xfrm>
            <a:off x="4667022" y="2436995"/>
            <a:ext cx="12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0"/>
              </a:rPr>
              <a:t>*a = 10;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0E2E42F-F18F-5A49-24A5-7254751F8DEB}"/>
              </a:ext>
            </a:extLst>
          </p:cNvPr>
          <p:cNvSpPr txBox="1"/>
          <p:nvPr/>
        </p:nvSpPr>
        <p:spPr>
          <a:xfrm>
            <a:off x="4667427" y="2951602"/>
            <a:ext cx="12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0"/>
              </a:rPr>
              <a:t>*b = 20;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555E8C6-AA5F-38E6-34CC-9616944F6586}"/>
              </a:ext>
            </a:extLst>
          </p:cNvPr>
          <p:cNvSpPr txBox="1"/>
          <p:nvPr/>
        </p:nvSpPr>
        <p:spPr>
          <a:xfrm>
            <a:off x="744796" y="3449988"/>
            <a:ext cx="3647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>
                <a:latin typeface="Calisto MT" panose="02040603050505030304" pitchFamily="18" charset="0"/>
              </a:rPr>
              <a:t>int</a:t>
            </a:r>
            <a:r>
              <a:rPr lang="en-US" sz="1800" dirty="0">
                <a:latin typeface="Calisto MT" panose="02040603050505030304" pitchFamily="18" charset="0"/>
              </a:rPr>
              <a:t> *c = (</a:t>
            </a:r>
            <a:r>
              <a:rPr lang="en-US" sz="1800" dirty="0" err="1">
                <a:latin typeface="Calisto MT" panose="02040603050505030304" pitchFamily="18" charset="0"/>
              </a:rPr>
              <a:t>int</a:t>
            </a:r>
            <a:r>
              <a:rPr lang="en-US" sz="1800" dirty="0">
                <a:latin typeface="Calisto MT" panose="02040603050505030304" pitchFamily="18" charset="0"/>
              </a:rPr>
              <a:t>*)</a:t>
            </a:r>
            <a:r>
              <a:rPr lang="en-US" sz="1800" dirty="0" err="1">
                <a:latin typeface="Calisto MT" panose="02040603050505030304" pitchFamily="18" charset="0"/>
              </a:rPr>
              <a:t>malloc</a:t>
            </a:r>
            <a:r>
              <a:rPr lang="en-US" sz="1800" dirty="0">
                <a:latin typeface="Calisto MT" panose="02040603050505030304" pitchFamily="18" charset="0"/>
              </a:rPr>
              <a:t>(</a:t>
            </a:r>
            <a:r>
              <a:rPr lang="en-US" sz="1800" dirty="0" err="1">
                <a:latin typeface="Calisto MT" panose="02040603050505030304" pitchFamily="18" charset="0"/>
              </a:rPr>
              <a:t>sizeof</a:t>
            </a:r>
            <a:r>
              <a:rPr lang="en-US" sz="1800" dirty="0">
                <a:latin typeface="Calisto MT" panose="02040603050505030304" pitchFamily="18" charset="0"/>
              </a:rPr>
              <a:t>(</a:t>
            </a:r>
            <a:r>
              <a:rPr lang="en-US" sz="1800" dirty="0" err="1">
                <a:latin typeface="Calisto MT" panose="02040603050505030304" pitchFamily="18" charset="0"/>
              </a:rPr>
              <a:t>int</a:t>
            </a:r>
            <a:r>
              <a:rPr lang="en-US" sz="1800" dirty="0">
                <a:latin typeface="Calisto MT" panose="02040603050505030304" pitchFamily="18" charset="0"/>
              </a:rPr>
              <a:t>));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7C7BF34-B293-1B39-F881-C1C520B3BD76}"/>
              </a:ext>
            </a:extLst>
          </p:cNvPr>
          <p:cNvSpPr txBox="1"/>
          <p:nvPr/>
        </p:nvSpPr>
        <p:spPr>
          <a:xfrm>
            <a:off x="4679509" y="3449988"/>
            <a:ext cx="12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0"/>
              </a:rPr>
              <a:t>*c = 30;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55C75FC-4E9F-C049-E522-019B6BC6AC79}"/>
              </a:ext>
            </a:extLst>
          </p:cNvPr>
          <p:cNvSpPr txBox="1"/>
          <p:nvPr/>
        </p:nvSpPr>
        <p:spPr>
          <a:xfrm>
            <a:off x="776995" y="4026057"/>
            <a:ext cx="1254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0"/>
              </a:rPr>
              <a:t>*a = *c;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E3F01B2-F83C-1ACA-7CA6-DA29A8A8F172}"/>
              </a:ext>
            </a:extLst>
          </p:cNvPr>
          <p:cNvSpPr txBox="1"/>
          <p:nvPr/>
        </p:nvSpPr>
        <p:spPr>
          <a:xfrm>
            <a:off x="2213414" y="4023408"/>
            <a:ext cx="16409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0"/>
              </a:rPr>
              <a:t>*c = *c + 5;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21B4CED-C76B-8022-BB91-05CBC1FEEB65}"/>
              </a:ext>
            </a:extLst>
          </p:cNvPr>
          <p:cNvSpPr txBox="1"/>
          <p:nvPr/>
        </p:nvSpPr>
        <p:spPr>
          <a:xfrm>
            <a:off x="4160779" y="4021137"/>
            <a:ext cx="1076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0"/>
              </a:rPr>
              <a:t>b = a;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A3F6D5F-64BA-3DA9-C246-014A0DD9EF64}"/>
              </a:ext>
            </a:extLst>
          </p:cNvPr>
          <p:cNvSpPr txBox="1"/>
          <p:nvPr/>
        </p:nvSpPr>
        <p:spPr>
          <a:xfrm>
            <a:off x="5578225" y="4021137"/>
            <a:ext cx="1076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0"/>
              </a:rPr>
              <a:t>a = c;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3728C78-F737-7B81-4036-6812869F2037}"/>
              </a:ext>
            </a:extLst>
          </p:cNvPr>
          <p:cNvSpPr txBox="1"/>
          <p:nvPr/>
        </p:nvSpPr>
        <p:spPr>
          <a:xfrm>
            <a:off x="744796" y="4482055"/>
            <a:ext cx="1887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0"/>
              </a:rPr>
              <a:t>*b = *a + *c;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ABA8DA0-38C3-F0FF-1F0B-29C4C35C598A}"/>
              </a:ext>
            </a:extLst>
          </p:cNvPr>
          <p:cNvSpPr txBox="1"/>
          <p:nvPr/>
        </p:nvSpPr>
        <p:spPr>
          <a:xfrm>
            <a:off x="2693926" y="4482055"/>
            <a:ext cx="1037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0"/>
              </a:rPr>
              <a:t>c = b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9AF7A6A-E8CF-316B-D298-01144E2BEADB}"/>
              </a:ext>
            </a:extLst>
          </p:cNvPr>
          <p:cNvSpPr/>
          <p:nvPr/>
        </p:nvSpPr>
        <p:spPr>
          <a:xfrm>
            <a:off x="744796" y="2442876"/>
            <a:ext cx="3647742" cy="37239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D0B6BDD-672F-1627-9D07-EE6B23E50185}"/>
              </a:ext>
            </a:extLst>
          </p:cNvPr>
          <p:cNvSpPr/>
          <p:nvPr/>
        </p:nvSpPr>
        <p:spPr>
          <a:xfrm>
            <a:off x="4643054" y="2442875"/>
            <a:ext cx="1441551" cy="37239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8A63F84A-5F3A-DC9F-1DD6-1A53948026C8}"/>
              </a:ext>
            </a:extLst>
          </p:cNvPr>
          <p:cNvGrpSpPr/>
          <p:nvPr/>
        </p:nvGrpSpPr>
        <p:grpSpPr>
          <a:xfrm>
            <a:off x="8534818" y="1919082"/>
            <a:ext cx="298480" cy="1120710"/>
            <a:chOff x="8534818" y="1919082"/>
            <a:chExt cx="298480" cy="1120710"/>
          </a:xfrm>
        </p:grpSpPr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07730725-9BD1-A915-494F-398092213539}"/>
                </a:ext>
              </a:extLst>
            </p:cNvPr>
            <p:cNvCxnSpPr/>
            <p:nvPr/>
          </p:nvCxnSpPr>
          <p:spPr>
            <a:xfrm>
              <a:off x="8669611" y="2252533"/>
              <a:ext cx="1" cy="787259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D36A8D03-D73B-7D67-093F-357018867AEA}"/>
                </a:ext>
              </a:extLst>
            </p:cNvPr>
            <p:cNvSpPr txBox="1"/>
            <p:nvPr/>
          </p:nvSpPr>
          <p:spPr>
            <a:xfrm>
              <a:off x="8534818" y="1919082"/>
              <a:ext cx="2984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Calisto MT" panose="02040603050505030304" pitchFamily="18" charset="0"/>
                </a:rPr>
                <a:t>a</a:t>
              </a:r>
            </a:p>
          </p:txBody>
        </p:sp>
      </p:grpSp>
      <p:sp>
        <p:nvSpPr>
          <p:cNvPr id="52" name="Rectangle 51">
            <a:extLst>
              <a:ext uri="{FF2B5EF4-FFF2-40B4-BE49-F238E27FC236}">
                <a16:creationId xmlns:a16="http://schemas.microsoft.com/office/drawing/2014/main" id="{7F7FB014-1D82-E38B-0699-82FB54FAD6DD}"/>
              </a:ext>
            </a:extLst>
          </p:cNvPr>
          <p:cNvSpPr/>
          <p:nvPr/>
        </p:nvSpPr>
        <p:spPr>
          <a:xfrm>
            <a:off x="8411215" y="3061613"/>
            <a:ext cx="548893" cy="54889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B4B10F8-7A3B-AAC6-3AB2-05B7FC57E6DF}"/>
              </a:ext>
            </a:extLst>
          </p:cNvPr>
          <p:cNvSpPr txBox="1"/>
          <p:nvPr/>
        </p:nvSpPr>
        <p:spPr>
          <a:xfrm>
            <a:off x="8477720" y="3151393"/>
            <a:ext cx="4158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Calisto MT" panose="02040603050505030304" pitchFamily="18" charset="0"/>
              </a:rPr>
              <a:t>10           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9BCD1AF-AFDC-C876-9450-D5FBBC3429DC}"/>
              </a:ext>
            </a:extLst>
          </p:cNvPr>
          <p:cNvSpPr/>
          <p:nvPr/>
        </p:nvSpPr>
        <p:spPr>
          <a:xfrm>
            <a:off x="744796" y="2955109"/>
            <a:ext cx="3647742" cy="37239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71DFE932-3D3E-A09A-EDED-F5627CCA3361}"/>
              </a:ext>
            </a:extLst>
          </p:cNvPr>
          <p:cNvGrpSpPr/>
          <p:nvPr/>
        </p:nvGrpSpPr>
        <p:grpSpPr>
          <a:xfrm>
            <a:off x="9634207" y="1929438"/>
            <a:ext cx="301686" cy="1120710"/>
            <a:chOff x="8534818" y="1919082"/>
            <a:chExt cx="301686" cy="1120710"/>
          </a:xfrm>
        </p:grpSpPr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082B68A7-EEE0-F29A-1ADB-32F2837BFD62}"/>
                </a:ext>
              </a:extLst>
            </p:cNvPr>
            <p:cNvCxnSpPr/>
            <p:nvPr/>
          </p:nvCxnSpPr>
          <p:spPr>
            <a:xfrm>
              <a:off x="8669611" y="2252533"/>
              <a:ext cx="1" cy="787259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639C45A8-0A5B-1729-0780-5754C028777B}"/>
                </a:ext>
              </a:extLst>
            </p:cNvPr>
            <p:cNvSpPr txBox="1"/>
            <p:nvPr/>
          </p:nvSpPr>
          <p:spPr>
            <a:xfrm>
              <a:off x="8534818" y="191908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Calisto MT" panose="02040603050505030304" pitchFamily="18" charset="0"/>
                </a:rPr>
                <a:t>b</a:t>
              </a:r>
            </a:p>
          </p:txBody>
        </p:sp>
      </p:grpSp>
      <p:sp>
        <p:nvSpPr>
          <p:cNvPr id="58" name="Rectangle 57">
            <a:extLst>
              <a:ext uri="{FF2B5EF4-FFF2-40B4-BE49-F238E27FC236}">
                <a16:creationId xmlns:a16="http://schemas.microsoft.com/office/drawing/2014/main" id="{5EA41391-6445-537C-761D-1BC3093DDD63}"/>
              </a:ext>
            </a:extLst>
          </p:cNvPr>
          <p:cNvSpPr/>
          <p:nvPr/>
        </p:nvSpPr>
        <p:spPr>
          <a:xfrm>
            <a:off x="9509001" y="3061609"/>
            <a:ext cx="548893" cy="54889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35B8323-D741-7080-4E72-32316470CBDC}"/>
              </a:ext>
            </a:extLst>
          </p:cNvPr>
          <p:cNvSpPr txBox="1"/>
          <p:nvPr/>
        </p:nvSpPr>
        <p:spPr>
          <a:xfrm>
            <a:off x="9575507" y="3133215"/>
            <a:ext cx="4158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Calisto MT" panose="02040603050505030304" pitchFamily="18" charset="0"/>
              </a:rPr>
              <a:t>20           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5A9C225-4377-8AC7-7CF5-55B3CD62B9C0}"/>
              </a:ext>
            </a:extLst>
          </p:cNvPr>
          <p:cNvSpPr/>
          <p:nvPr/>
        </p:nvSpPr>
        <p:spPr>
          <a:xfrm>
            <a:off x="4643053" y="2962040"/>
            <a:ext cx="1441551" cy="37239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51832767-D335-4746-1650-4DB0937FB732}"/>
              </a:ext>
            </a:extLst>
          </p:cNvPr>
          <p:cNvSpPr/>
          <p:nvPr/>
        </p:nvSpPr>
        <p:spPr>
          <a:xfrm>
            <a:off x="744796" y="3448853"/>
            <a:ext cx="3647742" cy="37239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AB9EE703-2C4A-1C00-2654-A1CE76405DE0}"/>
              </a:ext>
            </a:extLst>
          </p:cNvPr>
          <p:cNvGrpSpPr/>
          <p:nvPr/>
        </p:nvGrpSpPr>
        <p:grpSpPr>
          <a:xfrm>
            <a:off x="10749645" y="1929438"/>
            <a:ext cx="288862" cy="1120710"/>
            <a:chOff x="8534818" y="1919082"/>
            <a:chExt cx="288862" cy="1120710"/>
          </a:xfrm>
        </p:grpSpPr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A069EFCD-A315-D266-B5E2-9308DFC37CEC}"/>
                </a:ext>
              </a:extLst>
            </p:cNvPr>
            <p:cNvCxnSpPr/>
            <p:nvPr/>
          </p:nvCxnSpPr>
          <p:spPr>
            <a:xfrm>
              <a:off x="8669611" y="2252533"/>
              <a:ext cx="1" cy="787259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177AEBA3-9705-AC32-3677-DDF91FBD366C}"/>
                </a:ext>
              </a:extLst>
            </p:cNvPr>
            <p:cNvSpPr txBox="1"/>
            <p:nvPr/>
          </p:nvSpPr>
          <p:spPr>
            <a:xfrm>
              <a:off x="8534818" y="1919082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Calisto MT" panose="02040603050505030304" pitchFamily="18" charset="0"/>
                </a:rPr>
                <a:t>c</a:t>
              </a:r>
            </a:p>
          </p:txBody>
        </p:sp>
      </p:grpSp>
      <p:sp>
        <p:nvSpPr>
          <p:cNvPr id="65" name="Rectangle 64">
            <a:extLst>
              <a:ext uri="{FF2B5EF4-FFF2-40B4-BE49-F238E27FC236}">
                <a16:creationId xmlns:a16="http://schemas.microsoft.com/office/drawing/2014/main" id="{26095259-9055-1525-1FB2-D72A63DE7CD0}"/>
              </a:ext>
            </a:extLst>
          </p:cNvPr>
          <p:cNvSpPr/>
          <p:nvPr/>
        </p:nvSpPr>
        <p:spPr>
          <a:xfrm>
            <a:off x="10606786" y="3059988"/>
            <a:ext cx="548893" cy="54889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AB7E2FF-2951-D7E5-B639-4B5A9DD56750}"/>
              </a:ext>
            </a:extLst>
          </p:cNvPr>
          <p:cNvSpPr txBox="1"/>
          <p:nvPr/>
        </p:nvSpPr>
        <p:spPr>
          <a:xfrm>
            <a:off x="10687036" y="3133215"/>
            <a:ext cx="4158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Calisto MT" panose="02040603050505030304" pitchFamily="18" charset="0"/>
              </a:rPr>
              <a:t>30           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501617A7-CE19-8249-45AC-4F1626EEB7F5}"/>
              </a:ext>
            </a:extLst>
          </p:cNvPr>
          <p:cNvSpPr/>
          <p:nvPr/>
        </p:nvSpPr>
        <p:spPr>
          <a:xfrm>
            <a:off x="4643053" y="3448456"/>
            <a:ext cx="1441551" cy="37239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94060ED2-3233-FF82-D5DF-4E11C355F5B6}"/>
              </a:ext>
            </a:extLst>
          </p:cNvPr>
          <p:cNvSpPr/>
          <p:nvPr/>
        </p:nvSpPr>
        <p:spPr>
          <a:xfrm>
            <a:off x="744796" y="4031437"/>
            <a:ext cx="1287119" cy="37239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9A51E238-C837-0C46-6652-1B3304359A6D}"/>
              </a:ext>
            </a:extLst>
          </p:cNvPr>
          <p:cNvGrpSpPr/>
          <p:nvPr/>
        </p:nvGrpSpPr>
        <p:grpSpPr>
          <a:xfrm>
            <a:off x="8411214" y="3059988"/>
            <a:ext cx="548893" cy="548893"/>
            <a:chOff x="11643107" y="2158069"/>
            <a:chExt cx="548893" cy="548893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018FEE74-6683-E9C1-C254-E512CE6549FE}"/>
                </a:ext>
              </a:extLst>
            </p:cNvPr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0BABAE66-C614-3CAC-1B17-742E9C906BB6}"/>
                </a:ext>
              </a:extLst>
            </p:cNvPr>
            <p:cNvSpPr txBox="1"/>
            <p:nvPr/>
          </p:nvSpPr>
          <p:spPr>
            <a:xfrm>
              <a:off x="11709612" y="2258209"/>
              <a:ext cx="4158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dirty="0">
                  <a:latin typeface="Calisto MT" panose="02040603050505030304" pitchFamily="18" charset="0"/>
                </a:rPr>
                <a:t>30           </a:t>
              </a:r>
            </a:p>
          </p:txBody>
        </p:sp>
      </p:grpSp>
      <p:sp>
        <p:nvSpPr>
          <p:cNvPr id="72" name="Rectangle 71">
            <a:extLst>
              <a:ext uri="{FF2B5EF4-FFF2-40B4-BE49-F238E27FC236}">
                <a16:creationId xmlns:a16="http://schemas.microsoft.com/office/drawing/2014/main" id="{D9275758-A9AE-1B78-DEA7-B27D3E225307}"/>
              </a:ext>
            </a:extLst>
          </p:cNvPr>
          <p:cNvSpPr/>
          <p:nvPr/>
        </p:nvSpPr>
        <p:spPr>
          <a:xfrm>
            <a:off x="2198087" y="4031436"/>
            <a:ext cx="1656232" cy="37239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2E18042A-75BE-5C86-2DD6-D50E58312B2C}"/>
              </a:ext>
            </a:extLst>
          </p:cNvPr>
          <p:cNvGrpSpPr/>
          <p:nvPr/>
        </p:nvGrpSpPr>
        <p:grpSpPr>
          <a:xfrm>
            <a:off x="10606786" y="3058362"/>
            <a:ext cx="548893" cy="548893"/>
            <a:chOff x="11643107" y="2158069"/>
            <a:chExt cx="548893" cy="548893"/>
          </a:xfrm>
          <a:solidFill>
            <a:schemeClr val="bg2">
              <a:lumMod val="75000"/>
            </a:schemeClr>
          </a:solidFill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5E707C39-82D6-5759-DB6C-9D66E16572C9}"/>
                </a:ext>
              </a:extLst>
            </p:cNvPr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4720D4C0-095B-EAA0-C029-D925019DFB26}"/>
                </a:ext>
              </a:extLst>
            </p:cNvPr>
            <p:cNvSpPr txBox="1"/>
            <p:nvPr/>
          </p:nvSpPr>
          <p:spPr>
            <a:xfrm>
              <a:off x="11709612" y="2258209"/>
              <a:ext cx="415881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800" dirty="0">
                  <a:latin typeface="Calisto MT" panose="02040603050505030304" pitchFamily="18" charset="0"/>
                </a:rPr>
                <a:t>35           </a:t>
              </a:r>
            </a:p>
          </p:txBody>
        </p:sp>
      </p:grpSp>
      <p:sp>
        <p:nvSpPr>
          <p:cNvPr id="76" name="Rectangle 75">
            <a:extLst>
              <a:ext uri="{FF2B5EF4-FFF2-40B4-BE49-F238E27FC236}">
                <a16:creationId xmlns:a16="http://schemas.microsoft.com/office/drawing/2014/main" id="{31320388-7742-B933-42EE-3C750970CB87}"/>
              </a:ext>
            </a:extLst>
          </p:cNvPr>
          <p:cNvSpPr/>
          <p:nvPr/>
        </p:nvSpPr>
        <p:spPr>
          <a:xfrm>
            <a:off x="4170177" y="4029258"/>
            <a:ext cx="1124388" cy="37239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EA67CE26-5926-4CF5-2E71-AA2F8268E68C}"/>
              </a:ext>
            </a:extLst>
          </p:cNvPr>
          <p:cNvGrpSpPr/>
          <p:nvPr/>
        </p:nvGrpSpPr>
        <p:grpSpPr>
          <a:xfrm>
            <a:off x="8833298" y="2248917"/>
            <a:ext cx="1102595" cy="799422"/>
            <a:chOff x="8833298" y="2248917"/>
            <a:chExt cx="1102595" cy="799422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F64D5255-A3B9-D0A7-4E6A-790547CA00A2}"/>
                </a:ext>
              </a:extLst>
            </p:cNvPr>
            <p:cNvSpPr/>
            <p:nvPr/>
          </p:nvSpPr>
          <p:spPr>
            <a:xfrm>
              <a:off x="9634207" y="2248917"/>
              <a:ext cx="301686" cy="79942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2C5F1112-447D-8BF0-E034-782086C3CD53}"/>
                </a:ext>
              </a:extLst>
            </p:cNvPr>
            <p:cNvCxnSpPr/>
            <p:nvPr/>
          </p:nvCxnSpPr>
          <p:spPr>
            <a:xfrm flipH="1">
              <a:off x="8833298" y="2248917"/>
              <a:ext cx="933377" cy="790875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0" name="Rectangle 79">
            <a:extLst>
              <a:ext uri="{FF2B5EF4-FFF2-40B4-BE49-F238E27FC236}">
                <a16:creationId xmlns:a16="http://schemas.microsoft.com/office/drawing/2014/main" id="{36C85AC0-E445-31A7-81C5-6FA5DDC28AE4}"/>
              </a:ext>
            </a:extLst>
          </p:cNvPr>
          <p:cNvSpPr/>
          <p:nvPr/>
        </p:nvSpPr>
        <p:spPr>
          <a:xfrm>
            <a:off x="5508951" y="4029248"/>
            <a:ext cx="1124388" cy="37239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409D4A4F-592D-E97F-CE0B-01A3FACA06C5}"/>
              </a:ext>
            </a:extLst>
          </p:cNvPr>
          <p:cNvGrpSpPr/>
          <p:nvPr/>
        </p:nvGrpSpPr>
        <p:grpSpPr>
          <a:xfrm>
            <a:off x="8477719" y="2248917"/>
            <a:ext cx="2259083" cy="790875"/>
            <a:chOff x="8477719" y="2248917"/>
            <a:chExt cx="2259083" cy="790875"/>
          </a:xfrm>
        </p:grpSpPr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039A2540-5EEE-EAC9-E14C-630D4DDD542F}"/>
                </a:ext>
              </a:extLst>
            </p:cNvPr>
            <p:cNvSpPr/>
            <p:nvPr/>
          </p:nvSpPr>
          <p:spPr>
            <a:xfrm>
              <a:off x="8477719" y="2248917"/>
              <a:ext cx="290266" cy="7908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0BB7C3A8-B6E4-EB9F-3434-572B5EB15DCD}"/>
                </a:ext>
              </a:extLst>
            </p:cNvPr>
            <p:cNvCxnSpPr/>
            <p:nvPr/>
          </p:nvCxnSpPr>
          <p:spPr>
            <a:xfrm>
              <a:off x="8662050" y="2255464"/>
              <a:ext cx="2074752" cy="784328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4" name="Rectangle 83">
            <a:extLst>
              <a:ext uri="{FF2B5EF4-FFF2-40B4-BE49-F238E27FC236}">
                <a16:creationId xmlns:a16="http://schemas.microsoft.com/office/drawing/2014/main" id="{8362D7C1-36E4-5ACD-BBC1-34559E9F746E}"/>
              </a:ext>
            </a:extLst>
          </p:cNvPr>
          <p:cNvSpPr/>
          <p:nvPr/>
        </p:nvSpPr>
        <p:spPr>
          <a:xfrm>
            <a:off x="744168" y="4473612"/>
            <a:ext cx="1742657" cy="37239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227125A1-A52F-9A14-994A-BF0B355B0292}"/>
              </a:ext>
            </a:extLst>
          </p:cNvPr>
          <p:cNvGrpSpPr/>
          <p:nvPr/>
        </p:nvGrpSpPr>
        <p:grpSpPr>
          <a:xfrm>
            <a:off x="8405235" y="3061747"/>
            <a:ext cx="548893" cy="548893"/>
            <a:chOff x="11643107" y="2158069"/>
            <a:chExt cx="548893" cy="548893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6FDE10FA-AFA9-B549-6012-8A64DA8A28B9}"/>
                </a:ext>
              </a:extLst>
            </p:cNvPr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70E0AFDB-22D8-5C3C-A891-C1B27AC125B6}"/>
                </a:ext>
              </a:extLst>
            </p:cNvPr>
            <p:cNvSpPr txBox="1"/>
            <p:nvPr/>
          </p:nvSpPr>
          <p:spPr>
            <a:xfrm>
              <a:off x="11709612" y="2258209"/>
              <a:ext cx="415881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800" dirty="0">
                  <a:latin typeface="Calisto MT" panose="02040603050505030304" pitchFamily="18" charset="0"/>
                </a:rPr>
                <a:t>70           </a:t>
              </a:r>
            </a:p>
          </p:txBody>
        </p:sp>
      </p:grpSp>
      <p:sp>
        <p:nvSpPr>
          <p:cNvPr id="88" name="Rectangle 87">
            <a:extLst>
              <a:ext uri="{FF2B5EF4-FFF2-40B4-BE49-F238E27FC236}">
                <a16:creationId xmlns:a16="http://schemas.microsoft.com/office/drawing/2014/main" id="{4302D831-6064-1D3F-5E4B-642ADB164F32}"/>
              </a:ext>
            </a:extLst>
          </p:cNvPr>
          <p:cNvSpPr/>
          <p:nvPr/>
        </p:nvSpPr>
        <p:spPr>
          <a:xfrm>
            <a:off x="2688105" y="4480523"/>
            <a:ext cx="1124388" cy="37239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4E63D18E-BF35-CF8A-FA2F-62EDCB9A9F48}"/>
              </a:ext>
            </a:extLst>
          </p:cNvPr>
          <p:cNvGrpSpPr/>
          <p:nvPr/>
        </p:nvGrpSpPr>
        <p:grpSpPr>
          <a:xfrm>
            <a:off x="8622852" y="2248917"/>
            <a:ext cx="2474142" cy="799422"/>
            <a:chOff x="8622852" y="2248917"/>
            <a:chExt cx="2474142" cy="799422"/>
          </a:xfrm>
        </p:grpSpPr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7991D1EE-E4FD-8159-449C-ECB7A6854746}"/>
                </a:ext>
              </a:extLst>
            </p:cNvPr>
            <p:cNvSpPr/>
            <p:nvPr/>
          </p:nvSpPr>
          <p:spPr>
            <a:xfrm>
              <a:off x="10757467" y="2248917"/>
              <a:ext cx="339527" cy="79942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F175CDCA-39C2-78AD-69B1-BC4753A164E5}"/>
                </a:ext>
              </a:extLst>
            </p:cNvPr>
            <p:cNvCxnSpPr>
              <a:endCxn id="82" idx="2"/>
            </p:cNvCxnSpPr>
            <p:nvPr/>
          </p:nvCxnSpPr>
          <p:spPr>
            <a:xfrm flipH="1">
              <a:off x="8622852" y="2261837"/>
              <a:ext cx="2267592" cy="777955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2" name="Rectangle 91">
            <a:extLst>
              <a:ext uri="{FF2B5EF4-FFF2-40B4-BE49-F238E27FC236}">
                <a16:creationId xmlns:a16="http://schemas.microsoft.com/office/drawing/2014/main" id="{5488E1FF-69FB-73B3-585D-B010CBBE8ED0}"/>
              </a:ext>
            </a:extLst>
          </p:cNvPr>
          <p:cNvSpPr/>
          <p:nvPr/>
        </p:nvSpPr>
        <p:spPr>
          <a:xfrm>
            <a:off x="748605" y="5010205"/>
            <a:ext cx="3930903" cy="37239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AA313907-07EF-C67E-7890-251D7A3C015D}"/>
              </a:ext>
            </a:extLst>
          </p:cNvPr>
          <p:cNvSpPr txBox="1"/>
          <p:nvPr/>
        </p:nvSpPr>
        <p:spPr>
          <a:xfrm>
            <a:off x="744168" y="5436733"/>
            <a:ext cx="3898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0"/>
              </a:rPr>
              <a:t>*a = 35,  *b = 70,  *c = 70</a:t>
            </a:r>
          </a:p>
        </p:txBody>
      </p:sp>
    </p:spTree>
    <p:extLst>
      <p:ext uri="{BB962C8B-B14F-4D97-AF65-F5344CB8AC3E}">
        <p14:creationId xmlns:p14="http://schemas.microsoft.com/office/powerpoint/2010/main" val="2399365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 animBg="1"/>
      <p:bldP spid="48" grpId="0" animBg="1"/>
      <p:bldP spid="52" grpId="0" animBg="1"/>
      <p:bldP spid="53" grpId="0"/>
      <p:bldP spid="54" grpId="0" animBg="1"/>
      <p:bldP spid="58" grpId="0" animBg="1"/>
      <p:bldP spid="59" grpId="0"/>
      <p:bldP spid="60" grpId="0" animBg="1"/>
      <p:bldP spid="61" grpId="0" animBg="1"/>
      <p:bldP spid="65" grpId="0" animBg="1"/>
      <p:bldP spid="66" grpId="0"/>
      <p:bldP spid="67" grpId="0" animBg="1"/>
      <p:bldP spid="68" grpId="0" animBg="1"/>
      <p:bldP spid="72" grpId="0" animBg="1"/>
      <p:bldP spid="76" grpId="0" animBg="1"/>
      <p:bldP spid="80" grpId="0" animBg="1"/>
      <p:bldP spid="84" grpId="0" animBg="1"/>
      <p:bldP spid="88" grpId="0" animBg="1"/>
      <p:bldP spid="92" grpId="0" animBg="1"/>
      <p:bldP spid="9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C1E8D-C2B4-8324-E5EE-EBE7B6819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0FE799-728F-D00D-6EF4-65FF59699AE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CA62E38-59FD-451F-9AA6-B569CE35F9BD}" type="datetime4">
              <a:rPr lang="en-US" smtClean="0"/>
              <a:t>March 6,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6FD3DB-AF8C-72EE-51A4-662FD617BB1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Prepared By: Swapnil Biswas, CSE, BSMRU, Kishoreganj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AA4F8F-405B-CE4E-937C-4ABD4B06BAB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F5B8C5D-8F40-3DAC-6DBB-7ED9559C2022}"/>
              </a:ext>
            </a:extLst>
          </p:cNvPr>
          <p:cNvSpPr txBox="1">
            <a:spLocks/>
          </p:cNvSpPr>
          <p:nvPr/>
        </p:nvSpPr>
        <p:spPr>
          <a:xfrm>
            <a:off x="1097280" y="1845735"/>
            <a:ext cx="1905757" cy="2145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1800">
                <a:latin typeface="Calisto MT" panose="02040603050505030304" pitchFamily="18" charset="0"/>
              </a:rPr>
              <a:t>struct node{</a:t>
            </a:r>
          </a:p>
          <a:p>
            <a:pPr marL="0" indent="0">
              <a:buFont typeface="Arial"/>
              <a:buNone/>
            </a:pPr>
            <a:r>
              <a:rPr lang="en-US" sz="1800">
                <a:latin typeface="Calisto MT" panose="02040603050505030304" pitchFamily="18" charset="0"/>
              </a:rPr>
              <a:t>    </a:t>
            </a:r>
          </a:p>
          <a:p>
            <a:pPr marL="0" indent="0">
              <a:buFont typeface="Arial"/>
              <a:buNone/>
            </a:pPr>
            <a:r>
              <a:rPr lang="en-US" sz="1800">
                <a:latin typeface="Calisto MT" panose="02040603050505030304" pitchFamily="18" charset="0"/>
              </a:rPr>
              <a:t>    </a:t>
            </a:r>
          </a:p>
          <a:p>
            <a:pPr marL="0" indent="0">
              <a:buFont typeface="Arial"/>
              <a:buNone/>
            </a:pPr>
            <a:r>
              <a:rPr lang="en-US" sz="1800">
                <a:latin typeface="Calisto MT" panose="02040603050505030304" pitchFamily="18" charset="0"/>
              </a:rPr>
              <a:t>    </a:t>
            </a:r>
          </a:p>
          <a:p>
            <a:pPr marL="0" indent="0">
              <a:buFont typeface="Arial"/>
              <a:buNone/>
            </a:pPr>
            <a:r>
              <a:rPr lang="en-US" sz="1800">
                <a:latin typeface="Calisto MT" panose="02040603050505030304" pitchFamily="18" charset="0"/>
              </a:rPr>
              <a:t>};</a:t>
            </a:r>
            <a:endParaRPr lang="en-US" sz="1800" dirty="0">
              <a:latin typeface="Calisto MT" panose="0204060305050503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BD00C9-5F33-E465-AB13-F6FB4EFEB0E6}"/>
              </a:ext>
            </a:extLst>
          </p:cNvPr>
          <p:cNvSpPr txBox="1"/>
          <p:nvPr/>
        </p:nvSpPr>
        <p:spPr>
          <a:xfrm>
            <a:off x="1535716" y="2277829"/>
            <a:ext cx="631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>
                <a:latin typeface="Calisto MT" panose="02040603050505030304" pitchFamily="18" charset="0"/>
              </a:rPr>
              <a:t>int</a:t>
            </a:r>
            <a:r>
              <a:rPr lang="en-US" sz="1800" dirty="0">
                <a:latin typeface="Calisto MT" panose="02040603050505030304" pitchFamily="18" charset="0"/>
              </a:rPr>
              <a:t> </a:t>
            </a:r>
            <a:r>
              <a:rPr lang="en-US" sz="1800" dirty="0" err="1">
                <a:latin typeface="Calisto MT" panose="02040603050505030304" pitchFamily="18" charset="0"/>
              </a:rPr>
              <a:t>i</a:t>
            </a:r>
            <a:r>
              <a:rPr lang="en-US" sz="1800" dirty="0">
                <a:latin typeface="Calisto MT" panose="02040603050505030304" pitchFamily="18" charset="0"/>
              </a:rPr>
              <a:t>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0DD422-06F1-A79F-1F27-84A84F821379}"/>
              </a:ext>
            </a:extLst>
          </p:cNvPr>
          <p:cNvSpPr txBox="1"/>
          <p:nvPr/>
        </p:nvSpPr>
        <p:spPr>
          <a:xfrm>
            <a:off x="1502834" y="2712325"/>
            <a:ext cx="1095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sto MT" panose="02040603050505030304" pitchFamily="18" charset="0"/>
              </a:rPr>
              <a:t>double d;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509C83-2A60-C0A4-A1B0-0F2003008387}"/>
              </a:ext>
            </a:extLst>
          </p:cNvPr>
          <p:cNvSpPr txBox="1"/>
          <p:nvPr/>
        </p:nvSpPr>
        <p:spPr>
          <a:xfrm>
            <a:off x="1502834" y="3140906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sto MT" panose="02040603050505030304" pitchFamily="18" charset="0"/>
              </a:rPr>
              <a:t>char c;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16E611-3EBE-BC1D-857A-56BEF35547BD}"/>
              </a:ext>
            </a:extLst>
          </p:cNvPr>
          <p:cNvSpPr txBox="1"/>
          <p:nvPr/>
        </p:nvSpPr>
        <p:spPr>
          <a:xfrm>
            <a:off x="826472" y="3930634"/>
            <a:ext cx="7497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0"/>
              </a:rPr>
              <a:t>When we define a structure it does not take any space in the memory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F7D90E-936A-4952-D3B8-D80EAB888CE6}"/>
              </a:ext>
            </a:extLst>
          </p:cNvPr>
          <p:cNvSpPr txBox="1"/>
          <p:nvPr/>
        </p:nvSpPr>
        <p:spPr>
          <a:xfrm>
            <a:off x="826472" y="4299966"/>
            <a:ext cx="7497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0"/>
              </a:rPr>
              <a:t>When we declare a variable of node type, then it takes space in memory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99B202-73D1-5B64-3EAF-963E538F3823}"/>
              </a:ext>
            </a:extLst>
          </p:cNvPr>
          <p:cNvSpPr txBox="1"/>
          <p:nvPr/>
        </p:nvSpPr>
        <p:spPr>
          <a:xfrm>
            <a:off x="826472" y="4661086"/>
            <a:ext cx="5608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0"/>
              </a:rPr>
              <a:t>So, now we will take a variable of node                       </a:t>
            </a:r>
            <a:r>
              <a:rPr lang="en-US" sz="1800" dirty="0" err="1">
                <a:latin typeface="Calisto MT" panose="02040603050505030304" pitchFamily="18" charset="0"/>
              </a:rPr>
              <a:t>node</a:t>
            </a:r>
            <a:r>
              <a:rPr lang="en-US" sz="1800" dirty="0">
                <a:latin typeface="Calisto MT" panose="02040603050505030304" pitchFamily="18" charset="0"/>
              </a:rPr>
              <a:t>  x;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5179406-4E9C-7540-15EA-328AEEF7E991}"/>
              </a:ext>
            </a:extLst>
          </p:cNvPr>
          <p:cNvGrpSpPr/>
          <p:nvPr/>
        </p:nvGrpSpPr>
        <p:grpSpPr>
          <a:xfrm>
            <a:off x="8411215" y="3061613"/>
            <a:ext cx="2744465" cy="2744456"/>
            <a:chOff x="8135597" y="2832311"/>
            <a:chExt cx="2744465" cy="2744456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DE63718-CD53-3C97-A5E1-1F06B23438C6}"/>
                </a:ext>
              </a:extLst>
            </p:cNvPr>
            <p:cNvSpPr/>
            <p:nvPr/>
          </p:nvSpPr>
          <p:spPr>
            <a:xfrm>
              <a:off x="8135597" y="2832315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090AF54-6503-408D-7AFC-ACC85D29BB77}"/>
                </a:ext>
              </a:extLst>
            </p:cNvPr>
            <p:cNvSpPr/>
            <p:nvPr/>
          </p:nvSpPr>
          <p:spPr>
            <a:xfrm>
              <a:off x="8684490" y="2832314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92DBA6E-A9AD-2FD2-770F-896393D343B8}"/>
                </a:ext>
              </a:extLst>
            </p:cNvPr>
            <p:cNvSpPr/>
            <p:nvPr/>
          </p:nvSpPr>
          <p:spPr>
            <a:xfrm>
              <a:off x="9233383" y="2832313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B8966A1-5624-8DB2-0776-69B4795E107A}"/>
                </a:ext>
              </a:extLst>
            </p:cNvPr>
            <p:cNvSpPr/>
            <p:nvPr/>
          </p:nvSpPr>
          <p:spPr>
            <a:xfrm>
              <a:off x="9782276" y="2832312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0CBEDA8-406B-D524-7F71-6067CAE63D5E}"/>
                </a:ext>
              </a:extLst>
            </p:cNvPr>
            <p:cNvSpPr/>
            <p:nvPr/>
          </p:nvSpPr>
          <p:spPr>
            <a:xfrm>
              <a:off x="10331169" y="2832311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7C00256-B976-E27D-F718-4C50C34ACE22}"/>
                </a:ext>
              </a:extLst>
            </p:cNvPr>
            <p:cNvSpPr/>
            <p:nvPr/>
          </p:nvSpPr>
          <p:spPr>
            <a:xfrm>
              <a:off x="8135597" y="3381208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18F044F-3CD5-8718-3330-EDEA0FF23609}"/>
                </a:ext>
              </a:extLst>
            </p:cNvPr>
            <p:cNvSpPr/>
            <p:nvPr/>
          </p:nvSpPr>
          <p:spPr>
            <a:xfrm>
              <a:off x="8684490" y="3381207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9CC33CE-7418-83A9-0BDD-D7D2C8D9B514}"/>
                </a:ext>
              </a:extLst>
            </p:cNvPr>
            <p:cNvSpPr/>
            <p:nvPr/>
          </p:nvSpPr>
          <p:spPr>
            <a:xfrm>
              <a:off x="9233383" y="3381206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26CE16B-0254-6868-EB11-F126D0289692}"/>
                </a:ext>
              </a:extLst>
            </p:cNvPr>
            <p:cNvSpPr/>
            <p:nvPr/>
          </p:nvSpPr>
          <p:spPr>
            <a:xfrm>
              <a:off x="9782276" y="3381205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61DE23D-CC62-8A65-5972-2C792AE0EE50}"/>
                </a:ext>
              </a:extLst>
            </p:cNvPr>
            <p:cNvSpPr/>
            <p:nvPr/>
          </p:nvSpPr>
          <p:spPr>
            <a:xfrm>
              <a:off x="10331169" y="3381204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71C9060-39B1-2D49-EEEC-DEC8C99B519B}"/>
                </a:ext>
              </a:extLst>
            </p:cNvPr>
            <p:cNvSpPr/>
            <p:nvPr/>
          </p:nvSpPr>
          <p:spPr>
            <a:xfrm>
              <a:off x="8135597" y="3930097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3DBBF3A-433E-9D97-531B-DD62CBBE18FD}"/>
                </a:ext>
              </a:extLst>
            </p:cNvPr>
            <p:cNvSpPr/>
            <p:nvPr/>
          </p:nvSpPr>
          <p:spPr>
            <a:xfrm>
              <a:off x="8684490" y="3930096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3847039B-1059-DAA0-2BF7-11893F3AC63A}"/>
                </a:ext>
              </a:extLst>
            </p:cNvPr>
            <p:cNvSpPr/>
            <p:nvPr/>
          </p:nvSpPr>
          <p:spPr>
            <a:xfrm>
              <a:off x="9233383" y="3930095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DC043E5-39C1-5CEE-6329-3D988246439F}"/>
                </a:ext>
              </a:extLst>
            </p:cNvPr>
            <p:cNvSpPr/>
            <p:nvPr/>
          </p:nvSpPr>
          <p:spPr>
            <a:xfrm>
              <a:off x="9782276" y="3930094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AF76938B-569D-198A-6272-CE0A61710A13}"/>
                </a:ext>
              </a:extLst>
            </p:cNvPr>
            <p:cNvSpPr/>
            <p:nvPr/>
          </p:nvSpPr>
          <p:spPr>
            <a:xfrm>
              <a:off x="10331169" y="3930093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6863F3B-9C78-103D-1F6B-5473DA85E99D}"/>
                </a:ext>
              </a:extLst>
            </p:cNvPr>
            <p:cNvSpPr/>
            <p:nvPr/>
          </p:nvSpPr>
          <p:spPr>
            <a:xfrm>
              <a:off x="8135597" y="4478990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8A8B8E0D-279D-2C32-3F93-62C38E7B5B54}"/>
                </a:ext>
              </a:extLst>
            </p:cNvPr>
            <p:cNvSpPr/>
            <p:nvPr/>
          </p:nvSpPr>
          <p:spPr>
            <a:xfrm>
              <a:off x="8684490" y="4478989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5B1011B-F1C7-EB7C-7862-55FB01E902D9}"/>
                </a:ext>
              </a:extLst>
            </p:cNvPr>
            <p:cNvSpPr/>
            <p:nvPr/>
          </p:nvSpPr>
          <p:spPr>
            <a:xfrm>
              <a:off x="9233383" y="4478988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BDDB393E-5474-D3EE-D7F6-7907EE25A64E}"/>
                </a:ext>
              </a:extLst>
            </p:cNvPr>
            <p:cNvSpPr/>
            <p:nvPr/>
          </p:nvSpPr>
          <p:spPr>
            <a:xfrm>
              <a:off x="9782276" y="4478987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A723AF37-3B1A-1859-37EE-1C40C026A2F1}"/>
                </a:ext>
              </a:extLst>
            </p:cNvPr>
            <p:cNvSpPr/>
            <p:nvPr/>
          </p:nvSpPr>
          <p:spPr>
            <a:xfrm>
              <a:off x="10331169" y="4478986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78E334F2-5B38-CA8F-79D5-EE941A888448}"/>
                </a:ext>
              </a:extLst>
            </p:cNvPr>
            <p:cNvSpPr/>
            <p:nvPr/>
          </p:nvSpPr>
          <p:spPr>
            <a:xfrm>
              <a:off x="8135597" y="5027874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CF9E608D-BE7D-2973-0E11-FFEE00C85516}"/>
                </a:ext>
              </a:extLst>
            </p:cNvPr>
            <p:cNvSpPr/>
            <p:nvPr/>
          </p:nvSpPr>
          <p:spPr>
            <a:xfrm>
              <a:off x="8684490" y="5027873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EA2D781-C5A3-E1B1-77F0-9A844D8FAEB8}"/>
                </a:ext>
              </a:extLst>
            </p:cNvPr>
            <p:cNvSpPr/>
            <p:nvPr/>
          </p:nvSpPr>
          <p:spPr>
            <a:xfrm>
              <a:off x="9233383" y="5027872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F031A5E3-DC0C-6A82-8834-98AC04D01B54}"/>
                </a:ext>
              </a:extLst>
            </p:cNvPr>
            <p:cNvSpPr/>
            <p:nvPr/>
          </p:nvSpPr>
          <p:spPr>
            <a:xfrm>
              <a:off x="9782276" y="5027871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5698F73E-FDB6-495A-4D26-7A02481E133C}"/>
                </a:ext>
              </a:extLst>
            </p:cNvPr>
            <p:cNvSpPr/>
            <p:nvPr/>
          </p:nvSpPr>
          <p:spPr>
            <a:xfrm>
              <a:off x="10331169" y="5027870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08272A5-DD2A-DD08-D0EF-BF6E79778AF9}"/>
              </a:ext>
            </a:extLst>
          </p:cNvPr>
          <p:cNvGrpSpPr/>
          <p:nvPr/>
        </p:nvGrpSpPr>
        <p:grpSpPr>
          <a:xfrm>
            <a:off x="8411212" y="3057814"/>
            <a:ext cx="548893" cy="548893"/>
            <a:chOff x="11643107" y="2158069"/>
            <a:chExt cx="548893" cy="548893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68C00ACD-FB27-20DE-DA2D-EFCF777E0F82}"/>
                </a:ext>
              </a:extLst>
            </p:cNvPr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C9321F7-CD52-D6E2-349A-173CC47383C6}"/>
                </a:ext>
              </a:extLst>
            </p:cNvPr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800" dirty="0" err="1">
                  <a:latin typeface="Calisto MT" panose="02040603050505030304" pitchFamily="18" charset="0"/>
                </a:rPr>
                <a:t>i</a:t>
              </a:r>
              <a:r>
                <a:rPr lang="en-US" sz="1800" dirty="0">
                  <a:latin typeface="Calisto MT" panose="02040603050505030304" pitchFamily="18" charset="0"/>
                </a:rPr>
                <a:t>           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31DB72A-12BB-8EFA-F7FD-47A3172911E8}"/>
              </a:ext>
            </a:extLst>
          </p:cNvPr>
          <p:cNvGrpSpPr/>
          <p:nvPr/>
        </p:nvGrpSpPr>
        <p:grpSpPr>
          <a:xfrm>
            <a:off x="8960106" y="3057814"/>
            <a:ext cx="548893" cy="548893"/>
            <a:chOff x="11643107" y="2158069"/>
            <a:chExt cx="548893" cy="548893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FB3915FC-7ECD-629C-2FD4-C15781B0350A}"/>
                </a:ext>
              </a:extLst>
            </p:cNvPr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BA9E786-DA49-8914-BC00-284641422F24}"/>
                </a:ext>
              </a:extLst>
            </p:cNvPr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800" dirty="0">
                  <a:latin typeface="Calisto MT" panose="02040603050505030304" pitchFamily="18" charset="0"/>
                </a:rPr>
                <a:t>d           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54D1CAC6-5426-30B5-9845-FB934517771C}"/>
              </a:ext>
            </a:extLst>
          </p:cNvPr>
          <p:cNvGrpSpPr/>
          <p:nvPr/>
        </p:nvGrpSpPr>
        <p:grpSpPr>
          <a:xfrm>
            <a:off x="9509000" y="3057814"/>
            <a:ext cx="548893" cy="548893"/>
            <a:chOff x="11643107" y="2158069"/>
            <a:chExt cx="548893" cy="548893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B5234955-4032-DD3E-5B59-83B8F4A4448F}"/>
                </a:ext>
              </a:extLst>
            </p:cNvPr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D366E1C2-0FC2-D1E9-3768-F648EE0619E4}"/>
                </a:ext>
              </a:extLst>
            </p:cNvPr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800" dirty="0">
                  <a:latin typeface="Calisto MT" panose="02040603050505030304" pitchFamily="18" charset="0"/>
                </a:rPr>
                <a:t>c           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D12F225A-3E11-D146-A902-E3F7CA541958}"/>
              </a:ext>
            </a:extLst>
          </p:cNvPr>
          <p:cNvGrpSpPr/>
          <p:nvPr/>
        </p:nvGrpSpPr>
        <p:grpSpPr>
          <a:xfrm>
            <a:off x="8411211" y="2643061"/>
            <a:ext cx="1649827" cy="381386"/>
            <a:chOff x="6717765" y="1444239"/>
            <a:chExt cx="2750762" cy="381386"/>
          </a:xfrm>
        </p:grpSpPr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D6B9C356-9D13-A1F6-66BA-B20E225CC7BB}"/>
                </a:ext>
              </a:extLst>
            </p:cNvPr>
            <p:cNvCxnSpPr/>
            <p:nvPr/>
          </p:nvCxnSpPr>
          <p:spPr>
            <a:xfrm>
              <a:off x="6717765" y="1616100"/>
              <a:ext cx="0" cy="19908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FADC2BF8-EAFC-7266-ED67-10BF05D50C29}"/>
                </a:ext>
              </a:extLst>
            </p:cNvPr>
            <p:cNvCxnSpPr/>
            <p:nvPr/>
          </p:nvCxnSpPr>
          <p:spPr>
            <a:xfrm>
              <a:off x="6717765" y="1616100"/>
              <a:ext cx="275076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91013809-07B5-21CF-4D1D-E589424A3F73}"/>
                </a:ext>
              </a:extLst>
            </p:cNvPr>
            <p:cNvCxnSpPr/>
            <p:nvPr/>
          </p:nvCxnSpPr>
          <p:spPr>
            <a:xfrm>
              <a:off x="9468527" y="1616100"/>
              <a:ext cx="0" cy="20952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62A34FB6-6069-A901-EBC8-C297019F81AC}"/>
                </a:ext>
              </a:extLst>
            </p:cNvPr>
            <p:cNvCxnSpPr/>
            <p:nvPr/>
          </p:nvCxnSpPr>
          <p:spPr>
            <a:xfrm>
              <a:off x="8093146" y="1444239"/>
              <a:ext cx="0" cy="17186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BC026AAC-0163-BCEB-5CEB-57D909AEEDF4}"/>
              </a:ext>
            </a:extLst>
          </p:cNvPr>
          <p:cNvSpPr txBox="1"/>
          <p:nvPr/>
        </p:nvSpPr>
        <p:spPr>
          <a:xfrm>
            <a:off x="9082106" y="2312441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sto MT" panose="02040603050505030304" pitchFamily="18" charset="0"/>
              </a:rPr>
              <a:t>x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5C8A99D-54C5-50A9-C9F7-07DD10865599}"/>
              </a:ext>
            </a:extLst>
          </p:cNvPr>
          <p:cNvSpPr txBox="1"/>
          <p:nvPr/>
        </p:nvSpPr>
        <p:spPr>
          <a:xfrm>
            <a:off x="826472" y="5268947"/>
            <a:ext cx="5608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0"/>
              </a:rPr>
              <a:t>Now it will take space in memory</a:t>
            </a:r>
          </a:p>
        </p:txBody>
      </p:sp>
    </p:spTree>
    <p:extLst>
      <p:ext uri="{BB962C8B-B14F-4D97-AF65-F5344CB8AC3E}">
        <p14:creationId xmlns:p14="http://schemas.microsoft.com/office/powerpoint/2010/main" val="2089243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  <p:bldP spid="54" grpId="0"/>
      <p:bldP spid="5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253C2-DE6B-CA42-E126-B3C7FDC46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Accessing Structure Elements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8F87CE-8417-0EA5-3179-1E8CBA80977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CA62E38-59FD-451F-9AA6-B569CE35F9BD}" type="datetime4">
              <a:rPr lang="en-US" smtClean="0"/>
              <a:t>March 6,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BFC77F-FB20-E26F-B877-9857C8936A1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Prepared By: Swapnil Biswas, CSE, BSMRU, Kishoreganj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4D8D3D-624C-5D56-6FB2-71B0E553B62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7093FE-6CDA-8E03-991E-DAFA7D61A1E7}"/>
              </a:ext>
            </a:extLst>
          </p:cNvPr>
          <p:cNvSpPr txBox="1"/>
          <p:nvPr/>
        </p:nvSpPr>
        <p:spPr>
          <a:xfrm>
            <a:off x="840731" y="1834827"/>
            <a:ext cx="3167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>
                <a:latin typeface="Calisto MT" panose="02040603050505030304" pitchFamily="18" charset="0"/>
              </a:rPr>
              <a:t>x.i</a:t>
            </a:r>
            <a:r>
              <a:rPr lang="en-US" sz="1800" dirty="0">
                <a:latin typeface="Calisto MT" panose="02040603050505030304" pitchFamily="18" charset="0"/>
              </a:rPr>
              <a:t> = 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2C6123-7BA9-E9D3-2F9B-35D5966121DA}"/>
              </a:ext>
            </a:extLst>
          </p:cNvPr>
          <p:cNvSpPr txBox="1"/>
          <p:nvPr/>
        </p:nvSpPr>
        <p:spPr>
          <a:xfrm>
            <a:off x="840731" y="2298956"/>
            <a:ext cx="5608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>
                <a:latin typeface="Calisto MT" panose="02040603050505030304" pitchFamily="18" charset="0"/>
              </a:rPr>
              <a:t>x.d</a:t>
            </a:r>
            <a:r>
              <a:rPr lang="en-US" sz="1800" dirty="0">
                <a:latin typeface="Calisto MT" panose="02040603050505030304" pitchFamily="18" charset="0"/>
              </a:rPr>
              <a:t> = 10.0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EECEB3-1014-9893-8AE3-DF9009C99F79}"/>
              </a:ext>
            </a:extLst>
          </p:cNvPr>
          <p:cNvSpPr txBox="1"/>
          <p:nvPr/>
        </p:nvSpPr>
        <p:spPr>
          <a:xfrm>
            <a:off x="840731" y="2833260"/>
            <a:ext cx="5608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>
                <a:latin typeface="Calisto MT" panose="02040603050505030304" pitchFamily="18" charset="0"/>
              </a:rPr>
              <a:t>x.c</a:t>
            </a:r>
            <a:r>
              <a:rPr lang="en-US" sz="1800" dirty="0">
                <a:latin typeface="Calisto MT" panose="02040603050505030304" pitchFamily="18" charset="0"/>
              </a:rPr>
              <a:t> = ‘s’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F89CB81-222D-EA92-3321-73453923764A}"/>
              </a:ext>
            </a:extLst>
          </p:cNvPr>
          <p:cNvGrpSpPr/>
          <p:nvPr/>
        </p:nvGrpSpPr>
        <p:grpSpPr>
          <a:xfrm>
            <a:off x="8411215" y="3061613"/>
            <a:ext cx="2744465" cy="2744456"/>
            <a:chOff x="8135597" y="2832311"/>
            <a:chExt cx="2744465" cy="274445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3B2FD55-76FE-147C-CA48-C168F34F9D2E}"/>
                </a:ext>
              </a:extLst>
            </p:cNvPr>
            <p:cNvSpPr/>
            <p:nvPr/>
          </p:nvSpPr>
          <p:spPr>
            <a:xfrm>
              <a:off x="8135597" y="2832315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44C6FFA-1A7B-E086-0A3F-52DE25569C95}"/>
                </a:ext>
              </a:extLst>
            </p:cNvPr>
            <p:cNvSpPr/>
            <p:nvPr/>
          </p:nvSpPr>
          <p:spPr>
            <a:xfrm>
              <a:off x="8684490" y="2832314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8A2A1F3-607F-05DD-53E5-E636A2D1E257}"/>
                </a:ext>
              </a:extLst>
            </p:cNvPr>
            <p:cNvSpPr/>
            <p:nvPr/>
          </p:nvSpPr>
          <p:spPr>
            <a:xfrm>
              <a:off x="9233383" y="2832313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BC48E0B-2375-2D52-C9BF-E7EF2A06D7A5}"/>
                </a:ext>
              </a:extLst>
            </p:cNvPr>
            <p:cNvSpPr/>
            <p:nvPr/>
          </p:nvSpPr>
          <p:spPr>
            <a:xfrm>
              <a:off x="9782276" y="2832312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8C5584A-98BC-B14A-5ADA-CEB310074270}"/>
                </a:ext>
              </a:extLst>
            </p:cNvPr>
            <p:cNvSpPr/>
            <p:nvPr/>
          </p:nvSpPr>
          <p:spPr>
            <a:xfrm>
              <a:off x="10331169" y="2832311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A6FD89A-9AFE-F81E-07B9-2E7459A84826}"/>
                </a:ext>
              </a:extLst>
            </p:cNvPr>
            <p:cNvSpPr/>
            <p:nvPr/>
          </p:nvSpPr>
          <p:spPr>
            <a:xfrm>
              <a:off x="8135597" y="3381208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E5FCCBE-3598-1070-3205-26D4DDD7D334}"/>
                </a:ext>
              </a:extLst>
            </p:cNvPr>
            <p:cNvSpPr/>
            <p:nvPr/>
          </p:nvSpPr>
          <p:spPr>
            <a:xfrm>
              <a:off x="8684490" y="3381207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C2A0A09-4764-D322-7756-4D9FE16136D0}"/>
                </a:ext>
              </a:extLst>
            </p:cNvPr>
            <p:cNvSpPr/>
            <p:nvPr/>
          </p:nvSpPr>
          <p:spPr>
            <a:xfrm>
              <a:off x="9233383" y="3381206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4ACDE6A-430D-D5FA-9641-D1D4D310857F}"/>
                </a:ext>
              </a:extLst>
            </p:cNvPr>
            <p:cNvSpPr/>
            <p:nvPr/>
          </p:nvSpPr>
          <p:spPr>
            <a:xfrm>
              <a:off x="9782276" y="3381205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FDCE321-BDD0-C6DC-5372-078390E82B78}"/>
                </a:ext>
              </a:extLst>
            </p:cNvPr>
            <p:cNvSpPr/>
            <p:nvPr/>
          </p:nvSpPr>
          <p:spPr>
            <a:xfrm>
              <a:off x="10331169" y="3381204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2CD4458-D214-1D2A-5082-A69DC424B935}"/>
                </a:ext>
              </a:extLst>
            </p:cNvPr>
            <p:cNvSpPr/>
            <p:nvPr/>
          </p:nvSpPr>
          <p:spPr>
            <a:xfrm>
              <a:off x="8135597" y="3930097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5AA2BE2-6FA4-2607-11E8-BA4ABAAEFB78}"/>
                </a:ext>
              </a:extLst>
            </p:cNvPr>
            <p:cNvSpPr/>
            <p:nvPr/>
          </p:nvSpPr>
          <p:spPr>
            <a:xfrm>
              <a:off x="8684490" y="3930096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C3067A3-BA26-9798-5DAE-95B583B81F6A}"/>
                </a:ext>
              </a:extLst>
            </p:cNvPr>
            <p:cNvSpPr/>
            <p:nvPr/>
          </p:nvSpPr>
          <p:spPr>
            <a:xfrm>
              <a:off x="9233383" y="3930095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9E2571B-DF65-48AE-BA8B-1A48281B958C}"/>
                </a:ext>
              </a:extLst>
            </p:cNvPr>
            <p:cNvSpPr/>
            <p:nvPr/>
          </p:nvSpPr>
          <p:spPr>
            <a:xfrm>
              <a:off x="9782276" y="3930094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EBDDF6B-558E-6BC4-47E0-583FBEF52B94}"/>
                </a:ext>
              </a:extLst>
            </p:cNvPr>
            <p:cNvSpPr/>
            <p:nvPr/>
          </p:nvSpPr>
          <p:spPr>
            <a:xfrm>
              <a:off x="10331169" y="3930093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C528DAB-1759-CF12-079E-94912B7CB5C4}"/>
                </a:ext>
              </a:extLst>
            </p:cNvPr>
            <p:cNvSpPr/>
            <p:nvPr/>
          </p:nvSpPr>
          <p:spPr>
            <a:xfrm>
              <a:off x="8135597" y="4478990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8102B323-EC29-1CF7-51AA-8F1BA15F2CAF}"/>
                </a:ext>
              </a:extLst>
            </p:cNvPr>
            <p:cNvSpPr/>
            <p:nvPr/>
          </p:nvSpPr>
          <p:spPr>
            <a:xfrm>
              <a:off x="8684490" y="4478989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78447453-BD5C-947C-2E6F-947E4D4D78C9}"/>
                </a:ext>
              </a:extLst>
            </p:cNvPr>
            <p:cNvSpPr/>
            <p:nvPr/>
          </p:nvSpPr>
          <p:spPr>
            <a:xfrm>
              <a:off x="9233383" y="4478988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12028ECF-A0AC-1671-013C-307E45D0EBF6}"/>
                </a:ext>
              </a:extLst>
            </p:cNvPr>
            <p:cNvSpPr/>
            <p:nvPr/>
          </p:nvSpPr>
          <p:spPr>
            <a:xfrm>
              <a:off x="9782276" y="4478987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52104C3-3BA9-27E7-8914-E9018DFDB2BD}"/>
                </a:ext>
              </a:extLst>
            </p:cNvPr>
            <p:cNvSpPr/>
            <p:nvPr/>
          </p:nvSpPr>
          <p:spPr>
            <a:xfrm>
              <a:off x="10331169" y="4478986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9E26F99A-4CFE-79C7-3F3E-76A60934859D}"/>
                </a:ext>
              </a:extLst>
            </p:cNvPr>
            <p:cNvSpPr/>
            <p:nvPr/>
          </p:nvSpPr>
          <p:spPr>
            <a:xfrm>
              <a:off x="8135597" y="5027874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452D6C66-DD90-7E9E-3B6E-356E140B5987}"/>
                </a:ext>
              </a:extLst>
            </p:cNvPr>
            <p:cNvSpPr/>
            <p:nvPr/>
          </p:nvSpPr>
          <p:spPr>
            <a:xfrm>
              <a:off x="8684490" y="5027873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3F3BFD87-D56F-8D7B-3FE6-EAB3C625AFC4}"/>
                </a:ext>
              </a:extLst>
            </p:cNvPr>
            <p:cNvSpPr/>
            <p:nvPr/>
          </p:nvSpPr>
          <p:spPr>
            <a:xfrm>
              <a:off x="9233383" y="5027872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2790947-5E80-47A7-5669-A47EBE3F5737}"/>
                </a:ext>
              </a:extLst>
            </p:cNvPr>
            <p:cNvSpPr/>
            <p:nvPr/>
          </p:nvSpPr>
          <p:spPr>
            <a:xfrm>
              <a:off x="9782276" y="5027871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6588375-DEA2-FC84-77CE-69158EBA3EB7}"/>
                </a:ext>
              </a:extLst>
            </p:cNvPr>
            <p:cNvSpPr/>
            <p:nvPr/>
          </p:nvSpPr>
          <p:spPr>
            <a:xfrm>
              <a:off x="10331169" y="5027870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D37B90C8-33AE-D639-8D19-521F0CF8F747}"/>
              </a:ext>
            </a:extLst>
          </p:cNvPr>
          <p:cNvGrpSpPr/>
          <p:nvPr/>
        </p:nvGrpSpPr>
        <p:grpSpPr>
          <a:xfrm>
            <a:off x="8411212" y="3057814"/>
            <a:ext cx="548893" cy="548893"/>
            <a:chOff x="11643107" y="2158069"/>
            <a:chExt cx="548893" cy="548893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68DE49DD-6B27-31FA-7DF1-F7042EBEB4C5}"/>
                </a:ext>
              </a:extLst>
            </p:cNvPr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E2B3669-2853-AA5D-A744-21D2FFF4B414}"/>
                </a:ext>
              </a:extLst>
            </p:cNvPr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800" dirty="0" err="1">
                  <a:latin typeface="Calisto MT" panose="02040603050505030304" pitchFamily="18" charset="0"/>
                </a:rPr>
                <a:t>i</a:t>
              </a:r>
              <a:r>
                <a:rPr lang="en-US" sz="1800" dirty="0">
                  <a:latin typeface="Calisto MT" panose="02040603050505030304" pitchFamily="18" charset="0"/>
                </a:rPr>
                <a:t>           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FF979D73-A3B5-0473-C2BF-8A55862B3291}"/>
              </a:ext>
            </a:extLst>
          </p:cNvPr>
          <p:cNvGrpSpPr/>
          <p:nvPr/>
        </p:nvGrpSpPr>
        <p:grpSpPr>
          <a:xfrm>
            <a:off x="8960106" y="3057814"/>
            <a:ext cx="548893" cy="548893"/>
            <a:chOff x="11643107" y="2158069"/>
            <a:chExt cx="548893" cy="548893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B098278B-4941-41EC-3AA2-D475526090A7}"/>
                </a:ext>
              </a:extLst>
            </p:cNvPr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DDDB37B-8047-02E4-DEB5-E7DBA244BA84}"/>
                </a:ext>
              </a:extLst>
            </p:cNvPr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800" dirty="0">
                  <a:latin typeface="Calisto MT" panose="02040603050505030304" pitchFamily="18" charset="0"/>
                </a:rPr>
                <a:t>d           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4F313E3-B085-552F-9FBD-72380BA7006C}"/>
              </a:ext>
            </a:extLst>
          </p:cNvPr>
          <p:cNvGrpSpPr/>
          <p:nvPr/>
        </p:nvGrpSpPr>
        <p:grpSpPr>
          <a:xfrm>
            <a:off x="9509000" y="3057814"/>
            <a:ext cx="548893" cy="548893"/>
            <a:chOff x="11643107" y="2158069"/>
            <a:chExt cx="548893" cy="548893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4349C51F-2E28-7678-30FB-4B8FB2135DF4}"/>
                </a:ext>
              </a:extLst>
            </p:cNvPr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B007BF1E-F9E7-8946-74F9-CEEB6D4726FC}"/>
                </a:ext>
              </a:extLst>
            </p:cNvPr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800" dirty="0">
                  <a:latin typeface="Calisto MT" panose="02040603050505030304" pitchFamily="18" charset="0"/>
                </a:rPr>
                <a:t>c           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83BD504C-1185-7468-2A61-8A9616B5C278}"/>
              </a:ext>
            </a:extLst>
          </p:cNvPr>
          <p:cNvGrpSpPr/>
          <p:nvPr/>
        </p:nvGrpSpPr>
        <p:grpSpPr>
          <a:xfrm>
            <a:off x="8411211" y="2643061"/>
            <a:ext cx="1649827" cy="381386"/>
            <a:chOff x="6717765" y="1444239"/>
            <a:chExt cx="2750762" cy="381386"/>
          </a:xfrm>
        </p:grpSpPr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CD2343A0-57CB-9A9C-5E64-E26D8A796D5B}"/>
                </a:ext>
              </a:extLst>
            </p:cNvPr>
            <p:cNvCxnSpPr/>
            <p:nvPr/>
          </p:nvCxnSpPr>
          <p:spPr>
            <a:xfrm>
              <a:off x="6717765" y="1616100"/>
              <a:ext cx="0" cy="19908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DB102451-0E26-B9A1-1231-0141E9B60F3D}"/>
                </a:ext>
              </a:extLst>
            </p:cNvPr>
            <p:cNvCxnSpPr/>
            <p:nvPr/>
          </p:nvCxnSpPr>
          <p:spPr>
            <a:xfrm>
              <a:off x="6717765" y="1616100"/>
              <a:ext cx="275076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3E020EC9-0E08-D863-E6D9-4E1CBFFA094D}"/>
                </a:ext>
              </a:extLst>
            </p:cNvPr>
            <p:cNvCxnSpPr/>
            <p:nvPr/>
          </p:nvCxnSpPr>
          <p:spPr>
            <a:xfrm>
              <a:off x="9468527" y="1616100"/>
              <a:ext cx="0" cy="20952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ED8C64BE-962E-B618-2E24-CF2146438F23}"/>
                </a:ext>
              </a:extLst>
            </p:cNvPr>
            <p:cNvCxnSpPr/>
            <p:nvPr/>
          </p:nvCxnSpPr>
          <p:spPr>
            <a:xfrm>
              <a:off x="8093146" y="1444239"/>
              <a:ext cx="0" cy="17186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D61E4183-B83F-07B7-02C5-F02E1E783526}"/>
              </a:ext>
            </a:extLst>
          </p:cNvPr>
          <p:cNvSpPr txBox="1"/>
          <p:nvPr/>
        </p:nvSpPr>
        <p:spPr>
          <a:xfrm>
            <a:off x="9082106" y="2312441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sto MT" panose="02040603050505030304" pitchFamily="18" charset="0"/>
              </a:rPr>
              <a:t>x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325034C-6ABE-2A60-165F-CC53E3ED020F}"/>
              </a:ext>
            </a:extLst>
          </p:cNvPr>
          <p:cNvGrpSpPr/>
          <p:nvPr/>
        </p:nvGrpSpPr>
        <p:grpSpPr>
          <a:xfrm>
            <a:off x="8411211" y="3057809"/>
            <a:ext cx="548893" cy="548893"/>
            <a:chOff x="11643107" y="2158069"/>
            <a:chExt cx="548893" cy="548893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DCF6679D-2302-31FE-9CD8-B12EA9DAD97B}"/>
                </a:ext>
              </a:extLst>
            </p:cNvPr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D73D17BC-9B4F-E19A-A6F7-1C66B30FB454}"/>
                </a:ext>
              </a:extLst>
            </p:cNvPr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800" dirty="0">
                  <a:latin typeface="Calisto MT" panose="02040603050505030304" pitchFamily="18" charset="0"/>
                </a:rPr>
                <a:t>5           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28065851-8B26-177D-5028-D6FD63971A58}"/>
              </a:ext>
            </a:extLst>
          </p:cNvPr>
          <p:cNvGrpSpPr/>
          <p:nvPr/>
        </p:nvGrpSpPr>
        <p:grpSpPr>
          <a:xfrm>
            <a:off x="8908842" y="3057808"/>
            <a:ext cx="639133" cy="548893"/>
            <a:chOff x="11597986" y="2158069"/>
            <a:chExt cx="639133" cy="548893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1E1D8412-F553-44E9-B913-29FC5C9E17B5}"/>
                </a:ext>
              </a:extLst>
            </p:cNvPr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44E78981-ACB1-F0DC-5E65-FED2090DC1D6}"/>
                </a:ext>
              </a:extLst>
            </p:cNvPr>
            <p:cNvSpPr txBox="1"/>
            <p:nvPr/>
          </p:nvSpPr>
          <p:spPr>
            <a:xfrm>
              <a:off x="11597986" y="2247850"/>
              <a:ext cx="6391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dirty="0">
                  <a:latin typeface="Calisto MT" panose="02040603050505030304" pitchFamily="18" charset="0"/>
                </a:rPr>
                <a:t>10.0           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2DC0975A-0873-3A03-EF6E-0F38D56E7230}"/>
              </a:ext>
            </a:extLst>
          </p:cNvPr>
          <p:cNvGrpSpPr/>
          <p:nvPr/>
        </p:nvGrpSpPr>
        <p:grpSpPr>
          <a:xfrm>
            <a:off x="9515142" y="3062537"/>
            <a:ext cx="548893" cy="548893"/>
            <a:chOff x="11643107" y="2158069"/>
            <a:chExt cx="548893" cy="548893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FE0F9E16-4394-610C-BFD2-4563E057D18B}"/>
                </a:ext>
              </a:extLst>
            </p:cNvPr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3CCA76AD-06C9-AFE7-473D-EF281D2BCA16}"/>
                </a:ext>
              </a:extLst>
            </p:cNvPr>
            <p:cNvSpPr txBox="1"/>
            <p:nvPr/>
          </p:nvSpPr>
          <p:spPr>
            <a:xfrm>
              <a:off x="11709612" y="2247849"/>
              <a:ext cx="415881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800" dirty="0">
                  <a:latin typeface="Calisto MT" panose="02040603050505030304" pitchFamily="18" charset="0"/>
                </a:rPr>
                <a:t>‘s’          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80637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8EB50-E1AA-F08A-A87E-74CDD8B84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 of Structure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301774-94A4-F829-7DC2-EAE5DDBA173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CA62E38-59FD-451F-9AA6-B569CE35F9BD}" type="datetime4">
              <a:rPr lang="en-US" smtClean="0"/>
              <a:t>March 6,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A7B5C4-0A94-93CA-282C-BE679CE68E8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Prepared By: Swapnil Biswas, CSE, BSMRU, Kishoreganj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72A3BF-11FC-BB31-E3CD-DF0B4A7D8C9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891809-C310-51B4-CF02-96A521289523}"/>
              </a:ext>
            </a:extLst>
          </p:cNvPr>
          <p:cNvSpPr txBox="1"/>
          <p:nvPr/>
        </p:nvSpPr>
        <p:spPr>
          <a:xfrm>
            <a:off x="840731" y="1834827"/>
            <a:ext cx="5608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0"/>
              </a:rPr>
              <a:t>node  *p;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BB61506-4A37-5BF4-7553-C7E0757D8359}"/>
              </a:ext>
            </a:extLst>
          </p:cNvPr>
          <p:cNvGrpSpPr/>
          <p:nvPr/>
        </p:nvGrpSpPr>
        <p:grpSpPr>
          <a:xfrm>
            <a:off x="9063100" y="1876651"/>
            <a:ext cx="306494" cy="902819"/>
            <a:chOff x="9033482" y="1876651"/>
            <a:chExt cx="306494" cy="902819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AA8127D4-9D3D-5147-FFA2-03E9FF0AF5E6}"/>
                </a:ext>
              </a:extLst>
            </p:cNvPr>
            <p:cNvCxnSpPr/>
            <p:nvPr/>
          </p:nvCxnSpPr>
          <p:spPr>
            <a:xfrm>
              <a:off x="9186729" y="2245984"/>
              <a:ext cx="5097" cy="533486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5B81923-0327-C370-BB40-5F6454814894}"/>
                </a:ext>
              </a:extLst>
            </p:cNvPr>
            <p:cNvSpPr txBox="1"/>
            <p:nvPr/>
          </p:nvSpPr>
          <p:spPr>
            <a:xfrm>
              <a:off x="9033482" y="1876651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Calisto MT" panose="02040603050505030304" pitchFamily="18" charset="0"/>
                </a:rPr>
                <a:t>p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45635239-0B8C-01BC-9255-5B0B669598C6}"/>
              </a:ext>
            </a:extLst>
          </p:cNvPr>
          <p:cNvSpPr txBox="1"/>
          <p:nvPr/>
        </p:nvSpPr>
        <p:spPr>
          <a:xfrm>
            <a:off x="840731" y="2234028"/>
            <a:ext cx="3722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0"/>
              </a:rPr>
              <a:t>p = (node*)</a:t>
            </a:r>
            <a:r>
              <a:rPr lang="en-US" sz="1800" dirty="0" err="1">
                <a:latin typeface="Calisto MT" panose="02040603050505030304" pitchFamily="18" charset="0"/>
              </a:rPr>
              <a:t>malloc</a:t>
            </a:r>
            <a:r>
              <a:rPr lang="en-US" sz="1800" dirty="0">
                <a:latin typeface="Calisto MT" panose="02040603050505030304" pitchFamily="18" charset="0"/>
              </a:rPr>
              <a:t>(</a:t>
            </a:r>
            <a:r>
              <a:rPr lang="en-US" sz="1800" dirty="0" err="1">
                <a:latin typeface="Calisto MT" panose="02040603050505030304" pitchFamily="18" charset="0"/>
              </a:rPr>
              <a:t>sizeof</a:t>
            </a:r>
            <a:r>
              <a:rPr lang="en-US" sz="1800" dirty="0">
                <a:latin typeface="Calisto MT" panose="02040603050505030304" pitchFamily="18" charset="0"/>
              </a:rPr>
              <a:t>(node));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AB639D7-DFC5-1A10-BDF5-0BF1CA832A28}"/>
              </a:ext>
            </a:extLst>
          </p:cNvPr>
          <p:cNvGrpSpPr/>
          <p:nvPr/>
        </p:nvGrpSpPr>
        <p:grpSpPr>
          <a:xfrm>
            <a:off x="8411212" y="3057814"/>
            <a:ext cx="548893" cy="548893"/>
            <a:chOff x="11643107" y="2158069"/>
            <a:chExt cx="548893" cy="548893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FA37E5D-A835-4AC6-4E74-3DA04611B757}"/>
                </a:ext>
              </a:extLst>
            </p:cNvPr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E42EAEE-C5EC-E80F-60AA-3AD68B2F4BB6}"/>
                </a:ext>
              </a:extLst>
            </p:cNvPr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800" dirty="0" err="1">
                  <a:latin typeface="Calisto MT" panose="02040603050505030304" pitchFamily="18" charset="0"/>
                </a:rPr>
                <a:t>i</a:t>
              </a:r>
              <a:r>
                <a:rPr lang="en-US" sz="1800" dirty="0">
                  <a:latin typeface="Calisto MT" panose="02040603050505030304" pitchFamily="18" charset="0"/>
                </a:rPr>
                <a:t>           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0FBDF77-D138-64CA-35AD-48120BDEFD28}"/>
              </a:ext>
            </a:extLst>
          </p:cNvPr>
          <p:cNvGrpSpPr/>
          <p:nvPr/>
        </p:nvGrpSpPr>
        <p:grpSpPr>
          <a:xfrm>
            <a:off x="8960106" y="3057814"/>
            <a:ext cx="548893" cy="548893"/>
            <a:chOff x="11643107" y="2158069"/>
            <a:chExt cx="548893" cy="548893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0EDD370-6684-74CC-0A65-CA0FCB8655CF}"/>
                </a:ext>
              </a:extLst>
            </p:cNvPr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7EE3A81-203E-AB0E-2D08-956C85F1BF26}"/>
                </a:ext>
              </a:extLst>
            </p:cNvPr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800" dirty="0">
                  <a:latin typeface="Calisto MT" panose="02040603050505030304" pitchFamily="18" charset="0"/>
                </a:rPr>
                <a:t>d           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1A2C982-967D-F99E-C0E0-A84C30911545}"/>
              </a:ext>
            </a:extLst>
          </p:cNvPr>
          <p:cNvGrpSpPr/>
          <p:nvPr/>
        </p:nvGrpSpPr>
        <p:grpSpPr>
          <a:xfrm>
            <a:off x="9509000" y="3057814"/>
            <a:ext cx="548893" cy="548893"/>
            <a:chOff x="11643107" y="2158069"/>
            <a:chExt cx="548893" cy="548893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C639238-B016-9B81-2D14-1C7B597A91A2}"/>
                </a:ext>
              </a:extLst>
            </p:cNvPr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1650A38-52A3-AF6C-19FB-49B65E7E6C7F}"/>
                </a:ext>
              </a:extLst>
            </p:cNvPr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800" dirty="0">
                  <a:latin typeface="Calisto MT" panose="02040603050505030304" pitchFamily="18" charset="0"/>
                </a:rPr>
                <a:t>c           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2ABEE610-46A6-5C8C-E24B-2C57CD842B74}"/>
              </a:ext>
            </a:extLst>
          </p:cNvPr>
          <p:cNvSpPr txBox="1"/>
          <p:nvPr/>
        </p:nvSpPr>
        <p:spPr>
          <a:xfrm>
            <a:off x="838200" y="2665153"/>
            <a:ext cx="1323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0"/>
              </a:rPr>
              <a:t>p-&gt;</a:t>
            </a:r>
            <a:r>
              <a:rPr lang="en-US" sz="1800" dirty="0" err="1">
                <a:latin typeface="Calisto MT" panose="02040603050505030304" pitchFamily="18" charset="0"/>
              </a:rPr>
              <a:t>i</a:t>
            </a:r>
            <a:r>
              <a:rPr lang="en-US" sz="1800" dirty="0">
                <a:latin typeface="Calisto MT" panose="02040603050505030304" pitchFamily="18" charset="0"/>
              </a:rPr>
              <a:t> = 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4B612C9-74CF-1033-1A25-4F098FF00E35}"/>
              </a:ext>
            </a:extLst>
          </p:cNvPr>
          <p:cNvSpPr txBox="1"/>
          <p:nvPr/>
        </p:nvSpPr>
        <p:spPr>
          <a:xfrm>
            <a:off x="2315333" y="2665153"/>
            <a:ext cx="1708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0"/>
              </a:rPr>
              <a:t>p-&gt;d = 10.0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DFADFDD-64A7-F462-4C57-71559C42E15B}"/>
              </a:ext>
            </a:extLst>
          </p:cNvPr>
          <p:cNvSpPr txBox="1"/>
          <p:nvPr/>
        </p:nvSpPr>
        <p:spPr>
          <a:xfrm>
            <a:off x="4177028" y="2665153"/>
            <a:ext cx="14461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0"/>
              </a:rPr>
              <a:t>p-&gt;c = ‘s’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B7F464F-BF58-1C4B-2DC6-6BFF26AC5E50}"/>
              </a:ext>
            </a:extLst>
          </p:cNvPr>
          <p:cNvSpPr txBox="1"/>
          <p:nvPr/>
        </p:nvSpPr>
        <p:spPr>
          <a:xfrm>
            <a:off x="840732" y="3115456"/>
            <a:ext cx="1474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0"/>
              </a:rPr>
              <a:t>node  *q;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5DCF8C7-98CD-455B-B36E-DA4F4326696B}"/>
              </a:ext>
            </a:extLst>
          </p:cNvPr>
          <p:cNvSpPr txBox="1"/>
          <p:nvPr/>
        </p:nvSpPr>
        <p:spPr>
          <a:xfrm>
            <a:off x="840731" y="3514657"/>
            <a:ext cx="3722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0"/>
              </a:rPr>
              <a:t>q = (node*)</a:t>
            </a:r>
            <a:r>
              <a:rPr lang="en-US" sz="1800" dirty="0" err="1">
                <a:latin typeface="Calisto MT" panose="02040603050505030304" pitchFamily="18" charset="0"/>
              </a:rPr>
              <a:t>malloc</a:t>
            </a:r>
            <a:r>
              <a:rPr lang="en-US" sz="1800" dirty="0">
                <a:latin typeface="Calisto MT" panose="02040603050505030304" pitchFamily="18" charset="0"/>
              </a:rPr>
              <a:t>(</a:t>
            </a:r>
            <a:r>
              <a:rPr lang="en-US" sz="1800" dirty="0" err="1">
                <a:latin typeface="Calisto MT" panose="02040603050505030304" pitchFamily="18" charset="0"/>
              </a:rPr>
              <a:t>sizeof</a:t>
            </a:r>
            <a:r>
              <a:rPr lang="en-US" sz="1800" dirty="0">
                <a:latin typeface="Calisto MT" panose="02040603050505030304" pitchFamily="18" charset="0"/>
              </a:rPr>
              <a:t>(node));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F1162A0-4E61-17DE-B460-E418ADA97C7D}"/>
              </a:ext>
            </a:extLst>
          </p:cNvPr>
          <p:cNvGrpSpPr/>
          <p:nvPr/>
        </p:nvGrpSpPr>
        <p:grpSpPr>
          <a:xfrm>
            <a:off x="9508999" y="4155590"/>
            <a:ext cx="548893" cy="548893"/>
            <a:chOff x="11643107" y="2158069"/>
            <a:chExt cx="548893" cy="548893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870C566-B5D4-A9B6-AAAA-18BDBB3B7B00}"/>
                </a:ext>
              </a:extLst>
            </p:cNvPr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1491835-DB08-0CB7-256A-89A2F828D63C}"/>
                </a:ext>
              </a:extLst>
            </p:cNvPr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800" dirty="0" err="1">
                  <a:latin typeface="Calisto MT" panose="02040603050505030304" pitchFamily="18" charset="0"/>
                </a:rPr>
                <a:t>i</a:t>
              </a:r>
              <a:r>
                <a:rPr lang="en-US" sz="1800" dirty="0">
                  <a:latin typeface="Calisto MT" panose="02040603050505030304" pitchFamily="18" charset="0"/>
                </a:rPr>
                <a:t>           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F6A2B46-769B-D2A7-105C-6FF66C793EEF}"/>
              </a:ext>
            </a:extLst>
          </p:cNvPr>
          <p:cNvGrpSpPr/>
          <p:nvPr/>
        </p:nvGrpSpPr>
        <p:grpSpPr>
          <a:xfrm>
            <a:off x="10057893" y="4155590"/>
            <a:ext cx="548893" cy="548893"/>
            <a:chOff x="11643107" y="2158069"/>
            <a:chExt cx="548893" cy="548893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5FAD7EE-BE11-D18C-5612-A0592741E353}"/>
                </a:ext>
              </a:extLst>
            </p:cNvPr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37478C8-305B-6976-D852-168DADD06C39}"/>
                </a:ext>
              </a:extLst>
            </p:cNvPr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800" dirty="0">
                  <a:latin typeface="Calisto MT" panose="02040603050505030304" pitchFamily="18" charset="0"/>
                </a:rPr>
                <a:t>d           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7F6357D-6D88-973C-6B8D-BC79E91C4C14}"/>
              </a:ext>
            </a:extLst>
          </p:cNvPr>
          <p:cNvGrpSpPr/>
          <p:nvPr/>
        </p:nvGrpSpPr>
        <p:grpSpPr>
          <a:xfrm>
            <a:off x="10606787" y="4155590"/>
            <a:ext cx="548893" cy="548893"/>
            <a:chOff x="11643107" y="2158069"/>
            <a:chExt cx="548893" cy="548893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766362D0-C551-0759-7DDF-3CE17D21B584}"/>
                </a:ext>
              </a:extLst>
            </p:cNvPr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97CCF49-5396-7FFE-92E6-0B542A431C03}"/>
                </a:ext>
              </a:extLst>
            </p:cNvPr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800" dirty="0">
                  <a:latin typeface="Calisto MT" panose="02040603050505030304" pitchFamily="18" charset="0"/>
                </a:rPr>
                <a:t>c           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0DD15DF-652D-0023-13F1-52D19074DB2B}"/>
              </a:ext>
            </a:extLst>
          </p:cNvPr>
          <p:cNvGrpSpPr/>
          <p:nvPr/>
        </p:nvGrpSpPr>
        <p:grpSpPr>
          <a:xfrm>
            <a:off x="10154695" y="1876651"/>
            <a:ext cx="304892" cy="902819"/>
            <a:chOff x="9033482" y="1876651"/>
            <a:chExt cx="304892" cy="902819"/>
          </a:xfrm>
        </p:grpSpPr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487358BB-9DE6-1924-0239-862B1E324BBB}"/>
                </a:ext>
              </a:extLst>
            </p:cNvPr>
            <p:cNvCxnSpPr/>
            <p:nvPr/>
          </p:nvCxnSpPr>
          <p:spPr>
            <a:xfrm>
              <a:off x="9186729" y="2245984"/>
              <a:ext cx="5097" cy="533486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72658AB-B2C9-87EE-7754-A02544B962BB}"/>
                </a:ext>
              </a:extLst>
            </p:cNvPr>
            <p:cNvSpPr txBox="1"/>
            <p:nvPr/>
          </p:nvSpPr>
          <p:spPr>
            <a:xfrm>
              <a:off x="9033482" y="1876651"/>
              <a:ext cx="304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Calisto MT" panose="02040603050505030304" pitchFamily="18" charset="0"/>
                </a:rPr>
                <a:t>q</a:t>
              </a: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00DDCFBC-6FFB-F1F5-4AFF-6D9B5D3CFF3A}"/>
              </a:ext>
            </a:extLst>
          </p:cNvPr>
          <p:cNvSpPr txBox="1"/>
          <p:nvPr/>
        </p:nvSpPr>
        <p:spPr>
          <a:xfrm>
            <a:off x="838200" y="3918645"/>
            <a:ext cx="1323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0"/>
              </a:rPr>
              <a:t>q-&gt;</a:t>
            </a:r>
            <a:r>
              <a:rPr lang="en-US" sz="1800" dirty="0" err="1">
                <a:latin typeface="Calisto MT" panose="02040603050505030304" pitchFamily="18" charset="0"/>
              </a:rPr>
              <a:t>i</a:t>
            </a:r>
            <a:r>
              <a:rPr lang="en-US" sz="1800" dirty="0">
                <a:latin typeface="Calisto MT" panose="02040603050505030304" pitchFamily="18" charset="0"/>
              </a:rPr>
              <a:t> = 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894F19F-C52B-9A55-4ACA-9C424788BB9E}"/>
              </a:ext>
            </a:extLst>
          </p:cNvPr>
          <p:cNvSpPr txBox="1"/>
          <p:nvPr/>
        </p:nvSpPr>
        <p:spPr>
          <a:xfrm>
            <a:off x="2315333" y="3918645"/>
            <a:ext cx="1708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0"/>
              </a:rPr>
              <a:t>q-&gt;d = 15.0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4B888A7-26CA-739C-B0D4-626E0F784BC1}"/>
              </a:ext>
            </a:extLst>
          </p:cNvPr>
          <p:cNvSpPr txBox="1"/>
          <p:nvPr/>
        </p:nvSpPr>
        <p:spPr>
          <a:xfrm>
            <a:off x="4177028" y="3918645"/>
            <a:ext cx="14461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0"/>
              </a:rPr>
              <a:t>q-&gt;c = ‘q’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8658DC8-305E-76CF-EAA9-143D617E25D3}"/>
              </a:ext>
            </a:extLst>
          </p:cNvPr>
          <p:cNvSpPr txBox="1"/>
          <p:nvPr/>
        </p:nvSpPr>
        <p:spPr>
          <a:xfrm>
            <a:off x="840731" y="4317846"/>
            <a:ext cx="1082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0"/>
              </a:rPr>
              <a:t>q = p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6D0E7E4-D161-D7A4-A88B-5BC92E5BB0FA}"/>
              </a:ext>
            </a:extLst>
          </p:cNvPr>
          <p:cNvSpPr txBox="1"/>
          <p:nvPr/>
        </p:nvSpPr>
        <p:spPr>
          <a:xfrm>
            <a:off x="838200" y="4704483"/>
            <a:ext cx="4784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0"/>
              </a:rPr>
              <a:t>What’s the value of q-&gt;</a:t>
            </a:r>
            <a:r>
              <a:rPr lang="en-US" sz="1800" dirty="0" err="1">
                <a:latin typeface="Calisto MT" panose="02040603050505030304" pitchFamily="18" charset="0"/>
              </a:rPr>
              <a:t>i</a:t>
            </a:r>
            <a:r>
              <a:rPr lang="en-US" sz="1800" dirty="0">
                <a:latin typeface="Calisto MT" panose="02040603050505030304" pitchFamily="18" charset="0"/>
              </a:rPr>
              <a:t>,  q-&gt;d,  q-&gt;c?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6633959-0F9E-55C2-CC89-7D829D1E9376}"/>
              </a:ext>
            </a:extLst>
          </p:cNvPr>
          <p:cNvSpPr txBox="1"/>
          <p:nvPr/>
        </p:nvSpPr>
        <p:spPr>
          <a:xfrm>
            <a:off x="838200" y="5105406"/>
            <a:ext cx="4784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0"/>
              </a:rPr>
              <a:t>Answer: 5, 10.0, ‘s’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6E6CCE1-CB31-0EAC-6C2A-9CDFD8E3DBD9}"/>
              </a:ext>
            </a:extLst>
          </p:cNvPr>
          <p:cNvGrpSpPr/>
          <p:nvPr/>
        </p:nvGrpSpPr>
        <p:grpSpPr>
          <a:xfrm>
            <a:off x="9081645" y="2211300"/>
            <a:ext cx="464874" cy="846514"/>
            <a:chOff x="9081645" y="2211300"/>
            <a:chExt cx="464874" cy="846514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E7E49931-15E9-8613-01C3-92FF4BAB905F}"/>
                </a:ext>
              </a:extLst>
            </p:cNvPr>
            <p:cNvSpPr/>
            <p:nvPr/>
          </p:nvSpPr>
          <p:spPr>
            <a:xfrm>
              <a:off x="9081645" y="2211300"/>
              <a:ext cx="464874" cy="68698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8431C6CD-4B92-D267-5932-C38B12F99B80}"/>
                </a:ext>
              </a:extLst>
            </p:cNvPr>
            <p:cNvCxnSpPr>
              <a:endCxn id="16" idx="0"/>
            </p:cNvCxnSpPr>
            <p:nvPr/>
          </p:nvCxnSpPr>
          <p:spPr>
            <a:xfrm>
              <a:off x="9216538" y="2257581"/>
              <a:ext cx="18015" cy="800233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609BD000-0663-22F5-C474-D76EFE62985F}"/>
              </a:ext>
            </a:extLst>
          </p:cNvPr>
          <p:cNvGrpSpPr/>
          <p:nvPr/>
        </p:nvGrpSpPr>
        <p:grpSpPr>
          <a:xfrm>
            <a:off x="10141325" y="2240987"/>
            <a:ext cx="853241" cy="1905718"/>
            <a:chOff x="10141325" y="2240987"/>
            <a:chExt cx="853241" cy="1905718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AA0556E5-7292-7445-31C6-33FF1B571177}"/>
                </a:ext>
              </a:extLst>
            </p:cNvPr>
            <p:cNvSpPr/>
            <p:nvPr/>
          </p:nvSpPr>
          <p:spPr>
            <a:xfrm>
              <a:off x="10141325" y="2256445"/>
              <a:ext cx="853241" cy="7498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9313FE10-8779-1723-5376-B6119E01A0BB}"/>
                </a:ext>
              </a:extLst>
            </p:cNvPr>
            <p:cNvCxnSpPr/>
            <p:nvPr/>
          </p:nvCxnSpPr>
          <p:spPr>
            <a:xfrm>
              <a:off x="10313520" y="2240987"/>
              <a:ext cx="24961" cy="1905718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CB5F2CC1-17BF-5991-38A1-F2C26C8055B0}"/>
              </a:ext>
            </a:extLst>
          </p:cNvPr>
          <p:cNvGrpSpPr/>
          <p:nvPr/>
        </p:nvGrpSpPr>
        <p:grpSpPr>
          <a:xfrm>
            <a:off x="8411211" y="3057809"/>
            <a:ext cx="548893" cy="548893"/>
            <a:chOff x="11643107" y="2158069"/>
            <a:chExt cx="548893" cy="548893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454BAD3C-4D7F-809D-7236-A9B438B9C27B}"/>
                </a:ext>
              </a:extLst>
            </p:cNvPr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F9E7EFA0-6CF2-5FFF-58E3-FF364A4FB114}"/>
                </a:ext>
              </a:extLst>
            </p:cNvPr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800" dirty="0">
                  <a:latin typeface="Calisto MT" panose="02040603050505030304" pitchFamily="18" charset="0"/>
                </a:rPr>
                <a:t>5           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9F000577-7F58-9364-F238-BA17DEEA2C1A}"/>
              </a:ext>
            </a:extLst>
          </p:cNvPr>
          <p:cNvGrpSpPr/>
          <p:nvPr/>
        </p:nvGrpSpPr>
        <p:grpSpPr>
          <a:xfrm>
            <a:off x="8908842" y="3057808"/>
            <a:ext cx="639133" cy="548893"/>
            <a:chOff x="11597986" y="2158069"/>
            <a:chExt cx="639133" cy="548893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E0AA8FDC-EB89-4368-61C9-B850BA9AEE58}"/>
                </a:ext>
              </a:extLst>
            </p:cNvPr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2614AD6B-3D95-5AE1-C937-D5EB10C05FB1}"/>
                </a:ext>
              </a:extLst>
            </p:cNvPr>
            <p:cNvSpPr txBox="1"/>
            <p:nvPr/>
          </p:nvSpPr>
          <p:spPr>
            <a:xfrm>
              <a:off x="11597986" y="2247850"/>
              <a:ext cx="6391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dirty="0">
                  <a:latin typeface="Calisto MT" panose="02040603050505030304" pitchFamily="18" charset="0"/>
                </a:rPr>
                <a:t>10.0           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1113AF39-59E9-1E79-1D2D-02EB86D6E992}"/>
              </a:ext>
            </a:extLst>
          </p:cNvPr>
          <p:cNvGrpSpPr/>
          <p:nvPr/>
        </p:nvGrpSpPr>
        <p:grpSpPr>
          <a:xfrm>
            <a:off x="9515142" y="3062537"/>
            <a:ext cx="548893" cy="548893"/>
            <a:chOff x="11643107" y="2158069"/>
            <a:chExt cx="548893" cy="548893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723D986B-1467-8363-CFE6-ECAC5B1CEB76}"/>
                </a:ext>
              </a:extLst>
            </p:cNvPr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0F6DFE63-7448-1C03-8C07-9D170E06D2C5}"/>
                </a:ext>
              </a:extLst>
            </p:cNvPr>
            <p:cNvSpPr txBox="1"/>
            <p:nvPr/>
          </p:nvSpPr>
          <p:spPr>
            <a:xfrm>
              <a:off x="11709612" y="2247849"/>
              <a:ext cx="415881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800" dirty="0">
                  <a:latin typeface="Calisto MT" panose="02040603050505030304" pitchFamily="18" charset="0"/>
                </a:rPr>
                <a:t>‘s’           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66F31F48-2B92-ACF4-71C0-D9828E02808B}"/>
              </a:ext>
            </a:extLst>
          </p:cNvPr>
          <p:cNvGrpSpPr/>
          <p:nvPr/>
        </p:nvGrpSpPr>
        <p:grpSpPr>
          <a:xfrm>
            <a:off x="9512071" y="4155589"/>
            <a:ext cx="548893" cy="548893"/>
            <a:chOff x="11643107" y="2158069"/>
            <a:chExt cx="548893" cy="548893"/>
          </a:xfrm>
          <a:solidFill>
            <a:schemeClr val="accent4">
              <a:lumMod val="60000"/>
              <a:lumOff val="40000"/>
            </a:schemeClr>
          </a:solidFill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EBE7B22D-77D5-E4C9-9C12-874486FD04F8}"/>
                </a:ext>
              </a:extLst>
            </p:cNvPr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5F70DA70-6241-240A-A4E6-C50C9AA1C552}"/>
                </a:ext>
              </a:extLst>
            </p:cNvPr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800" dirty="0">
                  <a:latin typeface="Calisto MT" panose="02040603050505030304" pitchFamily="18" charset="0"/>
                </a:rPr>
                <a:t>8           </a:t>
              </a: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FE8893D3-AC5B-2510-1D24-0087F455C1F9}"/>
              </a:ext>
            </a:extLst>
          </p:cNvPr>
          <p:cNvGrpSpPr/>
          <p:nvPr/>
        </p:nvGrpSpPr>
        <p:grpSpPr>
          <a:xfrm>
            <a:off x="10012772" y="4157142"/>
            <a:ext cx="639133" cy="548893"/>
            <a:chOff x="11597986" y="2158069"/>
            <a:chExt cx="639133" cy="548893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39F2494C-765C-D33A-A98F-B2090B26A508}"/>
                </a:ext>
              </a:extLst>
            </p:cNvPr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CF3376B8-9FAB-3ACD-F084-746FAE183452}"/>
                </a:ext>
              </a:extLst>
            </p:cNvPr>
            <p:cNvSpPr txBox="1"/>
            <p:nvPr/>
          </p:nvSpPr>
          <p:spPr>
            <a:xfrm>
              <a:off x="11597986" y="2247850"/>
              <a:ext cx="6391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dirty="0">
                  <a:latin typeface="Calisto MT" panose="02040603050505030304" pitchFamily="18" charset="0"/>
                </a:rPr>
                <a:t>15.0           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7DAA8CA7-04DB-0B10-260B-0358D976D1BB}"/>
              </a:ext>
            </a:extLst>
          </p:cNvPr>
          <p:cNvGrpSpPr/>
          <p:nvPr/>
        </p:nvGrpSpPr>
        <p:grpSpPr>
          <a:xfrm>
            <a:off x="10600645" y="4153335"/>
            <a:ext cx="548893" cy="548893"/>
            <a:chOff x="11643107" y="2158069"/>
            <a:chExt cx="548893" cy="548893"/>
          </a:xfrm>
          <a:solidFill>
            <a:schemeClr val="accent4">
              <a:lumMod val="60000"/>
              <a:lumOff val="40000"/>
            </a:schemeClr>
          </a:solidFill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CBEB8785-EAD9-72F4-524C-5CF35A34C76D}"/>
                </a:ext>
              </a:extLst>
            </p:cNvPr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0F547934-B4DB-EC16-883A-C4878FFBB1C3}"/>
                </a:ext>
              </a:extLst>
            </p:cNvPr>
            <p:cNvSpPr txBox="1"/>
            <p:nvPr/>
          </p:nvSpPr>
          <p:spPr>
            <a:xfrm>
              <a:off x="11692520" y="2247849"/>
              <a:ext cx="482388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800" dirty="0">
                  <a:latin typeface="Calisto MT" panose="02040603050505030304" pitchFamily="18" charset="0"/>
                </a:rPr>
                <a:t>‘q’           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5C925DB7-BCCE-0F2D-6A8C-5A2AB213BD00}"/>
              </a:ext>
            </a:extLst>
          </p:cNvPr>
          <p:cNvGrpSpPr/>
          <p:nvPr/>
        </p:nvGrpSpPr>
        <p:grpSpPr>
          <a:xfrm>
            <a:off x="9367141" y="2212515"/>
            <a:ext cx="2185341" cy="1935405"/>
            <a:chOff x="9367141" y="2212515"/>
            <a:chExt cx="2185341" cy="1935405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EF531819-35D8-52F9-35E4-AB0A7DE53226}"/>
                </a:ext>
              </a:extLst>
            </p:cNvPr>
            <p:cNvSpPr/>
            <p:nvPr/>
          </p:nvSpPr>
          <p:spPr>
            <a:xfrm>
              <a:off x="10089271" y="2212515"/>
              <a:ext cx="1463211" cy="193540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9B94768A-1052-6B75-28E3-06652B48B972}"/>
                </a:ext>
              </a:extLst>
            </p:cNvPr>
            <p:cNvCxnSpPr/>
            <p:nvPr/>
          </p:nvCxnSpPr>
          <p:spPr>
            <a:xfrm flipH="1">
              <a:off x="9367141" y="2245983"/>
              <a:ext cx="949851" cy="813376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0C1A554B-F7AF-FEF4-4D0B-8FBCE1E71C05}"/>
              </a:ext>
            </a:extLst>
          </p:cNvPr>
          <p:cNvGrpSpPr/>
          <p:nvPr/>
        </p:nvGrpSpPr>
        <p:grpSpPr>
          <a:xfrm>
            <a:off x="8411215" y="3061613"/>
            <a:ext cx="2744465" cy="2744456"/>
            <a:chOff x="8135597" y="2832311"/>
            <a:chExt cx="2744465" cy="2744456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E0F551A8-94F0-0530-6037-687F920792DF}"/>
                </a:ext>
              </a:extLst>
            </p:cNvPr>
            <p:cNvSpPr/>
            <p:nvPr/>
          </p:nvSpPr>
          <p:spPr>
            <a:xfrm>
              <a:off x="8135597" y="2832315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6F7F4A63-9AD5-F805-9531-D687C911BB37}"/>
                </a:ext>
              </a:extLst>
            </p:cNvPr>
            <p:cNvSpPr/>
            <p:nvPr/>
          </p:nvSpPr>
          <p:spPr>
            <a:xfrm>
              <a:off x="8684490" y="2832314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BE7E68A1-394E-51F0-2DCD-80392575FC1E}"/>
                </a:ext>
              </a:extLst>
            </p:cNvPr>
            <p:cNvSpPr/>
            <p:nvPr/>
          </p:nvSpPr>
          <p:spPr>
            <a:xfrm>
              <a:off x="9233383" y="2832313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CA06DEF3-6351-4E21-60FA-FC6890CCD5A1}"/>
                </a:ext>
              </a:extLst>
            </p:cNvPr>
            <p:cNvSpPr/>
            <p:nvPr/>
          </p:nvSpPr>
          <p:spPr>
            <a:xfrm>
              <a:off x="9782276" y="2832312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28178B81-202A-5866-58F1-7E17F35338F4}"/>
                </a:ext>
              </a:extLst>
            </p:cNvPr>
            <p:cNvSpPr/>
            <p:nvPr/>
          </p:nvSpPr>
          <p:spPr>
            <a:xfrm>
              <a:off x="10331169" y="2832311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3EEC7E3A-70D1-3AA4-0926-F730B9E50E6B}"/>
                </a:ext>
              </a:extLst>
            </p:cNvPr>
            <p:cNvSpPr/>
            <p:nvPr/>
          </p:nvSpPr>
          <p:spPr>
            <a:xfrm>
              <a:off x="8135597" y="3381208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19FC69AC-AA75-8739-2C68-3C260130AB3E}"/>
                </a:ext>
              </a:extLst>
            </p:cNvPr>
            <p:cNvSpPr/>
            <p:nvPr/>
          </p:nvSpPr>
          <p:spPr>
            <a:xfrm>
              <a:off x="8684490" y="3381207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AF00A32F-33B5-2831-8796-772B14D7FC88}"/>
                </a:ext>
              </a:extLst>
            </p:cNvPr>
            <p:cNvSpPr/>
            <p:nvPr/>
          </p:nvSpPr>
          <p:spPr>
            <a:xfrm>
              <a:off x="9233383" y="3381206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7E6CE3B7-E2B3-DB3B-EB53-7D11F4B1B7AA}"/>
                </a:ext>
              </a:extLst>
            </p:cNvPr>
            <p:cNvSpPr/>
            <p:nvPr/>
          </p:nvSpPr>
          <p:spPr>
            <a:xfrm>
              <a:off x="9782276" y="3381205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9DA0623E-C9CC-8412-F1E2-ECF2A15502E0}"/>
                </a:ext>
              </a:extLst>
            </p:cNvPr>
            <p:cNvSpPr/>
            <p:nvPr/>
          </p:nvSpPr>
          <p:spPr>
            <a:xfrm>
              <a:off x="10331169" y="3381204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097A3DC0-7663-0BB2-7DBB-609AE89D4F06}"/>
                </a:ext>
              </a:extLst>
            </p:cNvPr>
            <p:cNvSpPr/>
            <p:nvPr/>
          </p:nvSpPr>
          <p:spPr>
            <a:xfrm>
              <a:off x="8135597" y="3930097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CEDBFE4F-662C-B921-43B6-DA104DB37934}"/>
                </a:ext>
              </a:extLst>
            </p:cNvPr>
            <p:cNvSpPr/>
            <p:nvPr/>
          </p:nvSpPr>
          <p:spPr>
            <a:xfrm>
              <a:off x="8684490" y="3930096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56D47A8C-ADF5-16BC-DB35-8CB7429948B1}"/>
                </a:ext>
              </a:extLst>
            </p:cNvPr>
            <p:cNvSpPr/>
            <p:nvPr/>
          </p:nvSpPr>
          <p:spPr>
            <a:xfrm>
              <a:off x="9233383" y="3930095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55D5F24B-975B-AF44-08D3-5F9C28A2D975}"/>
                </a:ext>
              </a:extLst>
            </p:cNvPr>
            <p:cNvSpPr/>
            <p:nvPr/>
          </p:nvSpPr>
          <p:spPr>
            <a:xfrm>
              <a:off x="9782276" y="3930094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41C2A15C-DDE8-3995-C559-720FADD418D1}"/>
                </a:ext>
              </a:extLst>
            </p:cNvPr>
            <p:cNvSpPr/>
            <p:nvPr/>
          </p:nvSpPr>
          <p:spPr>
            <a:xfrm>
              <a:off x="10331169" y="3930093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0AA1ED8D-AB37-DDFE-24F8-0221C2AE5718}"/>
                </a:ext>
              </a:extLst>
            </p:cNvPr>
            <p:cNvSpPr/>
            <p:nvPr/>
          </p:nvSpPr>
          <p:spPr>
            <a:xfrm>
              <a:off x="8135597" y="4478990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3F04B9D7-FA6D-C011-DFD5-262D48E95F54}"/>
                </a:ext>
              </a:extLst>
            </p:cNvPr>
            <p:cNvSpPr/>
            <p:nvPr/>
          </p:nvSpPr>
          <p:spPr>
            <a:xfrm>
              <a:off x="8684490" y="4478989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94DE593E-B5D3-3C39-1BEA-EC8AC550EB54}"/>
                </a:ext>
              </a:extLst>
            </p:cNvPr>
            <p:cNvSpPr/>
            <p:nvPr/>
          </p:nvSpPr>
          <p:spPr>
            <a:xfrm>
              <a:off x="9233383" y="4478988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271068CD-915F-F7C0-14E6-839E67FD3EAE}"/>
                </a:ext>
              </a:extLst>
            </p:cNvPr>
            <p:cNvSpPr/>
            <p:nvPr/>
          </p:nvSpPr>
          <p:spPr>
            <a:xfrm>
              <a:off x="9782276" y="4478987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AECFA336-0668-38ED-2A03-6A68A5EEC24B}"/>
                </a:ext>
              </a:extLst>
            </p:cNvPr>
            <p:cNvSpPr/>
            <p:nvPr/>
          </p:nvSpPr>
          <p:spPr>
            <a:xfrm>
              <a:off x="10331169" y="4478986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EAE44000-E91F-165D-C1C4-2B416CBFA2D4}"/>
                </a:ext>
              </a:extLst>
            </p:cNvPr>
            <p:cNvSpPr/>
            <p:nvPr/>
          </p:nvSpPr>
          <p:spPr>
            <a:xfrm>
              <a:off x="8135597" y="5027874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E63A40D3-9A4E-0061-D6DD-BA13DF248067}"/>
                </a:ext>
              </a:extLst>
            </p:cNvPr>
            <p:cNvSpPr/>
            <p:nvPr/>
          </p:nvSpPr>
          <p:spPr>
            <a:xfrm>
              <a:off x="8684490" y="5027873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CC853E1D-B0CB-3F3A-698B-ED7533F1F871}"/>
                </a:ext>
              </a:extLst>
            </p:cNvPr>
            <p:cNvSpPr/>
            <p:nvPr/>
          </p:nvSpPr>
          <p:spPr>
            <a:xfrm>
              <a:off x="9233383" y="5027872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EA17938B-0F92-FCAE-444E-0CBD745AEE8D}"/>
                </a:ext>
              </a:extLst>
            </p:cNvPr>
            <p:cNvSpPr/>
            <p:nvPr/>
          </p:nvSpPr>
          <p:spPr>
            <a:xfrm>
              <a:off x="9782276" y="5027871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AA5C8D62-0536-1829-E552-2A430ADE1DDE}"/>
                </a:ext>
              </a:extLst>
            </p:cNvPr>
            <p:cNvSpPr/>
            <p:nvPr/>
          </p:nvSpPr>
          <p:spPr>
            <a:xfrm>
              <a:off x="10331169" y="5027870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3611844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21" grpId="0"/>
      <p:bldP spid="22" grpId="0"/>
      <p:bldP spid="23" grpId="0"/>
      <p:bldP spid="24" grpId="0"/>
      <p:bldP spid="25" grpId="0"/>
      <p:bldP spid="38" grpId="0"/>
      <p:bldP spid="39" grpId="0"/>
      <p:bldP spid="40" grpId="0"/>
      <p:bldP spid="41" grpId="0"/>
      <p:bldP spid="42" grpId="0"/>
      <p:bldP spid="4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1C155-6489-AA0A-525D-5111AA793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 Inside Structure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0A1A4E-DF4E-48D8-2BFF-5B303AC56AB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CA62E38-59FD-451F-9AA6-B569CE35F9BD}" type="datetime4">
              <a:rPr lang="en-US" smtClean="0"/>
              <a:t>March 6,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E422D-6141-6815-5AE4-2304F46E659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Prepared By: Swapnil Biswas, CSE, BSMRU, Kishoreganj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CF0D60-5C31-9991-FE66-AD08B6E5D69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2EF4499-9CE2-3FCE-733F-C623CE01C318}"/>
              </a:ext>
            </a:extLst>
          </p:cNvPr>
          <p:cNvSpPr txBox="1">
            <a:spLocks/>
          </p:cNvSpPr>
          <p:nvPr/>
        </p:nvSpPr>
        <p:spPr>
          <a:xfrm>
            <a:off x="1097280" y="1845735"/>
            <a:ext cx="2143912" cy="1212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1800">
                <a:latin typeface="Calisto MT" panose="02040603050505030304" pitchFamily="18" charset="0"/>
              </a:rPr>
              <a:t>struct  Node{</a:t>
            </a:r>
          </a:p>
          <a:p>
            <a:pPr marL="0" indent="0">
              <a:buFont typeface="Arial"/>
              <a:buNone/>
            </a:pPr>
            <a:r>
              <a:rPr lang="en-US" sz="1800">
                <a:latin typeface="Calisto MT" panose="02040603050505030304" pitchFamily="18" charset="0"/>
              </a:rPr>
              <a:t>    </a:t>
            </a:r>
          </a:p>
          <a:p>
            <a:pPr marL="0" indent="0">
              <a:buFont typeface="Arial"/>
              <a:buNone/>
            </a:pPr>
            <a:r>
              <a:rPr lang="en-US" sz="1800">
                <a:latin typeface="Calisto MT" panose="02040603050505030304" pitchFamily="18" charset="0"/>
              </a:rPr>
              <a:t>};</a:t>
            </a:r>
            <a:endParaRPr lang="en-US" sz="1800" dirty="0">
              <a:latin typeface="Calisto MT" panose="0204060305050503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4D3AFF-38B8-3969-09AC-3BF16041DAFE}"/>
              </a:ext>
            </a:extLst>
          </p:cNvPr>
          <p:cNvSpPr txBox="1"/>
          <p:nvPr/>
        </p:nvSpPr>
        <p:spPr>
          <a:xfrm>
            <a:off x="1292085" y="2126686"/>
            <a:ext cx="683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>
                <a:latin typeface="Calisto MT" panose="02040603050505030304" pitchFamily="18" charset="0"/>
              </a:rPr>
              <a:t>int</a:t>
            </a:r>
            <a:r>
              <a:rPr lang="en-US" sz="1800" dirty="0">
                <a:latin typeface="Calisto MT" panose="02040603050505030304" pitchFamily="18" charset="0"/>
              </a:rPr>
              <a:t> v;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B581B6-3829-4943-F3D2-A16EF369FE14}"/>
              </a:ext>
            </a:extLst>
          </p:cNvPr>
          <p:cNvSpPr txBox="1"/>
          <p:nvPr/>
        </p:nvSpPr>
        <p:spPr>
          <a:xfrm>
            <a:off x="1292085" y="2402562"/>
            <a:ext cx="1087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sto MT" panose="02040603050505030304" pitchFamily="18" charset="0"/>
              </a:rPr>
              <a:t>Node *n;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3D6819-1C36-AFE4-6D6E-02D8B6551FAA}"/>
              </a:ext>
            </a:extLst>
          </p:cNvPr>
          <p:cNvSpPr txBox="1"/>
          <p:nvPr/>
        </p:nvSpPr>
        <p:spPr>
          <a:xfrm>
            <a:off x="695792" y="2978727"/>
            <a:ext cx="4611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0"/>
              </a:rPr>
              <a:t>Node   *p  = (Node*)</a:t>
            </a:r>
            <a:r>
              <a:rPr lang="en-US" sz="1800" dirty="0" err="1">
                <a:latin typeface="Calisto MT" panose="02040603050505030304" pitchFamily="18" charset="0"/>
              </a:rPr>
              <a:t>malloc</a:t>
            </a:r>
            <a:r>
              <a:rPr lang="en-US" sz="1800" dirty="0">
                <a:latin typeface="Calisto MT" panose="02040603050505030304" pitchFamily="18" charset="0"/>
              </a:rPr>
              <a:t>(</a:t>
            </a:r>
            <a:r>
              <a:rPr lang="en-US" sz="1800" dirty="0" err="1">
                <a:latin typeface="Calisto MT" panose="02040603050505030304" pitchFamily="18" charset="0"/>
              </a:rPr>
              <a:t>sizeof</a:t>
            </a:r>
            <a:r>
              <a:rPr lang="en-US" sz="1800" dirty="0">
                <a:latin typeface="Calisto MT" panose="02040603050505030304" pitchFamily="18" charset="0"/>
              </a:rPr>
              <a:t>(node));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32F80D-1379-4C45-04BF-2E045FDA2477}"/>
              </a:ext>
            </a:extLst>
          </p:cNvPr>
          <p:cNvSpPr txBox="1"/>
          <p:nvPr/>
        </p:nvSpPr>
        <p:spPr>
          <a:xfrm>
            <a:off x="691896" y="3657825"/>
            <a:ext cx="4795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0"/>
              </a:rPr>
              <a:t>Now list down all the pointers of Node type: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4A6990-4E04-09F0-CEB3-9604891E2B2B}"/>
              </a:ext>
            </a:extLst>
          </p:cNvPr>
          <p:cNvSpPr txBox="1"/>
          <p:nvPr/>
        </p:nvSpPr>
        <p:spPr>
          <a:xfrm>
            <a:off x="695792" y="3293598"/>
            <a:ext cx="4621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0"/>
              </a:rPr>
              <a:t>Node   *q  = (Node*)</a:t>
            </a:r>
            <a:r>
              <a:rPr lang="en-US" sz="1800" dirty="0" err="1">
                <a:latin typeface="Calisto MT" panose="02040603050505030304" pitchFamily="18" charset="0"/>
              </a:rPr>
              <a:t>malloc</a:t>
            </a:r>
            <a:r>
              <a:rPr lang="en-US" sz="1800" dirty="0">
                <a:latin typeface="Calisto MT" panose="02040603050505030304" pitchFamily="18" charset="0"/>
              </a:rPr>
              <a:t>(</a:t>
            </a:r>
            <a:r>
              <a:rPr lang="en-US" sz="1800" dirty="0" err="1">
                <a:latin typeface="Calisto MT" panose="02040603050505030304" pitchFamily="18" charset="0"/>
              </a:rPr>
              <a:t>sizeof</a:t>
            </a:r>
            <a:r>
              <a:rPr lang="en-US" sz="1800" dirty="0">
                <a:latin typeface="Calisto MT" panose="02040603050505030304" pitchFamily="18" charset="0"/>
              </a:rPr>
              <a:t>(node));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24286E-29C1-F51A-024B-7650323169BD}"/>
              </a:ext>
            </a:extLst>
          </p:cNvPr>
          <p:cNvSpPr txBox="1"/>
          <p:nvPr/>
        </p:nvSpPr>
        <p:spPr>
          <a:xfrm>
            <a:off x="5417780" y="3657825"/>
            <a:ext cx="714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0"/>
              </a:rPr>
              <a:t>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3FBFA8-12D2-11E7-70D1-2B564B725A1C}"/>
              </a:ext>
            </a:extLst>
          </p:cNvPr>
          <p:cNvSpPr txBox="1"/>
          <p:nvPr/>
        </p:nvSpPr>
        <p:spPr>
          <a:xfrm>
            <a:off x="691896" y="3996097"/>
            <a:ext cx="7592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0"/>
              </a:rPr>
              <a:t>So, now we can create variables of nodes by all these 4 pointers. Lets do it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6C2D8AD-A885-108A-DA7F-BB112D9E391F}"/>
              </a:ext>
            </a:extLst>
          </p:cNvPr>
          <p:cNvSpPr txBox="1"/>
          <p:nvPr/>
        </p:nvSpPr>
        <p:spPr>
          <a:xfrm>
            <a:off x="8796891" y="168478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sto MT" panose="02040603050505030304" pitchFamily="18" charset="0"/>
              </a:rPr>
              <a:t>p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AB76D5B-3963-7B78-91BF-349C666DE4FE}"/>
              </a:ext>
            </a:extLst>
          </p:cNvPr>
          <p:cNvCxnSpPr/>
          <p:nvPr/>
        </p:nvCxnSpPr>
        <p:spPr>
          <a:xfrm>
            <a:off x="8950138" y="2142930"/>
            <a:ext cx="9970" cy="915961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4E2D508-18A9-8A0B-4B1C-5FF7D817443D}"/>
              </a:ext>
            </a:extLst>
          </p:cNvPr>
          <p:cNvGrpSpPr/>
          <p:nvPr/>
        </p:nvGrpSpPr>
        <p:grpSpPr>
          <a:xfrm>
            <a:off x="8411211" y="3057809"/>
            <a:ext cx="548893" cy="548893"/>
            <a:chOff x="11643107" y="2158069"/>
            <a:chExt cx="548893" cy="548893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7E8A840-797C-25A3-B4CE-9357A27797F0}"/>
                </a:ext>
              </a:extLst>
            </p:cNvPr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AB84E89-5D3A-2385-BDD1-6936C83A1CC1}"/>
                </a:ext>
              </a:extLst>
            </p:cNvPr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800" dirty="0">
                  <a:latin typeface="Calisto MT" panose="02040603050505030304" pitchFamily="18" charset="0"/>
                </a:rPr>
                <a:t>v           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1C49EF0-BBB7-04ED-0C56-293498B1482A}"/>
              </a:ext>
            </a:extLst>
          </p:cNvPr>
          <p:cNvGrpSpPr/>
          <p:nvPr/>
        </p:nvGrpSpPr>
        <p:grpSpPr>
          <a:xfrm>
            <a:off x="10057894" y="4159389"/>
            <a:ext cx="548893" cy="548893"/>
            <a:chOff x="11643107" y="2158069"/>
            <a:chExt cx="548893" cy="548893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84026ED-E00B-4FA1-EB39-403ED2588A76}"/>
                </a:ext>
              </a:extLst>
            </p:cNvPr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BDB6F22-626E-2BAF-3701-0665D862B68C}"/>
                </a:ext>
              </a:extLst>
            </p:cNvPr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800" dirty="0">
                  <a:latin typeface="Calisto MT" panose="02040603050505030304" pitchFamily="18" charset="0"/>
                </a:rPr>
                <a:t>v           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6E4B1F3-3EAC-E299-D4E5-1F19CE341254}"/>
              </a:ext>
            </a:extLst>
          </p:cNvPr>
          <p:cNvGrpSpPr/>
          <p:nvPr/>
        </p:nvGrpSpPr>
        <p:grpSpPr>
          <a:xfrm>
            <a:off x="10602895" y="4159388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C383ADEC-9304-48F4-F0AC-5E396BE46922}"/>
                </a:ext>
              </a:extLst>
            </p:cNvPr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0BEEE2B-F727-5282-07DE-E03C4BCBE7FE}"/>
                </a:ext>
              </a:extLst>
            </p:cNvPr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Calisto MT" panose="02040603050505030304" pitchFamily="18" charset="0"/>
                </a:rPr>
                <a:t>n           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476C6C8B-7BAF-5666-315D-5FCB8CA0EF98}"/>
              </a:ext>
            </a:extLst>
          </p:cNvPr>
          <p:cNvSpPr txBox="1"/>
          <p:nvPr/>
        </p:nvSpPr>
        <p:spPr>
          <a:xfrm>
            <a:off x="10440475" y="1696546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sto MT" panose="02040603050505030304" pitchFamily="18" charset="0"/>
              </a:rPr>
              <a:t>q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8067640-0782-79F7-517C-F124A3D89488}"/>
              </a:ext>
            </a:extLst>
          </p:cNvPr>
          <p:cNvSpPr txBox="1"/>
          <p:nvPr/>
        </p:nvSpPr>
        <p:spPr>
          <a:xfrm>
            <a:off x="5991098" y="3659352"/>
            <a:ext cx="7051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0"/>
              </a:rPr>
              <a:t>q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8DBDF78-1391-42F1-EC27-A66AFF9CC710}"/>
              </a:ext>
            </a:extLst>
          </p:cNvPr>
          <p:cNvSpPr txBox="1"/>
          <p:nvPr/>
        </p:nvSpPr>
        <p:spPr>
          <a:xfrm>
            <a:off x="6635782" y="3657825"/>
            <a:ext cx="1042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0"/>
              </a:rPr>
              <a:t>p-&gt;n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4B86DD1-C820-8F22-4237-0F893B3A2E25}"/>
              </a:ext>
            </a:extLst>
          </p:cNvPr>
          <p:cNvSpPr txBox="1"/>
          <p:nvPr/>
        </p:nvSpPr>
        <p:spPr>
          <a:xfrm>
            <a:off x="7458257" y="3668152"/>
            <a:ext cx="1042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0"/>
              </a:rPr>
              <a:t>q-&gt;n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02AFD09-EF07-E521-FC9D-F30943F08E9D}"/>
              </a:ext>
            </a:extLst>
          </p:cNvPr>
          <p:cNvSpPr txBox="1"/>
          <p:nvPr/>
        </p:nvSpPr>
        <p:spPr>
          <a:xfrm>
            <a:off x="5627710" y="2970548"/>
            <a:ext cx="1283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0"/>
              </a:rPr>
              <a:t>p-&gt;v=3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BBE5797-9229-95BC-6B5A-D3CB71BAAD07}"/>
              </a:ext>
            </a:extLst>
          </p:cNvPr>
          <p:cNvSpPr txBox="1"/>
          <p:nvPr/>
        </p:nvSpPr>
        <p:spPr>
          <a:xfrm>
            <a:off x="5627710" y="3329548"/>
            <a:ext cx="1283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0"/>
              </a:rPr>
              <a:t>q-&gt;v=7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A9C86D9-1821-39FC-86D6-4E806A030B59}"/>
              </a:ext>
            </a:extLst>
          </p:cNvPr>
          <p:cNvGrpSpPr/>
          <p:nvPr/>
        </p:nvGrpSpPr>
        <p:grpSpPr>
          <a:xfrm>
            <a:off x="8409263" y="3061612"/>
            <a:ext cx="548893" cy="548893"/>
            <a:chOff x="11643107" y="2158069"/>
            <a:chExt cx="548893" cy="548893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8341408-869F-DE19-8CA0-8212F6EDE13E}"/>
                </a:ext>
              </a:extLst>
            </p:cNvPr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5EF3335-9231-9703-F2D1-FEBF2987B9E5}"/>
                </a:ext>
              </a:extLst>
            </p:cNvPr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800" dirty="0">
                  <a:latin typeface="Calisto MT" panose="02040603050505030304" pitchFamily="18" charset="0"/>
                </a:rPr>
                <a:t>3           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E93DCB0-51D8-1227-60D9-9EBD4733DD69}"/>
              </a:ext>
            </a:extLst>
          </p:cNvPr>
          <p:cNvGrpSpPr/>
          <p:nvPr/>
        </p:nvGrpSpPr>
        <p:grpSpPr>
          <a:xfrm>
            <a:off x="10052997" y="4165854"/>
            <a:ext cx="548893" cy="548893"/>
            <a:chOff x="11643107" y="2158069"/>
            <a:chExt cx="548893" cy="548893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90931C9-08CA-B5A4-5A0B-E72C3774FED4}"/>
                </a:ext>
              </a:extLst>
            </p:cNvPr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A1D6270E-E512-1B39-D19C-4C931C43FDFC}"/>
                </a:ext>
              </a:extLst>
            </p:cNvPr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800" dirty="0">
                  <a:latin typeface="Calisto MT" panose="02040603050505030304" pitchFamily="18" charset="0"/>
                </a:rPr>
                <a:t>7           </a:t>
              </a: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DD3D4279-8904-ACDD-1B79-091A1C03C2B4}"/>
              </a:ext>
            </a:extLst>
          </p:cNvPr>
          <p:cNvSpPr txBox="1"/>
          <p:nvPr/>
        </p:nvSpPr>
        <p:spPr>
          <a:xfrm>
            <a:off x="698785" y="4363246"/>
            <a:ext cx="4153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0"/>
              </a:rPr>
              <a:t>p-&gt;n = (Node*)</a:t>
            </a:r>
            <a:r>
              <a:rPr lang="en-US" sz="1800" dirty="0" err="1">
                <a:latin typeface="Calisto MT" panose="02040603050505030304" pitchFamily="18" charset="0"/>
              </a:rPr>
              <a:t>malloc</a:t>
            </a:r>
            <a:r>
              <a:rPr lang="en-US" sz="1800" dirty="0">
                <a:latin typeface="Calisto MT" panose="02040603050505030304" pitchFamily="18" charset="0"/>
              </a:rPr>
              <a:t>(</a:t>
            </a:r>
            <a:r>
              <a:rPr lang="en-US" sz="1800" dirty="0" err="1">
                <a:latin typeface="Calisto MT" panose="02040603050505030304" pitchFamily="18" charset="0"/>
              </a:rPr>
              <a:t>sizeof</a:t>
            </a:r>
            <a:r>
              <a:rPr lang="en-US" sz="1800" dirty="0">
                <a:latin typeface="Calisto MT" panose="02040603050505030304" pitchFamily="18" charset="0"/>
              </a:rPr>
              <a:t>(Node));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E0E9273-A2B5-CF45-3A33-9A383660B75F}"/>
              </a:ext>
            </a:extLst>
          </p:cNvPr>
          <p:cNvSpPr txBox="1"/>
          <p:nvPr/>
        </p:nvSpPr>
        <p:spPr>
          <a:xfrm>
            <a:off x="5130430" y="4369282"/>
            <a:ext cx="1721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0"/>
              </a:rPr>
              <a:t>p-&gt;n-&gt;v = 8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29258CF5-148F-68F7-7BBB-48776A6A6F90}"/>
              </a:ext>
            </a:extLst>
          </p:cNvPr>
          <p:cNvGrpSpPr/>
          <p:nvPr/>
        </p:nvGrpSpPr>
        <p:grpSpPr>
          <a:xfrm>
            <a:off x="9498863" y="5244220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62A4E5F7-393E-40BC-577F-545C10C5DFB2}"/>
                </a:ext>
              </a:extLst>
            </p:cNvPr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EA88F2E-BCDE-D3FD-CE15-6BD1C5817959}"/>
                </a:ext>
              </a:extLst>
            </p:cNvPr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Calisto MT" panose="02040603050505030304" pitchFamily="18" charset="0"/>
                </a:rPr>
                <a:t>n           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AD0C4BB8-898F-41F5-91D8-BE98521152D3}"/>
              </a:ext>
            </a:extLst>
          </p:cNvPr>
          <p:cNvGrpSpPr/>
          <p:nvPr/>
        </p:nvGrpSpPr>
        <p:grpSpPr>
          <a:xfrm>
            <a:off x="8955039" y="5250701"/>
            <a:ext cx="548893" cy="548893"/>
            <a:chOff x="11643107" y="2158069"/>
            <a:chExt cx="548893" cy="548893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C19E7E9E-39BF-0627-5DD2-28C8909F14C0}"/>
                </a:ext>
              </a:extLst>
            </p:cNvPr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3B4DB5FC-2796-410F-314E-F901715934AD}"/>
                </a:ext>
              </a:extLst>
            </p:cNvPr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800" dirty="0">
                  <a:latin typeface="Calisto MT" panose="02040603050505030304" pitchFamily="18" charset="0"/>
                </a:rPr>
                <a:t>v           </a:t>
              </a:r>
            </a:p>
          </p:txBody>
        </p:sp>
      </p:grpSp>
      <p:sp>
        <p:nvSpPr>
          <p:cNvPr id="46" name="Oval 45">
            <a:extLst>
              <a:ext uri="{FF2B5EF4-FFF2-40B4-BE49-F238E27FC236}">
                <a16:creationId xmlns:a16="http://schemas.microsoft.com/office/drawing/2014/main" id="{3FF8373A-F5C0-5C5F-2F64-BF26AA4A3761}"/>
              </a:ext>
            </a:extLst>
          </p:cNvPr>
          <p:cNvSpPr/>
          <p:nvPr/>
        </p:nvSpPr>
        <p:spPr>
          <a:xfrm>
            <a:off x="10762782" y="4339394"/>
            <a:ext cx="260635" cy="26063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61A56A3E-E844-3F01-3A72-277DA0263724}"/>
              </a:ext>
            </a:extLst>
          </p:cNvPr>
          <p:cNvSpPr/>
          <p:nvPr/>
        </p:nvSpPr>
        <p:spPr>
          <a:xfrm>
            <a:off x="8808572" y="1777342"/>
            <a:ext cx="260635" cy="26063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FA5669AA-E7FF-FBCD-39F3-0C9B76718B2F}"/>
              </a:ext>
            </a:extLst>
          </p:cNvPr>
          <p:cNvSpPr/>
          <p:nvPr/>
        </p:nvSpPr>
        <p:spPr>
          <a:xfrm>
            <a:off x="10457876" y="1794434"/>
            <a:ext cx="260635" cy="26063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EE81CD50-89C4-AF8E-8734-AA3A995D5376}"/>
              </a:ext>
            </a:extLst>
          </p:cNvPr>
          <p:cNvCxnSpPr/>
          <p:nvPr/>
        </p:nvCxnSpPr>
        <p:spPr>
          <a:xfrm>
            <a:off x="9239043" y="3503683"/>
            <a:ext cx="191899" cy="174053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63E63D6-A7B4-D593-5088-C94F5CF3A1D9}"/>
              </a:ext>
            </a:extLst>
          </p:cNvPr>
          <p:cNvCxnSpPr>
            <a:endCxn id="45" idx="2"/>
          </p:cNvCxnSpPr>
          <p:nvPr/>
        </p:nvCxnSpPr>
        <p:spPr>
          <a:xfrm flipH="1" flipV="1">
            <a:off x="9205089" y="5709813"/>
            <a:ext cx="366202" cy="370698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1C34806D-216C-9A1B-7D1D-A207DE257593}"/>
              </a:ext>
            </a:extLst>
          </p:cNvPr>
          <p:cNvSpPr txBox="1"/>
          <p:nvPr/>
        </p:nvSpPr>
        <p:spPr>
          <a:xfrm>
            <a:off x="9582685" y="5895162"/>
            <a:ext cx="1130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Calisto MT" panose="02040603050505030304" pitchFamily="18" charset="0"/>
              </a:rPr>
              <a:t>Set 8 here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6AB4B059-7067-B21F-88CC-5A86664E6F62}"/>
              </a:ext>
            </a:extLst>
          </p:cNvPr>
          <p:cNvGrpSpPr/>
          <p:nvPr/>
        </p:nvGrpSpPr>
        <p:grpSpPr>
          <a:xfrm>
            <a:off x="8955038" y="5250697"/>
            <a:ext cx="548893" cy="548893"/>
            <a:chOff x="11643107" y="2158069"/>
            <a:chExt cx="548893" cy="548893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D52C1FC2-CDE2-1DF0-02BD-6B1711331C98}"/>
                </a:ext>
              </a:extLst>
            </p:cNvPr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DF2071D9-02A7-DA1D-CAEE-61ED41A59FC8}"/>
                </a:ext>
              </a:extLst>
            </p:cNvPr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800" dirty="0">
                  <a:latin typeface="Calisto MT" panose="02040603050505030304" pitchFamily="18" charset="0"/>
                </a:rPr>
                <a:t>8           </a:t>
              </a:r>
            </a:p>
          </p:txBody>
        </p:sp>
      </p:grpSp>
      <p:sp>
        <p:nvSpPr>
          <p:cNvPr id="55" name="Rectangle 54">
            <a:extLst>
              <a:ext uri="{FF2B5EF4-FFF2-40B4-BE49-F238E27FC236}">
                <a16:creationId xmlns:a16="http://schemas.microsoft.com/office/drawing/2014/main" id="{538C0252-EB5A-E4A0-AA17-795754EB154D}"/>
              </a:ext>
            </a:extLst>
          </p:cNvPr>
          <p:cNvSpPr/>
          <p:nvPr/>
        </p:nvSpPr>
        <p:spPr>
          <a:xfrm>
            <a:off x="9205087" y="5812538"/>
            <a:ext cx="1508505" cy="4519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5F2BAD7-9A62-C69C-D889-D997FDA5326E}"/>
              </a:ext>
            </a:extLst>
          </p:cNvPr>
          <p:cNvSpPr txBox="1"/>
          <p:nvPr/>
        </p:nvSpPr>
        <p:spPr>
          <a:xfrm>
            <a:off x="691896" y="4758912"/>
            <a:ext cx="5085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0"/>
              </a:rPr>
              <a:t>What will happen if you now do:  q-&gt;n = p-&gt;n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1F9A3BE5-5CF6-3D23-3477-4397C167F9B0}"/>
              </a:ext>
            </a:extLst>
          </p:cNvPr>
          <p:cNvCxnSpPr>
            <a:stCxn id="46" idx="4"/>
          </p:cNvCxnSpPr>
          <p:nvPr/>
        </p:nvCxnSpPr>
        <p:spPr>
          <a:xfrm flipH="1">
            <a:off x="9507824" y="4600029"/>
            <a:ext cx="1385276" cy="63123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2422BA5C-FA42-0BDA-7244-7EC11ECA8BB3}"/>
              </a:ext>
            </a:extLst>
          </p:cNvPr>
          <p:cNvSpPr txBox="1"/>
          <p:nvPr/>
        </p:nvSpPr>
        <p:spPr>
          <a:xfrm>
            <a:off x="698662" y="5123139"/>
            <a:ext cx="5085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0"/>
              </a:rPr>
              <a:t>What will happen if you now do:  p-&gt;n = q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CE022AC-B2CF-5EEE-02C0-AF57E9A69D85}"/>
              </a:ext>
            </a:extLst>
          </p:cNvPr>
          <p:cNvSpPr txBox="1"/>
          <p:nvPr/>
        </p:nvSpPr>
        <p:spPr>
          <a:xfrm>
            <a:off x="689851" y="5451294"/>
            <a:ext cx="2993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0"/>
              </a:rPr>
              <a:t>Now list down the values: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010B7B5-662F-5FCF-3393-FB08A0BDF9AA}"/>
              </a:ext>
            </a:extLst>
          </p:cNvPr>
          <p:cNvSpPr txBox="1"/>
          <p:nvPr/>
        </p:nvSpPr>
        <p:spPr>
          <a:xfrm>
            <a:off x="3612331" y="5451294"/>
            <a:ext cx="959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0"/>
              </a:rPr>
              <a:t>p-&gt;v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DB20943-B684-FAAA-E7B3-46312684D43C}"/>
              </a:ext>
            </a:extLst>
          </p:cNvPr>
          <p:cNvSpPr txBox="1"/>
          <p:nvPr/>
        </p:nvSpPr>
        <p:spPr>
          <a:xfrm>
            <a:off x="859343" y="5820626"/>
            <a:ext cx="678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0"/>
              </a:rPr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E0F841C-93B0-E1F1-B53C-2C17DE4A9C17}"/>
              </a:ext>
            </a:extLst>
          </p:cNvPr>
          <p:cNvSpPr txBox="1"/>
          <p:nvPr/>
        </p:nvSpPr>
        <p:spPr>
          <a:xfrm>
            <a:off x="4613596" y="5451294"/>
            <a:ext cx="1377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0"/>
              </a:rPr>
              <a:t>p-&gt;n-&gt;v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E3ACE0D-674A-5B61-966C-4AF4C451B1E3}"/>
              </a:ext>
            </a:extLst>
          </p:cNvPr>
          <p:cNvSpPr txBox="1"/>
          <p:nvPr/>
        </p:nvSpPr>
        <p:spPr>
          <a:xfrm>
            <a:off x="1707735" y="5820626"/>
            <a:ext cx="678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0"/>
              </a:rPr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EDD2BF3-3404-9D4E-111D-F2806E2B44D4}"/>
              </a:ext>
            </a:extLst>
          </p:cNvPr>
          <p:cNvSpPr txBox="1"/>
          <p:nvPr/>
        </p:nvSpPr>
        <p:spPr>
          <a:xfrm>
            <a:off x="5987496" y="5457438"/>
            <a:ext cx="959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0"/>
              </a:rPr>
              <a:t>q-&gt;v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5C82E49-B2EB-7871-644D-2F9F7EECE921}"/>
              </a:ext>
            </a:extLst>
          </p:cNvPr>
          <p:cNvSpPr txBox="1"/>
          <p:nvPr/>
        </p:nvSpPr>
        <p:spPr>
          <a:xfrm>
            <a:off x="2543244" y="5820626"/>
            <a:ext cx="678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0"/>
              </a:rPr>
              <a:t>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DBB18EC-D730-8A5F-3CC6-C30FFADC6098}"/>
              </a:ext>
            </a:extLst>
          </p:cNvPr>
          <p:cNvSpPr txBox="1"/>
          <p:nvPr/>
        </p:nvSpPr>
        <p:spPr>
          <a:xfrm>
            <a:off x="6986878" y="5451294"/>
            <a:ext cx="1377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0"/>
              </a:rPr>
              <a:t>q-&gt;n-&gt;v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679EA7B-340D-0482-3673-461C8539BD38}"/>
              </a:ext>
            </a:extLst>
          </p:cNvPr>
          <p:cNvSpPr txBox="1"/>
          <p:nvPr/>
        </p:nvSpPr>
        <p:spPr>
          <a:xfrm>
            <a:off x="3279460" y="5820626"/>
            <a:ext cx="678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0"/>
              </a:rPr>
              <a:t>8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D690CB11-5E48-E829-C3AE-BB85704AD5A9}"/>
              </a:ext>
            </a:extLst>
          </p:cNvPr>
          <p:cNvSpPr/>
          <p:nvPr/>
        </p:nvSpPr>
        <p:spPr>
          <a:xfrm>
            <a:off x="9118051" y="3478264"/>
            <a:ext cx="380812" cy="1753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2FAB396A-5927-6539-264F-076BFCD4CFD4}"/>
              </a:ext>
            </a:extLst>
          </p:cNvPr>
          <p:cNvGrpSpPr/>
          <p:nvPr/>
        </p:nvGrpSpPr>
        <p:grpSpPr>
          <a:xfrm>
            <a:off x="8411215" y="3061613"/>
            <a:ext cx="2744465" cy="2744456"/>
            <a:chOff x="8135597" y="2832311"/>
            <a:chExt cx="2744465" cy="2744456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A78C9AEC-A02D-FAC9-3096-34829A9C3DF7}"/>
                </a:ext>
              </a:extLst>
            </p:cNvPr>
            <p:cNvSpPr/>
            <p:nvPr/>
          </p:nvSpPr>
          <p:spPr>
            <a:xfrm>
              <a:off x="8135597" y="2832315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950DA3FF-4ABB-E739-F917-214B311195DE}"/>
                </a:ext>
              </a:extLst>
            </p:cNvPr>
            <p:cNvSpPr/>
            <p:nvPr/>
          </p:nvSpPr>
          <p:spPr>
            <a:xfrm>
              <a:off x="8684490" y="2832314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A3257A66-720E-6F91-8AFC-788857CAC98E}"/>
                </a:ext>
              </a:extLst>
            </p:cNvPr>
            <p:cNvSpPr/>
            <p:nvPr/>
          </p:nvSpPr>
          <p:spPr>
            <a:xfrm>
              <a:off x="9233383" y="2832313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4248AAD0-665C-39A5-0DFF-5D1EF0BAAEE5}"/>
                </a:ext>
              </a:extLst>
            </p:cNvPr>
            <p:cNvSpPr/>
            <p:nvPr/>
          </p:nvSpPr>
          <p:spPr>
            <a:xfrm>
              <a:off x="9782276" y="2832312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429B6093-6DFA-D81A-45AD-64EB56D20B27}"/>
                </a:ext>
              </a:extLst>
            </p:cNvPr>
            <p:cNvSpPr/>
            <p:nvPr/>
          </p:nvSpPr>
          <p:spPr>
            <a:xfrm>
              <a:off x="10331169" y="2832311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447F5197-5B02-D7DB-1E34-DD8091E629A0}"/>
                </a:ext>
              </a:extLst>
            </p:cNvPr>
            <p:cNvSpPr/>
            <p:nvPr/>
          </p:nvSpPr>
          <p:spPr>
            <a:xfrm>
              <a:off x="8135597" y="3381208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1D662053-9F86-AD23-75F9-7639C3FCDB62}"/>
                </a:ext>
              </a:extLst>
            </p:cNvPr>
            <p:cNvSpPr/>
            <p:nvPr/>
          </p:nvSpPr>
          <p:spPr>
            <a:xfrm>
              <a:off x="8684490" y="3381207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03790A5D-0C7B-CE36-2D0D-878150D0893A}"/>
                </a:ext>
              </a:extLst>
            </p:cNvPr>
            <p:cNvSpPr/>
            <p:nvPr/>
          </p:nvSpPr>
          <p:spPr>
            <a:xfrm>
              <a:off x="9233383" y="3381206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BCCCBDA4-B1BA-56E8-D9E5-5A94D2CAFDBB}"/>
                </a:ext>
              </a:extLst>
            </p:cNvPr>
            <p:cNvSpPr/>
            <p:nvPr/>
          </p:nvSpPr>
          <p:spPr>
            <a:xfrm>
              <a:off x="9782276" y="3381205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254CE6C1-99ED-74BF-C630-944E284C73FF}"/>
                </a:ext>
              </a:extLst>
            </p:cNvPr>
            <p:cNvSpPr/>
            <p:nvPr/>
          </p:nvSpPr>
          <p:spPr>
            <a:xfrm>
              <a:off x="10331169" y="3381204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302ED964-33CB-5EBE-4834-2459D5FC3EDE}"/>
                </a:ext>
              </a:extLst>
            </p:cNvPr>
            <p:cNvSpPr/>
            <p:nvPr/>
          </p:nvSpPr>
          <p:spPr>
            <a:xfrm>
              <a:off x="8135597" y="3930097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74E5BBDF-1911-6429-5B23-19F3FB5B4106}"/>
                </a:ext>
              </a:extLst>
            </p:cNvPr>
            <p:cNvSpPr/>
            <p:nvPr/>
          </p:nvSpPr>
          <p:spPr>
            <a:xfrm>
              <a:off x="8684490" y="3930096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DBCEAD0C-D924-2360-B648-8F3937BB6B0A}"/>
                </a:ext>
              </a:extLst>
            </p:cNvPr>
            <p:cNvSpPr/>
            <p:nvPr/>
          </p:nvSpPr>
          <p:spPr>
            <a:xfrm>
              <a:off x="9233383" y="3930095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86EF1470-173A-C087-B53E-3C2167CBDD2C}"/>
                </a:ext>
              </a:extLst>
            </p:cNvPr>
            <p:cNvSpPr/>
            <p:nvPr/>
          </p:nvSpPr>
          <p:spPr>
            <a:xfrm>
              <a:off x="9782276" y="3930094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DCC54458-65FA-3327-638F-65ED46C7E029}"/>
                </a:ext>
              </a:extLst>
            </p:cNvPr>
            <p:cNvSpPr/>
            <p:nvPr/>
          </p:nvSpPr>
          <p:spPr>
            <a:xfrm>
              <a:off x="10331169" y="3930093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BDDDF038-899D-B1B3-FC7D-69976AA3B494}"/>
                </a:ext>
              </a:extLst>
            </p:cNvPr>
            <p:cNvSpPr/>
            <p:nvPr/>
          </p:nvSpPr>
          <p:spPr>
            <a:xfrm>
              <a:off x="8135597" y="4478990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B30D4D53-BB80-EF57-3977-7EDF4EFF8091}"/>
                </a:ext>
              </a:extLst>
            </p:cNvPr>
            <p:cNvSpPr/>
            <p:nvPr/>
          </p:nvSpPr>
          <p:spPr>
            <a:xfrm>
              <a:off x="8684490" y="4478989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37ABF0D5-8376-4A6B-9CEB-536B25E6F1C2}"/>
                </a:ext>
              </a:extLst>
            </p:cNvPr>
            <p:cNvSpPr/>
            <p:nvPr/>
          </p:nvSpPr>
          <p:spPr>
            <a:xfrm>
              <a:off x="9233383" y="4478988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45173864-6EBD-8C3F-8F73-F7479D3E4C61}"/>
                </a:ext>
              </a:extLst>
            </p:cNvPr>
            <p:cNvSpPr/>
            <p:nvPr/>
          </p:nvSpPr>
          <p:spPr>
            <a:xfrm>
              <a:off x="9782276" y="4478987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C7BCD1EF-67F5-198A-09B8-11CEF5E47225}"/>
                </a:ext>
              </a:extLst>
            </p:cNvPr>
            <p:cNvSpPr/>
            <p:nvPr/>
          </p:nvSpPr>
          <p:spPr>
            <a:xfrm>
              <a:off x="10331169" y="4478986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1D9085F5-4C6C-7999-2F5B-E03D080EA843}"/>
                </a:ext>
              </a:extLst>
            </p:cNvPr>
            <p:cNvSpPr/>
            <p:nvPr/>
          </p:nvSpPr>
          <p:spPr>
            <a:xfrm>
              <a:off x="8135597" y="5027874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C15BAD66-A095-561D-B344-BF0056F7BB1A}"/>
                </a:ext>
              </a:extLst>
            </p:cNvPr>
            <p:cNvSpPr/>
            <p:nvPr/>
          </p:nvSpPr>
          <p:spPr>
            <a:xfrm>
              <a:off x="8684490" y="5027873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1E710AC0-5FF6-10CE-6E51-DD278EC5354E}"/>
                </a:ext>
              </a:extLst>
            </p:cNvPr>
            <p:cNvSpPr/>
            <p:nvPr/>
          </p:nvSpPr>
          <p:spPr>
            <a:xfrm>
              <a:off x="9233383" y="5027872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A15AB7CC-1236-4223-B9EF-4C33E048D780}"/>
                </a:ext>
              </a:extLst>
            </p:cNvPr>
            <p:cNvSpPr/>
            <p:nvPr/>
          </p:nvSpPr>
          <p:spPr>
            <a:xfrm>
              <a:off x="9782276" y="5027871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8AB762FF-262B-1723-016E-6BA1B61FB8B7}"/>
                </a:ext>
              </a:extLst>
            </p:cNvPr>
            <p:cNvSpPr/>
            <p:nvPr/>
          </p:nvSpPr>
          <p:spPr>
            <a:xfrm>
              <a:off x="10331169" y="5027870"/>
              <a:ext cx="548893" cy="548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2A7D7BE8-D741-AEAD-2CEC-F1870661A076}"/>
              </a:ext>
            </a:extLst>
          </p:cNvPr>
          <p:cNvGrpSpPr/>
          <p:nvPr/>
        </p:nvGrpSpPr>
        <p:grpSpPr>
          <a:xfrm>
            <a:off x="8956212" y="3057808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DBA7E5F8-7F2F-AC62-4DB7-DA5BD2D9B638}"/>
                </a:ext>
              </a:extLst>
            </p:cNvPr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555A2E1E-8053-F2C2-7679-4EA9315E563C}"/>
                </a:ext>
              </a:extLst>
            </p:cNvPr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Calisto MT" panose="02040603050505030304" pitchFamily="18" charset="0"/>
                </a:rPr>
                <a:t>n           </a:t>
              </a:r>
            </a:p>
          </p:txBody>
        </p:sp>
      </p:grpSp>
      <p:sp>
        <p:nvSpPr>
          <p:cNvPr id="98" name="Oval 97">
            <a:extLst>
              <a:ext uri="{FF2B5EF4-FFF2-40B4-BE49-F238E27FC236}">
                <a16:creationId xmlns:a16="http://schemas.microsoft.com/office/drawing/2014/main" id="{2D73625B-EF05-DD86-9A49-EA334983E8C9}"/>
              </a:ext>
            </a:extLst>
          </p:cNvPr>
          <p:cNvSpPr/>
          <p:nvPr/>
        </p:nvSpPr>
        <p:spPr>
          <a:xfrm>
            <a:off x="9122529" y="3236570"/>
            <a:ext cx="260635" cy="26063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08A00A25-C3D6-D88D-6B1F-C9DF4C4D1989}"/>
              </a:ext>
            </a:extLst>
          </p:cNvPr>
          <p:cNvCxnSpPr/>
          <p:nvPr/>
        </p:nvCxnSpPr>
        <p:spPr>
          <a:xfrm>
            <a:off x="9248368" y="3505466"/>
            <a:ext cx="1284982" cy="64364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02F76406-A7F4-9789-949E-B40DBCF29C0F}"/>
              </a:ext>
            </a:extLst>
          </p:cNvPr>
          <p:cNvCxnSpPr/>
          <p:nvPr/>
        </p:nvCxnSpPr>
        <p:spPr>
          <a:xfrm>
            <a:off x="10592921" y="2141847"/>
            <a:ext cx="9970" cy="201753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1020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26" grpId="0"/>
      <p:bldP spid="27" grpId="0"/>
      <p:bldP spid="28" grpId="0"/>
      <p:bldP spid="29" grpId="0"/>
      <p:bldP spid="30" grpId="0"/>
      <p:bldP spid="31" grpId="0"/>
      <p:bldP spid="38" grpId="0"/>
      <p:bldP spid="39" grpId="0"/>
      <p:bldP spid="46" grpId="0" animBg="1"/>
      <p:bldP spid="47" grpId="0" animBg="1"/>
      <p:bldP spid="48" grpId="0" animBg="1"/>
      <p:bldP spid="51" grpId="0"/>
      <p:bldP spid="55" grpId="0" animBg="1"/>
      <p:bldP spid="56" grpId="0"/>
      <p:bldP spid="58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66" grpId="0"/>
      <p:bldP spid="67" grpId="0"/>
      <p:bldP spid="68" grpId="0" animBg="1"/>
      <p:bldP spid="9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09845-B061-8EE5-E97D-2FDA7C30A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vs Linked List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63D048-EE2A-A094-1770-1B06F3DF14A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CA62E38-59FD-451F-9AA6-B569CE35F9BD}" type="datetime4">
              <a:rPr lang="en-US" smtClean="0"/>
              <a:t>March 6,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BF0DE1-9237-A725-147A-3562DE7BA99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Prepared By: Swapnil Biswas, CSE, BSMRU, Kishoreganj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2F1B96-F349-FA16-50AD-8A204406BFA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598DCE-7E43-7927-5551-8CD31E9A9B63}"/>
              </a:ext>
            </a:extLst>
          </p:cNvPr>
          <p:cNvSpPr/>
          <p:nvPr/>
        </p:nvSpPr>
        <p:spPr>
          <a:xfrm>
            <a:off x="562915" y="2130981"/>
            <a:ext cx="475862" cy="4758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F722FA-5286-9D55-662E-038740EBC40F}"/>
              </a:ext>
            </a:extLst>
          </p:cNvPr>
          <p:cNvSpPr/>
          <p:nvPr/>
        </p:nvSpPr>
        <p:spPr>
          <a:xfrm>
            <a:off x="1038777" y="2130981"/>
            <a:ext cx="475862" cy="4758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B7E092-AD7A-86BD-63B4-D2866C3B7E97}"/>
              </a:ext>
            </a:extLst>
          </p:cNvPr>
          <p:cNvSpPr/>
          <p:nvPr/>
        </p:nvSpPr>
        <p:spPr>
          <a:xfrm>
            <a:off x="1514639" y="2130981"/>
            <a:ext cx="475862" cy="4758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B85EBA8-9C82-D57E-F67A-E49394A0D2D5}"/>
              </a:ext>
            </a:extLst>
          </p:cNvPr>
          <p:cNvSpPr/>
          <p:nvPr/>
        </p:nvSpPr>
        <p:spPr>
          <a:xfrm>
            <a:off x="1990501" y="2130981"/>
            <a:ext cx="475862" cy="4758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2F4FD2-4DA4-0984-2801-A2AD7D5936F8}"/>
              </a:ext>
            </a:extLst>
          </p:cNvPr>
          <p:cNvSpPr txBox="1"/>
          <p:nvPr/>
        </p:nvSpPr>
        <p:spPr>
          <a:xfrm>
            <a:off x="623565" y="2606843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sto MT" panose="02040603050505030304" pitchFamily="18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B8B606-0D39-CF1F-FDF4-0C457D15586B}"/>
              </a:ext>
            </a:extLst>
          </p:cNvPr>
          <p:cNvSpPr txBox="1"/>
          <p:nvPr/>
        </p:nvSpPr>
        <p:spPr>
          <a:xfrm>
            <a:off x="1120255" y="260684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sto MT" panose="02040603050505030304" pitchFamily="18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61B5B90-EE04-3525-BBB4-E4B96C6C613E}"/>
              </a:ext>
            </a:extLst>
          </p:cNvPr>
          <p:cNvSpPr txBox="1"/>
          <p:nvPr/>
        </p:nvSpPr>
        <p:spPr>
          <a:xfrm>
            <a:off x="1596117" y="260684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sto MT" panose="02040603050505030304" pitchFamily="18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9555F5-B6CD-2DAE-3C49-70883A9E497C}"/>
              </a:ext>
            </a:extLst>
          </p:cNvPr>
          <p:cNvSpPr txBox="1"/>
          <p:nvPr/>
        </p:nvSpPr>
        <p:spPr>
          <a:xfrm>
            <a:off x="2092807" y="260684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sto MT" panose="02040603050505030304" pitchFamily="18" charset="0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F9C9C4E-AB37-7A7A-AA0F-22F0E206B776}"/>
              </a:ext>
            </a:extLst>
          </p:cNvPr>
          <p:cNvSpPr txBox="1"/>
          <p:nvPr/>
        </p:nvSpPr>
        <p:spPr>
          <a:xfrm>
            <a:off x="650952" y="21842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sto MT" panose="02040603050505030304" pitchFamily="18" charset="0"/>
                <a:cs typeface="Calibri" panose="020F0502020204030204" pitchFamily="34" charset="0"/>
              </a:rPr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009342-4217-458E-49B4-05E8336049CC}"/>
              </a:ext>
            </a:extLst>
          </p:cNvPr>
          <p:cNvSpPr txBox="1"/>
          <p:nvPr/>
        </p:nvSpPr>
        <p:spPr>
          <a:xfrm>
            <a:off x="1141083" y="21842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sto MT" panose="02040603050505030304" pitchFamily="18" charset="0"/>
                <a:cs typeface="Calibri" panose="020F0502020204030204" pitchFamily="34" charset="0"/>
              </a:rPr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D6E6F8E-4648-6245-7E86-B1E5A2CD04C1}"/>
              </a:ext>
            </a:extLst>
          </p:cNvPr>
          <p:cNvSpPr txBox="1"/>
          <p:nvPr/>
        </p:nvSpPr>
        <p:spPr>
          <a:xfrm>
            <a:off x="1567460" y="21842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sto MT" panose="02040603050505030304" pitchFamily="18" charset="0"/>
                <a:cs typeface="Calibri" panose="020F0502020204030204" pitchFamily="34" charset="0"/>
              </a:rPr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709D420-4289-2E1A-FAC4-39E9C01B8894}"/>
              </a:ext>
            </a:extLst>
          </p:cNvPr>
          <p:cNvSpPr txBox="1"/>
          <p:nvPr/>
        </p:nvSpPr>
        <p:spPr>
          <a:xfrm>
            <a:off x="2076371" y="21842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sto MT" panose="02040603050505030304" pitchFamily="18" charset="0"/>
                <a:cs typeface="Calibri" panose="020F0502020204030204" pitchFamily="34" charset="0"/>
              </a:rPr>
              <a:t>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A05A8AA-149C-6A32-EB2E-CC856AAC72A0}"/>
              </a:ext>
            </a:extLst>
          </p:cNvPr>
          <p:cNvSpPr txBox="1"/>
          <p:nvPr/>
        </p:nvSpPr>
        <p:spPr>
          <a:xfrm>
            <a:off x="470582" y="1657682"/>
            <a:ext cx="771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solidFill>
                  <a:srgbClr val="0070C0"/>
                </a:solidFill>
                <a:latin typeface="Calisto MT" panose="02040603050505030304" pitchFamily="18" charset="0"/>
                <a:cs typeface="Calibri" panose="020F0502020204030204" pitchFamily="34" charset="0"/>
              </a:rPr>
              <a:t>Array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8BE863-DBC0-5D6F-6C85-978C90D29F57}"/>
              </a:ext>
            </a:extLst>
          </p:cNvPr>
          <p:cNvSpPr txBox="1"/>
          <p:nvPr/>
        </p:nvSpPr>
        <p:spPr>
          <a:xfrm>
            <a:off x="462051" y="3633469"/>
            <a:ext cx="13580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solidFill>
                  <a:srgbClr val="0070C0"/>
                </a:solidFill>
                <a:latin typeface="Calisto MT" panose="02040603050505030304" pitchFamily="18" charset="0"/>
                <a:cs typeface="Calibri" panose="020F0502020204030204" pitchFamily="34" charset="0"/>
              </a:rPr>
              <a:t>Linked List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25531BB-1D26-F53E-9B85-5DE569D92C79}"/>
              </a:ext>
            </a:extLst>
          </p:cNvPr>
          <p:cNvSpPr/>
          <p:nvPr/>
        </p:nvSpPr>
        <p:spPr>
          <a:xfrm>
            <a:off x="565056" y="5288957"/>
            <a:ext cx="475862" cy="4758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1185EAB-3717-973B-D47D-0334B0FB82FE}"/>
              </a:ext>
            </a:extLst>
          </p:cNvPr>
          <p:cNvSpPr/>
          <p:nvPr/>
        </p:nvSpPr>
        <p:spPr>
          <a:xfrm>
            <a:off x="1051186" y="5288957"/>
            <a:ext cx="475862" cy="4758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40669D8-6056-6CA4-772E-DFB04CD4A217}"/>
              </a:ext>
            </a:extLst>
          </p:cNvPr>
          <p:cNvSpPr/>
          <p:nvPr/>
        </p:nvSpPr>
        <p:spPr>
          <a:xfrm>
            <a:off x="2139795" y="5288957"/>
            <a:ext cx="475862" cy="4758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BE915D4-FA47-5A22-8774-B66CA7B00574}"/>
              </a:ext>
            </a:extLst>
          </p:cNvPr>
          <p:cNvSpPr/>
          <p:nvPr/>
        </p:nvSpPr>
        <p:spPr>
          <a:xfrm>
            <a:off x="2625925" y="5288957"/>
            <a:ext cx="475862" cy="4758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F4B1102-84F3-E110-0637-BDB5CFF84460}"/>
              </a:ext>
            </a:extLst>
          </p:cNvPr>
          <p:cNvSpPr/>
          <p:nvPr/>
        </p:nvSpPr>
        <p:spPr>
          <a:xfrm>
            <a:off x="3684592" y="5288957"/>
            <a:ext cx="475862" cy="4758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113F949-FA91-69F7-734A-264F2F36CA1D}"/>
              </a:ext>
            </a:extLst>
          </p:cNvPr>
          <p:cNvSpPr/>
          <p:nvPr/>
        </p:nvSpPr>
        <p:spPr>
          <a:xfrm>
            <a:off x="4170722" y="5288957"/>
            <a:ext cx="475862" cy="4758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558AE1D-7F2C-7210-B3F9-BCCFC46A02DC}"/>
              </a:ext>
            </a:extLst>
          </p:cNvPr>
          <p:cNvSpPr/>
          <p:nvPr/>
        </p:nvSpPr>
        <p:spPr>
          <a:xfrm>
            <a:off x="5175351" y="5288957"/>
            <a:ext cx="475862" cy="4758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1C958F8-D531-68E4-2343-954F062015A6}"/>
              </a:ext>
            </a:extLst>
          </p:cNvPr>
          <p:cNvSpPr/>
          <p:nvPr/>
        </p:nvSpPr>
        <p:spPr>
          <a:xfrm>
            <a:off x="5661481" y="5288957"/>
            <a:ext cx="475862" cy="4758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A6B1868-DAAC-CF6A-F625-868B1EB12BA2}"/>
              </a:ext>
            </a:extLst>
          </p:cNvPr>
          <p:cNvGrpSpPr/>
          <p:nvPr/>
        </p:nvGrpSpPr>
        <p:grpSpPr>
          <a:xfrm>
            <a:off x="1268965" y="4749280"/>
            <a:ext cx="1483568" cy="765110"/>
            <a:chOff x="1819469" y="4422710"/>
            <a:chExt cx="1483568" cy="765110"/>
          </a:xfrm>
        </p:grpSpPr>
        <p:cxnSp>
          <p:nvCxnSpPr>
            <p:cNvPr id="34" name="Connector: Elbow 33">
              <a:extLst>
                <a:ext uri="{FF2B5EF4-FFF2-40B4-BE49-F238E27FC236}">
                  <a16:creationId xmlns:a16="http://schemas.microsoft.com/office/drawing/2014/main" id="{D1B66496-6210-CB42-992B-20336FF5B5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19469" y="4422710"/>
              <a:ext cx="1483568" cy="765110"/>
            </a:xfrm>
            <a:prstGeom prst="bentConnector3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9DF09C40-3B3F-8277-D357-25E16BBAD3C4}"/>
                </a:ext>
              </a:extLst>
            </p:cNvPr>
            <p:cNvCxnSpPr>
              <a:cxnSpLocks/>
            </p:cNvCxnSpPr>
            <p:nvPr/>
          </p:nvCxnSpPr>
          <p:spPr>
            <a:xfrm>
              <a:off x="3303037" y="4422710"/>
              <a:ext cx="0" cy="53967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FC954A3-BC45-00A6-309B-25F54ADD9383}"/>
              </a:ext>
            </a:extLst>
          </p:cNvPr>
          <p:cNvGrpSpPr/>
          <p:nvPr/>
        </p:nvGrpSpPr>
        <p:grpSpPr>
          <a:xfrm>
            <a:off x="2826032" y="4759665"/>
            <a:ext cx="1483568" cy="765110"/>
            <a:chOff x="1819469" y="4422710"/>
            <a:chExt cx="1483568" cy="765110"/>
          </a:xfrm>
        </p:grpSpPr>
        <p:cxnSp>
          <p:nvCxnSpPr>
            <p:cNvPr id="43" name="Connector: Elbow 42">
              <a:extLst>
                <a:ext uri="{FF2B5EF4-FFF2-40B4-BE49-F238E27FC236}">
                  <a16:creationId xmlns:a16="http://schemas.microsoft.com/office/drawing/2014/main" id="{B590621B-64FD-23EB-F100-6156E9AB8E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19469" y="4422710"/>
              <a:ext cx="1483568" cy="765110"/>
            </a:xfrm>
            <a:prstGeom prst="bentConnector3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3C7A097A-7929-BEE9-B18F-CDAD9E732926}"/>
                </a:ext>
              </a:extLst>
            </p:cNvPr>
            <p:cNvCxnSpPr>
              <a:cxnSpLocks/>
            </p:cNvCxnSpPr>
            <p:nvPr/>
          </p:nvCxnSpPr>
          <p:spPr>
            <a:xfrm>
              <a:off x="3303037" y="4422710"/>
              <a:ext cx="0" cy="53967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8F7616A2-4E43-1DF8-B132-12375A99A6E8}"/>
              </a:ext>
            </a:extLst>
          </p:cNvPr>
          <p:cNvGrpSpPr/>
          <p:nvPr/>
        </p:nvGrpSpPr>
        <p:grpSpPr>
          <a:xfrm>
            <a:off x="4349849" y="4759413"/>
            <a:ext cx="1483568" cy="765110"/>
            <a:chOff x="1819469" y="4422710"/>
            <a:chExt cx="1483568" cy="765110"/>
          </a:xfrm>
        </p:grpSpPr>
        <p:cxnSp>
          <p:nvCxnSpPr>
            <p:cNvPr id="46" name="Connector: Elbow 45">
              <a:extLst>
                <a:ext uri="{FF2B5EF4-FFF2-40B4-BE49-F238E27FC236}">
                  <a16:creationId xmlns:a16="http://schemas.microsoft.com/office/drawing/2014/main" id="{043B6A6C-A8DB-3B4E-1590-2AA1C89EB6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19469" y="4422710"/>
              <a:ext cx="1483568" cy="765110"/>
            </a:xfrm>
            <a:prstGeom prst="bentConnector3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239E60BF-D4CB-5ADA-AC5C-E1EFB2C065EB}"/>
                </a:ext>
              </a:extLst>
            </p:cNvPr>
            <p:cNvCxnSpPr>
              <a:cxnSpLocks/>
            </p:cNvCxnSpPr>
            <p:nvPr/>
          </p:nvCxnSpPr>
          <p:spPr>
            <a:xfrm>
              <a:off x="3303037" y="4422710"/>
              <a:ext cx="0" cy="53967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5F92D510-F6D4-CD8A-38C6-2C00366D1F9B}"/>
              </a:ext>
            </a:extLst>
          </p:cNvPr>
          <p:cNvGrpSpPr/>
          <p:nvPr/>
        </p:nvGrpSpPr>
        <p:grpSpPr>
          <a:xfrm>
            <a:off x="5823149" y="4749280"/>
            <a:ext cx="1483568" cy="765110"/>
            <a:chOff x="1819469" y="4422710"/>
            <a:chExt cx="1483568" cy="765110"/>
          </a:xfrm>
        </p:grpSpPr>
        <p:cxnSp>
          <p:nvCxnSpPr>
            <p:cNvPr id="49" name="Connector: Elbow 48">
              <a:extLst>
                <a:ext uri="{FF2B5EF4-FFF2-40B4-BE49-F238E27FC236}">
                  <a16:creationId xmlns:a16="http://schemas.microsoft.com/office/drawing/2014/main" id="{20592B86-3179-2AD9-89A1-44E9B13F8C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19469" y="4422710"/>
              <a:ext cx="1483568" cy="765110"/>
            </a:xfrm>
            <a:prstGeom prst="bentConnector3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487534AF-B64C-30E8-39F1-8C5FD4D16BE8}"/>
                </a:ext>
              </a:extLst>
            </p:cNvPr>
            <p:cNvCxnSpPr>
              <a:cxnSpLocks/>
            </p:cNvCxnSpPr>
            <p:nvPr/>
          </p:nvCxnSpPr>
          <p:spPr>
            <a:xfrm>
              <a:off x="3303037" y="4422710"/>
              <a:ext cx="0" cy="53967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Isosceles Triangle 50">
            <a:extLst>
              <a:ext uri="{FF2B5EF4-FFF2-40B4-BE49-F238E27FC236}">
                <a16:creationId xmlns:a16="http://schemas.microsoft.com/office/drawing/2014/main" id="{CAAE63A1-EF08-EE7A-CF6F-C44ECB904757}"/>
              </a:ext>
            </a:extLst>
          </p:cNvPr>
          <p:cNvSpPr/>
          <p:nvPr/>
        </p:nvSpPr>
        <p:spPr>
          <a:xfrm>
            <a:off x="7078177" y="5240532"/>
            <a:ext cx="475862" cy="475862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F95E2A8-0FC0-5D91-35A6-C6AF8744BABA}"/>
              </a:ext>
            </a:extLst>
          </p:cNvPr>
          <p:cNvSpPr txBox="1"/>
          <p:nvPr/>
        </p:nvSpPr>
        <p:spPr>
          <a:xfrm>
            <a:off x="687660" y="4094382"/>
            <a:ext cx="65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sto MT" panose="02040603050505030304" pitchFamily="18" charset="0"/>
              </a:rPr>
              <a:t>head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4BDAC22A-7986-F39F-E9D5-B098D382D0E0}"/>
              </a:ext>
            </a:extLst>
          </p:cNvPr>
          <p:cNvCxnSpPr>
            <a:stCxn id="52" idx="2"/>
          </p:cNvCxnSpPr>
          <p:nvPr/>
        </p:nvCxnSpPr>
        <p:spPr>
          <a:xfrm flipH="1">
            <a:off x="1015634" y="4463714"/>
            <a:ext cx="1" cy="83774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5EA3740D-14D7-A421-E9AA-0A9C485DFE73}"/>
              </a:ext>
            </a:extLst>
          </p:cNvPr>
          <p:cNvSpPr txBox="1"/>
          <p:nvPr/>
        </p:nvSpPr>
        <p:spPr>
          <a:xfrm>
            <a:off x="662411" y="534222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sto MT" panose="02040603050505030304" pitchFamily="18" charset="0"/>
              </a:rPr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BA30CE8-D9A5-CC71-1F0E-827B2F809714}"/>
              </a:ext>
            </a:extLst>
          </p:cNvPr>
          <p:cNvSpPr txBox="1"/>
          <p:nvPr/>
        </p:nvSpPr>
        <p:spPr>
          <a:xfrm>
            <a:off x="2216995" y="534222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sto MT" panose="02040603050505030304" pitchFamily="18" charset="0"/>
              </a:rPr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6999601-E4D6-3A21-A5DE-CE6884ABE51E}"/>
              </a:ext>
            </a:extLst>
          </p:cNvPr>
          <p:cNvSpPr txBox="1"/>
          <p:nvPr/>
        </p:nvSpPr>
        <p:spPr>
          <a:xfrm>
            <a:off x="3771680" y="534010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sto MT" panose="02040603050505030304" pitchFamily="18" charset="0"/>
              </a:rPr>
              <a:t>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EF7673A-EA55-57D8-2E56-44995B3F5C73}"/>
              </a:ext>
            </a:extLst>
          </p:cNvPr>
          <p:cNvSpPr txBox="1"/>
          <p:nvPr/>
        </p:nvSpPr>
        <p:spPr>
          <a:xfrm>
            <a:off x="5262943" y="53759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sto MT" panose="02040603050505030304" pitchFamily="18" charset="0"/>
              </a:rPr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1A75C0D-D927-F6A1-1C8D-C6DAA79D7499}"/>
              </a:ext>
            </a:extLst>
          </p:cNvPr>
          <p:cNvSpPr txBox="1"/>
          <p:nvPr/>
        </p:nvSpPr>
        <p:spPr>
          <a:xfrm>
            <a:off x="7282521" y="1390484"/>
            <a:ext cx="771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solidFill>
                  <a:srgbClr val="0070C0"/>
                </a:solidFill>
                <a:latin typeface="Calisto MT" panose="02040603050505030304" pitchFamily="18" charset="0"/>
              </a:rPr>
              <a:t>Array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549C291-24CE-8A90-B26B-0447A8EA694D}"/>
              </a:ext>
            </a:extLst>
          </p:cNvPr>
          <p:cNvSpPr txBox="1"/>
          <p:nvPr/>
        </p:nvSpPr>
        <p:spPr>
          <a:xfrm>
            <a:off x="7282521" y="3667371"/>
            <a:ext cx="13580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solidFill>
                  <a:srgbClr val="0070C0"/>
                </a:solidFill>
                <a:latin typeface="Calisto MT" panose="02040603050505030304" pitchFamily="18" charset="0"/>
              </a:rPr>
              <a:t>Linked List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498189B-BA33-BA4D-050D-FAB4150A401F}"/>
              </a:ext>
            </a:extLst>
          </p:cNvPr>
          <p:cNvSpPr txBox="1"/>
          <p:nvPr/>
        </p:nvSpPr>
        <p:spPr>
          <a:xfrm>
            <a:off x="7524037" y="1758638"/>
            <a:ext cx="1019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listo MT" panose="02040603050505030304" pitchFamily="18" charset="0"/>
              </a:rPr>
              <a:t>Static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F02791E-1044-AA58-837C-1D69593FECB4}"/>
              </a:ext>
            </a:extLst>
          </p:cNvPr>
          <p:cNvSpPr txBox="1"/>
          <p:nvPr/>
        </p:nvSpPr>
        <p:spPr>
          <a:xfrm>
            <a:off x="7524036" y="4010335"/>
            <a:ext cx="1382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listo MT" panose="02040603050505030304" pitchFamily="18" charset="0"/>
              </a:rPr>
              <a:t>Dynamic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5B1F9FB-BCC7-4DBC-ED98-46DF10F7C6CF}"/>
              </a:ext>
            </a:extLst>
          </p:cNvPr>
          <p:cNvSpPr txBox="1"/>
          <p:nvPr/>
        </p:nvSpPr>
        <p:spPr>
          <a:xfrm>
            <a:off x="7524036" y="2126792"/>
            <a:ext cx="3802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listo MT" panose="02040603050505030304" pitchFamily="18" charset="0"/>
              </a:rPr>
              <a:t>Each element is accessed by index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4DADD41-F36C-A4FB-BAAC-CEB5153D338C}"/>
              </a:ext>
            </a:extLst>
          </p:cNvPr>
          <p:cNvSpPr txBox="1"/>
          <p:nvPr/>
        </p:nvSpPr>
        <p:spPr>
          <a:xfrm>
            <a:off x="7524036" y="4379667"/>
            <a:ext cx="4535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listo MT" panose="02040603050505030304" pitchFamily="18" charset="0"/>
              </a:rPr>
              <a:t>Each element is accessed by link (pointer)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99AF5FB-9059-F5A5-8BB4-BB1C9FE1482E}"/>
              </a:ext>
            </a:extLst>
          </p:cNvPr>
          <p:cNvSpPr txBox="1"/>
          <p:nvPr/>
        </p:nvSpPr>
        <p:spPr>
          <a:xfrm>
            <a:off x="7524036" y="2540934"/>
            <a:ext cx="4059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listo MT" panose="02040603050505030304" pitchFamily="18" charset="0"/>
              </a:rPr>
              <a:t>First element is accessed by 0</a:t>
            </a:r>
            <a:r>
              <a:rPr lang="en-US" sz="1800" baseline="30000" dirty="0">
                <a:solidFill>
                  <a:schemeClr val="tx1"/>
                </a:solidFill>
                <a:latin typeface="Calisto MT" panose="02040603050505030304" pitchFamily="18" charset="0"/>
              </a:rPr>
              <a:t>th</a:t>
            </a:r>
            <a:r>
              <a:rPr lang="en-US" sz="1800" dirty="0">
                <a:solidFill>
                  <a:schemeClr val="tx1"/>
                </a:solidFill>
                <a:latin typeface="Calisto MT" panose="02040603050505030304" pitchFamily="18" charset="0"/>
              </a:rPr>
              <a:t> index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856CDC8-B06D-DDB8-3C11-3271DC212BEF}"/>
              </a:ext>
            </a:extLst>
          </p:cNvPr>
          <p:cNvSpPr txBox="1"/>
          <p:nvPr/>
        </p:nvSpPr>
        <p:spPr>
          <a:xfrm>
            <a:off x="7524036" y="4772636"/>
            <a:ext cx="4434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listo MT" panose="02040603050505030304" pitchFamily="18" charset="0"/>
              </a:rPr>
              <a:t>First element is accessed by head pointer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1273FD4-2DC7-86D7-FBB8-99EDF5368511}"/>
              </a:ext>
            </a:extLst>
          </p:cNvPr>
          <p:cNvSpPr txBox="1"/>
          <p:nvPr/>
        </p:nvSpPr>
        <p:spPr>
          <a:xfrm>
            <a:off x="7554039" y="2951414"/>
            <a:ext cx="4697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listo MT" panose="02040603050505030304" pitchFamily="18" charset="0"/>
              </a:rPr>
              <a:t>Ex: 5 is accessed by 2</a:t>
            </a:r>
            <a:r>
              <a:rPr lang="en-US" sz="1800" baseline="30000" dirty="0">
                <a:solidFill>
                  <a:schemeClr val="tx1"/>
                </a:solidFill>
                <a:latin typeface="Calisto MT" panose="02040603050505030304" pitchFamily="18" charset="0"/>
              </a:rPr>
              <a:t>nd</a:t>
            </a:r>
            <a:r>
              <a:rPr lang="en-US" sz="1800" dirty="0">
                <a:solidFill>
                  <a:schemeClr val="tx1"/>
                </a:solidFill>
                <a:latin typeface="Calisto MT" panose="02040603050505030304" pitchFamily="18" charset="0"/>
              </a:rPr>
              <a:t> index: </a:t>
            </a:r>
            <a:r>
              <a:rPr lang="en-US" sz="1800" dirty="0" err="1">
                <a:solidFill>
                  <a:schemeClr val="tx1"/>
                </a:solidFill>
                <a:latin typeface="Calisto MT" panose="02040603050505030304" pitchFamily="18" charset="0"/>
              </a:rPr>
              <a:t>cout</a:t>
            </a:r>
            <a:r>
              <a:rPr lang="en-US" sz="1800" dirty="0">
                <a:solidFill>
                  <a:schemeClr val="tx1"/>
                </a:solidFill>
                <a:latin typeface="Calisto MT" panose="02040603050505030304" pitchFamily="18" charset="0"/>
              </a:rPr>
              <a:t>&lt;&lt;a[2];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9D76BDE-3139-1E06-A294-D9E006E9B78A}"/>
              </a:ext>
            </a:extLst>
          </p:cNvPr>
          <p:cNvSpPr txBox="1"/>
          <p:nvPr/>
        </p:nvSpPr>
        <p:spPr>
          <a:xfrm>
            <a:off x="250748" y="2173447"/>
            <a:ext cx="298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latin typeface="Calisto MT" panose="02040603050505030304" pitchFamily="18" charset="0"/>
                <a:cs typeface="Calibri" panose="020F0502020204030204" pitchFamily="34" charset="0"/>
              </a:rPr>
              <a:t>a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EAB07591-27FB-2FE9-E954-2B214B6D82D1}"/>
              </a:ext>
            </a:extLst>
          </p:cNvPr>
          <p:cNvSpPr/>
          <p:nvPr/>
        </p:nvSpPr>
        <p:spPr>
          <a:xfrm>
            <a:off x="1567460" y="1690688"/>
            <a:ext cx="351171" cy="153384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356C190-663C-1949-0855-A57033E01022}"/>
              </a:ext>
            </a:extLst>
          </p:cNvPr>
          <p:cNvSpPr txBox="1"/>
          <p:nvPr/>
        </p:nvSpPr>
        <p:spPr>
          <a:xfrm>
            <a:off x="7554039" y="5191282"/>
            <a:ext cx="3772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listo MT" panose="02040603050505030304" pitchFamily="18" charset="0"/>
              </a:rPr>
              <a:t>Ex: 5 is accessed by link traversal.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341E66C8-8388-837A-0F8B-D9AC9C2B8FCD}"/>
              </a:ext>
            </a:extLst>
          </p:cNvPr>
          <p:cNvCxnSpPr/>
          <p:nvPr/>
        </p:nvCxnSpPr>
        <p:spPr>
          <a:xfrm flipH="1">
            <a:off x="1019499" y="4451216"/>
            <a:ext cx="1" cy="83774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5" name="Group 74">
            <a:extLst>
              <a:ext uri="{FF2B5EF4-FFF2-40B4-BE49-F238E27FC236}">
                <a16:creationId xmlns:a16="http://schemas.microsoft.com/office/drawing/2014/main" id="{B0CED49A-3F06-E44D-C502-C9B6FF79C20F}"/>
              </a:ext>
            </a:extLst>
          </p:cNvPr>
          <p:cNvGrpSpPr/>
          <p:nvPr/>
        </p:nvGrpSpPr>
        <p:grpSpPr>
          <a:xfrm>
            <a:off x="1270820" y="4751146"/>
            <a:ext cx="1483568" cy="765110"/>
            <a:chOff x="1819469" y="4422710"/>
            <a:chExt cx="1483568" cy="765110"/>
          </a:xfrm>
        </p:grpSpPr>
        <p:cxnSp>
          <p:nvCxnSpPr>
            <p:cNvPr id="76" name="Connector: Elbow 75">
              <a:extLst>
                <a:ext uri="{FF2B5EF4-FFF2-40B4-BE49-F238E27FC236}">
                  <a16:creationId xmlns:a16="http://schemas.microsoft.com/office/drawing/2014/main" id="{FE743DC1-185E-2A3E-A710-453B36CC79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19469" y="4422710"/>
              <a:ext cx="1483568" cy="765110"/>
            </a:xfrm>
            <a:prstGeom prst="bentConnector3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1266405A-743D-4A8D-B02C-941003556419}"/>
                </a:ext>
              </a:extLst>
            </p:cNvPr>
            <p:cNvCxnSpPr>
              <a:cxnSpLocks/>
            </p:cNvCxnSpPr>
            <p:nvPr/>
          </p:nvCxnSpPr>
          <p:spPr>
            <a:xfrm>
              <a:off x="3303037" y="4422710"/>
              <a:ext cx="0" cy="53967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24903868-9C62-AB76-1F89-F035024360A3}"/>
              </a:ext>
            </a:extLst>
          </p:cNvPr>
          <p:cNvGrpSpPr/>
          <p:nvPr/>
        </p:nvGrpSpPr>
        <p:grpSpPr>
          <a:xfrm>
            <a:off x="2822485" y="4756142"/>
            <a:ext cx="1483568" cy="765110"/>
            <a:chOff x="1819469" y="4422710"/>
            <a:chExt cx="1483568" cy="765110"/>
          </a:xfrm>
        </p:grpSpPr>
        <p:cxnSp>
          <p:nvCxnSpPr>
            <p:cNvPr id="79" name="Connector: Elbow 78">
              <a:extLst>
                <a:ext uri="{FF2B5EF4-FFF2-40B4-BE49-F238E27FC236}">
                  <a16:creationId xmlns:a16="http://schemas.microsoft.com/office/drawing/2014/main" id="{DC4D6AC2-85E9-DFA0-6796-F50FD9F00A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19469" y="4422710"/>
              <a:ext cx="1483568" cy="765110"/>
            </a:xfrm>
            <a:prstGeom prst="bentConnector3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0046CFFD-31A8-935D-24CD-5DC8EA30539C}"/>
                </a:ext>
              </a:extLst>
            </p:cNvPr>
            <p:cNvCxnSpPr>
              <a:cxnSpLocks/>
            </p:cNvCxnSpPr>
            <p:nvPr/>
          </p:nvCxnSpPr>
          <p:spPr>
            <a:xfrm>
              <a:off x="3303037" y="4422710"/>
              <a:ext cx="0" cy="53967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1" name="Rectangle 80">
            <a:extLst>
              <a:ext uri="{FF2B5EF4-FFF2-40B4-BE49-F238E27FC236}">
                <a16:creationId xmlns:a16="http://schemas.microsoft.com/office/drawing/2014/main" id="{E82384B9-2B4F-8260-DCDF-5C3A3C2FE6E9}"/>
              </a:ext>
            </a:extLst>
          </p:cNvPr>
          <p:cNvSpPr/>
          <p:nvPr/>
        </p:nvSpPr>
        <p:spPr>
          <a:xfrm>
            <a:off x="3684592" y="5301455"/>
            <a:ext cx="475862" cy="47586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50EB63A7-295A-83B2-7FBF-4FFE0AA56A5A}"/>
              </a:ext>
            </a:extLst>
          </p:cNvPr>
          <p:cNvSpPr/>
          <p:nvPr/>
        </p:nvSpPr>
        <p:spPr>
          <a:xfrm>
            <a:off x="4170722" y="5301455"/>
            <a:ext cx="475862" cy="47586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908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/>
      <p:bldP spid="64" grpId="0"/>
      <p:bldP spid="65" grpId="0"/>
      <p:bldP spid="66" grpId="0"/>
      <p:bldP spid="67" grpId="0"/>
      <p:bldP spid="68" grpId="0"/>
      <p:bldP spid="69" grpId="0"/>
      <p:bldP spid="71" grpId="0" animBg="1"/>
      <p:bldP spid="73" grpId="0"/>
      <p:bldP spid="81" grpId="0" animBg="1"/>
      <p:bldP spid="8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6568A-1AC9-D6F6-D13C-A05A7E913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E743A-14C3-D466-DD89-23591937B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Inside a Linked List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035AC5-BFE3-D9CA-A954-8170CC23582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CA62E38-59FD-451F-9AA6-B569CE35F9BD}" type="datetime4">
              <a:rPr lang="en-US" smtClean="0"/>
              <a:t>March 6,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326B3D-ED4C-CC81-76D3-110822B6B9B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Prepared By: Swapnil Biswas, CSE, BSMRU, Kishoreganj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9B6A34-4543-68F2-9ED1-878D1880502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60B005F-EEFA-8D3D-2834-B8A34F96A541}"/>
              </a:ext>
            </a:extLst>
          </p:cNvPr>
          <p:cNvSpPr/>
          <p:nvPr/>
        </p:nvSpPr>
        <p:spPr>
          <a:xfrm>
            <a:off x="838200" y="2700597"/>
            <a:ext cx="475862" cy="4758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C48591C-9B0E-C473-DA52-F1CBFAAEF82B}"/>
              </a:ext>
            </a:extLst>
          </p:cNvPr>
          <p:cNvSpPr/>
          <p:nvPr/>
        </p:nvSpPr>
        <p:spPr>
          <a:xfrm>
            <a:off x="1324330" y="2700597"/>
            <a:ext cx="475862" cy="4758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F5D13D3-6A27-36EF-594A-C36FF3F7CC5C}"/>
              </a:ext>
            </a:extLst>
          </p:cNvPr>
          <p:cNvSpPr/>
          <p:nvPr/>
        </p:nvSpPr>
        <p:spPr>
          <a:xfrm>
            <a:off x="2412939" y="2700597"/>
            <a:ext cx="475862" cy="4758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51E562C-4FBC-10B9-E592-CB5AE67D5B45}"/>
              </a:ext>
            </a:extLst>
          </p:cNvPr>
          <p:cNvSpPr/>
          <p:nvPr/>
        </p:nvSpPr>
        <p:spPr>
          <a:xfrm>
            <a:off x="2899069" y="2700597"/>
            <a:ext cx="475862" cy="4758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7E54BE5-E407-854D-DF86-26E22372E354}"/>
              </a:ext>
            </a:extLst>
          </p:cNvPr>
          <p:cNvSpPr/>
          <p:nvPr/>
        </p:nvSpPr>
        <p:spPr>
          <a:xfrm>
            <a:off x="3957736" y="2700597"/>
            <a:ext cx="475862" cy="4758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5AEF3C6-440A-6519-61A7-10A3F83F974E}"/>
              </a:ext>
            </a:extLst>
          </p:cNvPr>
          <p:cNvSpPr/>
          <p:nvPr/>
        </p:nvSpPr>
        <p:spPr>
          <a:xfrm>
            <a:off x="4443866" y="2700597"/>
            <a:ext cx="475862" cy="4758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23FB90DB-D36E-1B8F-DAF2-4F393ACFBE96}"/>
              </a:ext>
            </a:extLst>
          </p:cNvPr>
          <p:cNvGrpSpPr/>
          <p:nvPr/>
        </p:nvGrpSpPr>
        <p:grpSpPr>
          <a:xfrm>
            <a:off x="1542109" y="2160920"/>
            <a:ext cx="1483568" cy="765110"/>
            <a:chOff x="1819469" y="4422710"/>
            <a:chExt cx="1483568" cy="765110"/>
          </a:xfrm>
        </p:grpSpPr>
        <p:cxnSp>
          <p:nvCxnSpPr>
            <p:cNvPr id="34" name="Connector: Elbow 33">
              <a:extLst>
                <a:ext uri="{FF2B5EF4-FFF2-40B4-BE49-F238E27FC236}">
                  <a16:creationId xmlns:a16="http://schemas.microsoft.com/office/drawing/2014/main" id="{E4FF1B5A-092A-E0AD-E595-78F83D60AD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19469" y="4422710"/>
              <a:ext cx="1483568" cy="765110"/>
            </a:xfrm>
            <a:prstGeom prst="bentConnector3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362E9701-B3AF-518E-E7C5-C3FAC009B490}"/>
                </a:ext>
              </a:extLst>
            </p:cNvPr>
            <p:cNvCxnSpPr>
              <a:cxnSpLocks/>
            </p:cNvCxnSpPr>
            <p:nvPr/>
          </p:nvCxnSpPr>
          <p:spPr>
            <a:xfrm>
              <a:off x="3303037" y="4422710"/>
              <a:ext cx="0" cy="53967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481EF114-0A9F-A443-14AD-EA83E5953517}"/>
              </a:ext>
            </a:extLst>
          </p:cNvPr>
          <p:cNvGrpSpPr/>
          <p:nvPr/>
        </p:nvGrpSpPr>
        <p:grpSpPr>
          <a:xfrm>
            <a:off x="3099176" y="2171305"/>
            <a:ext cx="1483568" cy="765110"/>
            <a:chOff x="1819469" y="4422710"/>
            <a:chExt cx="1483568" cy="765110"/>
          </a:xfrm>
        </p:grpSpPr>
        <p:cxnSp>
          <p:nvCxnSpPr>
            <p:cNvPr id="43" name="Connector: Elbow 42">
              <a:extLst>
                <a:ext uri="{FF2B5EF4-FFF2-40B4-BE49-F238E27FC236}">
                  <a16:creationId xmlns:a16="http://schemas.microsoft.com/office/drawing/2014/main" id="{6C1329B8-C221-561D-B52F-3FAC68B739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19469" y="4422710"/>
              <a:ext cx="1483568" cy="765110"/>
            </a:xfrm>
            <a:prstGeom prst="bentConnector3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65D18768-94A7-5CCB-E1ED-9A02E0222F55}"/>
                </a:ext>
              </a:extLst>
            </p:cNvPr>
            <p:cNvCxnSpPr>
              <a:cxnSpLocks/>
            </p:cNvCxnSpPr>
            <p:nvPr/>
          </p:nvCxnSpPr>
          <p:spPr>
            <a:xfrm>
              <a:off x="3303037" y="4422710"/>
              <a:ext cx="0" cy="53967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BE80C636-00A1-29E1-4260-2FFF88D2EA6A}"/>
              </a:ext>
            </a:extLst>
          </p:cNvPr>
          <p:cNvGrpSpPr/>
          <p:nvPr/>
        </p:nvGrpSpPr>
        <p:grpSpPr>
          <a:xfrm>
            <a:off x="4622993" y="2171053"/>
            <a:ext cx="1483568" cy="765110"/>
            <a:chOff x="1819469" y="4422710"/>
            <a:chExt cx="1483568" cy="765110"/>
          </a:xfrm>
        </p:grpSpPr>
        <p:cxnSp>
          <p:nvCxnSpPr>
            <p:cNvPr id="46" name="Connector: Elbow 45">
              <a:extLst>
                <a:ext uri="{FF2B5EF4-FFF2-40B4-BE49-F238E27FC236}">
                  <a16:creationId xmlns:a16="http://schemas.microsoft.com/office/drawing/2014/main" id="{A30CBF86-A7D6-D60E-5897-4ACB64C88B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19469" y="4422710"/>
              <a:ext cx="1483568" cy="765110"/>
            </a:xfrm>
            <a:prstGeom prst="bentConnector3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082D0C37-5F75-6BB0-F9AB-166161F94726}"/>
                </a:ext>
              </a:extLst>
            </p:cNvPr>
            <p:cNvCxnSpPr>
              <a:cxnSpLocks/>
            </p:cNvCxnSpPr>
            <p:nvPr/>
          </p:nvCxnSpPr>
          <p:spPr>
            <a:xfrm>
              <a:off x="3303037" y="4422710"/>
              <a:ext cx="0" cy="53967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Isosceles Triangle 50">
            <a:extLst>
              <a:ext uri="{FF2B5EF4-FFF2-40B4-BE49-F238E27FC236}">
                <a16:creationId xmlns:a16="http://schemas.microsoft.com/office/drawing/2014/main" id="{0EB7F6B0-6C49-245C-C0EF-6210D83E95FC}"/>
              </a:ext>
            </a:extLst>
          </p:cNvPr>
          <p:cNvSpPr/>
          <p:nvPr/>
        </p:nvSpPr>
        <p:spPr>
          <a:xfrm>
            <a:off x="5868630" y="2653388"/>
            <a:ext cx="475862" cy="475862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739CD9D-3B8F-FC72-701C-AA4BA5320126}"/>
              </a:ext>
            </a:extLst>
          </p:cNvPr>
          <p:cNvSpPr txBox="1"/>
          <p:nvPr/>
        </p:nvSpPr>
        <p:spPr>
          <a:xfrm>
            <a:off x="960804" y="1506022"/>
            <a:ext cx="65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sto MT" panose="02040603050505030304" pitchFamily="18" charset="0"/>
              </a:rPr>
              <a:t>head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C374E368-268E-665C-2385-5E2A7C0FE8AA}"/>
              </a:ext>
            </a:extLst>
          </p:cNvPr>
          <p:cNvCxnSpPr>
            <a:stCxn id="52" idx="2"/>
          </p:cNvCxnSpPr>
          <p:nvPr/>
        </p:nvCxnSpPr>
        <p:spPr>
          <a:xfrm flipH="1">
            <a:off x="1288778" y="1875354"/>
            <a:ext cx="1" cy="83774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50D7A4E1-5ACE-EA5E-A495-4093E0EB6158}"/>
              </a:ext>
            </a:extLst>
          </p:cNvPr>
          <p:cNvSpPr txBox="1"/>
          <p:nvPr/>
        </p:nvSpPr>
        <p:spPr>
          <a:xfrm>
            <a:off x="935555" y="275386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sto MT" panose="02040603050505030304" pitchFamily="18" charset="0"/>
              </a:rPr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0D318E2-F76A-4E78-85F7-C1D9C506FE86}"/>
              </a:ext>
            </a:extLst>
          </p:cNvPr>
          <p:cNvSpPr txBox="1"/>
          <p:nvPr/>
        </p:nvSpPr>
        <p:spPr>
          <a:xfrm>
            <a:off x="2490139" y="275386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sto MT" panose="02040603050505030304" pitchFamily="18" charset="0"/>
              </a:rPr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C9E5155-CCD6-CE62-291F-A64DE50D3627}"/>
              </a:ext>
            </a:extLst>
          </p:cNvPr>
          <p:cNvSpPr txBox="1"/>
          <p:nvPr/>
        </p:nvSpPr>
        <p:spPr>
          <a:xfrm>
            <a:off x="4044824" y="275174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sto MT" panose="02040603050505030304" pitchFamily="18" charset="0"/>
              </a:rPr>
              <a:t>5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7FBE4DD-59A4-6710-DF9D-9BAD5FAF4B3B}"/>
              </a:ext>
            </a:extLst>
          </p:cNvPr>
          <p:cNvSpPr/>
          <p:nvPr/>
        </p:nvSpPr>
        <p:spPr>
          <a:xfrm>
            <a:off x="2000299" y="2529229"/>
            <a:ext cx="1756780" cy="83774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675050-53B0-68E5-7C63-4A5F76A5B502}"/>
              </a:ext>
            </a:extLst>
          </p:cNvPr>
          <p:cNvSpPr txBox="1"/>
          <p:nvPr/>
        </p:nvSpPr>
        <p:spPr>
          <a:xfrm>
            <a:off x="3090796" y="2194425"/>
            <a:ext cx="728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solidFill>
                  <a:srgbClr val="0070C0"/>
                </a:solidFill>
                <a:latin typeface="Calisto MT" panose="02040603050505030304" pitchFamily="18" charset="0"/>
              </a:rPr>
              <a:t>Node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6B6DF4-3736-716E-5115-4F46F3241AC7}"/>
              </a:ext>
            </a:extLst>
          </p:cNvPr>
          <p:cNvSpPr txBox="1"/>
          <p:nvPr/>
        </p:nvSpPr>
        <p:spPr>
          <a:xfrm>
            <a:off x="1599305" y="3559180"/>
            <a:ext cx="726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>
                <a:solidFill>
                  <a:srgbClr val="0070C0"/>
                </a:solidFill>
                <a:latin typeface="Calisto MT" panose="02040603050505030304" pitchFamily="18" charset="0"/>
              </a:rPr>
              <a:t>value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0CF26C3-4C76-3109-A065-62E8F4D2EF4A}"/>
              </a:ext>
            </a:extLst>
          </p:cNvPr>
          <p:cNvSpPr txBox="1"/>
          <p:nvPr/>
        </p:nvSpPr>
        <p:spPr>
          <a:xfrm>
            <a:off x="1490892" y="3836179"/>
            <a:ext cx="922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>
                <a:solidFill>
                  <a:srgbClr val="0070C0"/>
                </a:solidFill>
                <a:latin typeface="Calisto MT" panose="02040603050505030304" pitchFamily="18" charset="0"/>
              </a:rPr>
              <a:t>Type: ?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B3EBE22-04F0-4F66-5B6B-EDE26BD91F8E}"/>
              </a:ext>
            </a:extLst>
          </p:cNvPr>
          <p:cNvCxnSpPr>
            <a:cxnSpLocks/>
            <a:stCxn id="56" idx="2"/>
            <a:endCxn id="8" idx="0"/>
          </p:cNvCxnSpPr>
          <p:nvPr/>
        </p:nvCxnSpPr>
        <p:spPr>
          <a:xfrm flipH="1">
            <a:off x="1962546" y="3123194"/>
            <a:ext cx="678436" cy="43598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B770CF95-E9D7-0077-1564-E62D2B85AA94}"/>
              </a:ext>
            </a:extLst>
          </p:cNvPr>
          <p:cNvSpPr txBox="1"/>
          <p:nvPr/>
        </p:nvSpPr>
        <p:spPr>
          <a:xfrm>
            <a:off x="2141416" y="3836179"/>
            <a:ext cx="46679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>
                <a:solidFill>
                  <a:srgbClr val="0070C0"/>
                </a:solidFill>
                <a:latin typeface="Calisto MT" panose="02040603050505030304" pitchFamily="18" charset="0"/>
              </a:rPr>
              <a:t>int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2A74F27-2B4B-CE0A-8538-8CC18E3FBBCE}"/>
              </a:ext>
            </a:extLst>
          </p:cNvPr>
          <p:cNvCxnSpPr>
            <a:cxnSpLocks/>
          </p:cNvCxnSpPr>
          <p:nvPr/>
        </p:nvCxnSpPr>
        <p:spPr>
          <a:xfrm>
            <a:off x="3099172" y="3067494"/>
            <a:ext cx="573155" cy="49168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3E04FE54-D6D1-C15A-340D-2624731022EB}"/>
              </a:ext>
            </a:extLst>
          </p:cNvPr>
          <p:cNvSpPr txBox="1"/>
          <p:nvPr/>
        </p:nvSpPr>
        <p:spPr>
          <a:xfrm>
            <a:off x="3217542" y="3549201"/>
            <a:ext cx="9156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>
                <a:solidFill>
                  <a:srgbClr val="0070C0"/>
                </a:solidFill>
                <a:latin typeface="Calisto MT" panose="02040603050505030304" pitchFamily="18" charset="0"/>
              </a:rPr>
              <a:t>pointer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EAA697C-A445-48C1-0A06-1296477B68B3}"/>
              </a:ext>
            </a:extLst>
          </p:cNvPr>
          <p:cNvSpPr txBox="1"/>
          <p:nvPr/>
        </p:nvSpPr>
        <p:spPr>
          <a:xfrm>
            <a:off x="2993814" y="3856566"/>
            <a:ext cx="922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>
                <a:solidFill>
                  <a:srgbClr val="0070C0"/>
                </a:solidFill>
                <a:latin typeface="Calisto MT" panose="02040603050505030304" pitchFamily="18" charset="0"/>
              </a:rPr>
              <a:t>Type: ?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8CF067B-FAC5-2699-893E-44F0CC1E5564}"/>
              </a:ext>
            </a:extLst>
          </p:cNvPr>
          <p:cNvSpPr txBox="1"/>
          <p:nvPr/>
        </p:nvSpPr>
        <p:spPr>
          <a:xfrm>
            <a:off x="3659676" y="3856566"/>
            <a:ext cx="729687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>
                <a:solidFill>
                  <a:srgbClr val="0070C0"/>
                </a:solidFill>
                <a:latin typeface="Calisto MT" panose="02040603050505030304" pitchFamily="18" charset="0"/>
              </a:rPr>
              <a:t>Node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D0B3FD7-EBDC-3F3D-09B6-93E4A4E4E3E2}"/>
              </a:ext>
            </a:extLst>
          </p:cNvPr>
          <p:cNvSpPr txBox="1"/>
          <p:nvPr/>
        </p:nvSpPr>
        <p:spPr>
          <a:xfrm>
            <a:off x="817768" y="4403767"/>
            <a:ext cx="19255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0"/>
              </a:rPr>
              <a:t>What is Node?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53E32F6-A605-8CD6-AC65-D49C181EBF1F}"/>
              </a:ext>
            </a:extLst>
          </p:cNvPr>
          <p:cNvSpPr txBox="1"/>
          <p:nvPr/>
        </p:nvSpPr>
        <p:spPr>
          <a:xfrm>
            <a:off x="1116473" y="4782520"/>
            <a:ext cx="147508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sto MT" panose="02040603050505030304" pitchFamily="18" charset="0"/>
              </a:rPr>
              <a:t>struct Node{</a:t>
            </a:r>
          </a:p>
          <a:p>
            <a:endParaRPr lang="en-US" sz="1800" dirty="0">
              <a:latin typeface="Calisto MT" panose="02040603050505030304" pitchFamily="18" charset="0"/>
            </a:endParaRPr>
          </a:p>
          <a:p>
            <a:endParaRPr lang="en-US" sz="1800" dirty="0">
              <a:latin typeface="Calisto MT" panose="02040603050505030304" pitchFamily="18" charset="0"/>
            </a:endParaRPr>
          </a:p>
          <a:p>
            <a:endParaRPr lang="en-US" sz="1800" dirty="0">
              <a:latin typeface="Calisto MT" panose="02040603050505030304" pitchFamily="18" charset="0"/>
            </a:endParaRPr>
          </a:p>
          <a:p>
            <a:r>
              <a:rPr lang="en-US" sz="1800" dirty="0">
                <a:latin typeface="Calisto MT" panose="02040603050505030304" pitchFamily="18" charset="0"/>
              </a:rPr>
              <a:t>};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CCDB9F6-95A0-8CCD-D584-6748681F022E}"/>
              </a:ext>
            </a:extLst>
          </p:cNvPr>
          <p:cNvSpPr txBox="1"/>
          <p:nvPr/>
        </p:nvSpPr>
        <p:spPr>
          <a:xfrm>
            <a:off x="1518131" y="5168786"/>
            <a:ext cx="907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sto MT" panose="02040603050505030304" pitchFamily="18" charset="0"/>
              </a:rPr>
              <a:t>int key;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FB3A70C-3168-0DA7-1A18-68D87924F2D5}"/>
              </a:ext>
            </a:extLst>
          </p:cNvPr>
          <p:cNvSpPr txBox="1"/>
          <p:nvPr/>
        </p:nvSpPr>
        <p:spPr>
          <a:xfrm>
            <a:off x="1490892" y="5555052"/>
            <a:ext cx="1382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sto MT" panose="02040603050505030304" pitchFamily="18" charset="0"/>
              </a:rPr>
              <a:t>Node* next;</a:t>
            </a:r>
          </a:p>
        </p:txBody>
      </p:sp>
    </p:spTree>
    <p:extLst>
      <p:ext uri="{BB962C8B-B14F-4D97-AF65-F5344CB8AC3E}">
        <p14:creationId xmlns:p14="http://schemas.microsoft.com/office/powerpoint/2010/main" val="413729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/>
      <p:bldP spid="8" grpId="0"/>
      <p:bldP spid="32" grpId="0"/>
      <p:bldP spid="36" grpId="0"/>
      <p:bldP spid="84" grpId="0"/>
      <p:bldP spid="85" grpId="0"/>
      <p:bldP spid="86" grpId="0"/>
      <p:bldP spid="87" grpId="0"/>
      <p:bldP spid="88" grpId="0"/>
      <p:bldP spid="89" grpId="0"/>
      <p:bldP spid="9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09845-B061-8EE5-E97D-2FDA7C30A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Singly Linked List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63D048-EE2A-A094-1770-1B06F3DF14A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CA62E38-59FD-451F-9AA6-B569CE35F9BD}" type="datetime4">
              <a:rPr lang="en-US" smtClean="0"/>
              <a:t>March 6,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BF0DE1-9237-A725-147A-3562DE7BA99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Prepared By: Swapnil Biswas, CSE, BSMRU, Kishoreganj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2F1B96-F349-FA16-50AD-8A204406BFA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8BE863-DBC0-5D6F-6C85-978C90D29F57}"/>
              </a:ext>
            </a:extLst>
          </p:cNvPr>
          <p:cNvSpPr txBox="1"/>
          <p:nvPr/>
        </p:nvSpPr>
        <p:spPr>
          <a:xfrm>
            <a:off x="695317" y="3782760"/>
            <a:ext cx="888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solidFill>
                  <a:srgbClr val="0070C0"/>
                </a:solidFill>
                <a:latin typeface="Calisto MT" panose="02040603050505030304" pitchFamily="18" charset="0"/>
                <a:cs typeface="Calibri" panose="020F0502020204030204" pitchFamily="34" charset="0"/>
              </a:rPr>
              <a:t>Type-2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25531BB-1D26-F53E-9B85-5DE569D92C79}"/>
              </a:ext>
            </a:extLst>
          </p:cNvPr>
          <p:cNvSpPr/>
          <p:nvPr/>
        </p:nvSpPr>
        <p:spPr>
          <a:xfrm>
            <a:off x="798322" y="5438248"/>
            <a:ext cx="475862" cy="4758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1185EAB-3717-973B-D47D-0334B0FB82FE}"/>
              </a:ext>
            </a:extLst>
          </p:cNvPr>
          <p:cNvSpPr/>
          <p:nvPr/>
        </p:nvSpPr>
        <p:spPr>
          <a:xfrm>
            <a:off x="1284452" y="5438248"/>
            <a:ext cx="475862" cy="4758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40669D8-6056-6CA4-772E-DFB04CD4A217}"/>
              </a:ext>
            </a:extLst>
          </p:cNvPr>
          <p:cNvSpPr/>
          <p:nvPr/>
        </p:nvSpPr>
        <p:spPr>
          <a:xfrm>
            <a:off x="2373061" y="5438248"/>
            <a:ext cx="475862" cy="4758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BE915D4-FA47-5A22-8774-B66CA7B00574}"/>
              </a:ext>
            </a:extLst>
          </p:cNvPr>
          <p:cNvSpPr/>
          <p:nvPr/>
        </p:nvSpPr>
        <p:spPr>
          <a:xfrm>
            <a:off x="2859191" y="5438248"/>
            <a:ext cx="475862" cy="4758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F4B1102-84F3-E110-0637-BDB5CFF84460}"/>
              </a:ext>
            </a:extLst>
          </p:cNvPr>
          <p:cNvSpPr/>
          <p:nvPr/>
        </p:nvSpPr>
        <p:spPr>
          <a:xfrm>
            <a:off x="3917858" y="5438248"/>
            <a:ext cx="475862" cy="4758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113F949-FA91-69F7-734A-264F2F36CA1D}"/>
              </a:ext>
            </a:extLst>
          </p:cNvPr>
          <p:cNvSpPr/>
          <p:nvPr/>
        </p:nvSpPr>
        <p:spPr>
          <a:xfrm>
            <a:off x="4403988" y="5438248"/>
            <a:ext cx="475862" cy="4758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558AE1D-7F2C-7210-B3F9-BCCFC46A02DC}"/>
              </a:ext>
            </a:extLst>
          </p:cNvPr>
          <p:cNvSpPr/>
          <p:nvPr/>
        </p:nvSpPr>
        <p:spPr>
          <a:xfrm>
            <a:off x="5408617" y="5438248"/>
            <a:ext cx="475862" cy="4758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1C958F8-D531-68E4-2343-954F062015A6}"/>
              </a:ext>
            </a:extLst>
          </p:cNvPr>
          <p:cNvSpPr/>
          <p:nvPr/>
        </p:nvSpPr>
        <p:spPr>
          <a:xfrm>
            <a:off x="5894747" y="5438248"/>
            <a:ext cx="475862" cy="4758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A6B1868-DAAC-CF6A-F625-868B1EB12BA2}"/>
              </a:ext>
            </a:extLst>
          </p:cNvPr>
          <p:cNvGrpSpPr/>
          <p:nvPr/>
        </p:nvGrpSpPr>
        <p:grpSpPr>
          <a:xfrm>
            <a:off x="1502231" y="4898571"/>
            <a:ext cx="1483568" cy="765110"/>
            <a:chOff x="1819469" y="4422710"/>
            <a:chExt cx="1483568" cy="765110"/>
          </a:xfrm>
        </p:grpSpPr>
        <p:cxnSp>
          <p:nvCxnSpPr>
            <p:cNvPr id="34" name="Connector: Elbow 33">
              <a:extLst>
                <a:ext uri="{FF2B5EF4-FFF2-40B4-BE49-F238E27FC236}">
                  <a16:creationId xmlns:a16="http://schemas.microsoft.com/office/drawing/2014/main" id="{D1B66496-6210-CB42-992B-20336FF5B5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19469" y="4422710"/>
              <a:ext cx="1483568" cy="765110"/>
            </a:xfrm>
            <a:prstGeom prst="bentConnector3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9DF09C40-3B3F-8277-D357-25E16BBAD3C4}"/>
                </a:ext>
              </a:extLst>
            </p:cNvPr>
            <p:cNvCxnSpPr>
              <a:cxnSpLocks/>
            </p:cNvCxnSpPr>
            <p:nvPr/>
          </p:nvCxnSpPr>
          <p:spPr>
            <a:xfrm>
              <a:off x="3303037" y="4422710"/>
              <a:ext cx="0" cy="53967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FC954A3-BC45-00A6-309B-25F54ADD9383}"/>
              </a:ext>
            </a:extLst>
          </p:cNvPr>
          <p:cNvGrpSpPr/>
          <p:nvPr/>
        </p:nvGrpSpPr>
        <p:grpSpPr>
          <a:xfrm>
            <a:off x="3059298" y="4908956"/>
            <a:ext cx="1483568" cy="765110"/>
            <a:chOff x="1819469" y="4422710"/>
            <a:chExt cx="1483568" cy="765110"/>
          </a:xfrm>
        </p:grpSpPr>
        <p:cxnSp>
          <p:nvCxnSpPr>
            <p:cNvPr id="43" name="Connector: Elbow 42">
              <a:extLst>
                <a:ext uri="{FF2B5EF4-FFF2-40B4-BE49-F238E27FC236}">
                  <a16:creationId xmlns:a16="http://schemas.microsoft.com/office/drawing/2014/main" id="{B590621B-64FD-23EB-F100-6156E9AB8E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19469" y="4422710"/>
              <a:ext cx="1483568" cy="765110"/>
            </a:xfrm>
            <a:prstGeom prst="bentConnector3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3C7A097A-7929-BEE9-B18F-CDAD9E732926}"/>
                </a:ext>
              </a:extLst>
            </p:cNvPr>
            <p:cNvCxnSpPr>
              <a:cxnSpLocks/>
            </p:cNvCxnSpPr>
            <p:nvPr/>
          </p:nvCxnSpPr>
          <p:spPr>
            <a:xfrm>
              <a:off x="3303037" y="4422710"/>
              <a:ext cx="0" cy="53967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8F7616A2-4E43-1DF8-B132-12375A99A6E8}"/>
              </a:ext>
            </a:extLst>
          </p:cNvPr>
          <p:cNvGrpSpPr/>
          <p:nvPr/>
        </p:nvGrpSpPr>
        <p:grpSpPr>
          <a:xfrm>
            <a:off x="4583115" y="4908704"/>
            <a:ext cx="1483568" cy="765110"/>
            <a:chOff x="1819469" y="4422710"/>
            <a:chExt cx="1483568" cy="765110"/>
          </a:xfrm>
        </p:grpSpPr>
        <p:cxnSp>
          <p:nvCxnSpPr>
            <p:cNvPr id="46" name="Connector: Elbow 45">
              <a:extLst>
                <a:ext uri="{FF2B5EF4-FFF2-40B4-BE49-F238E27FC236}">
                  <a16:creationId xmlns:a16="http://schemas.microsoft.com/office/drawing/2014/main" id="{043B6A6C-A8DB-3B4E-1590-2AA1C89EB6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19469" y="4422710"/>
              <a:ext cx="1483568" cy="765110"/>
            </a:xfrm>
            <a:prstGeom prst="bentConnector3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239E60BF-D4CB-5ADA-AC5C-E1EFB2C065EB}"/>
                </a:ext>
              </a:extLst>
            </p:cNvPr>
            <p:cNvCxnSpPr>
              <a:cxnSpLocks/>
            </p:cNvCxnSpPr>
            <p:nvPr/>
          </p:nvCxnSpPr>
          <p:spPr>
            <a:xfrm>
              <a:off x="3303037" y="4422710"/>
              <a:ext cx="0" cy="53967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5F92D510-F6D4-CD8A-38C6-2C00366D1F9B}"/>
              </a:ext>
            </a:extLst>
          </p:cNvPr>
          <p:cNvGrpSpPr/>
          <p:nvPr/>
        </p:nvGrpSpPr>
        <p:grpSpPr>
          <a:xfrm>
            <a:off x="6056415" y="4898571"/>
            <a:ext cx="1483568" cy="765110"/>
            <a:chOff x="1819469" y="4422710"/>
            <a:chExt cx="1483568" cy="765110"/>
          </a:xfrm>
        </p:grpSpPr>
        <p:cxnSp>
          <p:nvCxnSpPr>
            <p:cNvPr id="49" name="Connector: Elbow 48">
              <a:extLst>
                <a:ext uri="{FF2B5EF4-FFF2-40B4-BE49-F238E27FC236}">
                  <a16:creationId xmlns:a16="http://schemas.microsoft.com/office/drawing/2014/main" id="{20592B86-3179-2AD9-89A1-44E9B13F8C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19469" y="4422710"/>
              <a:ext cx="1483568" cy="765110"/>
            </a:xfrm>
            <a:prstGeom prst="bentConnector3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487534AF-B64C-30E8-39F1-8C5FD4D16BE8}"/>
                </a:ext>
              </a:extLst>
            </p:cNvPr>
            <p:cNvCxnSpPr>
              <a:cxnSpLocks/>
            </p:cNvCxnSpPr>
            <p:nvPr/>
          </p:nvCxnSpPr>
          <p:spPr>
            <a:xfrm>
              <a:off x="3303037" y="4422710"/>
              <a:ext cx="0" cy="53967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Isosceles Triangle 50">
            <a:extLst>
              <a:ext uri="{FF2B5EF4-FFF2-40B4-BE49-F238E27FC236}">
                <a16:creationId xmlns:a16="http://schemas.microsoft.com/office/drawing/2014/main" id="{CAAE63A1-EF08-EE7A-CF6F-C44ECB904757}"/>
              </a:ext>
            </a:extLst>
          </p:cNvPr>
          <p:cNvSpPr/>
          <p:nvPr/>
        </p:nvSpPr>
        <p:spPr>
          <a:xfrm>
            <a:off x="7311443" y="5389823"/>
            <a:ext cx="475862" cy="475862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F95E2A8-0FC0-5D91-35A6-C6AF8744BABA}"/>
              </a:ext>
            </a:extLst>
          </p:cNvPr>
          <p:cNvSpPr txBox="1"/>
          <p:nvPr/>
        </p:nvSpPr>
        <p:spPr>
          <a:xfrm>
            <a:off x="920926" y="4243673"/>
            <a:ext cx="65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sto MT" panose="02040603050505030304" pitchFamily="18" charset="0"/>
              </a:rPr>
              <a:t>head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4BDAC22A-7986-F39F-E9D5-B098D382D0E0}"/>
              </a:ext>
            </a:extLst>
          </p:cNvPr>
          <p:cNvCxnSpPr>
            <a:stCxn id="52" idx="2"/>
          </p:cNvCxnSpPr>
          <p:nvPr/>
        </p:nvCxnSpPr>
        <p:spPr>
          <a:xfrm flipH="1">
            <a:off x="1248900" y="4613005"/>
            <a:ext cx="1" cy="83774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5EA3740D-14D7-A421-E9AA-0A9C485DFE73}"/>
              </a:ext>
            </a:extLst>
          </p:cNvPr>
          <p:cNvSpPr txBox="1"/>
          <p:nvPr/>
        </p:nvSpPr>
        <p:spPr>
          <a:xfrm>
            <a:off x="895677" y="549151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sto MT" panose="02040603050505030304" pitchFamily="18" charset="0"/>
              </a:rPr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BA30CE8-D9A5-CC71-1F0E-827B2F809714}"/>
              </a:ext>
            </a:extLst>
          </p:cNvPr>
          <p:cNvSpPr txBox="1"/>
          <p:nvPr/>
        </p:nvSpPr>
        <p:spPr>
          <a:xfrm>
            <a:off x="2450261" y="549151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sto MT" panose="02040603050505030304" pitchFamily="18" charset="0"/>
              </a:rPr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6999601-E4D6-3A21-A5DE-CE6884ABE51E}"/>
              </a:ext>
            </a:extLst>
          </p:cNvPr>
          <p:cNvSpPr txBox="1"/>
          <p:nvPr/>
        </p:nvSpPr>
        <p:spPr>
          <a:xfrm>
            <a:off x="4004946" y="5489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sto MT" panose="02040603050505030304" pitchFamily="18" charset="0"/>
              </a:rPr>
              <a:t>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EF7673A-EA55-57D8-2E56-44995B3F5C73}"/>
              </a:ext>
            </a:extLst>
          </p:cNvPr>
          <p:cNvSpPr txBox="1"/>
          <p:nvPr/>
        </p:nvSpPr>
        <p:spPr>
          <a:xfrm>
            <a:off x="5496209" y="552523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sto MT" panose="02040603050505030304" pitchFamily="18" charset="0"/>
              </a:rPr>
              <a:t>7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E3B6E285-2357-43E1-CC96-7FCE5F55ABA8}"/>
              </a:ext>
            </a:extLst>
          </p:cNvPr>
          <p:cNvSpPr/>
          <p:nvPr/>
        </p:nvSpPr>
        <p:spPr>
          <a:xfrm>
            <a:off x="798322" y="3107684"/>
            <a:ext cx="475862" cy="4758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CE6A9CB7-1E75-200C-0F96-3A2E4DB63E5B}"/>
              </a:ext>
            </a:extLst>
          </p:cNvPr>
          <p:cNvSpPr/>
          <p:nvPr/>
        </p:nvSpPr>
        <p:spPr>
          <a:xfrm>
            <a:off x="1284452" y="3107684"/>
            <a:ext cx="475862" cy="4758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DB06DF4B-42AF-057D-01ED-46207263D027}"/>
              </a:ext>
            </a:extLst>
          </p:cNvPr>
          <p:cNvSpPr/>
          <p:nvPr/>
        </p:nvSpPr>
        <p:spPr>
          <a:xfrm>
            <a:off x="2373061" y="3107684"/>
            <a:ext cx="475862" cy="4758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BDD2A416-05DA-DAD4-A6B3-26DB847CE6ED}"/>
              </a:ext>
            </a:extLst>
          </p:cNvPr>
          <p:cNvSpPr/>
          <p:nvPr/>
        </p:nvSpPr>
        <p:spPr>
          <a:xfrm>
            <a:off x="2859191" y="3107684"/>
            <a:ext cx="475862" cy="4758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02B854CE-FEB1-9F4E-4844-064CC3E25B4B}"/>
              </a:ext>
            </a:extLst>
          </p:cNvPr>
          <p:cNvSpPr/>
          <p:nvPr/>
        </p:nvSpPr>
        <p:spPr>
          <a:xfrm>
            <a:off x="3917858" y="3107684"/>
            <a:ext cx="475862" cy="4758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2E5DC2B5-C8CE-5B38-2A67-8A5FB0D54C5C}"/>
              </a:ext>
            </a:extLst>
          </p:cNvPr>
          <p:cNvSpPr/>
          <p:nvPr/>
        </p:nvSpPr>
        <p:spPr>
          <a:xfrm>
            <a:off x="4403988" y="3107684"/>
            <a:ext cx="475862" cy="4758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4DFADA9E-FAD9-C55D-0016-B713F3476DCB}"/>
              </a:ext>
            </a:extLst>
          </p:cNvPr>
          <p:cNvSpPr/>
          <p:nvPr/>
        </p:nvSpPr>
        <p:spPr>
          <a:xfrm>
            <a:off x="5408617" y="3107684"/>
            <a:ext cx="475862" cy="4758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CE524987-F5C1-C242-D571-8842FBCCFE94}"/>
              </a:ext>
            </a:extLst>
          </p:cNvPr>
          <p:cNvSpPr/>
          <p:nvPr/>
        </p:nvSpPr>
        <p:spPr>
          <a:xfrm>
            <a:off x="5894747" y="3107684"/>
            <a:ext cx="475862" cy="4758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D5A2F8E4-9F59-FC54-BD0A-77DD7C6AB2C9}"/>
              </a:ext>
            </a:extLst>
          </p:cNvPr>
          <p:cNvGrpSpPr/>
          <p:nvPr/>
        </p:nvGrpSpPr>
        <p:grpSpPr>
          <a:xfrm>
            <a:off x="1502231" y="2568007"/>
            <a:ext cx="1483568" cy="765110"/>
            <a:chOff x="1819469" y="4422710"/>
            <a:chExt cx="1483568" cy="765110"/>
          </a:xfrm>
        </p:grpSpPr>
        <p:cxnSp>
          <p:nvCxnSpPr>
            <p:cNvPr id="104" name="Connector: Elbow 103">
              <a:extLst>
                <a:ext uri="{FF2B5EF4-FFF2-40B4-BE49-F238E27FC236}">
                  <a16:creationId xmlns:a16="http://schemas.microsoft.com/office/drawing/2014/main" id="{0BCCF0BA-94A7-7226-17BE-4BE2813DB9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19469" y="4422710"/>
              <a:ext cx="1483568" cy="765110"/>
            </a:xfrm>
            <a:prstGeom prst="bentConnector3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8342DCC2-C35B-C75C-DEEE-198629F25C34}"/>
                </a:ext>
              </a:extLst>
            </p:cNvPr>
            <p:cNvCxnSpPr>
              <a:cxnSpLocks/>
            </p:cNvCxnSpPr>
            <p:nvPr/>
          </p:nvCxnSpPr>
          <p:spPr>
            <a:xfrm>
              <a:off x="3303037" y="4422710"/>
              <a:ext cx="0" cy="53967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0CFF1DCF-A8DD-9015-E7F5-D708D69AD47D}"/>
              </a:ext>
            </a:extLst>
          </p:cNvPr>
          <p:cNvGrpSpPr/>
          <p:nvPr/>
        </p:nvGrpSpPr>
        <p:grpSpPr>
          <a:xfrm>
            <a:off x="3059298" y="2578392"/>
            <a:ext cx="1483568" cy="765110"/>
            <a:chOff x="1819469" y="4422710"/>
            <a:chExt cx="1483568" cy="765110"/>
          </a:xfrm>
        </p:grpSpPr>
        <p:cxnSp>
          <p:nvCxnSpPr>
            <p:cNvPr id="107" name="Connector: Elbow 106">
              <a:extLst>
                <a:ext uri="{FF2B5EF4-FFF2-40B4-BE49-F238E27FC236}">
                  <a16:creationId xmlns:a16="http://schemas.microsoft.com/office/drawing/2014/main" id="{F6B36D40-2E38-16A5-7C0E-09085834C9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19469" y="4422710"/>
              <a:ext cx="1483568" cy="765110"/>
            </a:xfrm>
            <a:prstGeom prst="bentConnector3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9C8AA31B-1503-E63C-D4BA-DD4227A8C492}"/>
                </a:ext>
              </a:extLst>
            </p:cNvPr>
            <p:cNvCxnSpPr>
              <a:cxnSpLocks/>
            </p:cNvCxnSpPr>
            <p:nvPr/>
          </p:nvCxnSpPr>
          <p:spPr>
            <a:xfrm>
              <a:off x="3303037" y="4422710"/>
              <a:ext cx="0" cy="53967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FFC78014-5C9B-AFAA-2D5A-AA7228845162}"/>
              </a:ext>
            </a:extLst>
          </p:cNvPr>
          <p:cNvGrpSpPr/>
          <p:nvPr/>
        </p:nvGrpSpPr>
        <p:grpSpPr>
          <a:xfrm>
            <a:off x="4583115" y="2578140"/>
            <a:ext cx="1483568" cy="765110"/>
            <a:chOff x="1819469" y="4422710"/>
            <a:chExt cx="1483568" cy="765110"/>
          </a:xfrm>
        </p:grpSpPr>
        <p:cxnSp>
          <p:nvCxnSpPr>
            <p:cNvPr id="110" name="Connector: Elbow 109">
              <a:extLst>
                <a:ext uri="{FF2B5EF4-FFF2-40B4-BE49-F238E27FC236}">
                  <a16:creationId xmlns:a16="http://schemas.microsoft.com/office/drawing/2014/main" id="{EABE7F06-B713-478E-3837-63F91DF108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19469" y="4422710"/>
              <a:ext cx="1483568" cy="765110"/>
            </a:xfrm>
            <a:prstGeom prst="bentConnector3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9724D3E4-683A-15CB-26A6-35CC9B5D7671}"/>
                </a:ext>
              </a:extLst>
            </p:cNvPr>
            <p:cNvCxnSpPr>
              <a:cxnSpLocks/>
            </p:cNvCxnSpPr>
            <p:nvPr/>
          </p:nvCxnSpPr>
          <p:spPr>
            <a:xfrm>
              <a:off x="3303037" y="4422710"/>
              <a:ext cx="0" cy="53967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6B51A6E7-4A24-D06D-AB6E-09F87C974C74}"/>
              </a:ext>
            </a:extLst>
          </p:cNvPr>
          <p:cNvGrpSpPr/>
          <p:nvPr/>
        </p:nvGrpSpPr>
        <p:grpSpPr>
          <a:xfrm>
            <a:off x="6056415" y="2568007"/>
            <a:ext cx="1483568" cy="765110"/>
            <a:chOff x="1819469" y="4422710"/>
            <a:chExt cx="1483568" cy="765110"/>
          </a:xfrm>
        </p:grpSpPr>
        <p:cxnSp>
          <p:nvCxnSpPr>
            <p:cNvPr id="113" name="Connector: Elbow 112">
              <a:extLst>
                <a:ext uri="{FF2B5EF4-FFF2-40B4-BE49-F238E27FC236}">
                  <a16:creationId xmlns:a16="http://schemas.microsoft.com/office/drawing/2014/main" id="{574FA346-5CCE-79A4-2CCB-F600DB2D82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19469" y="4422710"/>
              <a:ext cx="1483568" cy="765110"/>
            </a:xfrm>
            <a:prstGeom prst="bentConnector3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E791A5DA-A173-B244-0817-09FFDB0E9754}"/>
                </a:ext>
              </a:extLst>
            </p:cNvPr>
            <p:cNvCxnSpPr>
              <a:cxnSpLocks/>
            </p:cNvCxnSpPr>
            <p:nvPr/>
          </p:nvCxnSpPr>
          <p:spPr>
            <a:xfrm>
              <a:off x="3303037" y="4422710"/>
              <a:ext cx="0" cy="53967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5" name="Isosceles Triangle 114">
            <a:extLst>
              <a:ext uri="{FF2B5EF4-FFF2-40B4-BE49-F238E27FC236}">
                <a16:creationId xmlns:a16="http://schemas.microsoft.com/office/drawing/2014/main" id="{34E70860-759C-5E5F-B25A-CF44EF68E926}"/>
              </a:ext>
            </a:extLst>
          </p:cNvPr>
          <p:cNvSpPr/>
          <p:nvPr/>
        </p:nvSpPr>
        <p:spPr>
          <a:xfrm>
            <a:off x="7311443" y="3059259"/>
            <a:ext cx="475862" cy="475862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AA710086-9EE1-E0E8-5E86-F5B80353DC77}"/>
              </a:ext>
            </a:extLst>
          </p:cNvPr>
          <p:cNvSpPr txBox="1"/>
          <p:nvPr/>
        </p:nvSpPr>
        <p:spPr>
          <a:xfrm>
            <a:off x="920926" y="1913109"/>
            <a:ext cx="65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sto MT" panose="02040603050505030304" pitchFamily="18" charset="0"/>
              </a:rPr>
              <a:t>head</a:t>
            </a:r>
          </a:p>
        </p:txBody>
      </p: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014E1397-73E8-B1A3-0037-AD3B63618738}"/>
              </a:ext>
            </a:extLst>
          </p:cNvPr>
          <p:cNvCxnSpPr>
            <a:stCxn id="116" idx="2"/>
          </p:cNvCxnSpPr>
          <p:nvPr/>
        </p:nvCxnSpPr>
        <p:spPr>
          <a:xfrm flipH="1">
            <a:off x="1248900" y="2282441"/>
            <a:ext cx="1" cy="83774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3383091E-1047-5662-E134-257F7C407A28}"/>
              </a:ext>
            </a:extLst>
          </p:cNvPr>
          <p:cNvSpPr txBox="1"/>
          <p:nvPr/>
        </p:nvSpPr>
        <p:spPr>
          <a:xfrm>
            <a:off x="895677" y="316094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sto MT" panose="02040603050505030304" pitchFamily="18" charset="0"/>
              </a:rPr>
              <a:t>9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CFB3CFC4-9CCA-6D9F-ADB8-10F52F9DC4E4}"/>
              </a:ext>
            </a:extLst>
          </p:cNvPr>
          <p:cNvSpPr txBox="1"/>
          <p:nvPr/>
        </p:nvSpPr>
        <p:spPr>
          <a:xfrm>
            <a:off x="2450261" y="316094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sto MT" panose="02040603050505030304" pitchFamily="18" charset="0"/>
              </a:rPr>
              <a:t>6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B04BC0B3-417D-0F93-7BF1-C779E3960F65}"/>
              </a:ext>
            </a:extLst>
          </p:cNvPr>
          <p:cNvSpPr txBox="1"/>
          <p:nvPr/>
        </p:nvSpPr>
        <p:spPr>
          <a:xfrm>
            <a:off x="4004946" y="31588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sto MT" panose="02040603050505030304" pitchFamily="18" charset="0"/>
              </a:rPr>
              <a:t>5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802FD64D-BFF3-FE5E-3FF1-8A77A421EAE9}"/>
              </a:ext>
            </a:extLst>
          </p:cNvPr>
          <p:cNvSpPr txBox="1"/>
          <p:nvPr/>
        </p:nvSpPr>
        <p:spPr>
          <a:xfrm>
            <a:off x="5496209" y="319467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sto MT" panose="02040603050505030304" pitchFamily="18" charset="0"/>
              </a:rPr>
              <a:t>7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ABC49DB0-4C92-9F39-4478-6FEE06E42304}"/>
              </a:ext>
            </a:extLst>
          </p:cNvPr>
          <p:cNvSpPr txBox="1"/>
          <p:nvPr/>
        </p:nvSpPr>
        <p:spPr>
          <a:xfrm>
            <a:off x="695317" y="1584550"/>
            <a:ext cx="888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solidFill>
                  <a:srgbClr val="0070C0"/>
                </a:solidFill>
                <a:latin typeface="Calisto MT" panose="02040603050505030304" pitchFamily="18" charset="0"/>
                <a:cs typeface="Calibri" panose="020F0502020204030204" pitchFamily="34" charset="0"/>
              </a:rPr>
              <a:t>Type-1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CF3026BA-09A8-2A83-B19A-FF253394E0F4}"/>
              </a:ext>
            </a:extLst>
          </p:cNvPr>
          <p:cNvSpPr txBox="1"/>
          <p:nvPr/>
        </p:nvSpPr>
        <p:spPr>
          <a:xfrm>
            <a:off x="5947995" y="4258309"/>
            <a:ext cx="494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sto MT" panose="02040603050505030304" pitchFamily="18" charset="0"/>
              </a:rPr>
              <a:t>tail</a:t>
            </a:r>
          </a:p>
        </p:txBody>
      </p: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40C050A6-2208-1396-1049-63443F28430E}"/>
              </a:ext>
            </a:extLst>
          </p:cNvPr>
          <p:cNvCxnSpPr>
            <a:cxnSpLocks/>
          </p:cNvCxnSpPr>
          <p:nvPr/>
        </p:nvCxnSpPr>
        <p:spPr>
          <a:xfrm>
            <a:off x="6195018" y="4552993"/>
            <a:ext cx="0" cy="89759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19367E1E-300B-9985-DC7E-390F2B8F7164}"/>
              </a:ext>
            </a:extLst>
          </p:cNvPr>
          <p:cNvSpPr txBox="1"/>
          <p:nvPr/>
        </p:nvSpPr>
        <p:spPr>
          <a:xfrm>
            <a:off x="7787305" y="1943189"/>
            <a:ext cx="4331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listo MT" panose="02040603050505030304" pitchFamily="18" charset="0"/>
              </a:rPr>
              <a:t>A singly linked list is known by its head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964C3ECE-5E80-56A9-AB76-1933062815FF}"/>
              </a:ext>
            </a:extLst>
          </p:cNvPr>
          <p:cNvSpPr txBox="1"/>
          <p:nvPr/>
        </p:nvSpPr>
        <p:spPr>
          <a:xfrm>
            <a:off x="7787305" y="2350463"/>
            <a:ext cx="4331633" cy="6463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listo MT" panose="02040603050505030304" pitchFamily="18" charset="0"/>
              </a:rPr>
              <a:t>At any cost, the first elements will be pointed by head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0458DA8C-1E01-26C5-89F3-860314D0754F}"/>
              </a:ext>
            </a:extLst>
          </p:cNvPr>
          <p:cNvSpPr txBox="1"/>
          <p:nvPr/>
        </p:nvSpPr>
        <p:spPr>
          <a:xfrm>
            <a:off x="7796638" y="3059259"/>
            <a:ext cx="4331633" cy="6463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listo MT" panose="02040603050505030304" pitchFamily="18" charset="0"/>
              </a:rPr>
              <a:t>At any cost, the next of last element will be NULL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42CCA62F-91A8-6CD7-7ED7-AAE650B1613C}"/>
              </a:ext>
            </a:extLst>
          </p:cNvPr>
          <p:cNvSpPr txBox="1"/>
          <p:nvPr/>
        </p:nvSpPr>
        <p:spPr>
          <a:xfrm>
            <a:off x="7787304" y="3682074"/>
            <a:ext cx="43316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listo MT" panose="02040603050505030304" pitchFamily="18" charset="0"/>
              </a:rPr>
              <a:t>Sometimes the last element is pointed by a tail pointer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8EDABE5B-5E15-21E4-2DD1-BE63197D9373}"/>
              </a:ext>
            </a:extLst>
          </p:cNvPr>
          <p:cNvSpPr txBox="1"/>
          <p:nvPr/>
        </p:nvSpPr>
        <p:spPr>
          <a:xfrm>
            <a:off x="7796638" y="4307000"/>
            <a:ext cx="43316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listo MT" panose="02040603050505030304" pitchFamily="18" charset="0"/>
              </a:rPr>
              <a:t>Sometimes the last element is pointed by a tail pointer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5F60E3DD-8AC8-7CC3-BA2A-5764729D6703}"/>
              </a:ext>
            </a:extLst>
          </p:cNvPr>
          <p:cNvSpPr txBox="1"/>
          <p:nvPr/>
        </p:nvSpPr>
        <p:spPr>
          <a:xfrm>
            <a:off x="7787006" y="4973045"/>
            <a:ext cx="4331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listo MT" panose="02040603050505030304" pitchFamily="18" charset="0"/>
              </a:rPr>
              <a:t>Links are directed from head to NULL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34D761C1-6131-18B1-196E-2B926DB0EDD5}"/>
              </a:ext>
            </a:extLst>
          </p:cNvPr>
          <p:cNvSpPr txBox="1"/>
          <p:nvPr/>
        </p:nvSpPr>
        <p:spPr>
          <a:xfrm>
            <a:off x="7787006" y="5364273"/>
            <a:ext cx="43316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listo MT" panose="02040603050505030304" pitchFamily="18" charset="0"/>
              </a:rPr>
              <a:t>When there is no element in the list, head (and tail) points on NULL</a:t>
            </a:r>
          </a:p>
        </p:txBody>
      </p:sp>
    </p:spTree>
    <p:extLst>
      <p:ext uri="{BB962C8B-B14F-4D97-AF65-F5344CB8AC3E}">
        <p14:creationId xmlns:p14="http://schemas.microsoft.com/office/powerpoint/2010/main" val="497023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" grpId="0"/>
      <p:bldP spid="128" grpId="0" animBg="1"/>
      <p:bldP spid="130" grpId="0" animBg="1"/>
      <p:bldP spid="131" grpId="0"/>
      <p:bldP spid="132" grpId="0"/>
      <p:bldP spid="133" grpId="0"/>
      <p:bldP spid="13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09845-B061-8EE5-E97D-2FDA7C30A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Growth of Singly Linked List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63D048-EE2A-A094-1770-1B06F3DF14A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CA62E38-59FD-451F-9AA6-B569CE35F9BD}" type="datetime4">
              <a:rPr lang="en-US" smtClean="0"/>
              <a:t>March 6,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BF0DE1-9237-A725-147A-3562DE7BA99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Prepared By: Swapnil Biswas, CSE, BSMRU, Kishoreganj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2F1B96-F349-FA16-50AD-8A204406BFA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456F92-51DA-FD37-63EC-D9E763F0F793}"/>
              </a:ext>
            </a:extLst>
          </p:cNvPr>
          <p:cNvSpPr txBox="1"/>
          <p:nvPr/>
        </p:nvSpPr>
        <p:spPr>
          <a:xfrm>
            <a:off x="838200" y="1661747"/>
            <a:ext cx="4171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listo MT" panose="02040603050505030304" pitchFamily="18" charset="0"/>
              </a:rPr>
              <a:t>Initially head and tail point on NULL</a:t>
            </a:r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C4913515-DDE2-D9C3-0DFC-F46C493E2499}"/>
              </a:ext>
            </a:extLst>
          </p:cNvPr>
          <p:cNvSpPr/>
          <p:nvPr/>
        </p:nvSpPr>
        <p:spPr>
          <a:xfrm>
            <a:off x="1846970" y="5077949"/>
            <a:ext cx="725659" cy="466531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E637506-D7DC-2C14-453A-14FB2CB1725E}"/>
              </a:ext>
            </a:extLst>
          </p:cNvPr>
          <p:cNvGrpSpPr/>
          <p:nvPr/>
        </p:nvGrpSpPr>
        <p:grpSpPr>
          <a:xfrm>
            <a:off x="1662796" y="4104142"/>
            <a:ext cx="655949" cy="1207073"/>
            <a:chOff x="920926" y="4243673"/>
            <a:chExt cx="655949" cy="1207073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895301E-F5BE-6414-30C4-E2B58DEA445A}"/>
                </a:ext>
              </a:extLst>
            </p:cNvPr>
            <p:cNvSpPr txBox="1"/>
            <p:nvPr/>
          </p:nvSpPr>
          <p:spPr>
            <a:xfrm>
              <a:off x="920926" y="4243673"/>
              <a:ext cx="6559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Calisto MT" panose="02040603050505030304" pitchFamily="18" charset="0"/>
                </a:rPr>
                <a:t>head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B43A69FF-40F0-F2EC-6A05-5EECDC9B9F87}"/>
                </a:ext>
              </a:extLst>
            </p:cNvPr>
            <p:cNvCxnSpPr>
              <a:stCxn id="8" idx="2"/>
            </p:cNvCxnSpPr>
            <p:nvPr/>
          </p:nvCxnSpPr>
          <p:spPr>
            <a:xfrm flipH="1">
              <a:off x="1248900" y="4613005"/>
              <a:ext cx="1" cy="83774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F881481-2BC8-2186-3186-22577ADFA9C3}"/>
              </a:ext>
            </a:extLst>
          </p:cNvPr>
          <p:cNvGrpSpPr/>
          <p:nvPr/>
        </p:nvGrpSpPr>
        <p:grpSpPr>
          <a:xfrm>
            <a:off x="2170826" y="4104142"/>
            <a:ext cx="494046" cy="1192282"/>
            <a:chOff x="5947995" y="4258309"/>
            <a:chExt cx="494046" cy="1192282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9CF8A09-CCD8-6C5B-4E40-F789B65303E3}"/>
                </a:ext>
              </a:extLst>
            </p:cNvPr>
            <p:cNvSpPr txBox="1"/>
            <p:nvPr/>
          </p:nvSpPr>
          <p:spPr>
            <a:xfrm>
              <a:off x="5947995" y="4258309"/>
              <a:ext cx="4940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Calisto MT" panose="02040603050505030304" pitchFamily="18" charset="0"/>
                </a:rPr>
                <a:t>tail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87772F1B-6E8D-3715-BA5E-F5E4AF3FD636}"/>
                </a:ext>
              </a:extLst>
            </p:cNvPr>
            <p:cNvCxnSpPr>
              <a:cxnSpLocks/>
            </p:cNvCxnSpPr>
            <p:nvPr/>
          </p:nvCxnSpPr>
          <p:spPr>
            <a:xfrm>
              <a:off x="6195018" y="4552993"/>
              <a:ext cx="0" cy="89759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41719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09845-B061-8EE5-E97D-2FDA7C30A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Growth of Singly Linked List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63D048-EE2A-A094-1770-1B06F3DF14A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CA62E38-59FD-451F-9AA6-B569CE35F9BD}" type="datetime4">
              <a:rPr lang="en-US" smtClean="0"/>
              <a:t>March 6,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BF0DE1-9237-A725-147A-3562DE7BA99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Prepared By: Swapnil Biswas, CSE, BSMRU, Kishoreganj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2F1B96-F349-FA16-50AD-8A204406BFA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19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456F92-51DA-FD37-63EC-D9E763F0F793}"/>
              </a:ext>
            </a:extLst>
          </p:cNvPr>
          <p:cNvSpPr txBox="1"/>
          <p:nvPr/>
        </p:nvSpPr>
        <p:spPr>
          <a:xfrm>
            <a:off x="838200" y="1661747"/>
            <a:ext cx="4171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listo MT" panose="02040603050505030304" pitchFamily="18" charset="0"/>
              </a:rPr>
              <a:t>Initially head and tail point on NULL</a:t>
            </a:r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C4913515-DDE2-D9C3-0DFC-F46C493E2499}"/>
              </a:ext>
            </a:extLst>
          </p:cNvPr>
          <p:cNvSpPr/>
          <p:nvPr/>
        </p:nvSpPr>
        <p:spPr>
          <a:xfrm>
            <a:off x="1846970" y="5077949"/>
            <a:ext cx="725659" cy="466531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DE699B-EEC6-8B85-36C9-31FC1ED0F24F}"/>
              </a:ext>
            </a:extLst>
          </p:cNvPr>
          <p:cNvSpPr txBox="1"/>
          <p:nvPr/>
        </p:nvSpPr>
        <p:spPr>
          <a:xfrm>
            <a:off x="838200" y="2078128"/>
            <a:ext cx="27286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listo MT" panose="02040603050505030304" pitchFamily="18" charset="0"/>
              </a:rPr>
              <a:t>Insert 9 as first element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DDD4BF9-1144-42DF-4E73-B0745A7BFE7E}"/>
              </a:ext>
            </a:extLst>
          </p:cNvPr>
          <p:cNvSpPr/>
          <p:nvPr/>
        </p:nvSpPr>
        <p:spPr>
          <a:xfrm>
            <a:off x="1662796" y="4949336"/>
            <a:ext cx="1192371" cy="8377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E637506-D7DC-2C14-453A-14FB2CB1725E}"/>
              </a:ext>
            </a:extLst>
          </p:cNvPr>
          <p:cNvGrpSpPr/>
          <p:nvPr/>
        </p:nvGrpSpPr>
        <p:grpSpPr>
          <a:xfrm>
            <a:off x="1662796" y="4104142"/>
            <a:ext cx="655949" cy="1207073"/>
            <a:chOff x="920926" y="4243673"/>
            <a:chExt cx="655949" cy="1207073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895301E-F5BE-6414-30C4-E2B58DEA445A}"/>
                </a:ext>
              </a:extLst>
            </p:cNvPr>
            <p:cNvSpPr txBox="1"/>
            <p:nvPr/>
          </p:nvSpPr>
          <p:spPr>
            <a:xfrm>
              <a:off x="920926" y="4243673"/>
              <a:ext cx="6559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Calisto MT" panose="02040603050505030304" pitchFamily="18" charset="0"/>
                </a:rPr>
                <a:t>head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B43A69FF-40F0-F2EC-6A05-5EECDC9B9F87}"/>
                </a:ext>
              </a:extLst>
            </p:cNvPr>
            <p:cNvCxnSpPr>
              <a:stCxn id="8" idx="2"/>
            </p:cNvCxnSpPr>
            <p:nvPr/>
          </p:nvCxnSpPr>
          <p:spPr>
            <a:xfrm flipH="1">
              <a:off x="1248900" y="4613005"/>
              <a:ext cx="1" cy="83774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F881481-2BC8-2186-3186-22577ADFA9C3}"/>
              </a:ext>
            </a:extLst>
          </p:cNvPr>
          <p:cNvGrpSpPr/>
          <p:nvPr/>
        </p:nvGrpSpPr>
        <p:grpSpPr>
          <a:xfrm>
            <a:off x="2170826" y="4104142"/>
            <a:ext cx="494046" cy="1192282"/>
            <a:chOff x="5947995" y="4258309"/>
            <a:chExt cx="494046" cy="1192282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9CF8A09-CCD8-6C5B-4E40-F789B65303E3}"/>
                </a:ext>
              </a:extLst>
            </p:cNvPr>
            <p:cNvSpPr txBox="1"/>
            <p:nvPr/>
          </p:nvSpPr>
          <p:spPr>
            <a:xfrm>
              <a:off x="5947995" y="4258309"/>
              <a:ext cx="4940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Calisto MT" panose="02040603050505030304" pitchFamily="18" charset="0"/>
                </a:rPr>
                <a:t>tail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87772F1B-6E8D-3715-BA5E-F5E4AF3FD636}"/>
                </a:ext>
              </a:extLst>
            </p:cNvPr>
            <p:cNvCxnSpPr>
              <a:cxnSpLocks/>
            </p:cNvCxnSpPr>
            <p:nvPr/>
          </p:nvCxnSpPr>
          <p:spPr>
            <a:xfrm>
              <a:off x="6195018" y="4552993"/>
              <a:ext cx="0" cy="89759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FF8D0F9-5B33-1A96-7696-AC6B5DC9F24C}"/>
              </a:ext>
            </a:extLst>
          </p:cNvPr>
          <p:cNvGrpSpPr/>
          <p:nvPr/>
        </p:nvGrpSpPr>
        <p:grpSpPr>
          <a:xfrm>
            <a:off x="1728803" y="5290249"/>
            <a:ext cx="961992" cy="475862"/>
            <a:chOff x="5609870" y="3628280"/>
            <a:chExt cx="961992" cy="475862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98A9F15-8D4B-BB9E-A14F-82325822867F}"/>
                </a:ext>
              </a:extLst>
            </p:cNvPr>
            <p:cNvSpPr/>
            <p:nvPr/>
          </p:nvSpPr>
          <p:spPr>
            <a:xfrm>
              <a:off x="5609870" y="3628280"/>
              <a:ext cx="475862" cy="47586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6D69B4F-7E24-A699-7BA2-6809D4B30849}"/>
                </a:ext>
              </a:extLst>
            </p:cNvPr>
            <p:cNvSpPr/>
            <p:nvPr/>
          </p:nvSpPr>
          <p:spPr>
            <a:xfrm>
              <a:off x="6096000" y="3628280"/>
              <a:ext cx="475862" cy="47586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0A63FCB-47CA-857B-AE89-B746F86AF05B}"/>
                </a:ext>
              </a:extLst>
            </p:cNvPr>
            <p:cNvSpPr txBox="1"/>
            <p:nvPr/>
          </p:nvSpPr>
          <p:spPr>
            <a:xfrm>
              <a:off x="5707225" y="368154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Calisto MT" panose="02040603050505030304" pitchFamily="18" charset="0"/>
                </a:rPr>
                <a:t>9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F80B635-42E2-3605-D74F-B8B753FA3316}"/>
              </a:ext>
            </a:extLst>
          </p:cNvPr>
          <p:cNvGrpSpPr/>
          <p:nvPr/>
        </p:nvGrpSpPr>
        <p:grpSpPr>
          <a:xfrm>
            <a:off x="2417849" y="4778463"/>
            <a:ext cx="1483568" cy="765110"/>
            <a:chOff x="1819469" y="4422710"/>
            <a:chExt cx="1483568" cy="765110"/>
          </a:xfrm>
        </p:grpSpPr>
        <p:cxnSp>
          <p:nvCxnSpPr>
            <p:cNvPr id="22" name="Connector: Elbow 21">
              <a:extLst>
                <a:ext uri="{FF2B5EF4-FFF2-40B4-BE49-F238E27FC236}">
                  <a16:creationId xmlns:a16="http://schemas.microsoft.com/office/drawing/2014/main" id="{6FC35597-B69C-7D23-0E17-D3F7F884EF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19469" y="4422710"/>
              <a:ext cx="1483568" cy="765110"/>
            </a:xfrm>
            <a:prstGeom prst="bentConnector3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7442CBEF-BAC8-51BC-0FD4-E2F9DDBBB2B4}"/>
                </a:ext>
              </a:extLst>
            </p:cNvPr>
            <p:cNvCxnSpPr>
              <a:cxnSpLocks/>
            </p:cNvCxnSpPr>
            <p:nvPr/>
          </p:nvCxnSpPr>
          <p:spPr>
            <a:xfrm>
              <a:off x="3303037" y="4422710"/>
              <a:ext cx="0" cy="53967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9AD9121D-148C-99BC-1D30-9471E803E4DD}"/>
              </a:ext>
            </a:extLst>
          </p:cNvPr>
          <p:cNvSpPr/>
          <p:nvPr/>
        </p:nvSpPr>
        <p:spPr>
          <a:xfrm>
            <a:off x="3663487" y="5318140"/>
            <a:ext cx="475862" cy="475862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736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EFF8D0F9-5B33-1A96-7696-AC6B5DC9F24C}"/>
              </a:ext>
            </a:extLst>
          </p:cNvPr>
          <p:cNvGrpSpPr/>
          <p:nvPr/>
        </p:nvGrpSpPr>
        <p:grpSpPr>
          <a:xfrm>
            <a:off x="1728803" y="5290249"/>
            <a:ext cx="961992" cy="475862"/>
            <a:chOff x="5609870" y="3628280"/>
            <a:chExt cx="961992" cy="475862"/>
          </a:xfrm>
          <a:noFill/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98A9F15-8D4B-BB9E-A14F-82325822867F}"/>
                </a:ext>
              </a:extLst>
            </p:cNvPr>
            <p:cNvSpPr/>
            <p:nvPr/>
          </p:nvSpPr>
          <p:spPr>
            <a:xfrm>
              <a:off x="5609870" y="3628280"/>
              <a:ext cx="475862" cy="475862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6D69B4F-7E24-A699-7BA2-6809D4B30849}"/>
                </a:ext>
              </a:extLst>
            </p:cNvPr>
            <p:cNvSpPr/>
            <p:nvPr/>
          </p:nvSpPr>
          <p:spPr>
            <a:xfrm>
              <a:off x="6096000" y="3628280"/>
              <a:ext cx="475862" cy="475862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0A63FCB-47CA-857B-AE89-B746F86AF05B}"/>
                </a:ext>
              </a:extLst>
            </p:cNvPr>
            <p:cNvSpPr txBox="1"/>
            <p:nvPr/>
          </p:nvSpPr>
          <p:spPr>
            <a:xfrm>
              <a:off x="5707225" y="3681545"/>
              <a:ext cx="301686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Calisto MT" panose="02040603050505030304" pitchFamily="18" charset="0"/>
                </a:rPr>
                <a:t>9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A609845-B061-8EE5-E97D-2FDA7C30A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Growth of Singly Linked List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63D048-EE2A-A094-1770-1B06F3DF14A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CA62E38-59FD-451F-9AA6-B569CE35F9BD}" type="datetime4">
              <a:rPr lang="en-US" smtClean="0"/>
              <a:t>March 6,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BF0DE1-9237-A725-147A-3562DE7BA99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Prepared By: Swapnil Biswas, CSE, BSMRU, Kishoreganj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2F1B96-F349-FA16-50AD-8A204406BFA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20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456F92-51DA-FD37-63EC-D9E763F0F793}"/>
              </a:ext>
            </a:extLst>
          </p:cNvPr>
          <p:cNvSpPr txBox="1"/>
          <p:nvPr/>
        </p:nvSpPr>
        <p:spPr>
          <a:xfrm>
            <a:off x="838200" y="1661747"/>
            <a:ext cx="4171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listo MT" panose="02040603050505030304" pitchFamily="18" charset="0"/>
              </a:rPr>
              <a:t>Initially head and tail point on NULL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DE699B-EEC6-8B85-36C9-31FC1ED0F24F}"/>
              </a:ext>
            </a:extLst>
          </p:cNvPr>
          <p:cNvSpPr txBox="1"/>
          <p:nvPr/>
        </p:nvSpPr>
        <p:spPr>
          <a:xfrm>
            <a:off x="838200" y="2078128"/>
            <a:ext cx="27286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listo MT" panose="02040603050505030304" pitchFamily="18" charset="0"/>
              </a:rPr>
              <a:t>Insert 9 as first element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E637506-D7DC-2C14-453A-14FB2CB1725E}"/>
              </a:ext>
            </a:extLst>
          </p:cNvPr>
          <p:cNvGrpSpPr/>
          <p:nvPr/>
        </p:nvGrpSpPr>
        <p:grpSpPr>
          <a:xfrm>
            <a:off x="1662796" y="4104142"/>
            <a:ext cx="655949" cy="1207073"/>
            <a:chOff x="920926" y="4243673"/>
            <a:chExt cx="655949" cy="1207073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895301E-F5BE-6414-30C4-E2B58DEA445A}"/>
                </a:ext>
              </a:extLst>
            </p:cNvPr>
            <p:cNvSpPr txBox="1"/>
            <p:nvPr/>
          </p:nvSpPr>
          <p:spPr>
            <a:xfrm>
              <a:off x="920926" y="4243673"/>
              <a:ext cx="6559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Calisto MT" panose="02040603050505030304" pitchFamily="18" charset="0"/>
                </a:rPr>
                <a:t>head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B43A69FF-40F0-F2EC-6A05-5EECDC9B9F87}"/>
                </a:ext>
              </a:extLst>
            </p:cNvPr>
            <p:cNvCxnSpPr>
              <a:stCxn id="8" idx="2"/>
            </p:cNvCxnSpPr>
            <p:nvPr/>
          </p:nvCxnSpPr>
          <p:spPr>
            <a:xfrm flipH="1">
              <a:off x="1248900" y="4613005"/>
              <a:ext cx="1" cy="83774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9AD9121D-148C-99BC-1D30-9471E803E4DD}"/>
              </a:ext>
            </a:extLst>
          </p:cNvPr>
          <p:cNvSpPr/>
          <p:nvPr/>
        </p:nvSpPr>
        <p:spPr>
          <a:xfrm>
            <a:off x="3663487" y="5318140"/>
            <a:ext cx="475862" cy="475862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0ADCD74-BEC7-3DEB-D866-DF53610E3DC1}"/>
              </a:ext>
            </a:extLst>
          </p:cNvPr>
          <p:cNvSpPr txBox="1"/>
          <p:nvPr/>
        </p:nvSpPr>
        <p:spPr>
          <a:xfrm>
            <a:off x="3645219" y="2078128"/>
            <a:ext cx="120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listo MT" panose="02040603050505030304" pitchFamily="18" charset="0"/>
              </a:rPr>
              <a:t>Insert 6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B5C578C-D4F7-2B7F-8512-CC3D81D2F7D1}"/>
              </a:ext>
            </a:extLst>
          </p:cNvPr>
          <p:cNvSpPr/>
          <p:nvPr/>
        </p:nvSpPr>
        <p:spPr>
          <a:xfrm>
            <a:off x="3213863" y="5237435"/>
            <a:ext cx="1192371" cy="8377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81760C2-8A7B-BF39-22FC-F1BD5D351529}"/>
              </a:ext>
            </a:extLst>
          </p:cNvPr>
          <p:cNvGrpSpPr/>
          <p:nvPr/>
        </p:nvGrpSpPr>
        <p:grpSpPr>
          <a:xfrm>
            <a:off x="3420421" y="5290249"/>
            <a:ext cx="961992" cy="475862"/>
            <a:chOff x="5609870" y="3628280"/>
            <a:chExt cx="961992" cy="475862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DE1B6A5F-888D-C703-1FBB-B408A24BBB88}"/>
                </a:ext>
              </a:extLst>
            </p:cNvPr>
            <p:cNvSpPr/>
            <p:nvPr/>
          </p:nvSpPr>
          <p:spPr>
            <a:xfrm>
              <a:off x="5609870" y="3628280"/>
              <a:ext cx="475862" cy="47586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900B4D98-6FC6-2AD1-FFBD-BD1F31854432}"/>
                </a:ext>
              </a:extLst>
            </p:cNvPr>
            <p:cNvSpPr/>
            <p:nvPr/>
          </p:nvSpPr>
          <p:spPr>
            <a:xfrm>
              <a:off x="6096000" y="3628280"/>
              <a:ext cx="475862" cy="47586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85FBFC3-4221-F4A9-AB3B-EAA29CB68642}"/>
                </a:ext>
              </a:extLst>
            </p:cNvPr>
            <p:cNvSpPr txBox="1"/>
            <p:nvPr/>
          </p:nvSpPr>
          <p:spPr>
            <a:xfrm>
              <a:off x="5707225" y="368154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Calisto MT" panose="02040603050505030304" pitchFamily="18" charset="0"/>
                </a:rPr>
                <a:t>6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F80B635-42E2-3605-D74F-B8B753FA3316}"/>
              </a:ext>
            </a:extLst>
          </p:cNvPr>
          <p:cNvGrpSpPr/>
          <p:nvPr/>
        </p:nvGrpSpPr>
        <p:grpSpPr>
          <a:xfrm>
            <a:off x="2417849" y="4778463"/>
            <a:ext cx="1483568" cy="765110"/>
            <a:chOff x="1819469" y="4422710"/>
            <a:chExt cx="1483568" cy="765110"/>
          </a:xfrm>
        </p:grpSpPr>
        <p:cxnSp>
          <p:nvCxnSpPr>
            <p:cNvPr id="22" name="Connector: Elbow 21">
              <a:extLst>
                <a:ext uri="{FF2B5EF4-FFF2-40B4-BE49-F238E27FC236}">
                  <a16:creationId xmlns:a16="http://schemas.microsoft.com/office/drawing/2014/main" id="{6FC35597-B69C-7D23-0E17-D3F7F884EF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19469" y="4422710"/>
              <a:ext cx="1483568" cy="765110"/>
            </a:xfrm>
            <a:prstGeom prst="bentConnector3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7442CBEF-BAC8-51BC-0FD4-E2F9DDBBB2B4}"/>
                </a:ext>
              </a:extLst>
            </p:cNvPr>
            <p:cNvCxnSpPr>
              <a:cxnSpLocks/>
            </p:cNvCxnSpPr>
            <p:nvPr/>
          </p:nvCxnSpPr>
          <p:spPr>
            <a:xfrm>
              <a:off x="3303037" y="4422710"/>
              <a:ext cx="0" cy="53967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0B4C212-1813-0D93-388E-01A255A420C0}"/>
              </a:ext>
            </a:extLst>
          </p:cNvPr>
          <p:cNvGrpSpPr/>
          <p:nvPr/>
        </p:nvGrpSpPr>
        <p:grpSpPr>
          <a:xfrm>
            <a:off x="4139348" y="4770018"/>
            <a:ext cx="1483568" cy="765110"/>
            <a:chOff x="1819469" y="4422710"/>
            <a:chExt cx="1483568" cy="765110"/>
          </a:xfrm>
        </p:grpSpPr>
        <p:cxnSp>
          <p:nvCxnSpPr>
            <p:cNvPr id="35" name="Connector: Elbow 34">
              <a:extLst>
                <a:ext uri="{FF2B5EF4-FFF2-40B4-BE49-F238E27FC236}">
                  <a16:creationId xmlns:a16="http://schemas.microsoft.com/office/drawing/2014/main" id="{7F954A9C-D857-CD33-C2C4-5ACCC609D4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19469" y="4422710"/>
              <a:ext cx="1483568" cy="765110"/>
            </a:xfrm>
            <a:prstGeom prst="bentConnector3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72FFAFD3-C3E3-28AD-4BAC-E70782B6EECE}"/>
                </a:ext>
              </a:extLst>
            </p:cNvPr>
            <p:cNvCxnSpPr>
              <a:cxnSpLocks/>
            </p:cNvCxnSpPr>
            <p:nvPr/>
          </p:nvCxnSpPr>
          <p:spPr>
            <a:xfrm>
              <a:off x="3303037" y="4422710"/>
              <a:ext cx="0" cy="53967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Isosceles Triangle 36">
            <a:extLst>
              <a:ext uri="{FF2B5EF4-FFF2-40B4-BE49-F238E27FC236}">
                <a16:creationId xmlns:a16="http://schemas.microsoft.com/office/drawing/2014/main" id="{7AF6553C-B96C-71A0-78BC-4BAD4B6E2781}"/>
              </a:ext>
            </a:extLst>
          </p:cNvPr>
          <p:cNvSpPr/>
          <p:nvPr/>
        </p:nvSpPr>
        <p:spPr>
          <a:xfrm>
            <a:off x="5384986" y="5309695"/>
            <a:ext cx="475862" cy="475862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F881481-2BC8-2186-3186-22577ADFA9C3}"/>
              </a:ext>
            </a:extLst>
          </p:cNvPr>
          <p:cNvGrpSpPr/>
          <p:nvPr/>
        </p:nvGrpSpPr>
        <p:grpSpPr>
          <a:xfrm>
            <a:off x="2170826" y="4104142"/>
            <a:ext cx="494046" cy="1192282"/>
            <a:chOff x="5947995" y="4258309"/>
            <a:chExt cx="494046" cy="1192282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9CF8A09-CCD8-6C5B-4E40-F789B65303E3}"/>
                </a:ext>
              </a:extLst>
            </p:cNvPr>
            <p:cNvSpPr txBox="1"/>
            <p:nvPr/>
          </p:nvSpPr>
          <p:spPr>
            <a:xfrm>
              <a:off x="5947995" y="4258309"/>
              <a:ext cx="4940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Calisto MT" panose="02040603050505030304" pitchFamily="18" charset="0"/>
                </a:rPr>
                <a:t>tail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87772F1B-6E8D-3715-BA5E-F5E4AF3FD636}"/>
                </a:ext>
              </a:extLst>
            </p:cNvPr>
            <p:cNvCxnSpPr>
              <a:cxnSpLocks/>
            </p:cNvCxnSpPr>
            <p:nvPr/>
          </p:nvCxnSpPr>
          <p:spPr>
            <a:xfrm>
              <a:off x="6195018" y="4552993"/>
              <a:ext cx="0" cy="89759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42972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4.81481E-6 L 0.14114 0.00023 " pathEditMode="relative" rAng="0" ptsTypes="AA">
                                      <p:cBhvr>
                                        <p:cTn id="23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05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081760C2-8A7B-BF39-22FC-F1BD5D351529}"/>
              </a:ext>
            </a:extLst>
          </p:cNvPr>
          <p:cNvGrpSpPr/>
          <p:nvPr/>
        </p:nvGrpSpPr>
        <p:grpSpPr>
          <a:xfrm>
            <a:off x="3420421" y="5290249"/>
            <a:ext cx="961992" cy="475862"/>
            <a:chOff x="5609870" y="3628280"/>
            <a:chExt cx="961992" cy="475862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DE1B6A5F-888D-C703-1FBB-B408A24BBB88}"/>
                </a:ext>
              </a:extLst>
            </p:cNvPr>
            <p:cNvSpPr/>
            <p:nvPr/>
          </p:nvSpPr>
          <p:spPr>
            <a:xfrm>
              <a:off x="5609870" y="3628280"/>
              <a:ext cx="475862" cy="47586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900B4D98-6FC6-2AD1-FFBD-BD1F31854432}"/>
                </a:ext>
              </a:extLst>
            </p:cNvPr>
            <p:cNvSpPr/>
            <p:nvPr/>
          </p:nvSpPr>
          <p:spPr>
            <a:xfrm>
              <a:off x="6096000" y="3628280"/>
              <a:ext cx="475862" cy="47586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85FBFC3-4221-F4A9-AB3B-EAA29CB68642}"/>
                </a:ext>
              </a:extLst>
            </p:cNvPr>
            <p:cNvSpPr txBox="1"/>
            <p:nvPr/>
          </p:nvSpPr>
          <p:spPr>
            <a:xfrm>
              <a:off x="5707225" y="368154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Calisto MT" panose="02040603050505030304" pitchFamily="18" charset="0"/>
                </a:rPr>
                <a:t>6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FF8D0F9-5B33-1A96-7696-AC6B5DC9F24C}"/>
              </a:ext>
            </a:extLst>
          </p:cNvPr>
          <p:cNvGrpSpPr/>
          <p:nvPr/>
        </p:nvGrpSpPr>
        <p:grpSpPr>
          <a:xfrm>
            <a:off x="1728803" y="5290249"/>
            <a:ext cx="961992" cy="475862"/>
            <a:chOff x="5609870" y="3628280"/>
            <a:chExt cx="961992" cy="475862"/>
          </a:xfrm>
          <a:noFill/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98A9F15-8D4B-BB9E-A14F-82325822867F}"/>
                </a:ext>
              </a:extLst>
            </p:cNvPr>
            <p:cNvSpPr/>
            <p:nvPr/>
          </p:nvSpPr>
          <p:spPr>
            <a:xfrm>
              <a:off x="5609870" y="3628280"/>
              <a:ext cx="475862" cy="475862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6D69B4F-7E24-A699-7BA2-6809D4B30849}"/>
                </a:ext>
              </a:extLst>
            </p:cNvPr>
            <p:cNvSpPr/>
            <p:nvPr/>
          </p:nvSpPr>
          <p:spPr>
            <a:xfrm>
              <a:off x="6096000" y="3628280"/>
              <a:ext cx="475862" cy="475862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0A63FCB-47CA-857B-AE89-B746F86AF05B}"/>
                </a:ext>
              </a:extLst>
            </p:cNvPr>
            <p:cNvSpPr txBox="1"/>
            <p:nvPr/>
          </p:nvSpPr>
          <p:spPr>
            <a:xfrm>
              <a:off x="5707225" y="3681545"/>
              <a:ext cx="301686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Calisto MT" panose="02040603050505030304" pitchFamily="18" charset="0"/>
                </a:rPr>
                <a:t>9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A609845-B061-8EE5-E97D-2FDA7C30A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Growth of Singly Linked List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63D048-EE2A-A094-1770-1B06F3DF14A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CA62E38-59FD-451F-9AA6-B569CE35F9BD}" type="datetime4">
              <a:rPr lang="en-US" smtClean="0"/>
              <a:t>March 6,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BF0DE1-9237-A725-147A-3562DE7BA99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Prepared By: Swapnil Biswas, CSE, BSMRU, Kishoreganj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2F1B96-F349-FA16-50AD-8A204406BFA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21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456F92-51DA-FD37-63EC-D9E763F0F793}"/>
              </a:ext>
            </a:extLst>
          </p:cNvPr>
          <p:cNvSpPr txBox="1"/>
          <p:nvPr/>
        </p:nvSpPr>
        <p:spPr>
          <a:xfrm>
            <a:off x="838200" y="1661747"/>
            <a:ext cx="4171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listo MT" panose="02040603050505030304" pitchFamily="18" charset="0"/>
              </a:rPr>
              <a:t>Initially head and tail point on NULL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DE699B-EEC6-8B85-36C9-31FC1ED0F24F}"/>
              </a:ext>
            </a:extLst>
          </p:cNvPr>
          <p:cNvSpPr txBox="1"/>
          <p:nvPr/>
        </p:nvSpPr>
        <p:spPr>
          <a:xfrm>
            <a:off x="838200" y="2078128"/>
            <a:ext cx="27286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listo MT" panose="02040603050505030304" pitchFamily="18" charset="0"/>
              </a:rPr>
              <a:t>Insert 9 as first element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E637506-D7DC-2C14-453A-14FB2CB1725E}"/>
              </a:ext>
            </a:extLst>
          </p:cNvPr>
          <p:cNvGrpSpPr/>
          <p:nvPr/>
        </p:nvGrpSpPr>
        <p:grpSpPr>
          <a:xfrm>
            <a:off x="1662796" y="4104142"/>
            <a:ext cx="655949" cy="1207073"/>
            <a:chOff x="920926" y="4243673"/>
            <a:chExt cx="655949" cy="1207073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895301E-F5BE-6414-30C4-E2B58DEA445A}"/>
                </a:ext>
              </a:extLst>
            </p:cNvPr>
            <p:cNvSpPr txBox="1"/>
            <p:nvPr/>
          </p:nvSpPr>
          <p:spPr>
            <a:xfrm>
              <a:off x="920926" y="4243673"/>
              <a:ext cx="6559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Calisto MT" panose="02040603050505030304" pitchFamily="18" charset="0"/>
                </a:rPr>
                <a:t>head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B43A69FF-40F0-F2EC-6A05-5EECDC9B9F87}"/>
                </a:ext>
              </a:extLst>
            </p:cNvPr>
            <p:cNvCxnSpPr>
              <a:stCxn id="8" idx="2"/>
            </p:cNvCxnSpPr>
            <p:nvPr/>
          </p:nvCxnSpPr>
          <p:spPr>
            <a:xfrm flipH="1">
              <a:off x="1248900" y="4613005"/>
              <a:ext cx="1" cy="83774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60ADCD74-BEC7-3DEB-D866-DF53610E3DC1}"/>
              </a:ext>
            </a:extLst>
          </p:cNvPr>
          <p:cNvSpPr txBox="1"/>
          <p:nvPr/>
        </p:nvSpPr>
        <p:spPr>
          <a:xfrm>
            <a:off x="3645219" y="2078128"/>
            <a:ext cx="120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listo MT" panose="02040603050505030304" pitchFamily="18" charset="0"/>
              </a:rPr>
              <a:t>Insert 6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F80B635-42E2-3605-D74F-B8B753FA3316}"/>
              </a:ext>
            </a:extLst>
          </p:cNvPr>
          <p:cNvGrpSpPr/>
          <p:nvPr/>
        </p:nvGrpSpPr>
        <p:grpSpPr>
          <a:xfrm>
            <a:off x="2417849" y="4778463"/>
            <a:ext cx="1483568" cy="765110"/>
            <a:chOff x="1819469" y="4422710"/>
            <a:chExt cx="1483568" cy="765110"/>
          </a:xfrm>
        </p:grpSpPr>
        <p:cxnSp>
          <p:nvCxnSpPr>
            <p:cNvPr id="22" name="Connector: Elbow 21">
              <a:extLst>
                <a:ext uri="{FF2B5EF4-FFF2-40B4-BE49-F238E27FC236}">
                  <a16:creationId xmlns:a16="http://schemas.microsoft.com/office/drawing/2014/main" id="{6FC35597-B69C-7D23-0E17-D3F7F884EF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19469" y="4422710"/>
              <a:ext cx="1483568" cy="765110"/>
            </a:xfrm>
            <a:prstGeom prst="bentConnector3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7442CBEF-BAC8-51BC-0FD4-E2F9DDBBB2B4}"/>
                </a:ext>
              </a:extLst>
            </p:cNvPr>
            <p:cNvCxnSpPr>
              <a:cxnSpLocks/>
            </p:cNvCxnSpPr>
            <p:nvPr/>
          </p:nvCxnSpPr>
          <p:spPr>
            <a:xfrm>
              <a:off x="3303037" y="4422710"/>
              <a:ext cx="0" cy="53967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Isosceles Triangle 36">
            <a:extLst>
              <a:ext uri="{FF2B5EF4-FFF2-40B4-BE49-F238E27FC236}">
                <a16:creationId xmlns:a16="http://schemas.microsoft.com/office/drawing/2014/main" id="{7AF6553C-B96C-71A0-78BC-4BAD4B6E2781}"/>
              </a:ext>
            </a:extLst>
          </p:cNvPr>
          <p:cNvSpPr/>
          <p:nvPr/>
        </p:nvSpPr>
        <p:spPr>
          <a:xfrm>
            <a:off x="5384986" y="5309695"/>
            <a:ext cx="475862" cy="475862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129A95-97EA-BA11-0EF1-8C5B585A2B4E}"/>
              </a:ext>
            </a:extLst>
          </p:cNvPr>
          <p:cNvSpPr txBox="1"/>
          <p:nvPr/>
        </p:nvSpPr>
        <p:spPr>
          <a:xfrm>
            <a:off x="5020026" y="2078128"/>
            <a:ext cx="120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listo MT" panose="02040603050505030304" pitchFamily="18" charset="0"/>
              </a:rPr>
              <a:t>Insert 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8C87618-97F4-72EE-9316-0A0FE9E42FAA}"/>
              </a:ext>
            </a:extLst>
          </p:cNvPr>
          <p:cNvSpPr/>
          <p:nvPr/>
        </p:nvSpPr>
        <p:spPr>
          <a:xfrm>
            <a:off x="5039348" y="5164676"/>
            <a:ext cx="1192371" cy="8377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1AC6EC5-8B0E-E99B-3B8D-9D05A7209F84}"/>
              </a:ext>
            </a:extLst>
          </p:cNvPr>
          <p:cNvGrpSpPr/>
          <p:nvPr/>
        </p:nvGrpSpPr>
        <p:grpSpPr>
          <a:xfrm>
            <a:off x="5156531" y="5290249"/>
            <a:ext cx="961992" cy="475862"/>
            <a:chOff x="5609870" y="3628280"/>
            <a:chExt cx="961992" cy="475862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3B3ACF42-BE2A-B042-FA43-45DAA38B4CF5}"/>
                </a:ext>
              </a:extLst>
            </p:cNvPr>
            <p:cNvSpPr/>
            <p:nvPr/>
          </p:nvSpPr>
          <p:spPr>
            <a:xfrm>
              <a:off x="5609870" y="3628280"/>
              <a:ext cx="475862" cy="47586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0C3BCFB-FD57-A802-D1F7-D462CB0313A2}"/>
                </a:ext>
              </a:extLst>
            </p:cNvPr>
            <p:cNvSpPr/>
            <p:nvPr/>
          </p:nvSpPr>
          <p:spPr>
            <a:xfrm>
              <a:off x="6096000" y="3628280"/>
              <a:ext cx="475862" cy="47586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AD0678D-F020-760D-77F8-8CE6F7201812}"/>
                </a:ext>
              </a:extLst>
            </p:cNvPr>
            <p:cNvSpPr txBox="1"/>
            <p:nvPr/>
          </p:nvSpPr>
          <p:spPr>
            <a:xfrm>
              <a:off x="5707225" y="368154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Calisto MT" panose="02040603050505030304" pitchFamily="18" charset="0"/>
                </a:rPr>
                <a:t>5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0B4C212-1813-0D93-388E-01A255A420C0}"/>
              </a:ext>
            </a:extLst>
          </p:cNvPr>
          <p:cNvGrpSpPr/>
          <p:nvPr/>
        </p:nvGrpSpPr>
        <p:grpSpPr>
          <a:xfrm>
            <a:off x="4139348" y="4770018"/>
            <a:ext cx="1483568" cy="765110"/>
            <a:chOff x="1819469" y="4422710"/>
            <a:chExt cx="1483568" cy="765110"/>
          </a:xfrm>
        </p:grpSpPr>
        <p:cxnSp>
          <p:nvCxnSpPr>
            <p:cNvPr id="35" name="Connector: Elbow 34">
              <a:extLst>
                <a:ext uri="{FF2B5EF4-FFF2-40B4-BE49-F238E27FC236}">
                  <a16:creationId xmlns:a16="http://schemas.microsoft.com/office/drawing/2014/main" id="{7F954A9C-D857-CD33-C2C4-5ACCC609D4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19469" y="4422710"/>
              <a:ext cx="1483568" cy="765110"/>
            </a:xfrm>
            <a:prstGeom prst="bentConnector3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72FFAFD3-C3E3-28AD-4BAC-E70782B6EECE}"/>
                </a:ext>
              </a:extLst>
            </p:cNvPr>
            <p:cNvCxnSpPr>
              <a:cxnSpLocks/>
            </p:cNvCxnSpPr>
            <p:nvPr/>
          </p:nvCxnSpPr>
          <p:spPr>
            <a:xfrm>
              <a:off x="3303037" y="4422710"/>
              <a:ext cx="0" cy="53967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7CE92708-761F-1CC7-843B-0AA5CB520066}"/>
              </a:ext>
            </a:extLst>
          </p:cNvPr>
          <p:cNvGrpSpPr/>
          <p:nvPr/>
        </p:nvGrpSpPr>
        <p:grpSpPr>
          <a:xfrm>
            <a:off x="5901210" y="4740866"/>
            <a:ext cx="1483568" cy="765110"/>
            <a:chOff x="1819469" y="4422710"/>
            <a:chExt cx="1483568" cy="765110"/>
          </a:xfrm>
        </p:grpSpPr>
        <p:cxnSp>
          <p:nvCxnSpPr>
            <p:cNvPr id="40" name="Connector: Elbow 39">
              <a:extLst>
                <a:ext uri="{FF2B5EF4-FFF2-40B4-BE49-F238E27FC236}">
                  <a16:creationId xmlns:a16="http://schemas.microsoft.com/office/drawing/2014/main" id="{A1A36F15-0B44-0CAF-8D41-4A26900885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19469" y="4422710"/>
              <a:ext cx="1483568" cy="765110"/>
            </a:xfrm>
            <a:prstGeom prst="bentConnector3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8C8D9C74-4C43-A573-1E8A-00D743927614}"/>
                </a:ext>
              </a:extLst>
            </p:cNvPr>
            <p:cNvCxnSpPr>
              <a:cxnSpLocks/>
            </p:cNvCxnSpPr>
            <p:nvPr/>
          </p:nvCxnSpPr>
          <p:spPr>
            <a:xfrm>
              <a:off x="3303037" y="4422710"/>
              <a:ext cx="0" cy="53967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Isosceles Triangle 41">
            <a:extLst>
              <a:ext uri="{FF2B5EF4-FFF2-40B4-BE49-F238E27FC236}">
                <a16:creationId xmlns:a16="http://schemas.microsoft.com/office/drawing/2014/main" id="{FB12097E-578C-B43F-FD26-BBDEFE65B7BB}"/>
              </a:ext>
            </a:extLst>
          </p:cNvPr>
          <p:cNvSpPr/>
          <p:nvPr/>
        </p:nvSpPr>
        <p:spPr>
          <a:xfrm>
            <a:off x="7146848" y="5280543"/>
            <a:ext cx="475862" cy="475862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F881481-2BC8-2186-3186-22577ADFA9C3}"/>
              </a:ext>
            </a:extLst>
          </p:cNvPr>
          <p:cNvGrpSpPr/>
          <p:nvPr/>
        </p:nvGrpSpPr>
        <p:grpSpPr>
          <a:xfrm>
            <a:off x="3887794" y="4097967"/>
            <a:ext cx="494046" cy="1192282"/>
            <a:chOff x="5947995" y="4258309"/>
            <a:chExt cx="494046" cy="1192282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9CF8A09-CCD8-6C5B-4E40-F789B65303E3}"/>
                </a:ext>
              </a:extLst>
            </p:cNvPr>
            <p:cNvSpPr txBox="1"/>
            <p:nvPr/>
          </p:nvSpPr>
          <p:spPr>
            <a:xfrm>
              <a:off x="5947995" y="4258309"/>
              <a:ext cx="4940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Calisto MT" panose="02040603050505030304" pitchFamily="18" charset="0"/>
                </a:rPr>
                <a:t>tail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87772F1B-6E8D-3715-BA5E-F5E4AF3FD636}"/>
                </a:ext>
              </a:extLst>
            </p:cNvPr>
            <p:cNvCxnSpPr>
              <a:cxnSpLocks/>
            </p:cNvCxnSpPr>
            <p:nvPr/>
          </p:nvCxnSpPr>
          <p:spPr>
            <a:xfrm>
              <a:off x="6195018" y="4552993"/>
              <a:ext cx="0" cy="89759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51086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7.40741E-7 L 0.14492 0.00116 " pathEditMode="relative" rAng="0" ptsTypes="AA">
                                      <p:cBhvr>
                                        <p:cTn id="23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240" y="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4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09845-B061-8EE5-E97D-2FDA7C30A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Operations of Singly Linked List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63D048-EE2A-A094-1770-1B06F3DF14A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CA62E38-59FD-451F-9AA6-B569CE35F9BD}" type="datetime4">
              <a:rPr lang="en-US" smtClean="0"/>
              <a:t>March 6,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BF0DE1-9237-A725-147A-3562DE7BA99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Prepared By: Swapnil Biswas, CSE, BSMRU, Kishoreganj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2F1B96-F349-FA16-50AD-8A204406BFA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22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456F92-51DA-FD37-63EC-D9E763F0F793}"/>
              </a:ext>
            </a:extLst>
          </p:cNvPr>
          <p:cNvSpPr txBox="1"/>
          <p:nvPr/>
        </p:nvSpPr>
        <p:spPr>
          <a:xfrm>
            <a:off x="838200" y="1661747"/>
            <a:ext cx="3310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listo MT" panose="02040603050505030304" pitchFamily="18" charset="0"/>
              </a:rPr>
              <a:t>Insert at first (Insert on head)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8465DF5-E503-4640-3809-DD2A0A571666}"/>
              </a:ext>
            </a:extLst>
          </p:cNvPr>
          <p:cNvSpPr txBox="1"/>
          <p:nvPr/>
        </p:nvSpPr>
        <p:spPr>
          <a:xfrm>
            <a:off x="838200" y="2122057"/>
            <a:ext cx="5243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listo MT" panose="02040603050505030304" pitchFamily="18" charset="0"/>
              </a:rPr>
              <a:t>Insert at last (Insert on tail/ Insert before NULL)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BD1CE82-837D-AFA1-6ADD-B761E70E8EBF}"/>
              </a:ext>
            </a:extLst>
          </p:cNvPr>
          <p:cNvSpPr txBox="1"/>
          <p:nvPr/>
        </p:nvSpPr>
        <p:spPr>
          <a:xfrm>
            <a:off x="838199" y="2582367"/>
            <a:ext cx="3326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listo MT" panose="02040603050505030304" pitchFamily="18" charset="0"/>
              </a:rPr>
              <a:t>Traverse the entire list (Print)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72D2079-B8A1-95FC-18BD-F8BD8EBBCC56}"/>
              </a:ext>
            </a:extLst>
          </p:cNvPr>
          <p:cNvSpPr txBox="1"/>
          <p:nvPr/>
        </p:nvSpPr>
        <p:spPr>
          <a:xfrm>
            <a:off x="838199" y="3042677"/>
            <a:ext cx="3159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listo MT" panose="02040603050505030304" pitchFamily="18" charset="0"/>
              </a:rPr>
              <a:t>Delete at first (Delete head)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0398F13-098A-44E1-53DD-6E070EEBEFC9}"/>
              </a:ext>
            </a:extLst>
          </p:cNvPr>
          <p:cNvSpPr txBox="1"/>
          <p:nvPr/>
        </p:nvSpPr>
        <p:spPr>
          <a:xfrm>
            <a:off x="838198" y="3469521"/>
            <a:ext cx="2959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listo MT" panose="02040603050505030304" pitchFamily="18" charset="0"/>
              </a:rPr>
              <a:t>Delete at last (Delete tail)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85071D3-CAE7-0A1B-E0FF-1D6512A7D9E7}"/>
              </a:ext>
            </a:extLst>
          </p:cNvPr>
          <p:cNvSpPr txBox="1"/>
          <p:nvPr/>
        </p:nvSpPr>
        <p:spPr>
          <a:xfrm>
            <a:off x="838197" y="3916436"/>
            <a:ext cx="15263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listo MT" panose="02040603050505030304" pitchFamily="18" charset="0"/>
              </a:rPr>
              <a:t>Delete any</a:t>
            </a:r>
          </a:p>
        </p:txBody>
      </p:sp>
    </p:spTree>
    <p:extLst>
      <p:ext uri="{BB962C8B-B14F-4D97-AF65-F5344CB8AC3E}">
        <p14:creationId xmlns:p14="http://schemas.microsoft.com/office/powerpoint/2010/main" val="2780885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0" grpId="0"/>
      <p:bldP spid="24" grpId="0"/>
      <p:bldP spid="29" grpId="0"/>
      <p:bldP spid="43" grpId="0"/>
      <p:bldP spid="4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09845-B061-8EE5-E97D-2FDA7C30A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 at First (Insert on head)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63D048-EE2A-A094-1770-1B06F3DF14A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CA62E38-59FD-451F-9AA6-B569CE35F9BD}" type="datetime4">
              <a:rPr lang="en-US" smtClean="0"/>
              <a:t>March 6,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BF0DE1-9237-A725-147A-3562DE7BA99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Prepared By: Swapnil Biswas, CSE, BSMRU, Kishoreganj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2F1B96-F349-FA16-50AD-8A204406BFA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23</a:t>
            </a:fld>
            <a:endParaRPr lang="en-US"/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53870BB9-22FE-8855-8583-7C28C8C2181B}"/>
              </a:ext>
            </a:extLst>
          </p:cNvPr>
          <p:cNvSpPr/>
          <p:nvPr/>
        </p:nvSpPr>
        <p:spPr>
          <a:xfrm>
            <a:off x="8610600" y="4882001"/>
            <a:ext cx="2575739" cy="466531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0B461E5-83CC-323B-083E-B224869C882D}"/>
              </a:ext>
            </a:extLst>
          </p:cNvPr>
          <p:cNvGrpSpPr/>
          <p:nvPr/>
        </p:nvGrpSpPr>
        <p:grpSpPr>
          <a:xfrm>
            <a:off x="8742937" y="3966044"/>
            <a:ext cx="655949" cy="1207073"/>
            <a:chOff x="920926" y="4243673"/>
            <a:chExt cx="655949" cy="1207073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C4BD6DA-B74B-FFEA-9F5C-95F159E0EF92}"/>
                </a:ext>
              </a:extLst>
            </p:cNvPr>
            <p:cNvSpPr txBox="1"/>
            <p:nvPr/>
          </p:nvSpPr>
          <p:spPr>
            <a:xfrm>
              <a:off x="920926" y="4243673"/>
              <a:ext cx="6559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Calisto MT" panose="02040603050505030304" pitchFamily="18" charset="0"/>
                </a:rPr>
                <a:t>head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F1FABCC9-45D9-0B19-2F98-7593D889A41D}"/>
                </a:ext>
              </a:extLst>
            </p:cNvPr>
            <p:cNvCxnSpPr>
              <a:stCxn id="9" idx="2"/>
            </p:cNvCxnSpPr>
            <p:nvPr/>
          </p:nvCxnSpPr>
          <p:spPr>
            <a:xfrm flipH="1">
              <a:off x="1248900" y="4613005"/>
              <a:ext cx="1" cy="83774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C42A5C2-9F0A-8635-4B96-0AA6EDB081A5}"/>
              </a:ext>
            </a:extLst>
          </p:cNvPr>
          <p:cNvGrpSpPr/>
          <p:nvPr/>
        </p:nvGrpSpPr>
        <p:grpSpPr>
          <a:xfrm>
            <a:off x="10434196" y="3966044"/>
            <a:ext cx="494046" cy="1192282"/>
            <a:chOff x="5947995" y="4258309"/>
            <a:chExt cx="494046" cy="1192282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1874AF4-1419-0228-49EE-9977A6BFA058}"/>
                </a:ext>
              </a:extLst>
            </p:cNvPr>
            <p:cNvSpPr txBox="1"/>
            <p:nvPr/>
          </p:nvSpPr>
          <p:spPr>
            <a:xfrm>
              <a:off x="5947995" y="4258309"/>
              <a:ext cx="4940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Calisto MT" panose="02040603050505030304" pitchFamily="18" charset="0"/>
                </a:rPr>
                <a:t>tail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95B12B23-A8AC-76DA-9DD6-C4571D48E129}"/>
                </a:ext>
              </a:extLst>
            </p:cNvPr>
            <p:cNvCxnSpPr>
              <a:cxnSpLocks/>
            </p:cNvCxnSpPr>
            <p:nvPr/>
          </p:nvCxnSpPr>
          <p:spPr>
            <a:xfrm>
              <a:off x="6195018" y="4552993"/>
              <a:ext cx="0" cy="89759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0DBCD625-6730-7281-0234-2406A0A0514C}"/>
              </a:ext>
            </a:extLst>
          </p:cNvPr>
          <p:cNvSpPr txBox="1"/>
          <p:nvPr/>
        </p:nvSpPr>
        <p:spPr>
          <a:xfrm>
            <a:off x="970908" y="1615676"/>
            <a:ext cx="2377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Calisto MT" panose="02040603050505030304" pitchFamily="18" charset="0"/>
              </a:rPr>
              <a:t>Node *head = NULL;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EF0E90-7015-CC43-A41C-80DD3688E9A7}"/>
              </a:ext>
            </a:extLst>
          </p:cNvPr>
          <p:cNvSpPr txBox="1"/>
          <p:nvPr/>
        </p:nvSpPr>
        <p:spPr>
          <a:xfrm>
            <a:off x="3997137" y="1609720"/>
            <a:ext cx="22156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Calisto MT" panose="02040603050505030304" pitchFamily="18" charset="0"/>
              </a:rPr>
              <a:t>Node *tail = NULL;</a:t>
            </a:r>
          </a:p>
        </p:txBody>
      </p:sp>
    </p:spTree>
    <p:extLst>
      <p:ext uri="{BB962C8B-B14F-4D97-AF65-F5344CB8AC3E}">
        <p14:creationId xmlns:p14="http://schemas.microsoft.com/office/powerpoint/2010/main" val="3961646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5" grpId="0"/>
      <p:bldP spid="1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09845-B061-8EE5-E97D-2FDA7C30A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 at First (Insert on head)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63D048-EE2A-A094-1770-1B06F3DF14A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CA62E38-59FD-451F-9AA6-B569CE35F9BD}" type="datetime4">
              <a:rPr lang="en-US" smtClean="0"/>
              <a:t>March 6,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BF0DE1-9237-A725-147A-3562DE7BA99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Prepared By: Swapnil Biswas, CSE, BSMRU, Kishoreganj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2F1B96-F349-FA16-50AD-8A204406BFA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24</a:t>
            </a:fld>
            <a:endParaRPr lang="en-US"/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53870BB9-22FE-8855-8583-7C28C8C2181B}"/>
              </a:ext>
            </a:extLst>
          </p:cNvPr>
          <p:cNvSpPr/>
          <p:nvPr/>
        </p:nvSpPr>
        <p:spPr>
          <a:xfrm>
            <a:off x="8602334" y="4829537"/>
            <a:ext cx="2575739" cy="466531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9C2DB8-D5C5-70C5-B533-4106B290558D}"/>
              </a:ext>
            </a:extLst>
          </p:cNvPr>
          <p:cNvSpPr txBox="1"/>
          <p:nvPr/>
        </p:nvSpPr>
        <p:spPr>
          <a:xfrm>
            <a:off x="845483" y="1626052"/>
            <a:ext cx="27286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listo MT" panose="02040603050505030304" pitchFamily="18" charset="0"/>
              </a:rPr>
              <a:t>Insert 9 as first element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2CE01F-D575-F532-04CA-0F6914F0E66D}"/>
              </a:ext>
            </a:extLst>
          </p:cNvPr>
          <p:cNvSpPr/>
          <p:nvPr/>
        </p:nvSpPr>
        <p:spPr>
          <a:xfrm>
            <a:off x="8418160" y="4810592"/>
            <a:ext cx="3011841" cy="8377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6CF2BDD-879F-ABE8-DB7E-8ADBA3F7E26F}"/>
              </a:ext>
            </a:extLst>
          </p:cNvPr>
          <p:cNvGrpSpPr/>
          <p:nvPr/>
        </p:nvGrpSpPr>
        <p:grpSpPr>
          <a:xfrm>
            <a:off x="8846997" y="5104912"/>
            <a:ext cx="961992" cy="475862"/>
            <a:chOff x="5609870" y="3628280"/>
            <a:chExt cx="961992" cy="475862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2D306BF-F612-D990-B476-DCB3E1551CD3}"/>
                </a:ext>
              </a:extLst>
            </p:cNvPr>
            <p:cNvSpPr/>
            <p:nvPr/>
          </p:nvSpPr>
          <p:spPr>
            <a:xfrm>
              <a:off x="5609870" y="3628280"/>
              <a:ext cx="475862" cy="47586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3A873FD-F39D-F617-356C-CD222FD5D906}"/>
                </a:ext>
              </a:extLst>
            </p:cNvPr>
            <p:cNvSpPr/>
            <p:nvPr/>
          </p:nvSpPr>
          <p:spPr>
            <a:xfrm>
              <a:off x="6096000" y="3628280"/>
              <a:ext cx="475862" cy="47586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78E7EE0-B238-2F2B-CC2F-5927034D3E36}"/>
                </a:ext>
              </a:extLst>
            </p:cNvPr>
            <p:cNvSpPr txBox="1"/>
            <p:nvPr/>
          </p:nvSpPr>
          <p:spPr>
            <a:xfrm>
              <a:off x="5707225" y="368154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Calisto MT" panose="02040603050505030304" pitchFamily="18" charset="0"/>
                </a:rPr>
                <a:t>9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0B461E5-83CC-323B-083E-B224869C882D}"/>
              </a:ext>
            </a:extLst>
          </p:cNvPr>
          <p:cNvGrpSpPr/>
          <p:nvPr/>
        </p:nvGrpSpPr>
        <p:grpSpPr>
          <a:xfrm>
            <a:off x="8734671" y="3913580"/>
            <a:ext cx="655949" cy="1207073"/>
            <a:chOff x="920926" y="4243673"/>
            <a:chExt cx="655949" cy="1207073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C4BD6DA-B74B-FFEA-9F5C-95F159E0EF92}"/>
                </a:ext>
              </a:extLst>
            </p:cNvPr>
            <p:cNvSpPr txBox="1"/>
            <p:nvPr/>
          </p:nvSpPr>
          <p:spPr>
            <a:xfrm>
              <a:off x="920926" y="4243673"/>
              <a:ext cx="6559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Calisto MT" panose="02040603050505030304" pitchFamily="18" charset="0"/>
                </a:rPr>
                <a:t>head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F1FABCC9-45D9-0B19-2F98-7593D889A41D}"/>
                </a:ext>
              </a:extLst>
            </p:cNvPr>
            <p:cNvCxnSpPr>
              <a:stCxn id="9" idx="2"/>
            </p:cNvCxnSpPr>
            <p:nvPr/>
          </p:nvCxnSpPr>
          <p:spPr>
            <a:xfrm flipH="1">
              <a:off x="1248900" y="4613005"/>
              <a:ext cx="1" cy="83774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C42A5C2-9F0A-8635-4B96-0AA6EDB081A5}"/>
              </a:ext>
            </a:extLst>
          </p:cNvPr>
          <p:cNvGrpSpPr/>
          <p:nvPr/>
        </p:nvGrpSpPr>
        <p:grpSpPr>
          <a:xfrm>
            <a:off x="10425930" y="3913580"/>
            <a:ext cx="494046" cy="1192282"/>
            <a:chOff x="5947995" y="4258309"/>
            <a:chExt cx="494046" cy="1192282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1874AF4-1419-0228-49EE-9977A6BFA058}"/>
                </a:ext>
              </a:extLst>
            </p:cNvPr>
            <p:cNvSpPr txBox="1"/>
            <p:nvPr/>
          </p:nvSpPr>
          <p:spPr>
            <a:xfrm>
              <a:off x="5947995" y="4258309"/>
              <a:ext cx="4940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Calisto MT" panose="02040603050505030304" pitchFamily="18" charset="0"/>
                </a:rPr>
                <a:t>tail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95B12B23-A8AC-76DA-9DD6-C4571D48E129}"/>
                </a:ext>
              </a:extLst>
            </p:cNvPr>
            <p:cNvCxnSpPr>
              <a:cxnSpLocks/>
            </p:cNvCxnSpPr>
            <p:nvPr/>
          </p:nvCxnSpPr>
          <p:spPr>
            <a:xfrm>
              <a:off x="6195018" y="4552993"/>
              <a:ext cx="0" cy="89759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098425D8-EA5D-F71E-126D-59B28A3F56AB}"/>
              </a:ext>
            </a:extLst>
          </p:cNvPr>
          <p:cNvSpPr txBox="1"/>
          <p:nvPr/>
        </p:nvSpPr>
        <p:spPr>
          <a:xfrm>
            <a:off x="5957125" y="1624685"/>
            <a:ext cx="4392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listo MT" panose="02040603050505030304" pitchFamily="18" charset="0"/>
              </a:rPr>
              <a:t>head = (Node*) malloc ( </a:t>
            </a:r>
            <a:r>
              <a:rPr lang="en-US" sz="1800" dirty="0" err="1">
                <a:solidFill>
                  <a:schemeClr val="tx1"/>
                </a:solidFill>
                <a:latin typeface="Calisto MT" panose="02040603050505030304" pitchFamily="18" charset="0"/>
              </a:rPr>
              <a:t>sizeof</a:t>
            </a:r>
            <a:r>
              <a:rPr lang="en-US" sz="1800" dirty="0">
                <a:solidFill>
                  <a:schemeClr val="tx1"/>
                </a:solidFill>
                <a:latin typeface="Calisto MT" panose="02040603050505030304" pitchFamily="18" charset="0"/>
              </a:rPr>
              <a:t> (Node));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285A08F-D708-8355-ADF7-34D69A81FA6C}"/>
              </a:ext>
            </a:extLst>
          </p:cNvPr>
          <p:cNvSpPr txBox="1"/>
          <p:nvPr/>
        </p:nvSpPr>
        <p:spPr>
          <a:xfrm>
            <a:off x="5957124" y="2164440"/>
            <a:ext cx="15905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listo MT" panose="02040603050505030304" pitchFamily="18" charset="0"/>
              </a:rPr>
              <a:t>tail = head;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F248A60-9C5A-CB80-0357-DBF0A03B5F76}"/>
              </a:ext>
            </a:extLst>
          </p:cNvPr>
          <p:cNvGrpSpPr/>
          <p:nvPr/>
        </p:nvGrpSpPr>
        <p:grpSpPr>
          <a:xfrm>
            <a:off x="9580673" y="4577596"/>
            <a:ext cx="1483568" cy="765110"/>
            <a:chOff x="1819469" y="4422710"/>
            <a:chExt cx="1483568" cy="765110"/>
          </a:xfrm>
        </p:grpSpPr>
        <p:cxnSp>
          <p:nvCxnSpPr>
            <p:cNvPr id="24" name="Connector: Elbow 23">
              <a:extLst>
                <a:ext uri="{FF2B5EF4-FFF2-40B4-BE49-F238E27FC236}">
                  <a16:creationId xmlns:a16="http://schemas.microsoft.com/office/drawing/2014/main" id="{BF878A03-D75E-0D9D-D83A-B0BBF81ABB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19469" y="4422710"/>
              <a:ext cx="1483568" cy="765110"/>
            </a:xfrm>
            <a:prstGeom prst="bentConnector3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8D4B6EC4-F601-2C37-2750-CD266673250F}"/>
                </a:ext>
              </a:extLst>
            </p:cNvPr>
            <p:cNvCxnSpPr>
              <a:cxnSpLocks/>
            </p:cNvCxnSpPr>
            <p:nvPr/>
          </p:nvCxnSpPr>
          <p:spPr>
            <a:xfrm>
              <a:off x="3303037" y="4422710"/>
              <a:ext cx="0" cy="53967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33E98727-4CA0-FDAC-D786-0A913DF2B3C2}"/>
              </a:ext>
            </a:extLst>
          </p:cNvPr>
          <p:cNvSpPr/>
          <p:nvPr/>
        </p:nvSpPr>
        <p:spPr>
          <a:xfrm>
            <a:off x="10826311" y="5117273"/>
            <a:ext cx="475862" cy="475862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79DF141-E5D8-BCF5-604E-7B87EB83A117}"/>
              </a:ext>
            </a:extLst>
          </p:cNvPr>
          <p:cNvSpPr txBox="1"/>
          <p:nvPr/>
        </p:nvSpPr>
        <p:spPr>
          <a:xfrm>
            <a:off x="5957124" y="2638192"/>
            <a:ext cx="27158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listo MT" panose="02040603050505030304" pitchFamily="18" charset="0"/>
              </a:rPr>
              <a:t>head -&gt; next = NULL;</a:t>
            </a:r>
          </a:p>
        </p:txBody>
      </p:sp>
    </p:spTree>
    <p:extLst>
      <p:ext uri="{BB962C8B-B14F-4D97-AF65-F5344CB8AC3E}">
        <p14:creationId xmlns:p14="http://schemas.microsoft.com/office/powerpoint/2010/main" val="2379266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2.59259E-6 L -0.09088 0.00254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544" y="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1" grpId="0"/>
      <p:bldP spid="22" grpId="0"/>
      <p:bldP spid="26" grpId="0" animBg="1"/>
      <p:bldP spid="2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09845-B061-8EE5-E97D-2FDA7C30A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 at First (Insert on head)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63D048-EE2A-A094-1770-1B06F3DF14A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CA62E38-59FD-451F-9AA6-B569CE35F9BD}" type="datetime4">
              <a:rPr lang="en-US" smtClean="0"/>
              <a:t>March 6,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BF0DE1-9237-A725-147A-3562DE7BA99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Prepared By: Swapnil Biswas, CSE, BSMRU, Kishoreganj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2F1B96-F349-FA16-50AD-8A204406BFA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25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9C2DB8-D5C5-70C5-B533-4106B290558D}"/>
              </a:ext>
            </a:extLst>
          </p:cNvPr>
          <p:cNvSpPr txBox="1"/>
          <p:nvPr/>
        </p:nvSpPr>
        <p:spPr>
          <a:xfrm>
            <a:off x="845483" y="1626052"/>
            <a:ext cx="27286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listo MT" panose="02040603050505030304" pitchFamily="18" charset="0"/>
              </a:rPr>
              <a:t>Insert 9 as first element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6CF2BDD-879F-ABE8-DB7E-8ADBA3F7E26F}"/>
              </a:ext>
            </a:extLst>
          </p:cNvPr>
          <p:cNvGrpSpPr/>
          <p:nvPr/>
        </p:nvGrpSpPr>
        <p:grpSpPr>
          <a:xfrm>
            <a:off x="8846997" y="5104912"/>
            <a:ext cx="961992" cy="475862"/>
            <a:chOff x="5609870" y="3628280"/>
            <a:chExt cx="961992" cy="475862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2D306BF-F612-D990-B476-DCB3E1551CD3}"/>
                </a:ext>
              </a:extLst>
            </p:cNvPr>
            <p:cNvSpPr/>
            <p:nvPr/>
          </p:nvSpPr>
          <p:spPr>
            <a:xfrm>
              <a:off x="5609870" y="3628280"/>
              <a:ext cx="475862" cy="47586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3A873FD-F39D-F617-356C-CD222FD5D906}"/>
                </a:ext>
              </a:extLst>
            </p:cNvPr>
            <p:cNvSpPr/>
            <p:nvPr/>
          </p:nvSpPr>
          <p:spPr>
            <a:xfrm>
              <a:off x="6096000" y="3628280"/>
              <a:ext cx="475862" cy="47586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78E7EE0-B238-2F2B-CC2F-5927034D3E36}"/>
                </a:ext>
              </a:extLst>
            </p:cNvPr>
            <p:cNvSpPr txBox="1"/>
            <p:nvPr/>
          </p:nvSpPr>
          <p:spPr>
            <a:xfrm>
              <a:off x="5707225" y="368154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Calisto MT" panose="02040603050505030304" pitchFamily="18" charset="0"/>
                </a:rPr>
                <a:t>9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C42A5C2-9F0A-8635-4B96-0AA6EDB081A5}"/>
              </a:ext>
            </a:extLst>
          </p:cNvPr>
          <p:cNvGrpSpPr/>
          <p:nvPr/>
        </p:nvGrpSpPr>
        <p:grpSpPr>
          <a:xfrm>
            <a:off x="9307584" y="3924991"/>
            <a:ext cx="494046" cy="1192282"/>
            <a:chOff x="5947995" y="4258309"/>
            <a:chExt cx="494046" cy="1192282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1874AF4-1419-0228-49EE-9977A6BFA058}"/>
                </a:ext>
              </a:extLst>
            </p:cNvPr>
            <p:cNvSpPr txBox="1"/>
            <p:nvPr/>
          </p:nvSpPr>
          <p:spPr>
            <a:xfrm>
              <a:off x="5947995" y="4258309"/>
              <a:ext cx="4940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Calisto MT" panose="02040603050505030304" pitchFamily="18" charset="0"/>
                </a:rPr>
                <a:t>tail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95B12B23-A8AC-76DA-9DD6-C4571D48E129}"/>
                </a:ext>
              </a:extLst>
            </p:cNvPr>
            <p:cNvCxnSpPr>
              <a:cxnSpLocks/>
            </p:cNvCxnSpPr>
            <p:nvPr/>
          </p:nvCxnSpPr>
          <p:spPr>
            <a:xfrm>
              <a:off x="6195018" y="4552993"/>
              <a:ext cx="0" cy="89759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098425D8-EA5D-F71E-126D-59B28A3F56AB}"/>
              </a:ext>
            </a:extLst>
          </p:cNvPr>
          <p:cNvSpPr txBox="1"/>
          <p:nvPr/>
        </p:nvSpPr>
        <p:spPr>
          <a:xfrm>
            <a:off x="5957125" y="1624685"/>
            <a:ext cx="5125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listo MT" panose="02040603050505030304" pitchFamily="18" charset="0"/>
              </a:rPr>
              <a:t>Node *temp = (Node*) malloc ( </a:t>
            </a:r>
            <a:r>
              <a:rPr lang="en-US" sz="1800" dirty="0" err="1">
                <a:solidFill>
                  <a:schemeClr val="tx1"/>
                </a:solidFill>
                <a:latin typeface="Calisto MT" panose="02040603050505030304" pitchFamily="18" charset="0"/>
              </a:rPr>
              <a:t>sizeof</a:t>
            </a:r>
            <a:r>
              <a:rPr lang="en-US" sz="1800" dirty="0">
                <a:solidFill>
                  <a:schemeClr val="tx1"/>
                </a:solidFill>
                <a:latin typeface="Calisto MT" panose="02040603050505030304" pitchFamily="18" charset="0"/>
              </a:rPr>
              <a:t> (Node));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F248A60-9C5A-CB80-0357-DBF0A03B5F76}"/>
              </a:ext>
            </a:extLst>
          </p:cNvPr>
          <p:cNvGrpSpPr/>
          <p:nvPr/>
        </p:nvGrpSpPr>
        <p:grpSpPr>
          <a:xfrm>
            <a:off x="9580673" y="4577596"/>
            <a:ext cx="1483568" cy="765110"/>
            <a:chOff x="1819469" y="4422710"/>
            <a:chExt cx="1483568" cy="765110"/>
          </a:xfrm>
        </p:grpSpPr>
        <p:cxnSp>
          <p:nvCxnSpPr>
            <p:cNvPr id="24" name="Connector: Elbow 23">
              <a:extLst>
                <a:ext uri="{FF2B5EF4-FFF2-40B4-BE49-F238E27FC236}">
                  <a16:creationId xmlns:a16="http://schemas.microsoft.com/office/drawing/2014/main" id="{BF878A03-D75E-0D9D-D83A-B0BBF81ABB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19469" y="4422710"/>
              <a:ext cx="1483568" cy="765110"/>
            </a:xfrm>
            <a:prstGeom prst="bentConnector3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8D4B6EC4-F601-2C37-2750-CD266673250F}"/>
                </a:ext>
              </a:extLst>
            </p:cNvPr>
            <p:cNvCxnSpPr>
              <a:cxnSpLocks/>
            </p:cNvCxnSpPr>
            <p:nvPr/>
          </p:nvCxnSpPr>
          <p:spPr>
            <a:xfrm>
              <a:off x="3303037" y="4422710"/>
              <a:ext cx="0" cy="53967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33E98727-4CA0-FDAC-D786-0A913DF2B3C2}"/>
              </a:ext>
            </a:extLst>
          </p:cNvPr>
          <p:cNvSpPr/>
          <p:nvPr/>
        </p:nvSpPr>
        <p:spPr>
          <a:xfrm>
            <a:off x="10826311" y="5117273"/>
            <a:ext cx="475862" cy="475862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1CA2E3-4532-5A5D-80FD-545AAF61B97B}"/>
              </a:ext>
            </a:extLst>
          </p:cNvPr>
          <p:cNvSpPr txBox="1"/>
          <p:nvPr/>
        </p:nvSpPr>
        <p:spPr>
          <a:xfrm>
            <a:off x="838200" y="2077032"/>
            <a:ext cx="2047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listo MT" panose="02040603050505030304" pitchFamily="18" charset="0"/>
              </a:rPr>
              <a:t>Insert 6 on head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7F2BA60-9D3E-8059-B5B0-01F0C59AAD04}"/>
              </a:ext>
            </a:extLst>
          </p:cNvPr>
          <p:cNvGrpSpPr/>
          <p:nvPr/>
        </p:nvGrpSpPr>
        <p:grpSpPr>
          <a:xfrm>
            <a:off x="7057082" y="5104912"/>
            <a:ext cx="961992" cy="475862"/>
            <a:chOff x="7057082" y="5104912"/>
            <a:chExt cx="961992" cy="475862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F9D3717-5AB8-BC2F-36D3-D550FE663519}"/>
                </a:ext>
              </a:extLst>
            </p:cNvPr>
            <p:cNvSpPr/>
            <p:nvPr/>
          </p:nvSpPr>
          <p:spPr>
            <a:xfrm>
              <a:off x="7057082" y="5104912"/>
              <a:ext cx="475862" cy="47586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8F781CE-7E23-AEB5-237A-212711B459E7}"/>
                </a:ext>
              </a:extLst>
            </p:cNvPr>
            <p:cNvSpPr/>
            <p:nvPr/>
          </p:nvSpPr>
          <p:spPr>
            <a:xfrm>
              <a:off x="7543212" y="5104912"/>
              <a:ext cx="475862" cy="47586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5588C36D-8C2D-A306-8A8C-D2F16CCB2367}"/>
              </a:ext>
            </a:extLst>
          </p:cNvPr>
          <p:cNvSpPr txBox="1"/>
          <p:nvPr/>
        </p:nvSpPr>
        <p:spPr>
          <a:xfrm>
            <a:off x="7154437" y="515817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sto MT" panose="02040603050505030304" pitchFamily="18" charset="0"/>
              </a:rPr>
              <a:t>6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53826CA-597C-AC4C-CCF3-43A1AFE7DB75}"/>
              </a:ext>
            </a:extLst>
          </p:cNvPr>
          <p:cNvGrpSpPr/>
          <p:nvPr/>
        </p:nvGrpSpPr>
        <p:grpSpPr>
          <a:xfrm>
            <a:off x="6845890" y="3913580"/>
            <a:ext cx="734677" cy="1207074"/>
            <a:chOff x="826190" y="4243673"/>
            <a:chExt cx="734677" cy="1207074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02B00AE-F5D6-91F5-989C-08D813DEF737}"/>
                </a:ext>
              </a:extLst>
            </p:cNvPr>
            <p:cNvSpPr txBox="1"/>
            <p:nvPr/>
          </p:nvSpPr>
          <p:spPr>
            <a:xfrm>
              <a:off x="826190" y="4243673"/>
              <a:ext cx="7346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>
                  <a:latin typeface="Calisto MT" panose="02040603050505030304" pitchFamily="18" charset="0"/>
                </a:rPr>
                <a:t>temp</a:t>
              </a: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FFE14821-5DE4-C091-A778-7B1F91DEC774}"/>
                </a:ext>
              </a:extLst>
            </p:cNvPr>
            <p:cNvCxnSpPr>
              <a:cxnSpLocks/>
              <a:stCxn id="32" idx="2"/>
            </p:cNvCxnSpPr>
            <p:nvPr/>
          </p:nvCxnSpPr>
          <p:spPr>
            <a:xfrm>
              <a:off x="1193529" y="4613005"/>
              <a:ext cx="10076" cy="83774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CC4DF856-1B8F-0D27-1478-614EB52AA6D1}"/>
              </a:ext>
            </a:extLst>
          </p:cNvPr>
          <p:cNvSpPr txBox="1"/>
          <p:nvPr/>
        </p:nvSpPr>
        <p:spPr>
          <a:xfrm>
            <a:off x="5957125" y="2075296"/>
            <a:ext cx="2098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listo MT" panose="02040603050505030304" pitchFamily="18" charset="0"/>
              </a:rPr>
              <a:t>temp -&gt; key = 6;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52A07BE-574C-A9D1-0FBB-8A9CC4CDC6F3}"/>
              </a:ext>
            </a:extLst>
          </p:cNvPr>
          <p:cNvGrpSpPr/>
          <p:nvPr/>
        </p:nvGrpSpPr>
        <p:grpSpPr>
          <a:xfrm>
            <a:off x="7833107" y="4560226"/>
            <a:ext cx="1483568" cy="765110"/>
            <a:chOff x="1819469" y="4422710"/>
            <a:chExt cx="1483568" cy="765110"/>
          </a:xfrm>
        </p:grpSpPr>
        <p:cxnSp>
          <p:nvCxnSpPr>
            <p:cNvPr id="42" name="Connector: Elbow 41">
              <a:extLst>
                <a:ext uri="{FF2B5EF4-FFF2-40B4-BE49-F238E27FC236}">
                  <a16:creationId xmlns:a16="http://schemas.microsoft.com/office/drawing/2014/main" id="{9594528E-1526-901D-AFB2-38AFF88758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19469" y="4422710"/>
              <a:ext cx="1483568" cy="765110"/>
            </a:xfrm>
            <a:prstGeom prst="bentConnector3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0CEB42FC-2559-1AD8-0777-A881D9ABEC58}"/>
                </a:ext>
              </a:extLst>
            </p:cNvPr>
            <p:cNvCxnSpPr>
              <a:cxnSpLocks/>
            </p:cNvCxnSpPr>
            <p:nvPr/>
          </p:nvCxnSpPr>
          <p:spPr>
            <a:xfrm>
              <a:off x="3303037" y="4422710"/>
              <a:ext cx="0" cy="53967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0B461E5-83CC-323B-083E-B224869C882D}"/>
              </a:ext>
            </a:extLst>
          </p:cNvPr>
          <p:cNvGrpSpPr/>
          <p:nvPr/>
        </p:nvGrpSpPr>
        <p:grpSpPr>
          <a:xfrm>
            <a:off x="8734671" y="3913580"/>
            <a:ext cx="655949" cy="1207073"/>
            <a:chOff x="920926" y="4243673"/>
            <a:chExt cx="655949" cy="1207073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C4BD6DA-B74B-FFEA-9F5C-95F159E0EF92}"/>
                </a:ext>
              </a:extLst>
            </p:cNvPr>
            <p:cNvSpPr txBox="1"/>
            <p:nvPr/>
          </p:nvSpPr>
          <p:spPr>
            <a:xfrm>
              <a:off x="920926" y="4243673"/>
              <a:ext cx="6559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Calisto MT" panose="02040603050505030304" pitchFamily="18" charset="0"/>
                </a:rPr>
                <a:t>head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F1FABCC9-45D9-0B19-2F98-7593D889A41D}"/>
                </a:ext>
              </a:extLst>
            </p:cNvPr>
            <p:cNvCxnSpPr>
              <a:stCxn id="9" idx="2"/>
            </p:cNvCxnSpPr>
            <p:nvPr/>
          </p:nvCxnSpPr>
          <p:spPr>
            <a:xfrm flipH="1">
              <a:off x="1248900" y="4613005"/>
              <a:ext cx="1" cy="83774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FCCD6F4E-C2A5-3CF7-0A99-D581015B44A7}"/>
              </a:ext>
            </a:extLst>
          </p:cNvPr>
          <p:cNvSpPr txBox="1"/>
          <p:nvPr/>
        </p:nvSpPr>
        <p:spPr>
          <a:xfrm>
            <a:off x="5957125" y="2964385"/>
            <a:ext cx="1890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listo MT" panose="02040603050505030304" pitchFamily="18" charset="0"/>
              </a:rPr>
              <a:t>head  = temp;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A8BA612-EB9C-0493-A850-DD6153ADE77F}"/>
              </a:ext>
            </a:extLst>
          </p:cNvPr>
          <p:cNvSpPr txBox="1"/>
          <p:nvPr/>
        </p:nvSpPr>
        <p:spPr>
          <a:xfrm>
            <a:off x="5957125" y="2507529"/>
            <a:ext cx="2534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listo MT" panose="02040603050505030304" pitchFamily="18" charset="0"/>
              </a:rPr>
              <a:t>temp -&gt; next = head;</a:t>
            </a:r>
          </a:p>
        </p:txBody>
      </p:sp>
    </p:spTree>
    <p:extLst>
      <p:ext uri="{BB962C8B-B14F-4D97-AF65-F5344CB8AC3E}">
        <p14:creationId xmlns:p14="http://schemas.microsoft.com/office/powerpoint/2010/main" val="2506117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4.81481E-6 L -0.10964 0.00024 " pathEditMode="relative" rAng="0" ptsTypes="AA">
                                      <p:cBhvr>
                                        <p:cTn id="43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48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0" grpId="0"/>
      <p:bldP spid="39" grpId="0"/>
      <p:bldP spid="44" grpId="0"/>
      <p:bldP spid="4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09845-B061-8EE5-E97D-2FDA7C30A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 at First (Insert on head)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63D048-EE2A-A094-1770-1B06F3DF14A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CA62E38-59FD-451F-9AA6-B569CE35F9BD}" type="datetime4">
              <a:rPr lang="en-US" smtClean="0"/>
              <a:t>March 6,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BF0DE1-9237-A725-147A-3562DE7BA99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Prepared By: Swapnil Biswas, CSE, BSMRU, Kishoreganj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2F1B96-F349-FA16-50AD-8A204406BFA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26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9C2DB8-D5C5-70C5-B533-4106B290558D}"/>
              </a:ext>
            </a:extLst>
          </p:cNvPr>
          <p:cNvSpPr txBox="1"/>
          <p:nvPr/>
        </p:nvSpPr>
        <p:spPr>
          <a:xfrm>
            <a:off x="845483" y="1626052"/>
            <a:ext cx="27286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listo MT" panose="02040603050505030304" pitchFamily="18" charset="0"/>
              </a:rPr>
              <a:t>Insert 9 as first element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6CF2BDD-879F-ABE8-DB7E-8ADBA3F7E26F}"/>
              </a:ext>
            </a:extLst>
          </p:cNvPr>
          <p:cNvGrpSpPr/>
          <p:nvPr/>
        </p:nvGrpSpPr>
        <p:grpSpPr>
          <a:xfrm>
            <a:off x="8846997" y="5104912"/>
            <a:ext cx="961992" cy="475862"/>
            <a:chOff x="5609870" y="3628280"/>
            <a:chExt cx="961992" cy="475862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2D306BF-F612-D990-B476-DCB3E1551CD3}"/>
                </a:ext>
              </a:extLst>
            </p:cNvPr>
            <p:cNvSpPr/>
            <p:nvPr/>
          </p:nvSpPr>
          <p:spPr>
            <a:xfrm>
              <a:off x="5609870" y="3628280"/>
              <a:ext cx="475862" cy="47586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3A873FD-F39D-F617-356C-CD222FD5D906}"/>
                </a:ext>
              </a:extLst>
            </p:cNvPr>
            <p:cNvSpPr/>
            <p:nvPr/>
          </p:nvSpPr>
          <p:spPr>
            <a:xfrm>
              <a:off x="6096000" y="3628280"/>
              <a:ext cx="475862" cy="47586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78E7EE0-B238-2F2B-CC2F-5927034D3E36}"/>
                </a:ext>
              </a:extLst>
            </p:cNvPr>
            <p:cNvSpPr txBox="1"/>
            <p:nvPr/>
          </p:nvSpPr>
          <p:spPr>
            <a:xfrm>
              <a:off x="5707225" y="368154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Calisto MT" panose="02040603050505030304" pitchFamily="18" charset="0"/>
                </a:rPr>
                <a:t>9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C42A5C2-9F0A-8635-4B96-0AA6EDB081A5}"/>
              </a:ext>
            </a:extLst>
          </p:cNvPr>
          <p:cNvGrpSpPr/>
          <p:nvPr/>
        </p:nvGrpSpPr>
        <p:grpSpPr>
          <a:xfrm>
            <a:off x="9307584" y="3924991"/>
            <a:ext cx="494046" cy="1192282"/>
            <a:chOff x="5947995" y="4258309"/>
            <a:chExt cx="494046" cy="1192282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1874AF4-1419-0228-49EE-9977A6BFA058}"/>
                </a:ext>
              </a:extLst>
            </p:cNvPr>
            <p:cNvSpPr txBox="1"/>
            <p:nvPr/>
          </p:nvSpPr>
          <p:spPr>
            <a:xfrm>
              <a:off x="5947995" y="4258309"/>
              <a:ext cx="4940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Calisto MT" panose="02040603050505030304" pitchFamily="18" charset="0"/>
                </a:rPr>
                <a:t>tail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95B12B23-A8AC-76DA-9DD6-C4571D48E129}"/>
                </a:ext>
              </a:extLst>
            </p:cNvPr>
            <p:cNvCxnSpPr>
              <a:cxnSpLocks/>
            </p:cNvCxnSpPr>
            <p:nvPr/>
          </p:nvCxnSpPr>
          <p:spPr>
            <a:xfrm>
              <a:off x="6195018" y="4552993"/>
              <a:ext cx="0" cy="89759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098425D8-EA5D-F71E-126D-59B28A3F56AB}"/>
              </a:ext>
            </a:extLst>
          </p:cNvPr>
          <p:cNvSpPr txBox="1"/>
          <p:nvPr/>
        </p:nvSpPr>
        <p:spPr>
          <a:xfrm>
            <a:off x="5957125" y="1624685"/>
            <a:ext cx="5125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listo MT" panose="02040603050505030304" pitchFamily="18" charset="0"/>
              </a:rPr>
              <a:t>Node *temp = (Node*) malloc ( </a:t>
            </a:r>
            <a:r>
              <a:rPr lang="en-US" sz="1800" dirty="0" err="1">
                <a:solidFill>
                  <a:schemeClr val="tx1"/>
                </a:solidFill>
                <a:latin typeface="Calisto MT" panose="02040603050505030304" pitchFamily="18" charset="0"/>
              </a:rPr>
              <a:t>sizeof</a:t>
            </a:r>
            <a:r>
              <a:rPr lang="en-US" sz="1800" dirty="0">
                <a:solidFill>
                  <a:schemeClr val="tx1"/>
                </a:solidFill>
                <a:latin typeface="Calisto MT" panose="02040603050505030304" pitchFamily="18" charset="0"/>
              </a:rPr>
              <a:t> (Node));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F248A60-9C5A-CB80-0357-DBF0A03B5F76}"/>
              </a:ext>
            </a:extLst>
          </p:cNvPr>
          <p:cNvGrpSpPr/>
          <p:nvPr/>
        </p:nvGrpSpPr>
        <p:grpSpPr>
          <a:xfrm>
            <a:off x="9580673" y="4577596"/>
            <a:ext cx="1483568" cy="765110"/>
            <a:chOff x="1819469" y="4422710"/>
            <a:chExt cx="1483568" cy="765110"/>
          </a:xfrm>
        </p:grpSpPr>
        <p:cxnSp>
          <p:nvCxnSpPr>
            <p:cNvPr id="24" name="Connector: Elbow 23">
              <a:extLst>
                <a:ext uri="{FF2B5EF4-FFF2-40B4-BE49-F238E27FC236}">
                  <a16:creationId xmlns:a16="http://schemas.microsoft.com/office/drawing/2014/main" id="{BF878A03-D75E-0D9D-D83A-B0BBF81ABB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19469" y="4422710"/>
              <a:ext cx="1483568" cy="765110"/>
            </a:xfrm>
            <a:prstGeom prst="bentConnector3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8D4B6EC4-F601-2C37-2750-CD266673250F}"/>
                </a:ext>
              </a:extLst>
            </p:cNvPr>
            <p:cNvCxnSpPr>
              <a:cxnSpLocks/>
            </p:cNvCxnSpPr>
            <p:nvPr/>
          </p:nvCxnSpPr>
          <p:spPr>
            <a:xfrm>
              <a:off x="3303037" y="4422710"/>
              <a:ext cx="0" cy="53967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33E98727-4CA0-FDAC-D786-0A913DF2B3C2}"/>
              </a:ext>
            </a:extLst>
          </p:cNvPr>
          <p:cNvSpPr/>
          <p:nvPr/>
        </p:nvSpPr>
        <p:spPr>
          <a:xfrm>
            <a:off x="10826311" y="5117273"/>
            <a:ext cx="475862" cy="475862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1CA2E3-4532-5A5D-80FD-545AAF61B97B}"/>
              </a:ext>
            </a:extLst>
          </p:cNvPr>
          <p:cNvSpPr txBox="1"/>
          <p:nvPr/>
        </p:nvSpPr>
        <p:spPr>
          <a:xfrm>
            <a:off x="838200" y="2077032"/>
            <a:ext cx="2047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listo MT" panose="02040603050505030304" pitchFamily="18" charset="0"/>
              </a:rPr>
              <a:t>Insert 6 on head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7F2BA60-9D3E-8059-B5B0-01F0C59AAD04}"/>
              </a:ext>
            </a:extLst>
          </p:cNvPr>
          <p:cNvGrpSpPr/>
          <p:nvPr/>
        </p:nvGrpSpPr>
        <p:grpSpPr>
          <a:xfrm>
            <a:off x="7057082" y="5104912"/>
            <a:ext cx="961992" cy="475862"/>
            <a:chOff x="7057082" y="5104912"/>
            <a:chExt cx="961992" cy="475862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F9D3717-5AB8-BC2F-36D3-D550FE663519}"/>
                </a:ext>
              </a:extLst>
            </p:cNvPr>
            <p:cNvSpPr/>
            <p:nvPr/>
          </p:nvSpPr>
          <p:spPr>
            <a:xfrm>
              <a:off x="7057082" y="5104912"/>
              <a:ext cx="475862" cy="47586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8F781CE-7E23-AEB5-237A-212711B459E7}"/>
                </a:ext>
              </a:extLst>
            </p:cNvPr>
            <p:cNvSpPr/>
            <p:nvPr/>
          </p:nvSpPr>
          <p:spPr>
            <a:xfrm>
              <a:off x="7543212" y="5104912"/>
              <a:ext cx="475862" cy="47586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5588C36D-8C2D-A306-8A8C-D2F16CCB2367}"/>
              </a:ext>
            </a:extLst>
          </p:cNvPr>
          <p:cNvSpPr txBox="1"/>
          <p:nvPr/>
        </p:nvSpPr>
        <p:spPr>
          <a:xfrm>
            <a:off x="7154437" y="515817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sto MT" panose="02040603050505030304" pitchFamily="18" charset="0"/>
              </a:rPr>
              <a:t>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C4DF856-1B8F-0D27-1478-614EB52AA6D1}"/>
              </a:ext>
            </a:extLst>
          </p:cNvPr>
          <p:cNvSpPr txBox="1"/>
          <p:nvPr/>
        </p:nvSpPr>
        <p:spPr>
          <a:xfrm>
            <a:off x="5957125" y="2075296"/>
            <a:ext cx="2098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listo MT" panose="02040603050505030304" pitchFamily="18" charset="0"/>
              </a:rPr>
              <a:t>temp -&gt; key = 5;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52A07BE-574C-A9D1-0FBB-8A9CC4CDC6F3}"/>
              </a:ext>
            </a:extLst>
          </p:cNvPr>
          <p:cNvGrpSpPr/>
          <p:nvPr/>
        </p:nvGrpSpPr>
        <p:grpSpPr>
          <a:xfrm>
            <a:off x="7833107" y="4560226"/>
            <a:ext cx="1483568" cy="765110"/>
            <a:chOff x="1819469" y="4422710"/>
            <a:chExt cx="1483568" cy="765110"/>
          </a:xfrm>
        </p:grpSpPr>
        <p:cxnSp>
          <p:nvCxnSpPr>
            <p:cNvPr id="42" name="Connector: Elbow 41">
              <a:extLst>
                <a:ext uri="{FF2B5EF4-FFF2-40B4-BE49-F238E27FC236}">
                  <a16:creationId xmlns:a16="http://schemas.microsoft.com/office/drawing/2014/main" id="{9594528E-1526-901D-AFB2-38AFF88758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19469" y="4422710"/>
              <a:ext cx="1483568" cy="765110"/>
            </a:xfrm>
            <a:prstGeom prst="bentConnector3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0CEB42FC-2559-1AD8-0777-A881D9ABEC58}"/>
                </a:ext>
              </a:extLst>
            </p:cNvPr>
            <p:cNvCxnSpPr>
              <a:cxnSpLocks/>
            </p:cNvCxnSpPr>
            <p:nvPr/>
          </p:nvCxnSpPr>
          <p:spPr>
            <a:xfrm>
              <a:off x="3303037" y="4422710"/>
              <a:ext cx="0" cy="53967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0B461E5-83CC-323B-083E-B224869C882D}"/>
              </a:ext>
            </a:extLst>
          </p:cNvPr>
          <p:cNvGrpSpPr/>
          <p:nvPr/>
        </p:nvGrpSpPr>
        <p:grpSpPr>
          <a:xfrm>
            <a:off x="7166560" y="3924991"/>
            <a:ext cx="655949" cy="1207073"/>
            <a:chOff x="920926" y="4243673"/>
            <a:chExt cx="655949" cy="1207073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C4BD6DA-B74B-FFEA-9F5C-95F159E0EF92}"/>
                </a:ext>
              </a:extLst>
            </p:cNvPr>
            <p:cNvSpPr txBox="1"/>
            <p:nvPr/>
          </p:nvSpPr>
          <p:spPr>
            <a:xfrm>
              <a:off x="920926" y="4243673"/>
              <a:ext cx="6559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Calisto MT" panose="02040603050505030304" pitchFamily="18" charset="0"/>
                </a:rPr>
                <a:t>head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F1FABCC9-45D9-0B19-2F98-7593D889A41D}"/>
                </a:ext>
              </a:extLst>
            </p:cNvPr>
            <p:cNvCxnSpPr>
              <a:stCxn id="9" idx="2"/>
            </p:cNvCxnSpPr>
            <p:nvPr/>
          </p:nvCxnSpPr>
          <p:spPr>
            <a:xfrm flipH="1">
              <a:off x="1248900" y="4613005"/>
              <a:ext cx="1" cy="83774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FCCD6F4E-C2A5-3CF7-0A99-D581015B44A7}"/>
              </a:ext>
            </a:extLst>
          </p:cNvPr>
          <p:cNvSpPr txBox="1"/>
          <p:nvPr/>
        </p:nvSpPr>
        <p:spPr>
          <a:xfrm>
            <a:off x="5954362" y="2525907"/>
            <a:ext cx="2675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listo MT" panose="02040603050505030304" pitchFamily="18" charset="0"/>
              </a:rPr>
              <a:t>temp -&gt; next  = head;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0CF47B-ABB6-710C-8D57-75433E318E7A}"/>
              </a:ext>
            </a:extLst>
          </p:cNvPr>
          <p:cNvSpPr txBox="1"/>
          <p:nvPr/>
        </p:nvSpPr>
        <p:spPr>
          <a:xfrm>
            <a:off x="845483" y="2525907"/>
            <a:ext cx="2047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listo MT" panose="02040603050505030304" pitchFamily="18" charset="0"/>
              </a:rPr>
              <a:t>Insert 5 on head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C82B22A-5C35-C5F4-66BC-D53583DE7409}"/>
              </a:ext>
            </a:extLst>
          </p:cNvPr>
          <p:cNvGrpSpPr/>
          <p:nvPr/>
        </p:nvGrpSpPr>
        <p:grpSpPr>
          <a:xfrm>
            <a:off x="5234175" y="5117273"/>
            <a:ext cx="961992" cy="475862"/>
            <a:chOff x="7057082" y="5104912"/>
            <a:chExt cx="961992" cy="475862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B9A316E-13FA-EC70-B1CB-EAF0A008D753}"/>
                </a:ext>
              </a:extLst>
            </p:cNvPr>
            <p:cNvSpPr/>
            <p:nvPr/>
          </p:nvSpPr>
          <p:spPr>
            <a:xfrm>
              <a:off x="7057082" y="5104912"/>
              <a:ext cx="475862" cy="47586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C871D82-513A-467E-BE22-F3942DD5FFFB}"/>
                </a:ext>
              </a:extLst>
            </p:cNvPr>
            <p:cNvSpPr/>
            <p:nvPr/>
          </p:nvSpPr>
          <p:spPr>
            <a:xfrm>
              <a:off x="7543212" y="5104912"/>
              <a:ext cx="475862" cy="47586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9DFD10AF-00E8-F709-FE3B-2BE9830AFEDB}"/>
              </a:ext>
            </a:extLst>
          </p:cNvPr>
          <p:cNvSpPr txBox="1"/>
          <p:nvPr/>
        </p:nvSpPr>
        <p:spPr>
          <a:xfrm>
            <a:off x="5331530" y="517053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sto MT" panose="02040603050505030304" pitchFamily="18" charset="0"/>
              </a:rPr>
              <a:t>5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428C90E-24A5-8216-CAE2-D583FD333786}"/>
              </a:ext>
            </a:extLst>
          </p:cNvPr>
          <p:cNvGrpSpPr/>
          <p:nvPr/>
        </p:nvGrpSpPr>
        <p:grpSpPr>
          <a:xfrm>
            <a:off x="5058211" y="3900716"/>
            <a:ext cx="676788" cy="1207073"/>
            <a:chOff x="920926" y="4243673"/>
            <a:chExt cx="676788" cy="1207073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6922472-80E7-E7AF-1398-C6B282E66C92}"/>
                </a:ext>
              </a:extLst>
            </p:cNvPr>
            <p:cNvSpPr txBox="1"/>
            <p:nvPr/>
          </p:nvSpPr>
          <p:spPr>
            <a:xfrm>
              <a:off x="920926" y="4243673"/>
              <a:ext cx="6767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Calisto MT" panose="02040603050505030304" pitchFamily="18" charset="0"/>
                </a:rPr>
                <a:t>temp</a:t>
              </a: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FA8FBA8A-83E7-6718-E49C-B583BBB38C60}"/>
                </a:ext>
              </a:extLst>
            </p:cNvPr>
            <p:cNvCxnSpPr>
              <a:stCxn id="35" idx="2"/>
            </p:cNvCxnSpPr>
            <p:nvPr/>
          </p:nvCxnSpPr>
          <p:spPr>
            <a:xfrm flipH="1">
              <a:off x="1248900" y="4613005"/>
              <a:ext cx="10420" cy="83774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A14B1678-D443-EC22-3B15-BD66AC181AB9}"/>
              </a:ext>
            </a:extLst>
          </p:cNvPr>
          <p:cNvGrpSpPr/>
          <p:nvPr/>
        </p:nvGrpSpPr>
        <p:grpSpPr>
          <a:xfrm>
            <a:off x="5908754" y="4574711"/>
            <a:ext cx="1483568" cy="765110"/>
            <a:chOff x="1819469" y="4422710"/>
            <a:chExt cx="1483568" cy="765110"/>
          </a:xfrm>
        </p:grpSpPr>
        <p:cxnSp>
          <p:nvCxnSpPr>
            <p:cNvPr id="47" name="Connector: Elbow 46">
              <a:extLst>
                <a:ext uri="{FF2B5EF4-FFF2-40B4-BE49-F238E27FC236}">
                  <a16:creationId xmlns:a16="http://schemas.microsoft.com/office/drawing/2014/main" id="{991A856E-B16D-7498-7E9F-6E8D27C0F4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19469" y="4422710"/>
              <a:ext cx="1483568" cy="765110"/>
            </a:xfrm>
            <a:prstGeom prst="bentConnector3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0BC5618B-B8CC-98B6-FA71-70328B4E9F55}"/>
                </a:ext>
              </a:extLst>
            </p:cNvPr>
            <p:cNvCxnSpPr>
              <a:cxnSpLocks/>
            </p:cNvCxnSpPr>
            <p:nvPr/>
          </p:nvCxnSpPr>
          <p:spPr>
            <a:xfrm>
              <a:off x="3303037" y="4422710"/>
              <a:ext cx="0" cy="53967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D01101F9-CCF4-7840-C404-F5FC4D19E2AF}"/>
              </a:ext>
            </a:extLst>
          </p:cNvPr>
          <p:cNvSpPr txBox="1"/>
          <p:nvPr/>
        </p:nvSpPr>
        <p:spPr>
          <a:xfrm>
            <a:off x="5954362" y="2968031"/>
            <a:ext cx="1830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listo MT" panose="02040603050505030304" pitchFamily="18" charset="0"/>
              </a:rPr>
              <a:t>head = temp;</a:t>
            </a:r>
          </a:p>
        </p:txBody>
      </p:sp>
    </p:spTree>
    <p:extLst>
      <p:ext uri="{BB962C8B-B14F-4D97-AF65-F5344CB8AC3E}">
        <p14:creationId xmlns:p14="http://schemas.microsoft.com/office/powerpoint/2010/main" val="710000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4.81481E-6 L -0.13007 0.00046 " pathEditMode="relative" rAng="0" ptsTypes="AA">
                                      <p:cBhvr>
                                        <p:cTn id="43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10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9" grpId="0"/>
      <p:bldP spid="44" grpId="0"/>
      <p:bldP spid="27" grpId="0"/>
      <p:bldP spid="4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41754-870A-4532-DDE0-9E38B5CE5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B2B55-2C4C-0851-D79C-B0D50E72C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 at First (Insert on head)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EEA94-D952-D9B6-BBCF-1411E82F84F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CA62E38-59FD-451F-9AA6-B569CE35F9BD}" type="datetime4">
              <a:rPr lang="en-US" smtClean="0"/>
              <a:t>March 6,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B15450-6B07-EE33-4D43-A7970E3C166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Prepared By: Swapnil Biswas, CSE, BSMRU, Kishoreganj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38AFDD-015D-6E7A-6B59-9051C607D36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27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F7BA75-FD2D-147E-B1F1-C03CD48C4879}"/>
              </a:ext>
            </a:extLst>
          </p:cNvPr>
          <p:cNvSpPr txBox="1"/>
          <p:nvPr/>
        </p:nvSpPr>
        <p:spPr>
          <a:xfrm>
            <a:off x="845483" y="1626052"/>
            <a:ext cx="27286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listo MT" panose="02040603050505030304" pitchFamily="18" charset="0"/>
              </a:rPr>
              <a:t>Insert 9 as first element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6E6147F-3676-E403-5B27-936279BCD632}"/>
              </a:ext>
            </a:extLst>
          </p:cNvPr>
          <p:cNvGrpSpPr/>
          <p:nvPr/>
        </p:nvGrpSpPr>
        <p:grpSpPr>
          <a:xfrm>
            <a:off x="8846997" y="5104912"/>
            <a:ext cx="961992" cy="475862"/>
            <a:chOff x="5609870" y="3628280"/>
            <a:chExt cx="961992" cy="475862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4F2BB9F-04CF-338E-00E8-74EF2FF62909}"/>
                </a:ext>
              </a:extLst>
            </p:cNvPr>
            <p:cNvSpPr/>
            <p:nvPr/>
          </p:nvSpPr>
          <p:spPr>
            <a:xfrm>
              <a:off x="5609870" y="3628280"/>
              <a:ext cx="475862" cy="47586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6C11BA6-4FE8-FD31-86D7-7EF6520A6FB5}"/>
                </a:ext>
              </a:extLst>
            </p:cNvPr>
            <p:cNvSpPr/>
            <p:nvPr/>
          </p:nvSpPr>
          <p:spPr>
            <a:xfrm>
              <a:off x="6096000" y="3628280"/>
              <a:ext cx="475862" cy="47586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6B91B41-5B19-F3DC-64CD-FF179224DD6A}"/>
                </a:ext>
              </a:extLst>
            </p:cNvPr>
            <p:cNvSpPr txBox="1"/>
            <p:nvPr/>
          </p:nvSpPr>
          <p:spPr>
            <a:xfrm>
              <a:off x="5707225" y="368154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Calisto MT" panose="02040603050505030304" pitchFamily="18" charset="0"/>
                </a:rPr>
                <a:t>9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82CD511-63AD-448D-F7E9-921F9A0503C0}"/>
              </a:ext>
            </a:extLst>
          </p:cNvPr>
          <p:cNvGrpSpPr/>
          <p:nvPr/>
        </p:nvGrpSpPr>
        <p:grpSpPr>
          <a:xfrm>
            <a:off x="9307584" y="3924991"/>
            <a:ext cx="494046" cy="1192282"/>
            <a:chOff x="5947995" y="4258309"/>
            <a:chExt cx="494046" cy="1192282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8F5F5F0-17FA-EB12-AB13-624731E26F51}"/>
                </a:ext>
              </a:extLst>
            </p:cNvPr>
            <p:cNvSpPr txBox="1"/>
            <p:nvPr/>
          </p:nvSpPr>
          <p:spPr>
            <a:xfrm>
              <a:off x="5947995" y="4258309"/>
              <a:ext cx="4940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Calisto MT" panose="02040603050505030304" pitchFamily="18" charset="0"/>
                </a:rPr>
                <a:t>tail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355FA65F-C57E-6A3B-CC48-A25C9170A74B}"/>
                </a:ext>
              </a:extLst>
            </p:cNvPr>
            <p:cNvCxnSpPr>
              <a:cxnSpLocks/>
            </p:cNvCxnSpPr>
            <p:nvPr/>
          </p:nvCxnSpPr>
          <p:spPr>
            <a:xfrm>
              <a:off x="6195018" y="4552993"/>
              <a:ext cx="0" cy="89759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CB3FE56F-4BB8-6D12-A24F-DF974B69507F}"/>
              </a:ext>
            </a:extLst>
          </p:cNvPr>
          <p:cNvSpPr txBox="1"/>
          <p:nvPr/>
        </p:nvSpPr>
        <p:spPr>
          <a:xfrm>
            <a:off x="6244441" y="1340154"/>
            <a:ext cx="2593980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Calisto MT" panose="02040603050505030304" pitchFamily="18" charset="0"/>
              </a:rPr>
              <a:t>void </a:t>
            </a:r>
            <a:r>
              <a:rPr lang="en-US" sz="1800" dirty="0" err="1">
                <a:solidFill>
                  <a:schemeClr val="tx1"/>
                </a:solidFill>
                <a:latin typeface="Calisto MT" panose="02040603050505030304" pitchFamily="18" charset="0"/>
              </a:rPr>
              <a:t>inserAtFirst</a:t>
            </a:r>
            <a:r>
              <a:rPr lang="en-US" sz="1800" dirty="0">
                <a:solidFill>
                  <a:schemeClr val="tx1"/>
                </a:solidFill>
                <a:latin typeface="Calisto MT" panose="02040603050505030304" pitchFamily="18" charset="0"/>
              </a:rPr>
              <a:t> (int x){</a:t>
            </a:r>
          </a:p>
          <a:p>
            <a:endParaRPr lang="en-US" sz="1800" dirty="0">
              <a:solidFill>
                <a:schemeClr val="tx1"/>
              </a:solidFill>
              <a:latin typeface="Calisto MT" panose="02040603050505030304" pitchFamily="18" charset="0"/>
            </a:endParaRPr>
          </a:p>
          <a:p>
            <a:endParaRPr lang="en-US" sz="1800" dirty="0">
              <a:solidFill>
                <a:schemeClr val="tx1"/>
              </a:solidFill>
              <a:latin typeface="Calisto MT" panose="02040603050505030304" pitchFamily="18" charset="0"/>
            </a:endParaRPr>
          </a:p>
          <a:p>
            <a:endParaRPr lang="en-US" sz="1800" dirty="0">
              <a:solidFill>
                <a:schemeClr val="tx1"/>
              </a:solidFill>
              <a:latin typeface="Calisto MT" panose="02040603050505030304" pitchFamily="18" charset="0"/>
            </a:endParaRPr>
          </a:p>
          <a:p>
            <a:endParaRPr lang="en-US" sz="1800" dirty="0">
              <a:solidFill>
                <a:schemeClr val="tx1"/>
              </a:solidFill>
              <a:latin typeface="Calisto MT" panose="02040603050505030304" pitchFamily="18" charset="0"/>
            </a:endParaRPr>
          </a:p>
          <a:p>
            <a:endParaRPr lang="en-US" sz="1800" dirty="0">
              <a:solidFill>
                <a:schemeClr val="tx1"/>
              </a:solidFill>
              <a:latin typeface="Calisto MT" panose="02040603050505030304" pitchFamily="18" charset="0"/>
            </a:endParaRPr>
          </a:p>
          <a:p>
            <a:endParaRPr lang="en-US" sz="1800" dirty="0">
              <a:solidFill>
                <a:schemeClr val="tx1"/>
              </a:solidFill>
              <a:latin typeface="Calisto MT" panose="02040603050505030304" pitchFamily="18" charset="0"/>
            </a:endParaRPr>
          </a:p>
          <a:p>
            <a:endParaRPr lang="en-US" sz="1800" dirty="0">
              <a:solidFill>
                <a:schemeClr val="tx1"/>
              </a:solidFill>
              <a:latin typeface="Calisto MT" panose="02040603050505030304" pitchFamily="18" charset="0"/>
            </a:endParaRPr>
          </a:p>
          <a:p>
            <a:endParaRPr lang="en-US" sz="1800" dirty="0">
              <a:solidFill>
                <a:schemeClr val="tx1"/>
              </a:solidFill>
              <a:latin typeface="Calisto MT" panose="02040603050505030304" pitchFamily="18" charset="0"/>
            </a:endParaRPr>
          </a:p>
          <a:p>
            <a:r>
              <a:rPr lang="en-US" sz="1800" dirty="0">
                <a:solidFill>
                  <a:schemeClr val="tx1"/>
                </a:solidFill>
                <a:latin typeface="Calisto MT" panose="02040603050505030304" pitchFamily="18" charset="0"/>
              </a:rPr>
              <a:t>}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C35FC15-65A1-B143-FD5D-5C39BA5FE379}"/>
              </a:ext>
            </a:extLst>
          </p:cNvPr>
          <p:cNvGrpSpPr/>
          <p:nvPr/>
        </p:nvGrpSpPr>
        <p:grpSpPr>
          <a:xfrm>
            <a:off x="9580673" y="4577596"/>
            <a:ext cx="1483568" cy="765110"/>
            <a:chOff x="1819469" y="4422710"/>
            <a:chExt cx="1483568" cy="765110"/>
          </a:xfrm>
        </p:grpSpPr>
        <p:cxnSp>
          <p:nvCxnSpPr>
            <p:cNvPr id="24" name="Connector: Elbow 23">
              <a:extLst>
                <a:ext uri="{FF2B5EF4-FFF2-40B4-BE49-F238E27FC236}">
                  <a16:creationId xmlns:a16="http://schemas.microsoft.com/office/drawing/2014/main" id="{0B9BC2D3-425A-3F41-2B22-453892FCC3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19469" y="4422710"/>
              <a:ext cx="1483568" cy="765110"/>
            </a:xfrm>
            <a:prstGeom prst="bentConnector3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30963565-DEB7-7074-B5EC-264CE8D10E27}"/>
                </a:ext>
              </a:extLst>
            </p:cNvPr>
            <p:cNvCxnSpPr>
              <a:cxnSpLocks/>
            </p:cNvCxnSpPr>
            <p:nvPr/>
          </p:nvCxnSpPr>
          <p:spPr>
            <a:xfrm>
              <a:off x="3303037" y="4422710"/>
              <a:ext cx="0" cy="53967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A56284DA-57B3-09C9-B69F-4761EED84494}"/>
              </a:ext>
            </a:extLst>
          </p:cNvPr>
          <p:cNvSpPr/>
          <p:nvPr/>
        </p:nvSpPr>
        <p:spPr>
          <a:xfrm>
            <a:off x="10826311" y="5117273"/>
            <a:ext cx="475862" cy="475862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630762-FD8E-6837-71B4-3F4DAF57A560}"/>
              </a:ext>
            </a:extLst>
          </p:cNvPr>
          <p:cNvSpPr txBox="1"/>
          <p:nvPr/>
        </p:nvSpPr>
        <p:spPr>
          <a:xfrm>
            <a:off x="838200" y="2077032"/>
            <a:ext cx="2047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listo MT" panose="02040603050505030304" pitchFamily="18" charset="0"/>
              </a:rPr>
              <a:t>Insert 6 on head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C650394-0906-034D-D890-5FD80B41713D}"/>
              </a:ext>
            </a:extLst>
          </p:cNvPr>
          <p:cNvGrpSpPr/>
          <p:nvPr/>
        </p:nvGrpSpPr>
        <p:grpSpPr>
          <a:xfrm>
            <a:off x="7057082" y="5104912"/>
            <a:ext cx="961992" cy="475862"/>
            <a:chOff x="7057082" y="5104912"/>
            <a:chExt cx="961992" cy="475862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7A22845-7589-048C-66F3-2BD1C82AC253}"/>
                </a:ext>
              </a:extLst>
            </p:cNvPr>
            <p:cNvSpPr/>
            <p:nvPr/>
          </p:nvSpPr>
          <p:spPr>
            <a:xfrm>
              <a:off x="7057082" y="5104912"/>
              <a:ext cx="475862" cy="47586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E6D79B2-3B7D-8350-D927-550367551839}"/>
                </a:ext>
              </a:extLst>
            </p:cNvPr>
            <p:cNvSpPr/>
            <p:nvPr/>
          </p:nvSpPr>
          <p:spPr>
            <a:xfrm>
              <a:off x="7543212" y="5104912"/>
              <a:ext cx="475862" cy="47586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02946549-CD33-8793-5206-5391E8D56CBF}"/>
              </a:ext>
            </a:extLst>
          </p:cNvPr>
          <p:cNvSpPr txBox="1"/>
          <p:nvPr/>
        </p:nvSpPr>
        <p:spPr>
          <a:xfrm>
            <a:off x="7154437" y="515817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sto MT" panose="02040603050505030304" pitchFamily="18" charset="0"/>
              </a:rPr>
              <a:t>6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112BD3A-BA6F-A1C7-721C-4ADC862F43D4}"/>
              </a:ext>
            </a:extLst>
          </p:cNvPr>
          <p:cNvGrpSpPr/>
          <p:nvPr/>
        </p:nvGrpSpPr>
        <p:grpSpPr>
          <a:xfrm>
            <a:off x="7833107" y="4560226"/>
            <a:ext cx="1483568" cy="765110"/>
            <a:chOff x="1819469" y="4422710"/>
            <a:chExt cx="1483568" cy="765110"/>
          </a:xfrm>
        </p:grpSpPr>
        <p:cxnSp>
          <p:nvCxnSpPr>
            <p:cNvPr id="42" name="Connector: Elbow 41">
              <a:extLst>
                <a:ext uri="{FF2B5EF4-FFF2-40B4-BE49-F238E27FC236}">
                  <a16:creationId xmlns:a16="http://schemas.microsoft.com/office/drawing/2014/main" id="{5140D340-02A3-D306-547F-EB14210BC5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19469" y="4422710"/>
              <a:ext cx="1483568" cy="765110"/>
            </a:xfrm>
            <a:prstGeom prst="bentConnector3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66B65B9E-6D9D-B77C-9BC2-D32E5EAFD04F}"/>
                </a:ext>
              </a:extLst>
            </p:cNvPr>
            <p:cNvCxnSpPr>
              <a:cxnSpLocks/>
            </p:cNvCxnSpPr>
            <p:nvPr/>
          </p:nvCxnSpPr>
          <p:spPr>
            <a:xfrm>
              <a:off x="3303037" y="4422710"/>
              <a:ext cx="0" cy="53967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280B9DEB-41BF-C481-DC07-CD24040B5E88}"/>
              </a:ext>
            </a:extLst>
          </p:cNvPr>
          <p:cNvGrpSpPr/>
          <p:nvPr/>
        </p:nvGrpSpPr>
        <p:grpSpPr>
          <a:xfrm>
            <a:off x="3404066" y="3924991"/>
            <a:ext cx="676788" cy="1207073"/>
            <a:chOff x="920926" y="4243673"/>
            <a:chExt cx="676788" cy="1207073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E1DDB96-0B63-8328-30A3-2A36026D446E}"/>
                </a:ext>
              </a:extLst>
            </p:cNvPr>
            <p:cNvSpPr txBox="1"/>
            <p:nvPr/>
          </p:nvSpPr>
          <p:spPr>
            <a:xfrm>
              <a:off x="920926" y="4243673"/>
              <a:ext cx="6767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Calisto MT" panose="02040603050505030304" pitchFamily="18" charset="0"/>
                </a:rPr>
                <a:t>temp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78431EDB-853A-A2FB-F577-954BDBB150B9}"/>
                </a:ext>
              </a:extLst>
            </p:cNvPr>
            <p:cNvCxnSpPr>
              <a:cxnSpLocks/>
              <a:stCxn id="9" idx="2"/>
            </p:cNvCxnSpPr>
            <p:nvPr/>
          </p:nvCxnSpPr>
          <p:spPr>
            <a:xfrm flipH="1">
              <a:off x="1248900" y="4613005"/>
              <a:ext cx="10420" cy="83774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6500BBD6-9762-1403-D8F0-DD7A8D65ABC1}"/>
              </a:ext>
            </a:extLst>
          </p:cNvPr>
          <p:cNvSpPr txBox="1"/>
          <p:nvPr/>
        </p:nvSpPr>
        <p:spPr>
          <a:xfrm>
            <a:off x="845483" y="2525907"/>
            <a:ext cx="2047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listo MT" panose="02040603050505030304" pitchFamily="18" charset="0"/>
              </a:rPr>
              <a:t>Insert 5 on head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43257E5-3ED0-9382-8036-148AAB9D34E4}"/>
              </a:ext>
            </a:extLst>
          </p:cNvPr>
          <p:cNvGrpSpPr/>
          <p:nvPr/>
        </p:nvGrpSpPr>
        <p:grpSpPr>
          <a:xfrm>
            <a:off x="5234175" y="5117273"/>
            <a:ext cx="961992" cy="475862"/>
            <a:chOff x="7057082" y="5104912"/>
            <a:chExt cx="961992" cy="475862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30D9351-177A-31C2-EC33-40D1885B2765}"/>
                </a:ext>
              </a:extLst>
            </p:cNvPr>
            <p:cNvSpPr/>
            <p:nvPr/>
          </p:nvSpPr>
          <p:spPr>
            <a:xfrm>
              <a:off x="7057082" y="5104912"/>
              <a:ext cx="475862" cy="47586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38CC6AE-C911-D877-5244-BEDF23708DE2}"/>
                </a:ext>
              </a:extLst>
            </p:cNvPr>
            <p:cNvSpPr/>
            <p:nvPr/>
          </p:nvSpPr>
          <p:spPr>
            <a:xfrm>
              <a:off x="7543212" y="5104912"/>
              <a:ext cx="475862" cy="47586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2639E0A1-63F3-EF3A-691F-5113CE9D9A9E}"/>
              </a:ext>
            </a:extLst>
          </p:cNvPr>
          <p:cNvSpPr txBox="1"/>
          <p:nvPr/>
        </p:nvSpPr>
        <p:spPr>
          <a:xfrm>
            <a:off x="5331530" y="517053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sto MT" panose="02040603050505030304" pitchFamily="18" charset="0"/>
              </a:rPr>
              <a:t>5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F5DA136-D14D-D12E-204E-D9860D966E9A}"/>
              </a:ext>
            </a:extLst>
          </p:cNvPr>
          <p:cNvGrpSpPr/>
          <p:nvPr/>
        </p:nvGrpSpPr>
        <p:grpSpPr>
          <a:xfrm>
            <a:off x="5387991" y="3900716"/>
            <a:ext cx="655949" cy="1207073"/>
            <a:chOff x="920926" y="4243673"/>
            <a:chExt cx="655949" cy="1207073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9626B157-AC21-2C6E-6F84-E259A1B7CE7F}"/>
                </a:ext>
              </a:extLst>
            </p:cNvPr>
            <p:cNvSpPr txBox="1"/>
            <p:nvPr/>
          </p:nvSpPr>
          <p:spPr>
            <a:xfrm>
              <a:off x="920926" y="4243673"/>
              <a:ext cx="6559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Calisto MT" panose="02040603050505030304" pitchFamily="18" charset="0"/>
                </a:rPr>
                <a:t>head</a:t>
              </a: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95F92C7A-0740-9B91-18F3-EFFB45A87171}"/>
                </a:ext>
              </a:extLst>
            </p:cNvPr>
            <p:cNvCxnSpPr>
              <a:stCxn id="35" idx="2"/>
            </p:cNvCxnSpPr>
            <p:nvPr/>
          </p:nvCxnSpPr>
          <p:spPr>
            <a:xfrm flipH="1">
              <a:off x="1248900" y="4613005"/>
              <a:ext cx="1" cy="83774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E6CCE31-A7AB-CE74-9CB2-5FF5E0756689}"/>
              </a:ext>
            </a:extLst>
          </p:cNvPr>
          <p:cNvGrpSpPr/>
          <p:nvPr/>
        </p:nvGrpSpPr>
        <p:grpSpPr>
          <a:xfrm>
            <a:off x="5908754" y="4574711"/>
            <a:ext cx="1483568" cy="765110"/>
            <a:chOff x="1819469" y="4422710"/>
            <a:chExt cx="1483568" cy="765110"/>
          </a:xfrm>
        </p:grpSpPr>
        <p:cxnSp>
          <p:nvCxnSpPr>
            <p:cNvPr id="47" name="Connector: Elbow 46">
              <a:extLst>
                <a:ext uri="{FF2B5EF4-FFF2-40B4-BE49-F238E27FC236}">
                  <a16:creationId xmlns:a16="http://schemas.microsoft.com/office/drawing/2014/main" id="{1FA13687-2BEA-C17B-1947-D1F97FB83B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19469" y="4422710"/>
              <a:ext cx="1483568" cy="765110"/>
            </a:xfrm>
            <a:prstGeom prst="bentConnector3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ED6962B6-B484-E53E-5FAE-3A567218E911}"/>
                </a:ext>
              </a:extLst>
            </p:cNvPr>
            <p:cNvCxnSpPr>
              <a:cxnSpLocks/>
            </p:cNvCxnSpPr>
            <p:nvPr/>
          </p:nvCxnSpPr>
          <p:spPr>
            <a:xfrm>
              <a:off x="3303037" y="4422710"/>
              <a:ext cx="0" cy="53967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CC2552C0-C101-948A-5E48-D7623D76A939}"/>
              </a:ext>
            </a:extLst>
          </p:cNvPr>
          <p:cNvSpPr txBox="1"/>
          <p:nvPr/>
        </p:nvSpPr>
        <p:spPr>
          <a:xfrm>
            <a:off x="838199" y="2996448"/>
            <a:ext cx="2047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listo MT" panose="02040603050505030304" pitchFamily="18" charset="0"/>
              </a:rPr>
              <a:t>Insert </a:t>
            </a:r>
            <a:r>
              <a:rPr lang="en-US" sz="1800" b="1" i="1" dirty="0">
                <a:solidFill>
                  <a:schemeClr val="tx1"/>
                </a:solidFill>
                <a:latin typeface="Calisto MT" panose="02040603050505030304" pitchFamily="18" charset="0"/>
              </a:rPr>
              <a:t>x</a:t>
            </a:r>
            <a:r>
              <a:rPr lang="en-US" sz="1800" dirty="0">
                <a:solidFill>
                  <a:schemeClr val="tx1"/>
                </a:solidFill>
                <a:latin typeface="Calisto MT" panose="02040603050505030304" pitchFamily="18" charset="0"/>
              </a:rPr>
              <a:t> on head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3825701-D744-D9B4-6B77-BB6F67F9B5EE}"/>
              </a:ext>
            </a:extLst>
          </p:cNvPr>
          <p:cNvGrpSpPr/>
          <p:nvPr/>
        </p:nvGrpSpPr>
        <p:grpSpPr>
          <a:xfrm>
            <a:off x="3260726" y="5104912"/>
            <a:ext cx="961992" cy="475862"/>
            <a:chOff x="7057082" y="5104912"/>
            <a:chExt cx="961992" cy="475862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3592200-9D99-378D-F85B-DBB8CF53E0FF}"/>
                </a:ext>
              </a:extLst>
            </p:cNvPr>
            <p:cNvSpPr/>
            <p:nvPr/>
          </p:nvSpPr>
          <p:spPr>
            <a:xfrm>
              <a:off x="7057082" y="5104912"/>
              <a:ext cx="475862" cy="47586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F2A87D5C-B512-A3ED-11F0-F357CF506FAF}"/>
                </a:ext>
              </a:extLst>
            </p:cNvPr>
            <p:cNvSpPr/>
            <p:nvPr/>
          </p:nvSpPr>
          <p:spPr>
            <a:xfrm>
              <a:off x="7543212" y="5104912"/>
              <a:ext cx="475862" cy="47586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B5B26928-692B-E6A0-70EE-5430F0BA1D9F}"/>
              </a:ext>
            </a:extLst>
          </p:cNvPr>
          <p:cNvSpPr txBox="1"/>
          <p:nvPr/>
        </p:nvSpPr>
        <p:spPr>
          <a:xfrm>
            <a:off x="6562066" y="1702963"/>
            <a:ext cx="4836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Calisto MT" panose="02040603050505030304" pitchFamily="18" charset="0"/>
              </a:rPr>
              <a:t>Node *temp = (Node*) malloc ( </a:t>
            </a:r>
            <a:r>
              <a:rPr lang="en-US" sz="1800" dirty="0" err="1">
                <a:solidFill>
                  <a:schemeClr val="tx1"/>
                </a:solidFill>
                <a:latin typeface="Calisto MT" panose="02040603050505030304" pitchFamily="18" charset="0"/>
              </a:rPr>
              <a:t>sizeof</a:t>
            </a:r>
            <a:r>
              <a:rPr lang="en-US" sz="1800" dirty="0">
                <a:solidFill>
                  <a:schemeClr val="tx1"/>
                </a:solidFill>
                <a:latin typeface="Calisto MT" panose="02040603050505030304" pitchFamily="18" charset="0"/>
              </a:rPr>
              <a:t> (Node));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3E403ED-5C16-41DE-231C-ED8CDFDB89A1}"/>
              </a:ext>
            </a:extLst>
          </p:cNvPr>
          <p:cNvSpPr txBox="1"/>
          <p:nvPr/>
        </p:nvSpPr>
        <p:spPr>
          <a:xfrm>
            <a:off x="3354370" y="5158177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i="1" dirty="0">
                <a:latin typeface="Calisto MT" panose="02040603050505030304" pitchFamily="18" charset="0"/>
              </a:rPr>
              <a:t>x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31AFD96-6874-EC63-8020-66D8DDE754B3}"/>
              </a:ext>
            </a:extLst>
          </p:cNvPr>
          <p:cNvSpPr txBox="1"/>
          <p:nvPr/>
        </p:nvSpPr>
        <p:spPr>
          <a:xfrm>
            <a:off x="6562066" y="2049203"/>
            <a:ext cx="1813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Calisto MT" panose="02040603050505030304" pitchFamily="18" charset="0"/>
              </a:rPr>
              <a:t>temp -&gt; key = x;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567BE370-4346-069C-BD38-61037CBEE67A}"/>
              </a:ext>
            </a:extLst>
          </p:cNvPr>
          <p:cNvGrpSpPr/>
          <p:nvPr/>
        </p:nvGrpSpPr>
        <p:grpSpPr>
          <a:xfrm>
            <a:off x="4006261" y="4576682"/>
            <a:ext cx="1483568" cy="765110"/>
            <a:chOff x="1819469" y="4422710"/>
            <a:chExt cx="1483568" cy="765110"/>
          </a:xfrm>
        </p:grpSpPr>
        <p:cxnSp>
          <p:nvCxnSpPr>
            <p:cNvPr id="54" name="Connector: Elbow 53">
              <a:extLst>
                <a:ext uri="{FF2B5EF4-FFF2-40B4-BE49-F238E27FC236}">
                  <a16:creationId xmlns:a16="http://schemas.microsoft.com/office/drawing/2014/main" id="{5ABFEF4A-C40C-120F-3F0F-9C87D4406D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19469" y="4422710"/>
              <a:ext cx="1483568" cy="765110"/>
            </a:xfrm>
            <a:prstGeom prst="bentConnector3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2374A00F-0F7E-3FAF-BFD5-E64FC7DE916F}"/>
                </a:ext>
              </a:extLst>
            </p:cNvPr>
            <p:cNvCxnSpPr>
              <a:cxnSpLocks/>
            </p:cNvCxnSpPr>
            <p:nvPr/>
          </p:nvCxnSpPr>
          <p:spPr>
            <a:xfrm>
              <a:off x="3303037" y="4422710"/>
              <a:ext cx="0" cy="53967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7980A30D-A888-888A-4944-920F1A3155FE}"/>
              </a:ext>
            </a:extLst>
          </p:cNvPr>
          <p:cNvSpPr txBox="1"/>
          <p:nvPr/>
        </p:nvSpPr>
        <p:spPr>
          <a:xfrm>
            <a:off x="6562066" y="2411731"/>
            <a:ext cx="224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Calisto MT" panose="02040603050505030304" pitchFamily="18" charset="0"/>
              </a:rPr>
              <a:t>temp -&gt; next = head;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A72822B-3FA8-73E1-8BBB-CB86F31C9D6A}"/>
              </a:ext>
            </a:extLst>
          </p:cNvPr>
          <p:cNvSpPr txBox="1"/>
          <p:nvPr/>
        </p:nvSpPr>
        <p:spPr>
          <a:xfrm>
            <a:off x="6568481" y="2818807"/>
            <a:ext cx="1484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Calisto MT" panose="02040603050505030304" pitchFamily="18" charset="0"/>
              </a:rPr>
              <a:t>head = temp;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815AC7D4-DA95-D015-D40E-E8C15B928EB6}"/>
              </a:ext>
            </a:extLst>
          </p:cNvPr>
          <p:cNvSpPr/>
          <p:nvPr/>
        </p:nvSpPr>
        <p:spPr>
          <a:xfrm>
            <a:off x="629587" y="1572787"/>
            <a:ext cx="3451267" cy="14371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87EA749-8DA3-5430-CF04-80F63215E3E3}"/>
              </a:ext>
            </a:extLst>
          </p:cNvPr>
          <p:cNvSpPr txBox="1"/>
          <p:nvPr/>
        </p:nvSpPr>
        <p:spPr>
          <a:xfrm>
            <a:off x="869687" y="1622493"/>
            <a:ext cx="4046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solidFill>
                  <a:srgbClr val="0070C0"/>
                </a:solidFill>
                <a:latin typeface="Calisto MT" panose="02040603050505030304" pitchFamily="18" charset="0"/>
              </a:rPr>
              <a:t>What if there is no element in the list?</a:t>
            </a:r>
          </a:p>
        </p:txBody>
      </p:sp>
    </p:spTree>
    <p:extLst>
      <p:ext uri="{BB962C8B-B14F-4D97-AF65-F5344CB8AC3E}">
        <p14:creationId xmlns:p14="http://schemas.microsoft.com/office/powerpoint/2010/main" val="1774595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2.96296E-6 L -0.13932 0.00278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966" y="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45" grpId="0"/>
      <p:bldP spid="52" grpId="0"/>
      <p:bldP spid="56" grpId="0"/>
      <p:bldP spid="57" grpId="0"/>
      <p:bldP spid="58" grpId="0" animBg="1"/>
      <p:bldP spid="5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82D47-EC81-6B6D-BEF2-CA9EF794A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94154-34AA-9DAE-550C-3523B2F4C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 at First (Insert on head)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0CD6D8-FEF7-BE10-1DC7-6D590A016A6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CA62E38-59FD-451F-9AA6-B569CE35F9BD}" type="datetime4">
              <a:rPr lang="en-US" smtClean="0"/>
              <a:t>March 6,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C61F6D-0D77-443E-61C7-4E76425A182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Prepared By: Swapnil Biswas, CSE, BSMRU, Kishoreganj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429BDD-2E36-91D6-3A1E-CF6C6C1FA4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28</a:t>
            </a:fld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C079E6E-E8C0-3184-6F79-A4DA6F69A1BA}"/>
              </a:ext>
            </a:extLst>
          </p:cNvPr>
          <p:cNvSpPr txBox="1"/>
          <p:nvPr/>
        </p:nvSpPr>
        <p:spPr>
          <a:xfrm>
            <a:off x="6244441" y="1340154"/>
            <a:ext cx="2593980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Calisto MT" panose="02040603050505030304" pitchFamily="18" charset="0"/>
              </a:rPr>
              <a:t>void </a:t>
            </a:r>
            <a:r>
              <a:rPr lang="en-US" sz="1800" dirty="0" err="1">
                <a:solidFill>
                  <a:schemeClr val="tx1"/>
                </a:solidFill>
                <a:latin typeface="Calisto MT" panose="02040603050505030304" pitchFamily="18" charset="0"/>
              </a:rPr>
              <a:t>inserAtFirst</a:t>
            </a:r>
            <a:r>
              <a:rPr lang="en-US" sz="1800" dirty="0">
                <a:solidFill>
                  <a:schemeClr val="tx1"/>
                </a:solidFill>
                <a:latin typeface="Calisto MT" panose="02040603050505030304" pitchFamily="18" charset="0"/>
              </a:rPr>
              <a:t> (int x){</a:t>
            </a:r>
          </a:p>
          <a:p>
            <a:endParaRPr lang="en-US" sz="1800" dirty="0">
              <a:solidFill>
                <a:schemeClr val="tx1"/>
              </a:solidFill>
              <a:latin typeface="Calisto MT" panose="02040603050505030304" pitchFamily="18" charset="0"/>
            </a:endParaRPr>
          </a:p>
          <a:p>
            <a:endParaRPr lang="en-US" sz="1800" dirty="0">
              <a:solidFill>
                <a:schemeClr val="tx1"/>
              </a:solidFill>
              <a:latin typeface="Calisto MT" panose="02040603050505030304" pitchFamily="18" charset="0"/>
            </a:endParaRPr>
          </a:p>
          <a:p>
            <a:endParaRPr lang="en-US" sz="1800" dirty="0">
              <a:solidFill>
                <a:schemeClr val="tx1"/>
              </a:solidFill>
              <a:latin typeface="Calisto MT" panose="02040603050505030304" pitchFamily="18" charset="0"/>
            </a:endParaRPr>
          </a:p>
          <a:p>
            <a:endParaRPr lang="en-US" sz="1800" dirty="0">
              <a:solidFill>
                <a:schemeClr val="tx1"/>
              </a:solidFill>
              <a:latin typeface="Calisto MT" panose="02040603050505030304" pitchFamily="18" charset="0"/>
            </a:endParaRPr>
          </a:p>
          <a:p>
            <a:endParaRPr lang="en-US" sz="1800" dirty="0">
              <a:solidFill>
                <a:schemeClr val="tx1"/>
              </a:solidFill>
              <a:latin typeface="Calisto MT" panose="02040603050505030304" pitchFamily="18" charset="0"/>
            </a:endParaRPr>
          </a:p>
          <a:p>
            <a:endParaRPr lang="en-US" sz="1800" dirty="0">
              <a:solidFill>
                <a:schemeClr val="tx1"/>
              </a:solidFill>
              <a:latin typeface="Calisto MT" panose="02040603050505030304" pitchFamily="18" charset="0"/>
            </a:endParaRPr>
          </a:p>
          <a:p>
            <a:endParaRPr lang="en-US" sz="1800" dirty="0">
              <a:solidFill>
                <a:schemeClr val="tx1"/>
              </a:solidFill>
              <a:latin typeface="Calisto MT" panose="02040603050505030304" pitchFamily="18" charset="0"/>
            </a:endParaRPr>
          </a:p>
          <a:p>
            <a:endParaRPr lang="en-US" sz="1800" dirty="0">
              <a:solidFill>
                <a:schemeClr val="tx1"/>
              </a:solidFill>
              <a:latin typeface="Calisto MT" panose="02040603050505030304" pitchFamily="18" charset="0"/>
            </a:endParaRPr>
          </a:p>
          <a:p>
            <a:endParaRPr lang="en-US" sz="1800" dirty="0">
              <a:solidFill>
                <a:schemeClr val="tx1"/>
              </a:solidFill>
              <a:latin typeface="Calisto MT" panose="02040603050505030304" pitchFamily="18" charset="0"/>
            </a:endParaRPr>
          </a:p>
          <a:p>
            <a:r>
              <a:rPr lang="en-US" sz="1800" dirty="0">
                <a:solidFill>
                  <a:schemeClr val="tx1"/>
                </a:solidFill>
                <a:latin typeface="Calisto MT" panose="02040603050505030304" pitchFamily="18" charset="0"/>
              </a:rPr>
              <a:t>}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C8AF316-5D40-F804-7F7B-E85B6964C102}"/>
              </a:ext>
            </a:extLst>
          </p:cNvPr>
          <p:cNvSpPr txBox="1"/>
          <p:nvPr/>
        </p:nvSpPr>
        <p:spPr>
          <a:xfrm>
            <a:off x="6562066" y="1702963"/>
            <a:ext cx="4836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Calisto MT" panose="02040603050505030304" pitchFamily="18" charset="0"/>
              </a:rPr>
              <a:t>Node *temp = (Node*) malloc ( </a:t>
            </a:r>
            <a:r>
              <a:rPr lang="en-US" sz="1800" dirty="0" err="1">
                <a:solidFill>
                  <a:schemeClr val="tx1"/>
                </a:solidFill>
                <a:latin typeface="Calisto MT" panose="02040603050505030304" pitchFamily="18" charset="0"/>
              </a:rPr>
              <a:t>sizeof</a:t>
            </a:r>
            <a:r>
              <a:rPr lang="en-US" sz="1800" dirty="0">
                <a:solidFill>
                  <a:schemeClr val="tx1"/>
                </a:solidFill>
                <a:latin typeface="Calisto MT" panose="02040603050505030304" pitchFamily="18" charset="0"/>
              </a:rPr>
              <a:t> (Node));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F2D54C0-296C-3395-EE76-8F63B9E7E364}"/>
              </a:ext>
            </a:extLst>
          </p:cNvPr>
          <p:cNvSpPr txBox="1"/>
          <p:nvPr/>
        </p:nvSpPr>
        <p:spPr>
          <a:xfrm>
            <a:off x="6562066" y="2049203"/>
            <a:ext cx="1813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Calisto MT" panose="02040603050505030304" pitchFamily="18" charset="0"/>
              </a:rPr>
              <a:t>temp -&gt; key = x;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3276F2C-869D-5556-5E47-6D5723268242}"/>
              </a:ext>
            </a:extLst>
          </p:cNvPr>
          <p:cNvSpPr txBox="1"/>
          <p:nvPr/>
        </p:nvSpPr>
        <p:spPr>
          <a:xfrm>
            <a:off x="6562066" y="2411731"/>
            <a:ext cx="224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Calisto MT" panose="02040603050505030304" pitchFamily="18" charset="0"/>
              </a:rPr>
              <a:t>temp -&gt; next = head;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DB214F2-0C9F-BB44-854F-191B1418FF24}"/>
              </a:ext>
            </a:extLst>
          </p:cNvPr>
          <p:cNvSpPr txBox="1"/>
          <p:nvPr/>
        </p:nvSpPr>
        <p:spPr>
          <a:xfrm>
            <a:off x="6568481" y="2818807"/>
            <a:ext cx="1484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Calisto MT" panose="02040603050505030304" pitchFamily="18" charset="0"/>
              </a:rPr>
              <a:t>head = temp;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9941264-0D9D-F25C-3470-0D19D4B5E2BD}"/>
              </a:ext>
            </a:extLst>
          </p:cNvPr>
          <p:cNvSpPr txBox="1"/>
          <p:nvPr/>
        </p:nvSpPr>
        <p:spPr>
          <a:xfrm>
            <a:off x="869687" y="1622493"/>
            <a:ext cx="4046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solidFill>
                  <a:srgbClr val="0070C0"/>
                </a:solidFill>
                <a:latin typeface="Calisto MT" panose="02040603050505030304" pitchFamily="18" charset="0"/>
              </a:rPr>
              <a:t>What if there is no element in the list?</a:t>
            </a:r>
          </a:p>
        </p:txBody>
      </p:sp>
      <p:sp>
        <p:nvSpPr>
          <p:cNvPr id="39" name="Isosceles Triangle 38">
            <a:extLst>
              <a:ext uri="{FF2B5EF4-FFF2-40B4-BE49-F238E27FC236}">
                <a16:creationId xmlns:a16="http://schemas.microsoft.com/office/drawing/2014/main" id="{A7068180-33D8-11F6-C0A5-3D28C8ADAC58}"/>
              </a:ext>
            </a:extLst>
          </p:cNvPr>
          <p:cNvSpPr/>
          <p:nvPr/>
        </p:nvSpPr>
        <p:spPr>
          <a:xfrm>
            <a:off x="3124395" y="4012944"/>
            <a:ext cx="2575739" cy="466531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035CCF51-F3BB-85D8-3C44-839A04E5D9CE}"/>
              </a:ext>
            </a:extLst>
          </p:cNvPr>
          <p:cNvGrpSpPr/>
          <p:nvPr/>
        </p:nvGrpSpPr>
        <p:grpSpPr>
          <a:xfrm>
            <a:off x="3256732" y="3096987"/>
            <a:ext cx="655949" cy="1207073"/>
            <a:chOff x="920926" y="4243673"/>
            <a:chExt cx="655949" cy="1207073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6ACFB771-71F4-E535-57B9-209B6FC04594}"/>
                </a:ext>
              </a:extLst>
            </p:cNvPr>
            <p:cNvSpPr txBox="1"/>
            <p:nvPr/>
          </p:nvSpPr>
          <p:spPr>
            <a:xfrm>
              <a:off x="920926" y="4243673"/>
              <a:ext cx="6559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Calisto MT" panose="02040603050505030304" pitchFamily="18" charset="0"/>
                </a:rPr>
                <a:t>head</a:t>
              </a:r>
            </a:p>
          </p:txBody>
        </p: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931FC285-FB26-1E34-BC06-5954B71614F6}"/>
                </a:ext>
              </a:extLst>
            </p:cNvPr>
            <p:cNvCxnSpPr>
              <a:stCxn id="49" idx="2"/>
            </p:cNvCxnSpPr>
            <p:nvPr/>
          </p:nvCxnSpPr>
          <p:spPr>
            <a:xfrm flipH="1">
              <a:off x="1248900" y="4613005"/>
              <a:ext cx="1" cy="83774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671B6299-9E7C-A2EB-E4DD-71F1A9159EB1}"/>
              </a:ext>
            </a:extLst>
          </p:cNvPr>
          <p:cNvGrpSpPr/>
          <p:nvPr/>
        </p:nvGrpSpPr>
        <p:grpSpPr>
          <a:xfrm>
            <a:off x="4947991" y="2418535"/>
            <a:ext cx="494046" cy="1870734"/>
            <a:chOff x="5947995" y="4258309"/>
            <a:chExt cx="494046" cy="1192282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D8A810D-2403-8135-B967-D755FF33804E}"/>
                </a:ext>
              </a:extLst>
            </p:cNvPr>
            <p:cNvSpPr txBox="1"/>
            <p:nvPr/>
          </p:nvSpPr>
          <p:spPr>
            <a:xfrm>
              <a:off x="5947995" y="4258309"/>
              <a:ext cx="4940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Calisto MT" panose="02040603050505030304" pitchFamily="18" charset="0"/>
                </a:rPr>
                <a:t>tail</a:t>
              </a:r>
            </a:p>
          </p:txBody>
        </p: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063A5B85-A789-BA8C-8419-2CA1D9520732}"/>
                </a:ext>
              </a:extLst>
            </p:cNvPr>
            <p:cNvCxnSpPr>
              <a:cxnSpLocks/>
            </p:cNvCxnSpPr>
            <p:nvPr/>
          </p:nvCxnSpPr>
          <p:spPr>
            <a:xfrm>
              <a:off x="6195018" y="4552993"/>
              <a:ext cx="0" cy="89759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70FA6764-3A0C-A742-8B7F-FDE1CB9680DB}"/>
              </a:ext>
            </a:extLst>
          </p:cNvPr>
          <p:cNvCxnSpPr/>
          <p:nvPr/>
        </p:nvCxnSpPr>
        <p:spPr>
          <a:xfrm>
            <a:off x="5964125" y="1889715"/>
            <a:ext cx="604356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5" name="Group 64">
            <a:extLst>
              <a:ext uri="{FF2B5EF4-FFF2-40B4-BE49-F238E27FC236}">
                <a16:creationId xmlns:a16="http://schemas.microsoft.com/office/drawing/2014/main" id="{B264B1BA-BC3D-482D-92A7-9A614E357FC3}"/>
              </a:ext>
            </a:extLst>
          </p:cNvPr>
          <p:cNvGrpSpPr/>
          <p:nvPr/>
        </p:nvGrpSpPr>
        <p:grpSpPr>
          <a:xfrm>
            <a:off x="1345818" y="3011575"/>
            <a:ext cx="676788" cy="1207073"/>
            <a:chOff x="920926" y="4243673"/>
            <a:chExt cx="676788" cy="1207073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048308FC-6A4F-F405-C12B-891B32DFEFA2}"/>
                </a:ext>
              </a:extLst>
            </p:cNvPr>
            <p:cNvSpPr txBox="1"/>
            <p:nvPr/>
          </p:nvSpPr>
          <p:spPr>
            <a:xfrm>
              <a:off x="920926" y="4243673"/>
              <a:ext cx="6767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Calisto MT" panose="02040603050505030304" pitchFamily="18" charset="0"/>
                </a:rPr>
                <a:t>temp</a:t>
              </a:r>
            </a:p>
          </p:txBody>
        </p: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1B732C96-B7D3-EF57-885B-AD305482CDC3}"/>
                </a:ext>
              </a:extLst>
            </p:cNvPr>
            <p:cNvCxnSpPr>
              <a:cxnSpLocks/>
              <a:stCxn id="66" idx="2"/>
            </p:cNvCxnSpPr>
            <p:nvPr/>
          </p:nvCxnSpPr>
          <p:spPr>
            <a:xfrm flipH="1">
              <a:off x="1248900" y="4613005"/>
              <a:ext cx="10420" cy="83774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DE697FB6-055D-7965-9B4A-249B8B2754FA}"/>
              </a:ext>
            </a:extLst>
          </p:cNvPr>
          <p:cNvGrpSpPr/>
          <p:nvPr/>
        </p:nvGrpSpPr>
        <p:grpSpPr>
          <a:xfrm>
            <a:off x="1596044" y="4224980"/>
            <a:ext cx="961992" cy="475862"/>
            <a:chOff x="7057082" y="5104912"/>
            <a:chExt cx="961992" cy="475862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BFB4ED49-5F21-6AC9-ABEA-16DF91AAEDF9}"/>
                </a:ext>
              </a:extLst>
            </p:cNvPr>
            <p:cNvSpPr/>
            <p:nvPr/>
          </p:nvSpPr>
          <p:spPr>
            <a:xfrm>
              <a:off x="7057082" y="5104912"/>
              <a:ext cx="475862" cy="47586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ACF575C9-DAD3-A956-2F00-0D21DB4E64ED}"/>
                </a:ext>
              </a:extLst>
            </p:cNvPr>
            <p:cNvSpPr/>
            <p:nvPr/>
          </p:nvSpPr>
          <p:spPr>
            <a:xfrm>
              <a:off x="7543212" y="5104912"/>
              <a:ext cx="475862" cy="47586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DFED75E7-7C8E-C5A0-8E39-03ECEB7A27A6}"/>
              </a:ext>
            </a:extLst>
          </p:cNvPr>
          <p:cNvSpPr txBox="1"/>
          <p:nvPr/>
        </p:nvSpPr>
        <p:spPr>
          <a:xfrm>
            <a:off x="1689688" y="4278245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i="1" dirty="0">
                <a:latin typeface="Calisto MT" panose="02040603050505030304" pitchFamily="18" charset="0"/>
              </a:rPr>
              <a:t>x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25E4C90F-1621-3B41-DADC-E7021733A08F}"/>
              </a:ext>
            </a:extLst>
          </p:cNvPr>
          <p:cNvCxnSpPr/>
          <p:nvPr/>
        </p:nvCxnSpPr>
        <p:spPr>
          <a:xfrm>
            <a:off x="5964125" y="2251977"/>
            <a:ext cx="604356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A11616D0-3034-86E5-F0DA-6C1EB3936AB3}"/>
              </a:ext>
            </a:extLst>
          </p:cNvPr>
          <p:cNvCxnSpPr/>
          <p:nvPr/>
        </p:nvCxnSpPr>
        <p:spPr>
          <a:xfrm>
            <a:off x="5964125" y="2629229"/>
            <a:ext cx="604356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4" name="Group 73">
            <a:extLst>
              <a:ext uri="{FF2B5EF4-FFF2-40B4-BE49-F238E27FC236}">
                <a16:creationId xmlns:a16="http://schemas.microsoft.com/office/drawing/2014/main" id="{77E5AB46-E7ED-8E83-A6D3-C0888E21DBC4}"/>
              </a:ext>
            </a:extLst>
          </p:cNvPr>
          <p:cNvGrpSpPr/>
          <p:nvPr/>
        </p:nvGrpSpPr>
        <p:grpSpPr>
          <a:xfrm>
            <a:off x="2220276" y="3697801"/>
            <a:ext cx="1483568" cy="765110"/>
            <a:chOff x="1819469" y="4422710"/>
            <a:chExt cx="1483568" cy="765110"/>
          </a:xfrm>
        </p:grpSpPr>
        <p:cxnSp>
          <p:nvCxnSpPr>
            <p:cNvPr id="75" name="Connector: Elbow 74">
              <a:extLst>
                <a:ext uri="{FF2B5EF4-FFF2-40B4-BE49-F238E27FC236}">
                  <a16:creationId xmlns:a16="http://schemas.microsoft.com/office/drawing/2014/main" id="{E0C4AB64-214B-CC63-137A-4745D78B35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19469" y="4422710"/>
              <a:ext cx="1483568" cy="765110"/>
            </a:xfrm>
            <a:prstGeom prst="bentConnector3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7C6BA7D4-634E-A022-888F-BBCC7F9EFBC6}"/>
                </a:ext>
              </a:extLst>
            </p:cNvPr>
            <p:cNvCxnSpPr>
              <a:cxnSpLocks/>
            </p:cNvCxnSpPr>
            <p:nvPr/>
          </p:nvCxnSpPr>
          <p:spPr>
            <a:xfrm>
              <a:off x="3303037" y="4422710"/>
              <a:ext cx="0" cy="53967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A4FCA93A-4B01-3FAA-AC99-025C2C5FF635}"/>
              </a:ext>
            </a:extLst>
          </p:cNvPr>
          <p:cNvCxnSpPr/>
          <p:nvPr/>
        </p:nvCxnSpPr>
        <p:spPr>
          <a:xfrm>
            <a:off x="5964125" y="3003473"/>
            <a:ext cx="604356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78C3041D-3DE0-62C2-012A-FCB6812DB94C}"/>
              </a:ext>
            </a:extLst>
          </p:cNvPr>
          <p:cNvSpPr txBox="1"/>
          <p:nvPr/>
        </p:nvSpPr>
        <p:spPr>
          <a:xfrm>
            <a:off x="1020634" y="4899881"/>
            <a:ext cx="4421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solidFill>
                  <a:srgbClr val="0070C0"/>
                </a:solidFill>
                <a:latin typeface="Calisto MT" panose="02040603050505030304" pitchFamily="18" charset="0"/>
              </a:rPr>
              <a:t>The tail is not pointed to the last element.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C9537F4-CE70-54CC-8AFB-03AEF24B1DEF}"/>
              </a:ext>
            </a:extLst>
          </p:cNvPr>
          <p:cNvSpPr txBox="1"/>
          <p:nvPr/>
        </p:nvSpPr>
        <p:spPr>
          <a:xfrm>
            <a:off x="1046030" y="5269213"/>
            <a:ext cx="4259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solidFill>
                  <a:srgbClr val="0070C0"/>
                </a:solidFill>
                <a:latin typeface="Calisto MT" panose="02040603050505030304" pitchFamily="18" charset="0"/>
              </a:rPr>
              <a:t>So when there is no element in the list: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C157A1C-D9B5-D01A-B700-2AC7058D9A7C}"/>
              </a:ext>
            </a:extLst>
          </p:cNvPr>
          <p:cNvSpPr txBox="1"/>
          <p:nvPr/>
        </p:nvSpPr>
        <p:spPr>
          <a:xfrm>
            <a:off x="5305529" y="5283586"/>
            <a:ext cx="24978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solidFill>
                  <a:srgbClr val="0070C0"/>
                </a:solidFill>
                <a:latin typeface="Calisto MT" panose="02040603050505030304" pitchFamily="18" charset="0"/>
              </a:rPr>
              <a:t>Means head == NULL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D62F496-1F8B-F247-678E-E52A1B7A0D86}"/>
              </a:ext>
            </a:extLst>
          </p:cNvPr>
          <p:cNvSpPr txBox="1"/>
          <p:nvPr/>
        </p:nvSpPr>
        <p:spPr>
          <a:xfrm>
            <a:off x="6554429" y="3210508"/>
            <a:ext cx="214994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Calisto MT" panose="02040603050505030304" pitchFamily="18" charset="0"/>
              </a:rPr>
              <a:t>if(head == NULL){</a:t>
            </a:r>
          </a:p>
          <a:p>
            <a:endParaRPr lang="en-US" sz="1800" dirty="0">
              <a:solidFill>
                <a:schemeClr val="tx1"/>
              </a:solidFill>
              <a:latin typeface="Calisto MT" panose="02040603050505030304" pitchFamily="18" charset="0"/>
            </a:endParaRPr>
          </a:p>
          <a:p>
            <a:r>
              <a:rPr lang="en-US" sz="1800" dirty="0">
                <a:solidFill>
                  <a:schemeClr val="tx1"/>
                </a:solidFill>
                <a:latin typeface="Calisto MT" panose="02040603050505030304" pitchFamily="18" charset="0"/>
              </a:rPr>
              <a:t>}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C2B0265-6AB3-2F6D-13EC-C050A2E55CD6}"/>
              </a:ext>
            </a:extLst>
          </p:cNvPr>
          <p:cNvSpPr txBox="1"/>
          <p:nvPr/>
        </p:nvSpPr>
        <p:spPr>
          <a:xfrm>
            <a:off x="1020634" y="5676089"/>
            <a:ext cx="45929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solidFill>
                  <a:srgbClr val="0070C0"/>
                </a:solidFill>
                <a:latin typeface="Calisto MT" panose="02040603050505030304" pitchFamily="18" charset="0"/>
              </a:rPr>
              <a:t>The tail pointer need to be shifted manually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B728C3B-54DA-EB42-595F-19CC6DADA158}"/>
              </a:ext>
            </a:extLst>
          </p:cNvPr>
          <p:cNvSpPr txBox="1"/>
          <p:nvPr/>
        </p:nvSpPr>
        <p:spPr>
          <a:xfrm>
            <a:off x="6823777" y="3466319"/>
            <a:ext cx="1301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Calisto MT" panose="02040603050505030304" pitchFamily="18" charset="0"/>
              </a:rPr>
              <a:t>tail = head;</a:t>
            </a:r>
          </a:p>
        </p:txBody>
      </p:sp>
    </p:spTree>
    <p:extLst>
      <p:ext uri="{BB962C8B-B14F-4D97-AF65-F5344CB8AC3E}">
        <p14:creationId xmlns:p14="http://schemas.microsoft.com/office/powerpoint/2010/main" val="2555456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-3.33333E-6 L -0.11549 -0.00833 " pathEditMode="relative" rAng="0" ptsTypes="AA">
                                      <p:cBhvr>
                                        <p:cTn id="49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781" y="-4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1.11111E-6 L -0.22669 -0.00718 " pathEditMode="relative" rAng="0" ptsTypes="AA">
                                      <p:cBhvr>
                                        <p:cTn id="83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341" y="-3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/>
      <p:bldP spid="78" grpId="0"/>
      <p:bldP spid="79" grpId="0"/>
      <p:bldP spid="80" grpId="0"/>
      <p:bldP spid="81" grpId="0"/>
      <p:bldP spid="82" grpId="0"/>
      <p:bldP spid="8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1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n-US"/>
              <a:t>Thank you!</a:t>
            </a:r>
            <a:endParaRPr/>
          </a:p>
        </p:txBody>
      </p:sp>
      <p:sp>
        <p:nvSpPr>
          <p:cNvPr id="627" name="Google Shape;627;p1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lang="en-US"/>
              <a:t>Any 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wapnil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7529</TotalTime>
  <Words>2309</Words>
  <Application>Microsoft Office PowerPoint</Application>
  <PresentationFormat>Widescreen</PresentationFormat>
  <Paragraphs>503</Paragraphs>
  <Slides>29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Calibri</vt:lpstr>
      <vt:lpstr>Calisto MT</vt:lpstr>
      <vt:lpstr>Wingdings</vt:lpstr>
      <vt:lpstr>Arial</vt:lpstr>
      <vt:lpstr>Times New Roman</vt:lpstr>
      <vt:lpstr>Lustria</vt:lpstr>
      <vt:lpstr>Swapnil2</vt:lpstr>
      <vt:lpstr>SINGLY  LINKED  LIST</vt:lpstr>
      <vt:lpstr>Variables</vt:lpstr>
      <vt:lpstr>Pointers</vt:lpstr>
      <vt:lpstr>Pointers</vt:lpstr>
      <vt:lpstr>POINTERS</vt:lpstr>
      <vt:lpstr>Variable Equality</vt:lpstr>
      <vt:lpstr>Variable Equality</vt:lpstr>
      <vt:lpstr>Pointer Equality</vt:lpstr>
      <vt:lpstr>Pointer Swapping</vt:lpstr>
      <vt:lpstr>Example</vt:lpstr>
      <vt:lpstr>Structure</vt:lpstr>
      <vt:lpstr>Accessing Structure Elements</vt:lpstr>
      <vt:lpstr>Pointer of Structure</vt:lpstr>
      <vt:lpstr>Pointer Inside Structure</vt:lpstr>
      <vt:lpstr>Array vs Linked List</vt:lpstr>
      <vt:lpstr>Inside a Linked List</vt:lpstr>
      <vt:lpstr>Singly Linked List</vt:lpstr>
      <vt:lpstr>Growth of Singly Linked List</vt:lpstr>
      <vt:lpstr>Growth of Singly Linked List</vt:lpstr>
      <vt:lpstr>Growth of Singly Linked List</vt:lpstr>
      <vt:lpstr>Growth of Singly Linked List</vt:lpstr>
      <vt:lpstr>Basic Operations of Singly Linked List</vt:lpstr>
      <vt:lpstr>Insert at First (Insert on head)</vt:lpstr>
      <vt:lpstr>Insert at First (Insert on head)</vt:lpstr>
      <vt:lpstr>Insert at First (Insert on head)</vt:lpstr>
      <vt:lpstr>Insert at First (Insert on head)</vt:lpstr>
      <vt:lpstr>Insert at First (Insert on head)</vt:lpstr>
      <vt:lpstr>Insert at First (Insert on head)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PRIME  GENERATOR</dc:title>
  <cp:lastModifiedBy>User</cp:lastModifiedBy>
  <cp:revision>212</cp:revision>
  <dcterms:modified xsi:type="dcterms:W3CDTF">2024-03-06T08:14:18Z</dcterms:modified>
</cp:coreProperties>
</file>