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4" r:id="rId3"/>
    <p:sldId id="257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75" r:id="rId12"/>
    <p:sldId id="283" r:id="rId13"/>
    <p:sldId id="288" r:id="rId14"/>
    <p:sldId id="290" r:id="rId15"/>
    <p:sldId id="291" r:id="rId16"/>
    <p:sldId id="289" r:id="rId17"/>
    <p:sldId id="269" r:id="rId18"/>
    <p:sldId id="270" r:id="rId19"/>
    <p:sldId id="271" r:id="rId20"/>
    <p:sldId id="272" r:id="rId21"/>
    <p:sldId id="273" r:id="rId22"/>
    <p:sldId id="274" r:id="rId23"/>
    <p:sldId id="286" r:id="rId24"/>
    <p:sldId id="287" r:id="rId25"/>
    <p:sldId id="292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5FA10-1901-43ED-BD5F-50AC87D11D9E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41EA6-D893-4770-BD50-77DC606875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1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41EA6-D893-4770-BD50-77DC6068755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98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6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3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2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6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8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0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69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7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9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57E9E-28A4-43C1-94A8-2D2EF03A034C}" type="datetimeFigureOut">
              <a:rPr lang="en-US" smtClean="0"/>
              <a:pPr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B5D1D-1391-4DD0-B8BA-BB5A6DE442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6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Object Oriented Programming</a:t>
            </a:r>
            <a:endParaRPr lang="en-US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0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/>
              <a:t>Java Constructor</a:t>
            </a:r>
            <a:endParaRPr lang="en-US" sz="6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283" y="1690688"/>
            <a:ext cx="4572000" cy="4737408"/>
          </a:xfrm>
        </p:spPr>
      </p:pic>
    </p:spTree>
    <p:extLst>
      <p:ext uri="{BB962C8B-B14F-4D97-AF65-F5344CB8AC3E}">
        <p14:creationId xmlns:p14="http://schemas.microsoft.com/office/powerpoint/2010/main" val="51365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415" y="269591"/>
            <a:ext cx="10515600" cy="904117"/>
          </a:xfrm>
        </p:spPr>
        <p:txBody>
          <a:bodyPr/>
          <a:lstStyle/>
          <a:p>
            <a:r>
              <a:rPr lang="en-US" b="1" dirty="0" smtClean="0"/>
              <a:t>Constructor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244" y="1705970"/>
            <a:ext cx="10515600" cy="4825835"/>
          </a:xfrm>
        </p:spPr>
        <p:txBody>
          <a:bodyPr/>
          <a:lstStyle/>
          <a:p>
            <a:pPr algn="just"/>
            <a:r>
              <a:rPr lang="en-US" dirty="0"/>
              <a:t>A </a:t>
            </a:r>
            <a:r>
              <a:rPr lang="en-US" b="1" dirty="0"/>
              <a:t>constructor in Java</a:t>
            </a:r>
            <a:r>
              <a:rPr lang="en-US" dirty="0"/>
              <a:t> is a block of code similar to a method that's called when an instance of an object is created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Here are the key differences between a </a:t>
            </a:r>
            <a:r>
              <a:rPr lang="en-US" b="1" dirty="0"/>
              <a:t>constructor</a:t>
            </a:r>
            <a:r>
              <a:rPr lang="en-US" dirty="0"/>
              <a:t> and a method: A </a:t>
            </a:r>
            <a:r>
              <a:rPr lang="en-US" b="1" dirty="0" smtClean="0"/>
              <a:t>constructor </a:t>
            </a:r>
            <a:r>
              <a:rPr lang="en-US" dirty="0" smtClean="0"/>
              <a:t>doesn't </a:t>
            </a:r>
            <a:r>
              <a:rPr lang="en-US" dirty="0"/>
              <a:t>have a return type.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name of the </a:t>
            </a:r>
            <a:r>
              <a:rPr lang="en-US" b="1" dirty="0"/>
              <a:t>constructor</a:t>
            </a:r>
            <a:r>
              <a:rPr lang="en-US" dirty="0"/>
              <a:t> must be the same as the name of the class.</a:t>
            </a:r>
          </a:p>
        </p:txBody>
      </p:sp>
    </p:spTree>
    <p:extLst>
      <p:ext uri="{BB962C8B-B14F-4D97-AF65-F5344CB8AC3E}">
        <p14:creationId xmlns:p14="http://schemas.microsoft.com/office/powerpoint/2010/main" val="325451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Rules for creating java constructor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There are basically two rules defined for the constructor</a:t>
            </a:r>
            <a:r>
              <a:rPr lang="en-US" b="1" dirty="0" smtClean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r>
              <a:rPr lang="en-US" dirty="0"/>
              <a:t>Constructor name must be same as its class name</a:t>
            </a:r>
          </a:p>
          <a:p>
            <a:r>
              <a:rPr lang="en-US" dirty="0"/>
              <a:t>Constructor must have no explicit return </a:t>
            </a:r>
            <a:r>
              <a:rPr lang="en-US" dirty="0" smtClean="0"/>
              <a:t>type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The constructor gets called when we create an object of a class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40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823" y="327547"/>
            <a:ext cx="10515600" cy="10781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java constructors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823" y="153902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There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are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two types of constructors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pPr lvl="1"/>
            <a:r>
              <a:rPr lang="en-US" dirty="0"/>
              <a:t>Default constructor (no-</a:t>
            </a:r>
            <a:r>
              <a:rPr lang="en-US" dirty="0" err="1"/>
              <a:t>arg</a:t>
            </a:r>
            <a:r>
              <a:rPr lang="en-US" dirty="0"/>
              <a:t> constructor)</a:t>
            </a:r>
          </a:p>
          <a:p>
            <a:pPr lvl="1"/>
            <a:r>
              <a:rPr lang="en-US" dirty="0"/>
              <a:t>Parameterized </a:t>
            </a:r>
            <a:r>
              <a:rPr lang="en-US" dirty="0" smtClean="0"/>
              <a:t>constructor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907" y="3453168"/>
            <a:ext cx="6047806" cy="208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7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Default Constructor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 smtClean="0"/>
              <a:t>constructor </a:t>
            </a:r>
            <a:r>
              <a:rPr lang="en-US" dirty="0"/>
              <a:t>that have no parameter is known as default constructor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Syntax of default constructor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 smtClean="0"/>
              <a:t>	&lt;</a:t>
            </a:r>
            <a:r>
              <a:rPr lang="en-US" dirty="0"/>
              <a:t>class_name</a:t>
            </a:r>
            <a:r>
              <a:rPr lang="en-US" dirty="0" smtClean="0"/>
              <a:t>&gt;()</a:t>
            </a:r>
          </a:p>
          <a:p>
            <a:pPr marL="0" indent="0">
              <a:buNone/>
            </a:pPr>
            <a:r>
              <a:rPr lang="en-US" dirty="0" smtClean="0"/>
              <a:t>	{</a:t>
            </a:r>
          </a:p>
          <a:p>
            <a:pPr marL="0" indent="0">
              <a:buNone/>
            </a:pPr>
            <a:r>
              <a:rPr lang="en-US" dirty="0" smtClean="0"/>
              <a:t>		………….</a:t>
            </a:r>
          </a:p>
          <a:p>
            <a:pPr marL="0" indent="0">
              <a:buNone/>
            </a:pPr>
            <a:r>
              <a:rPr lang="en-US" dirty="0" smtClean="0"/>
              <a:t>	}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410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Example of default constructor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Bike1{  </a:t>
            </a:r>
          </a:p>
          <a:p>
            <a:pPr marL="0" indent="0">
              <a:buNone/>
            </a:pPr>
            <a:r>
              <a:rPr lang="en-US" dirty="0" smtClean="0"/>
              <a:t>   Bike1()  {</a:t>
            </a:r>
          </a:p>
          <a:p>
            <a:pPr marL="0" indent="0">
              <a:buNone/>
            </a:pPr>
            <a:r>
              <a:rPr lang="en-US" dirty="0" smtClean="0"/>
              <a:t>    System.out.println</a:t>
            </a:r>
            <a:r>
              <a:rPr lang="en-US" dirty="0"/>
              <a:t>("Bike is created</a:t>
            </a:r>
            <a:r>
              <a:rPr lang="en-US" dirty="0" smtClean="0"/>
              <a:t>");</a:t>
            </a:r>
          </a:p>
          <a:p>
            <a:pPr marL="0" indent="0">
              <a:buNone/>
            </a:pPr>
            <a:r>
              <a:rPr lang="en-US" dirty="0" smtClean="0"/>
              <a:t>               }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b="1" dirty="0" smtClean="0"/>
              <a:t>   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 smtClean="0"/>
              <a:t>[])  {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 smtClean="0"/>
              <a:t>       Bike1</a:t>
            </a:r>
            <a:r>
              <a:rPr lang="en-US" dirty="0"/>
              <a:t> b=</a:t>
            </a:r>
            <a:r>
              <a:rPr lang="en-US" b="1" dirty="0"/>
              <a:t>new</a:t>
            </a:r>
            <a:r>
              <a:rPr lang="en-US" dirty="0"/>
              <a:t> Bike1();  </a:t>
            </a:r>
          </a:p>
          <a:p>
            <a:pPr marL="0" indent="0">
              <a:buNone/>
            </a:pPr>
            <a:r>
              <a:rPr lang="en-US" dirty="0" smtClean="0"/>
              <a:t>              }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 smtClean="0"/>
              <a:t>        }</a:t>
            </a:r>
            <a:r>
              <a:rPr lang="en-US" dirty="0"/>
              <a:t> 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93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default constructor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70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i="1" dirty="0"/>
              <a:t>Rule: If there is no constructor in a class, compiler automatically creates a default constructor</a:t>
            </a:r>
            <a:r>
              <a:rPr lang="en-US" b="1" i="1" dirty="0" smtClean="0"/>
              <a:t>.</a:t>
            </a:r>
          </a:p>
          <a:p>
            <a:r>
              <a:rPr lang="en-US" dirty="0"/>
              <a:t>Default constructor provides the default values to the object like 0, null etc. depending on the type.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358" y="4019219"/>
            <a:ext cx="6141492" cy="246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5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</a:t>
            </a:r>
            <a:r>
              <a:rPr lang="en-US" dirty="0"/>
              <a:t>parameterized constructor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that have parameters is known as parameterized constructor</a:t>
            </a:r>
            <a:r>
              <a:rPr lang="en-US" dirty="0" smtClean="0"/>
              <a:t>.</a:t>
            </a:r>
          </a:p>
          <a:p>
            <a:r>
              <a:rPr lang="en-US" dirty="0"/>
              <a:t>Parameterized constructor is used to provide different values to the distinct </a:t>
            </a:r>
            <a:r>
              <a:rPr lang="en-US" dirty="0" smtClean="0"/>
              <a:t>objects.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12" y="4323922"/>
            <a:ext cx="9103057" cy="135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4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05" y="1501254"/>
            <a:ext cx="4505752" cy="496778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35" y="1501254"/>
            <a:ext cx="4648626" cy="496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4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25773" y="0"/>
            <a:ext cx="8229600" cy="11430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chemeClr val="accent6"/>
                </a:solidFill>
                <a:latin typeface="Times New Roman" pitchFamily="18" charset="0"/>
              </a:rPr>
              <a:t>Constructors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85912"/>
            <a:ext cx="10261979" cy="492407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800000"/>
                </a:solidFill>
                <a:latin typeface="Times New Roman" panose="02020603050405020304" pitchFamily="18" charset="0"/>
              </a:rPr>
              <a:t>A constructor initializes an object immediately upon creation.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800000"/>
                </a:solidFill>
                <a:latin typeface="Times New Roman" panose="02020603050405020304" pitchFamily="18" charset="0"/>
              </a:rPr>
              <a:t>It is similar to a method and has same name as the class in which it resides.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800000"/>
                </a:solidFill>
                <a:latin typeface="Times New Roman" panose="02020603050405020304" pitchFamily="18" charset="0"/>
              </a:rPr>
              <a:t>It has no return type not even void.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Once defined it is automatically called immediately after the object is created.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When there is no explicit constructor for a class, then java creates a default constructor for that class.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</a:rPr>
              <a:t>The default constructor automatically initializes all instance variables to 0.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9/5/2010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CD5F0B-0140-47D4-A766-B691509677A6}" type="slidenum">
              <a:rPr lang="en-US" altLang="en-US">
                <a:solidFill>
                  <a:srgbClr val="898989"/>
                </a:solidFill>
              </a:rPr>
              <a:pPr/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constructor and method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64" y="2572604"/>
            <a:ext cx="11177516" cy="428539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221" y="1351128"/>
            <a:ext cx="7997588" cy="133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2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Unified Modeling Language (UML)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336" y="2346130"/>
            <a:ext cx="10515600" cy="2760443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UML is for visualizing, specifying, constructing and documenting the components of software and non software systems. </a:t>
            </a:r>
          </a:p>
          <a:p>
            <a:pPr algn="just">
              <a:buNone/>
            </a:pPr>
            <a:r>
              <a:rPr lang="en-US" dirty="0" smtClean="0"/>
              <a:t>UML notations are the most important elements in modeling.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49" y="225083"/>
            <a:ext cx="10515600" cy="11535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 Notation: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982" y="911224"/>
            <a:ext cx="10515600" cy="5946776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UML </a:t>
            </a:r>
            <a:r>
              <a:rPr lang="en-US" i="1" dirty="0" smtClean="0"/>
              <a:t>class</a:t>
            </a:r>
            <a:r>
              <a:rPr lang="en-US" dirty="0" smtClean="0"/>
              <a:t> is represented by the diagram shown below. The diagram is divided into four parts.</a:t>
            </a:r>
          </a:p>
          <a:p>
            <a:r>
              <a:rPr lang="en-US" dirty="0" smtClean="0"/>
              <a:t>The top section is used to name the class.</a:t>
            </a:r>
          </a:p>
          <a:p>
            <a:r>
              <a:rPr lang="en-US" dirty="0" smtClean="0"/>
              <a:t>The second one is used to show the attributes of the class.</a:t>
            </a:r>
          </a:p>
          <a:p>
            <a:r>
              <a:rPr lang="en-US" dirty="0" smtClean="0"/>
              <a:t>The third section is used to describe the operations performed by the class.</a:t>
            </a:r>
          </a:p>
          <a:p>
            <a:r>
              <a:rPr lang="en-US" dirty="0" smtClean="0"/>
              <a:t>The fourth section is optional to show any additional components.</a:t>
            </a:r>
          </a:p>
          <a:p>
            <a:endParaRPr lang="en-US" dirty="0"/>
          </a:p>
        </p:txBody>
      </p:sp>
      <p:pic>
        <p:nvPicPr>
          <p:cNvPr id="4" name="Picture 3" descr="notation_c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613" y="4079631"/>
            <a:ext cx="7610622" cy="27783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Notation: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The </a:t>
            </a:r>
            <a:r>
              <a:rPr lang="en-US" i="1" dirty="0" smtClean="0"/>
              <a:t>object</a:t>
            </a:r>
            <a:r>
              <a:rPr lang="en-US" dirty="0" smtClean="0"/>
              <a:t> is represented in the same way as the class. The only difference is the </a:t>
            </a:r>
            <a:r>
              <a:rPr lang="en-US" i="1" dirty="0" smtClean="0"/>
              <a:t>name</a:t>
            </a:r>
            <a:r>
              <a:rPr lang="en-US" dirty="0" smtClean="0"/>
              <a:t> which is underlined as shown below.</a:t>
            </a:r>
            <a:endParaRPr lang="en-US" dirty="0"/>
          </a:p>
        </p:txBody>
      </p:sp>
      <p:pic>
        <p:nvPicPr>
          <p:cNvPr id="4" name="Picture 3" descr="notation_obj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600" y="2984915"/>
            <a:ext cx="3647563" cy="34580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02" y="252584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UML(Structural Things)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1291053"/>
            <a:ext cx="10515600" cy="53488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Graphical notations used in structural things are the most widely used in UML. These are considered as the nouns of UML models. Following are the list of structural things.</a:t>
            </a:r>
          </a:p>
          <a:p>
            <a:r>
              <a:rPr lang="en-US" dirty="0" smtClean="0"/>
              <a:t>Classes</a:t>
            </a:r>
          </a:p>
          <a:p>
            <a:r>
              <a:rPr lang="en-US" dirty="0" smtClean="0"/>
              <a:t>object</a:t>
            </a:r>
          </a:p>
          <a:p>
            <a:r>
              <a:rPr lang="en-US" dirty="0" smtClean="0"/>
              <a:t>Interface</a:t>
            </a:r>
          </a:p>
          <a:p>
            <a:r>
              <a:rPr lang="en-US" dirty="0" smtClean="0"/>
              <a:t>Collaboration</a:t>
            </a:r>
          </a:p>
          <a:p>
            <a:r>
              <a:rPr lang="en-US" dirty="0" smtClean="0"/>
              <a:t>Use case</a:t>
            </a:r>
          </a:p>
          <a:p>
            <a:r>
              <a:rPr lang="en-US" dirty="0" smtClean="0"/>
              <a:t>Active classes</a:t>
            </a:r>
          </a:p>
          <a:p>
            <a:r>
              <a:rPr lang="en-US" dirty="0" smtClean="0"/>
              <a:t>Components</a:t>
            </a:r>
          </a:p>
          <a:p>
            <a:r>
              <a:rPr lang="en-US" dirty="0" smtClean="0"/>
              <a:t>Nodes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731" y="411116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Basics of UML Class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346" y="1440977"/>
            <a:ext cx="10274490" cy="513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What is a UML class diagram? 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Imagine </a:t>
            </a:r>
            <a:r>
              <a:rPr lang="en-US" dirty="0">
                <a:solidFill>
                  <a:srgbClr val="FF0000"/>
                </a:solidFill>
              </a:rPr>
              <a:t>you were given the task of drawing a family tree</a:t>
            </a:r>
            <a:r>
              <a:rPr lang="en-US" dirty="0"/>
              <a:t>. The steps you would take would be: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Identify the main members of the family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Identify how they are related to each other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Find the characteristics of each family member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Determine relations among family members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Decide the inheritance of personal traits and characters</a:t>
            </a:r>
          </a:p>
          <a:p>
            <a:endParaRPr lang="sw-KE" dirty="0"/>
          </a:p>
        </p:txBody>
      </p:sp>
    </p:spTree>
    <p:extLst>
      <p:ext uri="{BB962C8B-B14F-4D97-AF65-F5344CB8AC3E}">
        <p14:creationId xmlns:p14="http://schemas.microsoft.com/office/powerpoint/2010/main" val="34913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492" y="1897039"/>
            <a:ext cx="10356376" cy="4960961"/>
          </a:xfrm>
        </p:spPr>
        <p:txBody>
          <a:bodyPr>
            <a:normAutofit/>
          </a:bodyPr>
          <a:lstStyle/>
          <a:p>
            <a:pPr algn="just"/>
            <a:r>
              <a:rPr lang="en-US" i="1" dirty="0" smtClean="0"/>
              <a:t>By </a:t>
            </a:r>
            <a:r>
              <a:rPr lang="en-US" i="1" dirty="0"/>
              <a:t>definition, a </a:t>
            </a:r>
            <a:r>
              <a:rPr lang="en-US" i="1" dirty="0">
                <a:solidFill>
                  <a:srgbClr val="FF0000"/>
                </a:solidFill>
              </a:rPr>
              <a:t>class diagram is a diagram showing a collection of classes and interfaces, along with the collaborations and relationships among classes and </a:t>
            </a:r>
            <a:r>
              <a:rPr lang="en-US" i="1" dirty="0" smtClean="0">
                <a:solidFill>
                  <a:srgbClr val="FF0000"/>
                </a:solidFill>
              </a:rPr>
              <a:t>interfaces</a:t>
            </a:r>
          </a:p>
          <a:p>
            <a:pPr algn="just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class diagram </a:t>
            </a:r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pictorial representation of the detailed system </a:t>
            </a:r>
            <a:r>
              <a:rPr lang="en-US" dirty="0" smtClean="0">
                <a:solidFill>
                  <a:srgbClr val="FF0000"/>
                </a:solidFill>
              </a:rPr>
              <a:t>design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20889" y="643127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Basics of UML Class Diagrams</a:t>
            </a:r>
          </a:p>
        </p:txBody>
      </p:sp>
    </p:spTree>
    <p:extLst>
      <p:ext uri="{BB962C8B-B14F-4D97-AF65-F5344CB8AC3E}">
        <p14:creationId xmlns:p14="http://schemas.microsoft.com/office/powerpoint/2010/main" val="143621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310" y="1569492"/>
            <a:ext cx="10956878" cy="51690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UML class diagram </a:t>
            </a:r>
            <a:r>
              <a:rPr lang="en-US" dirty="0"/>
              <a:t>is similar to a </a:t>
            </a:r>
            <a:r>
              <a:rPr lang="en-US" dirty="0">
                <a:solidFill>
                  <a:srgbClr val="FF0000"/>
                </a:solidFill>
              </a:rPr>
              <a:t>family tree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>
                <a:solidFill>
                  <a:srgbClr val="FF0000"/>
                </a:solidFill>
              </a:rPr>
              <a:t>class diagram </a:t>
            </a:r>
            <a:r>
              <a:rPr lang="en-US" dirty="0"/>
              <a:t>consists of a </a:t>
            </a:r>
            <a:r>
              <a:rPr lang="en-US" dirty="0">
                <a:solidFill>
                  <a:srgbClr val="FF0000"/>
                </a:solidFill>
              </a:rPr>
              <a:t>group of classes and interfaces reflecting important entities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relationships between </a:t>
            </a:r>
            <a:r>
              <a:rPr lang="en-US" dirty="0"/>
              <a:t>the classes are analogous to </a:t>
            </a:r>
            <a:r>
              <a:rPr lang="en-US" dirty="0">
                <a:solidFill>
                  <a:srgbClr val="FF0000"/>
                </a:solidFill>
              </a:rPr>
              <a:t>relationships between members in a family tree.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Interestingly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classes</a:t>
            </a:r>
            <a:r>
              <a:rPr lang="en-US" dirty="0"/>
              <a:t> in a class diagram are </a:t>
            </a:r>
            <a:r>
              <a:rPr lang="en-US" dirty="0">
                <a:solidFill>
                  <a:srgbClr val="FF0000"/>
                </a:solidFill>
              </a:rPr>
              <a:t>interconnected in a hierarchical </a:t>
            </a:r>
            <a:r>
              <a:rPr lang="en-US" dirty="0" smtClean="0">
                <a:solidFill>
                  <a:srgbClr val="FF0000"/>
                </a:solidFill>
              </a:rPr>
              <a:t>fashion</a:t>
            </a:r>
            <a:r>
              <a:rPr lang="en-US" dirty="0" smtClean="0"/>
              <a:t>.</a:t>
            </a:r>
            <a:endParaRPr lang="sw-K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2650" y="438411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Basics of UML Class Diagrams</a:t>
            </a:r>
          </a:p>
        </p:txBody>
      </p:sp>
    </p:spTree>
    <p:extLst>
      <p:ext uri="{BB962C8B-B14F-4D97-AF65-F5344CB8AC3E}">
        <p14:creationId xmlns:p14="http://schemas.microsoft.com/office/powerpoint/2010/main" val="159896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981" y="1651379"/>
            <a:ext cx="10793105" cy="4416188"/>
          </a:xfrm>
        </p:spPr>
        <p:txBody>
          <a:bodyPr/>
          <a:lstStyle/>
          <a:p>
            <a:r>
              <a:rPr lang="en-US" dirty="0"/>
              <a:t>When you designed the </a:t>
            </a:r>
            <a:r>
              <a:rPr lang="en-US" dirty="0">
                <a:solidFill>
                  <a:srgbClr val="FF0000"/>
                </a:solidFill>
              </a:rPr>
              <a:t>use cases</a:t>
            </a:r>
            <a:r>
              <a:rPr lang="en-US" dirty="0"/>
              <a:t>, you must have realized that the use cases talk about "</a:t>
            </a:r>
            <a:r>
              <a:rPr lang="en-US" dirty="0">
                <a:solidFill>
                  <a:srgbClr val="FF0000"/>
                </a:solidFill>
              </a:rPr>
              <a:t>what are the requirements</a:t>
            </a:r>
            <a:r>
              <a:rPr lang="en-US" dirty="0"/>
              <a:t>" of a system.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aim of designing </a:t>
            </a:r>
            <a:r>
              <a:rPr lang="en-US" dirty="0">
                <a:solidFill>
                  <a:srgbClr val="FF0000"/>
                </a:solidFill>
              </a:rPr>
              <a:t>classes</a:t>
            </a:r>
            <a:r>
              <a:rPr lang="en-US" dirty="0"/>
              <a:t> is to </a:t>
            </a:r>
            <a:r>
              <a:rPr lang="en-US" dirty="0">
                <a:solidFill>
                  <a:srgbClr val="FF0000"/>
                </a:solidFill>
              </a:rPr>
              <a:t>convert </a:t>
            </a:r>
            <a:r>
              <a:rPr lang="en-US" dirty="0"/>
              <a:t>this "</a:t>
            </a:r>
            <a:r>
              <a:rPr lang="en-US" dirty="0">
                <a:solidFill>
                  <a:srgbClr val="FF0000"/>
                </a:solidFill>
              </a:rPr>
              <a:t>what</a:t>
            </a:r>
            <a:r>
              <a:rPr lang="en-US" dirty="0"/>
              <a:t>" to a "</a:t>
            </a:r>
            <a:r>
              <a:rPr lang="en-US" dirty="0">
                <a:solidFill>
                  <a:srgbClr val="FF0000"/>
                </a:solidFill>
              </a:rPr>
              <a:t>how</a:t>
            </a:r>
            <a:r>
              <a:rPr lang="en-US" dirty="0"/>
              <a:t>" for each </a:t>
            </a:r>
            <a:r>
              <a:rPr lang="en-US" dirty="0" smtClean="0"/>
              <a:t>requirement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98310" y="350838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Basics of UML Class Diagrams</a:t>
            </a:r>
          </a:p>
        </p:txBody>
      </p:sp>
    </p:spTree>
    <p:extLst>
      <p:ext uri="{BB962C8B-B14F-4D97-AF65-F5344CB8AC3E}">
        <p14:creationId xmlns:p14="http://schemas.microsoft.com/office/powerpoint/2010/main" val="215032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w-K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w-KE"/>
          </a:p>
        </p:txBody>
      </p:sp>
      <p:pic>
        <p:nvPicPr>
          <p:cNvPr id="4" name="Picture 3"/>
          <p:cNvPicPr/>
          <p:nvPr/>
        </p:nvPicPr>
        <p:blipFill>
          <a:blip r:embed="rId2"/>
          <a:srcRect l="22149" t="19048" r="20661" b="12963"/>
          <a:stretch>
            <a:fillRect/>
          </a:stretch>
        </p:blipFill>
        <p:spPr bwMode="auto">
          <a:xfrm>
            <a:off x="814316" y="1"/>
            <a:ext cx="10563367" cy="6728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0956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w-K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w-KE"/>
          </a:p>
        </p:txBody>
      </p:sp>
      <p:pic>
        <p:nvPicPr>
          <p:cNvPr id="4" name="Picture 3"/>
          <p:cNvPicPr/>
          <p:nvPr/>
        </p:nvPicPr>
        <p:blipFill>
          <a:blip r:embed="rId2"/>
          <a:srcRect l="22645" t="17989" r="20661" b="12698"/>
          <a:stretch>
            <a:fillRect/>
          </a:stretch>
        </p:blipFill>
        <p:spPr bwMode="auto">
          <a:xfrm>
            <a:off x="655093" y="152400"/>
            <a:ext cx="10863617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245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UML Example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981" y="1925625"/>
            <a:ext cx="7942997" cy="4748129"/>
          </a:xfrm>
        </p:spPr>
      </p:pic>
    </p:spTree>
    <p:extLst>
      <p:ext uri="{BB962C8B-B14F-4D97-AF65-F5344CB8AC3E}">
        <p14:creationId xmlns:p14="http://schemas.microsoft.com/office/powerpoint/2010/main" val="115911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UML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307" y="1690688"/>
            <a:ext cx="8625386" cy="4775426"/>
          </a:xfrm>
        </p:spPr>
      </p:pic>
    </p:spTree>
    <p:extLst>
      <p:ext uri="{BB962C8B-B14F-4D97-AF65-F5344CB8AC3E}">
        <p14:creationId xmlns:p14="http://schemas.microsoft.com/office/powerpoint/2010/main" val="165797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 Program to check Greater between the Two Number</a:t>
            </a:r>
          </a:p>
          <a:p>
            <a:r>
              <a:rPr lang="en-US" dirty="0" smtClean="0"/>
              <a:t>Java Program to Reverse the Given Number</a:t>
            </a:r>
          </a:p>
          <a:p>
            <a:r>
              <a:rPr lang="en-US" dirty="0" smtClean="0"/>
              <a:t>Java Program to Print Number in the Given Data Type</a:t>
            </a:r>
          </a:p>
          <a:p>
            <a:r>
              <a:rPr lang="en-US" dirty="0" smtClean="0"/>
              <a:t>Program to find whether entered character is a vowel or Consonant</a:t>
            </a:r>
          </a:p>
          <a:p>
            <a:r>
              <a:rPr lang="en-US" dirty="0" smtClean="0"/>
              <a:t>Java Program to Calculate the Sum of Digits of Given Number</a:t>
            </a:r>
          </a:p>
          <a:p>
            <a:r>
              <a:rPr lang="en-US" dirty="0" smtClean="0"/>
              <a:t>To Find Whether Given Year is a Leap Year or not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/>
              <a:t>Thank You</a:t>
            </a:r>
            <a:endParaRPr lang="en-US" sz="6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575" y="1825625"/>
            <a:ext cx="4388849" cy="4351338"/>
          </a:xfrm>
        </p:spPr>
      </p:pic>
    </p:spTree>
    <p:extLst>
      <p:ext uri="{BB962C8B-B14F-4D97-AF65-F5344CB8AC3E}">
        <p14:creationId xmlns:p14="http://schemas.microsoft.com/office/powerpoint/2010/main" val="209612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865</Words>
  <Application>Microsoft Office PowerPoint</Application>
  <PresentationFormat>Widescreen</PresentationFormat>
  <Paragraphs>103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verdana</vt:lpstr>
      <vt:lpstr>Wingdings</vt:lpstr>
      <vt:lpstr>Office Theme</vt:lpstr>
      <vt:lpstr>Object Oriented Programming</vt:lpstr>
      <vt:lpstr>Java Constructor</vt:lpstr>
      <vt:lpstr>Constructor</vt:lpstr>
      <vt:lpstr>Rules for creating java constructor </vt:lpstr>
      <vt:lpstr>Types of java constructors </vt:lpstr>
      <vt:lpstr>Java Default Constructor </vt:lpstr>
      <vt:lpstr>Example of default constructor </vt:lpstr>
      <vt:lpstr>default constructor</vt:lpstr>
      <vt:lpstr>Java parameterized constructor </vt:lpstr>
      <vt:lpstr>Example</vt:lpstr>
      <vt:lpstr>Constructors</vt:lpstr>
      <vt:lpstr>Difference between constructor and method</vt:lpstr>
      <vt:lpstr>Unified Modeling Language (UML)</vt:lpstr>
      <vt:lpstr>Class Notation: </vt:lpstr>
      <vt:lpstr>Object Notation: </vt:lpstr>
      <vt:lpstr>UML(Structural Things)</vt:lpstr>
      <vt:lpstr>Basics of UML Class Diagrams</vt:lpstr>
      <vt:lpstr>Basics of UML Class Diagrams</vt:lpstr>
      <vt:lpstr>Basics of UML Class Diagrams</vt:lpstr>
      <vt:lpstr>Basics of UML Class Diagrams</vt:lpstr>
      <vt:lpstr>PowerPoint Presentation</vt:lpstr>
      <vt:lpstr>PowerPoint Presentation</vt:lpstr>
      <vt:lpstr>UML Example</vt:lpstr>
      <vt:lpstr>UML Example</vt:lpstr>
      <vt:lpstr>Assignment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Anup-PC</dc:creator>
  <cp:lastModifiedBy>Lenovo</cp:lastModifiedBy>
  <cp:revision>28</cp:revision>
  <dcterms:created xsi:type="dcterms:W3CDTF">2016-02-09T16:48:56Z</dcterms:created>
  <dcterms:modified xsi:type="dcterms:W3CDTF">2023-11-20T15:10:27Z</dcterms:modified>
</cp:coreProperties>
</file>