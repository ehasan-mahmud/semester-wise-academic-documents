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0" r:id="rId1"/>
  </p:sldMasterIdLst>
  <p:notesMasterIdLst>
    <p:notesMasterId r:id="rId13"/>
  </p:notesMasterIdLst>
  <p:sldIdLst>
    <p:sldId id="256" r:id="rId2"/>
    <p:sldId id="261" r:id="rId3"/>
    <p:sldId id="262" r:id="rId4"/>
    <p:sldId id="264" r:id="rId5"/>
    <p:sldId id="263" r:id="rId6"/>
    <p:sldId id="265" r:id="rId7"/>
    <p:sldId id="266" r:id="rId8"/>
    <p:sldId id="267" r:id="rId9"/>
    <p:sldId id="268" r:id="rId10"/>
    <p:sldId id="269" r:id="rId11"/>
    <p:sldId id="260" r:id="rId12"/>
  </p:sldIdLst>
  <p:sldSz cx="12192000" cy="6858000"/>
  <p:notesSz cx="6858000" cy="9144000"/>
  <p:embeddedFontLst>
    <p:embeddedFont>
      <p:font typeface="Calisto MT" panose="02040603050505030304" pitchFamily="18" charset="0"/>
      <p:regular r:id="rId14"/>
      <p:bold r:id="rId15"/>
      <p:italic r:id="rId16"/>
      <p:boldItalic r:id="rId17"/>
    </p:embeddedFont>
    <p:embeddedFont>
      <p:font typeface="Lustria" panose="020B0604020202020204" charset="0"/>
      <p:regular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83" autoAdjust="0"/>
    <p:restoredTop sz="94660"/>
  </p:normalViewPr>
  <p:slideViewPr>
    <p:cSldViewPr snapToGrid="0">
      <p:cViewPr varScale="1">
        <p:scale>
          <a:sx n="84" d="100"/>
          <a:sy n="84" d="100"/>
        </p:scale>
        <p:origin x="104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5B0E107A-E1BE-4FF4-267B-3C5CE8171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94087848-E317-FD4D-4EDF-C67D190F34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>
            <a:extLst>
              <a:ext uri="{FF2B5EF4-FFF2-40B4-BE49-F238E27FC236}">
                <a16:creationId xmlns:a16="http://schemas.microsoft.com/office/drawing/2014/main" id="{C591979D-985E-0D84-B2E7-3A6F085C84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836850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3B0586AA-24E9-9634-4381-18804DB50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4B10CED5-3FDD-606A-B643-9EE3AC579F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>
            <a:extLst>
              <a:ext uri="{FF2B5EF4-FFF2-40B4-BE49-F238E27FC236}">
                <a16:creationId xmlns:a16="http://schemas.microsoft.com/office/drawing/2014/main" id="{48FED9CA-D194-2A4C-A36F-D67508587E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100662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E24CA1CD-EA3E-EF98-21C6-E794FDA98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EF9D786A-C54D-FDF8-74AA-5DECDDBBA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>
            <a:extLst>
              <a:ext uri="{FF2B5EF4-FFF2-40B4-BE49-F238E27FC236}">
                <a16:creationId xmlns:a16="http://schemas.microsoft.com/office/drawing/2014/main" id="{9AF317FE-0B1F-DBBF-E644-56B1951813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688239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98945F1A-4438-3A5C-C01D-290E1FE91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02DD9336-9D19-8CF4-D2A9-0E2798826E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>
            <a:extLst>
              <a:ext uri="{FF2B5EF4-FFF2-40B4-BE49-F238E27FC236}">
                <a16:creationId xmlns:a16="http://schemas.microsoft.com/office/drawing/2014/main" id="{703A7911-52A9-A8B1-7E0A-A06749FDBC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56817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7DCB249A-3732-40E3-C6CC-66B846881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FF5C6C28-8020-1059-F59C-672E79B195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>
            <a:extLst>
              <a:ext uri="{FF2B5EF4-FFF2-40B4-BE49-F238E27FC236}">
                <a16:creationId xmlns:a16="http://schemas.microsoft.com/office/drawing/2014/main" id="{BE2B997E-9779-29D8-569C-8D83B5DAE4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195548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15F02821-35A8-8BE5-585A-C3309DA0A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ADF0CD48-4E50-B731-31D8-6277C48A89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>
            <a:extLst>
              <a:ext uri="{FF2B5EF4-FFF2-40B4-BE49-F238E27FC236}">
                <a16:creationId xmlns:a16="http://schemas.microsoft.com/office/drawing/2014/main" id="{3F0E3D61-056D-03AF-2F74-AA98F828DE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158112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68F87F65-1423-6BCF-BE33-5294AD019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3DCE5A93-313F-2C0D-0C5C-AEDAFBDC64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>
            <a:extLst>
              <a:ext uri="{FF2B5EF4-FFF2-40B4-BE49-F238E27FC236}">
                <a16:creationId xmlns:a16="http://schemas.microsoft.com/office/drawing/2014/main" id="{5A60D196-C5E7-08FF-3DF0-8EE9C1C636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864299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CDC6EFC7-E3F6-BAC9-3EDC-66F606CA5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B5245DF7-34D7-8901-9E4D-52913CFAAA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>
            <a:extLst>
              <a:ext uri="{FF2B5EF4-FFF2-40B4-BE49-F238E27FC236}">
                <a16:creationId xmlns:a16="http://schemas.microsoft.com/office/drawing/2014/main" id="{12661F8D-BC8F-3DA8-68EA-B49684DEBB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993432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6836DD5E-6F78-1D93-C111-DD3774B3E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7F1B22CC-81FD-2BC9-1990-0BD40DE353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>
            <a:extLst>
              <a:ext uri="{FF2B5EF4-FFF2-40B4-BE49-F238E27FC236}">
                <a16:creationId xmlns:a16="http://schemas.microsoft.com/office/drawing/2014/main" id="{A6EF5B0B-9709-3DA5-2D24-CCE5DF03E7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848312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2" name="Google Shape;62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3" name="Google Shape;623;p5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SWAPNIL  BISWAS, CSE, MIST</a:t>
            </a:r>
            <a:endParaRPr/>
          </a:p>
        </p:txBody>
      </p:sp>
      <p:sp>
        <p:nvSpPr>
          <p:cNvPr id="624" name="Google Shape;624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1">
                <a:solidFill>
                  <a:srgbClr val="FF0000"/>
                </a:solidFill>
                <a:latin typeface="Times New Roman" panose="02020603050405020304" pitchFamily="18" charset="0"/>
                <a:ea typeface="Adobe Gothic Std B" panose="020B0800000000000000" pitchFamily="34" charset="-128"/>
                <a:cs typeface="Times New Roman" panose="02020603050405020304" pitchFamily="18" charset="0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7" name="Google Shape;17;p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 b="1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CC3AD501-39F1-49E3-A536-4E871B87B8CE}" type="datetime4">
              <a:rPr lang="en-US" smtClean="0"/>
              <a:t>16 May, 2026</a:t>
            </a:fld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Prepared By: Swapnil Biswas</a:t>
            </a:r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1361B1-1C12-59F2-B8C7-B36C6D8353D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16261" y="1443038"/>
            <a:ext cx="1959478" cy="186248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1">
                <a:solidFill>
                  <a:srgbClr val="0070C0"/>
                </a:solidFill>
                <a:latin typeface="Times New Roman" panose="02020603050405020304" pitchFamily="18" charset="0"/>
                <a:ea typeface="Adobe Gothic Std B" panose="020B0800000000000000" pitchFamily="34" charset="-128"/>
                <a:cs typeface="Times New Roman" panose="02020603050405020304" pitchFamily="18" charset="0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Lustria"/>
                <a:ea typeface="Lustria"/>
                <a:cs typeface="Lustria"/>
                <a:sym typeface="Lustria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Lustria"/>
                <a:ea typeface="Lustria"/>
                <a:cs typeface="Lustria"/>
                <a:sym typeface="Lustria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Lustria"/>
                <a:ea typeface="Lustria"/>
                <a:cs typeface="Lustria"/>
                <a:sym typeface="Lustria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Lustria"/>
                <a:ea typeface="Lustria"/>
                <a:cs typeface="Lustria"/>
                <a:sym typeface="Lustria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Lustria"/>
                <a:ea typeface="Lustria"/>
                <a:cs typeface="Lustria"/>
                <a:sym typeface="Lustria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D20C195C-547D-4FB9-8272-D9E8FECEBCD6}" type="datetime4">
              <a:rPr lang="en-US" smtClean="0"/>
              <a:t>16 May, 2026</a:t>
            </a:fld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Prepared By: Swapnil Biswas</a:t>
            </a:r>
            <a:endParaRPr dirty="0"/>
          </a:p>
        </p:txBody>
      </p:sp>
      <p:sp>
        <p:nvSpPr>
          <p:cNvPr id="28" name="Google Shape;28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D504E0-38DB-54DA-EC1B-008FC72458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43177" y="447508"/>
            <a:ext cx="1221245" cy="116079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Lustria"/>
                <a:ea typeface="Lustria"/>
                <a:cs typeface="Lustria"/>
                <a:sym typeface="Lustr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7870993D-DE18-4064-A531-A4ED3671AF2E}" type="datetime4">
              <a:rPr lang="en-US" smtClean="0"/>
              <a:t>16 May, 2026</a:t>
            </a:fld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Lustria"/>
                <a:ea typeface="Lustria"/>
                <a:cs typeface="Lustria"/>
                <a:sym typeface="Lustr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Prepared By: Swapnil Biswas</a:t>
            </a:r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FD015886-6022-464E-8281-27ED02718944}" type="datetime4">
              <a:rPr lang="en-US" smtClean="0"/>
              <a:t>16 May, 2026</a:t>
            </a:fld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Prepared By: Swapnil Biswas</a:t>
            </a:r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17B793CD-1D9A-4B66-B8C0-1D9CEDBF5F29}" type="datetime4">
              <a:rPr lang="en-US" smtClean="0"/>
              <a:t>16 May, 2026</a:t>
            </a:fld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Prepared By: Swapnil Biswas</a:t>
            </a:r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A0B22EC1-6715-4795-B999-AC7ACF2D9ECA}" type="datetime4">
              <a:rPr lang="en-US" smtClean="0"/>
              <a:t>16 May, 2026</a:t>
            </a:fld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Prepared By: Swapnil Biswas</a:t>
            </a:r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7EA49BA1-BD24-40D7-B6F3-848E6F9A84FA}" type="datetime4">
              <a:rPr lang="en-US" smtClean="0"/>
              <a:t>16 May, 2026</a:t>
            </a:fld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Prepared By: Swapnil Biswas</a:t>
            </a:r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651B1D3A-EF7E-4325-9114-277DDC634B56}" type="datetime4">
              <a:rPr lang="en-US" smtClean="0"/>
              <a:t>16 May, 2026</a:t>
            </a:fld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Prepared By: Swapnil Biswas</a:t>
            </a:r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0D413C4C-7609-4793-9419-9C5526B78797}" type="datetime4">
              <a:rPr lang="en-US" smtClean="0"/>
              <a:t>16 May, 2026</a:t>
            </a:fld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Prepared By: Swapnil Biswas</a:t>
            </a:r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2707DEA5-EEFC-4CC5-B395-D46AB68786E1}" type="datetime4">
              <a:rPr lang="en-US" smtClean="0"/>
              <a:t>16 May, 2026</a:t>
            </a:fld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Prepared By: Swapnil Biswas</a:t>
            </a:r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1DF32F42-7832-42BC-B45A-1F2CA7CEABA6}" type="datetime4">
              <a:rPr lang="en-US" smtClean="0"/>
              <a:t>16 May, 2026</a:t>
            </a:fld>
            <a:endParaRPr/>
          </a:p>
        </p:txBody>
      </p:sp>
      <p:sp>
        <p:nvSpPr>
          <p:cNvPr id="84" name="Google Shape;84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Prepared By: Swapnil Biswas</a:t>
            </a:r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Lustria"/>
                <a:ea typeface="Lustria"/>
                <a:cs typeface="Lustria"/>
                <a:sym typeface="Lustr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D7991BC4-C4C7-4FC2-8991-F2F26411A103}" type="datetime4">
              <a:rPr lang="en-US" smtClean="0"/>
              <a:t>16 May, 2026</a:t>
            </a:fld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Lustria"/>
                <a:ea typeface="Lustria"/>
                <a:cs typeface="Lustria"/>
                <a:sym typeface="Lustr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Prepared By: Swapnil Biswas</a:t>
            </a:r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140A9F97-E34B-411C-9D8E-DBD65227E3C7}" type="datetime4">
              <a:rPr lang="en-US" smtClean="0"/>
              <a:t>16 May, 2026</a:t>
            </a:fld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Prepared By: Swapnil Biswas</a:t>
            </a:r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>
            <a:spLocks noGrp="1"/>
          </p:cNvSpPr>
          <p:nvPr>
            <p:ph type="title"/>
          </p:nvPr>
        </p:nvSpPr>
        <p:spPr>
          <a:xfrm>
            <a:off x="838200" y="1662873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Arial"/>
              <a:buNone/>
            </a:pPr>
            <a:r>
              <a:rPr lang="en-US" sz="7000" dirty="0">
                <a:solidFill>
                  <a:srgbClr val="0070C0"/>
                </a:solidFill>
              </a:rPr>
              <a:t>ANDROID STUDIO</a:t>
            </a:r>
            <a:endParaRPr sz="70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F490C287-5E91-6F17-EBF8-150998733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>
            <a:extLst>
              <a:ext uri="{FF2B5EF4-FFF2-40B4-BE49-F238E27FC236}">
                <a16:creationId xmlns:a16="http://schemas.microsoft.com/office/drawing/2014/main" id="{F4E35D7D-D389-0095-F0B1-6FA239C944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sz="4400" spc="-5" dirty="0">
                <a:latin typeface="Calisto MT" panose="02040603050505030304" pitchFamily="18" charset="0"/>
                <a:cs typeface="Times New Roman"/>
              </a:rPr>
              <a:t>Directory Structure</a:t>
            </a:r>
            <a:endParaRPr dirty="0">
              <a:latin typeface="Calisto MT" panose="02040603050505030304" pitchFamily="18" charset="0"/>
            </a:endParaRPr>
          </a:p>
        </p:txBody>
      </p:sp>
      <p:sp>
        <p:nvSpPr>
          <p:cNvPr id="101" name="Google Shape;101;p15">
            <a:extLst>
              <a:ext uri="{FF2B5EF4-FFF2-40B4-BE49-F238E27FC236}">
                <a16:creationId xmlns:a16="http://schemas.microsoft.com/office/drawing/2014/main" id="{18E7E09A-9018-2DCB-0303-77F8C712314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sto MT" panose="02040603050505030304" pitchFamily="18" charset="0"/>
              </a:rPr>
              <a:t>2</a:t>
            </a:fld>
            <a:endParaRPr>
              <a:latin typeface="Calisto MT" panose="0204060305050503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ABB2B9-C12F-B909-DFEB-5BBEC722F4C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A44EE58-5468-4324-AE94-FD835F03EDE4}" type="datetime4">
              <a:rPr lang="en-US" smtClean="0">
                <a:latin typeface="Calisto MT" panose="02040603050505030304" pitchFamily="18" charset="0"/>
              </a:rPr>
              <a:t>16 May, 2026</a:t>
            </a:fld>
            <a:endParaRPr lang="en-US">
              <a:latin typeface="Calisto MT" panose="0204060305050503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8712B8-D503-587C-AB05-C0B2DF1A93E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>
                <a:latin typeface="Calisto MT" panose="02040603050505030304" pitchFamily="18" charset="0"/>
              </a:rPr>
              <a:t>Prepared By: Swapnil Biswas</a:t>
            </a:r>
            <a:endParaRPr lang="en-US" dirty="0">
              <a:latin typeface="Calisto MT" panose="0204060305050503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103F21-97BA-8BF2-A29C-FB5EE9145B67}"/>
              </a:ext>
            </a:extLst>
          </p:cNvPr>
          <p:cNvSpPr txBox="1"/>
          <p:nvPr/>
        </p:nvSpPr>
        <p:spPr>
          <a:xfrm>
            <a:off x="931492" y="1502516"/>
            <a:ext cx="5734228" cy="12900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b="1" dirty="0">
                <a:latin typeface="Calisto MT" panose="02040603050505030304" pitchFamily="18" charset="0"/>
              </a:rPr>
              <a:t>2 types of views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800" dirty="0">
                <a:latin typeface="Calisto MT" panose="02040603050505030304" pitchFamily="18" charset="0"/>
              </a:rPr>
              <a:t>Android View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800" dirty="0">
                <a:latin typeface="Calisto MT" panose="02040603050505030304" pitchFamily="18" charset="0"/>
              </a:rPr>
              <a:t>Project View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968B0D-DBA9-3C37-7ED7-55EDC08D6AB2}"/>
              </a:ext>
            </a:extLst>
          </p:cNvPr>
          <p:cNvSpPr txBox="1"/>
          <p:nvPr/>
        </p:nvSpPr>
        <p:spPr>
          <a:xfrm>
            <a:off x="931491" y="2868793"/>
            <a:ext cx="9593073" cy="1705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b="1" dirty="0">
                <a:latin typeface="Calisto MT" panose="02040603050505030304" pitchFamily="18" charset="0"/>
              </a:rPr>
              <a:t>Android View (Default)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800" dirty="0">
                <a:latin typeface="Calisto MT" panose="02040603050505030304" pitchFamily="18" charset="0"/>
              </a:rPr>
              <a:t>Doesn't show the actual folder structure on the disk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800" dirty="0">
                <a:latin typeface="Calisto MT" panose="02040603050505030304" pitchFamily="18" charset="0"/>
              </a:rPr>
              <a:t>Groups files by their function to make development easier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800" dirty="0">
                <a:latin typeface="Calisto MT" panose="02040603050505030304" pitchFamily="18" charset="0"/>
              </a:rPr>
              <a:t>Hides unnecessary system files and build folders those rarely need to be touched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B415CAE-0E55-1271-5909-C5B0DD13A128}"/>
              </a:ext>
            </a:extLst>
          </p:cNvPr>
          <p:cNvSpPr txBox="1"/>
          <p:nvPr/>
        </p:nvSpPr>
        <p:spPr>
          <a:xfrm>
            <a:off x="838200" y="4612828"/>
            <a:ext cx="11353800" cy="1705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b="1" dirty="0">
                <a:latin typeface="Calisto MT" panose="02040603050505030304" pitchFamily="18" charset="0"/>
              </a:rPr>
              <a:t>Project View (Default)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800" dirty="0">
                <a:latin typeface="Calisto MT" panose="02040603050505030304" pitchFamily="18" charset="0"/>
              </a:rPr>
              <a:t>Shows the actual hierarchy of files and folders exactly as they are stored on the computer’s hard drive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800" dirty="0">
                <a:latin typeface="Calisto MT" panose="02040603050505030304" pitchFamily="18" charset="0"/>
              </a:rPr>
              <a:t>Required if it is needed to manually add assets, check library dependencies, or modify project-level configuration files that are hidden in Android View</a:t>
            </a:r>
          </a:p>
        </p:txBody>
      </p:sp>
    </p:spTree>
    <p:extLst>
      <p:ext uri="{BB962C8B-B14F-4D97-AF65-F5344CB8AC3E}">
        <p14:creationId xmlns:p14="http://schemas.microsoft.com/office/powerpoint/2010/main" val="3701912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4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FFB537E6-81BD-9295-0786-76471FF8C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>
            <a:extLst>
              <a:ext uri="{FF2B5EF4-FFF2-40B4-BE49-F238E27FC236}">
                <a16:creationId xmlns:a16="http://schemas.microsoft.com/office/drawing/2014/main" id="{7849D00B-36DD-0E8E-9DE9-0DDAEC5BB4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sz="4400" spc="-5" dirty="0">
                <a:latin typeface="Calisto MT" panose="02040603050505030304" pitchFamily="18" charset="0"/>
                <a:cs typeface="Times New Roman"/>
              </a:rPr>
              <a:t>Directory Structure</a:t>
            </a:r>
            <a:endParaRPr dirty="0">
              <a:latin typeface="Calisto MT" panose="02040603050505030304" pitchFamily="18" charset="0"/>
            </a:endParaRPr>
          </a:p>
        </p:txBody>
      </p:sp>
      <p:sp>
        <p:nvSpPr>
          <p:cNvPr id="101" name="Google Shape;101;p15">
            <a:extLst>
              <a:ext uri="{FF2B5EF4-FFF2-40B4-BE49-F238E27FC236}">
                <a16:creationId xmlns:a16="http://schemas.microsoft.com/office/drawing/2014/main" id="{DB524AA8-264C-B47E-AF40-118B4874779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sto MT" panose="02040603050505030304" pitchFamily="18" charset="0"/>
              </a:rPr>
              <a:t>3</a:t>
            </a:fld>
            <a:endParaRPr>
              <a:latin typeface="Calisto MT" panose="0204060305050503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135B5E-6419-5B8C-1C07-3101FA42ED0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A44EE58-5468-4324-AE94-FD835F03EDE4}" type="datetime4">
              <a:rPr lang="en-US" smtClean="0">
                <a:latin typeface="Calisto MT" panose="02040603050505030304" pitchFamily="18" charset="0"/>
              </a:rPr>
              <a:t>16 May, 2026</a:t>
            </a:fld>
            <a:endParaRPr lang="en-US">
              <a:latin typeface="Calisto MT" panose="0204060305050503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2CCD2A-7188-A735-BC69-6B239252A56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>
                <a:latin typeface="Calisto MT" panose="02040603050505030304" pitchFamily="18" charset="0"/>
              </a:rPr>
              <a:t>Prepared By: Swapnil Biswas</a:t>
            </a:r>
            <a:endParaRPr lang="en-US" dirty="0">
              <a:latin typeface="Calisto MT" panose="0204060305050503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DB96F3-156C-3324-94C8-07E1B633FA82}"/>
              </a:ext>
            </a:extLst>
          </p:cNvPr>
          <p:cNvSpPr txBox="1"/>
          <p:nvPr/>
        </p:nvSpPr>
        <p:spPr>
          <a:xfrm>
            <a:off x="931492" y="1502516"/>
            <a:ext cx="8158720" cy="2121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b="1" dirty="0">
                <a:latin typeface="Calisto MT" panose="02040603050505030304" pitchFamily="18" charset="0"/>
              </a:rPr>
              <a:t>The app module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800" dirty="0">
                <a:latin typeface="Calisto MT" panose="02040603050505030304" pitchFamily="18" charset="0"/>
              </a:rPr>
              <a:t>manifests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800" dirty="0">
                <a:latin typeface="Calisto MT" panose="02040603050505030304" pitchFamily="18" charset="0"/>
              </a:rPr>
              <a:t>Java (or </a:t>
            </a:r>
            <a:r>
              <a:rPr lang="en-US" sz="1800" dirty="0" err="1">
                <a:latin typeface="Calisto MT" panose="02040603050505030304" pitchFamily="18" charset="0"/>
              </a:rPr>
              <a:t>kotlin</a:t>
            </a:r>
            <a:r>
              <a:rPr lang="en-US" sz="1800" dirty="0">
                <a:latin typeface="Calisto MT" panose="02040603050505030304" pitchFamily="18" charset="0"/>
              </a:rPr>
              <a:t>)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800" dirty="0">
                <a:latin typeface="Calisto MT" panose="02040603050505030304" pitchFamily="18" charset="0"/>
              </a:rPr>
              <a:t>Res (Resources)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Calisto MT" panose="02040603050505030304" pitchFamily="18" charset="0"/>
              </a:rPr>
              <a:t>Works as the heart of the project. Contains views, business logics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F79EC8-FFF4-3DAC-7013-E41B09A2352B}"/>
              </a:ext>
            </a:extLst>
          </p:cNvPr>
          <p:cNvSpPr txBox="1"/>
          <p:nvPr/>
        </p:nvSpPr>
        <p:spPr>
          <a:xfrm>
            <a:off x="931492" y="3929433"/>
            <a:ext cx="10422308" cy="1705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b="1" dirty="0">
                <a:latin typeface="Calisto MT" panose="02040603050505030304" pitchFamily="18" charset="0"/>
              </a:rPr>
              <a:t>Gradle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800" dirty="0" err="1">
                <a:latin typeface="Calisto MT" panose="02040603050505030304" pitchFamily="18" charset="0"/>
              </a:rPr>
              <a:t>Build.gradle</a:t>
            </a:r>
            <a:r>
              <a:rPr lang="en-US" sz="1800" dirty="0">
                <a:latin typeface="Calisto MT" panose="02040603050505030304" pitchFamily="18" charset="0"/>
              </a:rPr>
              <a:t> (Project Level)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800" dirty="0" err="1">
                <a:latin typeface="Calisto MT" panose="02040603050505030304" pitchFamily="18" charset="0"/>
              </a:rPr>
              <a:t>Build.gradle</a:t>
            </a:r>
            <a:r>
              <a:rPr lang="en-US" sz="1800" dirty="0">
                <a:latin typeface="Calisto MT" panose="02040603050505030304" pitchFamily="18" charset="0"/>
              </a:rPr>
              <a:t> (App Level)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Calisto MT" panose="02040603050505030304" pitchFamily="18" charset="0"/>
              </a:rPr>
              <a:t>It works as the instruction manual of the project like how to compile the code, which libraries to include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A22EDF-B713-4135-31F1-EA792F82FB0F}"/>
              </a:ext>
            </a:extLst>
          </p:cNvPr>
          <p:cNvSpPr txBox="1"/>
          <p:nvPr/>
        </p:nvSpPr>
        <p:spPr>
          <a:xfrm>
            <a:off x="6031908" y="1429078"/>
            <a:ext cx="42429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App Module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is the main part of an Android project from which the actual app is built and runs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9830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E84562BD-3C9A-76AA-A471-6798FD153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>
            <a:extLst>
              <a:ext uri="{FF2B5EF4-FFF2-40B4-BE49-F238E27FC236}">
                <a16:creationId xmlns:a16="http://schemas.microsoft.com/office/drawing/2014/main" id="{61BDD7AF-6DF9-C947-F14D-6FF763E63D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sz="4400" spc="-5" dirty="0">
                <a:latin typeface="Calisto MT" panose="02040603050505030304" pitchFamily="18" charset="0"/>
                <a:cs typeface="Times New Roman"/>
              </a:rPr>
              <a:t>Directory Structure</a:t>
            </a:r>
            <a:endParaRPr dirty="0">
              <a:latin typeface="Calisto MT" panose="02040603050505030304" pitchFamily="18" charset="0"/>
            </a:endParaRPr>
          </a:p>
        </p:txBody>
      </p:sp>
      <p:sp>
        <p:nvSpPr>
          <p:cNvPr id="101" name="Google Shape;101;p15">
            <a:extLst>
              <a:ext uri="{FF2B5EF4-FFF2-40B4-BE49-F238E27FC236}">
                <a16:creationId xmlns:a16="http://schemas.microsoft.com/office/drawing/2014/main" id="{BF4BFBAF-D124-F67F-6874-A09E421CC1F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sto MT" panose="02040603050505030304" pitchFamily="18" charset="0"/>
              </a:rPr>
              <a:t>4</a:t>
            </a:fld>
            <a:endParaRPr>
              <a:latin typeface="Calisto MT" panose="0204060305050503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42C7B7-2557-BBFC-1245-113E2A80CE9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A44EE58-5468-4324-AE94-FD835F03EDE4}" type="datetime4">
              <a:rPr lang="en-US" smtClean="0">
                <a:latin typeface="Calisto MT" panose="02040603050505030304" pitchFamily="18" charset="0"/>
              </a:rPr>
              <a:t>16 May, 2026</a:t>
            </a:fld>
            <a:endParaRPr lang="en-US">
              <a:latin typeface="Calisto MT" panose="0204060305050503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FE3F39-AA36-122A-D87F-FD8AFD58A6C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>
                <a:latin typeface="Calisto MT" panose="02040603050505030304" pitchFamily="18" charset="0"/>
              </a:rPr>
              <a:t>Prepared By: Swapnil Biswas</a:t>
            </a:r>
            <a:endParaRPr lang="en-US" dirty="0">
              <a:latin typeface="Calisto MT" panose="0204060305050503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F59C3F-5B90-E1C8-C4F8-41F1EE5292B7}"/>
              </a:ext>
            </a:extLst>
          </p:cNvPr>
          <p:cNvSpPr txBox="1"/>
          <p:nvPr/>
        </p:nvSpPr>
        <p:spPr>
          <a:xfrm>
            <a:off x="931492" y="1502516"/>
            <a:ext cx="8158720" cy="1705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b="1" dirty="0">
                <a:latin typeface="Calisto MT" panose="02040603050505030304" pitchFamily="18" charset="0"/>
              </a:rPr>
              <a:t>Manifests (AndroidManifest.xml)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800" dirty="0">
                <a:latin typeface="Calisto MT" panose="02040603050505030304" pitchFamily="18" charset="0"/>
              </a:rPr>
              <a:t>Defines the app package name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800" dirty="0">
                <a:latin typeface="Calisto MT" panose="02040603050505030304" pitchFamily="18" charset="0"/>
              </a:rPr>
              <a:t>Activities, Services </a:t>
            </a:r>
            <a:r>
              <a:rPr lang="en-US" sz="1800" dirty="0" err="1">
                <a:latin typeface="Calisto MT" panose="02040603050505030304" pitchFamily="18" charset="0"/>
              </a:rPr>
              <a:t>etc</a:t>
            </a:r>
            <a:r>
              <a:rPr lang="en-US" sz="1800" dirty="0">
                <a:latin typeface="Calisto MT" panose="02040603050505030304" pitchFamily="18" charset="0"/>
              </a:rPr>
              <a:t> need to be registered here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800" dirty="0">
                <a:latin typeface="Calisto MT" panose="02040603050505030304" pitchFamily="18" charset="0"/>
              </a:rPr>
              <a:t>Handles permissions (Internet permission, Camera permission </a:t>
            </a:r>
            <a:r>
              <a:rPr lang="en-US" sz="1800" dirty="0" err="1">
                <a:latin typeface="Calisto MT" panose="02040603050505030304" pitchFamily="18" charset="0"/>
              </a:rPr>
              <a:t>etc</a:t>
            </a:r>
            <a:r>
              <a:rPr lang="en-US" sz="1800" dirty="0">
                <a:latin typeface="Calisto MT" panose="02040603050505030304" pitchFamily="18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6DA9A5-320B-BF5E-9C08-4A417F4610D7}"/>
              </a:ext>
            </a:extLst>
          </p:cNvPr>
          <p:cNvSpPr txBox="1"/>
          <p:nvPr/>
        </p:nvSpPr>
        <p:spPr>
          <a:xfrm>
            <a:off x="931492" y="3264838"/>
            <a:ext cx="10422308" cy="87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b="1" dirty="0">
                <a:latin typeface="Calisto MT" panose="02040603050505030304" pitchFamily="18" charset="0"/>
              </a:rPr>
              <a:t>Java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800" dirty="0">
                <a:latin typeface="Calisto MT" panose="02040603050505030304" pitchFamily="18" charset="0"/>
              </a:rPr>
              <a:t>Contains the Java classes, Activities, Adapters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CEC048-E793-B0AB-E022-138B0C975AB7}"/>
              </a:ext>
            </a:extLst>
          </p:cNvPr>
          <p:cNvSpPr txBox="1"/>
          <p:nvPr/>
        </p:nvSpPr>
        <p:spPr>
          <a:xfrm>
            <a:off x="931492" y="4187346"/>
            <a:ext cx="10422308" cy="2121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b="1" dirty="0">
                <a:latin typeface="Calisto MT" panose="02040603050505030304" pitchFamily="18" charset="0"/>
              </a:rPr>
              <a:t>res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800" dirty="0">
                <a:latin typeface="Calisto MT" panose="02040603050505030304" pitchFamily="18" charset="0"/>
              </a:rPr>
              <a:t>drawable: Stores the images, icons, vector graphics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800" dirty="0">
                <a:latin typeface="Calisto MT" panose="02040603050505030304" pitchFamily="18" charset="0"/>
              </a:rPr>
              <a:t>layout: Contains the XML files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800" dirty="0" err="1">
                <a:latin typeface="Calisto MT" panose="02040603050505030304" pitchFamily="18" charset="0"/>
              </a:rPr>
              <a:t>minmap</a:t>
            </a:r>
            <a:r>
              <a:rPr lang="en-US" sz="1800" dirty="0">
                <a:latin typeface="Calisto MT" panose="02040603050505030304" pitchFamily="18" charset="0"/>
              </a:rPr>
              <a:t>: Contains the launcher icons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800" dirty="0">
                <a:latin typeface="Calisto MT" panose="02040603050505030304" pitchFamily="18" charset="0"/>
              </a:rPr>
              <a:t>values: strings.xml, colors.xml, themes. xml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3EB038-9A7F-AF55-FC90-522E2BFA861F}"/>
              </a:ext>
            </a:extLst>
          </p:cNvPr>
          <p:cNvSpPr txBox="1"/>
          <p:nvPr/>
        </p:nvSpPr>
        <p:spPr>
          <a:xfrm>
            <a:off x="7779057" y="5065418"/>
            <a:ext cx="403194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Mipmap is a folder used to store app launcher icons in different sizes for different screen densities.</a:t>
            </a:r>
          </a:p>
          <a:p>
            <a:r>
              <a:rPr lang="en-US" sz="16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It ensures that the app icon looks clear and properly scaled on all devices.</a:t>
            </a:r>
          </a:p>
          <a:p>
            <a:endParaRPr lang="en-US" sz="1600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3E6AD9-E030-A768-D7B2-77B2994AF895}"/>
              </a:ext>
            </a:extLst>
          </p:cNvPr>
          <p:cNvSpPr txBox="1"/>
          <p:nvPr/>
        </p:nvSpPr>
        <p:spPr>
          <a:xfrm>
            <a:off x="7095745" y="1007752"/>
            <a:ext cx="3200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Manifests is a configuration file that contains essential information about the app.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D1014F-1A08-F632-9D6C-CA3CD4B15EC6}"/>
              </a:ext>
            </a:extLst>
          </p:cNvPr>
          <p:cNvSpPr txBox="1"/>
          <p:nvPr/>
        </p:nvSpPr>
        <p:spPr>
          <a:xfrm>
            <a:off x="7688030" y="2224734"/>
            <a:ext cx="40102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12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  <a:r>
              <a:rPr lang="en-US" sz="12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is an Android component that runs in the </a:t>
            </a:r>
            <a:r>
              <a:rPr lang="en-US" sz="12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  <a:r>
              <a:rPr lang="en-US" sz="12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to perform long-running tasks </a:t>
            </a:r>
            <a:r>
              <a:rPr lang="en-US" sz="12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without a user interface (UI)</a:t>
            </a:r>
            <a:r>
              <a:rPr lang="en-US" sz="12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B7040C-A582-B47E-088B-3589211F8325}"/>
              </a:ext>
            </a:extLst>
          </p:cNvPr>
          <p:cNvSpPr txBox="1"/>
          <p:nvPr/>
        </p:nvSpPr>
        <p:spPr>
          <a:xfrm>
            <a:off x="7779057" y="3825671"/>
            <a:ext cx="34686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Resources are the non-code files of an android application that are used to design the user interface and support the app.</a:t>
            </a:r>
          </a:p>
        </p:txBody>
      </p:sp>
    </p:spTree>
    <p:extLst>
      <p:ext uri="{BB962C8B-B14F-4D97-AF65-F5344CB8AC3E}">
        <p14:creationId xmlns:p14="http://schemas.microsoft.com/office/powerpoint/2010/main" val="1900005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CE398837-F1E4-15A6-189A-C5209527D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>
            <a:extLst>
              <a:ext uri="{FF2B5EF4-FFF2-40B4-BE49-F238E27FC236}">
                <a16:creationId xmlns:a16="http://schemas.microsoft.com/office/drawing/2014/main" id="{481198B0-2385-E5EF-6712-7C504643CF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sz="4400" spc="-5" dirty="0">
                <a:latin typeface="Calisto MT" panose="02040603050505030304" pitchFamily="18" charset="0"/>
                <a:cs typeface="Times New Roman"/>
              </a:rPr>
              <a:t>Activity</a:t>
            </a:r>
            <a:endParaRPr dirty="0">
              <a:latin typeface="Calisto MT" panose="02040603050505030304" pitchFamily="18" charset="0"/>
            </a:endParaRPr>
          </a:p>
        </p:txBody>
      </p:sp>
      <p:sp>
        <p:nvSpPr>
          <p:cNvPr id="101" name="Google Shape;101;p15">
            <a:extLst>
              <a:ext uri="{FF2B5EF4-FFF2-40B4-BE49-F238E27FC236}">
                <a16:creationId xmlns:a16="http://schemas.microsoft.com/office/drawing/2014/main" id="{EBE70B5F-3866-0772-7EF9-7413D0456C9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sto MT" panose="02040603050505030304" pitchFamily="18" charset="0"/>
              </a:rPr>
              <a:t>5</a:t>
            </a:fld>
            <a:endParaRPr>
              <a:latin typeface="Calisto MT" panose="0204060305050503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34F25C-E36A-05FF-5D89-786822E09AA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A44EE58-5468-4324-AE94-FD835F03EDE4}" type="datetime4">
              <a:rPr lang="en-US" smtClean="0">
                <a:latin typeface="Calisto MT" panose="02040603050505030304" pitchFamily="18" charset="0"/>
              </a:rPr>
              <a:t>16 May, 2026</a:t>
            </a:fld>
            <a:endParaRPr lang="en-US">
              <a:latin typeface="Calisto MT" panose="0204060305050503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E2035C-7511-6031-995D-EA786E33FC1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>
                <a:latin typeface="Calisto MT" panose="02040603050505030304" pitchFamily="18" charset="0"/>
              </a:rPr>
              <a:t>Prepared By: Swapnil Biswas</a:t>
            </a:r>
            <a:endParaRPr lang="en-US" dirty="0">
              <a:latin typeface="Calisto MT" panose="0204060305050503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223F4D-819B-DF92-1B11-1FF5E7A7409E}"/>
              </a:ext>
            </a:extLst>
          </p:cNvPr>
          <p:cNvSpPr txBox="1"/>
          <p:nvPr/>
        </p:nvSpPr>
        <p:spPr>
          <a:xfrm>
            <a:off x="931491" y="1502516"/>
            <a:ext cx="10104061" cy="12900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dirty="0">
                <a:latin typeface="Calisto MT" panose="02040603050505030304" pitchFamily="18" charset="0"/>
              </a:rPr>
              <a:t>Represents a single screen with a UI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dirty="0">
                <a:latin typeface="Calisto MT" panose="02040603050505030304" pitchFamily="18" charset="0"/>
              </a:rPr>
              <a:t>Entry point for user interaction in the app, receives user Interaction and process. </a:t>
            </a:r>
            <a:r>
              <a:rPr lang="en-US" sz="1200" dirty="0">
                <a:highlight>
                  <a:srgbClr val="FFFF00"/>
                </a:highlight>
                <a:latin typeface="Calisto MT" panose="02040603050505030304" pitchFamily="18" charset="0"/>
              </a:rPr>
              <a:t>Handles user Interaction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dirty="0">
                <a:latin typeface="Calisto MT" panose="02040603050505030304" pitchFamily="18" charset="0"/>
              </a:rPr>
              <a:t>Inherits from </a:t>
            </a:r>
            <a:r>
              <a:rPr lang="en-US" sz="1800" dirty="0" err="1">
                <a:latin typeface="Calisto MT" panose="02040603050505030304" pitchFamily="18" charset="0"/>
              </a:rPr>
              <a:t>AppCompatActivity</a:t>
            </a:r>
            <a:endParaRPr lang="en-US" sz="1800" dirty="0">
              <a:latin typeface="Calisto MT" panose="0204060305050503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0E2A54-F7E3-3A96-3647-49F1D6384D34}"/>
              </a:ext>
            </a:extLst>
          </p:cNvPr>
          <p:cNvSpPr txBox="1"/>
          <p:nvPr/>
        </p:nvSpPr>
        <p:spPr>
          <a:xfrm>
            <a:off x="931491" y="2792549"/>
            <a:ext cx="10515600" cy="37830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b="1" dirty="0" err="1">
                <a:latin typeface="Calisto MT" panose="02040603050505030304" pitchFamily="18" charset="0"/>
              </a:rPr>
              <a:t>AppCompatActivity</a:t>
            </a:r>
            <a:endParaRPr lang="en-US" sz="1800" b="1" dirty="0">
              <a:latin typeface="Calisto MT" panose="02040603050505030304" pitchFamily="18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800" dirty="0">
                <a:highlight>
                  <a:srgbClr val="C0C0C0"/>
                </a:highlight>
                <a:latin typeface="Calisto MT" panose="02040603050505030304" pitchFamily="18" charset="0"/>
              </a:rPr>
              <a:t>Allows to use modern UI features and components on older versions of the Android operating system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800" dirty="0">
                <a:latin typeface="Calisto MT" panose="02040603050505030304" pitchFamily="18" charset="0"/>
              </a:rPr>
              <a:t>public class MainActivity extends </a:t>
            </a:r>
            <a:r>
              <a:rPr lang="en-US" sz="1800" dirty="0" err="1">
                <a:latin typeface="Calisto MT" panose="02040603050505030304" pitchFamily="18" charset="0"/>
              </a:rPr>
              <a:t>AppCompatActivity</a:t>
            </a:r>
            <a:r>
              <a:rPr lang="en-US" sz="1800" dirty="0">
                <a:latin typeface="Calisto MT" panose="02040603050505030304" pitchFamily="18" charset="0"/>
              </a:rPr>
              <a:t> {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Calisto MT" panose="02040603050505030304" pitchFamily="18" charset="0"/>
              </a:rPr>
              <a:t>        @Override 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Calisto MT" panose="02040603050505030304" pitchFamily="18" charset="0"/>
              </a:rPr>
              <a:t>        protected void </a:t>
            </a:r>
            <a:r>
              <a:rPr lang="en-US" sz="1800" dirty="0" err="1">
                <a:latin typeface="Calisto MT" panose="02040603050505030304" pitchFamily="18" charset="0"/>
              </a:rPr>
              <a:t>onCreate</a:t>
            </a:r>
            <a:r>
              <a:rPr lang="en-US" sz="1800" dirty="0">
                <a:latin typeface="Calisto MT" panose="02040603050505030304" pitchFamily="18" charset="0"/>
              </a:rPr>
              <a:t>(Bundle </a:t>
            </a:r>
            <a:r>
              <a:rPr lang="en-US" sz="1800" dirty="0" err="1">
                <a:latin typeface="Calisto MT" panose="02040603050505030304" pitchFamily="18" charset="0"/>
              </a:rPr>
              <a:t>savedInstanceState</a:t>
            </a:r>
            <a:r>
              <a:rPr lang="en-US" sz="1800" dirty="0">
                <a:latin typeface="Calisto MT" panose="02040603050505030304" pitchFamily="18" charset="0"/>
              </a:rPr>
              <a:t>) { 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Calisto MT" panose="02040603050505030304" pitchFamily="18" charset="0"/>
              </a:rPr>
              <a:t>            </a:t>
            </a:r>
            <a:r>
              <a:rPr lang="en-US" sz="1800" dirty="0" err="1">
                <a:latin typeface="Calisto MT" panose="02040603050505030304" pitchFamily="18" charset="0"/>
              </a:rPr>
              <a:t>super.onCreate</a:t>
            </a:r>
            <a:r>
              <a:rPr lang="en-US" sz="1800" dirty="0">
                <a:latin typeface="Calisto MT" panose="02040603050505030304" pitchFamily="18" charset="0"/>
              </a:rPr>
              <a:t>(</a:t>
            </a:r>
            <a:r>
              <a:rPr lang="en-US" sz="1800" dirty="0" err="1">
                <a:latin typeface="Calisto MT" panose="02040603050505030304" pitchFamily="18" charset="0"/>
              </a:rPr>
              <a:t>savedInstanceState</a:t>
            </a:r>
            <a:r>
              <a:rPr lang="en-US" sz="1800" dirty="0">
                <a:latin typeface="Calisto MT" panose="02040603050505030304" pitchFamily="18" charset="0"/>
              </a:rPr>
              <a:t>);                                          </a:t>
            </a:r>
            <a:r>
              <a:rPr lang="en-US" sz="1000" dirty="0">
                <a:highlight>
                  <a:srgbClr val="FFFF00"/>
                </a:highlight>
                <a:latin typeface="Calisto MT" panose="02040603050505030304" pitchFamily="18" charset="0"/>
              </a:rPr>
              <a:t>//</a:t>
            </a:r>
            <a:r>
              <a:rPr lang="en-US" sz="1000" dirty="0">
                <a:highlight>
                  <a:srgbClr val="FFFF00"/>
                </a:highlight>
              </a:rPr>
              <a:t> Bundle </a:t>
            </a:r>
            <a:r>
              <a:rPr lang="en-US" sz="1000" dirty="0" err="1">
                <a:highlight>
                  <a:srgbClr val="FFFF00"/>
                </a:highlight>
              </a:rPr>
              <a:t>savedInstanceState</a:t>
            </a:r>
            <a:r>
              <a:rPr lang="en-US" sz="1000" dirty="0">
                <a:highlight>
                  <a:srgbClr val="FFFF00"/>
                </a:highlight>
              </a:rPr>
              <a:t> → stores previous state</a:t>
            </a:r>
            <a:endParaRPr lang="en-US" sz="1000" dirty="0">
              <a:highlight>
                <a:srgbClr val="FFFF00"/>
              </a:highlight>
              <a:latin typeface="Calisto MT" panose="0204060305050503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800" dirty="0">
                <a:latin typeface="Calisto MT" panose="02040603050505030304" pitchFamily="18" charset="0"/>
              </a:rPr>
              <a:t>            </a:t>
            </a:r>
            <a:r>
              <a:rPr lang="en-US" sz="1800" dirty="0" err="1">
                <a:latin typeface="Calisto MT" panose="02040603050505030304" pitchFamily="18" charset="0"/>
              </a:rPr>
              <a:t>setContentView</a:t>
            </a:r>
            <a:r>
              <a:rPr lang="en-US" sz="1800" dirty="0">
                <a:latin typeface="Calisto MT" panose="02040603050505030304" pitchFamily="18" charset="0"/>
              </a:rPr>
              <a:t>(</a:t>
            </a:r>
            <a:r>
              <a:rPr lang="en-US" sz="1800" dirty="0" err="1">
                <a:latin typeface="Calisto MT" panose="02040603050505030304" pitchFamily="18" charset="0"/>
              </a:rPr>
              <a:t>R.layout.activity_main</a:t>
            </a:r>
            <a:r>
              <a:rPr lang="en-US" sz="1800" dirty="0">
                <a:latin typeface="Calisto MT" panose="02040603050505030304" pitchFamily="18" charset="0"/>
              </a:rPr>
              <a:t>);                                             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Calisto MT" panose="02040603050505030304" pitchFamily="18" charset="0"/>
              </a:rPr>
              <a:t>        } 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Calisto MT" panose="02040603050505030304" pitchFamily="18" charset="0"/>
              </a:rPr>
              <a:t>    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18CA56-85D5-D17D-55C4-0C9020BF3524}"/>
              </a:ext>
            </a:extLst>
          </p:cNvPr>
          <p:cNvSpPr txBox="1"/>
          <p:nvPr/>
        </p:nvSpPr>
        <p:spPr>
          <a:xfrm>
            <a:off x="3212592" y="776471"/>
            <a:ext cx="421233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00FF00"/>
                </a:highlight>
              </a:rPr>
              <a:t>Is called controller. </a:t>
            </a:r>
            <a:r>
              <a:rPr lang="en-US" dirty="0">
                <a:highlight>
                  <a:srgbClr val="FFFF00"/>
                </a:highlight>
              </a:rPr>
              <a:t>It acts as a bridge between UI and Logic. Connects UI(XML) with application logic(java/Kotlin).</a:t>
            </a:r>
          </a:p>
        </p:txBody>
      </p:sp>
    </p:spTree>
    <p:extLst>
      <p:ext uri="{BB962C8B-B14F-4D97-AF65-F5344CB8AC3E}">
        <p14:creationId xmlns:p14="http://schemas.microsoft.com/office/powerpoint/2010/main" val="418922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9150B9C0-135C-8C31-5DBC-6DDA6D5F3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>
            <a:extLst>
              <a:ext uri="{FF2B5EF4-FFF2-40B4-BE49-F238E27FC236}">
                <a16:creationId xmlns:a16="http://schemas.microsoft.com/office/drawing/2014/main" id="{E427BE32-7141-38FA-3F6A-0B559E2246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sz="4400" spc="-5" dirty="0">
                <a:latin typeface="Calisto MT" panose="02040603050505030304" pitchFamily="18" charset="0"/>
                <a:cs typeface="Times New Roman"/>
              </a:rPr>
              <a:t>Activity</a:t>
            </a:r>
            <a:endParaRPr dirty="0">
              <a:latin typeface="Calisto MT" panose="02040603050505030304" pitchFamily="18" charset="0"/>
            </a:endParaRPr>
          </a:p>
        </p:txBody>
      </p:sp>
      <p:sp>
        <p:nvSpPr>
          <p:cNvPr id="101" name="Google Shape;101;p15">
            <a:extLst>
              <a:ext uri="{FF2B5EF4-FFF2-40B4-BE49-F238E27FC236}">
                <a16:creationId xmlns:a16="http://schemas.microsoft.com/office/drawing/2014/main" id="{198CBE9F-CD8E-B2D0-3F2B-743DB1167F1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sto MT" panose="02040603050505030304" pitchFamily="18" charset="0"/>
              </a:rPr>
              <a:t>6</a:t>
            </a:fld>
            <a:endParaRPr>
              <a:latin typeface="Calisto MT" panose="0204060305050503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5CAAB0-5836-A835-F15B-ACA7B0055E2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A44EE58-5468-4324-AE94-FD835F03EDE4}" type="datetime4">
              <a:rPr lang="en-US" smtClean="0">
                <a:latin typeface="Calisto MT" panose="02040603050505030304" pitchFamily="18" charset="0"/>
              </a:rPr>
              <a:t>16 May, 2026</a:t>
            </a:fld>
            <a:endParaRPr lang="en-US">
              <a:latin typeface="Calisto MT" panose="0204060305050503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45A2F8-7D9B-9297-751C-3B2D2B16372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>
                <a:latin typeface="Calisto MT" panose="02040603050505030304" pitchFamily="18" charset="0"/>
              </a:rPr>
              <a:t>Prepared By: Swapnil Biswas</a:t>
            </a:r>
            <a:endParaRPr lang="en-US" dirty="0">
              <a:latin typeface="Calisto MT" panose="0204060305050503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EB42E3-66CC-298F-A8DB-98C596D476A1}"/>
              </a:ext>
            </a:extLst>
          </p:cNvPr>
          <p:cNvSpPr txBox="1"/>
          <p:nvPr/>
        </p:nvSpPr>
        <p:spPr>
          <a:xfrm>
            <a:off x="931491" y="1502516"/>
            <a:ext cx="10104061" cy="12900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dirty="0">
                <a:latin typeface="Calisto MT" panose="02040603050505030304" pitchFamily="18" charset="0"/>
              </a:rPr>
              <a:t>Activity Switching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Calisto MT" panose="02040603050505030304" pitchFamily="18" charset="0"/>
              </a:rPr>
              <a:t>Intent </a:t>
            </a:r>
            <a:r>
              <a:rPr lang="en-US" sz="1800" dirty="0" err="1">
                <a:latin typeface="Calisto MT" panose="02040603050505030304" pitchFamily="18" charset="0"/>
              </a:rPr>
              <a:t>intent</a:t>
            </a:r>
            <a:r>
              <a:rPr lang="en-US" sz="1800" dirty="0">
                <a:latin typeface="Calisto MT" panose="02040603050505030304" pitchFamily="18" charset="0"/>
              </a:rPr>
              <a:t> = new Intent(this, </a:t>
            </a:r>
            <a:r>
              <a:rPr lang="en-US" sz="1800" dirty="0" err="1">
                <a:latin typeface="Calisto MT" panose="02040603050505030304" pitchFamily="18" charset="0"/>
              </a:rPr>
              <a:t>SecondActivity.class</a:t>
            </a:r>
            <a:r>
              <a:rPr lang="en-US" sz="1800" dirty="0">
                <a:latin typeface="Calisto MT" panose="02040603050505030304" pitchFamily="18" charset="0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en-US" sz="1800" dirty="0" err="1">
                <a:latin typeface="Calisto MT" panose="02040603050505030304" pitchFamily="18" charset="0"/>
              </a:rPr>
              <a:t>startActivity</a:t>
            </a:r>
            <a:r>
              <a:rPr lang="en-US" sz="1800" dirty="0">
                <a:latin typeface="Calisto MT" panose="02040603050505030304" pitchFamily="18" charset="0"/>
              </a:rPr>
              <a:t>(intent);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22855E-E758-9A96-3D22-104DAA794E18}"/>
              </a:ext>
            </a:extLst>
          </p:cNvPr>
          <p:cNvSpPr txBox="1"/>
          <p:nvPr/>
        </p:nvSpPr>
        <p:spPr>
          <a:xfrm>
            <a:off x="838200" y="2918939"/>
            <a:ext cx="11049000" cy="253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b="1" dirty="0">
                <a:latin typeface="Calisto MT" panose="02040603050505030304" pitchFamily="18" charset="0"/>
              </a:rPr>
              <a:t>Intent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800" dirty="0">
                <a:latin typeface="Calisto MT" panose="02040603050505030304" pitchFamily="18" charset="0"/>
              </a:rPr>
              <a:t>a messaging object you to request an action (like switching screens or opening the camera).</a:t>
            </a:r>
          </a:p>
          <a:p>
            <a:pPr>
              <a:lnSpc>
                <a:spcPct val="150000"/>
              </a:lnSpc>
            </a:pPr>
            <a:r>
              <a:rPr lang="en-US" sz="1800" u="sng" dirty="0">
                <a:latin typeface="Calisto MT" panose="02040603050505030304" pitchFamily="18" charset="0"/>
              </a:rPr>
              <a:t>Key Features of Intent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800" dirty="0">
                <a:latin typeface="Calisto MT" panose="02040603050505030304" pitchFamily="18" charset="0"/>
              </a:rPr>
              <a:t>Starting an Activity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800" dirty="0">
                <a:latin typeface="Calisto MT" panose="02040603050505030304" pitchFamily="18" charset="0"/>
              </a:rPr>
              <a:t>Starting a Service (Playing an audio)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800" dirty="0">
                <a:latin typeface="Calisto MT" panose="02040603050505030304" pitchFamily="18" charset="0"/>
              </a:rPr>
              <a:t>Passing data from one activity to another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3A88D0-4549-F1FA-93C3-716CF6595FA4}"/>
              </a:ext>
            </a:extLst>
          </p:cNvPr>
          <p:cNvSpPr txBox="1"/>
          <p:nvPr/>
        </p:nvSpPr>
        <p:spPr>
          <a:xfrm>
            <a:off x="7882128" y="4672584"/>
            <a:ext cx="41148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Intent is called a messaging object because it works like a message carrier between android components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DCF595-85BE-CD85-F167-C53BB12FD4EC}"/>
              </a:ext>
            </a:extLst>
          </p:cNvPr>
          <p:cNvSpPr txBox="1"/>
          <p:nvPr/>
        </p:nvSpPr>
        <p:spPr>
          <a:xfrm>
            <a:off x="8906257" y="2185416"/>
            <a:ext cx="3657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Intent is a messaging object used to communicate between Android components.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3561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A5F96C1E-66A5-65C9-6C0E-6D2500CA3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>
            <a:extLst>
              <a:ext uri="{FF2B5EF4-FFF2-40B4-BE49-F238E27FC236}">
                <a16:creationId xmlns:a16="http://schemas.microsoft.com/office/drawing/2014/main" id="{AA2174E4-6119-4DEA-EC57-9F6CFD96ED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sz="4400" spc="-5" dirty="0">
                <a:latin typeface="Calisto MT" panose="02040603050505030304" pitchFamily="18" charset="0"/>
                <a:cs typeface="Times New Roman"/>
              </a:rPr>
              <a:t>Activity </a:t>
            </a:r>
            <a:r>
              <a:rPr lang="en-US" sz="4400" spc="-5" dirty="0" err="1">
                <a:latin typeface="Calisto MT" panose="02040603050505030304" pitchFamily="18" charset="0"/>
                <a:cs typeface="Times New Roman"/>
              </a:rPr>
              <a:t>LifeCycle</a:t>
            </a:r>
            <a:endParaRPr dirty="0">
              <a:latin typeface="Calisto MT" panose="02040603050505030304" pitchFamily="18" charset="0"/>
            </a:endParaRPr>
          </a:p>
        </p:txBody>
      </p:sp>
      <p:sp>
        <p:nvSpPr>
          <p:cNvPr id="101" name="Google Shape;101;p15">
            <a:extLst>
              <a:ext uri="{FF2B5EF4-FFF2-40B4-BE49-F238E27FC236}">
                <a16:creationId xmlns:a16="http://schemas.microsoft.com/office/drawing/2014/main" id="{7D8163B2-448C-7D7D-19BD-038CE271264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sto MT" panose="02040603050505030304" pitchFamily="18" charset="0"/>
              </a:rPr>
              <a:t>7</a:t>
            </a:fld>
            <a:endParaRPr>
              <a:latin typeface="Calisto MT" panose="0204060305050503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9FEB03-3A14-7143-D278-379DEAA50FA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A44EE58-5468-4324-AE94-FD835F03EDE4}" type="datetime4">
              <a:rPr lang="en-US" smtClean="0">
                <a:latin typeface="Calisto MT" panose="02040603050505030304" pitchFamily="18" charset="0"/>
              </a:rPr>
              <a:t>16 May, 2026</a:t>
            </a:fld>
            <a:endParaRPr lang="en-US">
              <a:latin typeface="Calisto MT" panose="0204060305050503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940648-D4D8-2731-47DC-A9E24704785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>
                <a:latin typeface="Calisto MT" panose="02040603050505030304" pitchFamily="18" charset="0"/>
              </a:rPr>
              <a:t>Prepared By: Swapnil Biswas</a:t>
            </a:r>
            <a:endParaRPr lang="en-US" dirty="0">
              <a:latin typeface="Calisto MT" panose="0204060305050503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885366-DB70-40FF-2157-CD12D869A76F}"/>
              </a:ext>
            </a:extLst>
          </p:cNvPr>
          <p:cNvSpPr txBox="1"/>
          <p:nvPr/>
        </p:nvSpPr>
        <p:spPr>
          <a:xfrm>
            <a:off x="931491" y="1502516"/>
            <a:ext cx="10104061" cy="253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dirty="0" err="1">
                <a:latin typeface="Calisto MT" panose="02040603050505030304" pitchFamily="18" charset="0"/>
              </a:rPr>
              <a:t>onCreate</a:t>
            </a:r>
            <a:r>
              <a:rPr lang="en-US" sz="1800" dirty="0">
                <a:latin typeface="Calisto MT" panose="02040603050505030304" pitchFamily="18" charset="0"/>
              </a:rPr>
              <a:t>()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dirty="0" err="1">
                <a:latin typeface="Calisto MT" panose="02040603050505030304" pitchFamily="18" charset="0"/>
              </a:rPr>
              <a:t>onStart</a:t>
            </a:r>
            <a:r>
              <a:rPr lang="en-US" sz="1800" dirty="0">
                <a:latin typeface="Calisto MT" panose="02040603050505030304" pitchFamily="18" charset="0"/>
              </a:rPr>
              <a:t>()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dirty="0" err="1">
                <a:latin typeface="Calisto MT" panose="02040603050505030304" pitchFamily="18" charset="0"/>
              </a:rPr>
              <a:t>onResume</a:t>
            </a:r>
            <a:r>
              <a:rPr lang="en-US" sz="1800" dirty="0">
                <a:latin typeface="Calisto MT" panose="02040603050505030304" pitchFamily="18" charset="0"/>
              </a:rPr>
              <a:t>()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dirty="0" err="1">
                <a:latin typeface="Calisto MT" panose="02040603050505030304" pitchFamily="18" charset="0"/>
              </a:rPr>
              <a:t>onPause</a:t>
            </a:r>
            <a:r>
              <a:rPr lang="en-US" sz="1800" dirty="0">
                <a:latin typeface="Calisto MT" panose="02040603050505030304" pitchFamily="18" charset="0"/>
              </a:rPr>
              <a:t>()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dirty="0" err="1">
                <a:latin typeface="Calisto MT" panose="02040603050505030304" pitchFamily="18" charset="0"/>
              </a:rPr>
              <a:t>onStop</a:t>
            </a:r>
            <a:r>
              <a:rPr lang="en-US" sz="1800" dirty="0">
                <a:latin typeface="Calisto MT" panose="02040603050505030304" pitchFamily="18" charset="0"/>
              </a:rPr>
              <a:t>()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dirty="0" err="1">
                <a:latin typeface="Calisto MT" panose="02040603050505030304" pitchFamily="18" charset="0"/>
              </a:rPr>
              <a:t>onDestroy</a:t>
            </a:r>
            <a:r>
              <a:rPr lang="en-US" sz="1800" dirty="0">
                <a:latin typeface="Calisto MT" panose="02040603050505030304" pitchFamily="18" charset="0"/>
              </a:rPr>
              <a:t>()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1C508F-6631-AFA7-ECE3-9708C5320AE6}"/>
              </a:ext>
            </a:extLst>
          </p:cNvPr>
          <p:cNvSpPr txBox="1"/>
          <p:nvPr/>
        </p:nvSpPr>
        <p:spPr>
          <a:xfrm>
            <a:off x="5828973" y="2359152"/>
            <a:ext cx="3397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An activity goes through different states called lifecycle.</a:t>
            </a:r>
          </a:p>
        </p:txBody>
      </p:sp>
    </p:spTree>
    <p:extLst>
      <p:ext uri="{BB962C8B-B14F-4D97-AF65-F5344CB8AC3E}">
        <p14:creationId xmlns:p14="http://schemas.microsoft.com/office/powerpoint/2010/main" val="1895716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C801F2FE-2FFF-D5D2-5553-21F1CBDD1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>
            <a:extLst>
              <a:ext uri="{FF2B5EF4-FFF2-40B4-BE49-F238E27FC236}">
                <a16:creationId xmlns:a16="http://schemas.microsoft.com/office/drawing/2014/main" id="{E6909BC4-E685-3F78-DE07-C8730E4C70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spc="-5" dirty="0">
                <a:latin typeface="Calisto MT" panose="02040603050505030304" pitchFamily="18" charset="0"/>
                <a:cs typeface="Times New Roman"/>
              </a:rPr>
              <a:t>Activity </a:t>
            </a:r>
            <a:r>
              <a:rPr lang="en-US" spc="-5" dirty="0" err="1">
                <a:latin typeface="Calisto MT" panose="02040603050505030304" pitchFamily="18" charset="0"/>
                <a:cs typeface="Times New Roman"/>
              </a:rPr>
              <a:t>LifeCycle</a:t>
            </a:r>
            <a:endParaRPr dirty="0">
              <a:latin typeface="Calisto MT" panose="02040603050505030304" pitchFamily="18" charset="0"/>
            </a:endParaRPr>
          </a:p>
        </p:txBody>
      </p:sp>
      <p:sp>
        <p:nvSpPr>
          <p:cNvPr id="101" name="Google Shape;101;p15">
            <a:extLst>
              <a:ext uri="{FF2B5EF4-FFF2-40B4-BE49-F238E27FC236}">
                <a16:creationId xmlns:a16="http://schemas.microsoft.com/office/drawing/2014/main" id="{7586F7F0-9A4C-AD46-C949-4F0FA9B680F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sto MT" panose="02040603050505030304" pitchFamily="18" charset="0"/>
              </a:rPr>
              <a:t>8</a:t>
            </a:fld>
            <a:endParaRPr>
              <a:latin typeface="Calisto MT" panose="0204060305050503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CDF6E3-EDEE-95F2-5D9C-A7442649256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A44EE58-5468-4324-AE94-FD835F03EDE4}" type="datetime4">
              <a:rPr lang="en-US" smtClean="0">
                <a:latin typeface="Calisto MT" panose="02040603050505030304" pitchFamily="18" charset="0"/>
              </a:rPr>
              <a:t>16 May, 2026</a:t>
            </a:fld>
            <a:endParaRPr lang="en-US">
              <a:latin typeface="Calisto MT" panose="0204060305050503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44915B-E8A0-99BE-70DB-44437ED5030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>
                <a:latin typeface="Calisto MT" panose="02040603050505030304" pitchFamily="18" charset="0"/>
              </a:rPr>
              <a:t>Prepared By: Swapnil Biswas</a:t>
            </a:r>
            <a:endParaRPr lang="en-US" dirty="0">
              <a:latin typeface="Calisto MT" panose="0204060305050503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447E15-274A-B094-9360-61239FF330A3}"/>
              </a:ext>
            </a:extLst>
          </p:cNvPr>
          <p:cNvSpPr txBox="1"/>
          <p:nvPr/>
        </p:nvSpPr>
        <p:spPr>
          <a:xfrm>
            <a:off x="931492" y="1753527"/>
            <a:ext cx="8158720" cy="253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b="1" dirty="0" err="1">
                <a:latin typeface="Calisto MT" panose="02040603050505030304" pitchFamily="18" charset="0"/>
              </a:rPr>
              <a:t>onCreate</a:t>
            </a:r>
            <a:r>
              <a:rPr lang="en-US" sz="1800" b="1" dirty="0">
                <a:latin typeface="Calisto MT" panose="02040603050505030304" pitchFamily="18" charset="0"/>
              </a:rPr>
              <a:t>()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800" dirty="0">
                <a:latin typeface="Calisto MT" panose="02040603050505030304" pitchFamily="18" charset="0"/>
              </a:rPr>
              <a:t>Creating the activity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800" dirty="0">
                <a:latin typeface="Calisto MT" panose="02040603050505030304" pitchFamily="18" charset="0"/>
              </a:rPr>
              <a:t>Loading the XML using </a:t>
            </a:r>
            <a:r>
              <a:rPr lang="en-US" sz="1800" dirty="0" err="1">
                <a:latin typeface="Calisto MT" panose="02040603050505030304" pitchFamily="18" charset="0"/>
              </a:rPr>
              <a:t>setContentView</a:t>
            </a:r>
            <a:r>
              <a:rPr lang="en-US" sz="1800" dirty="0">
                <a:latin typeface="Calisto MT" panose="02040603050505030304" pitchFamily="18" charset="0"/>
              </a:rPr>
              <a:t>()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800" dirty="0">
                <a:latin typeface="Calisto MT" panose="02040603050505030304" pitchFamily="18" charset="0"/>
              </a:rPr>
              <a:t>View Binding using </a:t>
            </a:r>
            <a:r>
              <a:rPr lang="en-US" sz="1800" dirty="0" err="1">
                <a:latin typeface="Calisto MT" panose="02040603050505030304" pitchFamily="18" charset="0"/>
              </a:rPr>
              <a:t>findViewById</a:t>
            </a:r>
            <a:r>
              <a:rPr lang="en-US" sz="1800" dirty="0">
                <a:latin typeface="Calisto MT" panose="02040603050505030304" pitchFamily="18" charset="0"/>
              </a:rPr>
              <a:t>() (Connecting the UI elements)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800" dirty="0">
                <a:latin typeface="Calisto MT" panose="02040603050505030304" pitchFamily="18" charset="0"/>
              </a:rPr>
              <a:t>Initialize the database or view models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800" dirty="0">
                <a:latin typeface="Calisto MT" panose="02040603050505030304" pitchFamily="18" charset="0"/>
              </a:rPr>
              <a:t>Setting the buttons on click listeners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94BED3-957E-C269-F6B0-88E41AA1F8BA}"/>
              </a:ext>
            </a:extLst>
          </p:cNvPr>
          <p:cNvSpPr txBox="1"/>
          <p:nvPr/>
        </p:nvSpPr>
        <p:spPr>
          <a:xfrm>
            <a:off x="4038600" y="5650992"/>
            <a:ext cx="57567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 “Setting onclick listener” = telling the button </a:t>
            </a:r>
            <a:r>
              <a:rPr lang="en-US" b="1" dirty="0">
                <a:highlight>
                  <a:srgbClr val="FFFF00"/>
                </a:highlight>
              </a:rPr>
              <a:t>what to do when clicked</a:t>
            </a:r>
            <a:endParaRPr 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175929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FDCBE14F-7282-4A46-F0A1-6A9847D87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>
            <a:extLst>
              <a:ext uri="{FF2B5EF4-FFF2-40B4-BE49-F238E27FC236}">
                <a16:creationId xmlns:a16="http://schemas.microsoft.com/office/drawing/2014/main" id="{31645699-192A-75D1-10BC-AAD33E1EFD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spc="-5" dirty="0">
                <a:latin typeface="Calisto MT" panose="02040603050505030304" pitchFamily="18" charset="0"/>
                <a:cs typeface="Times New Roman"/>
              </a:rPr>
              <a:t>Activity </a:t>
            </a:r>
            <a:r>
              <a:rPr lang="en-US" spc="-5" dirty="0" err="1">
                <a:latin typeface="Calisto MT" panose="02040603050505030304" pitchFamily="18" charset="0"/>
                <a:cs typeface="Times New Roman"/>
              </a:rPr>
              <a:t>LifeCycle</a:t>
            </a:r>
            <a:endParaRPr dirty="0">
              <a:latin typeface="Calisto MT" panose="02040603050505030304" pitchFamily="18" charset="0"/>
            </a:endParaRPr>
          </a:p>
        </p:txBody>
      </p:sp>
      <p:sp>
        <p:nvSpPr>
          <p:cNvPr id="101" name="Google Shape;101;p15">
            <a:extLst>
              <a:ext uri="{FF2B5EF4-FFF2-40B4-BE49-F238E27FC236}">
                <a16:creationId xmlns:a16="http://schemas.microsoft.com/office/drawing/2014/main" id="{F38B2A2F-9E1C-2048-69A8-A2C0131E9F9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sto MT" panose="02040603050505030304" pitchFamily="18" charset="0"/>
              </a:rPr>
              <a:t>9</a:t>
            </a:fld>
            <a:endParaRPr>
              <a:latin typeface="Calisto MT" panose="0204060305050503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BC3E0B-4B6B-2442-2445-387882CF1B2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A44EE58-5468-4324-AE94-FD835F03EDE4}" type="datetime4">
              <a:rPr lang="en-US" smtClean="0">
                <a:latin typeface="Calisto MT" panose="02040603050505030304" pitchFamily="18" charset="0"/>
              </a:rPr>
              <a:t>16 May, 2026</a:t>
            </a:fld>
            <a:endParaRPr lang="en-US">
              <a:latin typeface="Calisto MT" panose="0204060305050503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AB8361-276E-7A43-E08D-2FFF81B6C32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>
                <a:latin typeface="Calisto MT" panose="02040603050505030304" pitchFamily="18" charset="0"/>
              </a:rPr>
              <a:t>Prepared By: Swapnil Biswas</a:t>
            </a:r>
            <a:endParaRPr lang="en-US" dirty="0">
              <a:latin typeface="Calisto MT" panose="0204060305050503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400C64-5791-E0D4-7E58-D39C5EF7BAA2}"/>
              </a:ext>
            </a:extLst>
          </p:cNvPr>
          <p:cNvSpPr txBox="1"/>
          <p:nvPr/>
        </p:nvSpPr>
        <p:spPr>
          <a:xfrm>
            <a:off x="931492" y="1753527"/>
            <a:ext cx="8158720" cy="12900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b="1" dirty="0" err="1">
                <a:latin typeface="Calisto MT" panose="02040603050505030304" pitchFamily="18" charset="0"/>
              </a:rPr>
              <a:t>onStart</a:t>
            </a:r>
            <a:r>
              <a:rPr lang="en-US" sz="1800" b="1" dirty="0">
                <a:latin typeface="Calisto MT" panose="02040603050505030304" pitchFamily="18" charset="0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Calisto MT" panose="02040603050505030304" pitchFamily="18" charset="0"/>
              </a:rPr>
              <a:t>When the activity is first loaded in the screen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800" dirty="0">
                <a:latin typeface="Calisto MT" panose="02040603050505030304" pitchFamily="18" charset="0"/>
              </a:rPr>
              <a:t>Playing some initial animations or music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5DE675-F4A2-6E2B-888A-492E0446614B}"/>
              </a:ext>
            </a:extLst>
          </p:cNvPr>
          <p:cNvSpPr txBox="1"/>
          <p:nvPr/>
        </p:nvSpPr>
        <p:spPr>
          <a:xfrm>
            <a:off x="838200" y="3409921"/>
            <a:ext cx="8158720" cy="2121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b="1" dirty="0" err="1">
                <a:latin typeface="Calisto MT" panose="02040603050505030304" pitchFamily="18" charset="0"/>
              </a:rPr>
              <a:t>onResume</a:t>
            </a:r>
            <a:r>
              <a:rPr lang="en-US" sz="1800" b="1" dirty="0">
                <a:latin typeface="Calisto MT" panose="02040603050505030304" pitchFamily="18" charset="0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Calisto MT" panose="02040603050505030304" pitchFamily="18" charset="0"/>
              </a:rPr>
              <a:t>When the activity is in foreground and user can interact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800" dirty="0">
                <a:latin typeface="Calisto MT" panose="02040603050505030304" pitchFamily="18" charset="0"/>
              </a:rPr>
              <a:t>Turning on the camera/microphone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800" dirty="0">
                <a:latin typeface="Calisto MT" panose="02040603050505030304" pitchFamily="18" charset="0"/>
              </a:rPr>
              <a:t>Reading the sensor data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800" dirty="0">
                <a:latin typeface="Calisto MT" panose="02040603050505030304" pitchFamily="18" charset="0"/>
              </a:rPr>
              <a:t>Realtime updating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FD6D8F-F9B6-85A2-9E35-C3265A3C6E7D}"/>
              </a:ext>
            </a:extLst>
          </p:cNvPr>
          <p:cNvSpPr txBox="1"/>
          <p:nvPr/>
        </p:nvSpPr>
        <p:spPr>
          <a:xfrm>
            <a:off x="6748272" y="2208310"/>
            <a:ext cx="29722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Activity becomes visible to the user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962C11-F6E0-7A3C-6D80-BCFDF183C2AA}"/>
              </a:ext>
            </a:extLst>
          </p:cNvPr>
          <p:cNvSpPr txBox="1"/>
          <p:nvPr/>
        </p:nvSpPr>
        <p:spPr>
          <a:xfrm>
            <a:off x="7598664" y="4114800"/>
            <a:ext cx="28520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User can interact with the activity.</a:t>
            </a:r>
          </a:p>
        </p:txBody>
      </p:sp>
    </p:spTree>
    <p:extLst>
      <p:ext uri="{BB962C8B-B14F-4D97-AF65-F5344CB8AC3E}">
        <p14:creationId xmlns:p14="http://schemas.microsoft.com/office/powerpoint/2010/main" val="46579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7977E03A-2FE8-E815-2520-B346D5B6A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>
            <a:extLst>
              <a:ext uri="{FF2B5EF4-FFF2-40B4-BE49-F238E27FC236}">
                <a16:creationId xmlns:a16="http://schemas.microsoft.com/office/drawing/2014/main" id="{FC034B38-3C7C-9601-D8C8-51F5C96293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spc="-5" dirty="0">
                <a:latin typeface="Calisto MT" panose="02040603050505030304" pitchFamily="18" charset="0"/>
                <a:cs typeface="Times New Roman"/>
              </a:rPr>
              <a:t>Activity </a:t>
            </a:r>
            <a:r>
              <a:rPr lang="en-US" spc="-5" dirty="0" err="1">
                <a:latin typeface="Calisto MT" panose="02040603050505030304" pitchFamily="18" charset="0"/>
                <a:cs typeface="Times New Roman"/>
              </a:rPr>
              <a:t>LifeCycle</a:t>
            </a:r>
            <a:endParaRPr dirty="0">
              <a:latin typeface="Calisto MT" panose="02040603050505030304" pitchFamily="18" charset="0"/>
            </a:endParaRPr>
          </a:p>
        </p:txBody>
      </p:sp>
      <p:sp>
        <p:nvSpPr>
          <p:cNvPr id="101" name="Google Shape;101;p15">
            <a:extLst>
              <a:ext uri="{FF2B5EF4-FFF2-40B4-BE49-F238E27FC236}">
                <a16:creationId xmlns:a16="http://schemas.microsoft.com/office/drawing/2014/main" id="{A2FFE8A7-2CBD-D1ED-8425-A299A08A600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Calisto MT" panose="02040603050505030304" pitchFamily="18" charset="0"/>
              </a:rPr>
              <a:t>10</a:t>
            </a:fld>
            <a:endParaRPr>
              <a:latin typeface="Calisto MT" panose="0204060305050503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876491-F2A9-E516-6F71-7667BF69492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A44EE58-5468-4324-AE94-FD835F03EDE4}" type="datetime4">
              <a:rPr lang="en-US" smtClean="0">
                <a:latin typeface="Calisto MT" panose="02040603050505030304" pitchFamily="18" charset="0"/>
              </a:rPr>
              <a:t>16 May, 2026</a:t>
            </a:fld>
            <a:endParaRPr lang="en-US">
              <a:latin typeface="Calisto MT" panose="0204060305050503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15F53A-41BC-A184-2FF0-9D91D18E05A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>
                <a:latin typeface="Calisto MT" panose="02040603050505030304" pitchFamily="18" charset="0"/>
              </a:rPr>
              <a:t>Prepared By: Swapnil Biswas</a:t>
            </a:r>
            <a:endParaRPr lang="en-US" dirty="0">
              <a:latin typeface="Calisto MT" panose="0204060305050503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212E9D-D134-0ADE-822A-0F418A761ECF}"/>
              </a:ext>
            </a:extLst>
          </p:cNvPr>
          <p:cNvSpPr txBox="1"/>
          <p:nvPr/>
        </p:nvSpPr>
        <p:spPr>
          <a:xfrm>
            <a:off x="838200" y="1511480"/>
            <a:ext cx="8158720" cy="1705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b="1" dirty="0" err="1">
                <a:latin typeface="Calisto MT" panose="02040603050505030304" pitchFamily="18" charset="0"/>
              </a:rPr>
              <a:t>onPause</a:t>
            </a:r>
            <a:r>
              <a:rPr lang="en-US" sz="1800" b="1" dirty="0">
                <a:latin typeface="Calisto MT" panose="02040603050505030304" pitchFamily="18" charset="0"/>
              </a:rPr>
              <a:t>()</a:t>
            </a:r>
            <a:endParaRPr lang="en-US" sz="1800" dirty="0">
              <a:latin typeface="Calisto MT" panose="0204060305050503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800" dirty="0">
                <a:latin typeface="Calisto MT" panose="02040603050505030304" pitchFamily="18" charset="0"/>
              </a:rPr>
              <a:t>When the app is run in a small window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800" dirty="0">
                <a:latin typeface="Calisto MT" panose="02040603050505030304" pitchFamily="18" charset="0"/>
              </a:rPr>
              <a:t>Stopping the unnecessary processes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800" dirty="0">
                <a:latin typeface="Calisto MT" panose="02040603050505030304" pitchFamily="18" charset="0"/>
              </a:rPr>
              <a:t>Pausing the heavy tasks like animations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8A481B-C584-0051-98E2-4F066974CD66}"/>
              </a:ext>
            </a:extLst>
          </p:cNvPr>
          <p:cNvSpPr txBox="1"/>
          <p:nvPr/>
        </p:nvSpPr>
        <p:spPr>
          <a:xfrm>
            <a:off x="838200" y="3170753"/>
            <a:ext cx="8158720" cy="1705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b="1" dirty="0" err="1">
                <a:latin typeface="Calisto MT" panose="02040603050505030304" pitchFamily="18" charset="0"/>
              </a:rPr>
              <a:t>onStop</a:t>
            </a:r>
            <a:r>
              <a:rPr lang="en-US" sz="1800" b="1" dirty="0">
                <a:latin typeface="Calisto MT" panose="02040603050505030304" pitchFamily="18" charset="0"/>
              </a:rPr>
              <a:t>()</a:t>
            </a:r>
            <a:endParaRPr lang="en-US" sz="1800" dirty="0">
              <a:latin typeface="Calisto MT" panose="0204060305050503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800" dirty="0">
                <a:latin typeface="Calisto MT" panose="02040603050505030304" pitchFamily="18" charset="0"/>
              </a:rPr>
              <a:t>When the user goes to Home or not visible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800" dirty="0">
                <a:latin typeface="Calisto MT" panose="02040603050505030304" pitchFamily="18" charset="0"/>
              </a:rPr>
              <a:t>Saving big data in database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800" dirty="0">
                <a:latin typeface="Calisto MT" panose="02040603050505030304" pitchFamily="18" charset="0"/>
              </a:rPr>
              <a:t>Unlocking the heavily occupied resources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17FFF4-1201-78CA-3666-3B56DB264F89}"/>
              </a:ext>
            </a:extLst>
          </p:cNvPr>
          <p:cNvSpPr txBox="1"/>
          <p:nvPr/>
        </p:nvSpPr>
        <p:spPr>
          <a:xfrm>
            <a:off x="838200" y="4787343"/>
            <a:ext cx="8158720" cy="1705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b="1" dirty="0" err="1">
                <a:latin typeface="Calisto MT" panose="02040603050505030304" pitchFamily="18" charset="0"/>
              </a:rPr>
              <a:t>onDestroy</a:t>
            </a:r>
            <a:r>
              <a:rPr lang="en-US" sz="1800" b="1" dirty="0">
                <a:latin typeface="Calisto MT" panose="02040603050505030304" pitchFamily="18" charset="0"/>
              </a:rPr>
              <a:t>()</a:t>
            </a:r>
            <a:endParaRPr lang="en-US" sz="1800" dirty="0">
              <a:latin typeface="Calisto MT" panose="0204060305050503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800" dirty="0">
                <a:latin typeface="Calisto MT" panose="02040603050505030304" pitchFamily="18" charset="0"/>
              </a:rPr>
              <a:t>When the app is completely closed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800" dirty="0">
                <a:latin typeface="Calisto MT" panose="02040603050505030304" pitchFamily="18" charset="0"/>
              </a:rPr>
              <a:t>Closing database connections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800" dirty="0">
                <a:latin typeface="Calisto MT" panose="02040603050505030304" pitchFamily="18" charset="0"/>
              </a:rPr>
              <a:t>Clearing the references that leads to memory leak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8F85D4-5904-012C-215A-80624B65195C}"/>
              </a:ext>
            </a:extLst>
          </p:cNvPr>
          <p:cNvSpPr txBox="1"/>
          <p:nvPr/>
        </p:nvSpPr>
        <p:spPr>
          <a:xfrm>
            <a:off x="4654296" y="1600422"/>
            <a:ext cx="41761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reduce Resources use. Activity is partially hidden.</a:t>
            </a:r>
          </a:p>
        </p:txBody>
      </p:sp>
    </p:spTree>
    <p:extLst>
      <p:ext uri="{BB962C8B-B14F-4D97-AF65-F5344CB8AC3E}">
        <p14:creationId xmlns:p14="http://schemas.microsoft.com/office/powerpoint/2010/main" val="1230941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1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n-US"/>
              <a:t>Thank you!</a:t>
            </a:r>
            <a:endParaRPr/>
          </a:p>
        </p:txBody>
      </p:sp>
      <p:sp>
        <p:nvSpPr>
          <p:cNvPr id="627" name="Google Shape;627;p1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lang="en-US"/>
              <a:t>Any 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wapnil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9499</TotalTime>
  <Words>831</Words>
  <Application>Microsoft Office PowerPoint</Application>
  <PresentationFormat>Widescreen</PresentationFormat>
  <Paragraphs>138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Calisto MT</vt:lpstr>
      <vt:lpstr>Calibri</vt:lpstr>
      <vt:lpstr>Arial</vt:lpstr>
      <vt:lpstr>Times New Roman</vt:lpstr>
      <vt:lpstr>Lustria</vt:lpstr>
      <vt:lpstr>Wingdings</vt:lpstr>
      <vt:lpstr>Swapnil2</vt:lpstr>
      <vt:lpstr>ANDROID STUDIO</vt:lpstr>
      <vt:lpstr>Directory Structure</vt:lpstr>
      <vt:lpstr>Directory Structure</vt:lpstr>
      <vt:lpstr>Directory Structure</vt:lpstr>
      <vt:lpstr>Activity</vt:lpstr>
      <vt:lpstr>Activity</vt:lpstr>
      <vt:lpstr>Activity LifeCycle</vt:lpstr>
      <vt:lpstr>Activity LifeCycle</vt:lpstr>
      <vt:lpstr>Activity LifeCycle</vt:lpstr>
      <vt:lpstr>Activity LifeCycle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PRIME  GENERATOR</dc:title>
  <dc:creator>User</dc:creator>
  <cp:lastModifiedBy>Md. Ehasan Mahmud</cp:lastModifiedBy>
  <cp:revision>432</cp:revision>
  <dcterms:modified xsi:type="dcterms:W3CDTF">2026-05-16T08:17:47Z</dcterms:modified>
</cp:coreProperties>
</file>