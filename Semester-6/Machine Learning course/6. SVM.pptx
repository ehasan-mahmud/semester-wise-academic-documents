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348" r:id="rId2"/>
    <p:sldId id="349" r:id="rId3"/>
    <p:sldId id="350" r:id="rId4"/>
    <p:sldId id="358" r:id="rId5"/>
    <p:sldId id="359" r:id="rId6"/>
    <p:sldId id="357" r:id="rId7"/>
    <p:sldId id="351" r:id="rId8"/>
    <p:sldId id="352" r:id="rId9"/>
    <p:sldId id="353" r:id="rId10"/>
    <p:sldId id="354" r:id="rId11"/>
    <p:sldId id="355" r:id="rId12"/>
    <p:sldId id="35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39" roundtripDataSignature="AMtx7mgi5V5lHgjncSwtcPrvd/p5tWgRV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1B749C7-0EE1-4517-A5FC-22D5A28B27E0}">
  <a:tblStyle styleId="{71B749C7-0EE1-4517-A5FC-22D5A28B27E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42" Type="http://schemas.openxmlformats.org/officeDocument/2006/relationships/theme" Target="theme/theme1.xml"/><Relationship Id="rId3" Type="http://schemas.openxmlformats.org/officeDocument/2006/relationships/slide" Target="slides/slide2.xml"/><Relationship Id="rId14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4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4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139" Type="http://customschemas.google.com/relationships/presentationmetadata" Target="meta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9:10:10.518"/>
    </inkml:context>
    <inkml:brush xml:id="br0">
      <inkml:brushProperty name="width" value="0.05" units="cm"/>
      <inkml:brushProperty name="height" value="0.05" units="cm"/>
      <inkml:brushProperty name="color" value="#E71224"/>
    </inkml:brush>
  </inkml:definitions>
  <inkml:trace contextRef="#ctx0" brushRef="#br0">1324 4626 24575,'0'1'0,"0"-1"0,0 1 0,0-1 0,0 1 0,0-1 0,0 1 0,0-1 0,-1 1 0,1-1 0,0 1 0,0-1 0,0 0 0,-1 1 0,1-1 0,0 1 0,-1-1 0,1 0 0,0 1 0,-1-1 0,1 0 0,-1 0 0,1 1 0,0-1 0,-1 0 0,1 0 0,-1 1 0,1-1 0,-1 0 0,1 0 0,-1 0 0,1 0 0,-1 0 0,1 0 0,0 0 0,-1 0 0,1 0 0,-1 0 0,1 0 0,-1 0 0,0 0 0,-22-6 0,21 6 0,-10-5 0,0 0 0,1 0 0,0-1 0,0-1 0,1 0 0,0 0 0,0-1 0,-17-17 0,-4-9 0,-29-42 0,56 71 0,-105-146 0,6-5 0,7-4 0,7-5 0,-114-297 0,89 102 0,-13-36 0,74 277 0,34 83 0,2-1 0,-20-66 0,26 47 0,2 0 0,3-1 0,0-61 0,-3-43 0,-18-50 0,-13-231 0,39 396 0,5-440 0,-4 457 0,2 0 0,1 1 0,1 0 0,2-1 0,1 1 0,0 1 0,24-52 0,-13 41 0,-6 13 0,27-43 0,-33 60 0,0 0 0,0 1 0,1 0 0,0 0 0,0 0 0,0 1 0,1 0 0,0 1 0,10-5 0,11-5 0,2 3 0,-1 0 0,58-12 0,104-11 0,-183 33 0,750-68-574,8 57-1589,-645 13 1701,760 12 56,0 57-2031,495 141 1772,-627-87-1539,773 123 1540,460 19-22,-1540-236 2791,-153-31 2436,275-9-566,99-7-4451,-95-53 97,-4-33 176,-391 74 448,84-19 208,-247 46-453,-1-1 0,0 0 0,0-1 0,0 0 0,18-13 0,-20 12 0,1 0 0,1 1 0,-1 0 0,1 0 0,0 1 0,17-5 0,175-21 0,-170 25 0,1-2 0,61-20 0,6-2 0,-83 25-455,0-1 0,28-13 0,-10 0-6371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9:10:12.594"/>
    </inkml:context>
    <inkml:brush xml:id="br0">
      <inkml:brushProperty name="width" value="0.05" units="cm"/>
      <inkml:brushProperty name="height" value="0.05" units="cm"/>
      <inkml:brushProperty name="color" value="#E71224"/>
    </inkml:brush>
  </inkml:definitions>
  <inkml:trace contextRef="#ctx0" brushRef="#br0">1 1 24575,'28'0'0,"1"0"0,-1 2 0,1 1 0,-1 2 0,0 0 0,30 11 0,-18-4 0,0-2 0,1-1 0,0-2 0,0-2 0,79 0 0,-100-3 0,1 1 0,-1 1 0,0 1 0,0 1 0,-1 0 0,32 17 0,-50-23 0,4 2 0,-1 0 0,0 1 0,1 0 0,-1 0 0,0 0 0,0 0 0,0 1 0,-1-1 0,1 1 0,-1 0 0,0 0 0,0 0 0,0 0 0,-1 1 0,1-1 0,-1 1 0,0 0 0,0 0 0,-1-1 0,0 1 0,1 0 0,-2 0 0,1 1 0,0 8 0,-1 7 0,-1 0 0,-1-1 0,-1 1 0,-9 36 0,-56 155 0,41-136 0,18-51-195,-2 0 0,0-1 0,-1-1 0,-2 0 0,0 0 0,-33 37 0,22-32-6631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89884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p8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a:t>
            </a:fld>
            <a:endParaRPr sz="1200">
              <a:solidFill>
                <a:schemeClr val="dk1"/>
              </a:solidFill>
              <a:latin typeface="Times New Roman"/>
              <a:ea typeface="Times New Roman"/>
              <a:cs typeface="Times New Roman"/>
              <a:sym typeface="Times New Roman"/>
            </a:endParaRPr>
          </a:p>
        </p:txBody>
      </p:sp>
      <p:sp>
        <p:nvSpPr>
          <p:cNvPr id="958" name="Google Shape;958;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59" name="Google Shape;959;p8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8900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p8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5" name="Google Shape;965;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5013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p9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0" name="Google Shape;970;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8151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a:extLst>
            <a:ext uri="{FF2B5EF4-FFF2-40B4-BE49-F238E27FC236}">
              <a16:creationId xmlns:a16="http://schemas.microsoft.com/office/drawing/2014/main" id="{3904CC77-138A-CC6F-E30F-4E89B1362261}"/>
            </a:ext>
          </a:extLst>
        </p:cNvPr>
        <p:cNvGrpSpPr/>
        <p:nvPr/>
      </p:nvGrpSpPr>
      <p:grpSpPr>
        <a:xfrm>
          <a:off x="0" y="0"/>
          <a:ext cx="0" cy="0"/>
          <a:chOff x="0" y="0"/>
          <a:chExt cx="0" cy="0"/>
        </a:xfrm>
      </p:grpSpPr>
      <p:sp>
        <p:nvSpPr>
          <p:cNvPr id="969" name="Google Shape;969;p90:notes">
            <a:extLst>
              <a:ext uri="{FF2B5EF4-FFF2-40B4-BE49-F238E27FC236}">
                <a16:creationId xmlns:a16="http://schemas.microsoft.com/office/drawing/2014/main" id="{89824770-FD88-07C3-88EA-78DCB34427F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0" name="Google Shape;970;p90:notes">
            <a:extLst>
              <a:ext uri="{FF2B5EF4-FFF2-40B4-BE49-F238E27FC236}">
                <a16:creationId xmlns:a16="http://schemas.microsoft.com/office/drawing/2014/main" id="{26A46129-15D0-E3E3-4718-C626F79D746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6605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a:extLst>
            <a:ext uri="{FF2B5EF4-FFF2-40B4-BE49-F238E27FC236}">
              <a16:creationId xmlns:a16="http://schemas.microsoft.com/office/drawing/2014/main" id="{8E941490-7AF8-3540-17AB-B0BF5BBF4F8E}"/>
            </a:ext>
          </a:extLst>
        </p:cNvPr>
        <p:cNvGrpSpPr/>
        <p:nvPr/>
      </p:nvGrpSpPr>
      <p:grpSpPr>
        <a:xfrm>
          <a:off x="0" y="0"/>
          <a:ext cx="0" cy="0"/>
          <a:chOff x="0" y="0"/>
          <a:chExt cx="0" cy="0"/>
        </a:xfrm>
      </p:grpSpPr>
      <p:sp>
        <p:nvSpPr>
          <p:cNvPr id="969" name="Google Shape;969;p90:notes">
            <a:extLst>
              <a:ext uri="{FF2B5EF4-FFF2-40B4-BE49-F238E27FC236}">
                <a16:creationId xmlns:a16="http://schemas.microsoft.com/office/drawing/2014/main" id="{9E43499C-73ED-F80D-CC47-A2E6AC43FD4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0" name="Google Shape;970;p90:notes">
            <a:extLst>
              <a:ext uri="{FF2B5EF4-FFF2-40B4-BE49-F238E27FC236}">
                <a16:creationId xmlns:a16="http://schemas.microsoft.com/office/drawing/2014/main" id="{A3F00AD6-2A2A-2FD0-38FF-2519BBC88BC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4564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a:extLst>
            <a:ext uri="{FF2B5EF4-FFF2-40B4-BE49-F238E27FC236}">
              <a16:creationId xmlns:a16="http://schemas.microsoft.com/office/drawing/2014/main" id="{8A002875-8832-9B1F-AA07-C5B04C70D4AD}"/>
            </a:ext>
          </a:extLst>
        </p:cNvPr>
        <p:cNvGrpSpPr/>
        <p:nvPr/>
      </p:nvGrpSpPr>
      <p:grpSpPr>
        <a:xfrm>
          <a:off x="0" y="0"/>
          <a:ext cx="0" cy="0"/>
          <a:chOff x="0" y="0"/>
          <a:chExt cx="0" cy="0"/>
        </a:xfrm>
      </p:grpSpPr>
      <p:sp>
        <p:nvSpPr>
          <p:cNvPr id="969" name="Google Shape;969;p90:notes">
            <a:extLst>
              <a:ext uri="{FF2B5EF4-FFF2-40B4-BE49-F238E27FC236}">
                <a16:creationId xmlns:a16="http://schemas.microsoft.com/office/drawing/2014/main" id="{8A38DC08-5FE7-7E7A-CAD6-F79EBC24E01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0" name="Google Shape;970;p90:notes">
            <a:extLst>
              <a:ext uri="{FF2B5EF4-FFF2-40B4-BE49-F238E27FC236}">
                <a16:creationId xmlns:a16="http://schemas.microsoft.com/office/drawing/2014/main" id="{3ACB385B-6B24-4A1F-1382-E1AFDFB8947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44579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p9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5" name="Google Shape;975;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6588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p9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1" name="Google Shape;981;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81789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p9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9" name="Google Shape;989;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49084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p9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4" name="Google Shape;994;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16324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p9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9" name="Google Shape;999;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3447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p9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4" name="Google Shape;1004;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3069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1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10"/>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10"/>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10"/>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112"/>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1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1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1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113"/>
          <p:cNvSpPr txBox="1">
            <a:spLocks noGrp="1"/>
          </p:cNvSpPr>
          <p:nvPr>
            <p:ph type="title"/>
          </p:nvPr>
        </p:nvSpPr>
        <p:spPr>
          <a:xfrm>
            <a:off x="831852"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113"/>
          <p:cNvSpPr txBox="1">
            <a:spLocks noGrp="1"/>
          </p:cNvSpPr>
          <p:nvPr>
            <p:ph type="body" idx="1"/>
          </p:nvPr>
        </p:nvSpPr>
        <p:spPr>
          <a:xfrm>
            <a:off x="831852"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5" name="Google Shape;35;p11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1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1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114"/>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114"/>
          <p:cNvSpPr txBox="1">
            <a:spLocks noGrp="1"/>
          </p:cNvSpPr>
          <p:nvPr>
            <p:ph type="body" idx="1"/>
          </p:nvPr>
        </p:nvSpPr>
        <p:spPr>
          <a:xfrm>
            <a:off x="838201"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114"/>
          <p:cNvSpPr txBox="1">
            <a:spLocks noGrp="1"/>
          </p:cNvSpPr>
          <p:nvPr>
            <p:ph type="body" idx="2"/>
          </p:nvPr>
        </p:nvSpPr>
        <p:spPr>
          <a:xfrm>
            <a:off x="6172201"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1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1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115"/>
          <p:cNvSpPr txBox="1">
            <a:spLocks noGrp="1"/>
          </p:cNvSpPr>
          <p:nvPr>
            <p:ph type="title"/>
          </p:nvPr>
        </p:nvSpPr>
        <p:spPr>
          <a:xfrm>
            <a:off x="839789"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15"/>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115"/>
          <p:cNvSpPr txBox="1">
            <a:spLocks noGrp="1"/>
          </p:cNvSpPr>
          <p:nvPr>
            <p:ph type="body" idx="2"/>
          </p:nvPr>
        </p:nvSpPr>
        <p:spPr>
          <a:xfrm>
            <a:off x="839789" y="2505076"/>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115"/>
          <p:cNvSpPr txBox="1">
            <a:spLocks noGrp="1"/>
          </p:cNvSpPr>
          <p:nvPr>
            <p:ph type="body" idx="3"/>
          </p:nvPr>
        </p:nvSpPr>
        <p:spPr>
          <a:xfrm>
            <a:off x="6172202"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115"/>
          <p:cNvSpPr txBox="1">
            <a:spLocks noGrp="1"/>
          </p:cNvSpPr>
          <p:nvPr>
            <p:ph type="body" idx="4"/>
          </p:nvPr>
        </p:nvSpPr>
        <p:spPr>
          <a:xfrm>
            <a:off x="6172202" y="2505076"/>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1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1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1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1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1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1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17"/>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17"/>
          <p:cNvSpPr txBox="1">
            <a:spLocks noGrp="1"/>
          </p:cNvSpPr>
          <p:nvPr>
            <p:ph type="body" idx="1"/>
          </p:nvPr>
        </p:nvSpPr>
        <p:spPr>
          <a:xfrm>
            <a:off x="5183188" y="987425"/>
            <a:ext cx="6172201"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17"/>
          <p:cNvSpPr txBox="1">
            <a:spLocks noGrp="1"/>
          </p:cNvSpPr>
          <p:nvPr>
            <p:ph type="body" idx="2"/>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1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1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1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8"/>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18"/>
          <p:cNvSpPr>
            <a:spLocks noGrp="1"/>
          </p:cNvSpPr>
          <p:nvPr>
            <p:ph type="pic" idx="2"/>
          </p:nvPr>
        </p:nvSpPr>
        <p:spPr>
          <a:xfrm>
            <a:off x="5183188" y="987425"/>
            <a:ext cx="6172201" cy="4873625"/>
          </a:xfrm>
          <a:prstGeom prst="rect">
            <a:avLst/>
          </a:prstGeom>
          <a:noFill/>
          <a:ln>
            <a:noFill/>
          </a:ln>
        </p:spPr>
      </p:sp>
      <p:sp>
        <p:nvSpPr>
          <p:cNvPr id="68" name="Google Shape;68;p118"/>
          <p:cNvSpPr txBox="1">
            <a:spLocks noGrp="1"/>
          </p:cNvSpPr>
          <p:nvPr>
            <p:ph type="body" idx="1"/>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1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1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1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9"/>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9"/>
          <p:cNvSpPr txBox="1">
            <a:spLocks noGrp="1"/>
          </p:cNvSpPr>
          <p:nvPr>
            <p:ph type="body" idx="1"/>
          </p:nvPr>
        </p:nvSpPr>
        <p:spPr>
          <a:xfrm rot="5400000">
            <a:off x="3920333"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9"/>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0"/>
          <p:cNvSpPr txBox="1">
            <a:spLocks noGrp="1"/>
          </p:cNvSpPr>
          <p:nvPr>
            <p:ph type="title"/>
          </p:nvPr>
        </p:nvSpPr>
        <p:spPr>
          <a:xfrm rot="5400000">
            <a:off x="7133430"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0"/>
          <p:cNvSpPr txBox="1">
            <a:spLocks noGrp="1"/>
          </p:cNvSpPr>
          <p:nvPr>
            <p:ph type="body" idx="1"/>
          </p:nvPr>
        </p:nvSpPr>
        <p:spPr>
          <a:xfrm rot="5400000">
            <a:off x="1799430"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0"/>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0"/>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0"/>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09"/>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09"/>
          <p:cNvSpPr txBox="1">
            <a:spLocks noGrp="1"/>
          </p:cNvSpPr>
          <p:nvPr>
            <p:ph type="body" idx="1"/>
          </p:nvPr>
        </p:nvSpPr>
        <p:spPr>
          <a:xfrm>
            <a:off x="838202"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0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09"/>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0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customXml" Target="../ink/ink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0"/>
        <p:cNvGrpSpPr/>
        <p:nvPr/>
      </p:nvGrpSpPr>
      <p:grpSpPr>
        <a:xfrm>
          <a:off x="0" y="0"/>
          <a:ext cx="0" cy="0"/>
          <a:chOff x="0" y="0"/>
          <a:chExt cx="0" cy="0"/>
        </a:xfrm>
      </p:grpSpPr>
      <p:sp>
        <p:nvSpPr>
          <p:cNvPr id="962" name="Google Shape;962;p88"/>
          <p:cNvSpPr txBox="1">
            <a:spLocks noGrp="1"/>
          </p:cNvSpPr>
          <p:nvPr>
            <p:ph type="ctrTitle"/>
          </p:nvPr>
        </p:nvSpPr>
        <p:spPr>
          <a:xfrm>
            <a:off x="1690231" y="953270"/>
            <a:ext cx="8832496" cy="3550491"/>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6000"/>
              <a:buFont typeface="Calibri"/>
              <a:buNone/>
            </a:pPr>
            <a:br>
              <a:rPr lang="en-US" dirty="0"/>
            </a:br>
            <a:r>
              <a:rPr lang="en-US" sz="7301" b="1" dirty="0"/>
              <a:t>Part 9: SVM</a:t>
            </a:r>
            <a:br>
              <a:rPr lang="en-US" sz="7301" b="1" dirty="0"/>
            </a:br>
            <a:endParaRPr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p89"/>
          <p:cNvSpPr/>
          <p:nvPr/>
        </p:nvSpPr>
        <p:spPr>
          <a:xfrm>
            <a:off x="545909" y="810989"/>
            <a:ext cx="10699845" cy="541686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C55A11"/>
                </a:solidFill>
                <a:highlight>
                  <a:srgbClr val="FFFF00"/>
                </a:highlight>
                <a:latin typeface="Calibri"/>
                <a:ea typeface="Calibri"/>
                <a:cs typeface="Calibri"/>
                <a:sym typeface="Calibri"/>
              </a:rPr>
              <a:t>SVM:</a:t>
            </a:r>
            <a:r>
              <a:rPr lang="en-US" sz="3200" b="1" dirty="0">
                <a:solidFill>
                  <a:srgbClr val="C55A11"/>
                </a:solidFill>
                <a:latin typeface="Calibri"/>
                <a:ea typeface="Calibri"/>
                <a:cs typeface="Calibri"/>
                <a:sym typeface="Calibri"/>
              </a:rPr>
              <a:t> </a:t>
            </a:r>
            <a:endParaRPr sz="2000" b="1"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dirty="0">
                <a:solidFill>
                  <a:schemeClr val="dk1"/>
                </a:solidFill>
                <a:highlight>
                  <a:srgbClr val="00FFFF"/>
                </a:highlight>
                <a:latin typeface="Calibri"/>
                <a:ea typeface="Calibri"/>
                <a:cs typeface="Calibri"/>
                <a:sym typeface="Calibri"/>
              </a:rPr>
              <a:t>A support vector machine (SVM) is a supervised  learning algorithm that performs classification or regression which is based on the margin maximization principle.</a:t>
            </a:r>
            <a:endParaRPr dirty="0">
              <a:highlight>
                <a:srgbClr val="00FFFF"/>
              </a:highlight>
            </a:endParaRPr>
          </a:p>
          <a:p>
            <a:pPr marL="0" marR="0" lvl="0" indent="0" algn="l" rtl="0">
              <a:spcBef>
                <a:spcPts val="0"/>
              </a:spcBef>
              <a:spcAft>
                <a:spcPts val="0"/>
              </a:spcAft>
              <a:buNone/>
            </a:pPr>
            <a:r>
              <a:rPr lang="en-US" sz="2400" b="1" dirty="0">
                <a:solidFill>
                  <a:srgbClr val="C55A11"/>
                </a:solidFill>
                <a:highlight>
                  <a:srgbClr val="FFFF00"/>
                </a:highlight>
                <a:latin typeface="Calibri"/>
                <a:ea typeface="Calibri"/>
                <a:cs typeface="Calibri"/>
                <a:sym typeface="Calibri"/>
              </a:rPr>
              <a:t>Goal of SVM:</a:t>
            </a:r>
            <a:endParaRPr dirty="0">
              <a:highlight>
                <a:srgbClr val="FFFF00"/>
              </a:highlight>
            </a:endParaRPr>
          </a:p>
          <a:p>
            <a:pPr marL="0" marR="0" lvl="0" indent="0" algn="l" rtl="0">
              <a:spcBef>
                <a:spcPts val="0"/>
              </a:spcBef>
              <a:spcAft>
                <a:spcPts val="0"/>
              </a:spcAft>
              <a:buNone/>
            </a:pPr>
            <a:r>
              <a:rPr lang="en-US" sz="2000" dirty="0">
                <a:solidFill>
                  <a:schemeClr val="dk1"/>
                </a:solidFill>
                <a:latin typeface="Calibri"/>
                <a:ea typeface="Calibri"/>
                <a:cs typeface="Calibri"/>
                <a:sym typeface="Calibri"/>
              </a:rPr>
              <a:t>The goal of the SVM algorithm is to create the best line or decision boundary that can segregate n-dimensional space into classes so that we can easily put the new data point in the correct category in the future. </a:t>
            </a:r>
            <a:r>
              <a:rPr lang="en-US" sz="2000" dirty="0">
                <a:solidFill>
                  <a:schemeClr val="dk1"/>
                </a:solidFill>
                <a:highlight>
                  <a:srgbClr val="00FFFF"/>
                </a:highlight>
                <a:latin typeface="Calibri"/>
                <a:ea typeface="Calibri"/>
                <a:cs typeface="Calibri"/>
                <a:sym typeface="Calibri"/>
              </a:rPr>
              <a:t>This best decision boundary is called a hyperplane.</a:t>
            </a:r>
            <a:endParaRPr dirty="0">
              <a:highlight>
                <a:srgbClr val="00FFFF"/>
              </a:highlight>
            </a:endParaRPr>
          </a:p>
          <a:p>
            <a:pPr marL="0" marR="0" lvl="0" indent="0" algn="l" rtl="0">
              <a:spcBef>
                <a:spcPts val="0"/>
              </a:spcBef>
              <a:spcAft>
                <a:spcPts val="0"/>
              </a:spcAft>
              <a:buNone/>
            </a:pPr>
            <a:r>
              <a:rPr lang="en-US" sz="2200" b="1" dirty="0">
                <a:solidFill>
                  <a:srgbClr val="C55A11"/>
                </a:solidFill>
                <a:highlight>
                  <a:srgbClr val="FFFF00"/>
                </a:highlight>
                <a:latin typeface="Calibri"/>
                <a:ea typeface="Calibri"/>
                <a:cs typeface="Calibri"/>
                <a:sym typeface="Calibri"/>
              </a:rPr>
              <a:t>The followings are important concepts in SVM: </a:t>
            </a:r>
            <a:endParaRPr sz="2200" b="1" dirty="0">
              <a:solidFill>
                <a:srgbClr val="C55A11"/>
              </a:solidFill>
              <a:highlight>
                <a:srgbClr val="FFFF00"/>
              </a:highlight>
              <a:latin typeface="Calibri"/>
              <a:ea typeface="Calibri"/>
              <a:cs typeface="Calibri"/>
              <a:sym typeface="Calibri"/>
            </a:endParaRPr>
          </a:p>
          <a:p>
            <a:pPr marL="342900" marR="0" lvl="0" indent="-342900" algn="l" rtl="0">
              <a:spcBef>
                <a:spcPts val="0"/>
              </a:spcBef>
              <a:spcAft>
                <a:spcPts val="0"/>
              </a:spcAft>
              <a:buClr>
                <a:srgbClr val="C55A11"/>
              </a:buClr>
              <a:buSzPts val="2000"/>
              <a:buFont typeface="Arial"/>
              <a:buChar char="•"/>
            </a:pPr>
            <a:r>
              <a:rPr lang="en-US" sz="2000" b="1" dirty="0">
                <a:solidFill>
                  <a:srgbClr val="C55A11"/>
                </a:solidFill>
                <a:highlight>
                  <a:srgbClr val="00FF00"/>
                </a:highlight>
                <a:latin typeface="Calibri"/>
                <a:ea typeface="Calibri"/>
                <a:cs typeface="Calibri"/>
                <a:sym typeface="Calibri"/>
              </a:rPr>
              <a:t>Support Vectors</a:t>
            </a:r>
            <a:r>
              <a:rPr lang="en-US" sz="2000" dirty="0">
                <a:solidFill>
                  <a:schemeClr val="dk1"/>
                </a:solidFill>
                <a:highlight>
                  <a:srgbClr val="00FF00"/>
                </a:highlight>
                <a:latin typeface="Calibri"/>
                <a:ea typeface="Calibri"/>
                <a:cs typeface="Calibri"/>
                <a:sym typeface="Calibri"/>
              </a:rPr>
              <a:t> </a:t>
            </a:r>
            <a:r>
              <a:rPr lang="en-US" sz="2000" dirty="0">
                <a:solidFill>
                  <a:schemeClr val="dk1"/>
                </a:solidFill>
                <a:latin typeface="Calibri"/>
                <a:ea typeface="Calibri"/>
                <a:cs typeface="Calibri"/>
                <a:sym typeface="Calibri"/>
              </a:rPr>
              <a:t>− Data points that are closest to the hyperplane is called support vectors. Separating line is defined with the help of these data points.</a:t>
            </a:r>
            <a:endParaRPr dirty="0"/>
          </a:p>
          <a:p>
            <a:pPr marL="342900" marR="0" lvl="0" indent="-342900" algn="l" rtl="0">
              <a:spcBef>
                <a:spcPts val="0"/>
              </a:spcBef>
              <a:spcAft>
                <a:spcPts val="0"/>
              </a:spcAft>
              <a:buClr>
                <a:srgbClr val="C55A11"/>
              </a:buClr>
              <a:buSzPts val="2000"/>
              <a:buFont typeface="Arial"/>
              <a:buChar char="•"/>
            </a:pPr>
            <a:r>
              <a:rPr lang="en-US" sz="2000" b="1" dirty="0">
                <a:solidFill>
                  <a:srgbClr val="C55A11"/>
                </a:solidFill>
                <a:highlight>
                  <a:srgbClr val="00FF00"/>
                </a:highlight>
                <a:latin typeface="Calibri"/>
                <a:ea typeface="Calibri"/>
                <a:cs typeface="Calibri"/>
                <a:sym typeface="Calibri"/>
              </a:rPr>
              <a:t>Hyperplane</a:t>
            </a:r>
            <a:r>
              <a:rPr lang="en-US" sz="2000" dirty="0">
                <a:solidFill>
                  <a:srgbClr val="C55A11"/>
                </a:solidFill>
                <a:latin typeface="Calibri"/>
                <a:ea typeface="Calibri"/>
                <a:cs typeface="Calibri"/>
                <a:sym typeface="Calibri"/>
              </a:rPr>
              <a:t> </a:t>
            </a:r>
            <a:r>
              <a:rPr lang="en-US" sz="2000" dirty="0">
                <a:solidFill>
                  <a:schemeClr val="dk1"/>
                </a:solidFill>
                <a:latin typeface="Calibri"/>
                <a:ea typeface="Calibri"/>
                <a:cs typeface="Calibri"/>
                <a:sym typeface="Calibri"/>
              </a:rPr>
              <a:t>−  It is a decision plane or space which divides a set of objects having different classes.</a:t>
            </a:r>
            <a:endParaRPr dirty="0"/>
          </a:p>
          <a:p>
            <a:pPr marL="342900" marR="0" lvl="0" indent="-342900" algn="l" rtl="0">
              <a:spcBef>
                <a:spcPts val="0"/>
              </a:spcBef>
              <a:spcAft>
                <a:spcPts val="0"/>
              </a:spcAft>
              <a:buClr>
                <a:srgbClr val="C55A11"/>
              </a:buClr>
              <a:buSzPts val="2000"/>
              <a:buFont typeface="Arial"/>
              <a:buChar char="•"/>
            </a:pPr>
            <a:r>
              <a:rPr lang="en-US" sz="2000" b="1" dirty="0">
                <a:solidFill>
                  <a:srgbClr val="C55A11"/>
                </a:solidFill>
                <a:highlight>
                  <a:srgbClr val="00FF00"/>
                </a:highlight>
                <a:latin typeface="Calibri"/>
                <a:ea typeface="Calibri"/>
                <a:cs typeface="Calibri"/>
                <a:sym typeface="Calibri"/>
              </a:rPr>
              <a:t>Margin</a:t>
            </a:r>
            <a:r>
              <a:rPr lang="en-US" sz="2000" dirty="0">
                <a:solidFill>
                  <a:schemeClr val="dk1"/>
                </a:solidFill>
                <a:latin typeface="Calibri"/>
                <a:ea typeface="Calibri"/>
                <a:cs typeface="Calibri"/>
                <a:sym typeface="Calibri"/>
              </a:rPr>
              <a:t> − </a:t>
            </a:r>
            <a:r>
              <a:rPr lang="en-US" sz="2000" dirty="0">
                <a:solidFill>
                  <a:schemeClr val="dk1"/>
                </a:solidFill>
                <a:highlight>
                  <a:srgbClr val="C0C0C0"/>
                </a:highlight>
                <a:latin typeface="Calibri"/>
                <a:ea typeface="Calibri"/>
                <a:cs typeface="Calibri"/>
                <a:sym typeface="Calibri"/>
              </a:rPr>
              <a:t>It is defined as the gap between two lines on the closest data points of different classes. It can be calculated as the perpendicular distance from the line to the support vectors. </a:t>
            </a:r>
            <a:endParaRPr sz="2000" dirty="0">
              <a:solidFill>
                <a:schemeClr val="dk1"/>
              </a:solidFill>
              <a:highlight>
                <a:srgbClr val="C0C0C0"/>
              </a:highlight>
              <a:latin typeface="Calibri"/>
              <a:ea typeface="Calibri"/>
              <a:cs typeface="Calibri"/>
              <a:sym typeface="Calibri"/>
            </a:endParaRPr>
          </a:p>
          <a:p>
            <a:pPr marL="342900" marR="0" lvl="0" indent="-215900" algn="l" rtl="0">
              <a:spcBef>
                <a:spcPts val="0"/>
              </a:spcBef>
              <a:spcAft>
                <a:spcPts val="0"/>
              </a:spcAft>
              <a:buClr>
                <a:schemeClr val="dk1"/>
              </a:buClr>
              <a:buSzPts val="2000"/>
              <a:buFont typeface="Arial"/>
              <a:buNone/>
            </a:pPr>
            <a:endParaRPr sz="20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dirty="0">
                <a:solidFill>
                  <a:srgbClr val="C55A11"/>
                </a:solidFill>
                <a:highlight>
                  <a:srgbClr val="FFFF00"/>
                </a:highlight>
                <a:latin typeface="Calibri"/>
                <a:ea typeface="Calibri"/>
                <a:cs typeface="Calibri"/>
                <a:sym typeface="Calibri"/>
              </a:rPr>
              <a:t>Among the possible hyperplanes, we select the one where the distance of the hyperplane from the closest data points (the “margin”) is as large as possible. </a:t>
            </a:r>
            <a:endParaRPr dirty="0">
              <a:highlight>
                <a:srgbClr val="FFFF00"/>
              </a:highlight>
            </a:endParaRPr>
          </a:p>
        </p:txBody>
      </p:sp>
      <p:sp>
        <p:nvSpPr>
          <p:cNvPr id="2" name="TextBox 1">
            <a:extLst>
              <a:ext uri="{FF2B5EF4-FFF2-40B4-BE49-F238E27FC236}">
                <a16:creationId xmlns:a16="http://schemas.microsoft.com/office/drawing/2014/main" id="{0D93324E-8F8D-BF4E-684B-346EECDB6669}"/>
              </a:ext>
            </a:extLst>
          </p:cNvPr>
          <p:cNvSpPr txBox="1"/>
          <p:nvPr/>
        </p:nvSpPr>
        <p:spPr>
          <a:xfrm>
            <a:off x="5170341" y="118492"/>
            <a:ext cx="5000835" cy="1077218"/>
          </a:xfrm>
          <a:prstGeom prst="rect">
            <a:avLst/>
          </a:prstGeom>
          <a:noFill/>
        </p:spPr>
        <p:txBody>
          <a:bodyPr wrap="square" rtlCol="0">
            <a:spAutoFit/>
          </a:bodyPr>
          <a:lstStyle/>
          <a:p>
            <a:r>
              <a:rPr lang="en-US" sz="1600" dirty="0">
                <a:highlight>
                  <a:srgbClr val="C0C0C0"/>
                </a:highlight>
                <a:latin typeface="Times New Roman" panose="02020603050405020304" pitchFamily="18" charset="0"/>
                <a:cs typeface="Times New Roman" panose="02020603050405020304" pitchFamily="18" charset="0"/>
              </a:rPr>
              <a:t>SVM aims to find the </a:t>
            </a:r>
            <a:r>
              <a:rPr lang="en-US" sz="1600" b="1" dirty="0">
                <a:highlight>
                  <a:srgbClr val="C0C0C0"/>
                </a:highlight>
                <a:latin typeface="Times New Roman" panose="02020603050405020304" pitchFamily="18" charset="0"/>
                <a:cs typeface="Times New Roman" panose="02020603050405020304" pitchFamily="18" charset="0"/>
              </a:rPr>
              <a:t>best decision boundary (hyperplane)</a:t>
            </a:r>
            <a:r>
              <a:rPr lang="en-US" sz="1600" dirty="0">
                <a:highlight>
                  <a:srgbClr val="C0C0C0"/>
                </a:highlight>
                <a:latin typeface="Times New Roman" panose="02020603050405020304" pitchFamily="18" charset="0"/>
                <a:cs typeface="Times New Roman" panose="02020603050405020304" pitchFamily="18" charset="0"/>
              </a:rPr>
              <a:t> that separates data into different classes with the </a:t>
            </a:r>
            <a:r>
              <a:rPr lang="en-US" sz="1600" b="1" dirty="0">
                <a:highlight>
                  <a:srgbClr val="C0C0C0"/>
                </a:highlight>
                <a:latin typeface="Times New Roman" panose="02020603050405020304" pitchFamily="18" charset="0"/>
                <a:cs typeface="Times New Roman" panose="02020603050405020304" pitchFamily="18" charset="0"/>
              </a:rPr>
              <a:t>maximum margin</a:t>
            </a:r>
            <a:r>
              <a:rPr lang="en-US" sz="1600" dirty="0">
                <a:highlight>
                  <a:srgbClr val="C0C0C0"/>
                </a:highlight>
                <a:latin typeface="Times New Roman" panose="02020603050405020304" pitchFamily="18" charset="0"/>
                <a:cs typeface="Times New Roman" panose="02020603050405020304" pitchFamily="18" charset="0"/>
              </a:rPr>
              <a:t>. This helps classify new data points accurately into the correct category.</a:t>
            </a:r>
          </a:p>
        </p:txBody>
      </p:sp>
      <p:grpSp>
        <p:nvGrpSpPr>
          <p:cNvPr id="5" name="Group 4">
            <a:extLst>
              <a:ext uri="{FF2B5EF4-FFF2-40B4-BE49-F238E27FC236}">
                <a16:creationId xmlns:a16="http://schemas.microsoft.com/office/drawing/2014/main" id="{F0A38C01-94F1-2CF6-0A46-5860A5DA144F}"/>
              </a:ext>
            </a:extLst>
          </p:cNvPr>
          <p:cNvGrpSpPr/>
          <p:nvPr/>
        </p:nvGrpSpPr>
        <p:grpSpPr>
          <a:xfrm>
            <a:off x="135936" y="547416"/>
            <a:ext cx="5005080" cy="1669680"/>
            <a:chOff x="135936" y="547416"/>
            <a:chExt cx="5005080" cy="1669680"/>
          </a:xfrm>
        </p:grpSpPr>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5C3349DA-2061-43FE-CF76-270F8CEEA855}"/>
                    </a:ext>
                  </a:extLst>
                </p14:cNvPr>
                <p14:cNvContentPartPr/>
                <p14:nvPr/>
              </p14:nvContentPartPr>
              <p14:xfrm>
                <a:off x="135936" y="547416"/>
                <a:ext cx="5005080" cy="1669680"/>
              </p14:xfrm>
            </p:contentPart>
          </mc:Choice>
          <mc:Fallback>
            <p:pic>
              <p:nvPicPr>
                <p:cNvPr id="3" name="Ink 2">
                  <a:extLst>
                    <a:ext uri="{FF2B5EF4-FFF2-40B4-BE49-F238E27FC236}">
                      <a16:creationId xmlns:a16="http://schemas.microsoft.com/office/drawing/2014/main" id="{5C3349DA-2061-43FE-CF76-270F8CEEA855}"/>
                    </a:ext>
                  </a:extLst>
                </p:cNvPr>
                <p:cNvPicPr/>
                <p:nvPr/>
              </p:nvPicPr>
              <p:blipFill>
                <a:blip r:embed="rId4"/>
                <a:stretch>
                  <a:fillRect/>
                </a:stretch>
              </p:blipFill>
              <p:spPr>
                <a:xfrm>
                  <a:off x="126936" y="538776"/>
                  <a:ext cx="5022720" cy="16873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591D10C4-9FFD-451B-35E7-E0FB744C0A28}"/>
                    </a:ext>
                  </a:extLst>
                </p14:cNvPr>
                <p14:cNvContentPartPr/>
                <p14:nvPr/>
              </p14:nvContentPartPr>
              <p14:xfrm>
                <a:off x="4855176" y="648576"/>
                <a:ext cx="285840" cy="322920"/>
              </p14:xfrm>
            </p:contentPart>
          </mc:Choice>
          <mc:Fallback>
            <p:pic>
              <p:nvPicPr>
                <p:cNvPr id="4" name="Ink 3">
                  <a:extLst>
                    <a:ext uri="{FF2B5EF4-FFF2-40B4-BE49-F238E27FC236}">
                      <a16:creationId xmlns:a16="http://schemas.microsoft.com/office/drawing/2014/main" id="{591D10C4-9FFD-451B-35E7-E0FB744C0A28}"/>
                    </a:ext>
                  </a:extLst>
                </p:cNvPr>
                <p:cNvPicPr/>
                <p:nvPr/>
              </p:nvPicPr>
              <p:blipFill>
                <a:blip r:embed="rId6"/>
                <a:stretch>
                  <a:fillRect/>
                </a:stretch>
              </p:blipFill>
              <p:spPr>
                <a:xfrm>
                  <a:off x="4846536" y="639936"/>
                  <a:ext cx="303480" cy="340560"/>
                </a:xfrm>
                <a:prstGeom prst="rect">
                  <a:avLst/>
                </a:prstGeom>
              </p:spPr>
            </p:pic>
          </mc:Fallback>
        </mc:AlternateContent>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pic>
        <p:nvPicPr>
          <p:cNvPr id="3" name="Picture 2">
            <a:extLst>
              <a:ext uri="{FF2B5EF4-FFF2-40B4-BE49-F238E27FC236}">
                <a16:creationId xmlns:a16="http://schemas.microsoft.com/office/drawing/2014/main" id="{D26F672C-9956-F5B3-79F1-EA96B8511280}"/>
              </a:ext>
            </a:extLst>
          </p:cNvPr>
          <p:cNvPicPr>
            <a:picLocks noChangeAspect="1"/>
          </p:cNvPicPr>
          <p:nvPr/>
        </p:nvPicPr>
        <p:blipFill>
          <a:blip r:embed="rId3"/>
          <a:stretch>
            <a:fillRect/>
          </a:stretch>
        </p:blipFill>
        <p:spPr>
          <a:xfrm>
            <a:off x="0" y="28766"/>
            <a:ext cx="12192000" cy="68004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1">
          <a:extLst>
            <a:ext uri="{FF2B5EF4-FFF2-40B4-BE49-F238E27FC236}">
              <a16:creationId xmlns:a16="http://schemas.microsoft.com/office/drawing/2014/main" id="{D9FCB74B-9B17-FBA4-3330-BE3DCC09B7E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A3A2833-9471-34CB-DBBC-27C2455BC8A4}"/>
              </a:ext>
            </a:extLst>
          </p:cNvPr>
          <p:cNvPicPr>
            <a:picLocks noChangeAspect="1"/>
          </p:cNvPicPr>
          <p:nvPr/>
        </p:nvPicPr>
        <p:blipFill>
          <a:blip r:embed="rId3"/>
          <a:stretch>
            <a:fillRect/>
          </a:stretch>
        </p:blipFill>
        <p:spPr>
          <a:xfrm>
            <a:off x="0" y="94672"/>
            <a:ext cx="12192000" cy="6363855"/>
          </a:xfrm>
          <a:prstGeom prst="rect">
            <a:avLst/>
          </a:prstGeom>
        </p:spPr>
      </p:pic>
    </p:spTree>
    <p:extLst>
      <p:ext uri="{BB962C8B-B14F-4D97-AF65-F5344CB8AC3E}">
        <p14:creationId xmlns:p14="http://schemas.microsoft.com/office/powerpoint/2010/main" val="830596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1">
          <a:extLst>
            <a:ext uri="{FF2B5EF4-FFF2-40B4-BE49-F238E27FC236}">
              <a16:creationId xmlns:a16="http://schemas.microsoft.com/office/drawing/2014/main" id="{3D9317F1-95ED-99DF-982B-AA444DF559C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8B333AC-E9E5-798C-B40C-0D53EB05D80D}"/>
              </a:ext>
            </a:extLst>
          </p:cNvPr>
          <p:cNvPicPr>
            <a:picLocks noChangeAspect="1"/>
          </p:cNvPicPr>
          <p:nvPr/>
        </p:nvPicPr>
        <p:blipFill>
          <a:blip r:embed="rId3"/>
          <a:stretch>
            <a:fillRect/>
          </a:stretch>
        </p:blipFill>
        <p:spPr>
          <a:xfrm>
            <a:off x="0" y="36326"/>
            <a:ext cx="12192000" cy="6785348"/>
          </a:xfrm>
          <a:prstGeom prst="rect">
            <a:avLst/>
          </a:prstGeom>
        </p:spPr>
      </p:pic>
    </p:spTree>
    <p:extLst>
      <p:ext uri="{BB962C8B-B14F-4D97-AF65-F5344CB8AC3E}">
        <p14:creationId xmlns:p14="http://schemas.microsoft.com/office/powerpoint/2010/main" val="196472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1">
          <a:extLst>
            <a:ext uri="{FF2B5EF4-FFF2-40B4-BE49-F238E27FC236}">
              <a16:creationId xmlns:a16="http://schemas.microsoft.com/office/drawing/2014/main" id="{ED15B2C1-1FD9-666D-595D-DFE09DC37BCC}"/>
            </a:ext>
          </a:extLst>
        </p:cNvPr>
        <p:cNvGrpSpPr/>
        <p:nvPr/>
      </p:nvGrpSpPr>
      <p:grpSpPr>
        <a:xfrm>
          <a:off x="0" y="0"/>
          <a:ext cx="0" cy="0"/>
          <a:chOff x="0" y="0"/>
          <a:chExt cx="0" cy="0"/>
        </a:xfrm>
      </p:grpSpPr>
      <p:pic>
        <p:nvPicPr>
          <p:cNvPr id="972" name="Google Shape;972;p90">
            <a:extLst>
              <a:ext uri="{FF2B5EF4-FFF2-40B4-BE49-F238E27FC236}">
                <a16:creationId xmlns:a16="http://schemas.microsoft.com/office/drawing/2014/main" id="{304551AC-F897-581D-F15B-8C18E004FF75}"/>
              </a:ext>
            </a:extLst>
          </p:cNvPr>
          <p:cNvPicPr preferRelativeResize="0"/>
          <p:nvPr/>
        </p:nvPicPr>
        <p:blipFill rotWithShape="1">
          <a:blip r:embed="rId3">
            <a:alphaModFix/>
          </a:blip>
          <a:srcRect/>
          <a:stretch/>
        </p:blipFill>
        <p:spPr>
          <a:xfrm>
            <a:off x="293782" y="537878"/>
            <a:ext cx="11743543" cy="5970013"/>
          </a:xfrm>
          <a:prstGeom prst="rect">
            <a:avLst/>
          </a:prstGeom>
          <a:noFill/>
          <a:ln>
            <a:noFill/>
          </a:ln>
        </p:spPr>
      </p:pic>
    </p:spTree>
    <p:extLst>
      <p:ext uri="{BB962C8B-B14F-4D97-AF65-F5344CB8AC3E}">
        <p14:creationId xmlns:p14="http://schemas.microsoft.com/office/powerpoint/2010/main" val="3564202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p91"/>
          <p:cNvSpPr/>
          <p:nvPr/>
        </p:nvSpPr>
        <p:spPr>
          <a:xfrm>
            <a:off x="326967" y="231439"/>
            <a:ext cx="10699845" cy="35394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C55A11"/>
                </a:solidFill>
                <a:latin typeface="Calibri"/>
                <a:ea typeface="Calibri"/>
                <a:cs typeface="Calibri"/>
                <a:sym typeface="Calibri"/>
              </a:rPr>
              <a:t>Kernel Function:</a:t>
            </a:r>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Kernel function converts data from input space(lower dimensional space) to feature space(higher dimensional space) to make them linearly separable.</a:t>
            </a:r>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It computes the similarity of two data points in the feature space using dot product.</a:t>
            </a:r>
            <a:endParaRPr/>
          </a:p>
          <a:p>
            <a:pPr marL="0" marR="0" lvl="0" indent="0" algn="l" rtl="0">
              <a:spcBef>
                <a:spcPts val="0"/>
              </a:spcBef>
              <a:spcAft>
                <a:spcPts val="0"/>
              </a:spcAft>
              <a:buNone/>
            </a:pPr>
            <a:r>
              <a:rPr lang="en-US" sz="2400" b="1">
                <a:solidFill>
                  <a:srgbClr val="C55A11"/>
                </a:solidFill>
                <a:latin typeface="Calibri"/>
                <a:ea typeface="Calibri"/>
                <a:cs typeface="Calibri"/>
                <a:sym typeface="Calibri"/>
              </a:rPr>
              <a:t>The following kernels are commonly used:</a:t>
            </a:r>
            <a:br>
              <a:rPr lang="en-US" sz="2000">
                <a:solidFill>
                  <a:schemeClr val="dk1"/>
                </a:solidFill>
                <a:latin typeface="Calibri"/>
                <a:ea typeface="Calibri"/>
                <a:cs typeface="Calibri"/>
                <a:sym typeface="Calibri"/>
              </a:rPr>
            </a:br>
            <a:r>
              <a:rPr lang="en-US" sz="2400">
                <a:solidFill>
                  <a:schemeClr val="dk1"/>
                </a:solidFill>
                <a:latin typeface="Calibri"/>
                <a:ea typeface="Calibri"/>
                <a:cs typeface="Calibri"/>
                <a:sym typeface="Calibri"/>
              </a:rPr>
              <a:t>1. Dot product kernels</a:t>
            </a:r>
            <a:r>
              <a:rPr lang="en-US" sz="2400">
                <a:solidFill>
                  <a:srgbClr val="C00000"/>
                </a:solidFill>
                <a:latin typeface="Calibri"/>
                <a:ea typeface="Calibri"/>
                <a:cs typeface="Calibri"/>
                <a:sym typeface="Calibri"/>
              </a:rPr>
              <a:t>: </a:t>
            </a:r>
            <a:r>
              <a:rPr lang="en-US" sz="2800" i="1">
                <a:solidFill>
                  <a:srgbClr val="0C0C0C"/>
                </a:solidFill>
                <a:latin typeface="Calibri"/>
                <a:ea typeface="Calibri"/>
                <a:cs typeface="Calibri"/>
                <a:sym typeface="Calibri"/>
              </a:rPr>
              <a:t>K</a:t>
            </a:r>
            <a:r>
              <a:rPr lang="en-US" sz="2800">
                <a:solidFill>
                  <a:srgbClr val="0C0C0C"/>
                </a:solidFill>
                <a:latin typeface="Calibri"/>
                <a:ea typeface="Calibri"/>
                <a:cs typeface="Calibri"/>
                <a:sym typeface="Calibri"/>
              </a:rPr>
              <a:t>(x</a:t>
            </a:r>
            <a:r>
              <a:rPr lang="en-US" sz="2800" baseline="-25000">
                <a:solidFill>
                  <a:srgbClr val="0C0C0C"/>
                </a:solidFill>
                <a:latin typeface="Calibri"/>
                <a:ea typeface="Calibri"/>
                <a:cs typeface="Calibri"/>
                <a:sym typeface="Calibri"/>
              </a:rPr>
              <a:t>i</a:t>
            </a:r>
            <a:r>
              <a:rPr lang="en-US" sz="2800">
                <a:solidFill>
                  <a:srgbClr val="0C0C0C"/>
                </a:solidFill>
                <a:latin typeface="Calibri"/>
                <a:ea typeface="Calibri"/>
                <a:cs typeface="Calibri"/>
                <a:sym typeface="Calibri"/>
              </a:rPr>
              <a:t>, x</a:t>
            </a:r>
            <a:r>
              <a:rPr lang="en-US" sz="2800" baseline="-25000">
                <a:solidFill>
                  <a:srgbClr val="0C0C0C"/>
                </a:solidFill>
                <a:latin typeface="Calibri"/>
                <a:ea typeface="Calibri"/>
                <a:cs typeface="Calibri"/>
                <a:sym typeface="Calibri"/>
              </a:rPr>
              <a:t>j</a:t>
            </a:r>
            <a:r>
              <a:rPr lang="en-US" sz="2800">
                <a:solidFill>
                  <a:srgbClr val="0C0C0C"/>
                </a:solidFill>
                <a:latin typeface="Calibri"/>
                <a:ea typeface="Calibri"/>
                <a:cs typeface="Calibri"/>
                <a:sym typeface="Calibri"/>
              </a:rPr>
              <a:t>) = x</a:t>
            </a:r>
            <a:r>
              <a:rPr lang="en-US" sz="2800" baseline="-25000">
                <a:solidFill>
                  <a:srgbClr val="0C0C0C"/>
                </a:solidFill>
                <a:latin typeface="Calibri"/>
                <a:ea typeface="Calibri"/>
                <a:cs typeface="Calibri"/>
                <a:sym typeface="Calibri"/>
              </a:rPr>
              <a:t>i</a:t>
            </a:r>
            <a:r>
              <a:rPr lang="en-US" sz="2800" baseline="30000">
                <a:solidFill>
                  <a:srgbClr val="0C0C0C"/>
                </a:solidFill>
                <a:latin typeface="Calibri"/>
                <a:ea typeface="Calibri"/>
                <a:cs typeface="Calibri"/>
                <a:sym typeface="Calibri"/>
              </a:rPr>
              <a:t>t</a:t>
            </a:r>
            <a:r>
              <a:rPr lang="en-US" sz="2800">
                <a:solidFill>
                  <a:srgbClr val="0C0C0C"/>
                </a:solidFill>
                <a:latin typeface="Calibri"/>
                <a:ea typeface="Calibri"/>
                <a:cs typeface="Calibri"/>
                <a:sym typeface="Calibri"/>
              </a:rPr>
              <a:t>.x</a:t>
            </a:r>
            <a:r>
              <a:rPr lang="en-US" sz="2800" baseline="-25000">
                <a:solidFill>
                  <a:srgbClr val="0C0C0C"/>
                </a:solidFill>
                <a:latin typeface="Calibri"/>
                <a:ea typeface="Calibri"/>
                <a:cs typeface="Calibri"/>
                <a:sym typeface="Calibri"/>
              </a:rPr>
              <a:t>j</a:t>
            </a:r>
            <a:br>
              <a:rPr lang="en-US" sz="2800">
                <a:solidFill>
                  <a:srgbClr val="0C0C0C"/>
                </a:solidFill>
                <a:latin typeface="Calibri"/>
                <a:ea typeface="Calibri"/>
                <a:cs typeface="Calibri"/>
                <a:sym typeface="Calibri"/>
              </a:rPr>
            </a:br>
            <a:r>
              <a:rPr lang="en-US" sz="2400">
                <a:solidFill>
                  <a:schemeClr val="dk1"/>
                </a:solidFill>
                <a:latin typeface="Calibri"/>
                <a:ea typeface="Calibri"/>
                <a:cs typeface="Calibri"/>
                <a:sym typeface="Calibri"/>
              </a:rPr>
              <a:t>2. Polynomial kernels: </a:t>
            </a:r>
            <a:r>
              <a:rPr lang="en-US" sz="2800" i="1">
                <a:solidFill>
                  <a:srgbClr val="0C0C0C"/>
                </a:solidFill>
                <a:latin typeface="Calibri"/>
                <a:ea typeface="Calibri"/>
                <a:cs typeface="Calibri"/>
                <a:sym typeface="Calibri"/>
              </a:rPr>
              <a:t>K</a:t>
            </a:r>
            <a:r>
              <a:rPr lang="en-US" sz="2800">
                <a:solidFill>
                  <a:srgbClr val="0C0C0C"/>
                </a:solidFill>
                <a:latin typeface="Calibri"/>
                <a:ea typeface="Calibri"/>
                <a:cs typeface="Calibri"/>
                <a:sym typeface="Calibri"/>
              </a:rPr>
              <a:t>(x</a:t>
            </a:r>
            <a:r>
              <a:rPr lang="en-US" sz="2800" baseline="-25000">
                <a:solidFill>
                  <a:srgbClr val="0C0C0C"/>
                </a:solidFill>
                <a:latin typeface="Calibri"/>
                <a:ea typeface="Calibri"/>
                <a:cs typeface="Calibri"/>
                <a:sym typeface="Calibri"/>
              </a:rPr>
              <a:t>i</a:t>
            </a:r>
            <a:r>
              <a:rPr lang="en-US" sz="2800">
                <a:solidFill>
                  <a:srgbClr val="0C0C0C"/>
                </a:solidFill>
                <a:latin typeface="Calibri"/>
                <a:ea typeface="Calibri"/>
                <a:cs typeface="Calibri"/>
                <a:sym typeface="Calibri"/>
              </a:rPr>
              <a:t>, x</a:t>
            </a:r>
            <a:r>
              <a:rPr lang="en-US" sz="2800" baseline="-25000">
                <a:solidFill>
                  <a:srgbClr val="0C0C0C"/>
                </a:solidFill>
                <a:latin typeface="Calibri"/>
                <a:ea typeface="Calibri"/>
                <a:cs typeface="Calibri"/>
                <a:sym typeface="Calibri"/>
              </a:rPr>
              <a:t>j</a:t>
            </a:r>
            <a:r>
              <a:rPr lang="en-US" sz="2800">
                <a:solidFill>
                  <a:srgbClr val="0C0C0C"/>
                </a:solidFill>
                <a:latin typeface="Calibri"/>
                <a:ea typeface="Calibri"/>
                <a:cs typeface="Calibri"/>
                <a:sym typeface="Calibri"/>
              </a:rPr>
              <a:t>) = (x</a:t>
            </a:r>
            <a:r>
              <a:rPr lang="en-US" sz="2800" baseline="-25000">
                <a:solidFill>
                  <a:srgbClr val="0C0C0C"/>
                </a:solidFill>
                <a:latin typeface="Calibri"/>
                <a:ea typeface="Calibri"/>
                <a:cs typeface="Calibri"/>
                <a:sym typeface="Calibri"/>
              </a:rPr>
              <a:t>i</a:t>
            </a:r>
            <a:r>
              <a:rPr lang="en-US" sz="2800" i="1" baseline="30000">
                <a:solidFill>
                  <a:srgbClr val="0C0C0C"/>
                </a:solidFill>
                <a:latin typeface="Calibri"/>
                <a:ea typeface="Calibri"/>
                <a:cs typeface="Calibri"/>
                <a:sym typeface="Calibri"/>
              </a:rPr>
              <a:t>t</a:t>
            </a:r>
            <a:r>
              <a:rPr lang="en-US" sz="2800" i="1">
                <a:solidFill>
                  <a:srgbClr val="0C0C0C"/>
                </a:solidFill>
                <a:latin typeface="Calibri"/>
                <a:ea typeface="Calibri"/>
                <a:cs typeface="Calibri"/>
                <a:sym typeface="Calibri"/>
              </a:rPr>
              <a:t>.x</a:t>
            </a:r>
            <a:r>
              <a:rPr lang="en-US" sz="2800" i="1" baseline="-25000">
                <a:solidFill>
                  <a:srgbClr val="0C0C0C"/>
                </a:solidFill>
                <a:latin typeface="Calibri"/>
                <a:ea typeface="Calibri"/>
                <a:cs typeface="Calibri"/>
                <a:sym typeface="Calibri"/>
              </a:rPr>
              <a:t>j</a:t>
            </a:r>
            <a:r>
              <a:rPr lang="en-US" sz="2800" i="1">
                <a:solidFill>
                  <a:srgbClr val="0C0C0C"/>
                </a:solidFill>
                <a:latin typeface="Calibri"/>
                <a:ea typeface="Calibri"/>
                <a:cs typeface="Calibri"/>
                <a:sym typeface="Calibri"/>
              </a:rPr>
              <a:t> </a:t>
            </a:r>
            <a:r>
              <a:rPr lang="en-US" sz="2800">
                <a:solidFill>
                  <a:srgbClr val="0C0C0C"/>
                </a:solidFill>
                <a:latin typeface="Calibri"/>
                <a:ea typeface="Calibri"/>
                <a:cs typeface="Calibri"/>
                <a:sym typeface="Calibri"/>
              </a:rPr>
              <a:t>+ 1)</a:t>
            </a:r>
            <a:r>
              <a:rPr lang="en-US" sz="2800" i="1" baseline="30000">
                <a:solidFill>
                  <a:srgbClr val="0C0C0C"/>
                </a:solidFill>
                <a:latin typeface="Calibri"/>
                <a:ea typeface="Calibri"/>
                <a:cs typeface="Calibri"/>
                <a:sym typeface="Calibri"/>
              </a:rPr>
              <a:t>d</a:t>
            </a:r>
            <a:br>
              <a:rPr lang="en-US" sz="2800" i="1">
                <a:solidFill>
                  <a:srgbClr val="0C0C0C"/>
                </a:solidFill>
                <a:latin typeface="Calibri"/>
                <a:ea typeface="Calibri"/>
                <a:cs typeface="Calibri"/>
                <a:sym typeface="Calibri"/>
              </a:rPr>
            </a:br>
            <a:r>
              <a:rPr lang="en-US" sz="2400">
                <a:solidFill>
                  <a:schemeClr val="dk1"/>
                </a:solidFill>
                <a:latin typeface="Calibri"/>
                <a:ea typeface="Calibri"/>
                <a:cs typeface="Calibri"/>
                <a:sym typeface="Calibri"/>
              </a:rPr>
              <a:t>3. RBF kernels </a:t>
            </a:r>
            <a:r>
              <a:rPr lang="en-US" sz="2800">
                <a:solidFill>
                  <a:srgbClr val="0C0C0C"/>
                </a:solidFill>
                <a:latin typeface="Calibri"/>
                <a:ea typeface="Calibri"/>
                <a:cs typeface="Calibri"/>
                <a:sym typeface="Calibri"/>
              </a:rPr>
              <a:t>: </a:t>
            </a:r>
            <a:r>
              <a:rPr lang="en-US" sz="2800" i="1">
                <a:solidFill>
                  <a:srgbClr val="0C0C0C"/>
                </a:solidFill>
                <a:latin typeface="Calibri"/>
                <a:ea typeface="Calibri"/>
                <a:cs typeface="Calibri"/>
                <a:sym typeface="Calibri"/>
              </a:rPr>
              <a:t>K</a:t>
            </a:r>
            <a:r>
              <a:rPr lang="en-US" sz="2800">
                <a:solidFill>
                  <a:srgbClr val="0C0C0C"/>
                </a:solidFill>
                <a:latin typeface="Calibri"/>
                <a:ea typeface="Calibri"/>
                <a:cs typeface="Calibri"/>
                <a:sym typeface="Calibri"/>
              </a:rPr>
              <a:t>(x</a:t>
            </a:r>
            <a:r>
              <a:rPr lang="en-US" sz="2800" baseline="-25000">
                <a:solidFill>
                  <a:srgbClr val="0C0C0C"/>
                </a:solidFill>
                <a:latin typeface="Calibri"/>
                <a:ea typeface="Calibri"/>
                <a:cs typeface="Calibri"/>
                <a:sym typeface="Calibri"/>
              </a:rPr>
              <a:t>i</a:t>
            </a:r>
            <a:r>
              <a:rPr lang="en-US" sz="2800">
                <a:solidFill>
                  <a:srgbClr val="0C0C0C"/>
                </a:solidFill>
                <a:latin typeface="Calibri"/>
                <a:ea typeface="Calibri"/>
                <a:cs typeface="Calibri"/>
                <a:sym typeface="Calibri"/>
              </a:rPr>
              <a:t>, x</a:t>
            </a:r>
            <a:r>
              <a:rPr lang="en-US" sz="2800" baseline="-25000">
                <a:solidFill>
                  <a:srgbClr val="0C0C0C"/>
                </a:solidFill>
                <a:latin typeface="Calibri"/>
                <a:ea typeface="Calibri"/>
                <a:cs typeface="Calibri"/>
                <a:sym typeface="Calibri"/>
              </a:rPr>
              <a:t>j </a:t>
            </a:r>
            <a:r>
              <a:rPr lang="en-US" sz="2800">
                <a:solidFill>
                  <a:srgbClr val="0C0C0C"/>
                </a:solidFill>
                <a:latin typeface="Calibri"/>
                <a:ea typeface="Calibri"/>
                <a:cs typeface="Calibri"/>
                <a:sym typeface="Calibri"/>
              </a:rPr>
              <a:t>)= exp( </a:t>
            </a:r>
            <a:r>
              <a:rPr lang="en-US" sz="3200">
                <a:solidFill>
                  <a:srgbClr val="0C0C0C"/>
                </a:solidFill>
                <a:latin typeface="Calibri"/>
                <a:ea typeface="Calibri"/>
                <a:cs typeface="Calibri"/>
                <a:sym typeface="Calibri"/>
              </a:rPr>
              <a:t>-</a:t>
            </a:r>
            <a:r>
              <a:rPr lang="en-US" sz="2800">
                <a:solidFill>
                  <a:srgbClr val="0C0C0C"/>
                </a:solidFill>
                <a:latin typeface="Calibri"/>
                <a:ea typeface="Calibri"/>
                <a:cs typeface="Calibri"/>
                <a:sym typeface="Calibri"/>
              </a:rPr>
              <a:t> γ ||x</a:t>
            </a:r>
            <a:r>
              <a:rPr lang="en-US" sz="2800" baseline="-25000">
                <a:solidFill>
                  <a:srgbClr val="0C0C0C"/>
                </a:solidFill>
                <a:latin typeface="Calibri"/>
                <a:ea typeface="Calibri"/>
                <a:cs typeface="Calibri"/>
                <a:sym typeface="Calibri"/>
              </a:rPr>
              <a:t>i</a:t>
            </a:r>
            <a:r>
              <a:rPr lang="en-US" sz="2800">
                <a:solidFill>
                  <a:srgbClr val="0C0C0C"/>
                </a:solidFill>
                <a:latin typeface="Calibri"/>
                <a:ea typeface="Calibri"/>
                <a:cs typeface="Calibri"/>
                <a:sym typeface="Calibri"/>
              </a:rPr>
              <a:t> - x</a:t>
            </a:r>
            <a:r>
              <a:rPr lang="en-US" sz="2800" baseline="-25000">
                <a:solidFill>
                  <a:srgbClr val="0C0C0C"/>
                </a:solidFill>
                <a:latin typeface="Calibri"/>
                <a:ea typeface="Calibri"/>
                <a:cs typeface="Calibri"/>
                <a:sym typeface="Calibri"/>
              </a:rPr>
              <a:t>j</a:t>
            </a:r>
            <a:r>
              <a:rPr lang="en-US" sz="2800">
                <a:solidFill>
                  <a:srgbClr val="0C0C0C"/>
                </a:solidFill>
                <a:latin typeface="Calibri"/>
                <a:ea typeface="Calibri"/>
                <a:cs typeface="Calibri"/>
                <a:sym typeface="Calibri"/>
              </a:rPr>
              <a:t>||</a:t>
            </a:r>
            <a:r>
              <a:rPr lang="en-US" sz="2800" baseline="30000">
                <a:solidFill>
                  <a:srgbClr val="0C0C0C"/>
                </a:solidFill>
                <a:latin typeface="Calibri"/>
                <a:ea typeface="Calibri"/>
                <a:cs typeface="Calibri"/>
                <a:sym typeface="Calibri"/>
              </a:rPr>
              <a:t>2</a:t>
            </a:r>
            <a:r>
              <a:rPr lang="en-US" sz="2800">
                <a:solidFill>
                  <a:srgbClr val="0C0C0C"/>
                </a:solidFill>
                <a:latin typeface="Calibri"/>
                <a:ea typeface="Calibri"/>
                <a:cs typeface="Calibri"/>
                <a:sym typeface="Calibri"/>
              </a:rPr>
              <a:t>) </a:t>
            </a:r>
            <a:br>
              <a:rPr lang="en-US" sz="2800">
                <a:solidFill>
                  <a:srgbClr val="0C0C0C"/>
                </a:solidFill>
                <a:latin typeface="Calibri"/>
                <a:ea typeface="Calibri"/>
                <a:cs typeface="Calibri"/>
                <a:sym typeface="Calibri"/>
              </a:rPr>
            </a:br>
            <a:endParaRPr sz="2400">
              <a:solidFill>
                <a:srgbClr val="0C0C0C"/>
              </a:solidFill>
              <a:latin typeface="Calibri"/>
              <a:ea typeface="Calibri"/>
              <a:cs typeface="Calibri"/>
              <a:sym typeface="Calibri"/>
            </a:endParaRPr>
          </a:p>
        </p:txBody>
      </p:sp>
      <p:sp>
        <p:nvSpPr>
          <p:cNvPr id="978" name="Google Shape;978;p91"/>
          <p:cNvSpPr/>
          <p:nvPr/>
        </p:nvSpPr>
        <p:spPr>
          <a:xfrm>
            <a:off x="326967" y="3502816"/>
            <a:ext cx="10071279" cy="29854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C55A11"/>
                </a:solidFill>
                <a:latin typeface="Calibri"/>
                <a:ea typeface="Calibri"/>
                <a:cs typeface="Calibri"/>
                <a:sym typeface="Calibri"/>
              </a:rPr>
              <a:t>Karush–Kuhn–Tucker (KKT) conditions :</a:t>
            </a:r>
            <a:endParaRPr/>
          </a:p>
          <a:p>
            <a:pPr marL="0" marR="0" lvl="0" indent="0" algn="l" rtl="0">
              <a:spcBef>
                <a:spcPts val="0"/>
              </a:spcBef>
              <a:spcAft>
                <a:spcPts val="0"/>
              </a:spcAft>
              <a:buNone/>
            </a:pPr>
            <a:endParaRPr sz="2400">
              <a:solidFill>
                <a:srgbClr val="C55A11"/>
              </a:solidFill>
              <a:latin typeface="Calibri"/>
              <a:ea typeface="Calibri"/>
              <a:cs typeface="Calibri"/>
              <a:sym typeface="Calibri"/>
            </a:endParaRPr>
          </a:p>
          <a:p>
            <a:pPr marL="0" marR="0" lvl="0" indent="0" algn="l" rtl="0">
              <a:spcBef>
                <a:spcPts val="0"/>
              </a:spcBef>
              <a:spcAft>
                <a:spcPts val="0"/>
              </a:spcAft>
              <a:buNone/>
            </a:pPr>
            <a:r>
              <a:rPr lang="en-US" sz="2000">
                <a:solidFill>
                  <a:srgbClr val="0C0C0C"/>
                </a:solidFill>
                <a:latin typeface="Calibri"/>
                <a:ea typeface="Calibri"/>
                <a:cs typeface="Calibri"/>
                <a:sym typeface="Calibri"/>
              </a:rPr>
              <a:t>Mathematically, the KKT conditions are equations that must be met in order to prove strong duality, which means that the solution to the dual problem will be equivalent to the solution of the primal problem.</a:t>
            </a:r>
            <a:endParaRPr/>
          </a:p>
          <a:p>
            <a:pPr marL="0" marR="0" lvl="0" indent="0" algn="l" rtl="0">
              <a:spcBef>
                <a:spcPts val="0"/>
              </a:spcBef>
              <a:spcAft>
                <a:spcPts val="0"/>
              </a:spcAft>
              <a:buNone/>
            </a:pPr>
            <a:endParaRPr sz="2000">
              <a:solidFill>
                <a:srgbClr val="0C0C0C"/>
              </a:solidFill>
              <a:latin typeface="Calibri"/>
              <a:ea typeface="Calibri"/>
              <a:cs typeface="Calibri"/>
              <a:sym typeface="Calibri"/>
            </a:endParaRPr>
          </a:p>
          <a:p>
            <a:pPr marL="0" marR="0" lvl="0" indent="0" algn="l" rtl="0">
              <a:spcBef>
                <a:spcPts val="0"/>
              </a:spcBef>
              <a:spcAft>
                <a:spcPts val="0"/>
              </a:spcAft>
              <a:buNone/>
            </a:pPr>
            <a:r>
              <a:rPr lang="en-US" sz="2000">
                <a:solidFill>
                  <a:srgbClr val="0C0C0C"/>
                </a:solidFill>
                <a:latin typeface="Calibri"/>
                <a:ea typeface="Calibri"/>
                <a:cs typeface="Calibri"/>
                <a:sym typeface="Calibri"/>
              </a:rPr>
              <a:t>When we run the code for SVM, the KKT conditions are going to be the primary reason why all the non-border alphas end up going to 0 and, consequently, the support vectors will be the only alphas &gt; 0.</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grpSp>
        <p:nvGrpSpPr>
          <p:cNvPr id="983" name="Google Shape;983;p92"/>
          <p:cNvGrpSpPr/>
          <p:nvPr/>
        </p:nvGrpSpPr>
        <p:grpSpPr>
          <a:xfrm>
            <a:off x="582279" y="334514"/>
            <a:ext cx="10508750" cy="5847345"/>
            <a:chOff x="582279" y="334514"/>
            <a:chExt cx="10508750" cy="5847345"/>
          </a:xfrm>
        </p:grpSpPr>
        <p:pic>
          <p:nvPicPr>
            <p:cNvPr id="984" name="Google Shape;984;p92"/>
            <p:cNvPicPr preferRelativeResize="0"/>
            <p:nvPr/>
          </p:nvPicPr>
          <p:blipFill rotWithShape="1">
            <a:blip r:embed="rId3">
              <a:alphaModFix/>
            </a:blip>
            <a:srcRect/>
            <a:stretch/>
          </p:blipFill>
          <p:spPr>
            <a:xfrm>
              <a:off x="582279" y="334514"/>
              <a:ext cx="10508750" cy="5847345"/>
            </a:xfrm>
            <a:prstGeom prst="rect">
              <a:avLst/>
            </a:prstGeom>
            <a:noFill/>
            <a:ln>
              <a:noFill/>
            </a:ln>
          </p:spPr>
        </p:pic>
        <p:pic>
          <p:nvPicPr>
            <p:cNvPr id="985" name="Google Shape;985;p92"/>
            <p:cNvPicPr preferRelativeResize="0"/>
            <p:nvPr/>
          </p:nvPicPr>
          <p:blipFill rotWithShape="1">
            <a:blip r:embed="rId4">
              <a:alphaModFix/>
            </a:blip>
            <a:srcRect/>
            <a:stretch/>
          </p:blipFill>
          <p:spPr>
            <a:xfrm>
              <a:off x="4727054" y="2571457"/>
              <a:ext cx="929296" cy="621161"/>
            </a:xfrm>
            <a:prstGeom prst="rect">
              <a:avLst/>
            </a:prstGeom>
            <a:noFill/>
            <a:ln>
              <a:noFill/>
            </a:ln>
          </p:spPr>
        </p:pic>
        <p:sp>
          <p:nvSpPr>
            <p:cNvPr id="986" name="Google Shape;986;p92"/>
            <p:cNvSpPr/>
            <p:nvPr/>
          </p:nvSpPr>
          <p:spPr>
            <a:xfrm>
              <a:off x="3240918" y="2651183"/>
              <a:ext cx="1567609" cy="4308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b="1">
                  <a:solidFill>
                    <a:schemeClr val="dk1"/>
                  </a:solidFill>
                  <a:latin typeface="Calibri"/>
                  <a:ea typeface="Calibri"/>
                  <a:cs typeface="Calibri"/>
                  <a:sym typeface="Calibri"/>
                </a:rPr>
                <a:t>or minimize</a:t>
              </a:r>
              <a:endParaRPr sz="2200" b="1" cap="none">
                <a:solidFill>
                  <a:schemeClr val="dk1"/>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pic>
        <p:nvPicPr>
          <p:cNvPr id="991" name="Google Shape;991;p93"/>
          <p:cNvPicPr preferRelativeResize="0"/>
          <p:nvPr/>
        </p:nvPicPr>
        <p:blipFill rotWithShape="1">
          <a:blip r:embed="rId3">
            <a:alphaModFix/>
          </a:blip>
          <a:srcRect t="1" b="1107"/>
          <a:stretch/>
        </p:blipFill>
        <p:spPr>
          <a:xfrm>
            <a:off x="1236373" y="567744"/>
            <a:ext cx="9776510" cy="549788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95"/>
        <p:cNvGrpSpPr/>
        <p:nvPr/>
      </p:nvGrpSpPr>
      <p:grpSpPr>
        <a:xfrm>
          <a:off x="0" y="0"/>
          <a:ext cx="0" cy="0"/>
          <a:chOff x="0" y="0"/>
          <a:chExt cx="0" cy="0"/>
        </a:xfrm>
      </p:grpSpPr>
      <p:pic>
        <p:nvPicPr>
          <p:cNvPr id="996" name="Google Shape;996;p94"/>
          <p:cNvPicPr preferRelativeResize="0"/>
          <p:nvPr/>
        </p:nvPicPr>
        <p:blipFill rotWithShape="1">
          <a:blip r:embed="rId3">
            <a:alphaModFix/>
          </a:blip>
          <a:srcRect/>
          <a:stretch/>
        </p:blipFill>
        <p:spPr>
          <a:xfrm>
            <a:off x="729596" y="358864"/>
            <a:ext cx="10745580" cy="606769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pic>
        <p:nvPicPr>
          <p:cNvPr id="1001" name="Google Shape;1001;p95"/>
          <p:cNvPicPr preferRelativeResize="0"/>
          <p:nvPr/>
        </p:nvPicPr>
        <p:blipFill rotWithShape="1">
          <a:blip r:embed="rId3">
            <a:alphaModFix/>
          </a:blip>
          <a:srcRect/>
          <a:stretch/>
        </p:blipFill>
        <p:spPr>
          <a:xfrm>
            <a:off x="1220607" y="804325"/>
            <a:ext cx="9855224" cy="543043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graphicFrame>
        <p:nvGraphicFramePr>
          <p:cNvPr id="1006" name="Google Shape;1006;p96"/>
          <p:cNvGraphicFramePr/>
          <p:nvPr/>
        </p:nvGraphicFramePr>
        <p:xfrm>
          <a:off x="1247359" y="1320972"/>
          <a:ext cx="9390750" cy="3817700"/>
        </p:xfrm>
        <a:graphic>
          <a:graphicData uri="http://schemas.openxmlformats.org/drawingml/2006/table">
            <a:tbl>
              <a:tblPr firstRow="1" bandRow="1">
                <a:noFill/>
                <a:tableStyleId>{71B749C7-0EE1-4517-A5FC-22D5A28B27E0}</a:tableStyleId>
              </a:tblPr>
              <a:tblGrid>
                <a:gridCol w="4695375">
                  <a:extLst>
                    <a:ext uri="{9D8B030D-6E8A-4147-A177-3AD203B41FA5}">
                      <a16:colId xmlns:a16="http://schemas.microsoft.com/office/drawing/2014/main" val="20000"/>
                    </a:ext>
                  </a:extLst>
                </a:gridCol>
                <a:gridCol w="4695375">
                  <a:extLst>
                    <a:ext uri="{9D8B030D-6E8A-4147-A177-3AD203B41FA5}">
                      <a16:colId xmlns:a16="http://schemas.microsoft.com/office/drawing/2014/main" val="20001"/>
                    </a:ext>
                  </a:extLst>
                </a:gridCol>
              </a:tblGrid>
              <a:tr h="438100">
                <a:tc>
                  <a:txBody>
                    <a:bodyPr/>
                    <a:lstStyle/>
                    <a:p>
                      <a:pPr marL="0" marR="0" lvl="0" indent="0" algn="l" rtl="0">
                        <a:spcBef>
                          <a:spcPts val="0"/>
                        </a:spcBef>
                        <a:spcAft>
                          <a:spcPts val="0"/>
                        </a:spcAft>
                        <a:buNone/>
                      </a:pPr>
                      <a:r>
                        <a:rPr lang="en-US" sz="2200"/>
                        <a:t>Soft Margin</a:t>
                      </a:r>
                      <a:endParaRPr sz="2200"/>
                    </a:p>
                  </a:txBody>
                  <a:tcPr marL="91450" marR="91450" marT="45725" marB="45725"/>
                </a:tc>
                <a:tc>
                  <a:txBody>
                    <a:bodyPr/>
                    <a:lstStyle/>
                    <a:p>
                      <a:pPr marL="0" marR="0" lvl="0" indent="0" algn="l" rtl="0">
                        <a:spcBef>
                          <a:spcPts val="0"/>
                        </a:spcBef>
                        <a:spcAft>
                          <a:spcPts val="0"/>
                        </a:spcAft>
                        <a:buNone/>
                      </a:pPr>
                      <a:r>
                        <a:rPr lang="en-US" sz="2200"/>
                        <a:t>Hard Margin</a:t>
                      </a:r>
                      <a:endParaRPr sz="2200"/>
                    </a:p>
                  </a:txBody>
                  <a:tcPr marL="91450" marR="91450" marT="45725" marB="45725"/>
                </a:tc>
                <a:extLst>
                  <a:ext uri="{0D108BD9-81ED-4DB2-BD59-A6C34878D82A}">
                    <a16:rowId xmlns:a16="http://schemas.microsoft.com/office/drawing/2014/main" val="10000"/>
                  </a:ext>
                </a:extLst>
              </a:tr>
              <a:tr h="1470750">
                <a:tc>
                  <a:txBody>
                    <a:bodyPr/>
                    <a:lstStyle/>
                    <a:p>
                      <a:pPr marL="0" marR="0" lvl="0" indent="0" algn="l" rtl="0">
                        <a:spcBef>
                          <a:spcPts val="0"/>
                        </a:spcBef>
                        <a:spcAft>
                          <a:spcPts val="0"/>
                        </a:spcAft>
                        <a:buNone/>
                      </a:pPr>
                      <a:r>
                        <a:rPr lang="en-US" sz="2200"/>
                        <a:t>1. Soft margin svm is used when data is not linearly separable in feature space.</a:t>
                      </a:r>
                      <a:endParaRPr sz="2200"/>
                    </a:p>
                  </a:txBody>
                  <a:tcPr marL="91450" marR="91450" marT="45725" marB="45725"/>
                </a:tc>
                <a:tc>
                  <a:txBody>
                    <a:bodyPr/>
                    <a:lstStyle/>
                    <a:p>
                      <a:pPr marL="0" marR="0" lvl="0" indent="0" algn="l" rtl="0">
                        <a:spcBef>
                          <a:spcPts val="0"/>
                        </a:spcBef>
                        <a:spcAft>
                          <a:spcPts val="0"/>
                        </a:spcAft>
                        <a:buNone/>
                      </a:pPr>
                      <a:r>
                        <a:rPr lang="en-US" sz="2200"/>
                        <a:t>1. Hard margin svm is used when data is linearly separable in fracture space.</a:t>
                      </a:r>
                      <a:endParaRPr sz="2200"/>
                    </a:p>
                  </a:txBody>
                  <a:tcPr marL="91450" marR="91450" marT="45725" marB="45725"/>
                </a:tc>
                <a:extLst>
                  <a:ext uri="{0D108BD9-81ED-4DB2-BD59-A6C34878D82A}">
                    <a16:rowId xmlns:a16="http://schemas.microsoft.com/office/drawing/2014/main" val="10001"/>
                  </a:ext>
                </a:extLst>
              </a:tr>
              <a:tr h="1126525">
                <a:tc>
                  <a:txBody>
                    <a:bodyPr/>
                    <a:lstStyle/>
                    <a:p>
                      <a:pPr marL="0" marR="0" lvl="0" indent="0" algn="l" rtl="0">
                        <a:spcBef>
                          <a:spcPts val="0"/>
                        </a:spcBef>
                        <a:spcAft>
                          <a:spcPts val="0"/>
                        </a:spcAft>
                        <a:buNone/>
                      </a:pPr>
                      <a:r>
                        <a:rPr lang="en-US" sz="2200"/>
                        <a:t>2. It allows data points inside the margin</a:t>
                      </a:r>
                      <a:endParaRPr sz="2200"/>
                    </a:p>
                  </a:txBody>
                  <a:tcPr marL="91450" marR="91450" marT="45725" marB="45725"/>
                </a:tc>
                <a:tc>
                  <a:txBody>
                    <a:bodyPr/>
                    <a:lstStyle/>
                    <a:p>
                      <a:pPr marL="0" marR="0" lvl="0" indent="0" algn="l" rtl="0">
                        <a:spcBef>
                          <a:spcPts val="0"/>
                        </a:spcBef>
                        <a:spcAft>
                          <a:spcPts val="0"/>
                        </a:spcAft>
                        <a:buNone/>
                      </a:pPr>
                      <a:r>
                        <a:rPr lang="en-US" sz="2200"/>
                        <a:t>2. It doesn’t allow data points inside the margin.</a:t>
                      </a:r>
                      <a:endParaRPr sz="2200"/>
                    </a:p>
                  </a:txBody>
                  <a:tcPr marL="91450" marR="91450" marT="45725" marB="45725"/>
                </a:tc>
                <a:extLst>
                  <a:ext uri="{0D108BD9-81ED-4DB2-BD59-A6C34878D82A}">
                    <a16:rowId xmlns:a16="http://schemas.microsoft.com/office/drawing/2014/main" val="10002"/>
                  </a:ext>
                </a:extLst>
              </a:tr>
              <a:tr h="782325">
                <a:tc>
                  <a:txBody>
                    <a:bodyPr/>
                    <a:lstStyle/>
                    <a:p>
                      <a:pPr marL="0" marR="0" lvl="0" indent="0" algn="l" rtl="0">
                        <a:spcBef>
                          <a:spcPts val="0"/>
                        </a:spcBef>
                        <a:spcAft>
                          <a:spcPts val="0"/>
                        </a:spcAft>
                        <a:buNone/>
                      </a:pPr>
                      <a:r>
                        <a:rPr lang="en-US" sz="2200"/>
                        <a:t>3.  Soft margin requires cost parameter.</a:t>
                      </a:r>
                      <a:endParaRPr sz="2200"/>
                    </a:p>
                  </a:txBody>
                  <a:tcPr marL="91450" marR="91450" marT="45725" marB="45725"/>
                </a:tc>
                <a:tc>
                  <a:txBody>
                    <a:bodyPr/>
                    <a:lstStyle/>
                    <a:p>
                      <a:pPr marL="0" marR="0" lvl="0" indent="0" algn="l" rtl="0">
                        <a:spcBef>
                          <a:spcPts val="0"/>
                        </a:spcBef>
                        <a:spcAft>
                          <a:spcPts val="0"/>
                        </a:spcAft>
                        <a:buNone/>
                      </a:pPr>
                      <a:r>
                        <a:rPr lang="en-US" sz="2200"/>
                        <a:t>3. Hard margin doesn’t requires to guess the cost parameter.</a:t>
                      </a:r>
                      <a:endParaRPr sz="2200"/>
                    </a:p>
                  </a:txBody>
                  <a:tcPr marL="91450" marR="91450" marT="45725" marB="45725"/>
                </a:tc>
                <a:extLst>
                  <a:ext uri="{0D108BD9-81ED-4DB2-BD59-A6C34878D82A}">
                    <a16:rowId xmlns:a16="http://schemas.microsoft.com/office/drawing/2014/main" val="10003"/>
                  </a:ext>
                </a:extLst>
              </a:tr>
            </a:tbl>
          </a:graphicData>
        </a:graphic>
      </p:graphicFrame>
      <p:sp>
        <p:nvSpPr>
          <p:cNvPr id="1007" name="Google Shape;1007;p96"/>
          <p:cNvSpPr/>
          <p:nvPr/>
        </p:nvSpPr>
        <p:spPr>
          <a:xfrm>
            <a:off x="3115554" y="410959"/>
            <a:ext cx="4958281"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rgbClr val="C55A11"/>
                </a:solidFill>
                <a:latin typeface="Calibri"/>
                <a:ea typeface="Calibri"/>
                <a:cs typeface="Calibri"/>
                <a:sym typeface="Calibri"/>
              </a:rPr>
              <a:t>Soft margin VS Hard margin SVM</a:t>
            </a:r>
            <a:endParaRPr sz="2800">
              <a:solidFill>
                <a:srgbClr val="C55A1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280</TotalTime>
  <Words>534</Words>
  <Application>Microsoft Office PowerPoint</Application>
  <PresentationFormat>Widescreen</PresentationFormat>
  <Paragraphs>32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Calibri</vt:lpstr>
      <vt:lpstr>Times New Roman</vt:lpstr>
      <vt:lpstr>Arial</vt:lpstr>
      <vt:lpstr>Office Theme</vt:lpstr>
      <vt:lpstr> Part 9: SVM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Part 1: Introduction to AI  </dc:title>
  <dc:creator>Tuhin</dc:creator>
  <cp:lastModifiedBy>Md. Ehasan Mahmud</cp:lastModifiedBy>
  <cp:revision>13</cp:revision>
  <dcterms:created xsi:type="dcterms:W3CDTF">2021-08-12T17:48:59Z</dcterms:created>
  <dcterms:modified xsi:type="dcterms:W3CDTF">2026-04-11T19:10:16Z</dcterms:modified>
</cp:coreProperties>
</file>