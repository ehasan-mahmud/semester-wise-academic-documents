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29.png" ContentType="image/png"/>
  <Override PartName="/ppt/media/image11.png" ContentType="image/png"/>
  <Override PartName="/ppt/media/image26.png" ContentType="image/png"/>
  <Override PartName="/ppt/media/image2.png" ContentType="image/png"/>
  <Override PartName="/ppt/media/image23.png" ContentType="image/png"/>
  <Override PartName="/ppt/media/image3.png" ContentType="image/png"/>
  <Override PartName="/ppt/media/image25.png" ContentType="image/png"/>
  <Override PartName="/ppt/media/image12.png" ContentType="image/png"/>
  <Override PartName="/ppt/media/image30.png" ContentType="image/png"/>
  <Override PartName="/ppt/media/image21.png" ContentType="image/png"/>
  <Override PartName="/ppt/media/image8.png" ContentType="image/png"/>
  <Override PartName="/ppt/media/image20.png" ContentType="image/png"/>
  <Override PartName="/ppt/media/image18.png" ContentType="image/png"/>
  <Override PartName="/ppt/media/image9.png" ContentType="image/png"/>
  <Override PartName="/ppt/media/image1.png" ContentType="image/png"/>
  <Override PartName="/ppt/media/image6.png" ContentType="image/png"/>
  <Override PartName="/ppt/media/image28.png" ContentType="image/png"/>
  <Override PartName="/ppt/media/image17.png" ContentType="image/png"/>
  <Override PartName="/ppt/media/image4.png" ContentType="image/png"/>
  <Override PartName="/ppt/media/image19.png" ContentType="image/png"/>
  <Override PartName="/ppt/media/image13.png" ContentType="image/png"/>
  <Override PartName="/ppt/media/image16.png" ContentType="image/png"/>
  <Override PartName="/ppt/media/image7.png" ContentType="image/png"/>
  <Override PartName="/ppt/media/image10.png" ContentType="image/png"/>
  <Override PartName="/ppt/media/image14.png" ContentType="image/png"/>
  <Override PartName="/ppt/media/image15.png" ContentType="image/png"/>
  <Override PartName="/ppt/media/image5.png" ContentType="image/png"/>
  <Override PartName="/ppt/media/image22.png" ContentType="image/png"/>
  <Override PartName="/ppt/media/image24.png" ContentType="image/png"/>
  <Override PartName="/ppt/media/image27.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_rels/notesSlide7.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trike="noStrike" u="none">
                <a:solidFill>
                  <a:schemeClr val="dk1"/>
                </a:solidFill>
                <a:effectLst/>
                <a:uFillTx/>
                <a:latin typeface="Calibri"/>
              </a:rPr>
              <a:t>Click to move the slide</a:t>
            </a:r>
            <a:endParaRPr b="0" lang="en-IN" sz="1800" strike="noStrike" u="non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format</a:t>
            </a:r>
            <a:endParaRPr b="0" lang="en-IN"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7D94718A-CE0B-4E75-93AC-0E37CC3F7BDA}" type="slidenum">
              <a:rPr b="0" lang="en-IN" sz="1400" strike="noStrike" u="none">
                <a:solidFill>
                  <a:srgbClr val="000000"/>
                </a:solidFill>
                <a:effectLst/>
                <a:uFillTx/>
                <a:latin typeface="Times New Roman"/>
              </a:rPr>
              <a:t>1</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6040" cy="3085920"/>
          </a:xfrm>
          <a:prstGeom prst="rect">
            <a:avLst/>
          </a:prstGeom>
          <a:ln w="0">
            <a:noFill/>
          </a:ln>
        </p:spPr>
      </p:sp>
      <p:sp>
        <p:nvSpPr>
          <p:cNvPr id="4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Good morning/afternoon everyone. Today I'll present on Understanding AI Hallucinations: Causes, Challenges, and Mitigation Strategies — a topic increasingly relevant as more people rely on AI tools daily.</a:t>
            </a:r>
            <a:endParaRPr b="0" lang="en-IN" sz="2000" strike="noStrike" u="none">
              <a:solidFill>
                <a:srgbClr val="000000"/>
              </a:solidFill>
              <a:effectLst/>
              <a:uFillTx/>
              <a:latin typeface="Arial"/>
            </a:endParaRPr>
          </a:p>
        </p:txBody>
      </p:sp>
      <p:sp>
        <p:nvSpPr>
          <p:cNvPr id="404"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699EEAD-394B-4225-B415-60D90D695CD2}"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6040" cy="3085920"/>
          </a:xfrm>
          <a:prstGeom prst="rect">
            <a:avLst/>
          </a:prstGeom>
          <a:ln w="0">
            <a:noFill/>
          </a:ln>
        </p:spPr>
      </p:sp>
      <p:sp>
        <p:nvSpPr>
          <p:cNvPr id="4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presentation is brought to you by Group No. 04. Our team members are Md. Ehasan Mahmud, ID 202122104026, and Meherab Hossen Opi, ID 202122104028.</a:t>
            </a:r>
            <a:endParaRPr b="0" lang="en-IN" sz="2000" strike="noStrike" u="none">
              <a:solidFill>
                <a:srgbClr val="000000"/>
              </a:solidFill>
              <a:effectLst/>
              <a:uFillTx/>
              <a:latin typeface="Arial"/>
            </a:endParaRPr>
          </a:p>
        </p:txBody>
      </p:sp>
      <p:sp>
        <p:nvSpPr>
          <p:cNvPr id="407"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01D7869-AC92-459B-9578-2C5547930A00}"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6040" cy="3085920"/>
          </a:xfrm>
          <a:prstGeom prst="rect">
            <a:avLst/>
          </a:prstGeom>
          <a:ln w="0">
            <a:noFill/>
          </a:ln>
        </p:spPr>
      </p:sp>
      <p:sp>
        <p:nvSpPr>
          <p:cNvPr id="4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Before we dive in, here are our objectives for today: understand what AI hallucination means and why it happens, recognize its different types, assess its real-world impact across industries, and learn practical strategies to mitigate and manage the risk.</a:t>
            </a:r>
            <a:endParaRPr b="0" lang="en-IN" sz="2000" strike="noStrike" u="none">
              <a:solidFill>
                <a:srgbClr val="000000"/>
              </a:solidFill>
              <a:effectLst/>
              <a:uFillTx/>
              <a:latin typeface="Arial"/>
            </a:endParaRPr>
          </a:p>
        </p:txBody>
      </p:sp>
      <p:sp>
        <p:nvSpPr>
          <p:cNvPr id="410"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22D3B9F-A1FC-4F21-9773-C347A586FD16}"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6040" cy="3085920"/>
          </a:xfrm>
          <a:prstGeom prst="rect">
            <a:avLst/>
          </a:prstGeom>
          <a:ln w="0">
            <a:noFill/>
          </a:ln>
        </p:spPr>
      </p:sp>
      <p:sp>
        <p:nvSpPr>
          <p:cNvPr id="4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AI hallucination is when a model generates output that is factually incorrect, nonsensical, or ungrounded in real data, yet presents it with full confidence. It may invent facts, statistics, quotes, or events — a term borrowed from human psychology.</a:t>
            </a:r>
            <a:endParaRPr b="0" lang="en-IN" sz="2000" strike="noStrike" u="none">
              <a:solidFill>
                <a:srgbClr val="000000"/>
              </a:solidFill>
              <a:effectLst/>
              <a:uFillTx/>
              <a:latin typeface="Arial"/>
            </a:endParaRPr>
          </a:p>
        </p:txBody>
      </p:sp>
      <p:sp>
        <p:nvSpPr>
          <p:cNvPr id="413"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2C9579D-A959-41E5-AEAB-82C014DB8FA8}"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040" cy="3085920"/>
          </a:xfrm>
          <a:prstGeom prst="rect">
            <a:avLst/>
          </a:prstGeom>
          <a:ln w="0">
            <a:noFill/>
          </a:ln>
        </p:spPr>
      </p:sp>
      <p:sp>
        <p:nvSpPr>
          <p:cNvPr id="4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Hallucinations fall into types: factual (wrong facts stated as true), intrinsic (contradicts the given source), extrinsic (adds unverifiable info), fabricated citations (invented papers/cases), logical (flawed reasoning), and contextual (losing track in long conversations).</a:t>
            </a:r>
            <a:endParaRPr b="0" lang="en-IN" sz="2000" strike="noStrike" u="none">
              <a:solidFill>
                <a:srgbClr val="000000"/>
              </a:solidFill>
              <a:effectLst/>
              <a:uFillTx/>
              <a:latin typeface="Arial"/>
            </a:endParaRPr>
          </a:p>
        </p:txBody>
      </p:sp>
      <p:sp>
        <p:nvSpPr>
          <p:cNvPr id="416"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347CA43-C364-4E84-A0F3-4A35365ED397}"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040" cy="3085920"/>
          </a:xfrm>
          <a:prstGeom prst="rect">
            <a:avLst/>
          </a:prstGeom>
          <a:ln w="0">
            <a:noFill/>
          </a:ln>
        </p:spPr>
      </p:sp>
      <p:sp>
        <p:nvSpPr>
          <p:cNvPr id="4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Data-related causes: limited or outdated training data creates knowledge gaps; noisy/biased sources get learned as truth; niche domains have too little data so the model guesses; and every model has a knowledge cutoff with no awareness of recent events.</a:t>
            </a:r>
            <a:endParaRPr b="0" lang="en-IN" sz="2000" strike="noStrike" u="none">
              <a:solidFill>
                <a:srgbClr val="000000"/>
              </a:solidFill>
              <a:effectLst/>
              <a:uFillTx/>
              <a:latin typeface="Arial"/>
            </a:endParaRPr>
          </a:p>
        </p:txBody>
      </p:sp>
      <p:sp>
        <p:nvSpPr>
          <p:cNvPr id="419"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6916868-5834-47B1-8A1C-8564F711F850}"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6040" cy="3085920"/>
          </a:xfrm>
          <a:prstGeom prst="rect">
            <a:avLst/>
          </a:prstGeom>
          <a:ln w="0">
            <a:noFill/>
          </a:ln>
        </p:spPr>
      </p:sp>
      <p:sp>
        <p:nvSpPr>
          <p:cNvPr id="4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Model/architecture causes: LLMs do next-token prediction — predicting likely words, not verified facts; they have no internal fact-checker, only pattern correlation; they overgeneralize familiar patterns to new situations; and small early errors compound across a long response.</a:t>
            </a:r>
            <a:endParaRPr b="0" lang="en-IN" sz="2000" strike="noStrike" u="none">
              <a:solidFill>
                <a:srgbClr val="000000"/>
              </a:solidFill>
              <a:effectLst/>
              <a:uFillTx/>
              <a:latin typeface="Arial"/>
            </a:endParaRPr>
          </a:p>
        </p:txBody>
      </p:sp>
      <p:sp>
        <p:nvSpPr>
          <p:cNvPr id="422"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37C824D-66A3-40A0-B633-4F02C6CF661E}"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6040" cy="3085920"/>
          </a:xfrm>
          <a:prstGeom prst="rect">
            <a:avLst/>
          </a:prstGeom>
          <a:ln w="0">
            <a:noFill/>
          </a:ln>
        </p:spPr>
      </p:sp>
      <p:sp>
        <p:nvSpPr>
          <p:cNvPr id="4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Training/inference causes: higher decoding temperature favors creativity over accuracy; vague prompts invite fabrication; RLHF can reward confident/agreeable tone over correctness (reward hacking); and models are trained to always answer rather than admit “I don't know.”</a:t>
            </a:r>
            <a:endParaRPr b="0" lang="en-IN" sz="2000" strike="noStrike" u="none">
              <a:solidFill>
                <a:srgbClr val="000000"/>
              </a:solidFill>
              <a:effectLst/>
              <a:uFillTx/>
              <a:latin typeface="Arial"/>
            </a:endParaRPr>
          </a:p>
        </p:txBody>
      </p:sp>
      <p:sp>
        <p:nvSpPr>
          <p:cNvPr id="425"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CA7BA72-BF4C-4C85-8758-C4B1899486E7}"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6040" cy="3085920"/>
          </a:xfrm>
          <a:prstGeom prst="rect">
            <a:avLst/>
          </a:prstGeom>
          <a:ln w="0">
            <a:noFill/>
          </a:ln>
        </p:spPr>
      </p:sp>
      <p:sp>
        <p:nvSpPr>
          <p:cNvPr id="4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Real cases: a lawyer submitted a legal brief with fake AI-generated case citations; chatbots have invented entire academic papers and authors; coding assistants suggest non-existent functions; customer-service bots give false policy/pricing info; and models have gotten basic historical facts and quotes wrong.</a:t>
            </a:r>
            <a:endParaRPr b="0" lang="en-IN" sz="2000" strike="noStrike" u="none">
              <a:solidFill>
                <a:srgbClr val="000000"/>
              </a:solidFill>
              <a:effectLst/>
              <a:uFillTx/>
              <a:latin typeface="Arial"/>
            </a:endParaRPr>
          </a:p>
        </p:txBody>
      </p:sp>
      <p:sp>
        <p:nvSpPr>
          <p:cNvPr id="428"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8C83B1E-9420-413D-BA31-719654FAEFD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685800" y="1143000"/>
            <a:ext cx="5486040" cy="3085920"/>
          </a:xfrm>
          <a:prstGeom prst="rect">
            <a:avLst/>
          </a:prstGeom>
          <a:ln w="0">
            <a:noFill/>
          </a:ln>
        </p:spPr>
      </p:sp>
      <p:sp>
        <p:nvSpPr>
          <p:cNvPr id="4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Key challenges: hallucinated text is just as fluent as accurate text, so it's hard to detect; models rarely signal uncertainty; the sheer scale of deployment means even small error rates cause big impact; the risk is severe in medicine, law, and finance; fact-checking at scale is expensive; and every caught error erodes public trust.</a:t>
            </a:r>
            <a:endParaRPr b="0" lang="en-IN" sz="2000" strike="noStrike" u="none">
              <a:solidFill>
                <a:srgbClr val="000000"/>
              </a:solidFill>
              <a:effectLst/>
              <a:uFillTx/>
              <a:latin typeface="Arial"/>
            </a:endParaRPr>
          </a:p>
        </p:txBody>
      </p:sp>
      <p:sp>
        <p:nvSpPr>
          <p:cNvPr id="431"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0AD8AF0-D482-4EA5-A4EB-5C665E51BCDB}"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685800" y="1143000"/>
            <a:ext cx="5486040" cy="3085920"/>
          </a:xfrm>
          <a:prstGeom prst="rect">
            <a:avLst/>
          </a:prstGeom>
          <a:ln w="0">
            <a:noFill/>
          </a:ln>
        </p:spPr>
      </p:sp>
      <p:sp>
        <p:nvSpPr>
          <p:cNvPr id="4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Data &amp; training mitigations: curate accurate, diverse, current datasets; use Retrieval-Augmented Generation (RAG) to ground answers in real retrieved documents; fine-tune specifically for factual accuracy; and reward truthful outputs while penalizing fabrication during RLHF.</a:t>
            </a:r>
            <a:endParaRPr b="0" lang="en-IN" sz="2000" strike="noStrike" u="none">
              <a:solidFill>
                <a:srgbClr val="000000"/>
              </a:solidFill>
              <a:effectLst/>
              <a:uFillTx/>
              <a:latin typeface="Arial"/>
            </a:endParaRPr>
          </a:p>
        </p:txBody>
      </p:sp>
      <p:sp>
        <p:nvSpPr>
          <p:cNvPr id="434"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8815CC1-C5CA-4FFD-8805-1806CCD43A68}"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685800" y="1143000"/>
            <a:ext cx="5486040" cy="3085920"/>
          </a:xfrm>
          <a:prstGeom prst="rect">
            <a:avLst/>
          </a:prstGeom>
          <a:ln w="0">
            <a:noFill/>
          </a:ln>
        </p:spPr>
      </p:sp>
      <p:sp>
        <p:nvSpPr>
          <p:cNvPr id="4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System &amp; usage mitigations: write clear, specific prompts to reduce ambiguity; use chain-of-thought and self-consistency checks so the model verifies its own reasoning; apply confidence scoring to flag uncertain answers; and require human-in-the-loop review plus cited sources for critical use cases.</a:t>
            </a:r>
            <a:endParaRPr b="0" lang="en-IN" sz="2000" strike="noStrike" u="none">
              <a:solidFill>
                <a:srgbClr val="000000"/>
              </a:solidFill>
              <a:effectLst/>
              <a:uFillTx/>
              <a:latin typeface="Arial"/>
            </a:endParaRPr>
          </a:p>
        </p:txBody>
      </p:sp>
      <p:sp>
        <p:nvSpPr>
          <p:cNvPr id="437"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AA72B73-F043-4E18-AF3A-9AC8F234FC78}"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685800" y="1143000"/>
            <a:ext cx="5486040" cy="3085920"/>
          </a:xfrm>
          <a:prstGeom prst="rect">
            <a:avLst/>
          </a:prstGeom>
          <a:ln w="0">
            <a:noFill/>
          </a:ln>
        </p:spPr>
      </p:sp>
      <p:sp>
        <p:nvSpPr>
          <p:cNvPr id="4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Best practices going forward: always verify critical AI facts against trusted sources; combine AI output with human judgment, especially in high-stakes situations; support better factuality benchmarks; and push toward models that can honestly say “I don't know” instead of guessing.</a:t>
            </a:r>
            <a:endParaRPr b="0" lang="en-IN" sz="2000" strike="noStrike" u="none">
              <a:solidFill>
                <a:srgbClr val="000000"/>
              </a:solidFill>
              <a:effectLst/>
              <a:uFillTx/>
              <a:latin typeface="Arial"/>
            </a:endParaRPr>
          </a:p>
        </p:txBody>
      </p:sp>
      <p:sp>
        <p:nvSpPr>
          <p:cNvPr id="440"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736187B-EE69-4EF5-98AB-24521E93540F}"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6040" cy="3085920"/>
          </a:xfrm>
          <a:prstGeom prst="rect">
            <a:avLst/>
          </a:prstGeom>
          <a:ln w="0">
            <a:noFill/>
          </a:ln>
        </p:spPr>
      </p:sp>
      <p:sp>
        <p:nvSpPr>
          <p:cNvPr id="4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In conclusion, hallucinations are a natural consequence of how language models work — predicting plausible text rather than verifying truth. We can't eliminate them completely today, but better data, grounding techniques like RAG, careful system design, and human oversight can dramatically reduce their frequency and impact. Thank you — happy to take questions.</a:t>
            </a:r>
            <a:endParaRPr b="0" lang="en-IN" sz="2000" strike="noStrike" u="none">
              <a:solidFill>
                <a:srgbClr val="000000"/>
              </a:solidFill>
              <a:effectLst/>
              <a:uFillTx/>
              <a:latin typeface="Arial"/>
            </a:endParaRPr>
          </a:p>
        </p:txBody>
      </p:sp>
      <p:sp>
        <p:nvSpPr>
          <p:cNvPr id="443"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CDD313D-DDF5-41F1-8C28-1EA9D3AD498E}"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IN" sz="1800" strike="noStrike" u="none">
                <a:solidFill>
                  <a:schemeClr val="dk1"/>
                </a:solidFill>
                <a:effectLst/>
                <a:uFillTx/>
                <a:latin typeface="Calibri"/>
              </a:rPr>
              <a:t>Click to edit the title text format</a:t>
            </a:r>
            <a:endParaRPr b="0" lang="en-IN" sz="1800" strike="noStrike" u="non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trike="noStrike" u="none">
                <a:solidFill>
                  <a:schemeClr val="dk1"/>
                </a:solidFill>
                <a:effectLst/>
                <a:uFillTx/>
                <a:latin typeface="Calibri"/>
              </a:rPr>
              <a:t>Click to edit the outline text format</a:t>
            </a:r>
            <a:endParaRPr b="0" lang="en-IN"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IN" sz="2400" strike="noStrike" u="none">
                <a:solidFill>
                  <a:schemeClr val="dk1"/>
                </a:solidFill>
                <a:effectLst/>
                <a:uFillTx/>
                <a:latin typeface="Calibri"/>
              </a:rPr>
              <a:t>Second Outline Level</a:t>
            </a:r>
            <a:endParaRPr b="0" lang="en-IN"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IN" sz="2000" strike="noStrike" u="none">
                <a:solidFill>
                  <a:schemeClr val="dk1"/>
                </a:solidFill>
                <a:effectLst/>
                <a:uFillTx/>
                <a:latin typeface="Calibri"/>
              </a:rPr>
              <a:t>Third Outline Level</a:t>
            </a:r>
            <a:endParaRPr b="0" lang="en-IN"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IN" sz="2000" strike="noStrike" u="none">
                <a:solidFill>
                  <a:schemeClr val="dk1"/>
                </a:solidFill>
                <a:effectLst/>
                <a:uFillTx/>
                <a:latin typeface="Calibri"/>
              </a:rPr>
              <a:t>Fourth Outline Level</a:t>
            </a:r>
            <a:endParaRPr b="0" lang="en-IN"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Fifth Outline Level</a:t>
            </a:r>
            <a:endParaRPr b="0" lang="en-IN"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Sixth Outline Level</a:t>
            </a:r>
            <a:endParaRPr b="0" lang="en-IN"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Seventh Outline Level</a:t>
            </a:r>
            <a:endParaRPr b="0" lang="en-IN"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hyperlink" Target="https://cse.kiu.ac.bd/viewprofile/20" TargetMode="External"/><Relationship Id="rId5" Type="http://schemas.openxmlformats.org/officeDocument/2006/relationships/hyperlink" Target="https://cse.kiu.ac.bd/viewprofile/20" TargetMode="External"/><Relationship Id="rId6" Type="http://schemas.openxmlformats.org/officeDocument/2006/relationships/slideLayout" Target="../slideLayouts/slideLayout1.xml"/><Relationship Id="rId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5.png"/><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6.png"/><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10" name="Shape 0"/>
          <p:cNvSpPr/>
          <p:nvPr/>
        </p:nvSpPr>
        <p:spPr>
          <a:xfrm>
            <a:off x="9692640" y="-1463040"/>
            <a:ext cx="4571640" cy="457164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 name="Shape 1"/>
          <p:cNvSpPr/>
          <p:nvPr/>
        </p:nvSpPr>
        <p:spPr>
          <a:xfrm>
            <a:off x="-1645920" y="4754880"/>
            <a:ext cx="3657240" cy="365724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 name="Shape 2"/>
          <p:cNvSpPr/>
          <p:nvPr/>
        </p:nvSpPr>
        <p:spPr>
          <a:xfrm flipH="1">
            <a:off x="7503480" y="751320"/>
            <a:ext cx="1119240" cy="3348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3" name="Shape 3"/>
          <p:cNvSpPr/>
          <p:nvPr/>
        </p:nvSpPr>
        <p:spPr>
          <a:xfrm>
            <a:off x="8622720" y="751320"/>
            <a:ext cx="1026000" cy="6696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4" name="Shape 4"/>
          <p:cNvSpPr/>
          <p:nvPr/>
        </p:nvSpPr>
        <p:spPr>
          <a:xfrm>
            <a:off x="7503480" y="1086120"/>
            <a:ext cx="559440" cy="11156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5" name="Shape 5"/>
          <p:cNvSpPr/>
          <p:nvPr/>
        </p:nvSpPr>
        <p:spPr>
          <a:xfrm>
            <a:off x="8622720" y="751320"/>
            <a:ext cx="559440" cy="15620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6" name="Shape 6"/>
          <p:cNvSpPr/>
          <p:nvPr/>
        </p:nvSpPr>
        <p:spPr>
          <a:xfrm>
            <a:off x="9648720" y="1420920"/>
            <a:ext cx="745920" cy="4460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7" name="Shape 7"/>
          <p:cNvSpPr/>
          <p:nvPr/>
        </p:nvSpPr>
        <p:spPr>
          <a:xfrm>
            <a:off x="8062920" y="2201760"/>
            <a:ext cx="1119240" cy="1116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8" name="Shape 8"/>
          <p:cNvSpPr/>
          <p:nvPr/>
        </p:nvSpPr>
        <p:spPr>
          <a:xfrm flipH="1">
            <a:off x="9182160" y="1866960"/>
            <a:ext cx="1212480" cy="4464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9" name="Shape 9"/>
          <p:cNvSpPr/>
          <p:nvPr/>
        </p:nvSpPr>
        <p:spPr>
          <a:xfrm flipH="1">
            <a:off x="8622720" y="2313360"/>
            <a:ext cx="559440" cy="11156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0" name="Shape 10"/>
          <p:cNvSpPr/>
          <p:nvPr/>
        </p:nvSpPr>
        <p:spPr>
          <a:xfrm flipH="1">
            <a:off x="9928440" y="1866960"/>
            <a:ext cx="466200" cy="14504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1" name="Shape 11"/>
          <p:cNvSpPr/>
          <p:nvPr/>
        </p:nvSpPr>
        <p:spPr>
          <a:xfrm>
            <a:off x="10394640" y="1866960"/>
            <a:ext cx="653040" cy="10040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2" name="Shape 12"/>
          <p:cNvSpPr/>
          <p:nvPr/>
        </p:nvSpPr>
        <p:spPr>
          <a:xfrm flipH="1">
            <a:off x="8622720" y="3317400"/>
            <a:ext cx="1305720" cy="1116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3" name="Shape 13"/>
          <p:cNvSpPr/>
          <p:nvPr/>
        </p:nvSpPr>
        <p:spPr>
          <a:xfrm flipH="1">
            <a:off x="9928440" y="2871000"/>
            <a:ext cx="1119240" cy="4464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4" name="Shape 14"/>
          <p:cNvSpPr/>
          <p:nvPr/>
        </p:nvSpPr>
        <p:spPr>
          <a:xfrm flipH="1">
            <a:off x="7876440" y="2201760"/>
            <a:ext cx="186480" cy="223092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5" name="Shape 15"/>
          <p:cNvSpPr/>
          <p:nvPr/>
        </p:nvSpPr>
        <p:spPr>
          <a:xfrm>
            <a:off x="8622720" y="3429000"/>
            <a:ext cx="745920" cy="111528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6" name="Shape 16"/>
          <p:cNvSpPr/>
          <p:nvPr/>
        </p:nvSpPr>
        <p:spPr>
          <a:xfrm>
            <a:off x="9928440" y="3317400"/>
            <a:ext cx="652680" cy="10040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7" name="Shape 17"/>
          <p:cNvSpPr/>
          <p:nvPr/>
        </p:nvSpPr>
        <p:spPr>
          <a:xfrm>
            <a:off x="11047680" y="2871000"/>
            <a:ext cx="372960" cy="12272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8" name="Shape 18"/>
          <p:cNvSpPr/>
          <p:nvPr/>
        </p:nvSpPr>
        <p:spPr>
          <a:xfrm>
            <a:off x="7876440" y="4432680"/>
            <a:ext cx="1492200" cy="1116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29" name="Shape 19"/>
          <p:cNvSpPr/>
          <p:nvPr/>
        </p:nvSpPr>
        <p:spPr>
          <a:xfrm flipH="1">
            <a:off x="9368640" y="4321440"/>
            <a:ext cx="1212480" cy="2228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0" name="Shape 20"/>
          <p:cNvSpPr/>
          <p:nvPr/>
        </p:nvSpPr>
        <p:spPr>
          <a:xfrm flipH="1">
            <a:off x="10581120" y="4098240"/>
            <a:ext cx="839520" cy="22320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1" name="Shape 21"/>
          <p:cNvSpPr/>
          <p:nvPr/>
        </p:nvSpPr>
        <p:spPr>
          <a:xfrm>
            <a:off x="9368640" y="4544280"/>
            <a:ext cx="746280" cy="8924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2" name="Shape 22"/>
          <p:cNvSpPr/>
          <p:nvPr/>
        </p:nvSpPr>
        <p:spPr>
          <a:xfrm flipH="1">
            <a:off x="10114920" y="4321440"/>
            <a:ext cx="466200" cy="111528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3" name="Shape 23"/>
          <p:cNvSpPr/>
          <p:nvPr/>
        </p:nvSpPr>
        <p:spPr>
          <a:xfrm>
            <a:off x="7876440" y="4432680"/>
            <a:ext cx="466200" cy="11156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4" name="Shape 24"/>
          <p:cNvSpPr/>
          <p:nvPr/>
        </p:nvSpPr>
        <p:spPr>
          <a:xfrm flipH="1">
            <a:off x="8342640" y="4544280"/>
            <a:ext cx="1026000" cy="100404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5" name="Shape 25"/>
          <p:cNvSpPr/>
          <p:nvPr/>
        </p:nvSpPr>
        <p:spPr>
          <a:xfrm flipH="1">
            <a:off x="7876440" y="3429000"/>
            <a:ext cx="746280" cy="1003680"/>
          </a:xfrm>
          <a:prstGeom prst="line">
            <a:avLst/>
          </a:prstGeom>
          <a:ln w="15875">
            <a:solidFill>
              <a:srgbClr val="d8c79a"/>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 name="Shape 26"/>
          <p:cNvSpPr/>
          <p:nvPr/>
        </p:nvSpPr>
        <p:spPr>
          <a:xfrm>
            <a:off x="7305480" y="888120"/>
            <a:ext cx="396000" cy="3960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7" name="Shape 27"/>
          <p:cNvSpPr/>
          <p:nvPr/>
        </p:nvSpPr>
        <p:spPr>
          <a:xfrm>
            <a:off x="8503920" y="632880"/>
            <a:ext cx="237600" cy="2376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 name="Shape 28"/>
          <p:cNvSpPr/>
          <p:nvPr/>
        </p:nvSpPr>
        <p:spPr>
          <a:xfrm>
            <a:off x="9490320" y="1262520"/>
            <a:ext cx="316800" cy="31680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 name="Shape 29"/>
          <p:cNvSpPr/>
          <p:nvPr/>
        </p:nvSpPr>
        <p:spPr>
          <a:xfrm>
            <a:off x="7924320" y="2063160"/>
            <a:ext cx="277200" cy="2772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0" name="Shape 30"/>
          <p:cNvSpPr/>
          <p:nvPr/>
        </p:nvSpPr>
        <p:spPr>
          <a:xfrm>
            <a:off x="8964360" y="2095560"/>
            <a:ext cx="435600" cy="43560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1" name="Shape 31"/>
          <p:cNvSpPr/>
          <p:nvPr/>
        </p:nvSpPr>
        <p:spPr>
          <a:xfrm>
            <a:off x="10275840" y="1748160"/>
            <a:ext cx="237600" cy="2376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2" name="Shape 32"/>
          <p:cNvSpPr/>
          <p:nvPr/>
        </p:nvSpPr>
        <p:spPr>
          <a:xfrm>
            <a:off x="8503920" y="3310200"/>
            <a:ext cx="237600" cy="2376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3" name="Shape 33"/>
          <p:cNvSpPr/>
          <p:nvPr/>
        </p:nvSpPr>
        <p:spPr>
          <a:xfrm>
            <a:off x="9750240" y="3139200"/>
            <a:ext cx="356400" cy="35640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4" name="Shape 34"/>
          <p:cNvSpPr/>
          <p:nvPr/>
        </p:nvSpPr>
        <p:spPr>
          <a:xfrm>
            <a:off x="10909080" y="2732400"/>
            <a:ext cx="277200" cy="2772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5" name="Shape 35"/>
          <p:cNvSpPr/>
          <p:nvPr/>
        </p:nvSpPr>
        <p:spPr>
          <a:xfrm>
            <a:off x="7777440" y="4334040"/>
            <a:ext cx="198000" cy="1980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6" name="Shape 36"/>
          <p:cNvSpPr/>
          <p:nvPr/>
        </p:nvSpPr>
        <p:spPr>
          <a:xfrm>
            <a:off x="9230040" y="4405680"/>
            <a:ext cx="277200" cy="27720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7" name="Shape 37"/>
          <p:cNvSpPr/>
          <p:nvPr/>
        </p:nvSpPr>
        <p:spPr>
          <a:xfrm>
            <a:off x="10462680" y="4202640"/>
            <a:ext cx="237600" cy="2376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8" name="Shape 38"/>
          <p:cNvSpPr/>
          <p:nvPr/>
        </p:nvSpPr>
        <p:spPr>
          <a:xfrm>
            <a:off x="11321640" y="3999240"/>
            <a:ext cx="198000" cy="1980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9" name="Shape 39"/>
          <p:cNvSpPr/>
          <p:nvPr/>
        </p:nvSpPr>
        <p:spPr>
          <a:xfrm>
            <a:off x="10015920" y="5338080"/>
            <a:ext cx="198000" cy="1980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0" name="Shape 40"/>
          <p:cNvSpPr/>
          <p:nvPr/>
        </p:nvSpPr>
        <p:spPr>
          <a:xfrm>
            <a:off x="8263800" y="5469480"/>
            <a:ext cx="158040" cy="1580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 name="Shape 41"/>
          <p:cNvSpPr/>
          <p:nvPr/>
        </p:nvSpPr>
        <p:spPr>
          <a:xfrm>
            <a:off x="685800" y="1234440"/>
            <a:ext cx="959760" cy="95976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pic>
        <p:nvPicPr>
          <p:cNvPr id="52" name="Image 0" descr="/home/claude/aihall/icons/warning_navy.png"/>
          <p:cNvPicPr/>
          <p:nvPr/>
        </p:nvPicPr>
        <p:blipFill>
          <a:blip r:embed="rId1"/>
          <a:stretch/>
        </p:blipFill>
        <p:spPr>
          <a:xfrm>
            <a:off x="810720" y="1359360"/>
            <a:ext cx="710280" cy="710280"/>
          </a:xfrm>
          <a:prstGeom prst="rect">
            <a:avLst/>
          </a:prstGeom>
          <a:noFill/>
          <a:ln w="0">
            <a:noFill/>
          </a:ln>
        </p:spPr>
      </p:pic>
      <p:sp>
        <p:nvSpPr>
          <p:cNvPr id="53" name="Text 42"/>
          <p:cNvSpPr/>
          <p:nvPr/>
        </p:nvSpPr>
        <p:spPr>
          <a:xfrm>
            <a:off x="685800" y="2514600"/>
            <a:ext cx="9143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300" strike="noStrike" u="none">
                <a:solidFill>
                  <a:srgbClr val="c9962b"/>
                </a:solidFill>
                <a:effectLst/>
                <a:uFillTx/>
                <a:latin typeface="Calibri"/>
                <a:ea typeface="Calibri"/>
              </a:rPr>
              <a:t>UNDERSTANDING</a:t>
            </a:r>
            <a:endParaRPr b="0" lang="en-IN" sz="1500" strike="noStrike" u="none">
              <a:solidFill>
                <a:srgbClr val="000000"/>
              </a:solidFill>
              <a:effectLst/>
              <a:uFillTx/>
              <a:latin typeface="Arial"/>
            </a:endParaRPr>
          </a:p>
        </p:txBody>
      </p:sp>
      <p:sp>
        <p:nvSpPr>
          <p:cNvPr id="54" name="Text 43"/>
          <p:cNvSpPr/>
          <p:nvPr/>
        </p:nvSpPr>
        <p:spPr>
          <a:xfrm>
            <a:off x="658440" y="2834640"/>
            <a:ext cx="1051524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600" strike="noStrike" u="none">
                <a:solidFill>
                  <a:srgbClr val="1e2761"/>
                </a:solidFill>
                <a:effectLst/>
                <a:uFillTx/>
                <a:latin typeface="Cambria"/>
                <a:ea typeface="Cambria"/>
              </a:rPr>
              <a:t>AI Hallucinations</a:t>
            </a:r>
            <a:endParaRPr b="0" lang="en-IN" sz="4600" strike="noStrike" u="none">
              <a:solidFill>
                <a:srgbClr val="000000"/>
              </a:solidFill>
              <a:effectLst/>
              <a:uFillTx/>
              <a:latin typeface="Arial"/>
            </a:endParaRPr>
          </a:p>
        </p:txBody>
      </p:sp>
      <p:sp>
        <p:nvSpPr>
          <p:cNvPr id="55" name="Text 44"/>
          <p:cNvSpPr/>
          <p:nvPr/>
        </p:nvSpPr>
        <p:spPr>
          <a:xfrm>
            <a:off x="685800" y="3794760"/>
            <a:ext cx="10058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trike="noStrike" u="none">
                <a:solidFill>
                  <a:srgbClr val="5b6b8c"/>
                </a:solidFill>
                <a:effectLst/>
                <a:uFillTx/>
                <a:latin typeface="Calibri"/>
                <a:ea typeface="Calibri"/>
              </a:rPr>
              <a:t>Causes  •  Challenges  •  Mitigation Strategies</a:t>
            </a:r>
            <a:endParaRPr b="0" lang="en-IN" sz="1800" strike="noStrike" u="none">
              <a:solidFill>
                <a:srgbClr val="000000"/>
              </a:solidFill>
              <a:effectLst/>
              <a:uFillTx/>
              <a:latin typeface="Arial"/>
            </a:endParaRPr>
          </a:p>
        </p:txBody>
      </p:sp>
      <p:sp>
        <p:nvSpPr>
          <p:cNvPr id="56" name="Text 45"/>
          <p:cNvSpPr/>
          <p:nvPr/>
        </p:nvSpPr>
        <p:spPr>
          <a:xfrm>
            <a:off x="685800" y="4343400"/>
            <a:ext cx="8960760" cy="63972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i="1" lang="en-US" sz="1350" strike="noStrike" u="none">
                <a:solidFill>
                  <a:srgbClr val="5b6b8c"/>
                </a:solidFill>
                <a:effectLst/>
                <a:uFillTx/>
                <a:latin typeface="Calibri"/>
                <a:ea typeface="Calibri"/>
              </a:rPr>
              <a:t>A closer look at why large language models confidently produce false information and what can be done about it.</a:t>
            </a:r>
            <a:endParaRPr b="0" lang="en-IN" sz="1350" strike="noStrike" u="none">
              <a:solidFill>
                <a:srgbClr val="000000"/>
              </a:solidFill>
              <a:effectLst/>
              <a:uFillTx/>
              <a:latin typeface="Arial"/>
            </a:endParaRPr>
          </a:p>
        </p:txBody>
      </p:sp>
      <p:sp>
        <p:nvSpPr>
          <p:cNvPr id="57" name="Text 46"/>
          <p:cNvSpPr/>
          <p:nvPr/>
        </p:nvSpPr>
        <p:spPr>
          <a:xfrm>
            <a:off x="685800" y="608076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58"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GROUP NO: 04</a:t>
            </a:r>
            <a:endParaRPr b="0" lang="en-IN" sz="1300" strike="noStrike" u="none">
              <a:solidFill>
                <a:srgbClr val="000000"/>
              </a:solidFill>
              <a:effectLst/>
              <a:uFillTx/>
              <a:latin typeface="Arial"/>
            </a:endParaRPr>
          </a:p>
        </p:txBody>
      </p:sp>
      <p:sp>
        <p:nvSpPr>
          <p:cNvPr id="59"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Presented By</a:t>
            </a:r>
            <a:endParaRPr b="0" lang="en-IN" sz="3200" strike="noStrike" u="none">
              <a:solidFill>
                <a:srgbClr val="000000"/>
              </a:solidFill>
              <a:effectLst/>
              <a:uFillTx/>
              <a:latin typeface="Arial"/>
            </a:endParaRPr>
          </a:p>
        </p:txBody>
      </p:sp>
      <p:sp>
        <p:nvSpPr>
          <p:cNvPr id="60"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endParaRPr b="0" lang="en-IN" sz="1800" strike="noStrike" u="none">
              <a:solidFill>
                <a:srgbClr val="000000"/>
              </a:solidFill>
              <a:effectLst/>
              <a:uFillTx/>
              <a:latin typeface="Arial"/>
            </a:endParaRPr>
          </a:p>
        </p:txBody>
      </p:sp>
      <p:sp>
        <p:nvSpPr>
          <p:cNvPr id="61" name="Shape 3"/>
          <p:cNvSpPr/>
          <p:nvPr/>
        </p:nvSpPr>
        <p:spPr>
          <a:xfrm>
            <a:off x="699480" y="1965960"/>
            <a:ext cx="5120280" cy="1508400"/>
          </a:xfrm>
          <a:prstGeom prst="roundRect">
            <a:avLst>
              <a:gd name="adj" fmla="val 60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2" name="Shape 4"/>
          <p:cNvSpPr/>
          <p:nvPr/>
        </p:nvSpPr>
        <p:spPr>
          <a:xfrm>
            <a:off x="992160" y="2354760"/>
            <a:ext cx="731160" cy="7311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63" name="Image 0" descr="/home/claude/aihall/icons/users_navy.png"/>
          <p:cNvPicPr/>
          <p:nvPr/>
        </p:nvPicPr>
        <p:blipFill>
          <a:blip r:embed="rId1"/>
          <a:stretch/>
        </p:blipFill>
        <p:spPr>
          <a:xfrm>
            <a:off x="1087200" y="2449800"/>
            <a:ext cx="541080" cy="541080"/>
          </a:xfrm>
          <a:prstGeom prst="rect">
            <a:avLst/>
          </a:prstGeom>
          <a:noFill/>
          <a:ln w="0">
            <a:noFill/>
          </a:ln>
        </p:spPr>
      </p:pic>
      <p:sp>
        <p:nvSpPr>
          <p:cNvPr id="64" name="Text 5"/>
          <p:cNvSpPr/>
          <p:nvPr/>
        </p:nvSpPr>
        <p:spPr>
          <a:xfrm>
            <a:off x="1933920" y="2267640"/>
            <a:ext cx="361152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Md. Ehasan Mahmud</a:t>
            </a:r>
            <a:endParaRPr b="0" lang="en-IN" sz="1700" strike="noStrike" u="none">
              <a:solidFill>
                <a:srgbClr val="000000"/>
              </a:solidFill>
              <a:effectLst/>
              <a:uFillTx/>
              <a:latin typeface="Arial"/>
            </a:endParaRPr>
          </a:p>
        </p:txBody>
      </p:sp>
      <p:sp>
        <p:nvSpPr>
          <p:cNvPr id="65" name="Text 6"/>
          <p:cNvSpPr/>
          <p:nvPr/>
        </p:nvSpPr>
        <p:spPr>
          <a:xfrm>
            <a:off x="1933920" y="2770560"/>
            <a:ext cx="36115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5b6b8c"/>
                </a:solidFill>
                <a:effectLst/>
                <a:uFillTx/>
                <a:latin typeface="Calibri"/>
                <a:ea typeface="Calibri"/>
              </a:rPr>
              <a:t>ID: 202122104026</a:t>
            </a:r>
            <a:endParaRPr b="0" lang="en-IN" sz="1350" strike="noStrike" u="none">
              <a:solidFill>
                <a:srgbClr val="000000"/>
              </a:solidFill>
              <a:effectLst/>
              <a:uFillTx/>
              <a:latin typeface="Arial"/>
            </a:endParaRPr>
          </a:p>
        </p:txBody>
      </p:sp>
      <p:sp>
        <p:nvSpPr>
          <p:cNvPr id="66" name="Shape 7"/>
          <p:cNvSpPr/>
          <p:nvPr/>
        </p:nvSpPr>
        <p:spPr>
          <a:xfrm>
            <a:off x="6368760" y="1965960"/>
            <a:ext cx="5120280" cy="1508400"/>
          </a:xfrm>
          <a:prstGeom prst="roundRect">
            <a:avLst>
              <a:gd name="adj" fmla="val 60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7" name="Shape 8"/>
          <p:cNvSpPr/>
          <p:nvPr/>
        </p:nvSpPr>
        <p:spPr>
          <a:xfrm>
            <a:off x="6661440" y="2354760"/>
            <a:ext cx="731160" cy="7311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68" name="Image 1" descr="/home/claude/aihall/icons/users_navy.png"/>
          <p:cNvPicPr/>
          <p:nvPr/>
        </p:nvPicPr>
        <p:blipFill>
          <a:blip r:embed="rId2"/>
          <a:stretch/>
        </p:blipFill>
        <p:spPr>
          <a:xfrm>
            <a:off x="6756480" y="2449800"/>
            <a:ext cx="541080" cy="541080"/>
          </a:xfrm>
          <a:prstGeom prst="rect">
            <a:avLst/>
          </a:prstGeom>
          <a:noFill/>
          <a:ln w="0">
            <a:noFill/>
          </a:ln>
        </p:spPr>
      </p:pic>
      <p:sp>
        <p:nvSpPr>
          <p:cNvPr id="69" name="Text 9"/>
          <p:cNvSpPr/>
          <p:nvPr/>
        </p:nvSpPr>
        <p:spPr>
          <a:xfrm>
            <a:off x="7603200" y="2267640"/>
            <a:ext cx="361152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Meherab Hossen Opi</a:t>
            </a:r>
            <a:endParaRPr b="0" lang="en-IN" sz="1700" strike="noStrike" u="none">
              <a:solidFill>
                <a:srgbClr val="000000"/>
              </a:solidFill>
              <a:effectLst/>
              <a:uFillTx/>
              <a:latin typeface="Arial"/>
            </a:endParaRPr>
          </a:p>
        </p:txBody>
      </p:sp>
      <p:sp>
        <p:nvSpPr>
          <p:cNvPr id="70" name="Text 10"/>
          <p:cNvSpPr/>
          <p:nvPr/>
        </p:nvSpPr>
        <p:spPr>
          <a:xfrm>
            <a:off x="7603200" y="2770560"/>
            <a:ext cx="36115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5b6b8c"/>
                </a:solidFill>
                <a:effectLst/>
                <a:uFillTx/>
                <a:latin typeface="Calibri"/>
                <a:ea typeface="Calibri"/>
              </a:rPr>
              <a:t>ID: 202122104028</a:t>
            </a:r>
            <a:endParaRPr b="0" lang="en-IN" sz="1350" strike="noStrike" u="none">
              <a:solidFill>
                <a:srgbClr val="000000"/>
              </a:solidFill>
              <a:effectLst/>
              <a:uFillTx/>
              <a:latin typeface="Arial"/>
            </a:endParaRPr>
          </a:p>
        </p:txBody>
      </p:sp>
      <p:sp>
        <p:nvSpPr>
          <p:cNvPr id="71" name="Text 11"/>
          <p:cNvSpPr/>
          <p:nvPr/>
        </p:nvSpPr>
        <p:spPr>
          <a:xfrm>
            <a:off x="640080" y="365760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Presented To</a:t>
            </a:r>
            <a:endParaRPr b="0" lang="en-IN" sz="3200" strike="noStrike" u="none">
              <a:solidFill>
                <a:srgbClr val="000000"/>
              </a:solidFill>
              <a:effectLst/>
              <a:uFillTx/>
              <a:latin typeface="Arial"/>
            </a:endParaRPr>
          </a:p>
        </p:txBody>
      </p:sp>
      <p:sp>
        <p:nvSpPr>
          <p:cNvPr id="72" name="Shape 12"/>
          <p:cNvSpPr/>
          <p:nvPr/>
        </p:nvSpPr>
        <p:spPr>
          <a:xfrm>
            <a:off x="2162520" y="4572000"/>
            <a:ext cx="7863480" cy="1691280"/>
          </a:xfrm>
          <a:prstGeom prst="roundRect">
            <a:avLst>
              <a:gd name="adj" fmla="val 5405"/>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3" name="Shape 13"/>
          <p:cNvSpPr/>
          <p:nvPr/>
        </p:nvSpPr>
        <p:spPr>
          <a:xfrm>
            <a:off x="2482560" y="4983480"/>
            <a:ext cx="868320" cy="86832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74" name="Image 2" descr="/home/claude/aihall/icons/grad_navy.png"/>
          <p:cNvPicPr/>
          <p:nvPr/>
        </p:nvPicPr>
        <p:blipFill>
          <a:blip r:embed="rId3"/>
          <a:stretch/>
        </p:blipFill>
        <p:spPr>
          <a:xfrm>
            <a:off x="2595600" y="5096520"/>
            <a:ext cx="642600" cy="642600"/>
          </a:xfrm>
          <a:prstGeom prst="rect">
            <a:avLst/>
          </a:prstGeom>
          <a:noFill/>
          <a:ln w="0">
            <a:noFill/>
          </a:ln>
        </p:spPr>
      </p:pic>
      <p:sp>
        <p:nvSpPr>
          <p:cNvPr id="75" name="Text 14">
            <a:hlinkClick r:id="rId4"/>
          </p:cNvPr>
          <p:cNvSpPr/>
          <p:nvPr/>
        </p:nvSpPr>
        <p:spPr>
          <a:xfrm>
            <a:off x="3534120" y="4827960"/>
            <a:ext cx="6217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trike="noStrike" u="sng">
                <a:solidFill>
                  <a:srgbClr val="20264d"/>
                </a:solidFill>
                <a:effectLst/>
                <a:uFillTx/>
                <a:latin typeface="Cambria"/>
                <a:ea typeface="Cambria"/>
                <a:hlinkClick r:id="rId5"/>
              </a:rPr>
              <a:t>Dr. Md. Biplob Hossain</a:t>
            </a:r>
            <a:endParaRPr b="0" lang="en-IN" sz="1900" strike="noStrike" u="none">
              <a:solidFill>
                <a:srgbClr val="000000"/>
              </a:solidFill>
              <a:effectLst/>
              <a:uFillTx/>
              <a:latin typeface="Arial"/>
            </a:endParaRPr>
          </a:p>
        </p:txBody>
      </p:sp>
      <p:sp>
        <p:nvSpPr>
          <p:cNvPr id="76" name="Text 15"/>
          <p:cNvSpPr/>
          <p:nvPr/>
        </p:nvSpPr>
        <p:spPr>
          <a:xfrm>
            <a:off x="3534120" y="5321880"/>
            <a:ext cx="62175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5b6b8c"/>
                </a:solidFill>
                <a:effectLst/>
                <a:uFillTx/>
                <a:latin typeface="Calibri"/>
                <a:ea typeface="Calibri"/>
              </a:rPr>
              <a:t>Assistant Professor, Dept. of CSE</a:t>
            </a:r>
            <a:endParaRPr b="0" lang="en-IN" sz="1400" strike="noStrike" u="none">
              <a:solidFill>
                <a:srgbClr val="000000"/>
              </a:solidFill>
              <a:effectLst/>
              <a:uFillTx/>
              <a:latin typeface="Arial"/>
            </a:endParaRPr>
          </a:p>
        </p:txBody>
      </p:sp>
      <p:sp>
        <p:nvSpPr>
          <p:cNvPr id="77" name="Text 16"/>
          <p:cNvSpPr/>
          <p:nvPr/>
        </p:nvSpPr>
        <p:spPr>
          <a:xfrm>
            <a:off x="3534120" y="5687640"/>
            <a:ext cx="62175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trike="noStrike" u="none">
                <a:solidFill>
                  <a:srgbClr val="5b6b8c"/>
                </a:solidFill>
                <a:effectLst/>
                <a:uFillTx/>
                <a:latin typeface="Calibri"/>
                <a:ea typeface="Calibri"/>
              </a:rPr>
              <a:t>Kishoreganj University</a:t>
            </a:r>
            <a:endParaRPr b="0" lang="en-IN" sz="1400" strike="noStrike" u="none">
              <a:solidFill>
                <a:srgbClr val="000000"/>
              </a:solidFill>
              <a:effectLst/>
              <a:uFillTx/>
              <a:latin typeface="Arial"/>
            </a:endParaRPr>
          </a:p>
        </p:txBody>
      </p:sp>
      <p:sp>
        <p:nvSpPr>
          <p:cNvPr id="78" name="Text 17"/>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02</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79"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PURPOSE</a:t>
            </a:r>
            <a:endParaRPr b="0" lang="en-IN" sz="1300" strike="noStrike" u="none">
              <a:solidFill>
                <a:srgbClr val="000000"/>
              </a:solidFill>
              <a:effectLst/>
              <a:uFillTx/>
              <a:latin typeface="Arial"/>
            </a:endParaRPr>
          </a:p>
        </p:txBody>
      </p:sp>
      <p:sp>
        <p:nvSpPr>
          <p:cNvPr id="80"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Objectives </a:t>
            </a:r>
            <a:endParaRPr b="0" lang="en-IN" sz="3200" strike="noStrike" u="none">
              <a:solidFill>
                <a:srgbClr val="000000"/>
              </a:solidFill>
              <a:effectLst/>
              <a:uFillTx/>
              <a:latin typeface="Arial"/>
            </a:endParaRPr>
          </a:p>
        </p:txBody>
      </p:sp>
      <p:sp>
        <p:nvSpPr>
          <p:cNvPr id="81"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endParaRPr b="0" lang="en-IN" sz="1800" strike="noStrike" u="none">
              <a:solidFill>
                <a:srgbClr val="000000"/>
              </a:solidFill>
              <a:effectLst/>
              <a:uFillTx/>
              <a:latin typeface="Arial"/>
            </a:endParaRPr>
          </a:p>
        </p:txBody>
      </p:sp>
      <p:sp>
        <p:nvSpPr>
          <p:cNvPr id="82" name="Shape 3"/>
          <p:cNvSpPr/>
          <p:nvPr/>
        </p:nvSpPr>
        <p:spPr>
          <a:xfrm flipH="1">
            <a:off x="7841880" y="2366280"/>
            <a:ext cx="1009440" cy="2415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3" name="Shape 4"/>
          <p:cNvSpPr/>
          <p:nvPr/>
        </p:nvSpPr>
        <p:spPr>
          <a:xfrm>
            <a:off x="8851320" y="2366280"/>
            <a:ext cx="925200" cy="4827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4" name="Shape 5"/>
          <p:cNvSpPr/>
          <p:nvPr/>
        </p:nvSpPr>
        <p:spPr>
          <a:xfrm>
            <a:off x="7841880" y="2607840"/>
            <a:ext cx="504720" cy="8046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5" name="Shape 6"/>
          <p:cNvSpPr/>
          <p:nvPr/>
        </p:nvSpPr>
        <p:spPr>
          <a:xfrm>
            <a:off x="8851320" y="2366280"/>
            <a:ext cx="504720" cy="11264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6" name="Shape 7"/>
          <p:cNvSpPr/>
          <p:nvPr/>
        </p:nvSpPr>
        <p:spPr>
          <a:xfrm>
            <a:off x="9776520" y="2849040"/>
            <a:ext cx="673200" cy="3218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7" name="Shape 8"/>
          <p:cNvSpPr/>
          <p:nvPr/>
        </p:nvSpPr>
        <p:spPr>
          <a:xfrm>
            <a:off x="8346600" y="3412440"/>
            <a:ext cx="1009440" cy="80280"/>
          </a:xfrm>
          <a:prstGeom prst="line">
            <a:avLst/>
          </a:prstGeom>
          <a:ln w="15875">
            <a:solidFill>
              <a:srgbClr val="cadcfc"/>
            </a:solidFill>
            <a:round/>
          </a:ln>
        </p:spPr>
        <p:style>
          <a:lnRef idx="0"/>
          <a:fillRef idx="0"/>
          <a:effectRef idx="0"/>
          <a:fontRef idx="minor"/>
        </p:style>
        <p:txBody>
          <a:bodyPr lIns="90000" rIns="90000" tIns="35280" bIns="35280" anchor="t" anchorCtr="1">
            <a:noAutofit/>
          </a:bodyPr>
          <a:p>
            <a:endParaRPr b="0" lang="en-IN" sz="1800" strike="noStrike" u="none">
              <a:solidFill>
                <a:srgbClr val="000000"/>
              </a:solidFill>
              <a:effectLst/>
              <a:uFillTx/>
              <a:latin typeface="Arial"/>
            </a:endParaRPr>
          </a:p>
        </p:txBody>
      </p:sp>
      <p:sp>
        <p:nvSpPr>
          <p:cNvPr id="88" name="Shape 9"/>
          <p:cNvSpPr/>
          <p:nvPr/>
        </p:nvSpPr>
        <p:spPr>
          <a:xfrm flipH="1">
            <a:off x="9356040" y="3170880"/>
            <a:ext cx="1093680" cy="3218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89" name="Shape 10"/>
          <p:cNvSpPr/>
          <p:nvPr/>
        </p:nvSpPr>
        <p:spPr>
          <a:xfrm flipH="1">
            <a:off x="8851320" y="3492720"/>
            <a:ext cx="504720" cy="8049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0" name="Shape 11"/>
          <p:cNvSpPr/>
          <p:nvPr/>
        </p:nvSpPr>
        <p:spPr>
          <a:xfrm flipH="1">
            <a:off x="10028880" y="3170880"/>
            <a:ext cx="420840" cy="10461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1" name="Shape 12"/>
          <p:cNvSpPr/>
          <p:nvPr/>
        </p:nvSpPr>
        <p:spPr>
          <a:xfrm>
            <a:off x="10449720" y="3170880"/>
            <a:ext cx="588600" cy="7243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2" name="Shape 13"/>
          <p:cNvSpPr/>
          <p:nvPr/>
        </p:nvSpPr>
        <p:spPr>
          <a:xfrm flipH="1">
            <a:off x="8851320" y="4217040"/>
            <a:ext cx="1177560" cy="80640"/>
          </a:xfrm>
          <a:prstGeom prst="line">
            <a:avLst/>
          </a:prstGeom>
          <a:ln w="15875">
            <a:solidFill>
              <a:srgbClr val="cadcfc"/>
            </a:solidFill>
            <a:round/>
          </a:ln>
        </p:spPr>
        <p:style>
          <a:lnRef idx="0"/>
          <a:fillRef idx="0"/>
          <a:effectRef idx="0"/>
          <a:fontRef idx="minor"/>
        </p:style>
        <p:txBody>
          <a:bodyPr lIns="90000" rIns="90000" tIns="35640" bIns="35640" anchor="t" anchorCtr="1">
            <a:noAutofit/>
          </a:bodyPr>
          <a:p>
            <a:endParaRPr b="0" lang="en-IN" sz="1800" strike="noStrike" u="none">
              <a:solidFill>
                <a:srgbClr val="000000"/>
              </a:solidFill>
              <a:effectLst/>
              <a:uFillTx/>
              <a:latin typeface="Arial"/>
            </a:endParaRPr>
          </a:p>
        </p:txBody>
      </p:sp>
      <p:sp>
        <p:nvSpPr>
          <p:cNvPr id="93" name="Shape 14"/>
          <p:cNvSpPr/>
          <p:nvPr/>
        </p:nvSpPr>
        <p:spPr>
          <a:xfrm flipH="1">
            <a:off x="10028880" y="3895200"/>
            <a:ext cx="1009440" cy="3218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4" name="Shape 15"/>
          <p:cNvSpPr/>
          <p:nvPr/>
        </p:nvSpPr>
        <p:spPr>
          <a:xfrm flipH="1">
            <a:off x="8178120" y="3412440"/>
            <a:ext cx="168480" cy="16092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5" name="Shape 16"/>
          <p:cNvSpPr/>
          <p:nvPr/>
        </p:nvSpPr>
        <p:spPr>
          <a:xfrm>
            <a:off x="8851320" y="4297680"/>
            <a:ext cx="672840" cy="8046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6" name="Shape 17"/>
          <p:cNvSpPr/>
          <p:nvPr/>
        </p:nvSpPr>
        <p:spPr>
          <a:xfrm>
            <a:off x="10028880" y="4217040"/>
            <a:ext cx="588960" cy="7243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7" name="Shape 18"/>
          <p:cNvSpPr/>
          <p:nvPr/>
        </p:nvSpPr>
        <p:spPr>
          <a:xfrm>
            <a:off x="11038320" y="3895200"/>
            <a:ext cx="336600" cy="8852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8" name="Shape 19"/>
          <p:cNvSpPr/>
          <p:nvPr/>
        </p:nvSpPr>
        <p:spPr>
          <a:xfrm>
            <a:off x="8178120" y="5021640"/>
            <a:ext cx="1346040" cy="80640"/>
          </a:xfrm>
          <a:prstGeom prst="line">
            <a:avLst/>
          </a:prstGeom>
          <a:ln w="15875">
            <a:solidFill>
              <a:srgbClr val="cadcfc"/>
            </a:solidFill>
            <a:round/>
          </a:ln>
        </p:spPr>
        <p:style>
          <a:lnRef idx="0"/>
          <a:fillRef idx="0"/>
          <a:effectRef idx="0"/>
          <a:fontRef idx="minor"/>
        </p:style>
        <p:txBody>
          <a:bodyPr lIns="90000" rIns="90000" tIns="35640" bIns="35640" anchor="t" anchorCtr="1">
            <a:noAutofit/>
          </a:bodyPr>
          <a:p>
            <a:endParaRPr b="0" lang="en-IN" sz="1800" strike="noStrike" u="none">
              <a:solidFill>
                <a:srgbClr val="000000"/>
              </a:solidFill>
              <a:effectLst/>
              <a:uFillTx/>
              <a:latin typeface="Arial"/>
            </a:endParaRPr>
          </a:p>
        </p:txBody>
      </p:sp>
      <p:sp>
        <p:nvSpPr>
          <p:cNvPr id="99" name="Shape 20"/>
          <p:cNvSpPr/>
          <p:nvPr/>
        </p:nvSpPr>
        <p:spPr>
          <a:xfrm flipH="1">
            <a:off x="9524160" y="4941360"/>
            <a:ext cx="1093680" cy="1609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0" name="Shape 21"/>
          <p:cNvSpPr/>
          <p:nvPr/>
        </p:nvSpPr>
        <p:spPr>
          <a:xfrm flipH="1">
            <a:off x="10617840" y="4780440"/>
            <a:ext cx="757080" cy="1609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1" name="Shape 22"/>
          <p:cNvSpPr/>
          <p:nvPr/>
        </p:nvSpPr>
        <p:spPr>
          <a:xfrm>
            <a:off x="9524160" y="5102280"/>
            <a:ext cx="673200" cy="64368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2" name="Shape 23"/>
          <p:cNvSpPr/>
          <p:nvPr/>
        </p:nvSpPr>
        <p:spPr>
          <a:xfrm flipH="1">
            <a:off x="10197360" y="4941360"/>
            <a:ext cx="420480" cy="8046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3" name="Shape 24"/>
          <p:cNvSpPr/>
          <p:nvPr/>
        </p:nvSpPr>
        <p:spPr>
          <a:xfrm>
            <a:off x="8178120" y="5021640"/>
            <a:ext cx="420840" cy="8046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4" name="Shape 25"/>
          <p:cNvSpPr/>
          <p:nvPr/>
        </p:nvSpPr>
        <p:spPr>
          <a:xfrm flipH="1">
            <a:off x="8598960" y="5102280"/>
            <a:ext cx="925200" cy="7239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5" name="Shape 26"/>
          <p:cNvSpPr/>
          <p:nvPr/>
        </p:nvSpPr>
        <p:spPr>
          <a:xfrm flipH="1">
            <a:off x="8178120" y="4297680"/>
            <a:ext cx="673200" cy="7239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6" name="Shape 27"/>
          <p:cNvSpPr/>
          <p:nvPr/>
        </p:nvSpPr>
        <p:spPr>
          <a:xfrm>
            <a:off x="7662960" y="2429280"/>
            <a:ext cx="357120" cy="35712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7" name="Shape 28"/>
          <p:cNvSpPr/>
          <p:nvPr/>
        </p:nvSpPr>
        <p:spPr>
          <a:xfrm>
            <a:off x="8744040" y="2259360"/>
            <a:ext cx="214200" cy="2142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8" name="Shape 29"/>
          <p:cNvSpPr/>
          <p:nvPr/>
        </p:nvSpPr>
        <p:spPr>
          <a:xfrm>
            <a:off x="9633600" y="2706120"/>
            <a:ext cx="285840" cy="285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9" name="Shape 30"/>
          <p:cNvSpPr/>
          <p:nvPr/>
        </p:nvSpPr>
        <p:spPr>
          <a:xfrm>
            <a:off x="8221680" y="3287520"/>
            <a:ext cx="249840" cy="249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0" name="Shape 31"/>
          <p:cNvSpPr/>
          <p:nvPr/>
        </p:nvSpPr>
        <p:spPr>
          <a:xfrm>
            <a:off x="9159480" y="3296520"/>
            <a:ext cx="392760" cy="39276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1" name="Shape 32"/>
          <p:cNvSpPr/>
          <p:nvPr/>
        </p:nvSpPr>
        <p:spPr>
          <a:xfrm>
            <a:off x="10342440" y="3063960"/>
            <a:ext cx="214200" cy="2142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2" name="Shape 33"/>
          <p:cNvSpPr/>
          <p:nvPr/>
        </p:nvSpPr>
        <p:spPr>
          <a:xfrm>
            <a:off x="8744040" y="4190400"/>
            <a:ext cx="214200" cy="21420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3" name="Shape 34"/>
          <p:cNvSpPr/>
          <p:nvPr/>
        </p:nvSpPr>
        <p:spPr>
          <a:xfrm>
            <a:off x="9868320" y="4056480"/>
            <a:ext cx="321480" cy="32148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4" name="Shape 35"/>
          <p:cNvSpPr/>
          <p:nvPr/>
        </p:nvSpPr>
        <p:spPr>
          <a:xfrm>
            <a:off x="10913400" y="3770280"/>
            <a:ext cx="249840" cy="249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5" name="Shape 36"/>
          <p:cNvSpPr/>
          <p:nvPr/>
        </p:nvSpPr>
        <p:spPr>
          <a:xfrm>
            <a:off x="8088840" y="4932360"/>
            <a:ext cx="178560" cy="17856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6" name="Shape 37"/>
          <p:cNvSpPr/>
          <p:nvPr/>
        </p:nvSpPr>
        <p:spPr>
          <a:xfrm>
            <a:off x="9399240" y="4977360"/>
            <a:ext cx="249840" cy="249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7" name="Shape 38"/>
          <p:cNvSpPr/>
          <p:nvPr/>
        </p:nvSpPr>
        <p:spPr>
          <a:xfrm>
            <a:off x="10510920" y="4834080"/>
            <a:ext cx="214200" cy="21420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8" name="Shape 39"/>
          <p:cNvSpPr/>
          <p:nvPr/>
        </p:nvSpPr>
        <p:spPr>
          <a:xfrm>
            <a:off x="11285640" y="4691160"/>
            <a:ext cx="178560" cy="17856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9" name="Shape 40"/>
          <p:cNvSpPr/>
          <p:nvPr/>
        </p:nvSpPr>
        <p:spPr>
          <a:xfrm>
            <a:off x="10108080" y="5656680"/>
            <a:ext cx="178560" cy="17856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0" name="Shape 41"/>
          <p:cNvSpPr/>
          <p:nvPr/>
        </p:nvSpPr>
        <p:spPr>
          <a:xfrm>
            <a:off x="8527680" y="5754960"/>
            <a:ext cx="142560" cy="14256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1" name="Shape 42"/>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22" name="Image 0" descr="/home/claude/aihall/icons/question_navy.png"/>
          <p:cNvPicPr/>
          <p:nvPr/>
        </p:nvPicPr>
        <p:blipFill>
          <a:blip r:embed="rId1"/>
          <a:stretch/>
        </p:blipFill>
        <p:spPr>
          <a:xfrm>
            <a:off x="757080" y="2128680"/>
            <a:ext cx="405720" cy="405720"/>
          </a:xfrm>
          <a:prstGeom prst="rect">
            <a:avLst/>
          </a:prstGeom>
          <a:noFill/>
          <a:ln w="0">
            <a:noFill/>
          </a:ln>
        </p:spPr>
      </p:pic>
      <p:sp>
        <p:nvSpPr>
          <p:cNvPr id="123" name="Text 43"/>
          <p:cNvSpPr/>
          <p:nvPr/>
        </p:nvSpPr>
        <p:spPr>
          <a:xfrm>
            <a:off x="1508760" y="1984320"/>
            <a:ext cx="5851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Understand the Concept</a:t>
            </a:r>
            <a:endParaRPr b="0" lang="en-IN" sz="1700" strike="noStrike" u="none">
              <a:solidFill>
                <a:srgbClr val="000000"/>
              </a:solidFill>
              <a:effectLst/>
              <a:uFillTx/>
              <a:latin typeface="Arial"/>
            </a:endParaRPr>
          </a:p>
        </p:txBody>
      </p:sp>
      <p:sp>
        <p:nvSpPr>
          <p:cNvPr id="124" name="Text 44"/>
          <p:cNvSpPr/>
          <p:nvPr/>
        </p:nvSpPr>
        <p:spPr>
          <a:xfrm>
            <a:off x="1508760" y="2368440"/>
            <a:ext cx="58518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Define AI hallucination and why it happens</a:t>
            </a:r>
            <a:endParaRPr b="0" lang="en-IN" sz="1250" strike="noStrike" u="none">
              <a:solidFill>
                <a:srgbClr val="000000"/>
              </a:solidFill>
              <a:effectLst/>
              <a:uFillTx/>
              <a:latin typeface="Arial"/>
            </a:endParaRPr>
          </a:p>
        </p:txBody>
      </p:sp>
      <p:sp>
        <p:nvSpPr>
          <p:cNvPr id="125" name="Shape 45"/>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26" name="Image 1" descr="/home/claude/aihall/icons/project_navy.png"/>
          <p:cNvPicPr/>
          <p:nvPr/>
        </p:nvPicPr>
        <p:blipFill>
          <a:blip r:embed="rId2"/>
          <a:stretch/>
        </p:blipFill>
        <p:spPr>
          <a:xfrm>
            <a:off x="757080" y="3152880"/>
            <a:ext cx="405720" cy="405720"/>
          </a:xfrm>
          <a:prstGeom prst="rect">
            <a:avLst/>
          </a:prstGeom>
          <a:noFill/>
          <a:ln w="0">
            <a:noFill/>
          </a:ln>
        </p:spPr>
      </p:pic>
      <p:sp>
        <p:nvSpPr>
          <p:cNvPr id="127" name="Text 46"/>
          <p:cNvSpPr/>
          <p:nvPr/>
        </p:nvSpPr>
        <p:spPr>
          <a:xfrm>
            <a:off x="1508760" y="3008520"/>
            <a:ext cx="5851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Recognize the Types</a:t>
            </a:r>
            <a:endParaRPr b="0" lang="en-IN" sz="1700" strike="noStrike" u="none">
              <a:solidFill>
                <a:srgbClr val="000000"/>
              </a:solidFill>
              <a:effectLst/>
              <a:uFillTx/>
              <a:latin typeface="Arial"/>
            </a:endParaRPr>
          </a:p>
        </p:txBody>
      </p:sp>
      <p:sp>
        <p:nvSpPr>
          <p:cNvPr id="128" name="Text 47"/>
          <p:cNvSpPr/>
          <p:nvPr/>
        </p:nvSpPr>
        <p:spPr>
          <a:xfrm>
            <a:off x="1508760" y="3392280"/>
            <a:ext cx="58518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Identify factual, logical, and contextual hallucinations</a:t>
            </a:r>
            <a:endParaRPr b="0" lang="en-IN" sz="1250" strike="noStrike" u="none">
              <a:solidFill>
                <a:srgbClr val="000000"/>
              </a:solidFill>
              <a:effectLst/>
              <a:uFillTx/>
              <a:latin typeface="Arial"/>
            </a:endParaRPr>
          </a:p>
        </p:txBody>
      </p:sp>
      <p:sp>
        <p:nvSpPr>
          <p:cNvPr id="129" name="Shape 48"/>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30" name="Image 2" descr="/home/claude/aihall/icons/usermd_navy.png"/>
          <p:cNvPicPr/>
          <p:nvPr/>
        </p:nvPicPr>
        <p:blipFill>
          <a:blip r:embed="rId3"/>
          <a:stretch/>
        </p:blipFill>
        <p:spPr>
          <a:xfrm>
            <a:off x="757080" y="4177080"/>
            <a:ext cx="405720" cy="405720"/>
          </a:xfrm>
          <a:prstGeom prst="rect">
            <a:avLst/>
          </a:prstGeom>
          <a:noFill/>
          <a:ln w="0">
            <a:noFill/>
          </a:ln>
        </p:spPr>
      </p:pic>
      <p:sp>
        <p:nvSpPr>
          <p:cNvPr id="131" name="Text 49"/>
          <p:cNvSpPr/>
          <p:nvPr/>
        </p:nvSpPr>
        <p:spPr>
          <a:xfrm>
            <a:off x="1508760" y="4032360"/>
            <a:ext cx="5851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Assess the Impact</a:t>
            </a:r>
            <a:endParaRPr b="0" lang="en-IN" sz="1700" strike="noStrike" u="none">
              <a:solidFill>
                <a:srgbClr val="000000"/>
              </a:solidFill>
              <a:effectLst/>
              <a:uFillTx/>
              <a:latin typeface="Arial"/>
            </a:endParaRPr>
          </a:p>
        </p:txBody>
      </p:sp>
      <p:sp>
        <p:nvSpPr>
          <p:cNvPr id="132" name="Text 50"/>
          <p:cNvSpPr/>
          <p:nvPr/>
        </p:nvSpPr>
        <p:spPr>
          <a:xfrm>
            <a:off x="1508760" y="4416480"/>
            <a:ext cx="58518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See real-world consequences across industries</a:t>
            </a:r>
            <a:endParaRPr b="0" lang="en-IN" sz="1250" strike="noStrike" u="none">
              <a:solidFill>
                <a:srgbClr val="000000"/>
              </a:solidFill>
              <a:effectLst/>
              <a:uFillTx/>
              <a:latin typeface="Arial"/>
            </a:endParaRPr>
          </a:p>
        </p:txBody>
      </p:sp>
      <p:sp>
        <p:nvSpPr>
          <p:cNvPr id="133" name="Shape 51"/>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34" name="Image 3" descr="/home/claude/aihall/icons/shield_navy.png"/>
          <p:cNvPicPr/>
          <p:nvPr/>
        </p:nvPicPr>
        <p:blipFill>
          <a:blip r:embed="rId4"/>
          <a:stretch/>
        </p:blipFill>
        <p:spPr>
          <a:xfrm>
            <a:off x="757080" y="5201280"/>
            <a:ext cx="405720" cy="405720"/>
          </a:xfrm>
          <a:prstGeom prst="rect">
            <a:avLst/>
          </a:prstGeom>
          <a:noFill/>
          <a:ln w="0">
            <a:noFill/>
          </a:ln>
        </p:spPr>
      </p:pic>
      <p:sp>
        <p:nvSpPr>
          <p:cNvPr id="135" name="Text 52"/>
          <p:cNvSpPr/>
          <p:nvPr/>
        </p:nvSpPr>
        <p:spPr>
          <a:xfrm>
            <a:off x="1508760" y="5056560"/>
            <a:ext cx="5851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Apply Mitigation</a:t>
            </a:r>
            <a:endParaRPr b="0" lang="en-IN" sz="1700" strike="noStrike" u="none">
              <a:solidFill>
                <a:srgbClr val="000000"/>
              </a:solidFill>
              <a:effectLst/>
              <a:uFillTx/>
              <a:latin typeface="Arial"/>
            </a:endParaRPr>
          </a:p>
        </p:txBody>
      </p:sp>
      <p:sp>
        <p:nvSpPr>
          <p:cNvPr id="136" name="Text 53"/>
          <p:cNvSpPr/>
          <p:nvPr/>
        </p:nvSpPr>
        <p:spPr>
          <a:xfrm>
            <a:off x="1508760" y="5440680"/>
            <a:ext cx="58518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Learn practical strategies to reduce and manage risk</a:t>
            </a:r>
            <a:endParaRPr b="0" lang="en-IN" sz="1250" strike="noStrike" u="none">
              <a:solidFill>
                <a:srgbClr val="000000"/>
              </a:solidFill>
              <a:effectLst/>
              <a:uFillTx/>
              <a:latin typeface="Arial"/>
            </a:endParaRPr>
          </a:p>
        </p:txBody>
      </p:sp>
      <p:sp>
        <p:nvSpPr>
          <p:cNvPr id="137" name="Text 54"/>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03</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138"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INTRODUCTION</a:t>
            </a:r>
            <a:endParaRPr b="0" lang="en-IN" sz="1300" strike="noStrike" u="none">
              <a:solidFill>
                <a:srgbClr val="000000"/>
              </a:solidFill>
              <a:effectLst/>
              <a:uFillTx/>
              <a:latin typeface="Arial"/>
            </a:endParaRPr>
          </a:p>
        </p:txBody>
      </p:sp>
      <p:sp>
        <p:nvSpPr>
          <p:cNvPr id="139"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What Are AI Hallucinations?</a:t>
            </a:r>
            <a:endParaRPr b="0" lang="en-IN" sz="3200" strike="noStrike" u="none">
              <a:solidFill>
                <a:srgbClr val="000000"/>
              </a:solidFill>
              <a:effectLst/>
              <a:uFillTx/>
              <a:latin typeface="Arial"/>
            </a:endParaRPr>
          </a:p>
        </p:txBody>
      </p:sp>
      <p:sp>
        <p:nvSpPr>
          <p:cNvPr id="140" name="Shape 2"/>
          <p:cNvSpPr/>
          <p:nvPr/>
        </p:nvSpPr>
        <p:spPr>
          <a:xfrm>
            <a:off x="731520" y="1965960"/>
            <a:ext cx="1371240" cy="137124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41" name="Image 0" descr="/home/claude/aihall/icons/question_navy.png"/>
          <p:cNvPicPr/>
          <p:nvPr/>
        </p:nvPicPr>
        <p:blipFill>
          <a:blip r:embed="rId1"/>
          <a:stretch/>
        </p:blipFill>
        <p:spPr>
          <a:xfrm>
            <a:off x="909720" y="2144160"/>
            <a:ext cx="1014480" cy="1014480"/>
          </a:xfrm>
          <a:prstGeom prst="rect">
            <a:avLst/>
          </a:prstGeom>
          <a:noFill/>
          <a:ln w="0">
            <a:noFill/>
          </a:ln>
        </p:spPr>
      </p:pic>
      <p:sp>
        <p:nvSpPr>
          <p:cNvPr id="142" name="Text 3"/>
          <p:cNvSpPr/>
          <p:nvPr/>
        </p:nvSpPr>
        <p:spPr>
          <a:xfrm>
            <a:off x="2468880" y="1874520"/>
            <a:ext cx="8960760" cy="155412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2200" strike="noStrike" u="none">
                <a:solidFill>
                  <a:srgbClr val="1e2761"/>
                </a:solidFill>
                <a:effectLst/>
                <a:uFillTx/>
                <a:latin typeface="Cambria"/>
                <a:ea typeface="Cambria"/>
              </a:rPr>
              <a:t>When an AI model states something false, fabricated, or ungrounded in real data, yet delivers it with total, unearned confidence.</a:t>
            </a:r>
            <a:endParaRPr b="0" lang="en-IN" sz="2200" strike="noStrike" u="none">
              <a:solidFill>
                <a:srgbClr val="000000"/>
              </a:solidFill>
              <a:effectLst/>
              <a:uFillTx/>
              <a:latin typeface="Arial"/>
            </a:endParaRPr>
          </a:p>
        </p:txBody>
      </p:sp>
      <p:sp>
        <p:nvSpPr>
          <p:cNvPr id="143" name="Shape 4"/>
          <p:cNvSpPr/>
          <p:nvPr/>
        </p:nvSpPr>
        <p:spPr>
          <a:xfrm>
            <a:off x="2487240" y="3703320"/>
            <a:ext cx="2102760" cy="502560"/>
          </a:xfrm>
          <a:prstGeom prst="roundRect">
            <a:avLst>
              <a:gd name="adj" fmla="val 49091"/>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44" name="Text 5"/>
          <p:cNvSpPr/>
          <p:nvPr/>
        </p:nvSpPr>
        <p:spPr>
          <a:xfrm>
            <a:off x="2487240" y="3703320"/>
            <a:ext cx="21027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Calibri"/>
                <a:ea typeface="Calibri"/>
              </a:rPr>
              <a:t>Confident</a:t>
            </a:r>
            <a:endParaRPr b="0" lang="en-IN" sz="1350" strike="noStrike" u="none">
              <a:solidFill>
                <a:srgbClr val="000000"/>
              </a:solidFill>
              <a:effectLst/>
              <a:uFillTx/>
              <a:latin typeface="Arial"/>
            </a:endParaRPr>
          </a:p>
        </p:txBody>
      </p:sp>
      <p:sp>
        <p:nvSpPr>
          <p:cNvPr id="145" name="Shape 6"/>
          <p:cNvSpPr/>
          <p:nvPr/>
        </p:nvSpPr>
        <p:spPr>
          <a:xfrm>
            <a:off x="4864680" y="3703320"/>
            <a:ext cx="2102760" cy="502560"/>
          </a:xfrm>
          <a:prstGeom prst="roundRect">
            <a:avLst>
              <a:gd name="adj" fmla="val 49091"/>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46" name="Text 7"/>
          <p:cNvSpPr/>
          <p:nvPr/>
        </p:nvSpPr>
        <p:spPr>
          <a:xfrm>
            <a:off x="4864680" y="3703320"/>
            <a:ext cx="21027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Calibri"/>
                <a:ea typeface="Calibri"/>
              </a:rPr>
              <a:t>Fabricated</a:t>
            </a:r>
            <a:endParaRPr b="0" lang="en-IN" sz="1350" strike="noStrike" u="none">
              <a:solidFill>
                <a:srgbClr val="000000"/>
              </a:solidFill>
              <a:effectLst/>
              <a:uFillTx/>
              <a:latin typeface="Arial"/>
            </a:endParaRPr>
          </a:p>
        </p:txBody>
      </p:sp>
      <p:sp>
        <p:nvSpPr>
          <p:cNvPr id="147" name="Shape 8"/>
          <p:cNvSpPr/>
          <p:nvPr/>
        </p:nvSpPr>
        <p:spPr>
          <a:xfrm>
            <a:off x="7242120" y="3703320"/>
            <a:ext cx="2102760" cy="502560"/>
          </a:xfrm>
          <a:prstGeom prst="roundRect">
            <a:avLst>
              <a:gd name="adj" fmla="val 49091"/>
            </a:avLst>
          </a:prstGeom>
          <a:solidFill>
            <a:srgbClr val="5b6b8c"/>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48" name="Text 9"/>
          <p:cNvSpPr/>
          <p:nvPr/>
        </p:nvSpPr>
        <p:spPr>
          <a:xfrm>
            <a:off x="7242120" y="3703320"/>
            <a:ext cx="21027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Calibri"/>
                <a:ea typeface="Calibri"/>
              </a:rPr>
              <a:t>Ungrounded</a:t>
            </a:r>
            <a:endParaRPr b="0" lang="en-IN" sz="1350" strike="noStrike" u="none">
              <a:solidFill>
                <a:srgbClr val="000000"/>
              </a:solidFill>
              <a:effectLst/>
              <a:uFillTx/>
              <a:latin typeface="Arial"/>
            </a:endParaRPr>
          </a:p>
        </p:txBody>
      </p:sp>
      <p:sp>
        <p:nvSpPr>
          <p:cNvPr id="149" name="Text 10"/>
          <p:cNvSpPr/>
          <p:nvPr/>
        </p:nvSpPr>
        <p:spPr>
          <a:xfrm>
            <a:off x="731520" y="4572000"/>
            <a:ext cx="10423800" cy="118836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i="1" lang="en-US" sz="1350" strike="noStrike" u="none">
                <a:solidFill>
                  <a:srgbClr val="5b6b8c"/>
                </a:solidFill>
                <a:effectLst/>
                <a:uFillTx/>
                <a:latin typeface="Calibri"/>
                <a:ea typeface="Calibri"/>
              </a:rPr>
              <a:t>The term is borrowed from human psychology and applied metaphorically here, it describes misplaced machine confidence, not intent to deceive. The model isn't lying on purpose; it simply has no built-in way to check its own facts.</a:t>
            </a:r>
            <a:endParaRPr b="0" lang="en-IN" sz="1350" strike="noStrike" u="none">
              <a:solidFill>
                <a:srgbClr val="000000"/>
              </a:solidFill>
              <a:effectLst/>
              <a:uFillTx/>
              <a:latin typeface="Arial"/>
            </a:endParaRPr>
          </a:p>
        </p:txBody>
      </p:sp>
      <p:sp>
        <p:nvSpPr>
          <p:cNvPr id="150" name="Text 11"/>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04</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151"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CLASSIFICATION</a:t>
            </a:r>
            <a:endParaRPr b="0" lang="en-IN" sz="1300" strike="noStrike" u="none">
              <a:solidFill>
                <a:srgbClr val="000000"/>
              </a:solidFill>
              <a:effectLst/>
              <a:uFillTx/>
              <a:latin typeface="Arial"/>
            </a:endParaRPr>
          </a:p>
        </p:txBody>
      </p:sp>
      <p:sp>
        <p:nvSpPr>
          <p:cNvPr id="152"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Types of Hallucination</a:t>
            </a:r>
            <a:endParaRPr b="0" lang="en-IN" sz="3200" strike="noStrike" u="none">
              <a:solidFill>
                <a:srgbClr val="000000"/>
              </a:solidFill>
              <a:effectLst/>
              <a:uFillTx/>
              <a:latin typeface="Arial"/>
            </a:endParaRPr>
          </a:p>
        </p:txBody>
      </p:sp>
      <p:sp>
        <p:nvSpPr>
          <p:cNvPr id="153"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Not all hallucinations look the same, researchers group them into six recurring patterns.</a:t>
            </a:r>
            <a:endParaRPr b="0" lang="en-IN" sz="1450" strike="noStrike" u="none">
              <a:solidFill>
                <a:srgbClr val="000000"/>
              </a:solidFill>
              <a:effectLst/>
              <a:uFillTx/>
              <a:latin typeface="Arial"/>
            </a:endParaRPr>
          </a:p>
        </p:txBody>
      </p:sp>
      <p:sp>
        <p:nvSpPr>
          <p:cNvPr id="154" name="Shape 3"/>
          <p:cNvSpPr/>
          <p:nvPr/>
        </p:nvSpPr>
        <p:spPr>
          <a:xfrm>
            <a:off x="594360" y="201168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5" name="Shape 4"/>
          <p:cNvSpPr/>
          <p:nvPr/>
        </p:nvSpPr>
        <p:spPr>
          <a:xfrm>
            <a:off x="850320" y="226764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56" name="Image 0" descr="/home/claude/aihall/icons/balance_navy.png"/>
          <p:cNvPicPr/>
          <p:nvPr/>
        </p:nvPicPr>
        <p:blipFill>
          <a:blip r:embed="rId1"/>
          <a:stretch/>
        </p:blipFill>
        <p:spPr>
          <a:xfrm>
            <a:off x="924120" y="2341440"/>
            <a:ext cx="419040" cy="419040"/>
          </a:xfrm>
          <a:prstGeom prst="rect">
            <a:avLst/>
          </a:prstGeom>
          <a:noFill/>
          <a:ln w="0">
            <a:noFill/>
          </a:ln>
        </p:spPr>
      </p:pic>
      <p:sp>
        <p:nvSpPr>
          <p:cNvPr id="157" name="Text 5"/>
          <p:cNvSpPr/>
          <p:nvPr/>
        </p:nvSpPr>
        <p:spPr>
          <a:xfrm>
            <a:off x="850320" y="294444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Factual</a:t>
            </a:r>
            <a:endParaRPr b="0" lang="en-IN" sz="1550" strike="noStrike" u="none">
              <a:solidFill>
                <a:srgbClr val="000000"/>
              </a:solidFill>
              <a:effectLst/>
              <a:uFillTx/>
              <a:latin typeface="Arial"/>
            </a:endParaRPr>
          </a:p>
        </p:txBody>
      </p:sp>
      <p:sp>
        <p:nvSpPr>
          <p:cNvPr id="158" name="Text 6"/>
          <p:cNvSpPr/>
          <p:nvPr/>
        </p:nvSpPr>
        <p:spPr>
          <a:xfrm>
            <a:off x="850320" y="336492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States incorrect facts, dates, or numbers as if verified</a:t>
            </a:r>
            <a:endParaRPr b="0" lang="en-IN" sz="1200" strike="noStrike" u="none">
              <a:solidFill>
                <a:srgbClr val="000000"/>
              </a:solidFill>
              <a:effectLst/>
              <a:uFillTx/>
              <a:latin typeface="Arial"/>
            </a:endParaRPr>
          </a:p>
        </p:txBody>
      </p:sp>
      <p:sp>
        <p:nvSpPr>
          <p:cNvPr id="159" name="Shape 7"/>
          <p:cNvSpPr/>
          <p:nvPr/>
        </p:nvSpPr>
        <p:spPr>
          <a:xfrm>
            <a:off x="4337280" y="201168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0" name="Shape 8"/>
          <p:cNvSpPr/>
          <p:nvPr/>
        </p:nvSpPr>
        <p:spPr>
          <a:xfrm>
            <a:off x="4593240" y="226764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61" name="Image 1" descr="/home/claude/aihall/icons/exchange_navy.png"/>
          <p:cNvPicPr/>
          <p:nvPr/>
        </p:nvPicPr>
        <p:blipFill>
          <a:blip r:embed="rId2"/>
          <a:stretch/>
        </p:blipFill>
        <p:spPr>
          <a:xfrm>
            <a:off x="4667040" y="2341440"/>
            <a:ext cx="419040" cy="419040"/>
          </a:xfrm>
          <a:prstGeom prst="rect">
            <a:avLst/>
          </a:prstGeom>
          <a:noFill/>
          <a:ln w="0">
            <a:noFill/>
          </a:ln>
        </p:spPr>
      </p:pic>
      <p:sp>
        <p:nvSpPr>
          <p:cNvPr id="162" name="Text 9"/>
          <p:cNvSpPr/>
          <p:nvPr/>
        </p:nvSpPr>
        <p:spPr>
          <a:xfrm>
            <a:off x="4593240" y="294444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Intrinsic</a:t>
            </a:r>
            <a:endParaRPr b="0" lang="en-IN" sz="1550" strike="noStrike" u="none">
              <a:solidFill>
                <a:srgbClr val="000000"/>
              </a:solidFill>
              <a:effectLst/>
              <a:uFillTx/>
              <a:latin typeface="Arial"/>
            </a:endParaRPr>
          </a:p>
        </p:txBody>
      </p:sp>
      <p:sp>
        <p:nvSpPr>
          <p:cNvPr id="163" name="Text 10"/>
          <p:cNvSpPr/>
          <p:nvPr/>
        </p:nvSpPr>
        <p:spPr>
          <a:xfrm>
            <a:off x="4593240" y="336492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Directly contradicts the source text it was given</a:t>
            </a:r>
            <a:endParaRPr b="0" lang="en-IN" sz="1200" strike="noStrike" u="none">
              <a:solidFill>
                <a:srgbClr val="000000"/>
              </a:solidFill>
              <a:effectLst/>
              <a:uFillTx/>
              <a:latin typeface="Arial"/>
            </a:endParaRPr>
          </a:p>
        </p:txBody>
      </p:sp>
      <p:sp>
        <p:nvSpPr>
          <p:cNvPr id="164" name="Shape 11"/>
          <p:cNvSpPr/>
          <p:nvPr/>
        </p:nvSpPr>
        <p:spPr>
          <a:xfrm>
            <a:off x="8080200" y="201168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5" name="Shape 12"/>
          <p:cNvSpPr/>
          <p:nvPr/>
        </p:nvSpPr>
        <p:spPr>
          <a:xfrm>
            <a:off x="8336160" y="226764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66" name="Image 2" descr="/home/claude/aihall/icons/plus_navy.png"/>
          <p:cNvPicPr/>
          <p:nvPr/>
        </p:nvPicPr>
        <p:blipFill>
          <a:blip r:embed="rId3"/>
          <a:stretch/>
        </p:blipFill>
        <p:spPr>
          <a:xfrm>
            <a:off x="8409960" y="2341440"/>
            <a:ext cx="419040" cy="419040"/>
          </a:xfrm>
          <a:prstGeom prst="rect">
            <a:avLst/>
          </a:prstGeom>
          <a:noFill/>
          <a:ln w="0">
            <a:noFill/>
          </a:ln>
        </p:spPr>
      </p:pic>
      <p:sp>
        <p:nvSpPr>
          <p:cNvPr id="167" name="Text 13"/>
          <p:cNvSpPr/>
          <p:nvPr/>
        </p:nvSpPr>
        <p:spPr>
          <a:xfrm>
            <a:off x="8336160" y="294444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Extrinsic</a:t>
            </a:r>
            <a:endParaRPr b="0" lang="en-IN" sz="1550" strike="noStrike" u="none">
              <a:solidFill>
                <a:srgbClr val="000000"/>
              </a:solidFill>
              <a:effectLst/>
              <a:uFillTx/>
              <a:latin typeface="Arial"/>
            </a:endParaRPr>
          </a:p>
        </p:txBody>
      </p:sp>
      <p:sp>
        <p:nvSpPr>
          <p:cNvPr id="168" name="Text 14"/>
          <p:cNvSpPr/>
          <p:nvPr/>
        </p:nvSpPr>
        <p:spPr>
          <a:xfrm>
            <a:off x="8336160" y="336492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Adds outside claims the source never mentioned</a:t>
            </a:r>
            <a:endParaRPr b="0" lang="en-IN" sz="1200" strike="noStrike" u="none">
              <a:solidFill>
                <a:srgbClr val="000000"/>
              </a:solidFill>
              <a:effectLst/>
              <a:uFillTx/>
              <a:latin typeface="Arial"/>
            </a:endParaRPr>
          </a:p>
        </p:txBody>
      </p:sp>
      <p:sp>
        <p:nvSpPr>
          <p:cNvPr id="169" name="Shape 15"/>
          <p:cNvSpPr/>
          <p:nvPr/>
        </p:nvSpPr>
        <p:spPr>
          <a:xfrm>
            <a:off x="594360" y="426564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0" name="Shape 16"/>
          <p:cNvSpPr/>
          <p:nvPr/>
        </p:nvSpPr>
        <p:spPr>
          <a:xfrm>
            <a:off x="850320" y="452160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71" name="Image 3" descr="/home/claude/aihall/icons/book_navy.png"/>
          <p:cNvPicPr/>
          <p:nvPr/>
        </p:nvPicPr>
        <p:blipFill>
          <a:blip r:embed="rId4"/>
          <a:stretch/>
        </p:blipFill>
        <p:spPr>
          <a:xfrm>
            <a:off x="924120" y="4595400"/>
            <a:ext cx="419040" cy="419040"/>
          </a:xfrm>
          <a:prstGeom prst="rect">
            <a:avLst/>
          </a:prstGeom>
          <a:noFill/>
          <a:ln w="0">
            <a:noFill/>
          </a:ln>
        </p:spPr>
      </p:pic>
      <p:sp>
        <p:nvSpPr>
          <p:cNvPr id="172" name="Text 17"/>
          <p:cNvSpPr/>
          <p:nvPr/>
        </p:nvSpPr>
        <p:spPr>
          <a:xfrm>
            <a:off x="850320" y="519840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Fabricated Citations</a:t>
            </a:r>
            <a:endParaRPr b="0" lang="en-IN" sz="1550" strike="noStrike" u="none">
              <a:solidFill>
                <a:srgbClr val="000000"/>
              </a:solidFill>
              <a:effectLst/>
              <a:uFillTx/>
              <a:latin typeface="Arial"/>
            </a:endParaRPr>
          </a:p>
        </p:txBody>
      </p:sp>
      <p:sp>
        <p:nvSpPr>
          <p:cNvPr id="173" name="Text 18"/>
          <p:cNvSpPr/>
          <p:nvPr/>
        </p:nvSpPr>
        <p:spPr>
          <a:xfrm>
            <a:off x="850320" y="561888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Invents papers, links, or legal cases that don't exist</a:t>
            </a:r>
            <a:endParaRPr b="0" lang="en-IN" sz="1200" strike="noStrike" u="none">
              <a:solidFill>
                <a:srgbClr val="000000"/>
              </a:solidFill>
              <a:effectLst/>
              <a:uFillTx/>
              <a:latin typeface="Arial"/>
            </a:endParaRPr>
          </a:p>
        </p:txBody>
      </p:sp>
      <p:sp>
        <p:nvSpPr>
          <p:cNvPr id="174" name="Shape 19"/>
          <p:cNvSpPr/>
          <p:nvPr/>
        </p:nvSpPr>
        <p:spPr>
          <a:xfrm>
            <a:off x="4337280" y="426564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5" name="Shape 20"/>
          <p:cNvSpPr/>
          <p:nvPr/>
        </p:nvSpPr>
        <p:spPr>
          <a:xfrm>
            <a:off x="4593240" y="452160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76" name="Image 4" descr="/home/claude/aihall/icons/project_navy.png"/>
          <p:cNvPicPr/>
          <p:nvPr/>
        </p:nvPicPr>
        <p:blipFill>
          <a:blip r:embed="rId5"/>
          <a:stretch/>
        </p:blipFill>
        <p:spPr>
          <a:xfrm>
            <a:off x="4667040" y="4595400"/>
            <a:ext cx="419040" cy="419040"/>
          </a:xfrm>
          <a:prstGeom prst="rect">
            <a:avLst/>
          </a:prstGeom>
          <a:noFill/>
          <a:ln w="0">
            <a:noFill/>
          </a:ln>
        </p:spPr>
      </p:pic>
      <p:sp>
        <p:nvSpPr>
          <p:cNvPr id="177" name="Text 21"/>
          <p:cNvSpPr/>
          <p:nvPr/>
        </p:nvSpPr>
        <p:spPr>
          <a:xfrm>
            <a:off x="4593240" y="519840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Logical</a:t>
            </a:r>
            <a:endParaRPr b="0" lang="en-IN" sz="1550" strike="noStrike" u="none">
              <a:solidFill>
                <a:srgbClr val="000000"/>
              </a:solidFill>
              <a:effectLst/>
              <a:uFillTx/>
              <a:latin typeface="Arial"/>
            </a:endParaRPr>
          </a:p>
        </p:txBody>
      </p:sp>
      <p:sp>
        <p:nvSpPr>
          <p:cNvPr id="178" name="Text 22"/>
          <p:cNvSpPr/>
          <p:nvPr/>
        </p:nvSpPr>
        <p:spPr>
          <a:xfrm>
            <a:off x="4593240" y="561888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Follows a reasoning chain that breaks down midway</a:t>
            </a:r>
            <a:endParaRPr b="0" lang="en-IN" sz="1200" strike="noStrike" u="none">
              <a:solidFill>
                <a:srgbClr val="000000"/>
              </a:solidFill>
              <a:effectLst/>
              <a:uFillTx/>
              <a:latin typeface="Arial"/>
            </a:endParaRPr>
          </a:p>
        </p:txBody>
      </p:sp>
      <p:sp>
        <p:nvSpPr>
          <p:cNvPr id="179" name="Shape 23"/>
          <p:cNvSpPr/>
          <p:nvPr/>
        </p:nvSpPr>
        <p:spPr>
          <a:xfrm>
            <a:off x="8080200" y="4265640"/>
            <a:ext cx="3486600" cy="1997640"/>
          </a:xfrm>
          <a:prstGeom prst="roundRect">
            <a:avLst>
              <a:gd name="adj" fmla="val 3661"/>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0" name="Shape 24"/>
          <p:cNvSpPr/>
          <p:nvPr/>
        </p:nvSpPr>
        <p:spPr>
          <a:xfrm>
            <a:off x="8336160" y="452160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81" name="Image 5" descr="/home/claude/aihall/icons/comments_navy.png"/>
          <p:cNvPicPr/>
          <p:nvPr/>
        </p:nvPicPr>
        <p:blipFill>
          <a:blip r:embed="rId6"/>
          <a:stretch/>
        </p:blipFill>
        <p:spPr>
          <a:xfrm>
            <a:off x="8409960" y="4595400"/>
            <a:ext cx="419040" cy="419040"/>
          </a:xfrm>
          <a:prstGeom prst="rect">
            <a:avLst/>
          </a:prstGeom>
          <a:noFill/>
          <a:ln w="0">
            <a:noFill/>
          </a:ln>
        </p:spPr>
      </p:pic>
      <p:sp>
        <p:nvSpPr>
          <p:cNvPr id="182" name="Text 25"/>
          <p:cNvSpPr/>
          <p:nvPr/>
        </p:nvSpPr>
        <p:spPr>
          <a:xfrm>
            <a:off x="8336160" y="5198400"/>
            <a:ext cx="297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Contextual</a:t>
            </a:r>
            <a:endParaRPr b="0" lang="en-IN" sz="1550" strike="noStrike" u="none">
              <a:solidFill>
                <a:srgbClr val="000000"/>
              </a:solidFill>
              <a:effectLst/>
              <a:uFillTx/>
              <a:latin typeface="Arial"/>
            </a:endParaRPr>
          </a:p>
        </p:txBody>
      </p:sp>
      <p:sp>
        <p:nvSpPr>
          <p:cNvPr id="183" name="Text 26"/>
          <p:cNvSpPr/>
          <p:nvPr/>
        </p:nvSpPr>
        <p:spPr>
          <a:xfrm>
            <a:off x="8336160" y="5618880"/>
            <a:ext cx="2974320" cy="50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Loses track of earlier context in long conversations</a:t>
            </a:r>
            <a:endParaRPr b="0" lang="en-IN" sz="1200" strike="noStrike" u="none">
              <a:solidFill>
                <a:srgbClr val="000000"/>
              </a:solidFill>
              <a:effectLst/>
              <a:uFillTx/>
              <a:latin typeface="Arial"/>
            </a:endParaRPr>
          </a:p>
        </p:txBody>
      </p:sp>
      <p:sp>
        <p:nvSpPr>
          <p:cNvPr id="184" name="Text 27"/>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05</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185"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ROOT CAUSES 1 OF 3</a:t>
            </a:r>
            <a:endParaRPr b="0" lang="en-IN" sz="1300" strike="noStrike" u="none">
              <a:solidFill>
                <a:srgbClr val="000000"/>
              </a:solidFill>
              <a:effectLst/>
              <a:uFillTx/>
              <a:latin typeface="Arial"/>
            </a:endParaRPr>
          </a:p>
        </p:txBody>
      </p:sp>
      <p:sp>
        <p:nvSpPr>
          <p:cNvPr id="186"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Data-Related Causes</a:t>
            </a:r>
            <a:endParaRPr b="0" lang="en-IN" sz="3200" strike="noStrike" u="none">
              <a:solidFill>
                <a:srgbClr val="000000"/>
              </a:solidFill>
              <a:effectLst/>
              <a:uFillTx/>
              <a:latin typeface="Arial"/>
            </a:endParaRPr>
          </a:p>
        </p:txBody>
      </p:sp>
      <p:sp>
        <p:nvSpPr>
          <p:cNvPr id="187"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Much of the problem starts before training even happens with the data itself.</a:t>
            </a:r>
            <a:endParaRPr b="0" lang="en-IN" sz="1450" strike="noStrike" u="none">
              <a:solidFill>
                <a:srgbClr val="000000"/>
              </a:solidFill>
              <a:effectLst/>
              <a:uFillTx/>
              <a:latin typeface="Arial"/>
            </a:endParaRPr>
          </a:p>
        </p:txBody>
      </p:sp>
      <p:sp>
        <p:nvSpPr>
          <p:cNvPr id="188"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89" name="Image 0" descr="/home/claude/aihall/icons/database_navy.png"/>
          <p:cNvPicPr/>
          <p:nvPr/>
        </p:nvPicPr>
        <p:blipFill>
          <a:blip r:embed="rId1"/>
          <a:stretch/>
        </p:blipFill>
        <p:spPr>
          <a:xfrm>
            <a:off x="757080" y="2128680"/>
            <a:ext cx="405720" cy="405720"/>
          </a:xfrm>
          <a:prstGeom prst="rect">
            <a:avLst/>
          </a:prstGeom>
          <a:noFill/>
          <a:ln w="0">
            <a:noFill/>
          </a:ln>
        </p:spPr>
      </p:pic>
      <p:sp>
        <p:nvSpPr>
          <p:cNvPr id="190"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Limited Training Data</a:t>
            </a:r>
            <a:endParaRPr b="0" lang="en-IN" sz="1700" strike="noStrike" u="none">
              <a:solidFill>
                <a:srgbClr val="000000"/>
              </a:solidFill>
              <a:effectLst/>
              <a:uFillTx/>
              <a:latin typeface="Arial"/>
            </a:endParaRPr>
          </a:p>
        </p:txBody>
      </p:sp>
      <p:sp>
        <p:nvSpPr>
          <p:cNvPr id="191"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Incomplete or outdated datasets leave real gaps in the model's knowledge</a:t>
            </a:r>
            <a:endParaRPr b="0" lang="en-IN" sz="1250" strike="noStrike" u="none">
              <a:solidFill>
                <a:srgbClr val="000000"/>
              </a:solidFill>
              <a:effectLst/>
              <a:uFillTx/>
              <a:latin typeface="Arial"/>
            </a:endParaRPr>
          </a:p>
        </p:txBody>
      </p:sp>
      <p:sp>
        <p:nvSpPr>
          <p:cNvPr id="192"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93" name="Image 1" descr="/home/claude/aihall/icons/history_navy.png"/>
          <p:cNvPicPr/>
          <p:nvPr/>
        </p:nvPicPr>
        <p:blipFill>
          <a:blip r:embed="rId2"/>
          <a:stretch/>
        </p:blipFill>
        <p:spPr>
          <a:xfrm>
            <a:off x="757080" y="3152880"/>
            <a:ext cx="405720" cy="405720"/>
          </a:xfrm>
          <a:prstGeom prst="rect">
            <a:avLst/>
          </a:prstGeom>
          <a:noFill/>
          <a:ln w="0">
            <a:noFill/>
          </a:ln>
        </p:spPr>
      </p:pic>
      <p:sp>
        <p:nvSpPr>
          <p:cNvPr id="194"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Noisy / Biased Sources</a:t>
            </a:r>
            <a:endParaRPr b="0" lang="en-IN" sz="1700" strike="noStrike" u="none">
              <a:solidFill>
                <a:srgbClr val="000000"/>
              </a:solidFill>
              <a:effectLst/>
              <a:uFillTx/>
              <a:latin typeface="Arial"/>
            </a:endParaRPr>
          </a:p>
        </p:txBody>
      </p:sp>
      <p:sp>
        <p:nvSpPr>
          <p:cNvPr id="195"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Errors and contradictions in the source text get learned as if true</a:t>
            </a:r>
            <a:endParaRPr b="0" lang="en-IN" sz="1250" strike="noStrike" u="none">
              <a:solidFill>
                <a:srgbClr val="000000"/>
              </a:solidFill>
              <a:effectLst/>
              <a:uFillTx/>
              <a:latin typeface="Arial"/>
            </a:endParaRPr>
          </a:p>
        </p:txBody>
      </p:sp>
      <p:sp>
        <p:nvSpPr>
          <p:cNvPr id="196"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97" name="Image 2" descr="/home/claude/aihall/icons/search_navy.png"/>
          <p:cNvPicPr/>
          <p:nvPr/>
        </p:nvPicPr>
        <p:blipFill>
          <a:blip r:embed="rId3"/>
          <a:stretch/>
        </p:blipFill>
        <p:spPr>
          <a:xfrm>
            <a:off x="757080" y="4177080"/>
            <a:ext cx="405720" cy="405720"/>
          </a:xfrm>
          <a:prstGeom prst="rect">
            <a:avLst/>
          </a:prstGeom>
          <a:noFill/>
          <a:ln w="0">
            <a:noFill/>
          </a:ln>
        </p:spPr>
      </p:pic>
      <p:sp>
        <p:nvSpPr>
          <p:cNvPr id="198"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Niche Domain Scarcity</a:t>
            </a:r>
            <a:endParaRPr b="0" lang="en-IN" sz="1700" strike="noStrike" u="none">
              <a:solidFill>
                <a:srgbClr val="000000"/>
              </a:solidFill>
              <a:effectLst/>
              <a:uFillTx/>
              <a:latin typeface="Arial"/>
            </a:endParaRPr>
          </a:p>
        </p:txBody>
      </p:sp>
      <p:sp>
        <p:nvSpPr>
          <p:cNvPr id="199"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In specialized fields like law or medicine, the model fills gaps with guesses</a:t>
            </a:r>
            <a:endParaRPr b="0" lang="en-IN" sz="1250" strike="noStrike" u="none">
              <a:solidFill>
                <a:srgbClr val="000000"/>
              </a:solidFill>
              <a:effectLst/>
              <a:uFillTx/>
              <a:latin typeface="Arial"/>
            </a:endParaRPr>
          </a:p>
        </p:txBody>
      </p:sp>
      <p:sp>
        <p:nvSpPr>
          <p:cNvPr id="200"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01" name="Image 3" descr="/home/claude/aihall/icons/book_navy.png"/>
          <p:cNvPicPr/>
          <p:nvPr/>
        </p:nvPicPr>
        <p:blipFill>
          <a:blip r:embed="rId4"/>
          <a:stretch/>
        </p:blipFill>
        <p:spPr>
          <a:xfrm>
            <a:off x="757080" y="5201280"/>
            <a:ext cx="405720" cy="405720"/>
          </a:xfrm>
          <a:prstGeom prst="rect">
            <a:avLst/>
          </a:prstGeom>
          <a:noFill/>
          <a:ln w="0">
            <a:noFill/>
          </a:ln>
        </p:spPr>
      </p:pic>
      <p:sp>
        <p:nvSpPr>
          <p:cNvPr id="202"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Knowledge Cutoff</a:t>
            </a:r>
            <a:endParaRPr b="0" lang="en-IN" sz="1700" strike="noStrike" u="none">
              <a:solidFill>
                <a:srgbClr val="000000"/>
              </a:solidFill>
              <a:effectLst/>
              <a:uFillTx/>
              <a:latin typeface="Arial"/>
            </a:endParaRPr>
          </a:p>
        </p:txBody>
      </p:sp>
      <p:sp>
        <p:nvSpPr>
          <p:cNvPr id="203"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The model has zero awareness of anything after its training cutoff date</a:t>
            </a:r>
            <a:endParaRPr b="0" lang="en-IN" sz="1250" strike="noStrike" u="none">
              <a:solidFill>
                <a:srgbClr val="000000"/>
              </a:solidFill>
              <a:effectLst/>
              <a:uFillTx/>
              <a:latin typeface="Arial"/>
            </a:endParaRPr>
          </a:p>
        </p:txBody>
      </p:sp>
      <p:sp>
        <p:nvSpPr>
          <p:cNvPr id="204"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06</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205"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ROOT CAUSES 2 OF 3</a:t>
            </a:r>
            <a:endParaRPr b="0" lang="en-IN" sz="1300" strike="noStrike" u="none">
              <a:solidFill>
                <a:srgbClr val="000000"/>
              </a:solidFill>
              <a:effectLst/>
              <a:uFillTx/>
              <a:latin typeface="Arial"/>
            </a:endParaRPr>
          </a:p>
        </p:txBody>
      </p:sp>
      <p:sp>
        <p:nvSpPr>
          <p:cNvPr id="206"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Model &amp; Architecture Causes</a:t>
            </a:r>
            <a:endParaRPr b="0" lang="en-IN" sz="3200" strike="noStrike" u="none">
              <a:solidFill>
                <a:srgbClr val="000000"/>
              </a:solidFill>
              <a:effectLst/>
              <a:uFillTx/>
              <a:latin typeface="Arial"/>
            </a:endParaRPr>
          </a:p>
        </p:txBody>
      </p:sp>
      <p:sp>
        <p:nvSpPr>
          <p:cNvPr id="207"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Even with perfect data, the way the model itself is built introduces its own risks.</a:t>
            </a:r>
            <a:endParaRPr b="0" lang="en-IN" sz="1450" strike="noStrike" u="none">
              <a:solidFill>
                <a:srgbClr val="000000"/>
              </a:solidFill>
              <a:effectLst/>
              <a:uFillTx/>
              <a:latin typeface="Arial"/>
            </a:endParaRPr>
          </a:p>
        </p:txBody>
      </p:sp>
      <p:sp>
        <p:nvSpPr>
          <p:cNvPr id="208"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09" name="Image 0" descr="/home/claude/aihall/icons/brain_navy.png"/>
          <p:cNvPicPr/>
          <p:nvPr/>
        </p:nvPicPr>
        <p:blipFill>
          <a:blip r:embed="rId1"/>
          <a:stretch/>
        </p:blipFill>
        <p:spPr>
          <a:xfrm>
            <a:off x="757080" y="2128680"/>
            <a:ext cx="405720" cy="405720"/>
          </a:xfrm>
          <a:prstGeom prst="rect">
            <a:avLst/>
          </a:prstGeom>
          <a:noFill/>
          <a:ln w="0">
            <a:noFill/>
          </a:ln>
        </p:spPr>
      </p:pic>
      <p:sp>
        <p:nvSpPr>
          <p:cNvPr id="210"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Next-Token Prediction</a:t>
            </a:r>
            <a:endParaRPr b="0" lang="en-IN" sz="1700" strike="noStrike" u="none">
              <a:solidFill>
                <a:srgbClr val="000000"/>
              </a:solidFill>
              <a:effectLst/>
              <a:uFillTx/>
              <a:latin typeface="Arial"/>
            </a:endParaRPr>
          </a:p>
        </p:txBody>
      </p:sp>
      <p:sp>
        <p:nvSpPr>
          <p:cNvPr id="211"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The model predicts the most statistically likely word, not the verified truth</a:t>
            </a:r>
            <a:endParaRPr b="0" lang="en-IN" sz="1250" strike="noStrike" u="none">
              <a:solidFill>
                <a:srgbClr val="000000"/>
              </a:solidFill>
              <a:effectLst/>
              <a:uFillTx/>
              <a:latin typeface="Arial"/>
            </a:endParaRPr>
          </a:p>
        </p:txBody>
      </p:sp>
      <p:sp>
        <p:nvSpPr>
          <p:cNvPr id="212"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13" name="Image 1" descr="/home/claude/aihall/icons/project_navy.png"/>
          <p:cNvPicPr/>
          <p:nvPr/>
        </p:nvPicPr>
        <p:blipFill>
          <a:blip r:embed="rId2"/>
          <a:stretch/>
        </p:blipFill>
        <p:spPr>
          <a:xfrm>
            <a:off x="757080" y="3152880"/>
            <a:ext cx="405720" cy="405720"/>
          </a:xfrm>
          <a:prstGeom prst="rect">
            <a:avLst/>
          </a:prstGeom>
          <a:noFill/>
          <a:ln w="0">
            <a:noFill/>
          </a:ln>
        </p:spPr>
      </p:pic>
      <p:sp>
        <p:nvSpPr>
          <p:cNvPr id="214"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No Real Understanding</a:t>
            </a:r>
            <a:endParaRPr b="0" lang="en-IN" sz="1700" strike="noStrike" u="none">
              <a:solidFill>
                <a:srgbClr val="000000"/>
              </a:solidFill>
              <a:effectLst/>
              <a:uFillTx/>
              <a:latin typeface="Arial"/>
            </a:endParaRPr>
          </a:p>
        </p:txBody>
      </p:sp>
      <p:sp>
        <p:nvSpPr>
          <p:cNvPr id="215"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There is no internal fact-checker only learned pattern correlation</a:t>
            </a:r>
            <a:endParaRPr b="0" lang="en-IN" sz="1250" strike="noStrike" u="none">
              <a:solidFill>
                <a:srgbClr val="000000"/>
              </a:solidFill>
              <a:effectLst/>
              <a:uFillTx/>
              <a:latin typeface="Arial"/>
            </a:endParaRPr>
          </a:p>
        </p:txBody>
      </p:sp>
      <p:sp>
        <p:nvSpPr>
          <p:cNvPr id="216"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17" name="Image 2" descr="/home/claude/aihall/icons/exchange_navy.png"/>
          <p:cNvPicPr/>
          <p:nvPr/>
        </p:nvPicPr>
        <p:blipFill>
          <a:blip r:embed="rId3"/>
          <a:stretch/>
        </p:blipFill>
        <p:spPr>
          <a:xfrm>
            <a:off x="757080" y="4177080"/>
            <a:ext cx="405720" cy="405720"/>
          </a:xfrm>
          <a:prstGeom prst="rect">
            <a:avLst/>
          </a:prstGeom>
          <a:noFill/>
          <a:ln w="0">
            <a:noFill/>
          </a:ln>
        </p:spPr>
      </p:pic>
      <p:sp>
        <p:nvSpPr>
          <p:cNvPr id="218"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Overgeneralization</a:t>
            </a:r>
            <a:endParaRPr b="0" lang="en-IN" sz="1700" strike="noStrike" u="none">
              <a:solidFill>
                <a:srgbClr val="000000"/>
              </a:solidFill>
              <a:effectLst/>
              <a:uFillTx/>
              <a:latin typeface="Arial"/>
            </a:endParaRPr>
          </a:p>
        </p:txBody>
      </p:sp>
      <p:sp>
        <p:nvSpPr>
          <p:cNvPr id="219"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Patterns learned in one context get misapplied to unfamiliar situations</a:t>
            </a:r>
            <a:endParaRPr b="0" lang="en-IN" sz="1250" strike="noStrike" u="none">
              <a:solidFill>
                <a:srgbClr val="000000"/>
              </a:solidFill>
              <a:effectLst/>
              <a:uFillTx/>
              <a:latin typeface="Arial"/>
            </a:endParaRPr>
          </a:p>
        </p:txBody>
      </p:sp>
      <p:sp>
        <p:nvSpPr>
          <p:cNvPr id="220"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21" name="Image 3" descr="/home/claude/aihall/icons/plus_navy.png"/>
          <p:cNvPicPr/>
          <p:nvPr/>
        </p:nvPicPr>
        <p:blipFill>
          <a:blip r:embed="rId4"/>
          <a:stretch/>
        </p:blipFill>
        <p:spPr>
          <a:xfrm>
            <a:off x="757080" y="5201280"/>
            <a:ext cx="405720" cy="405720"/>
          </a:xfrm>
          <a:prstGeom prst="rect">
            <a:avLst/>
          </a:prstGeom>
          <a:noFill/>
          <a:ln w="0">
            <a:noFill/>
          </a:ln>
        </p:spPr>
      </p:pic>
      <p:sp>
        <p:nvSpPr>
          <p:cNvPr id="222"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Compounding Errors</a:t>
            </a:r>
            <a:endParaRPr b="0" lang="en-IN" sz="1700" strike="noStrike" u="none">
              <a:solidFill>
                <a:srgbClr val="000000"/>
              </a:solidFill>
              <a:effectLst/>
              <a:uFillTx/>
              <a:latin typeface="Arial"/>
            </a:endParaRPr>
          </a:p>
        </p:txBody>
      </p:sp>
      <p:sp>
        <p:nvSpPr>
          <p:cNvPr id="223"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Small early mistakes snowball as a long response continues</a:t>
            </a:r>
            <a:endParaRPr b="0" lang="en-IN" sz="1250" strike="noStrike" u="none">
              <a:solidFill>
                <a:srgbClr val="000000"/>
              </a:solidFill>
              <a:effectLst/>
              <a:uFillTx/>
              <a:latin typeface="Arial"/>
            </a:endParaRPr>
          </a:p>
        </p:txBody>
      </p:sp>
      <p:sp>
        <p:nvSpPr>
          <p:cNvPr id="224"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07</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225"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ROOT CAUSES 3 OF 3</a:t>
            </a:r>
            <a:endParaRPr b="0" lang="en-IN" sz="1300" strike="noStrike" u="none">
              <a:solidFill>
                <a:srgbClr val="000000"/>
              </a:solidFill>
              <a:effectLst/>
              <a:uFillTx/>
              <a:latin typeface="Arial"/>
            </a:endParaRPr>
          </a:p>
        </p:txBody>
      </p:sp>
      <p:sp>
        <p:nvSpPr>
          <p:cNvPr id="226"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Training &amp; Inference Causes</a:t>
            </a:r>
            <a:endParaRPr b="0" lang="en-IN" sz="3200" strike="noStrike" u="none">
              <a:solidFill>
                <a:srgbClr val="000000"/>
              </a:solidFill>
              <a:effectLst/>
              <a:uFillTx/>
              <a:latin typeface="Arial"/>
            </a:endParaRPr>
          </a:p>
        </p:txBody>
      </p:sp>
      <p:sp>
        <p:nvSpPr>
          <p:cNvPr id="227"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The final layer of causes comes from how the model is trained and how we prompt it.</a:t>
            </a:r>
            <a:endParaRPr b="0" lang="en-IN" sz="1450" strike="noStrike" u="none">
              <a:solidFill>
                <a:srgbClr val="000000"/>
              </a:solidFill>
              <a:effectLst/>
              <a:uFillTx/>
              <a:latin typeface="Arial"/>
            </a:endParaRPr>
          </a:p>
        </p:txBody>
      </p:sp>
      <p:sp>
        <p:nvSpPr>
          <p:cNvPr id="228"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29" name="Image 0" descr="/home/claude/aihall/icons/sliders_navy.png"/>
          <p:cNvPicPr/>
          <p:nvPr/>
        </p:nvPicPr>
        <p:blipFill>
          <a:blip r:embed="rId1"/>
          <a:stretch/>
        </p:blipFill>
        <p:spPr>
          <a:xfrm>
            <a:off x="757080" y="2128680"/>
            <a:ext cx="405720" cy="405720"/>
          </a:xfrm>
          <a:prstGeom prst="rect">
            <a:avLst/>
          </a:prstGeom>
          <a:noFill/>
          <a:ln w="0">
            <a:noFill/>
          </a:ln>
        </p:spPr>
      </p:pic>
      <p:sp>
        <p:nvSpPr>
          <p:cNvPr id="230"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Decoding Randomness</a:t>
            </a:r>
            <a:endParaRPr b="0" lang="en-IN" sz="1700" strike="noStrike" u="none">
              <a:solidFill>
                <a:srgbClr val="000000"/>
              </a:solidFill>
              <a:effectLst/>
              <a:uFillTx/>
              <a:latin typeface="Arial"/>
            </a:endParaRPr>
          </a:p>
        </p:txBody>
      </p:sp>
      <p:sp>
        <p:nvSpPr>
          <p:cNvPr id="231"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Higher “temperature” settings favor creativity over strict accuracy</a:t>
            </a:r>
            <a:endParaRPr b="0" lang="en-IN" sz="1250" strike="noStrike" u="none">
              <a:solidFill>
                <a:srgbClr val="000000"/>
              </a:solidFill>
              <a:effectLst/>
              <a:uFillTx/>
              <a:latin typeface="Arial"/>
            </a:endParaRPr>
          </a:p>
        </p:txBody>
      </p:sp>
      <p:sp>
        <p:nvSpPr>
          <p:cNvPr id="232"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33" name="Image 1" descr="/home/claude/aihall/icons/keyboard_navy.png"/>
          <p:cNvPicPr/>
          <p:nvPr/>
        </p:nvPicPr>
        <p:blipFill>
          <a:blip r:embed="rId2"/>
          <a:stretch/>
        </p:blipFill>
        <p:spPr>
          <a:xfrm>
            <a:off x="757080" y="3152880"/>
            <a:ext cx="405720" cy="405720"/>
          </a:xfrm>
          <a:prstGeom prst="rect">
            <a:avLst/>
          </a:prstGeom>
          <a:noFill/>
          <a:ln w="0">
            <a:noFill/>
          </a:ln>
        </p:spPr>
      </p:pic>
      <p:sp>
        <p:nvSpPr>
          <p:cNvPr id="234"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Vague Prompts</a:t>
            </a:r>
            <a:endParaRPr b="0" lang="en-IN" sz="1700" strike="noStrike" u="none">
              <a:solidFill>
                <a:srgbClr val="000000"/>
              </a:solidFill>
              <a:effectLst/>
              <a:uFillTx/>
              <a:latin typeface="Arial"/>
            </a:endParaRPr>
          </a:p>
        </p:txBody>
      </p:sp>
      <p:sp>
        <p:nvSpPr>
          <p:cNvPr id="235"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Ambiguous or poorly specified prompts invite the model to fabricate</a:t>
            </a:r>
            <a:endParaRPr b="0" lang="en-IN" sz="1250" strike="noStrike" u="none">
              <a:solidFill>
                <a:srgbClr val="000000"/>
              </a:solidFill>
              <a:effectLst/>
              <a:uFillTx/>
              <a:latin typeface="Arial"/>
            </a:endParaRPr>
          </a:p>
        </p:txBody>
      </p:sp>
      <p:sp>
        <p:nvSpPr>
          <p:cNvPr id="236"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37" name="Image 2" descr="/home/claude/aihall/icons/thumbsup_navy.png"/>
          <p:cNvPicPr/>
          <p:nvPr/>
        </p:nvPicPr>
        <p:blipFill>
          <a:blip r:embed="rId3"/>
          <a:stretch/>
        </p:blipFill>
        <p:spPr>
          <a:xfrm>
            <a:off x="757080" y="4177080"/>
            <a:ext cx="405720" cy="405720"/>
          </a:xfrm>
          <a:prstGeom prst="rect">
            <a:avLst/>
          </a:prstGeom>
          <a:noFill/>
          <a:ln w="0">
            <a:noFill/>
          </a:ln>
        </p:spPr>
      </p:pic>
      <p:sp>
        <p:nvSpPr>
          <p:cNvPr id="238"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Reward Hacking</a:t>
            </a:r>
            <a:endParaRPr b="0" lang="en-IN" sz="1700" strike="noStrike" u="none">
              <a:solidFill>
                <a:srgbClr val="000000"/>
              </a:solidFill>
              <a:effectLst/>
              <a:uFillTx/>
              <a:latin typeface="Arial"/>
            </a:endParaRPr>
          </a:p>
        </p:txBody>
      </p:sp>
      <p:sp>
        <p:nvSpPr>
          <p:cNvPr id="239"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Training can reward a confident tone over factual correctness</a:t>
            </a:r>
            <a:endParaRPr b="0" lang="en-IN" sz="1250" strike="noStrike" u="none">
              <a:solidFill>
                <a:srgbClr val="000000"/>
              </a:solidFill>
              <a:effectLst/>
              <a:uFillTx/>
              <a:latin typeface="Arial"/>
            </a:endParaRPr>
          </a:p>
        </p:txBody>
      </p:sp>
      <p:sp>
        <p:nvSpPr>
          <p:cNvPr id="240"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41" name="Image 3" descr="/home/claude/aihall/icons/question_navy.png"/>
          <p:cNvPicPr/>
          <p:nvPr/>
        </p:nvPicPr>
        <p:blipFill>
          <a:blip r:embed="rId4"/>
          <a:stretch/>
        </p:blipFill>
        <p:spPr>
          <a:xfrm>
            <a:off x="757080" y="5201280"/>
            <a:ext cx="405720" cy="405720"/>
          </a:xfrm>
          <a:prstGeom prst="rect">
            <a:avLst/>
          </a:prstGeom>
          <a:noFill/>
          <a:ln w="0">
            <a:noFill/>
          </a:ln>
        </p:spPr>
      </p:pic>
      <p:sp>
        <p:nvSpPr>
          <p:cNvPr id="242"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Rarely Says “I Don’t Know”</a:t>
            </a:r>
            <a:endParaRPr b="0" lang="en-IN" sz="1700" strike="noStrike" u="none">
              <a:solidFill>
                <a:srgbClr val="000000"/>
              </a:solidFill>
              <a:effectLst/>
              <a:uFillTx/>
              <a:latin typeface="Arial"/>
            </a:endParaRPr>
          </a:p>
        </p:txBody>
      </p:sp>
      <p:sp>
        <p:nvSpPr>
          <p:cNvPr id="243"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Models are pushed to always answer, so they guess instead of declining</a:t>
            </a:r>
            <a:endParaRPr b="0" lang="en-IN" sz="1250" strike="noStrike" u="none">
              <a:solidFill>
                <a:srgbClr val="000000"/>
              </a:solidFill>
              <a:effectLst/>
              <a:uFillTx/>
              <a:latin typeface="Arial"/>
            </a:endParaRPr>
          </a:p>
        </p:txBody>
      </p:sp>
      <p:sp>
        <p:nvSpPr>
          <p:cNvPr id="244"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08</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245"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CASE STUDIES</a:t>
            </a:r>
            <a:endParaRPr b="0" lang="en-IN" sz="1300" strike="noStrike" u="none">
              <a:solidFill>
                <a:srgbClr val="000000"/>
              </a:solidFill>
              <a:effectLst/>
              <a:uFillTx/>
              <a:latin typeface="Arial"/>
            </a:endParaRPr>
          </a:p>
        </p:txBody>
      </p:sp>
      <p:sp>
        <p:nvSpPr>
          <p:cNvPr id="246"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Real-World Examples</a:t>
            </a:r>
            <a:endParaRPr b="0" lang="en-IN" sz="3200" strike="noStrike" u="none">
              <a:solidFill>
                <a:srgbClr val="000000"/>
              </a:solidFill>
              <a:effectLst/>
              <a:uFillTx/>
              <a:latin typeface="Arial"/>
            </a:endParaRPr>
          </a:p>
        </p:txBody>
      </p:sp>
      <p:sp>
        <p:nvSpPr>
          <p:cNvPr id="247"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These aren't theoretical risks, hallucinations have already caused real, public incidents.</a:t>
            </a:r>
            <a:endParaRPr b="0" lang="en-IN" sz="1450" strike="noStrike" u="none">
              <a:solidFill>
                <a:srgbClr val="000000"/>
              </a:solidFill>
              <a:effectLst/>
              <a:uFillTx/>
              <a:latin typeface="Arial"/>
            </a:endParaRPr>
          </a:p>
        </p:txBody>
      </p:sp>
      <p:sp>
        <p:nvSpPr>
          <p:cNvPr id="248" name="Shape 3"/>
          <p:cNvSpPr/>
          <p:nvPr/>
        </p:nvSpPr>
        <p:spPr>
          <a:xfrm>
            <a:off x="594360" y="2743200"/>
            <a:ext cx="1989360" cy="2651400"/>
          </a:xfrm>
          <a:prstGeom prst="roundRect">
            <a:avLst>
              <a:gd name="adj" fmla="val 3676"/>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9" name="Shape 4"/>
          <p:cNvSpPr/>
          <p:nvPr/>
        </p:nvSpPr>
        <p:spPr>
          <a:xfrm>
            <a:off x="850320" y="299916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50" name="Image 0" descr="/home/claude/aihall/icons/gavel_navy.png"/>
          <p:cNvPicPr/>
          <p:nvPr/>
        </p:nvPicPr>
        <p:blipFill>
          <a:blip r:embed="rId1"/>
          <a:stretch/>
        </p:blipFill>
        <p:spPr>
          <a:xfrm>
            <a:off x="924120" y="3072960"/>
            <a:ext cx="419040" cy="419040"/>
          </a:xfrm>
          <a:prstGeom prst="rect">
            <a:avLst/>
          </a:prstGeom>
          <a:noFill/>
          <a:ln w="0">
            <a:noFill/>
          </a:ln>
        </p:spPr>
      </p:pic>
      <p:sp>
        <p:nvSpPr>
          <p:cNvPr id="251" name="Text 5"/>
          <p:cNvSpPr/>
          <p:nvPr/>
        </p:nvSpPr>
        <p:spPr>
          <a:xfrm>
            <a:off x="850320" y="3675960"/>
            <a:ext cx="1477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Legal Briefs</a:t>
            </a:r>
            <a:endParaRPr b="0" lang="en-IN" sz="1550" strike="noStrike" u="none">
              <a:solidFill>
                <a:srgbClr val="000000"/>
              </a:solidFill>
              <a:effectLst/>
              <a:uFillTx/>
              <a:latin typeface="Arial"/>
            </a:endParaRPr>
          </a:p>
        </p:txBody>
      </p:sp>
      <p:sp>
        <p:nvSpPr>
          <p:cNvPr id="252" name="Text 6"/>
          <p:cNvSpPr/>
          <p:nvPr/>
        </p:nvSpPr>
        <p:spPr>
          <a:xfrm>
            <a:off x="850320" y="4096440"/>
            <a:ext cx="1477440" cy="116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A lawyer filed a court brief citing fake AI-generated cases</a:t>
            </a:r>
            <a:endParaRPr b="0" lang="en-IN" sz="1200" strike="noStrike" u="none">
              <a:solidFill>
                <a:srgbClr val="000000"/>
              </a:solidFill>
              <a:effectLst/>
              <a:uFillTx/>
              <a:latin typeface="Arial"/>
            </a:endParaRPr>
          </a:p>
        </p:txBody>
      </p:sp>
      <p:sp>
        <p:nvSpPr>
          <p:cNvPr id="253" name="Shape 7"/>
          <p:cNvSpPr/>
          <p:nvPr/>
        </p:nvSpPr>
        <p:spPr>
          <a:xfrm>
            <a:off x="2840040" y="2743200"/>
            <a:ext cx="1989360" cy="2651400"/>
          </a:xfrm>
          <a:prstGeom prst="roundRect">
            <a:avLst>
              <a:gd name="adj" fmla="val 3676"/>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4" name="Shape 8"/>
          <p:cNvSpPr/>
          <p:nvPr/>
        </p:nvSpPr>
        <p:spPr>
          <a:xfrm>
            <a:off x="3096000" y="299916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55" name="Image 1" descr="/home/claude/aihall/icons/grad_navy.png"/>
          <p:cNvPicPr/>
          <p:nvPr/>
        </p:nvPicPr>
        <p:blipFill>
          <a:blip r:embed="rId2"/>
          <a:stretch/>
        </p:blipFill>
        <p:spPr>
          <a:xfrm>
            <a:off x="3169800" y="3072960"/>
            <a:ext cx="419040" cy="419040"/>
          </a:xfrm>
          <a:prstGeom prst="rect">
            <a:avLst/>
          </a:prstGeom>
          <a:noFill/>
          <a:ln w="0">
            <a:noFill/>
          </a:ln>
        </p:spPr>
      </p:pic>
      <p:sp>
        <p:nvSpPr>
          <p:cNvPr id="256" name="Text 9"/>
          <p:cNvSpPr/>
          <p:nvPr/>
        </p:nvSpPr>
        <p:spPr>
          <a:xfrm>
            <a:off x="3096000" y="3675960"/>
            <a:ext cx="1477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Academic Papers</a:t>
            </a:r>
            <a:endParaRPr b="0" lang="en-IN" sz="1550" strike="noStrike" u="none">
              <a:solidFill>
                <a:srgbClr val="000000"/>
              </a:solidFill>
              <a:effectLst/>
              <a:uFillTx/>
              <a:latin typeface="Arial"/>
            </a:endParaRPr>
          </a:p>
        </p:txBody>
      </p:sp>
      <p:sp>
        <p:nvSpPr>
          <p:cNvPr id="257" name="Text 10"/>
          <p:cNvSpPr/>
          <p:nvPr/>
        </p:nvSpPr>
        <p:spPr>
          <a:xfrm>
            <a:off x="3096000" y="4096440"/>
            <a:ext cx="1477440" cy="116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Chatbots have invented entire studies and fictional authors</a:t>
            </a:r>
            <a:endParaRPr b="0" lang="en-IN" sz="1200" strike="noStrike" u="none">
              <a:solidFill>
                <a:srgbClr val="000000"/>
              </a:solidFill>
              <a:effectLst/>
              <a:uFillTx/>
              <a:latin typeface="Arial"/>
            </a:endParaRPr>
          </a:p>
        </p:txBody>
      </p:sp>
      <p:sp>
        <p:nvSpPr>
          <p:cNvPr id="258" name="Shape 11"/>
          <p:cNvSpPr/>
          <p:nvPr/>
        </p:nvSpPr>
        <p:spPr>
          <a:xfrm>
            <a:off x="5085720" y="2743200"/>
            <a:ext cx="1989360" cy="2651400"/>
          </a:xfrm>
          <a:prstGeom prst="roundRect">
            <a:avLst>
              <a:gd name="adj" fmla="val 3676"/>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9" name="Shape 12"/>
          <p:cNvSpPr/>
          <p:nvPr/>
        </p:nvSpPr>
        <p:spPr>
          <a:xfrm>
            <a:off x="5342040" y="299916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60" name="Image 2" descr="/home/claude/aihall/icons/code_navy.png"/>
          <p:cNvPicPr/>
          <p:nvPr/>
        </p:nvPicPr>
        <p:blipFill>
          <a:blip r:embed="rId3"/>
          <a:stretch/>
        </p:blipFill>
        <p:spPr>
          <a:xfrm>
            <a:off x="5415480" y="3072960"/>
            <a:ext cx="419040" cy="419040"/>
          </a:xfrm>
          <a:prstGeom prst="rect">
            <a:avLst/>
          </a:prstGeom>
          <a:noFill/>
          <a:ln w="0">
            <a:noFill/>
          </a:ln>
        </p:spPr>
      </p:pic>
      <p:sp>
        <p:nvSpPr>
          <p:cNvPr id="261" name="Text 13"/>
          <p:cNvSpPr/>
          <p:nvPr/>
        </p:nvSpPr>
        <p:spPr>
          <a:xfrm>
            <a:off x="5342040" y="3675960"/>
            <a:ext cx="1477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Coding Tools</a:t>
            </a:r>
            <a:endParaRPr b="0" lang="en-IN" sz="1550" strike="noStrike" u="none">
              <a:solidFill>
                <a:srgbClr val="000000"/>
              </a:solidFill>
              <a:effectLst/>
              <a:uFillTx/>
              <a:latin typeface="Arial"/>
            </a:endParaRPr>
          </a:p>
        </p:txBody>
      </p:sp>
      <p:sp>
        <p:nvSpPr>
          <p:cNvPr id="262" name="Text 14"/>
          <p:cNvSpPr/>
          <p:nvPr/>
        </p:nvSpPr>
        <p:spPr>
          <a:xfrm>
            <a:off x="5342040" y="4096440"/>
            <a:ext cx="1477440" cy="116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AI assistants suggest library functions that don't exist</a:t>
            </a:r>
            <a:endParaRPr b="0" lang="en-IN" sz="1200" strike="noStrike" u="none">
              <a:solidFill>
                <a:srgbClr val="000000"/>
              </a:solidFill>
              <a:effectLst/>
              <a:uFillTx/>
              <a:latin typeface="Arial"/>
            </a:endParaRPr>
          </a:p>
        </p:txBody>
      </p:sp>
      <p:sp>
        <p:nvSpPr>
          <p:cNvPr id="263" name="Shape 15"/>
          <p:cNvSpPr/>
          <p:nvPr/>
        </p:nvSpPr>
        <p:spPr>
          <a:xfrm>
            <a:off x="7331760" y="2743200"/>
            <a:ext cx="1989360" cy="2651400"/>
          </a:xfrm>
          <a:prstGeom prst="roundRect">
            <a:avLst>
              <a:gd name="adj" fmla="val 3676"/>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4" name="Shape 16"/>
          <p:cNvSpPr/>
          <p:nvPr/>
        </p:nvSpPr>
        <p:spPr>
          <a:xfrm>
            <a:off x="7587720" y="299916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65" name="Image 3" descr="/home/claude/aihall/icons/headset_navy.png"/>
          <p:cNvPicPr/>
          <p:nvPr/>
        </p:nvPicPr>
        <p:blipFill>
          <a:blip r:embed="rId4"/>
          <a:stretch/>
        </p:blipFill>
        <p:spPr>
          <a:xfrm>
            <a:off x="7661520" y="3072960"/>
            <a:ext cx="419040" cy="419040"/>
          </a:xfrm>
          <a:prstGeom prst="rect">
            <a:avLst/>
          </a:prstGeom>
          <a:noFill/>
          <a:ln w="0">
            <a:noFill/>
          </a:ln>
        </p:spPr>
      </p:pic>
      <p:sp>
        <p:nvSpPr>
          <p:cNvPr id="266" name="Text 17"/>
          <p:cNvSpPr/>
          <p:nvPr/>
        </p:nvSpPr>
        <p:spPr>
          <a:xfrm>
            <a:off x="7587720" y="3675960"/>
            <a:ext cx="1477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Customer Chatbots</a:t>
            </a:r>
            <a:endParaRPr b="0" lang="en-IN" sz="1550" strike="noStrike" u="none">
              <a:solidFill>
                <a:srgbClr val="000000"/>
              </a:solidFill>
              <a:effectLst/>
              <a:uFillTx/>
              <a:latin typeface="Arial"/>
            </a:endParaRPr>
          </a:p>
        </p:txBody>
      </p:sp>
      <p:sp>
        <p:nvSpPr>
          <p:cNvPr id="267" name="Text 18"/>
          <p:cNvSpPr/>
          <p:nvPr/>
        </p:nvSpPr>
        <p:spPr>
          <a:xfrm>
            <a:off x="7587720" y="4096440"/>
            <a:ext cx="1477440" cy="116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Support bots have given customers false pricing or policy info</a:t>
            </a:r>
            <a:endParaRPr b="0" lang="en-IN" sz="1200" strike="noStrike" u="none">
              <a:solidFill>
                <a:srgbClr val="000000"/>
              </a:solidFill>
              <a:effectLst/>
              <a:uFillTx/>
              <a:latin typeface="Arial"/>
            </a:endParaRPr>
          </a:p>
        </p:txBody>
      </p:sp>
      <p:sp>
        <p:nvSpPr>
          <p:cNvPr id="268" name="Shape 19"/>
          <p:cNvSpPr/>
          <p:nvPr/>
        </p:nvSpPr>
        <p:spPr>
          <a:xfrm>
            <a:off x="9577440" y="2743200"/>
            <a:ext cx="1989360" cy="2651400"/>
          </a:xfrm>
          <a:prstGeom prst="roundRect">
            <a:avLst>
              <a:gd name="adj" fmla="val 3676"/>
            </a:avLst>
          </a:prstGeom>
          <a:solidFill>
            <a:srgbClr val="eef2fc"/>
          </a:solidFill>
          <a:ln w="0">
            <a:noFill/>
          </a:ln>
          <a:effectLst>
            <a:outerShdw algn="bl" blurRad="101520" dir="5400000" dist="38160" kx="0" ky="0" rotWithShape="0" sx="100000" sy="100000">
              <a:srgbClr val="1e2761">
                <a:alpha val="12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9" name="Shape 20"/>
          <p:cNvSpPr/>
          <p:nvPr/>
        </p:nvSpPr>
        <p:spPr>
          <a:xfrm>
            <a:off x="9833400" y="2999160"/>
            <a:ext cx="566640" cy="56664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70" name="Image 4" descr="/home/claude/aihall/icons/history_navy.png"/>
          <p:cNvPicPr/>
          <p:nvPr/>
        </p:nvPicPr>
        <p:blipFill>
          <a:blip r:embed="rId5"/>
          <a:stretch/>
        </p:blipFill>
        <p:spPr>
          <a:xfrm>
            <a:off x="9907200" y="3072960"/>
            <a:ext cx="419040" cy="419040"/>
          </a:xfrm>
          <a:prstGeom prst="rect">
            <a:avLst/>
          </a:prstGeom>
          <a:noFill/>
          <a:ln w="0">
            <a:noFill/>
          </a:ln>
        </p:spPr>
      </p:pic>
      <p:sp>
        <p:nvSpPr>
          <p:cNvPr id="271" name="Text 21"/>
          <p:cNvSpPr/>
          <p:nvPr/>
        </p:nvSpPr>
        <p:spPr>
          <a:xfrm>
            <a:off x="9833400" y="3675960"/>
            <a:ext cx="1477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trike="noStrike" u="none">
                <a:solidFill>
                  <a:srgbClr val="20264d"/>
                </a:solidFill>
                <a:effectLst/>
                <a:uFillTx/>
                <a:latin typeface="Cambria"/>
                <a:ea typeface="Cambria"/>
              </a:rPr>
              <a:t>Historical Facts</a:t>
            </a:r>
            <a:endParaRPr b="0" lang="en-IN" sz="1550" strike="noStrike" u="none">
              <a:solidFill>
                <a:srgbClr val="000000"/>
              </a:solidFill>
              <a:effectLst/>
              <a:uFillTx/>
              <a:latin typeface="Arial"/>
            </a:endParaRPr>
          </a:p>
        </p:txBody>
      </p:sp>
      <p:sp>
        <p:nvSpPr>
          <p:cNvPr id="272" name="Text 22"/>
          <p:cNvSpPr/>
          <p:nvPr/>
        </p:nvSpPr>
        <p:spPr>
          <a:xfrm>
            <a:off x="9833400" y="4096440"/>
            <a:ext cx="1477440" cy="116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trike="noStrike" u="none">
                <a:solidFill>
                  <a:srgbClr val="5b6b8c"/>
                </a:solidFill>
                <a:effectLst/>
                <a:uFillTx/>
                <a:latin typeface="Calibri"/>
                <a:ea typeface="Calibri"/>
              </a:rPr>
              <a:t>Wrong dates and quotes wrongly attributed to public figures</a:t>
            </a:r>
            <a:endParaRPr b="0" lang="en-IN" sz="1200" strike="noStrike" u="none">
              <a:solidFill>
                <a:srgbClr val="000000"/>
              </a:solidFill>
              <a:effectLst/>
              <a:uFillTx/>
              <a:latin typeface="Arial"/>
            </a:endParaRPr>
          </a:p>
        </p:txBody>
      </p:sp>
      <p:sp>
        <p:nvSpPr>
          <p:cNvPr id="273" name="Text 23"/>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09</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274"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WHY IT'S HARD</a:t>
            </a:r>
            <a:endParaRPr b="0" lang="en-IN" sz="1300" strike="noStrike" u="none">
              <a:solidFill>
                <a:srgbClr val="000000"/>
              </a:solidFill>
              <a:effectLst/>
              <a:uFillTx/>
              <a:latin typeface="Arial"/>
            </a:endParaRPr>
          </a:p>
        </p:txBody>
      </p:sp>
      <p:sp>
        <p:nvSpPr>
          <p:cNvPr id="275"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Key Challenges</a:t>
            </a:r>
            <a:endParaRPr b="0" lang="en-IN" sz="3200" strike="noStrike" u="none">
              <a:solidFill>
                <a:srgbClr val="000000"/>
              </a:solidFill>
              <a:effectLst/>
              <a:uFillTx/>
              <a:latin typeface="Arial"/>
            </a:endParaRPr>
          </a:p>
        </p:txBody>
      </p:sp>
      <p:sp>
        <p:nvSpPr>
          <p:cNvPr id="276"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Even knowing the causes, hallucinations remain genuinely difficult to catch and control.</a:t>
            </a:r>
            <a:endParaRPr b="0" lang="en-IN" sz="1450" strike="noStrike" u="none">
              <a:solidFill>
                <a:srgbClr val="000000"/>
              </a:solidFill>
              <a:effectLst/>
              <a:uFillTx/>
              <a:latin typeface="Arial"/>
            </a:endParaRPr>
          </a:p>
        </p:txBody>
      </p:sp>
      <p:sp>
        <p:nvSpPr>
          <p:cNvPr id="277"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78" name="Image 0" descr="/home/claude/aihall/icons/search_navy.png"/>
          <p:cNvPicPr/>
          <p:nvPr/>
        </p:nvPicPr>
        <p:blipFill>
          <a:blip r:embed="rId1"/>
          <a:stretch/>
        </p:blipFill>
        <p:spPr>
          <a:xfrm>
            <a:off x="757080" y="2128680"/>
            <a:ext cx="405720" cy="405720"/>
          </a:xfrm>
          <a:prstGeom prst="rect">
            <a:avLst/>
          </a:prstGeom>
          <a:noFill/>
          <a:ln w="0">
            <a:noFill/>
          </a:ln>
        </p:spPr>
      </p:pic>
      <p:sp>
        <p:nvSpPr>
          <p:cNvPr id="279"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Hard to Detect</a:t>
            </a:r>
            <a:endParaRPr b="0" lang="en-IN" sz="1700" strike="noStrike" u="none">
              <a:solidFill>
                <a:srgbClr val="000000"/>
              </a:solidFill>
              <a:effectLst/>
              <a:uFillTx/>
              <a:latin typeface="Arial"/>
            </a:endParaRPr>
          </a:p>
        </p:txBody>
      </p:sp>
      <p:sp>
        <p:nvSpPr>
          <p:cNvPr id="280"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Hallucinated text sounds just as fluent and confident as accurate text</a:t>
            </a:r>
            <a:endParaRPr b="0" lang="en-IN" sz="1250" strike="noStrike" u="none">
              <a:solidFill>
                <a:srgbClr val="000000"/>
              </a:solidFill>
              <a:effectLst/>
              <a:uFillTx/>
              <a:latin typeface="Arial"/>
            </a:endParaRPr>
          </a:p>
        </p:txBody>
      </p:sp>
      <p:sp>
        <p:nvSpPr>
          <p:cNvPr id="281"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82" name="Image 1" descr="/home/claude/aihall/icons/chartline_navy.png"/>
          <p:cNvPicPr/>
          <p:nvPr/>
        </p:nvPicPr>
        <p:blipFill>
          <a:blip r:embed="rId2"/>
          <a:stretch/>
        </p:blipFill>
        <p:spPr>
          <a:xfrm>
            <a:off x="757080" y="3152880"/>
            <a:ext cx="405720" cy="405720"/>
          </a:xfrm>
          <a:prstGeom prst="rect">
            <a:avLst/>
          </a:prstGeom>
          <a:noFill/>
          <a:ln w="0">
            <a:noFill/>
          </a:ln>
        </p:spPr>
      </p:pic>
      <p:sp>
        <p:nvSpPr>
          <p:cNvPr id="283"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No Uncertainty Signal</a:t>
            </a:r>
            <a:endParaRPr b="0" lang="en-IN" sz="1700" strike="noStrike" u="none">
              <a:solidFill>
                <a:srgbClr val="000000"/>
              </a:solidFill>
              <a:effectLst/>
              <a:uFillTx/>
              <a:latin typeface="Arial"/>
            </a:endParaRPr>
          </a:p>
        </p:txBody>
      </p:sp>
      <p:sp>
        <p:nvSpPr>
          <p:cNvPr id="284"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Most models rarely express calibrated doubt about their own answers</a:t>
            </a:r>
            <a:endParaRPr b="0" lang="en-IN" sz="1250" strike="noStrike" u="none">
              <a:solidFill>
                <a:srgbClr val="000000"/>
              </a:solidFill>
              <a:effectLst/>
              <a:uFillTx/>
              <a:latin typeface="Arial"/>
            </a:endParaRPr>
          </a:p>
        </p:txBody>
      </p:sp>
      <p:sp>
        <p:nvSpPr>
          <p:cNvPr id="285"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86" name="Image 2" descr="/home/claude/aihall/icons/usermd_navy.png"/>
          <p:cNvPicPr/>
          <p:nvPr/>
        </p:nvPicPr>
        <p:blipFill>
          <a:blip r:embed="rId3"/>
          <a:stretch/>
        </p:blipFill>
        <p:spPr>
          <a:xfrm>
            <a:off x="757080" y="4177080"/>
            <a:ext cx="405720" cy="405720"/>
          </a:xfrm>
          <a:prstGeom prst="rect">
            <a:avLst/>
          </a:prstGeom>
          <a:noFill/>
          <a:ln w="0">
            <a:noFill/>
          </a:ln>
        </p:spPr>
      </p:pic>
      <p:sp>
        <p:nvSpPr>
          <p:cNvPr id="287"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High-Stakes Domains</a:t>
            </a:r>
            <a:endParaRPr b="0" lang="en-IN" sz="1700" strike="noStrike" u="none">
              <a:solidFill>
                <a:srgbClr val="000000"/>
              </a:solidFill>
              <a:effectLst/>
              <a:uFillTx/>
              <a:latin typeface="Arial"/>
            </a:endParaRPr>
          </a:p>
        </p:txBody>
      </p:sp>
      <p:sp>
        <p:nvSpPr>
          <p:cNvPr id="288"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Errors in medicine, law, or finance can cause serious real harm</a:t>
            </a:r>
            <a:endParaRPr b="0" lang="en-IN" sz="1250" strike="noStrike" u="none">
              <a:solidFill>
                <a:srgbClr val="000000"/>
              </a:solidFill>
              <a:effectLst/>
              <a:uFillTx/>
              <a:latin typeface="Arial"/>
            </a:endParaRPr>
          </a:p>
        </p:txBody>
      </p:sp>
      <p:sp>
        <p:nvSpPr>
          <p:cNvPr id="289"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90" name="Image 3" descr="/home/claude/aihall/icons/handshake_navy.png"/>
          <p:cNvPicPr/>
          <p:nvPr/>
        </p:nvPicPr>
        <p:blipFill>
          <a:blip r:embed="rId4"/>
          <a:stretch/>
        </p:blipFill>
        <p:spPr>
          <a:xfrm>
            <a:off x="757080" y="5201280"/>
            <a:ext cx="405720" cy="405720"/>
          </a:xfrm>
          <a:prstGeom prst="rect">
            <a:avLst/>
          </a:prstGeom>
          <a:noFill/>
          <a:ln w="0">
            <a:noFill/>
          </a:ln>
        </p:spPr>
      </p:pic>
      <p:sp>
        <p:nvSpPr>
          <p:cNvPr id="291"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Erodes Trust</a:t>
            </a:r>
            <a:endParaRPr b="0" lang="en-IN" sz="1700" strike="noStrike" u="none">
              <a:solidFill>
                <a:srgbClr val="000000"/>
              </a:solidFill>
              <a:effectLst/>
              <a:uFillTx/>
              <a:latin typeface="Arial"/>
            </a:endParaRPr>
          </a:p>
        </p:txBody>
      </p:sp>
      <p:sp>
        <p:nvSpPr>
          <p:cNvPr id="292"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Every caught mistake chips away at public confidence in AI tools</a:t>
            </a:r>
            <a:endParaRPr b="0" lang="en-IN" sz="1250" strike="noStrike" u="none">
              <a:solidFill>
                <a:srgbClr val="000000"/>
              </a:solidFill>
              <a:effectLst/>
              <a:uFillTx/>
              <a:latin typeface="Arial"/>
            </a:endParaRPr>
          </a:p>
        </p:txBody>
      </p:sp>
      <p:sp>
        <p:nvSpPr>
          <p:cNvPr id="293"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10</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294"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MITIGATION 1 OF 2</a:t>
            </a:r>
            <a:endParaRPr b="0" lang="en-IN" sz="1300" strike="noStrike" u="none">
              <a:solidFill>
                <a:srgbClr val="000000"/>
              </a:solidFill>
              <a:effectLst/>
              <a:uFillTx/>
              <a:latin typeface="Arial"/>
            </a:endParaRPr>
          </a:p>
        </p:txBody>
      </p:sp>
      <p:sp>
        <p:nvSpPr>
          <p:cNvPr id="295"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Fixing the Data &amp; Training</a:t>
            </a:r>
            <a:endParaRPr b="0" lang="en-IN" sz="3200" strike="noStrike" u="none">
              <a:solidFill>
                <a:srgbClr val="000000"/>
              </a:solidFill>
              <a:effectLst/>
              <a:uFillTx/>
              <a:latin typeface="Arial"/>
            </a:endParaRPr>
          </a:p>
        </p:txBody>
      </p:sp>
      <p:sp>
        <p:nvSpPr>
          <p:cNvPr id="296"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The first line of defense starts before deployment in how the model is built.</a:t>
            </a:r>
            <a:endParaRPr b="0" lang="en-IN" sz="1450" strike="noStrike" u="none">
              <a:solidFill>
                <a:srgbClr val="000000"/>
              </a:solidFill>
              <a:effectLst/>
              <a:uFillTx/>
              <a:latin typeface="Arial"/>
            </a:endParaRPr>
          </a:p>
        </p:txBody>
      </p:sp>
      <p:sp>
        <p:nvSpPr>
          <p:cNvPr id="297"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298" name="Image 0" descr="/home/claude/aihall/icons/database_navy.png"/>
          <p:cNvPicPr/>
          <p:nvPr/>
        </p:nvPicPr>
        <p:blipFill>
          <a:blip r:embed="rId1"/>
          <a:stretch/>
        </p:blipFill>
        <p:spPr>
          <a:xfrm>
            <a:off x="757080" y="2128680"/>
            <a:ext cx="405720" cy="405720"/>
          </a:xfrm>
          <a:prstGeom prst="rect">
            <a:avLst/>
          </a:prstGeom>
          <a:noFill/>
          <a:ln w="0">
            <a:noFill/>
          </a:ln>
        </p:spPr>
      </p:pic>
      <p:sp>
        <p:nvSpPr>
          <p:cNvPr id="299"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Better Data Curation</a:t>
            </a:r>
            <a:endParaRPr b="0" lang="en-IN" sz="1700" strike="noStrike" u="none">
              <a:solidFill>
                <a:srgbClr val="000000"/>
              </a:solidFill>
              <a:effectLst/>
              <a:uFillTx/>
              <a:latin typeface="Arial"/>
            </a:endParaRPr>
          </a:p>
        </p:txBody>
      </p:sp>
      <p:sp>
        <p:nvSpPr>
          <p:cNvPr id="300"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Use accurate, diverse, and continuously updated training datasets</a:t>
            </a:r>
            <a:endParaRPr b="0" lang="en-IN" sz="1250" strike="noStrike" u="none">
              <a:solidFill>
                <a:srgbClr val="000000"/>
              </a:solidFill>
              <a:effectLst/>
              <a:uFillTx/>
              <a:latin typeface="Arial"/>
            </a:endParaRPr>
          </a:p>
        </p:txBody>
      </p:sp>
      <p:sp>
        <p:nvSpPr>
          <p:cNvPr id="301"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02" name="Image 1" descr="/home/claude/aihall/icons/search_navy.png"/>
          <p:cNvPicPr/>
          <p:nvPr/>
        </p:nvPicPr>
        <p:blipFill>
          <a:blip r:embed="rId2"/>
          <a:stretch/>
        </p:blipFill>
        <p:spPr>
          <a:xfrm>
            <a:off x="757080" y="3152880"/>
            <a:ext cx="405720" cy="405720"/>
          </a:xfrm>
          <a:prstGeom prst="rect">
            <a:avLst/>
          </a:prstGeom>
          <a:noFill/>
          <a:ln w="0">
            <a:noFill/>
          </a:ln>
        </p:spPr>
      </p:pic>
      <p:sp>
        <p:nvSpPr>
          <p:cNvPr id="303"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Retrieval-Augmented Generation</a:t>
            </a:r>
            <a:endParaRPr b="0" lang="en-IN" sz="1700" strike="noStrike" u="none">
              <a:solidFill>
                <a:srgbClr val="000000"/>
              </a:solidFill>
              <a:effectLst/>
              <a:uFillTx/>
              <a:latin typeface="Arial"/>
            </a:endParaRPr>
          </a:p>
        </p:txBody>
      </p:sp>
      <p:sp>
        <p:nvSpPr>
          <p:cNvPr id="304"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Ground answers in real, retrieved documents instead of memory alone</a:t>
            </a:r>
            <a:endParaRPr b="0" lang="en-IN" sz="1250" strike="noStrike" u="none">
              <a:solidFill>
                <a:srgbClr val="000000"/>
              </a:solidFill>
              <a:effectLst/>
              <a:uFillTx/>
              <a:latin typeface="Arial"/>
            </a:endParaRPr>
          </a:p>
        </p:txBody>
      </p:sp>
      <p:sp>
        <p:nvSpPr>
          <p:cNvPr id="305"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06" name="Image 2" descr="/home/claude/aihall/icons/bullseye_navy.png"/>
          <p:cNvPicPr/>
          <p:nvPr/>
        </p:nvPicPr>
        <p:blipFill>
          <a:blip r:embed="rId3"/>
          <a:stretch/>
        </p:blipFill>
        <p:spPr>
          <a:xfrm>
            <a:off x="757080" y="4177080"/>
            <a:ext cx="405720" cy="405720"/>
          </a:xfrm>
          <a:prstGeom prst="rect">
            <a:avLst/>
          </a:prstGeom>
          <a:noFill/>
          <a:ln w="0">
            <a:noFill/>
          </a:ln>
        </p:spPr>
      </p:pic>
      <p:sp>
        <p:nvSpPr>
          <p:cNvPr id="307"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Factuality Fine-Tuning</a:t>
            </a:r>
            <a:endParaRPr b="0" lang="en-IN" sz="1700" strike="noStrike" u="none">
              <a:solidFill>
                <a:srgbClr val="000000"/>
              </a:solidFill>
              <a:effectLst/>
              <a:uFillTx/>
              <a:latin typeface="Arial"/>
            </a:endParaRPr>
          </a:p>
        </p:txBody>
      </p:sp>
      <p:sp>
        <p:nvSpPr>
          <p:cNvPr id="308"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Train the model to prioritize accuracy over sounding fluent</a:t>
            </a:r>
            <a:endParaRPr b="0" lang="en-IN" sz="1250" strike="noStrike" u="none">
              <a:solidFill>
                <a:srgbClr val="000000"/>
              </a:solidFill>
              <a:effectLst/>
              <a:uFillTx/>
              <a:latin typeface="Arial"/>
            </a:endParaRPr>
          </a:p>
        </p:txBody>
      </p:sp>
      <p:sp>
        <p:nvSpPr>
          <p:cNvPr id="309"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10" name="Image 3" descr="/home/claude/aihall/icons/thumbsup_navy.png"/>
          <p:cNvPicPr/>
          <p:nvPr/>
        </p:nvPicPr>
        <p:blipFill>
          <a:blip r:embed="rId4"/>
          <a:stretch/>
        </p:blipFill>
        <p:spPr>
          <a:xfrm>
            <a:off x="757080" y="5201280"/>
            <a:ext cx="405720" cy="405720"/>
          </a:xfrm>
          <a:prstGeom prst="rect">
            <a:avLst/>
          </a:prstGeom>
          <a:noFill/>
          <a:ln w="0">
            <a:noFill/>
          </a:ln>
        </p:spPr>
      </p:pic>
      <p:sp>
        <p:nvSpPr>
          <p:cNvPr id="311"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Feedback-Based Training</a:t>
            </a:r>
            <a:endParaRPr b="0" lang="en-IN" sz="1700" strike="noStrike" u="none">
              <a:solidFill>
                <a:srgbClr val="000000"/>
              </a:solidFill>
              <a:effectLst/>
              <a:uFillTx/>
              <a:latin typeface="Arial"/>
            </a:endParaRPr>
          </a:p>
        </p:txBody>
      </p:sp>
      <p:sp>
        <p:nvSpPr>
          <p:cNvPr id="312"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Reward truthful outputs and penalize fabrication during RLHF</a:t>
            </a:r>
            <a:endParaRPr b="0" lang="en-IN" sz="1250" strike="noStrike" u="none">
              <a:solidFill>
                <a:srgbClr val="000000"/>
              </a:solidFill>
              <a:effectLst/>
              <a:uFillTx/>
              <a:latin typeface="Arial"/>
            </a:endParaRPr>
          </a:p>
        </p:txBody>
      </p:sp>
      <p:sp>
        <p:nvSpPr>
          <p:cNvPr id="313"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11</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314"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MITIGATION 2 OF 2</a:t>
            </a:r>
            <a:endParaRPr b="0" lang="en-IN" sz="1300" strike="noStrike" u="none">
              <a:solidFill>
                <a:srgbClr val="000000"/>
              </a:solidFill>
              <a:effectLst/>
              <a:uFillTx/>
              <a:latin typeface="Arial"/>
            </a:endParaRPr>
          </a:p>
        </p:txBody>
      </p:sp>
      <p:sp>
        <p:nvSpPr>
          <p:cNvPr id="315"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Fixing the System &amp; Usage</a:t>
            </a:r>
            <a:endParaRPr b="0" lang="en-IN" sz="3200" strike="noStrike" u="none">
              <a:solidFill>
                <a:srgbClr val="000000"/>
              </a:solidFill>
              <a:effectLst/>
              <a:uFillTx/>
              <a:latin typeface="Arial"/>
            </a:endParaRPr>
          </a:p>
        </p:txBody>
      </p:sp>
      <p:sp>
        <p:nvSpPr>
          <p:cNvPr id="316"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The second line of defense sits at the moment of use in how we prompt and verify.</a:t>
            </a:r>
            <a:endParaRPr b="0" lang="en-IN" sz="1450" strike="noStrike" u="none">
              <a:solidFill>
                <a:srgbClr val="000000"/>
              </a:solidFill>
              <a:effectLst/>
              <a:uFillTx/>
              <a:latin typeface="Arial"/>
            </a:endParaRPr>
          </a:p>
        </p:txBody>
      </p:sp>
      <p:sp>
        <p:nvSpPr>
          <p:cNvPr id="317"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18" name="Image 0" descr="/home/claude/aihall/icons/keyboard_navy.png"/>
          <p:cNvPicPr/>
          <p:nvPr/>
        </p:nvPicPr>
        <p:blipFill>
          <a:blip r:embed="rId1"/>
          <a:stretch/>
        </p:blipFill>
        <p:spPr>
          <a:xfrm>
            <a:off x="757080" y="2128680"/>
            <a:ext cx="405720" cy="405720"/>
          </a:xfrm>
          <a:prstGeom prst="rect">
            <a:avLst/>
          </a:prstGeom>
          <a:noFill/>
          <a:ln w="0">
            <a:noFill/>
          </a:ln>
        </p:spPr>
      </p:pic>
      <p:sp>
        <p:nvSpPr>
          <p:cNvPr id="319"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Clear Prompting</a:t>
            </a:r>
            <a:endParaRPr b="0" lang="en-IN" sz="1700" strike="noStrike" u="none">
              <a:solidFill>
                <a:srgbClr val="000000"/>
              </a:solidFill>
              <a:effectLst/>
              <a:uFillTx/>
              <a:latin typeface="Arial"/>
            </a:endParaRPr>
          </a:p>
        </p:txBody>
      </p:sp>
      <p:sp>
        <p:nvSpPr>
          <p:cNvPr id="320"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Specific, well-structured instructions reduce ambiguity-driven errors</a:t>
            </a:r>
            <a:endParaRPr b="0" lang="en-IN" sz="1250" strike="noStrike" u="none">
              <a:solidFill>
                <a:srgbClr val="000000"/>
              </a:solidFill>
              <a:effectLst/>
              <a:uFillTx/>
              <a:latin typeface="Arial"/>
            </a:endParaRPr>
          </a:p>
        </p:txBody>
      </p:sp>
      <p:sp>
        <p:nvSpPr>
          <p:cNvPr id="321"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22" name="Image 1" descr="/home/claude/aihall/icons/listol_navy.png"/>
          <p:cNvPicPr/>
          <p:nvPr/>
        </p:nvPicPr>
        <p:blipFill>
          <a:blip r:embed="rId2"/>
          <a:stretch/>
        </p:blipFill>
        <p:spPr>
          <a:xfrm>
            <a:off x="757080" y="3152880"/>
            <a:ext cx="405720" cy="405720"/>
          </a:xfrm>
          <a:prstGeom prst="rect">
            <a:avLst/>
          </a:prstGeom>
          <a:noFill/>
          <a:ln w="0">
            <a:noFill/>
          </a:ln>
        </p:spPr>
      </p:pic>
      <p:sp>
        <p:nvSpPr>
          <p:cNvPr id="323"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Chain-of-Thought Checks</a:t>
            </a:r>
            <a:endParaRPr b="0" lang="en-IN" sz="1700" strike="noStrike" u="none">
              <a:solidFill>
                <a:srgbClr val="000000"/>
              </a:solidFill>
              <a:effectLst/>
              <a:uFillTx/>
              <a:latin typeface="Arial"/>
            </a:endParaRPr>
          </a:p>
        </p:txBody>
      </p:sp>
      <p:sp>
        <p:nvSpPr>
          <p:cNvPr id="324"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Let the model reason step by step and cross-check itself</a:t>
            </a:r>
            <a:endParaRPr b="0" lang="en-IN" sz="1250" strike="noStrike" u="none">
              <a:solidFill>
                <a:srgbClr val="000000"/>
              </a:solidFill>
              <a:effectLst/>
              <a:uFillTx/>
              <a:latin typeface="Arial"/>
            </a:endParaRPr>
          </a:p>
        </p:txBody>
      </p:sp>
      <p:sp>
        <p:nvSpPr>
          <p:cNvPr id="325"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26" name="Image 2" descr="/home/claude/aihall/icons/chartline_navy.png"/>
          <p:cNvPicPr/>
          <p:nvPr/>
        </p:nvPicPr>
        <p:blipFill>
          <a:blip r:embed="rId3"/>
          <a:stretch/>
        </p:blipFill>
        <p:spPr>
          <a:xfrm>
            <a:off x="757080" y="4177080"/>
            <a:ext cx="405720" cy="405720"/>
          </a:xfrm>
          <a:prstGeom prst="rect">
            <a:avLst/>
          </a:prstGeom>
          <a:noFill/>
          <a:ln w="0">
            <a:noFill/>
          </a:ln>
        </p:spPr>
      </p:pic>
      <p:sp>
        <p:nvSpPr>
          <p:cNvPr id="327"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Confidence Scoring</a:t>
            </a:r>
            <a:endParaRPr b="0" lang="en-IN" sz="1700" strike="noStrike" u="none">
              <a:solidFill>
                <a:srgbClr val="000000"/>
              </a:solidFill>
              <a:effectLst/>
              <a:uFillTx/>
              <a:latin typeface="Arial"/>
            </a:endParaRPr>
          </a:p>
        </p:txBody>
      </p:sp>
      <p:sp>
        <p:nvSpPr>
          <p:cNvPr id="328"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Flag low-confidence outputs automatically for closer review</a:t>
            </a:r>
            <a:endParaRPr b="0" lang="en-IN" sz="1250" strike="noStrike" u="none">
              <a:solidFill>
                <a:srgbClr val="000000"/>
              </a:solidFill>
              <a:effectLst/>
              <a:uFillTx/>
              <a:latin typeface="Arial"/>
            </a:endParaRPr>
          </a:p>
        </p:txBody>
      </p:sp>
      <p:sp>
        <p:nvSpPr>
          <p:cNvPr id="329"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30" name="Image 3" descr="/home/claude/aihall/icons/usercheck_navy.png"/>
          <p:cNvPicPr/>
          <p:nvPr/>
        </p:nvPicPr>
        <p:blipFill>
          <a:blip r:embed="rId4"/>
          <a:stretch/>
        </p:blipFill>
        <p:spPr>
          <a:xfrm>
            <a:off x="757080" y="5201280"/>
            <a:ext cx="405720" cy="405720"/>
          </a:xfrm>
          <a:prstGeom prst="rect">
            <a:avLst/>
          </a:prstGeom>
          <a:noFill/>
          <a:ln w="0">
            <a:noFill/>
          </a:ln>
        </p:spPr>
      </p:pic>
      <p:sp>
        <p:nvSpPr>
          <p:cNvPr id="331"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Human-in-the-Loop</a:t>
            </a:r>
            <a:endParaRPr b="0" lang="en-IN" sz="1700" strike="noStrike" u="none">
              <a:solidFill>
                <a:srgbClr val="000000"/>
              </a:solidFill>
              <a:effectLst/>
              <a:uFillTx/>
              <a:latin typeface="Arial"/>
            </a:endParaRPr>
          </a:p>
        </p:txBody>
      </p:sp>
      <p:sp>
        <p:nvSpPr>
          <p:cNvPr id="332"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Pair expert review with required source citations for critical use</a:t>
            </a:r>
            <a:endParaRPr b="0" lang="en-IN" sz="1250" strike="noStrike" u="none">
              <a:solidFill>
                <a:srgbClr val="000000"/>
              </a:solidFill>
              <a:effectLst/>
              <a:uFillTx/>
              <a:latin typeface="Arial"/>
            </a:endParaRPr>
          </a:p>
        </p:txBody>
      </p:sp>
      <p:sp>
        <p:nvSpPr>
          <p:cNvPr id="333"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12</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334" name="Text 0"/>
          <p:cNvSpPr/>
          <p:nvPr/>
        </p:nvSpPr>
        <p:spPr>
          <a:xfrm>
            <a:off x="640080" y="38412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300" strike="noStrike" u="none">
                <a:solidFill>
                  <a:srgbClr val="c9962b"/>
                </a:solidFill>
                <a:effectLst/>
                <a:uFillTx/>
                <a:latin typeface="Calibri"/>
                <a:ea typeface="Calibri"/>
              </a:rPr>
              <a:t>LOOKING AHEAD</a:t>
            </a:r>
            <a:endParaRPr b="0" lang="en-IN" sz="1300" strike="noStrike" u="none">
              <a:solidFill>
                <a:srgbClr val="000000"/>
              </a:solidFill>
              <a:effectLst/>
              <a:uFillTx/>
              <a:latin typeface="Arial"/>
            </a:endParaRPr>
          </a:p>
        </p:txBody>
      </p:sp>
      <p:sp>
        <p:nvSpPr>
          <p:cNvPr id="335" name="Text 1"/>
          <p:cNvSpPr/>
          <p:nvPr/>
        </p:nvSpPr>
        <p:spPr>
          <a:xfrm>
            <a:off x="640080" y="71316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1e2761"/>
                </a:solidFill>
                <a:effectLst/>
                <a:uFillTx/>
                <a:latin typeface="Cambria"/>
                <a:ea typeface="Cambria"/>
              </a:rPr>
              <a:t>Best Practices &amp; Future</a:t>
            </a:r>
            <a:endParaRPr b="0" lang="en-IN" sz="3200" strike="noStrike" u="none">
              <a:solidFill>
                <a:srgbClr val="000000"/>
              </a:solidFill>
              <a:effectLst/>
              <a:uFillTx/>
              <a:latin typeface="Arial"/>
            </a:endParaRPr>
          </a:p>
        </p:txBody>
      </p:sp>
      <p:sp>
        <p:nvSpPr>
          <p:cNvPr id="336" name="Text 2"/>
          <p:cNvSpPr/>
          <p:nvPr/>
        </p:nvSpPr>
        <p:spPr>
          <a:xfrm>
            <a:off x="658440" y="14814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450" strike="noStrike" u="none">
                <a:solidFill>
                  <a:srgbClr val="5b6b8c"/>
                </a:solidFill>
                <a:effectLst/>
                <a:uFillTx/>
                <a:latin typeface="Calibri"/>
                <a:ea typeface="Calibri"/>
              </a:rPr>
              <a:t>No single fix solves this but these habits and trends point toward more reliable AI.</a:t>
            </a:r>
            <a:endParaRPr b="0" lang="en-IN" sz="1450" strike="noStrike" u="none">
              <a:solidFill>
                <a:srgbClr val="000000"/>
              </a:solidFill>
              <a:effectLst/>
              <a:uFillTx/>
              <a:latin typeface="Arial"/>
            </a:endParaRPr>
          </a:p>
        </p:txBody>
      </p:sp>
      <p:sp>
        <p:nvSpPr>
          <p:cNvPr id="337" name="Shape 3"/>
          <p:cNvSpPr/>
          <p:nvPr/>
        </p:nvSpPr>
        <p:spPr>
          <a:xfrm>
            <a:off x="685800" y="20574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38" name="Image 0" descr="/home/claude/aihall/icons/check_navy.png"/>
          <p:cNvPicPr/>
          <p:nvPr/>
        </p:nvPicPr>
        <p:blipFill>
          <a:blip r:embed="rId1"/>
          <a:stretch/>
        </p:blipFill>
        <p:spPr>
          <a:xfrm>
            <a:off x="757080" y="2128680"/>
            <a:ext cx="405720" cy="405720"/>
          </a:xfrm>
          <a:prstGeom prst="rect">
            <a:avLst/>
          </a:prstGeom>
          <a:noFill/>
          <a:ln w="0">
            <a:noFill/>
          </a:ln>
        </p:spPr>
      </p:pic>
      <p:sp>
        <p:nvSpPr>
          <p:cNvPr id="339" name="Text 4"/>
          <p:cNvSpPr/>
          <p:nvPr/>
        </p:nvSpPr>
        <p:spPr>
          <a:xfrm>
            <a:off x="1508760" y="19843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Always Verify Facts</a:t>
            </a:r>
            <a:endParaRPr b="0" lang="en-IN" sz="1700" strike="noStrike" u="none">
              <a:solidFill>
                <a:srgbClr val="000000"/>
              </a:solidFill>
              <a:effectLst/>
              <a:uFillTx/>
              <a:latin typeface="Arial"/>
            </a:endParaRPr>
          </a:p>
        </p:txBody>
      </p:sp>
      <p:sp>
        <p:nvSpPr>
          <p:cNvPr id="340" name="Text 5"/>
          <p:cNvSpPr/>
          <p:nvPr/>
        </p:nvSpPr>
        <p:spPr>
          <a:xfrm>
            <a:off x="1508760" y="236844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Cross-check important AI claims against a trusted source</a:t>
            </a:r>
            <a:endParaRPr b="0" lang="en-IN" sz="1250" strike="noStrike" u="none">
              <a:solidFill>
                <a:srgbClr val="000000"/>
              </a:solidFill>
              <a:effectLst/>
              <a:uFillTx/>
              <a:latin typeface="Arial"/>
            </a:endParaRPr>
          </a:p>
        </p:txBody>
      </p:sp>
      <p:sp>
        <p:nvSpPr>
          <p:cNvPr id="341" name="Shape 6"/>
          <p:cNvSpPr/>
          <p:nvPr/>
        </p:nvSpPr>
        <p:spPr>
          <a:xfrm>
            <a:off x="685800" y="30816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42" name="Image 1" descr="/home/claude/aihall/icons/users_navy.png"/>
          <p:cNvPicPr/>
          <p:nvPr/>
        </p:nvPicPr>
        <p:blipFill>
          <a:blip r:embed="rId2"/>
          <a:stretch/>
        </p:blipFill>
        <p:spPr>
          <a:xfrm>
            <a:off x="757080" y="3152880"/>
            <a:ext cx="405720" cy="405720"/>
          </a:xfrm>
          <a:prstGeom prst="rect">
            <a:avLst/>
          </a:prstGeom>
          <a:noFill/>
          <a:ln w="0">
            <a:noFill/>
          </a:ln>
        </p:spPr>
      </p:pic>
      <p:sp>
        <p:nvSpPr>
          <p:cNvPr id="343" name="Text 7"/>
          <p:cNvSpPr/>
          <p:nvPr/>
        </p:nvSpPr>
        <p:spPr>
          <a:xfrm>
            <a:off x="1508760" y="300852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Human + AI Together</a:t>
            </a:r>
            <a:endParaRPr b="0" lang="en-IN" sz="1700" strike="noStrike" u="none">
              <a:solidFill>
                <a:srgbClr val="000000"/>
              </a:solidFill>
              <a:effectLst/>
              <a:uFillTx/>
              <a:latin typeface="Arial"/>
            </a:endParaRPr>
          </a:p>
        </p:txBody>
      </p:sp>
      <p:sp>
        <p:nvSpPr>
          <p:cNvPr id="344" name="Text 8"/>
          <p:cNvSpPr/>
          <p:nvPr/>
        </p:nvSpPr>
        <p:spPr>
          <a:xfrm>
            <a:off x="1508760" y="33922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Pair AI output with human judgment in high-stakes decisions</a:t>
            </a:r>
            <a:endParaRPr b="0" lang="en-IN" sz="1250" strike="noStrike" u="none">
              <a:solidFill>
                <a:srgbClr val="000000"/>
              </a:solidFill>
              <a:effectLst/>
              <a:uFillTx/>
              <a:latin typeface="Arial"/>
            </a:endParaRPr>
          </a:p>
        </p:txBody>
      </p:sp>
      <p:sp>
        <p:nvSpPr>
          <p:cNvPr id="345" name="Shape 9"/>
          <p:cNvSpPr/>
          <p:nvPr/>
        </p:nvSpPr>
        <p:spPr>
          <a:xfrm>
            <a:off x="685800" y="410580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46" name="Image 2" descr="/home/claude/aihall/icons/flask_navy.png"/>
          <p:cNvPicPr/>
          <p:nvPr/>
        </p:nvPicPr>
        <p:blipFill>
          <a:blip r:embed="rId3"/>
          <a:stretch/>
        </p:blipFill>
        <p:spPr>
          <a:xfrm>
            <a:off x="757080" y="4177080"/>
            <a:ext cx="405720" cy="405720"/>
          </a:xfrm>
          <a:prstGeom prst="rect">
            <a:avLst/>
          </a:prstGeom>
          <a:noFill/>
          <a:ln w="0">
            <a:noFill/>
          </a:ln>
        </p:spPr>
      </p:pic>
      <p:sp>
        <p:nvSpPr>
          <p:cNvPr id="347" name="Text 10"/>
          <p:cNvSpPr/>
          <p:nvPr/>
        </p:nvSpPr>
        <p:spPr>
          <a:xfrm>
            <a:off x="1508760" y="40323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Better Benchmarks</a:t>
            </a:r>
            <a:endParaRPr b="0" lang="en-IN" sz="1700" strike="noStrike" u="none">
              <a:solidFill>
                <a:srgbClr val="000000"/>
              </a:solidFill>
              <a:effectLst/>
              <a:uFillTx/>
              <a:latin typeface="Arial"/>
            </a:endParaRPr>
          </a:p>
        </p:txBody>
      </p:sp>
      <p:sp>
        <p:nvSpPr>
          <p:cNvPr id="348" name="Text 11"/>
          <p:cNvSpPr/>
          <p:nvPr/>
        </p:nvSpPr>
        <p:spPr>
          <a:xfrm>
            <a:off x="1508760" y="44164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Ongoing research into stronger factuality evaluation methods</a:t>
            </a:r>
            <a:endParaRPr b="0" lang="en-IN" sz="1250" strike="noStrike" u="none">
              <a:solidFill>
                <a:srgbClr val="000000"/>
              </a:solidFill>
              <a:effectLst/>
              <a:uFillTx/>
              <a:latin typeface="Arial"/>
            </a:endParaRPr>
          </a:p>
        </p:txBody>
      </p:sp>
      <p:sp>
        <p:nvSpPr>
          <p:cNvPr id="349" name="Shape 12"/>
          <p:cNvSpPr/>
          <p:nvPr/>
        </p:nvSpPr>
        <p:spPr>
          <a:xfrm>
            <a:off x="685800" y="5129640"/>
            <a:ext cx="548280" cy="54828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350" name="Image 3" descr="/home/claude/aihall/icons/lightbulb_navy.png"/>
          <p:cNvPicPr/>
          <p:nvPr/>
        </p:nvPicPr>
        <p:blipFill>
          <a:blip r:embed="rId4"/>
          <a:stretch/>
        </p:blipFill>
        <p:spPr>
          <a:xfrm>
            <a:off x="757080" y="5201280"/>
            <a:ext cx="405720" cy="405720"/>
          </a:xfrm>
          <a:prstGeom prst="rect">
            <a:avLst/>
          </a:prstGeom>
          <a:noFill/>
          <a:ln w="0">
            <a:noFill/>
          </a:ln>
        </p:spPr>
      </p:pic>
      <p:sp>
        <p:nvSpPr>
          <p:cNvPr id="351" name="Text 13"/>
          <p:cNvSpPr/>
          <p:nvPr/>
        </p:nvSpPr>
        <p:spPr>
          <a:xfrm>
            <a:off x="1508760" y="50565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20264d"/>
                </a:solidFill>
                <a:effectLst/>
                <a:uFillTx/>
                <a:latin typeface="Cambria"/>
                <a:ea typeface="Cambria"/>
              </a:rPr>
              <a:t>Honest AI</a:t>
            </a:r>
            <a:endParaRPr b="0" lang="en-IN" sz="1700" strike="noStrike" u="none">
              <a:solidFill>
                <a:srgbClr val="000000"/>
              </a:solidFill>
              <a:effectLst/>
              <a:uFillTx/>
              <a:latin typeface="Arial"/>
            </a:endParaRPr>
          </a:p>
        </p:txBody>
      </p:sp>
      <p:sp>
        <p:nvSpPr>
          <p:cNvPr id="352" name="Text 14"/>
          <p:cNvSpPr/>
          <p:nvPr/>
        </p:nvSpPr>
        <p:spPr>
          <a:xfrm>
            <a:off x="1508760" y="5440680"/>
            <a:ext cx="99666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50" strike="noStrike" u="none">
                <a:solidFill>
                  <a:srgbClr val="5b6b8c"/>
                </a:solidFill>
                <a:effectLst/>
                <a:uFillTx/>
                <a:latin typeface="Calibri"/>
                <a:ea typeface="Calibri"/>
              </a:rPr>
              <a:t>Building models comfortable saying “I don’t know” instead of guessing</a:t>
            </a:r>
            <a:endParaRPr b="0" lang="en-IN" sz="1250" strike="noStrike" u="none">
              <a:solidFill>
                <a:srgbClr val="000000"/>
              </a:solidFill>
              <a:effectLst/>
              <a:uFillTx/>
              <a:latin typeface="Arial"/>
            </a:endParaRPr>
          </a:p>
        </p:txBody>
      </p:sp>
      <p:sp>
        <p:nvSpPr>
          <p:cNvPr id="353" name="Text 15"/>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13</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4ee"/>
        </a:solidFill>
      </p:bgPr>
    </p:bg>
    <p:spTree>
      <p:nvGrpSpPr>
        <p:cNvPr id="1" name=""/>
        <p:cNvGrpSpPr/>
        <p:nvPr/>
      </p:nvGrpSpPr>
      <p:grpSpPr>
        <a:xfrm>
          <a:off x="0" y="0"/>
          <a:ext cx="0" cy="0"/>
          <a:chOff x="0" y="0"/>
          <a:chExt cx="0" cy="0"/>
        </a:xfrm>
      </p:grpSpPr>
      <p:sp>
        <p:nvSpPr>
          <p:cNvPr id="354" name="Shape 0"/>
          <p:cNvSpPr/>
          <p:nvPr/>
        </p:nvSpPr>
        <p:spPr>
          <a:xfrm>
            <a:off x="-1828800" y="-1828800"/>
            <a:ext cx="4571640" cy="4571640"/>
          </a:xfrm>
          <a:prstGeom prst="ellipse">
            <a:avLst/>
          </a:prstGeom>
          <a:solidFill>
            <a:srgbClr val="eef2fc"/>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55" name="Shape 1"/>
          <p:cNvSpPr/>
          <p:nvPr/>
        </p:nvSpPr>
        <p:spPr>
          <a:xfrm flipH="1">
            <a:off x="8013600" y="1201320"/>
            <a:ext cx="965520" cy="3128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56" name="Shape 2"/>
          <p:cNvSpPr/>
          <p:nvPr/>
        </p:nvSpPr>
        <p:spPr>
          <a:xfrm>
            <a:off x="8979120" y="1201320"/>
            <a:ext cx="885240" cy="6253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57" name="Shape 3"/>
          <p:cNvSpPr/>
          <p:nvPr/>
        </p:nvSpPr>
        <p:spPr>
          <a:xfrm>
            <a:off x="8013600" y="1514160"/>
            <a:ext cx="482760" cy="10422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58" name="Shape 4"/>
          <p:cNvSpPr/>
          <p:nvPr/>
        </p:nvSpPr>
        <p:spPr>
          <a:xfrm>
            <a:off x="8979120" y="1201320"/>
            <a:ext cx="482760" cy="14594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59" name="Shape 5"/>
          <p:cNvSpPr/>
          <p:nvPr/>
        </p:nvSpPr>
        <p:spPr>
          <a:xfrm>
            <a:off x="9864360" y="1826640"/>
            <a:ext cx="643680" cy="4172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0" name="Shape 6"/>
          <p:cNvSpPr/>
          <p:nvPr/>
        </p:nvSpPr>
        <p:spPr>
          <a:xfrm>
            <a:off x="8496360" y="2556360"/>
            <a:ext cx="965520" cy="1044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1" name="Shape 7"/>
          <p:cNvSpPr/>
          <p:nvPr/>
        </p:nvSpPr>
        <p:spPr>
          <a:xfrm flipH="1">
            <a:off x="9461880" y="2243880"/>
            <a:ext cx="1046160" cy="41688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2" name="Shape 8"/>
          <p:cNvSpPr/>
          <p:nvPr/>
        </p:nvSpPr>
        <p:spPr>
          <a:xfrm flipH="1">
            <a:off x="8979120" y="2660760"/>
            <a:ext cx="482760" cy="10425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3" name="Shape 9"/>
          <p:cNvSpPr/>
          <p:nvPr/>
        </p:nvSpPr>
        <p:spPr>
          <a:xfrm flipH="1">
            <a:off x="10105920" y="2243880"/>
            <a:ext cx="402120" cy="13550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4" name="Shape 10"/>
          <p:cNvSpPr/>
          <p:nvPr/>
        </p:nvSpPr>
        <p:spPr>
          <a:xfrm>
            <a:off x="10508040" y="2243880"/>
            <a:ext cx="563400" cy="9381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5" name="Shape 11"/>
          <p:cNvSpPr/>
          <p:nvPr/>
        </p:nvSpPr>
        <p:spPr>
          <a:xfrm flipH="1">
            <a:off x="8979120" y="3598920"/>
            <a:ext cx="1126800" cy="1044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6" name="Shape 12"/>
          <p:cNvSpPr/>
          <p:nvPr/>
        </p:nvSpPr>
        <p:spPr>
          <a:xfrm flipH="1">
            <a:off x="10105920" y="3182040"/>
            <a:ext cx="965520" cy="41688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7" name="Shape 13"/>
          <p:cNvSpPr/>
          <p:nvPr/>
        </p:nvSpPr>
        <p:spPr>
          <a:xfrm flipH="1">
            <a:off x="8335440" y="2556360"/>
            <a:ext cx="160920" cy="20851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8" name="Shape 14"/>
          <p:cNvSpPr/>
          <p:nvPr/>
        </p:nvSpPr>
        <p:spPr>
          <a:xfrm>
            <a:off x="8979120" y="3703320"/>
            <a:ext cx="643680" cy="10422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69" name="Shape 15"/>
          <p:cNvSpPr/>
          <p:nvPr/>
        </p:nvSpPr>
        <p:spPr>
          <a:xfrm>
            <a:off x="10105920" y="3598920"/>
            <a:ext cx="563040" cy="9381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0" name="Shape 16"/>
          <p:cNvSpPr/>
          <p:nvPr/>
        </p:nvSpPr>
        <p:spPr>
          <a:xfrm>
            <a:off x="11071440" y="3182040"/>
            <a:ext cx="321840" cy="11466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1" name="Shape 17"/>
          <p:cNvSpPr/>
          <p:nvPr/>
        </p:nvSpPr>
        <p:spPr>
          <a:xfrm>
            <a:off x="8335440" y="4641480"/>
            <a:ext cx="1287360" cy="1040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2" name="Shape 18"/>
          <p:cNvSpPr/>
          <p:nvPr/>
        </p:nvSpPr>
        <p:spPr>
          <a:xfrm flipH="1">
            <a:off x="9622800" y="4537080"/>
            <a:ext cx="1046160" cy="2084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3" name="Shape 19"/>
          <p:cNvSpPr/>
          <p:nvPr/>
        </p:nvSpPr>
        <p:spPr>
          <a:xfrm flipH="1">
            <a:off x="10668960" y="4328640"/>
            <a:ext cx="724320" cy="20844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4" name="Shape 20"/>
          <p:cNvSpPr/>
          <p:nvPr/>
        </p:nvSpPr>
        <p:spPr>
          <a:xfrm>
            <a:off x="9622800" y="4745520"/>
            <a:ext cx="644040" cy="83412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5" name="Shape 21"/>
          <p:cNvSpPr/>
          <p:nvPr/>
        </p:nvSpPr>
        <p:spPr>
          <a:xfrm flipH="1">
            <a:off x="10266840" y="4537080"/>
            <a:ext cx="402120" cy="10425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6" name="Shape 22"/>
          <p:cNvSpPr/>
          <p:nvPr/>
        </p:nvSpPr>
        <p:spPr>
          <a:xfrm>
            <a:off x="8335440" y="4641480"/>
            <a:ext cx="402480" cy="104220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7" name="Shape 23"/>
          <p:cNvSpPr/>
          <p:nvPr/>
        </p:nvSpPr>
        <p:spPr>
          <a:xfrm flipH="1">
            <a:off x="8737920" y="4745520"/>
            <a:ext cx="884880" cy="9381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8" name="Shape 24"/>
          <p:cNvSpPr/>
          <p:nvPr/>
        </p:nvSpPr>
        <p:spPr>
          <a:xfrm flipH="1">
            <a:off x="8335440" y="3703320"/>
            <a:ext cx="643680" cy="938160"/>
          </a:xfrm>
          <a:prstGeom prst="line">
            <a:avLst/>
          </a:prstGeom>
          <a:ln w="15875">
            <a:solidFill>
              <a:srgbClr val="cadcfc"/>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79" name="Shape 25"/>
          <p:cNvSpPr/>
          <p:nvPr/>
        </p:nvSpPr>
        <p:spPr>
          <a:xfrm>
            <a:off x="7842960" y="1343160"/>
            <a:ext cx="341640" cy="3416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0" name="Shape 26"/>
          <p:cNvSpPr/>
          <p:nvPr/>
        </p:nvSpPr>
        <p:spPr>
          <a:xfrm>
            <a:off x="8876880" y="1099080"/>
            <a:ext cx="204840" cy="204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1" name="Shape 27"/>
          <p:cNvSpPr/>
          <p:nvPr/>
        </p:nvSpPr>
        <p:spPr>
          <a:xfrm>
            <a:off x="9727920" y="1690200"/>
            <a:ext cx="273240" cy="2732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2" name="Shape 28"/>
          <p:cNvSpPr/>
          <p:nvPr/>
        </p:nvSpPr>
        <p:spPr>
          <a:xfrm>
            <a:off x="8376840" y="2436840"/>
            <a:ext cx="239040" cy="2390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3" name="Shape 29"/>
          <p:cNvSpPr/>
          <p:nvPr/>
        </p:nvSpPr>
        <p:spPr>
          <a:xfrm>
            <a:off x="9273960" y="2472840"/>
            <a:ext cx="375840" cy="37584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4" name="Shape 30"/>
          <p:cNvSpPr/>
          <p:nvPr/>
        </p:nvSpPr>
        <p:spPr>
          <a:xfrm>
            <a:off x="10405800" y="2141280"/>
            <a:ext cx="204840" cy="204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5" name="Shape 31"/>
          <p:cNvSpPr/>
          <p:nvPr/>
        </p:nvSpPr>
        <p:spPr>
          <a:xfrm>
            <a:off x="8876880" y="3600720"/>
            <a:ext cx="204840" cy="204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6" name="Shape 32"/>
          <p:cNvSpPr/>
          <p:nvPr/>
        </p:nvSpPr>
        <p:spPr>
          <a:xfrm>
            <a:off x="9952200" y="3445200"/>
            <a:ext cx="307440" cy="30744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7" name="Shape 33"/>
          <p:cNvSpPr/>
          <p:nvPr/>
        </p:nvSpPr>
        <p:spPr>
          <a:xfrm>
            <a:off x="10951920" y="3062520"/>
            <a:ext cx="239040" cy="2390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8" name="Shape 34"/>
          <p:cNvSpPr/>
          <p:nvPr/>
        </p:nvSpPr>
        <p:spPr>
          <a:xfrm>
            <a:off x="8250120" y="4556160"/>
            <a:ext cx="170640" cy="1706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9" name="Shape 35"/>
          <p:cNvSpPr/>
          <p:nvPr/>
        </p:nvSpPr>
        <p:spPr>
          <a:xfrm>
            <a:off x="9503280" y="4626000"/>
            <a:ext cx="239040" cy="2390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0" name="Shape 36"/>
          <p:cNvSpPr/>
          <p:nvPr/>
        </p:nvSpPr>
        <p:spPr>
          <a:xfrm>
            <a:off x="10566720" y="4434480"/>
            <a:ext cx="204840" cy="2048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1" name="Shape 37"/>
          <p:cNvSpPr/>
          <p:nvPr/>
        </p:nvSpPr>
        <p:spPr>
          <a:xfrm>
            <a:off x="11307960" y="4243320"/>
            <a:ext cx="170640" cy="1706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2" name="Shape 38"/>
          <p:cNvSpPr/>
          <p:nvPr/>
        </p:nvSpPr>
        <p:spPr>
          <a:xfrm>
            <a:off x="10181520" y="5494320"/>
            <a:ext cx="170640" cy="1706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3" name="Shape 39"/>
          <p:cNvSpPr/>
          <p:nvPr/>
        </p:nvSpPr>
        <p:spPr>
          <a:xfrm>
            <a:off x="8669520" y="5615640"/>
            <a:ext cx="136440" cy="136440"/>
          </a:xfrm>
          <a:prstGeom prst="ellipse">
            <a:avLst/>
          </a:prstGeom>
          <a:solidFill>
            <a:srgbClr val="1e2761"/>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4" name="Shape 40"/>
          <p:cNvSpPr/>
          <p:nvPr/>
        </p:nvSpPr>
        <p:spPr>
          <a:xfrm>
            <a:off x="685800" y="1005840"/>
            <a:ext cx="959760" cy="959760"/>
          </a:xfrm>
          <a:prstGeom prst="ellipse">
            <a:avLst/>
          </a:prstGeom>
          <a:solidFill>
            <a:srgbClr val="c9962b"/>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pic>
        <p:nvPicPr>
          <p:cNvPr id="395" name="Image 0" descr="/home/claude/aihall/icons/shield_navy.png"/>
          <p:cNvPicPr/>
          <p:nvPr/>
        </p:nvPicPr>
        <p:blipFill>
          <a:blip r:embed="rId1"/>
          <a:stretch/>
        </p:blipFill>
        <p:spPr>
          <a:xfrm>
            <a:off x="810720" y="1130760"/>
            <a:ext cx="710280" cy="710280"/>
          </a:xfrm>
          <a:prstGeom prst="rect">
            <a:avLst/>
          </a:prstGeom>
          <a:noFill/>
          <a:ln w="0">
            <a:noFill/>
          </a:ln>
        </p:spPr>
      </p:pic>
      <p:sp>
        <p:nvSpPr>
          <p:cNvPr id="396" name="Text 41"/>
          <p:cNvSpPr/>
          <p:nvPr/>
        </p:nvSpPr>
        <p:spPr>
          <a:xfrm>
            <a:off x="685800" y="2240280"/>
            <a:ext cx="67662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300" strike="noStrike" u="none">
                <a:solidFill>
                  <a:srgbClr val="c9962b"/>
                </a:solidFill>
                <a:effectLst/>
                <a:uFillTx/>
                <a:latin typeface="Calibri"/>
                <a:ea typeface="Calibri"/>
              </a:rPr>
              <a:t>SUMMARY</a:t>
            </a:r>
            <a:endParaRPr b="0" lang="en-IN" sz="1400" strike="noStrike" u="none">
              <a:solidFill>
                <a:srgbClr val="000000"/>
              </a:solidFill>
              <a:effectLst/>
              <a:uFillTx/>
              <a:latin typeface="Arial"/>
            </a:endParaRPr>
          </a:p>
        </p:txBody>
      </p:sp>
      <p:sp>
        <p:nvSpPr>
          <p:cNvPr id="397" name="Text 42"/>
          <p:cNvSpPr/>
          <p:nvPr/>
        </p:nvSpPr>
        <p:spPr>
          <a:xfrm>
            <a:off x="658440" y="2560320"/>
            <a:ext cx="6766200" cy="1234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trike="noStrike" u="none">
                <a:solidFill>
                  <a:srgbClr val="1e2761"/>
                </a:solidFill>
                <a:effectLst/>
                <a:uFillTx/>
                <a:latin typeface="Cambria"/>
                <a:ea typeface="Cambria"/>
              </a:rPr>
              <a:t>A Known Limitation: A Manageable Risk</a:t>
            </a:r>
            <a:endParaRPr b="0" lang="en-IN" sz="2700" strike="noStrike" u="none">
              <a:solidFill>
                <a:srgbClr val="000000"/>
              </a:solidFill>
              <a:effectLst/>
              <a:uFillTx/>
              <a:latin typeface="Arial"/>
            </a:endParaRPr>
          </a:p>
        </p:txBody>
      </p:sp>
      <p:sp>
        <p:nvSpPr>
          <p:cNvPr id="398" name="Text 43"/>
          <p:cNvSpPr/>
          <p:nvPr/>
        </p:nvSpPr>
        <p:spPr>
          <a:xfrm>
            <a:off x="685800" y="3931920"/>
            <a:ext cx="6674760" cy="146268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1400" strike="noStrike" u="none">
                <a:solidFill>
                  <a:srgbClr val="5b6b8c"/>
                </a:solidFill>
                <a:effectLst/>
                <a:uFillTx/>
                <a:latin typeface="Calibri"/>
                <a:ea typeface="Calibri"/>
              </a:rPr>
              <a:t>Hallucinations arise from data limitations, model architecture, and the pressure to always produce an answer. Better data, retrieval grounding, and human oversight cannot erase them entirely but together they make AI dramatically more trustworthy and safer to rely on.</a:t>
            </a:r>
            <a:endParaRPr b="0" lang="en-IN" sz="1400" strike="noStrike" u="none">
              <a:solidFill>
                <a:srgbClr val="000000"/>
              </a:solidFill>
              <a:effectLst/>
              <a:uFillTx/>
              <a:latin typeface="Arial"/>
            </a:endParaRPr>
          </a:p>
        </p:txBody>
      </p:sp>
      <p:sp>
        <p:nvSpPr>
          <p:cNvPr id="399" name="Text 44"/>
          <p:cNvSpPr/>
          <p:nvPr/>
        </p:nvSpPr>
        <p:spPr>
          <a:xfrm>
            <a:off x="685800" y="5532120"/>
            <a:ext cx="5486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trike="noStrike" u="none">
                <a:solidFill>
                  <a:srgbClr val="1e2761"/>
                </a:solidFill>
                <a:effectLst/>
                <a:uFillTx/>
                <a:latin typeface="Cambria"/>
                <a:ea typeface="Cambria"/>
              </a:rPr>
              <a:t>Thank You</a:t>
            </a:r>
            <a:endParaRPr b="0" lang="en-IN" sz="2600" strike="noStrike" u="none">
              <a:solidFill>
                <a:srgbClr val="000000"/>
              </a:solidFill>
              <a:effectLst/>
              <a:uFillTx/>
              <a:latin typeface="Arial"/>
            </a:endParaRPr>
          </a:p>
        </p:txBody>
      </p:sp>
      <p:sp>
        <p:nvSpPr>
          <p:cNvPr id="400" name="Text 45"/>
          <p:cNvSpPr/>
          <p:nvPr/>
        </p:nvSpPr>
        <p:spPr>
          <a:xfrm>
            <a:off x="685800" y="605340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IN" sz="1800" strike="noStrike" u="none">
              <a:solidFill>
                <a:srgbClr val="000000"/>
              </a:solidFill>
              <a:effectLst/>
              <a:uFillTx/>
              <a:latin typeface="Arial"/>
            </a:endParaRPr>
          </a:p>
        </p:txBody>
      </p:sp>
      <p:sp>
        <p:nvSpPr>
          <p:cNvPr id="401" name="Text 46"/>
          <p:cNvSpPr/>
          <p:nvPr/>
        </p:nvSpPr>
        <p:spPr>
          <a:xfrm>
            <a:off x="11475720" y="6446520"/>
            <a:ext cx="54828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100" strike="noStrike" u="none">
                <a:solidFill>
                  <a:srgbClr val="5b6b8c"/>
                </a:solidFill>
                <a:effectLst/>
                <a:uFillTx/>
                <a:latin typeface="Calibri"/>
                <a:ea typeface="Calibri"/>
              </a:rPr>
              <a:t>14</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LibreOffice/25.8.1.1$Linux_X86_64 LibreOffice_project/580$Build-1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2026-07-19T17:52:01Z</dcterms:created>
  <dc:creator>PptxGenJS</dc:creator>
  <dc:description/>
  <dc:language>en-IN</dc:language>
  <cp:lastModifiedBy/>
  <dcterms:modified xsi:type="dcterms:W3CDTF">2026-07-19T23:58:32Z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On-screen Show (16:9)</vt:lpwstr>
  </property>
  <property fmtid="{D5CDD505-2E9C-101B-9397-08002B2CF9AE}" pid="4" name="Slides">
    <vt:i4>14</vt:i4>
  </property>
</Properties>
</file>