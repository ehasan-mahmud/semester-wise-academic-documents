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3"/>
  </p:notesMasterIdLst>
  <p:handoutMasterIdLst>
    <p:handoutMasterId r:id="rId34"/>
  </p:handoutMasterIdLst>
  <p:sldIdLst>
    <p:sldId id="256" r:id="rId2"/>
    <p:sldId id="381" r:id="rId3"/>
    <p:sldId id="317" r:id="rId4"/>
    <p:sldId id="318" r:id="rId5"/>
    <p:sldId id="319" r:id="rId6"/>
    <p:sldId id="374" r:id="rId7"/>
    <p:sldId id="375" r:id="rId8"/>
    <p:sldId id="377" r:id="rId9"/>
    <p:sldId id="380" r:id="rId10"/>
    <p:sldId id="378" r:id="rId11"/>
    <p:sldId id="379" r:id="rId12"/>
    <p:sldId id="330" r:id="rId13"/>
    <p:sldId id="331" r:id="rId14"/>
    <p:sldId id="332" r:id="rId15"/>
    <p:sldId id="327" r:id="rId16"/>
    <p:sldId id="336" r:id="rId17"/>
    <p:sldId id="356" r:id="rId18"/>
    <p:sldId id="339" r:id="rId19"/>
    <p:sldId id="338" r:id="rId20"/>
    <p:sldId id="349" r:id="rId21"/>
    <p:sldId id="350" r:id="rId22"/>
    <p:sldId id="351" r:id="rId23"/>
    <p:sldId id="352" r:id="rId24"/>
    <p:sldId id="353" r:id="rId25"/>
    <p:sldId id="354" r:id="rId26"/>
    <p:sldId id="355" r:id="rId27"/>
    <p:sldId id="361" r:id="rId28"/>
    <p:sldId id="367" r:id="rId29"/>
    <p:sldId id="368" r:id="rId30"/>
    <p:sldId id="369" r:id="rId31"/>
    <p:sldId id="316"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55" autoAdjust="0"/>
    <p:restoredTop sz="94660"/>
  </p:normalViewPr>
  <p:slideViewPr>
    <p:cSldViewPr showGuides="1">
      <p:cViewPr varScale="1">
        <p:scale>
          <a:sx n="84" d="100"/>
          <a:sy n="84" d="100"/>
        </p:scale>
        <p:origin x="133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557C6AD-D7F3-4C45-AAB3-98A8CD2DC805}" type="datetimeFigureOut">
              <a:rPr lang="en-US" smtClean="0"/>
              <a:t>01-May-26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843715E-BEE7-40C6-8B64-D49BBD866DC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E57FD8-B2C0-40E3-8160-7AB247498F15}" type="datetimeFigureOut">
              <a:rPr lang="en-US" smtClean="0"/>
              <a:t>01-May-26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4677A0-9018-45F6-ADAB-B7DB527ED19F}" type="slidenum">
              <a:rPr lang="en-US" smtClean="0"/>
              <a:t>‹#›</a:t>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594FDF-009B-4881-82DB-F675317613FE}" type="datetime1">
              <a:rPr lang="en-US" smtClean="0"/>
              <a:t>01-May-26</a:t>
            </a:fld>
            <a:endParaRPr lang="en-US"/>
          </a:p>
        </p:txBody>
      </p:sp>
      <p:sp>
        <p:nvSpPr>
          <p:cNvPr id="5" name="Footer Placeholder 4"/>
          <p:cNvSpPr>
            <a:spLocks noGrp="1"/>
          </p:cNvSpPr>
          <p:nvPr>
            <p:ph type="ftr" sz="quarter" idx="11"/>
          </p:nvPr>
        </p:nvSpPr>
        <p:spPr/>
        <p:txBody>
          <a:bodyPr/>
          <a:lstStyle/>
          <a:p>
            <a:r>
              <a:rPr lang="en-US"/>
              <a:t>Abdus Sattar, sattar@britannia.ac</a:t>
            </a:r>
          </a:p>
        </p:txBody>
      </p:sp>
      <p:sp>
        <p:nvSpPr>
          <p:cNvPr id="6" name="Slide Number Placeholder 5"/>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280FE8-CA90-492D-B780-3E28240EFA8E}" type="datetime1">
              <a:rPr lang="en-US" smtClean="0"/>
              <a:t>01-May-26</a:t>
            </a:fld>
            <a:endParaRPr lang="en-US"/>
          </a:p>
        </p:txBody>
      </p:sp>
      <p:sp>
        <p:nvSpPr>
          <p:cNvPr id="5" name="Footer Placeholder 4"/>
          <p:cNvSpPr>
            <a:spLocks noGrp="1"/>
          </p:cNvSpPr>
          <p:nvPr>
            <p:ph type="ftr" sz="quarter" idx="11"/>
          </p:nvPr>
        </p:nvSpPr>
        <p:spPr/>
        <p:txBody>
          <a:bodyPr/>
          <a:lstStyle/>
          <a:p>
            <a:r>
              <a:rPr lang="en-US"/>
              <a:t>Abdus Sattar, sattar@britannia.ac</a:t>
            </a:r>
          </a:p>
        </p:txBody>
      </p:sp>
      <p:sp>
        <p:nvSpPr>
          <p:cNvPr id="6" name="Slide Number Placeholder 5"/>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7B157A-C3EF-4DB1-9C6A-041B7A9E2DB1}" type="datetime1">
              <a:rPr lang="en-US" smtClean="0"/>
              <a:t>01-May-26</a:t>
            </a:fld>
            <a:endParaRPr lang="en-US"/>
          </a:p>
        </p:txBody>
      </p:sp>
      <p:sp>
        <p:nvSpPr>
          <p:cNvPr id="5" name="Footer Placeholder 4"/>
          <p:cNvSpPr>
            <a:spLocks noGrp="1"/>
          </p:cNvSpPr>
          <p:nvPr>
            <p:ph type="ftr" sz="quarter" idx="11"/>
          </p:nvPr>
        </p:nvSpPr>
        <p:spPr/>
        <p:txBody>
          <a:bodyPr/>
          <a:lstStyle/>
          <a:p>
            <a:r>
              <a:rPr lang="en-US"/>
              <a:t>Abdus Sattar, sattar@britannia.ac</a:t>
            </a:r>
          </a:p>
        </p:txBody>
      </p:sp>
      <p:sp>
        <p:nvSpPr>
          <p:cNvPr id="6" name="Slide Number Placeholder 5"/>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31049E-90EC-4E3F-8AEB-8BF5CE327C87}" type="datetime1">
              <a:rPr lang="en-US" smtClean="0"/>
              <a:t>01-May-26</a:t>
            </a:fld>
            <a:endParaRPr lang="en-US"/>
          </a:p>
        </p:txBody>
      </p:sp>
      <p:sp>
        <p:nvSpPr>
          <p:cNvPr id="6" name="Footer Placeholder 5"/>
          <p:cNvSpPr>
            <a:spLocks noGrp="1"/>
          </p:cNvSpPr>
          <p:nvPr>
            <p:ph type="ftr" sz="quarter" idx="11"/>
          </p:nvPr>
        </p:nvSpPr>
        <p:spPr/>
        <p:txBody>
          <a:bodyPr/>
          <a:lstStyle/>
          <a:p>
            <a:r>
              <a:rPr lang="en-US"/>
              <a:t>Abdus Sattar, sattar@britannia.ac</a:t>
            </a:r>
          </a:p>
        </p:txBody>
      </p:sp>
      <p:sp>
        <p:nvSpPr>
          <p:cNvPr id="7" name="Slide Number Placeholder 6"/>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BD82AD-51FE-412E-AB14-34EFEC431308}" type="datetime1">
              <a:rPr lang="en-US" smtClean="0"/>
              <a:t>01-May-26</a:t>
            </a:fld>
            <a:endParaRPr lang="en-US"/>
          </a:p>
        </p:txBody>
      </p:sp>
      <p:sp>
        <p:nvSpPr>
          <p:cNvPr id="8" name="Footer Placeholder 7"/>
          <p:cNvSpPr>
            <a:spLocks noGrp="1"/>
          </p:cNvSpPr>
          <p:nvPr>
            <p:ph type="ftr" sz="quarter" idx="11"/>
          </p:nvPr>
        </p:nvSpPr>
        <p:spPr/>
        <p:txBody>
          <a:bodyPr/>
          <a:lstStyle/>
          <a:p>
            <a:r>
              <a:rPr lang="en-US"/>
              <a:t>Abdus Sattar, sattar@britannia.ac</a:t>
            </a:r>
          </a:p>
        </p:txBody>
      </p:sp>
      <p:sp>
        <p:nvSpPr>
          <p:cNvPr id="9" name="Slide Number Placeholder 8"/>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970C38F-F3C8-4C86-BA69-F26699FD64E2}" type="datetime1">
              <a:rPr lang="en-US" smtClean="0"/>
              <a:t>01-May-26</a:t>
            </a:fld>
            <a:endParaRPr lang="en-US"/>
          </a:p>
        </p:txBody>
      </p:sp>
      <p:sp>
        <p:nvSpPr>
          <p:cNvPr id="4" name="Footer Placeholder 3"/>
          <p:cNvSpPr>
            <a:spLocks noGrp="1"/>
          </p:cNvSpPr>
          <p:nvPr>
            <p:ph type="ftr" sz="quarter" idx="11"/>
          </p:nvPr>
        </p:nvSpPr>
        <p:spPr/>
        <p:txBody>
          <a:bodyPr/>
          <a:lstStyle/>
          <a:p>
            <a:r>
              <a:rPr lang="en-US"/>
              <a:t>Abdus Sattar, sattar@britannia.ac</a:t>
            </a:r>
          </a:p>
        </p:txBody>
      </p:sp>
      <p:sp>
        <p:nvSpPr>
          <p:cNvPr id="5" name="Slide Number Placeholder 4"/>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1EA2F8-AC8B-44BC-B895-A4D81833CC22}" type="datetime1">
              <a:rPr lang="en-US" smtClean="0"/>
              <a:t>01-May-26</a:t>
            </a:fld>
            <a:endParaRPr lang="en-US"/>
          </a:p>
        </p:txBody>
      </p:sp>
      <p:sp>
        <p:nvSpPr>
          <p:cNvPr id="3" name="Footer Placeholder 2"/>
          <p:cNvSpPr>
            <a:spLocks noGrp="1"/>
          </p:cNvSpPr>
          <p:nvPr>
            <p:ph type="ftr" sz="quarter" idx="11"/>
          </p:nvPr>
        </p:nvSpPr>
        <p:spPr/>
        <p:txBody>
          <a:bodyPr/>
          <a:lstStyle/>
          <a:p>
            <a:r>
              <a:rPr lang="en-US"/>
              <a:t>Abdus Sattar, sattar@britannia.ac</a:t>
            </a:r>
          </a:p>
        </p:txBody>
      </p:sp>
      <p:sp>
        <p:nvSpPr>
          <p:cNvPr id="4" name="Slide Number Placeholder 3"/>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113EC6D-C4AA-4C5E-8B2B-494E35EDA511}" type="datetime1">
              <a:rPr lang="en-US" smtClean="0"/>
              <a:t>01-May-26</a:t>
            </a:fld>
            <a:endParaRPr lang="en-US"/>
          </a:p>
        </p:txBody>
      </p:sp>
      <p:sp>
        <p:nvSpPr>
          <p:cNvPr id="6" name="Footer Placeholder 5"/>
          <p:cNvSpPr>
            <a:spLocks noGrp="1"/>
          </p:cNvSpPr>
          <p:nvPr>
            <p:ph type="ftr" sz="quarter" idx="11"/>
          </p:nvPr>
        </p:nvSpPr>
        <p:spPr/>
        <p:txBody>
          <a:bodyPr/>
          <a:lstStyle/>
          <a:p>
            <a:r>
              <a:rPr lang="en-US"/>
              <a:t>Abdus Sattar, sattar@britannia.ac</a:t>
            </a:r>
          </a:p>
        </p:txBody>
      </p:sp>
      <p:sp>
        <p:nvSpPr>
          <p:cNvPr id="7" name="Slide Number Placeholder 6"/>
          <p:cNvSpPr>
            <a:spLocks noGrp="1"/>
          </p:cNvSpPr>
          <p:nvPr>
            <p:ph type="sldNum" sz="quarter" idx="12"/>
          </p:nvPr>
        </p:nvSpPr>
        <p:spPr/>
        <p:txBody>
          <a:bodyPr/>
          <a:lstStyle/>
          <a:p>
            <a:fld id="{195567C4-C875-4EA2-906F-45EEB91D3DE0}"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AD85EF7D-8C11-4940-86F3-62340C232535}" type="datetime1">
              <a:rPr lang="en-US" smtClean="0"/>
              <a:t>01-May-26</a:t>
            </a:fld>
            <a:endParaRPr lang="en-US"/>
          </a:p>
        </p:txBody>
      </p:sp>
      <p:sp>
        <p:nvSpPr>
          <p:cNvPr id="9" name="Slide Number Placeholder 8"/>
          <p:cNvSpPr>
            <a:spLocks noGrp="1"/>
          </p:cNvSpPr>
          <p:nvPr>
            <p:ph type="sldNum" sz="quarter" idx="11"/>
          </p:nvPr>
        </p:nvSpPr>
        <p:spPr/>
        <p:txBody>
          <a:bodyPr/>
          <a:lstStyle/>
          <a:p>
            <a:fld id="{195567C4-C875-4EA2-906F-45EEB91D3DE0}" type="slidenum">
              <a:rPr lang="en-US" smtClean="0"/>
              <a:t>‹#›</a:t>
            </a:fld>
            <a:endParaRPr lang="en-US"/>
          </a:p>
        </p:txBody>
      </p:sp>
      <p:sp>
        <p:nvSpPr>
          <p:cNvPr id="10" name="Footer Placeholder 9"/>
          <p:cNvSpPr>
            <a:spLocks noGrp="1"/>
          </p:cNvSpPr>
          <p:nvPr>
            <p:ph type="ftr" sz="quarter" idx="12"/>
          </p:nvPr>
        </p:nvSpPr>
        <p:spPr/>
        <p:txBody>
          <a:bodyPr/>
          <a:lstStyle/>
          <a:p>
            <a:r>
              <a:rPr lang="en-US"/>
              <a:t>Abdus Sattar, sattar@britannia.ac</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992C73-491E-4EE5-8C12-6C09ADCB5C5F}" type="datetime1">
              <a:rPr lang="en-US" smtClean="0"/>
              <a:t>01-May-26</a:t>
            </a:fld>
            <a:endParaRPr lang="en-US"/>
          </a:p>
        </p:txBody>
      </p:sp>
      <p:sp>
        <p:nvSpPr>
          <p:cNvPr id="5" name="Footer Placeholder 4"/>
          <p:cNvSpPr>
            <a:spLocks noGrp="1"/>
          </p:cNvSpPr>
          <p:nvPr>
            <p:ph type="ftr" sz="quarter" idx="11"/>
          </p:nvPr>
        </p:nvSpPr>
        <p:spPr/>
        <p:txBody>
          <a:bodyPr/>
          <a:lstStyle/>
          <a:p>
            <a:r>
              <a:rPr lang="en-US"/>
              <a:t>Abdus Sattar, sattar@britannia.ac</a:t>
            </a:r>
          </a:p>
        </p:txBody>
      </p:sp>
      <p:sp>
        <p:nvSpPr>
          <p:cNvPr id="6" name="Slide Number Placeholder 5"/>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1273E1-A56D-4535-AFE5-A01BA6ABAB6B}" type="datetime1">
              <a:rPr lang="en-US" smtClean="0"/>
              <a:t>01-May-26</a:t>
            </a:fld>
            <a:endParaRPr lang="en-US"/>
          </a:p>
        </p:txBody>
      </p:sp>
      <p:sp>
        <p:nvSpPr>
          <p:cNvPr id="5" name="Footer Placeholder 4"/>
          <p:cNvSpPr>
            <a:spLocks noGrp="1"/>
          </p:cNvSpPr>
          <p:nvPr>
            <p:ph type="ftr" sz="quarter" idx="11"/>
          </p:nvPr>
        </p:nvSpPr>
        <p:spPr/>
        <p:txBody>
          <a:bodyPr/>
          <a:lstStyle/>
          <a:p>
            <a:r>
              <a:rPr lang="en-US"/>
              <a:t>Abdus Sattar, sattar@britannia.ac</a:t>
            </a:r>
          </a:p>
        </p:txBody>
      </p:sp>
      <p:sp>
        <p:nvSpPr>
          <p:cNvPr id="6" name="Slide Number Placeholder 5"/>
          <p:cNvSpPr>
            <a:spLocks noGrp="1"/>
          </p:cNvSpPr>
          <p:nvPr>
            <p:ph type="sldNum" sz="quarter" idx="12"/>
          </p:nvPr>
        </p:nvSpPr>
        <p:spPr/>
        <p:txBody>
          <a:bodyPr/>
          <a:lstStyle/>
          <a:p>
            <a:fld id="{195567C4-C875-4EA2-906F-45EEB91D3DE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195567C4-C875-4EA2-906F-45EEB91D3DE0}"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r>
              <a:rPr lang="en-US"/>
              <a:t>Abdus Sattar, sattar@britannia.ac</a:t>
            </a:r>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D92A865-244F-478E-A21A-A559CC17548A}" type="datetime1">
              <a:rPr lang="en-US" smtClean="0"/>
              <a:t>01-May-26</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theappsolutions.com/blog/development/functional-vs-non-functional-requiremen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4912" y="1981200"/>
            <a:ext cx="8153400" cy="1562101"/>
          </a:xfrm>
        </p:spPr>
        <p:txBody>
          <a:bodyPr/>
          <a:lstStyle/>
          <a:p>
            <a:pPr algn="ctr"/>
            <a:br>
              <a:rPr lang="en-US" sz="3400" b="1" dirty="0">
                <a:solidFill>
                  <a:srgbClr val="002060"/>
                </a:solidFill>
                <a:latin typeface="Times New Roman" panose="02020603050405020304" pitchFamily="18" charset="0"/>
                <a:cs typeface="Times New Roman" panose="02020603050405020304" pitchFamily="18" charset="0"/>
              </a:rPr>
            </a:br>
            <a:r>
              <a:rPr lang="en-US" sz="3400" b="1" dirty="0">
                <a:solidFill>
                  <a:srgbClr val="002060"/>
                </a:solidFill>
                <a:latin typeface="Times New Roman" panose="02020603050405020304" pitchFamily="18" charset="0"/>
                <a:cs typeface="Times New Roman" panose="02020603050405020304" pitchFamily="18" charset="0"/>
              </a:rPr>
              <a:t>Week-4-Lesson-1</a:t>
            </a:r>
            <a:br>
              <a:rPr lang="en-US" sz="3400" b="1" dirty="0">
                <a:solidFill>
                  <a:srgbClr val="002060"/>
                </a:solidFill>
                <a:latin typeface="Times New Roman" panose="02020603050405020304" pitchFamily="18" charset="0"/>
                <a:cs typeface="Times New Roman" panose="02020603050405020304" pitchFamily="18" charset="0"/>
              </a:rPr>
            </a:br>
            <a:r>
              <a:rPr lang="en-US" sz="3400" b="1" dirty="0">
                <a:solidFill>
                  <a:srgbClr val="002060"/>
                </a:solidFill>
                <a:latin typeface="Times New Roman" panose="02020603050405020304" pitchFamily="18" charset="0"/>
                <a:cs typeface="Times New Roman" panose="02020603050405020304" pitchFamily="18" charset="0"/>
              </a:rPr>
              <a:t>Understanding Requirements, Use Case and Use case Description</a:t>
            </a:r>
          </a:p>
        </p:txBody>
      </p:sp>
      <p:cxnSp>
        <p:nvCxnSpPr>
          <p:cNvPr id="6" name="Straight Connector 5"/>
          <p:cNvCxnSpPr/>
          <p:nvPr/>
        </p:nvCxnSpPr>
        <p:spPr>
          <a:xfrm>
            <a:off x="457200" y="3657600"/>
            <a:ext cx="76962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4" descr="Requirements classification "/>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8287" t="17567" r="7062" b="5496"/>
          <a:stretch>
            <a:fillRect/>
          </a:stretch>
        </p:blipFill>
        <p:spPr bwMode="auto">
          <a:xfrm>
            <a:off x="3200400" y="24865"/>
            <a:ext cx="2498557" cy="17969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200" b="1" dirty="0"/>
              <a:t>Topics Covered</a:t>
            </a:r>
            <a:endParaRPr lang="en-US" sz="3200" b="1" dirty="0">
              <a:solidFill>
                <a:srgbClr val="002060"/>
              </a:solidFill>
            </a:endParaRPr>
          </a:p>
        </p:txBody>
      </p:sp>
      <p:sp>
        <p:nvSpPr>
          <p:cNvPr id="3" name="Content Placeholder 2"/>
          <p:cNvSpPr>
            <a:spLocks noGrp="1"/>
          </p:cNvSpPr>
          <p:nvPr>
            <p:ph idx="1"/>
          </p:nvPr>
        </p:nvSpPr>
        <p:spPr>
          <a:xfrm>
            <a:off x="526983" y="1921083"/>
            <a:ext cx="7924800" cy="3886200"/>
          </a:xfrm>
        </p:spPr>
        <p:txBody>
          <a:bodyPr>
            <a:noAutofit/>
          </a:bodyPr>
          <a:lstStyle/>
          <a:p>
            <a:pPr algn="just">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Requirements Engineering</a:t>
            </a:r>
          </a:p>
          <a:p>
            <a:pPr>
              <a:spcBef>
                <a:spcPts val="300"/>
              </a:spcBef>
              <a:buFont typeface="Wingdings" panose="05000000000000000000" pitchFamily="2" charset="2"/>
              <a:buChar char="§"/>
            </a:pPr>
            <a:r>
              <a:rPr lang="en-US" altLang="en-US" sz="2800" b="1" dirty="0">
                <a:latin typeface="Times New Roman" panose="02020603050405020304" pitchFamily="18" charset="0"/>
                <a:cs typeface="Times New Roman" panose="02020603050405020304" pitchFamily="18" charset="0"/>
              </a:rPr>
              <a:t>Requirements analysis</a:t>
            </a:r>
          </a:p>
          <a:p>
            <a:pPr>
              <a:spcBef>
                <a:spcPts val="300"/>
              </a:spcBef>
              <a:buFont typeface="Wingdings" panose="05000000000000000000" pitchFamily="2" charset="2"/>
              <a:buChar char="§"/>
            </a:pPr>
            <a:r>
              <a:rPr lang="en-US" altLang="en-US" sz="2800" b="1" dirty="0">
                <a:latin typeface="Times New Roman" panose="02020603050405020304" pitchFamily="18" charset="0"/>
                <a:cs typeface="Times New Roman" panose="02020603050405020304" pitchFamily="18" charset="0"/>
              </a:rPr>
              <a:t>Elements of </a:t>
            </a:r>
            <a:r>
              <a:rPr lang="en-US" altLang="en-US" sz="2800" b="1">
                <a:latin typeface="Times New Roman" panose="02020603050405020304" pitchFamily="18" charset="0"/>
                <a:cs typeface="Times New Roman" panose="02020603050405020304" pitchFamily="18" charset="0"/>
              </a:rPr>
              <a:t>Requirements Engineering</a:t>
            </a:r>
            <a:endParaRPr lang="en-US" altLang="en-US" sz="2800" b="1" dirty="0">
              <a:latin typeface="Times New Roman" panose="02020603050405020304" pitchFamily="18" charset="0"/>
              <a:cs typeface="Times New Roman" panose="02020603050405020304" pitchFamily="18" charset="0"/>
            </a:endParaRPr>
          </a:p>
          <a:p>
            <a:pPr>
              <a:spcBef>
                <a:spcPts val="300"/>
              </a:spcBef>
              <a:buFont typeface="Wingdings" panose="05000000000000000000" pitchFamily="2" charset="2"/>
              <a:buChar char="§"/>
            </a:pPr>
            <a:r>
              <a:rPr lang="en-US" altLang="en-US" sz="2800" b="1" dirty="0">
                <a:latin typeface="Times New Roman" panose="02020603050405020304" pitchFamily="18" charset="0"/>
                <a:cs typeface="Times New Roman" panose="02020603050405020304" pitchFamily="18" charset="0"/>
              </a:rPr>
              <a:t>Classification of Requirements</a:t>
            </a:r>
          </a:p>
          <a:p>
            <a:pPr>
              <a:spcBef>
                <a:spcPts val="300"/>
              </a:spcBef>
              <a:buFont typeface="Wingdings" panose="05000000000000000000" pitchFamily="2" charset="2"/>
              <a:buChar char="§"/>
            </a:pPr>
            <a:r>
              <a:rPr lang="en-US" altLang="en-US" sz="2800" b="1" dirty="0">
                <a:latin typeface="Times New Roman" panose="02020603050405020304" pitchFamily="18" charset="0"/>
                <a:cs typeface="Times New Roman" panose="02020603050405020304" pitchFamily="18" charset="0"/>
              </a:rPr>
              <a:t>Functional Requirements</a:t>
            </a:r>
          </a:p>
          <a:p>
            <a:pPr>
              <a:spcBef>
                <a:spcPts val="300"/>
              </a:spcBef>
              <a:buFont typeface="Wingdings" panose="05000000000000000000" pitchFamily="2" charset="2"/>
              <a:buChar char="§"/>
            </a:pPr>
            <a:r>
              <a:rPr lang="en-US" altLang="en-US" sz="2800" b="1" dirty="0">
                <a:latin typeface="Times New Roman" panose="02020603050405020304" pitchFamily="18" charset="0"/>
                <a:cs typeface="Times New Roman" panose="02020603050405020304" pitchFamily="18" charset="0"/>
              </a:rPr>
              <a:t>Non-Functional Requirements</a:t>
            </a:r>
          </a:p>
          <a:p>
            <a:pPr>
              <a:spcBef>
                <a:spcPts val="300"/>
              </a:spcBef>
              <a:buFont typeface="Wingdings" panose="05000000000000000000" pitchFamily="2" charset="2"/>
              <a:buChar char="§"/>
            </a:pPr>
            <a:r>
              <a:rPr lang="en-US" altLang="en-US" sz="2800" b="1" dirty="0">
                <a:latin typeface="Times New Roman" panose="02020603050405020304" pitchFamily="18" charset="0"/>
                <a:cs typeface="Times New Roman" panose="02020603050405020304" pitchFamily="18" charset="0"/>
              </a:rPr>
              <a:t>Use Case Diagram</a:t>
            </a:r>
          </a:p>
          <a:p>
            <a:pPr>
              <a:spcBef>
                <a:spcPts val="300"/>
              </a:spcBef>
              <a:buFont typeface="Wingdings" panose="05000000000000000000" pitchFamily="2" charset="2"/>
              <a:buChar char="§"/>
            </a:pPr>
            <a:r>
              <a:rPr lang="en-US" altLang="en-US" sz="2800" b="1" dirty="0">
                <a:latin typeface="Times New Roman" panose="02020603050405020304" pitchFamily="18" charset="0"/>
                <a:cs typeface="Times New Roman" panose="02020603050405020304" pitchFamily="18" charset="0"/>
              </a:rPr>
              <a:t>Use Case Description </a:t>
            </a:r>
          </a:p>
          <a:p>
            <a:pPr algn="just">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2</a:t>
            </a:fld>
            <a:endParaRPr lang="en-US"/>
          </a:p>
        </p:txBody>
      </p:sp>
      <p:cxnSp>
        <p:nvCxnSpPr>
          <p:cNvPr id="7" name="Straight Connector 6"/>
          <p:cNvCxnSpPr/>
          <p:nvPr/>
        </p:nvCxnSpPr>
        <p:spPr>
          <a:xfrm>
            <a:off x="2362200" y="1214438"/>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200" b="1" dirty="0"/>
              <a:t>Requirements Engineering</a:t>
            </a:r>
            <a:endParaRPr lang="en-US" sz="3200" b="1" dirty="0">
              <a:solidFill>
                <a:srgbClr val="002060"/>
              </a:solidFill>
            </a:endParaRPr>
          </a:p>
        </p:txBody>
      </p:sp>
      <p:sp>
        <p:nvSpPr>
          <p:cNvPr id="3" name="Content Placeholder 2"/>
          <p:cNvSpPr>
            <a:spLocks noGrp="1"/>
          </p:cNvSpPr>
          <p:nvPr>
            <p:ph idx="1"/>
          </p:nvPr>
        </p:nvSpPr>
        <p:spPr>
          <a:xfrm>
            <a:off x="457200" y="1447800"/>
            <a:ext cx="7924800" cy="5181600"/>
          </a:xfrm>
        </p:spPr>
        <p:txBody>
          <a:bodyPr>
            <a:noAutofit/>
          </a:bodyPr>
          <a:lstStyle/>
          <a:p>
            <a:pPr algn="just">
              <a:buFont typeface="Wingdings" panose="05000000000000000000" pitchFamily="2" charset="2"/>
              <a:buChar char="q"/>
            </a:pPr>
            <a:r>
              <a:rPr lang="en-US" sz="2800" b="1" dirty="0">
                <a:highlight>
                  <a:srgbClr val="FFFF00"/>
                </a:highlight>
                <a:latin typeface="Times New Roman" panose="02020603050405020304" pitchFamily="18" charset="0"/>
                <a:cs typeface="Times New Roman" panose="02020603050405020304" pitchFamily="18" charset="0"/>
              </a:rPr>
              <a:t>Requirements Engineering</a:t>
            </a:r>
          </a:p>
          <a:p>
            <a:pPr lvl="1" algn="just"/>
            <a:r>
              <a:rPr lang="en-US" sz="2800" dirty="0">
                <a:latin typeface="Times New Roman" panose="02020603050405020304" pitchFamily="18" charset="0"/>
                <a:cs typeface="Times New Roman" panose="02020603050405020304" pitchFamily="18" charset="0"/>
              </a:rPr>
              <a:t>Requirements are statements of what the system must do, how it must behave, the properties it must exhibit, the qualities it must possess, and the constraints that the system and its development must satisfy. </a:t>
            </a:r>
          </a:p>
          <a:p>
            <a:pPr>
              <a:spcBef>
                <a:spcPts val="300"/>
              </a:spcBef>
              <a:buFont typeface="Wingdings" panose="05000000000000000000" pitchFamily="2" charset="2"/>
              <a:buChar char="q"/>
            </a:pPr>
            <a:r>
              <a:rPr lang="en-US" altLang="en-US" sz="2800" b="1" dirty="0">
                <a:highlight>
                  <a:srgbClr val="FFFF00"/>
                </a:highlight>
                <a:latin typeface="Times New Roman" panose="02020603050405020304" pitchFamily="18" charset="0"/>
                <a:cs typeface="Times New Roman" panose="02020603050405020304" pitchFamily="18" charset="0"/>
              </a:rPr>
              <a:t>Requirements analysis </a:t>
            </a:r>
          </a:p>
          <a:p>
            <a:pPr lvl="1">
              <a:spcBef>
                <a:spcPts val="300"/>
              </a:spcBef>
            </a:pPr>
            <a:r>
              <a:rPr lang="en-US" altLang="en-US" sz="2800" dirty="0">
                <a:latin typeface="Times New Roman" panose="02020603050405020304" pitchFamily="18" charset="0"/>
                <a:cs typeface="Times New Roman" panose="02020603050405020304" pitchFamily="18" charset="0"/>
              </a:rPr>
              <a:t>specifies software’s operational characteristics</a:t>
            </a:r>
          </a:p>
          <a:p>
            <a:pPr lvl="1">
              <a:spcBef>
                <a:spcPts val="300"/>
              </a:spcBef>
            </a:pPr>
            <a:r>
              <a:rPr lang="en-US" altLang="en-US" sz="2800" dirty="0">
                <a:latin typeface="Times New Roman" panose="02020603050405020304" pitchFamily="18" charset="0"/>
                <a:cs typeface="Times New Roman" panose="02020603050405020304" pitchFamily="18" charset="0"/>
              </a:rPr>
              <a:t>indicates software's interface with other system elements </a:t>
            </a:r>
          </a:p>
          <a:p>
            <a:pPr lvl="1">
              <a:spcBef>
                <a:spcPts val="300"/>
              </a:spcBef>
            </a:pPr>
            <a:r>
              <a:rPr lang="en-US" altLang="en-US" sz="2800" dirty="0">
                <a:latin typeface="Times New Roman" panose="02020603050405020304" pitchFamily="18" charset="0"/>
                <a:cs typeface="Times New Roman" panose="02020603050405020304" pitchFamily="18" charset="0"/>
              </a:rPr>
              <a:t>establishes constraints that software must meet</a:t>
            </a:r>
          </a:p>
          <a:p>
            <a:pPr algn="just">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3</a:t>
            </a:fld>
            <a:endParaRPr lang="en-US"/>
          </a:p>
        </p:txBody>
      </p:sp>
      <p:cxnSp>
        <p:nvCxnSpPr>
          <p:cNvPr id="7" name="Straight Connector 6"/>
          <p:cNvCxnSpPr/>
          <p:nvPr/>
        </p:nvCxnSpPr>
        <p:spPr>
          <a:xfrm>
            <a:off x="2362200" y="1214438"/>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200" b="1" dirty="0">
                <a:highlight>
                  <a:srgbClr val="FFFF00"/>
                </a:highlight>
              </a:rPr>
              <a:t>Requirements Engineering</a:t>
            </a:r>
            <a:endParaRPr lang="en-US" sz="3200" b="1" dirty="0">
              <a:solidFill>
                <a:srgbClr val="002060"/>
              </a:solidFill>
              <a:highlight>
                <a:srgbClr val="FFFF00"/>
              </a:highlight>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4</a:t>
            </a:fld>
            <a:endParaRPr lang="en-US"/>
          </a:p>
        </p:txBody>
      </p:sp>
      <p:cxnSp>
        <p:nvCxnSpPr>
          <p:cNvPr id="7" name="Straight Connector 6"/>
          <p:cNvCxnSpPr/>
          <p:nvPr/>
        </p:nvCxnSpPr>
        <p:spPr>
          <a:xfrm>
            <a:off x="2362200" y="1214438"/>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3"/>
          <p:cNvSpPr txBox="1">
            <a:spLocks noChangeArrowheads="1"/>
          </p:cNvSpPr>
          <p:nvPr/>
        </p:nvSpPr>
        <p:spPr>
          <a:xfrm>
            <a:off x="381000" y="1524000"/>
            <a:ext cx="7772400" cy="4648200"/>
          </a:xfrm>
          <a:prstGeom prst="rect">
            <a:avLst/>
          </a:prstGeom>
        </p:spPr>
        <p:txBody>
          <a:bodyPr vert="horz" lIns="91440" tIns="45720" rIns="91440" bIns="45720" rtlCol="0">
            <a:normAutofit lnSpcReduction="10000"/>
          </a:bodyPr>
          <a:lst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a:lstStyle>
          <a:p>
            <a:pPr marL="114300" indent="0">
              <a:buNone/>
            </a:pPr>
            <a:r>
              <a:rPr lang="en-US" sz="2400" dirty="0">
                <a:solidFill>
                  <a:schemeClr val="folHlink"/>
                </a:solidFill>
                <a:latin typeface="Times New Roman" panose="02020603050405020304" pitchFamily="18" charset="0"/>
                <a:cs typeface="Times New Roman" panose="02020603050405020304" pitchFamily="18" charset="0"/>
              </a:rPr>
              <a:t>1. Inception</a:t>
            </a:r>
            <a:r>
              <a:rPr lang="en-US" sz="2400" dirty="0">
                <a:latin typeface="Times New Roman" panose="02020603050405020304" pitchFamily="18" charset="0"/>
                <a:cs typeface="Times New Roman" panose="02020603050405020304" pitchFamily="18" charset="0"/>
              </a:rPr>
              <a:t>—ask a set of questions that establish …</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basic understanding of the problem</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people who want a solution</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nature of the solution that is desired, and </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effectiveness of preliminary communication and collaboration between the customer and the developer</a:t>
            </a:r>
          </a:p>
          <a:p>
            <a:pPr marL="114300" indent="0">
              <a:buNone/>
            </a:pPr>
            <a:r>
              <a:rPr lang="en-US" sz="2400" dirty="0">
                <a:solidFill>
                  <a:schemeClr val="folHlink"/>
                </a:solidFill>
                <a:latin typeface="Times New Roman" panose="02020603050405020304" pitchFamily="18" charset="0"/>
                <a:cs typeface="Times New Roman" panose="02020603050405020304" pitchFamily="18" charset="0"/>
              </a:rPr>
              <a:t>2. </a:t>
            </a:r>
            <a:r>
              <a:rPr lang="en-US" sz="2400">
                <a:solidFill>
                  <a:schemeClr val="folHlink"/>
                </a:solidFill>
                <a:latin typeface="Times New Roman" panose="02020603050405020304" pitchFamily="18" charset="0"/>
                <a:cs typeface="Times New Roman" panose="02020603050405020304" pitchFamily="18" charset="0"/>
              </a:rPr>
              <a:t>Elicitation</a:t>
            </a:r>
            <a:r>
              <a:rPr lang="en-US" sz="2400">
                <a:latin typeface="Times New Roman" panose="02020603050405020304" pitchFamily="18" charset="0"/>
                <a:cs typeface="Times New Roman" panose="02020603050405020304" pitchFamily="18" charset="0"/>
              </a:rPr>
              <a:t>—elicit/produce </a:t>
            </a:r>
            <a:r>
              <a:rPr lang="en-US" sz="2400" dirty="0">
                <a:latin typeface="Times New Roman" panose="02020603050405020304" pitchFamily="18" charset="0"/>
                <a:cs typeface="Times New Roman" panose="02020603050405020304" pitchFamily="18" charset="0"/>
              </a:rPr>
              <a:t>requirements from all stakeholders</a:t>
            </a:r>
          </a:p>
          <a:p>
            <a:pPr marL="114300" indent="0">
              <a:buNone/>
            </a:pPr>
            <a:r>
              <a:rPr lang="en-US" sz="2400" dirty="0">
                <a:solidFill>
                  <a:schemeClr val="folHlink"/>
                </a:solidFill>
                <a:latin typeface="Times New Roman" panose="02020603050405020304" pitchFamily="18" charset="0"/>
                <a:cs typeface="Times New Roman" panose="02020603050405020304" pitchFamily="18" charset="0"/>
              </a:rPr>
              <a:t>3. Elaboration</a:t>
            </a:r>
            <a:r>
              <a:rPr lang="en-US" sz="2400" dirty="0">
                <a:latin typeface="Times New Roman" panose="02020603050405020304" pitchFamily="18" charset="0"/>
                <a:cs typeface="Times New Roman" panose="02020603050405020304" pitchFamily="18" charset="0"/>
              </a:rPr>
              <a:t>—create an analysis model that identifies data, function and behavioral requirements</a:t>
            </a:r>
          </a:p>
          <a:p>
            <a:pPr marL="114300" indent="0">
              <a:buNone/>
            </a:pPr>
            <a:r>
              <a:rPr lang="en-US" sz="2400" dirty="0">
                <a:solidFill>
                  <a:schemeClr val="folHlink"/>
                </a:solidFill>
                <a:latin typeface="Times New Roman" panose="02020603050405020304" pitchFamily="18" charset="0"/>
                <a:cs typeface="Times New Roman" panose="02020603050405020304" pitchFamily="18" charset="0"/>
              </a:rPr>
              <a:t>4. Negotiation</a:t>
            </a:r>
            <a:r>
              <a:rPr lang="en-US" sz="2400" dirty="0">
                <a:latin typeface="Times New Roman" panose="02020603050405020304" pitchFamily="18" charset="0"/>
                <a:cs typeface="Times New Roman" panose="02020603050405020304" pitchFamily="18" charset="0"/>
              </a:rPr>
              <a:t>—agree on a deliverable system that is realistic for developers and customers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200" b="1" dirty="0"/>
              <a:t>Requirements Engineering</a:t>
            </a:r>
            <a:endParaRPr lang="en-US" sz="32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5</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txBox="1">
            <a:spLocks noChangeArrowheads="1"/>
          </p:cNvSpPr>
          <p:nvPr/>
        </p:nvSpPr>
        <p:spPr>
          <a:xfrm>
            <a:off x="207818" y="1256002"/>
            <a:ext cx="8153400" cy="5601998"/>
          </a:xfrm>
          <a:prstGeom prst="rect">
            <a:avLst/>
          </a:prstGeom>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a:lstStyle>
          <a:p>
            <a:pPr marL="114300" indent="0" algn="just">
              <a:lnSpc>
                <a:spcPct val="90000"/>
              </a:lnSpc>
              <a:buNone/>
            </a:pPr>
            <a:r>
              <a:rPr lang="en-US" sz="2400" dirty="0">
                <a:solidFill>
                  <a:schemeClr val="folHlink"/>
                </a:solidFill>
                <a:latin typeface="Times New Roman" panose="02020603050405020304" pitchFamily="18" charset="0"/>
                <a:cs typeface="Times New Roman" panose="02020603050405020304" pitchFamily="18" charset="0"/>
              </a:rPr>
              <a:t>5. Specification</a:t>
            </a:r>
            <a:r>
              <a:rPr lang="en-US" sz="2400" dirty="0">
                <a:latin typeface="Times New Roman" panose="02020603050405020304" pitchFamily="18" charset="0"/>
                <a:cs typeface="Times New Roman" panose="02020603050405020304" pitchFamily="18" charset="0"/>
              </a:rPr>
              <a:t>—can be any one (or more) of the following:</a:t>
            </a:r>
          </a:p>
          <a:p>
            <a:pPr lvl="1" algn="just">
              <a:lnSpc>
                <a:spcPct val="90000"/>
              </a:lnSpc>
            </a:pPr>
            <a:r>
              <a:rPr lang="en-US" sz="2400" dirty="0">
                <a:latin typeface="Times New Roman" panose="02020603050405020304" pitchFamily="18" charset="0"/>
                <a:cs typeface="Times New Roman" panose="02020603050405020304" pitchFamily="18" charset="0"/>
              </a:rPr>
              <a:t>A written document</a:t>
            </a:r>
          </a:p>
          <a:p>
            <a:pPr lvl="1" algn="just">
              <a:lnSpc>
                <a:spcPct val="90000"/>
              </a:lnSpc>
            </a:pPr>
            <a:r>
              <a:rPr lang="en-US" sz="2400" dirty="0">
                <a:latin typeface="Times New Roman" panose="02020603050405020304" pitchFamily="18" charset="0"/>
                <a:cs typeface="Times New Roman" panose="02020603050405020304" pitchFamily="18" charset="0"/>
              </a:rPr>
              <a:t>A set of models</a:t>
            </a:r>
          </a:p>
          <a:p>
            <a:pPr lvl="1" algn="just">
              <a:lnSpc>
                <a:spcPct val="90000"/>
              </a:lnSpc>
            </a:pPr>
            <a:r>
              <a:rPr lang="en-US" sz="2400" dirty="0">
                <a:latin typeface="Times New Roman" panose="02020603050405020304" pitchFamily="18" charset="0"/>
                <a:cs typeface="Times New Roman" panose="02020603050405020304" pitchFamily="18" charset="0"/>
              </a:rPr>
              <a:t>A formal mathematical</a:t>
            </a:r>
          </a:p>
          <a:p>
            <a:pPr lvl="1" algn="just">
              <a:lnSpc>
                <a:spcPct val="90000"/>
              </a:lnSpc>
            </a:pPr>
            <a:r>
              <a:rPr lang="en-US" sz="2400" dirty="0">
                <a:latin typeface="Times New Roman" panose="02020603050405020304" pitchFamily="18" charset="0"/>
                <a:cs typeface="Times New Roman" panose="02020603050405020304" pitchFamily="18" charset="0"/>
              </a:rPr>
              <a:t>A collection of user scenarios (use-cases)</a:t>
            </a:r>
          </a:p>
          <a:p>
            <a:pPr lvl="1" algn="just">
              <a:lnSpc>
                <a:spcPct val="90000"/>
              </a:lnSpc>
            </a:pPr>
            <a:r>
              <a:rPr lang="en-US" sz="2400" dirty="0">
                <a:latin typeface="Times New Roman" panose="02020603050405020304" pitchFamily="18" charset="0"/>
                <a:cs typeface="Times New Roman" panose="02020603050405020304" pitchFamily="18" charset="0"/>
              </a:rPr>
              <a:t>A prototype</a:t>
            </a:r>
          </a:p>
          <a:p>
            <a:pPr marL="114300" indent="0" algn="just">
              <a:lnSpc>
                <a:spcPct val="90000"/>
              </a:lnSpc>
              <a:buNone/>
            </a:pPr>
            <a:r>
              <a:rPr lang="en-US" sz="2400" dirty="0">
                <a:solidFill>
                  <a:schemeClr val="folHlink"/>
                </a:solidFill>
                <a:latin typeface="Times New Roman" panose="02020603050405020304" pitchFamily="18" charset="0"/>
                <a:cs typeface="Times New Roman" panose="02020603050405020304" pitchFamily="18" charset="0"/>
              </a:rPr>
              <a:t>6. Validation</a:t>
            </a:r>
            <a:r>
              <a:rPr lang="en-US" sz="2400" dirty="0">
                <a:latin typeface="Times New Roman" panose="02020603050405020304" pitchFamily="18" charset="0"/>
                <a:cs typeface="Times New Roman" panose="02020603050405020304" pitchFamily="18" charset="0"/>
              </a:rPr>
              <a:t>—a review mechanism that looks for</a:t>
            </a:r>
          </a:p>
          <a:p>
            <a:pPr lvl="1" algn="just">
              <a:lnSpc>
                <a:spcPct val="90000"/>
              </a:lnSpc>
            </a:pPr>
            <a:r>
              <a:rPr lang="en-US" sz="2400" dirty="0">
                <a:latin typeface="Times New Roman" panose="02020603050405020304" pitchFamily="18" charset="0"/>
                <a:cs typeface="Times New Roman" panose="02020603050405020304" pitchFamily="18" charset="0"/>
              </a:rPr>
              <a:t>errors in content or interpretation</a:t>
            </a:r>
          </a:p>
          <a:p>
            <a:pPr lvl="1" algn="just">
              <a:lnSpc>
                <a:spcPct val="90000"/>
              </a:lnSpc>
            </a:pPr>
            <a:r>
              <a:rPr lang="en-US" sz="2400" dirty="0">
                <a:latin typeface="Times New Roman" panose="02020603050405020304" pitchFamily="18" charset="0"/>
                <a:cs typeface="Times New Roman" panose="02020603050405020304" pitchFamily="18" charset="0"/>
              </a:rPr>
              <a:t>areas where clarification may be required</a:t>
            </a:r>
          </a:p>
          <a:p>
            <a:pPr lvl="1" algn="just">
              <a:lnSpc>
                <a:spcPct val="90000"/>
              </a:lnSpc>
            </a:pPr>
            <a:r>
              <a:rPr lang="en-US" sz="2400" dirty="0">
                <a:latin typeface="Times New Roman" panose="02020603050405020304" pitchFamily="18" charset="0"/>
                <a:cs typeface="Times New Roman" panose="02020603050405020304" pitchFamily="18" charset="0"/>
              </a:rPr>
              <a:t>missing information</a:t>
            </a:r>
          </a:p>
          <a:p>
            <a:pPr lvl="1" algn="just">
              <a:lnSpc>
                <a:spcPct val="90000"/>
              </a:lnSpc>
            </a:pPr>
            <a:r>
              <a:rPr lang="en-US" sz="2400" dirty="0">
                <a:latin typeface="Times New Roman" panose="02020603050405020304" pitchFamily="18" charset="0"/>
                <a:cs typeface="Times New Roman" panose="02020603050405020304" pitchFamily="18" charset="0"/>
              </a:rPr>
              <a:t>inconsistencies (a major problem when large products or systems are engineered)</a:t>
            </a:r>
          </a:p>
          <a:p>
            <a:pPr lvl="1" algn="just">
              <a:lnSpc>
                <a:spcPct val="90000"/>
              </a:lnSpc>
            </a:pPr>
            <a:r>
              <a:rPr lang="en-US" sz="2400" dirty="0">
                <a:latin typeface="Times New Roman" panose="02020603050405020304" pitchFamily="18" charset="0"/>
                <a:cs typeface="Times New Roman" panose="02020603050405020304" pitchFamily="18" charset="0"/>
              </a:rPr>
              <a:t>conflicting or unrealistic (unachievable) requirements. </a:t>
            </a:r>
          </a:p>
          <a:p>
            <a:pPr marL="114300" indent="0" algn="just">
              <a:lnSpc>
                <a:spcPct val="90000"/>
              </a:lnSpc>
              <a:buNone/>
            </a:pPr>
            <a:r>
              <a:rPr lang="en-US" sz="2400" dirty="0">
                <a:solidFill>
                  <a:schemeClr val="folHlink"/>
                </a:solidFill>
                <a:latin typeface="Times New Roman" panose="02020603050405020304" pitchFamily="18" charset="0"/>
                <a:cs typeface="Times New Roman" panose="02020603050405020304" pitchFamily="18" charset="0"/>
              </a:rPr>
              <a:t>7. Requirements management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5450" y="128615"/>
            <a:ext cx="7200900" cy="1143000"/>
          </a:xfrm>
        </p:spPr>
        <p:txBody>
          <a:bodyPr/>
          <a:lstStyle/>
          <a:p>
            <a:r>
              <a:rPr lang="en-US" sz="4000" b="1" dirty="0"/>
              <a:t>Classification of Requirements</a:t>
            </a:r>
          </a:p>
        </p:txBody>
      </p:sp>
      <p:sp>
        <p:nvSpPr>
          <p:cNvPr id="5" name="Slide Number Placeholder 4"/>
          <p:cNvSpPr>
            <a:spLocks noGrp="1"/>
          </p:cNvSpPr>
          <p:nvPr>
            <p:ph type="sldNum" sz="quarter" idx="12"/>
          </p:nvPr>
        </p:nvSpPr>
        <p:spPr/>
        <p:txBody>
          <a:bodyPr/>
          <a:lstStyle/>
          <a:p>
            <a:fld id="{195567C4-C875-4EA2-906F-45EEB91D3DE0}" type="slidenum">
              <a:rPr lang="en-US" smtClean="0"/>
              <a:t>6</a:t>
            </a:fld>
            <a:endParaRPr lang="en-US"/>
          </a:p>
        </p:txBody>
      </p:sp>
      <p:cxnSp>
        <p:nvCxnSpPr>
          <p:cNvPr id="7" name="Straight Connector 6"/>
          <p:cNvCxnSpPr/>
          <p:nvPr/>
        </p:nvCxnSpPr>
        <p:spPr>
          <a:xfrm flipV="1">
            <a:off x="1695450" y="1066800"/>
            <a:ext cx="6762750" cy="7620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quirements classification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318740"/>
            <a:ext cx="7543800" cy="55392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1" y="135411"/>
            <a:ext cx="7200900" cy="1143000"/>
          </a:xfrm>
        </p:spPr>
        <p:txBody>
          <a:bodyPr/>
          <a:lstStyle/>
          <a:p>
            <a:r>
              <a:rPr lang="en-US" sz="4000" b="1" dirty="0"/>
              <a:t>Classification of requirements</a:t>
            </a:r>
          </a:p>
        </p:txBody>
      </p:sp>
      <p:sp>
        <p:nvSpPr>
          <p:cNvPr id="5" name="Slide Number Placeholder 4"/>
          <p:cNvSpPr>
            <a:spLocks noGrp="1"/>
          </p:cNvSpPr>
          <p:nvPr>
            <p:ph type="sldNum" sz="quarter" idx="12"/>
          </p:nvPr>
        </p:nvSpPr>
        <p:spPr/>
        <p:txBody>
          <a:bodyPr/>
          <a:lstStyle/>
          <a:p>
            <a:fld id="{195567C4-C875-4EA2-906F-45EEB91D3DE0}" type="slidenum">
              <a:rPr lang="en-US" smtClean="0"/>
              <a:t>7</a:t>
            </a:fld>
            <a:endParaRPr lang="en-US"/>
          </a:p>
        </p:txBody>
      </p:sp>
      <p:cxnSp>
        <p:nvCxnSpPr>
          <p:cNvPr id="7" name="Straight Connector 6"/>
          <p:cNvCxnSpPr/>
          <p:nvPr/>
        </p:nvCxnSpPr>
        <p:spPr>
          <a:xfrm flipV="1">
            <a:off x="1695450" y="1066800"/>
            <a:ext cx="6762750" cy="7620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04800" y="1342383"/>
            <a:ext cx="8226988" cy="5170646"/>
          </a:xfrm>
          <a:prstGeom prst="rect">
            <a:avLst/>
          </a:prstGeom>
        </p:spPr>
        <p:txBody>
          <a:bodyPr wrap="square">
            <a:spAutoFit/>
          </a:bodyPr>
          <a:lstStyle/>
          <a:p>
            <a:pPr marL="342900" indent="-342900">
              <a:buFont typeface="Wingdings" panose="05000000000000000000" pitchFamily="2" charset="2"/>
              <a:buChar char="q"/>
            </a:pPr>
            <a:r>
              <a:rPr lang="en-US" sz="2200" b="1" dirty="0">
                <a:solidFill>
                  <a:srgbClr val="000000"/>
                </a:solidFill>
                <a:latin typeface="Times New Roman" panose="02020603050405020304" pitchFamily="18" charset="0"/>
                <a:cs typeface="Times New Roman" panose="02020603050405020304" pitchFamily="18" charset="0"/>
              </a:rPr>
              <a:t>Business requirements. </a:t>
            </a:r>
            <a:r>
              <a:rPr lang="en-US" sz="2200" dirty="0">
                <a:solidFill>
                  <a:srgbClr val="000000"/>
                </a:solidFill>
                <a:latin typeface="Times New Roman" panose="02020603050405020304" pitchFamily="18" charset="0"/>
                <a:cs typeface="Times New Roman" panose="02020603050405020304" pitchFamily="18" charset="0"/>
              </a:rPr>
              <a:t>These include high-level statements of goals, objectives, and needs.</a:t>
            </a:r>
          </a:p>
          <a:p>
            <a:pPr marL="342900" indent="-342900">
              <a:buFont typeface="Wingdings" panose="05000000000000000000" pitchFamily="2" charset="2"/>
              <a:buChar char="q"/>
            </a:pPr>
            <a:r>
              <a:rPr lang="en-US" sz="2200" b="1" dirty="0">
                <a:solidFill>
                  <a:srgbClr val="000000"/>
                </a:solidFill>
                <a:latin typeface="Times New Roman" panose="02020603050405020304" pitchFamily="18" charset="0"/>
                <a:cs typeface="Times New Roman" panose="02020603050405020304" pitchFamily="18" charset="0"/>
              </a:rPr>
              <a:t>Stakeholder requirements. </a:t>
            </a:r>
            <a:r>
              <a:rPr lang="en-US" sz="2200" dirty="0">
                <a:solidFill>
                  <a:srgbClr val="000000"/>
                </a:solidFill>
                <a:latin typeface="Times New Roman" panose="02020603050405020304" pitchFamily="18" charset="0"/>
                <a:cs typeface="Times New Roman" panose="02020603050405020304" pitchFamily="18" charset="0"/>
              </a:rPr>
              <a:t>The needs of discrete stakeholder groups are also specified to define what they expect from a particular solution.</a:t>
            </a:r>
          </a:p>
          <a:p>
            <a:pPr marL="342900" indent="-342900">
              <a:buFont typeface="Wingdings" panose="05000000000000000000" pitchFamily="2" charset="2"/>
              <a:buChar char="q"/>
            </a:pPr>
            <a:r>
              <a:rPr lang="en-US" sz="2200" b="1" dirty="0">
                <a:solidFill>
                  <a:srgbClr val="000000"/>
                </a:solidFill>
                <a:latin typeface="Times New Roman" panose="02020603050405020304" pitchFamily="18" charset="0"/>
                <a:cs typeface="Times New Roman" panose="02020603050405020304" pitchFamily="18" charset="0"/>
              </a:rPr>
              <a:t>Solution requirements. </a:t>
            </a:r>
            <a:r>
              <a:rPr lang="en-US" sz="2200" dirty="0">
                <a:solidFill>
                  <a:srgbClr val="000000"/>
                </a:solidFill>
                <a:latin typeface="Times New Roman" panose="02020603050405020304" pitchFamily="18" charset="0"/>
                <a:cs typeface="Times New Roman" panose="02020603050405020304" pitchFamily="18" charset="0"/>
              </a:rPr>
              <a:t>Solution requirements describe the characteristics that a product must have to meet the needs of the stakeholders and the business itself.</a:t>
            </a:r>
          </a:p>
          <a:p>
            <a:pPr marL="800100" lvl="1" indent="-342900">
              <a:buFont typeface="Wingdings" panose="05000000000000000000" pitchFamily="2" charset="2"/>
              <a:buChar char="q"/>
            </a:pPr>
            <a:r>
              <a:rPr lang="en-US" sz="2200" b="1" dirty="0">
                <a:solidFill>
                  <a:srgbClr val="00B0F0"/>
                </a:solidFill>
                <a:highlight>
                  <a:srgbClr val="FFFF00"/>
                </a:highlight>
                <a:latin typeface="Times New Roman" panose="02020603050405020304" pitchFamily="18" charset="0"/>
                <a:cs typeface="Times New Roman" panose="02020603050405020304" pitchFamily="18" charset="0"/>
              </a:rPr>
              <a:t>Nonfunctional</a:t>
            </a:r>
            <a:r>
              <a:rPr lang="en-US" sz="2200" dirty="0">
                <a:solidFill>
                  <a:srgbClr val="000000"/>
                </a:solidFill>
                <a:highlight>
                  <a:srgbClr val="FFFF00"/>
                </a:highlight>
                <a:latin typeface="Times New Roman" panose="02020603050405020304" pitchFamily="18" charset="0"/>
                <a:cs typeface="Times New Roman" panose="02020603050405020304" pitchFamily="18" charset="0"/>
              </a:rPr>
              <a:t> requirements describe the general characteristics of a system. They are also known as </a:t>
            </a:r>
            <a:r>
              <a:rPr lang="en-US" sz="2200" i="1" dirty="0">
                <a:solidFill>
                  <a:srgbClr val="000000"/>
                </a:solidFill>
                <a:highlight>
                  <a:srgbClr val="FFFF00"/>
                </a:highlight>
                <a:latin typeface="Times New Roman" panose="02020603050405020304" pitchFamily="18" charset="0"/>
                <a:cs typeface="Times New Roman" panose="02020603050405020304" pitchFamily="18" charset="0"/>
              </a:rPr>
              <a:t>quality attributes</a:t>
            </a:r>
            <a:r>
              <a:rPr lang="en-US" sz="2200" dirty="0">
                <a:solidFill>
                  <a:srgbClr val="000000"/>
                </a:solidFill>
                <a:highlight>
                  <a:srgbClr val="FFFF00"/>
                </a:highlight>
                <a:latin typeface="Times New Roman" panose="02020603050405020304" pitchFamily="18" charset="0"/>
                <a:cs typeface="Times New Roman" panose="02020603050405020304" pitchFamily="18" charset="0"/>
              </a:rPr>
              <a:t>.</a:t>
            </a:r>
          </a:p>
          <a:p>
            <a:pPr marL="800100" lvl="1" indent="-342900">
              <a:buFont typeface="Wingdings" panose="05000000000000000000" pitchFamily="2" charset="2"/>
              <a:buChar char="q"/>
            </a:pPr>
            <a:r>
              <a:rPr lang="en-US" sz="2200" b="1" dirty="0">
                <a:solidFill>
                  <a:srgbClr val="00B0F0"/>
                </a:solidFill>
                <a:highlight>
                  <a:srgbClr val="FFFF00"/>
                </a:highlight>
                <a:latin typeface="Times New Roman" panose="02020603050405020304" pitchFamily="18" charset="0"/>
                <a:cs typeface="Times New Roman" panose="02020603050405020304" pitchFamily="18" charset="0"/>
              </a:rPr>
              <a:t>Functional</a:t>
            </a:r>
            <a:r>
              <a:rPr lang="en-US" sz="2200" dirty="0">
                <a:solidFill>
                  <a:srgbClr val="000000"/>
                </a:solidFill>
                <a:highlight>
                  <a:srgbClr val="FFFF00"/>
                </a:highlight>
                <a:latin typeface="Times New Roman" panose="02020603050405020304" pitchFamily="18" charset="0"/>
                <a:cs typeface="Times New Roman" panose="02020603050405020304" pitchFamily="18" charset="0"/>
              </a:rPr>
              <a:t> requirements describe how a product must behave, what its features and functions.</a:t>
            </a:r>
          </a:p>
          <a:p>
            <a:pPr marL="342900" indent="-342900">
              <a:buFont typeface="Wingdings" panose="05000000000000000000" pitchFamily="2" charset="2"/>
              <a:buChar char="q"/>
            </a:pPr>
            <a:r>
              <a:rPr lang="en-US" sz="2200" b="1" dirty="0">
                <a:solidFill>
                  <a:srgbClr val="000000"/>
                </a:solidFill>
                <a:latin typeface="Times New Roman" panose="02020603050405020304" pitchFamily="18" charset="0"/>
                <a:cs typeface="Times New Roman" panose="02020603050405020304" pitchFamily="18" charset="0"/>
              </a:rPr>
              <a:t>Transition requirements. </a:t>
            </a:r>
            <a:r>
              <a:rPr lang="en-US" sz="2200" dirty="0">
                <a:solidFill>
                  <a:srgbClr val="000000"/>
                </a:solidFill>
                <a:latin typeface="Times New Roman" panose="02020603050405020304" pitchFamily="18" charset="0"/>
                <a:cs typeface="Times New Roman" panose="02020603050405020304" pitchFamily="18" charset="0"/>
              </a:rPr>
              <a:t>An additional group of requirements defines what is needed from an organization to successfully move from its current state to its desired state with the new product.</a:t>
            </a:r>
            <a:endParaRPr lang="en-US" sz="2200" b="0" i="0" dirty="0">
              <a:solidFill>
                <a:srgbClr val="000000"/>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1" y="71438"/>
            <a:ext cx="7200900" cy="1143000"/>
          </a:xfrm>
        </p:spPr>
        <p:txBody>
          <a:bodyPr/>
          <a:lstStyle/>
          <a:p>
            <a:pPr algn="ctr" fontAlgn="base"/>
            <a:r>
              <a:rPr lang="en-US" sz="4000" b="1" dirty="0"/>
              <a:t>Functional Requirements</a:t>
            </a:r>
          </a:p>
        </p:txBody>
      </p:sp>
      <p:sp>
        <p:nvSpPr>
          <p:cNvPr id="5" name="Slide Number Placeholder 4"/>
          <p:cNvSpPr>
            <a:spLocks noGrp="1"/>
          </p:cNvSpPr>
          <p:nvPr>
            <p:ph type="sldNum" sz="quarter" idx="12"/>
          </p:nvPr>
        </p:nvSpPr>
        <p:spPr/>
        <p:txBody>
          <a:bodyPr/>
          <a:lstStyle/>
          <a:p>
            <a:fld id="{195567C4-C875-4EA2-906F-45EEB91D3DE0}" type="slidenum">
              <a:rPr lang="en-US" smtClean="0"/>
              <a:t>8</a:t>
            </a:fld>
            <a:endParaRPr lang="en-US"/>
          </a:p>
        </p:txBody>
      </p:sp>
      <p:cxnSp>
        <p:nvCxnSpPr>
          <p:cNvPr id="7" name="Straight Connector 6"/>
          <p:cNvCxnSpPr/>
          <p:nvPr/>
        </p:nvCxnSpPr>
        <p:spPr>
          <a:xfrm flipV="1">
            <a:off x="1695450" y="1066800"/>
            <a:ext cx="6762750" cy="7620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71113" y="1285876"/>
            <a:ext cx="7882288" cy="5509200"/>
          </a:xfrm>
          <a:prstGeom prst="rect">
            <a:avLst/>
          </a:prstGeom>
        </p:spPr>
        <p:txBody>
          <a:bodyPr wrap="square">
            <a:spAutoFit/>
          </a:bodyPr>
          <a:lstStyle/>
          <a:p>
            <a:pPr marL="342900" indent="-342900" fontAlgn="base">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Functional requirements describe system behavior under specific conditions and include the product features and functions which web &amp; app developers must add to the solution. Such requirements should be precise both for the development team and stakeholders.</a:t>
            </a:r>
          </a:p>
          <a:p>
            <a:pPr marL="342900" indent="-342900" fontAlgn="base">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The list of examples of </a:t>
            </a:r>
            <a:r>
              <a:rPr lang="en-US" sz="2200" dirty="0">
                <a:highlight>
                  <a:srgbClr val="FFFF00"/>
                </a:highlight>
                <a:latin typeface="Times New Roman" panose="02020603050405020304" pitchFamily="18" charset="0"/>
                <a:cs typeface="Times New Roman" panose="02020603050405020304" pitchFamily="18" charset="0"/>
              </a:rPr>
              <a:t>functional requirements includes</a:t>
            </a:r>
            <a:r>
              <a:rPr lang="en-US" sz="2200" dirty="0">
                <a:latin typeface="Times New Roman" panose="02020603050405020304" pitchFamily="18" charset="0"/>
                <a:cs typeface="Times New Roman" panose="02020603050405020304" pitchFamily="18" charset="0"/>
              </a:rPr>
              <a:t>:</a:t>
            </a:r>
          </a:p>
          <a:p>
            <a:pPr marL="914400" lvl="1" indent="-457200" fontAlgn="base">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Business Rules</a:t>
            </a:r>
          </a:p>
          <a:p>
            <a:pPr marL="914400" lvl="1" indent="-457200" fontAlgn="base">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Transaction corrections, adjustments, and cancellations</a:t>
            </a:r>
          </a:p>
          <a:p>
            <a:pPr marL="914400" lvl="1" indent="-457200" fontAlgn="base">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Administrative functions</a:t>
            </a:r>
          </a:p>
          <a:p>
            <a:pPr marL="914400" lvl="1" indent="-457200" fontAlgn="base">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Authentication</a:t>
            </a:r>
          </a:p>
          <a:p>
            <a:pPr marL="914400" lvl="1" indent="-457200" fontAlgn="base">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Authorization levels</a:t>
            </a:r>
          </a:p>
          <a:p>
            <a:pPr marL="914400" lvl="1" indent="-457200" fontAlgn="base">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Audit Tracking</a:t>
            </a:r>
          </a:p>
          <a:p>
            <a:pPr marL="914400" lvl="1" indent="-457200" fontAlgn="base">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External Interfaces</a:t>
            </a:r>
          </a:p>
          <a:p>
            <a:pPr marL="914400" lvl="1" indent="-457200" fontAlgn="base">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Certification Requirements</a:t>
            </a:r>
          </a:p>
          <a:p>
            <a:pPr marL="914400" lvl="1" indent="-457200" fontAlgn="base">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Reporting Requirements</a:t>
            </a:r>
          </a:p>
          <a:p>
            <a:pPr marL="914400" lvl="1" indent="-457200" fontAlgn="base">
              <a:buFont typeface="Wingdings" panose="05000000000000000000" pitchFamily="2" charset="2"/>
              <a:buChar char="§"/>
            </a:pPr>
            <a:r>
              <a:rPr lang="en-US" sz="2200" dirty="0">
                <a:latin typeface="Times New Roman" panose="02020603050405020304" pitchFamily="18" charset="0"/>
                <a:cs typeface="Times New Roman" panose="02020603050405020304" pitchFamily="18" charset="0"/>
              </a:rPr>
              <a:t>Historical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1" y="71438"/>
            <a:ext cx="7200900" cy="1143000"/>
          </a:xfrm>
        </p:spPr>
        <p:txBody>
          <a:bodyPr/>
          <a:lstStyle/>
          <a:p>
            <a:pPr algn="ctr"/>
            <a:r>
              <a:rPr lang="en-US" sz="3200" b="1" dirty="0"/>
              <a:t>Example of Functional Requirements</a:t>
            </a:r>
          </a:p>
        </p:txBody>
      </p:sp>
      <p:sp>
        <p:nvSpPr>
          <p:cNvPr id="5" name="Slide Number Placeholder 4"/>
          <p:cNvSpPr>
            <a:spLocks noGrp="1"/>
          </p:cNvSpPr>
          <p:nvPr>
            <p:ph type="sldNum" sz="quarter" idx="12"/>
          </p:nvPr>
        </p:nvSpPr>
        <p:spPr/>
        <p:txBody>
          <a:bodyPr/>
          <a:lstStyle/>
          <a:p>
            <a:fld id="{195567C4-C875-4EA2-906F-45EEB91D3DE0}" type="slidenum">
              <a:rPr lang="en-US" smtClean="0"/>
              <a:t>9</a:t>
            </a:fld>
            <a:endParaRPr lang="en-US"/>
          </a:p>
        </p:txBody>
      </p:sp>
      <p:cxnSp>
        <p:nvCxnSpPr>
          <p:cNvPr id="7" name="Straight Connector 6"/>
          <p:cNvCxnSpPr/>
          <p:nvPr/>
        </p:nvCxnSpPr>
        <p:spPr>
          <a:xfrm flipV="1">
            <a:off x="1695450" y="1066800"/>
            <a:ext cx="6762750" cy="7620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1000" y="1371600"/>
            <a:ext cx="7958488" cy="4154984"/>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Here, are some examples of </a:t>
            </a:r>
            <a:r>
              <a:rPr lang="en-US" sz="2400" dirty="0">
                <a:highlight>
                  <a:srgbClr val="FFFF00"/>
                </a:highlight>
                <a:latin typeface="Times New Roman" panose="02020603050405020304" pitchFamily="18" charset="0"/>
                <a:cs typeface="Times New Roman" panose="02020603050405020304" pitchFamily="18" charset="0"/>
              </a:rPr>
              <a:t>non-functional requirement:</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The software automatically validates customers against the ABC Contact Management System</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The Sales system should allow users to record customers sales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The background color for all windows in the application will be blue and have a hexadecimal RGB color value of 0x0000FF.</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Only Managerial level employees have the right to view revenue data.</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The software system should be integrated with banking API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1" y="71438"/>
            <a:ext cx="7200900" cy="1143000"/>
          </a:xfrm>
        </p:spPr>
        <p:txBody>
          <a:bodyPr/>
          <a:lstStyle/>
          <a:p>
            <a:pPr algn="ctr" fontAlgn="base"/>
            <a:r>
              <a:rPr lang="en-US" sz="4000" b="1" dirty="0"/>
              <a:t>Non-Functional Requirements</a:t>
            </a:r>
          </a:p>
        </p:txBody>
      </p:sp>
      <p:sp>
        <p:nvSpPr>
          <p:cNvPr id="5" name="Slide Number Placeholder 4"/>
          <p:cNvSpPr>
            <a:spLocks noGrp="1"/>
          </p:cNvSpPr>
          <p:nvPr>
            <p:ph type="sldNum" sz="quarter" idx="12"/>
          </p:nvPr>
        </p:nvSpPr>
        <p:spPr/>
        <p:txBody>
          <a:bodyPr/>
          <a:lstStyle/>
          <a:p>
            <a:fld id="{195567C4-C875-4EA2-906F-45EEB91D3DE0}" type="slidenum">
              <a:rPr lang="en-US" smtClean="0"/>
              <a:t>10</a:t>
            </a:fld>
            <a:endParaRPr lang="en-US"/>
          </a:p>
        </p:txBody>
      </p:sp>
      <p:cxnSp>
        <p:nvCxnSpPr>
          <p:cNvPr id="7" name="Straight Connector 6"/>
          <p:cNvCxnSpPr/>
          <p:nvPr/>
        </p:nvCxnSpPr>
        <p:spPr>
          <a:xfrm flipV="1">
            <a:off x="1695450" y="1066800"/>
            <a:ext cx="6762750" cy="7620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71112" y="1285876"/>
            <a:ext cx="8110887" cy="5632311"/>
          </a:xfrm>
          <a:prstGeom prst="rect">
            <a:avLst/>
          </a:prstGeom>
        </p:spPr>
        <p:txBody>
          <a:bodyPr wrap="square">
            <a:spAutoFit/>
          </a:bodyPr>
          <a:lstStyle/>
          <a:p>
            <a:pPr marL="342900" indent="-342900" algn="just" fontAlgn="base">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A non-functional requirement defines the quality attribute of a software system. They represent a set of standards used to judge the specific operation of a system. Example, how fast does the website load?</a:t>
            </a:r>
          </a:p>
          <a:p>
            <a:pPr marL="342900" indent="-342900" algn="just" fontAlgn="base">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Some typical </a:t>
            </a:r>
            <a:r>
              <a:rPr lang="en-US" sz="2000" dirty="0">
                <a:highlight>
                  <a:srgbClr val="FFFF00"/>
                </a:highlight>
                <a:latin typeface="Times New Roman" panose="02020603050405020304" pitchFamily="18" charset="0"/>
                <a:cs typeface="Times New Roman" panose="02020603050405020304" pitchFamily="18" charset="0"/>
              </a:rPr>
              <a:t>non-functional requirements are:</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Performance – for example Response Time, Throughput, Utilization, Static Volumetric</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Capacity</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Availability</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Reliability</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Recoverability</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Maintainability</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Serviceability</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Security</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Regulatory</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Manageability</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Environmental</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Data Integrity</a:t>
            </a:r>
          </a:p>
          <a:p>
            <a:pPr marL="1257300" lvl="2" indent="-342900" algn="just" fontAlgn="base">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Usability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1" y="71438"/>
            <a:ext cx="7200900" cy="1143000"/>
          </a:xfrm>
        </p:spPr>
        <p:txBody>
          <a:bodyPr/>
          <a:lstStyle/>
          <a:p>
            <a:pPr algn="ctr" fontAlgn="base"/>
            <a:r>
              <a:rPr lang="en-US" sz="2800" b="1" dirty="0"/>
              <a:t>Example of Non-Functional Requirements</a:t>
            </a:r>
          </a:p>
        </p:txBody>
      </p:sp>
      <p:sp>
        <p:nvSpPr>
          <p:cNvPr id="5" name="Slide Number Placeholder 4"/>
          <p:cNvSpPr>
            <a:spLocks noGrp="1"/>
          </p:cNvSpPr>
          <p:nvPr>
            <p:ph type="sldNum" sz="quarter" idx="12"/>
          </p:nvPr>
        </p:nvSpPr>
        <p:spPr/>
        <p:txBody>
          <a:bodyPr/>
          <a:lstStyle/>
          <a:p>
            <a:fld id="{195567C4-C875-4EA2-906F-45EEB91D3DE0}" type="slidenum">
              <a:rPr lang="en-US" smtClean="0"/>
              <a:t>11</a:t>
            </a:fld>
            <a:endParaRPr lang="en-US"/>
          </a:p>
        </p:txBody>
      </p:sp>
      <p:cxnSp>
        <p:nvCxnSpPr>
          <p:cNvPr id="7" name="Straight Connector 6"/>
          <p:cNvCxnSpPr/>
          <p:nvPr/>
        </p:nvCxnSpPr>
        <p:spPr>
          <a:xfrm>
            <a:off x="1905000" y="990600"/>
            <a:ext cx="6476999"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71112" y="1524000"/>
            <a:ext cx="8110887" cy="4862870"/>
          </a:xfrm>
          <a:prstGeom prst="rect">
            <a:avLst/>
          </a:prstGeom>
        </p:spPr>
        <p:txBody>
          <a:bodyPr wrap="square">
            <a:spAutoFit/>
          </a:bodyPr>
          <a:lstStyle/>
          <a:p>
            <a:r>
              <a:rPr lang="en-US" sz="2400" dirty="0">
                <a:latin typeface="Times New Roman" panose="02020603050405020304" pitchFamily="18" charset="0"/>
                <a:cs typeface="Times New Roman" panose="02020603050405020304" pitchFamily="18" charset="0"/>
              </a:rPr>
              <a:t>Here, are some examples of non-functional requirement:</a:t>
            </a:r>
          </a:p>
          <a:p>
            <a:pPr marL="457200" indent="-457200">
              <a:buFont typeface="+mj-lt"/>
              <a:buAutoNum type="arabicPeriod"/>
            </a:pPr>
            <a:r>
              <a:rPr lang="en-US" sz="2200" dirty="0">
                <a:latin typeface="Times New Roman" panose="02020603050405020304" pitchFamily="18" charset="0"/>
                <a:cs typeface="Times New Roman" panose="02020603050405020304" pitchFamily="18" charset="0"/>
              </a:rPr>
              <a:t>Users must change the initially assigned login password immediately after the first successful login. Moreover, the initial should never be reused.</a:t>
            </a:r>
          </a:p>
          <a:p>
            <a:pPr marL="457200" indent="-457200">
              <a:buFont typeface="+mj-lt"/>
              <a:buAutoNum type="arabicPeriod"/>
            </a:pPr>
            <a:r>
              <a:rPr lang="en-US" sz="2200" dirty="0">
                <a:latin typeface="Times New Roman" panose="02020603050405020304" pitchFamily="18" charset="0"/>
                <a:cs typeface="Times New Roman" panose="02020603050405020304" pitchFamily="18" charset="0"/>
              </a:rPr>
              <a:t>Employees never allowed to update their salary information. Such attempt should be reported to the security administrator.</a:t>
            </a:r>
          </a:p>
          <a:p>
            <a:pPr marL="457200" indent="-457200">
              <a:buFont typeface="+mj-lt"/>
              <a:buAutoNum type="arabicPeriod"/>
            </a:pPr>
            <a:r>
              <a:rPr lang="en-US" sz="2200" dirty="0">
                <a:latin typeface="Times New Roman" panose="02020603050405020304" pitchFamily="18" charset="0"/>
                <a:cs typeface="Times New Roman" panose="02020603050405020304" pitchFamily="18" charset="0"/>
              </a:rPr>
              <a:t>Every unsuccessful attempt by a user to access an item of data shall be recorded on an audit trail.</a:t>
            </a:r>
          </a:p>
          <a:p>
            <a:pPr marL="457200" indent="-457200">
              <a:buFont typeface="+mj-lt"/>
              <a:buAutoNum type="arabicPeriod"/>
            </a:pPr>
            <a:r>
              <a:rPr lang="en-US" sz="2200" dirty="0">
                <a:latin typeface="Times New Roman" panose="02020603050405020304" pitchFamily="18" charset="0"/>
                <a:cs typeface="Times New Roman" panose="02020603050405020304" pitchFamily="18" charset="0"/>
              </a:rPr>
              <a:t>A website should be capable enough to handle 20 million users with affecting its performance</a:t>
            </a:r>
          </a:p>
          <a:p>
            <a:pPr marL="457200" indent="-457200">
              <a:buFont typeface="+mj-lt"/>
              <a:buAutoNum type="arabicPeriod"/>
            </a:pPr>
            <a:r>
              <a:rPr lang="en-US" sz="2200" dirty="0">
                <a:latin typeface="Times New Roman" panose="02020603050405020304" pitchFamily="18" charset="0"/>
                <a:cs typeface="Times New Roman" panose="02020603050405020304" pitchFamily="18" charset="0"/>
              </a:rPr>
              <a:t>The software should be portable. So moving from one OS to other OS does not create any problem.</a:t>
            </a:r>
          </a:p>
          <a:p>
            <a:pPr marL="457200" indent="-457200">
              <a:buFont typeface="+mj-lt"/>
              <a:buAutoNum type="arabicPeriod"/>
            </a:pPr>
            <a:r>
              <a:rPr lang="en-US" sz="2200" dirty="0">
                <a:latin typeface="Times New Roman" panose="02020603050405020304" pitchFamily="18" charset="0"/>
                <a:cs typeface="Times New Roman" panose="02020603050405020304" pitchFamily="18" charset="0"/>
              </a:rPr>
              <a:t>Privacy of information, the export of restricted technologies, intellectual property rights, etc. should be audited.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200" b="1" dirty="0">
                <a:latin typeface="Times New Roman" panose="02020603050405020304" pitchFamily="18" charset="0"/>
                <a:cs typeface="Times New Roman" panose="02020603050405020304" pitchFamily="18" charset="0"/>
              </a:rPr>
              <a:t>Elements of the analysis model</a:t>
            </a:r>
          </a:p>
        </p:txBody>
      </p:sp>
      <p:sp>
        <p:nvSpPr>
          <p:cNvPr id="5" name="Slide Number Placeholder 4"/>
          <p:cNvSpPr>
            <a:spLocks noGrp="1"/>
          </p:cNvSpPr>
          <p:nvPr>
            <p:ph type="sldNum" sz="quarter" idx="12"/>
          </p:nvPr>
        </p:nvSpPr>
        <p:spPr/>
        <p:txBody>
          <a:bodyPr/>
          <a:lstStyle/>
          <a:p>
            <a:fld id="{195567C4-C875-4EA2-906F-45EEB91D3DE0}" type="slidenum">
              <a:rPr lang="en-US" smtClean="0"/>
              <a:t>12</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1027"/>
          <p:cNvSpPr txBox="1">
            <a:spLocks noChangeArrowheads="1"/>
          </p:cNvSpPr>
          <p:nvPr/>
        </p:nvSpPr>
        <p:spPr>
          <a:xfrm>
            <a:off x="304800" y="1371600"/>
            <a:ext cx="7192963" cy="5257800"/>
          </a:xfrm>
          <a:prstGeom prst="rect">
            <a:avLst/>
          </a:prstGeom>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a:lstStyle>
          <a:p>
            <a:pPr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Elements of the analysis model</a:t>
            </a:r>
          </a:p>
          <a:p>
            <a:pPr lvl="1" algn="just">
              <a:buFont typeface="Wingdings" panose="05000000000000000000" pitchFamily="2" charset="2"/>
              <a:buChar char="§"/>
            </a:pPr>
            <a:r>
              <a:rPr lang="en-US" sz="2400" dirty="0">
                <a:solidFill>
                  <a:srgbClr val="0070C0"/>
                </a:solidFill>
                <a:latin typeface="Times New Roman" panose="02020603050405020304" pitchFamily="18" charset="0"/>
                <a:cs typeface="Times New Roman" panose="02020603050405020304" pitchFamily="18" charset="0"/>
              </a:rPr>
              <a:t>Scenario-based elements</a:t>
            </a:r>
          </a:p>
          <a:p>
            <a:pPr lvl="2" algn="just">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Functional</a:t>
            </a:r>
            <a:r>
              <a:rPr lang="en-US" sz="2400" dirty="0">
                <a:latin typeface="Times New Roman" panose="02020603050405020304" pitchFamily="18" charset="0"/>
                <a:cs typeface="Times New Roman" panose="02020603050405020304" pitchFamily="18" charset="0"/>
              </a:rPr>
              <a:t>—processing narratives for software functions</a:t>
            </a:r>
          </a:p>
          <a:p>
            <a:pPr lvl="2" algn="just">
              <a:buFont typeface="Wingdings" panose="05000000000000000000" pitchFamily="2" charset="2"/>
              <a:buChar char="§"/>
            </a:pPr>
            <a:r>
              <a:rPr lang="en-US" sz="2400" b="1" dirty="0">
                <a:highlight>
                  <a:srgbClr val="FFFF00"/>
                </a:highlight>
                <a:latin typeface="Times New Roman" panose="02020603050405020304" pitchFamily="18" charset="0"/>
                <a:cs typeface="Times New Roman" panose="02020603050405020304" pitchFamily="18" charset="0"/>
              </a:rPr>
              <a:t>Use-case</a:t>
            </a:r>
            <a:r>
              <a:rPr lang="en-US" sz="2400" dirty="0">
                <a:highlight>
                  <a:srgbClr val="FFFF00"/>
                </a:highlight>
                <a:latin typeface="Times New Roman" panose="02020603050405020304" pitchFamily="18" charset="0"/>
                <a:cs typeface="Times New Roman" panose="02020603050405020304" pitchFamily="18" charset="0"/>
              </a:rPr>
              <a:t>—descriptions of the interaction between an “actor” and the system</a:t>
            </a:r>
          </a:p>
          <a:p>
            <a:pPr lvl="1" algn="just">
              <a:buFont typeface="Wingdings" panose="05000000000000000000" pitchFamily="2" charset="2"/>
              <a:buChar char="§"/>
            </a:pPr>
            <a:r>
              <a:rPr lang="en-US" sz="2400" dirty="0">
                <a:solidFill>
                  <a:srgbClr val="0070C0"/>
                </a:solidFill>
                <a:latin typeface="Times New Roman" panose="02020603050405020304" pitchFamily="18" charset="0"/>
                <a:cs typeface="Times New Roman" panose="02020603050405020304" pitchFamily="18" charset="0"/>
              </a:rPr>
              <a:t>Class-based elements</a:t>
            </a:r>
          </a:p>
          <a:p>
            <a:pPr lvl="2"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Implied by scenarios</a:t>
            </a:r>
          </a:p>
          <a:p>
            <a:pPr lvl="1" algn="just">
              <a:buFont typeface="Wingdings" panose="05000000000000000000" pitchFamily="2" charset="2"/>
              <a:buChar char="§"/>
            </a:pPr>
            <a:r>
              <a:rPr lang="en-US" sz="2400" dirty="0">
                <a:solidFill>
                  <a:srgbClr val="0070C0"/>
                </a:solidFill>
                <a:latin typeface="Times New Roman" panose="02020603050405020304" pitchFamily="18" charset="0"/>
                <a:cs typeface="Times New Roman" panose="02020603050405020304" pitchFamily="18" charset="0"/>
              </a:rPr>
              <a:t>Behavioral elements</a:t>
            </a:r>
          </a:p>
          <a:p>
            <a:pPr lvl="2"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State diagram</a:t>
            </a:r>
          </a:p>
          <a:p>
            <a:pPr lvl="1" algn="just">
              <a:buFont typeface="Wingdings" panose="05000000000000000000" pitchFamily="2" charset="2"/>
              <a:buChar char="§"/>
            </a:pPr>
            <a:r>
              <a:rPr lang="en-US" sz="2400" dirty="0">
                <a:solidFill>
                  <a:srgbClr val="0070C0"/>
                </a:solidFill>
                <a:latin typeface="Times New Roman" panose="02020603050405020304" pitchFamily="18" charset="0"/>
                <a:cs typeface="Times New Roman" panose="02020603050405020304" pitchFamily="18" charset="0"/>
              </a:rPr>
              <a:t>Flow-oriented elements</a:t>
            </a:r>
          </a:p>
          <a:p>
            <a:pPr lvl="2"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Data flow diagram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13</a:t>
            </a:fld>
            <a:endParaRPr lang="en-US"/>
          </a:p>
        </p:txBody>
      </p:sp>
      <p:cxnSp>
        <p:nvCxnSpPr>
          <p:cNvPr id="7" name="Straight Connector 6"/>
          <p:cNvCxnSpPr/>
          <p:nvPr/>
        </p:nvCxnSpPr>
        <p:spPr>
          <a:xfrm>
            <a:off x="1828800" y="1214438"/>
            <a:ext cx="6096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p:cNvSpPr txBox="1">
            <a:spLocks noChangeArrowheads="1"/>
          </p:cNvSpPr>
          <p:nvPr/>
        </p:nvSpPr>
        <p:spPr>
          <a:xfrm>
            <a:off x="1676400" y="432955"/>
            <a:ext cx="6555036" cy="633413"/>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r>
              <a:rPr lang="en-US" altLang="en-US" sz="3200" b="1" dirty="0"/>
              <a:t>Elements of Requirements Analysis</a:t>
            </a:r>
          </a:p>
        </p:txBody>
      </p:sp>
      <p:pic>
        <p:nvPicPr>
          <p:cNvPr id="11" name="Picture 4" descr="Fig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9278" y="1524000"/>
            <a:ext cx="5755521" cy="520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4000" b="1" dirty="0"/>
              <a:t>Use-Cases</a:t>
            </a:r>
            <a:endParaRPr lang="en-US" sz="40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14</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p:cNvSpPr txBox="1">
            <a:spLocks noChangeArrowheads="1"/>
          </p:cNvSpPr>
          <p:nvPr/>
        </p:nvSpPr>
        <p:spPr>
          <a:xfrm>
            <a:off x="228600" y="1295400"/>
            <a:ext cx="8001000" cy="5334000"/>
          </a:xfrm>
          <a:prstGeom prst="rect">
            <a:avLst/>
          </a:prstGeom>
        </p:spPr>
        <p:txBody>
          <a:bodyPr vert="horz" lIns="91440" tIns="45720" rIns="91440" bIns="45720" rtlCol="0">
            <a:noAutofit/>
          </a:bodyPr>
          <a:lst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Use cases describe the interaction between the system and external users that leads to achieving particular goals.</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Each use case includes three main elements:</a:t>
            </a:r>
          </a:p>
          <a:p>
            <a:pPr lvl="1">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Actors. </a:t>
            </a:r>
            <a:r>
              <a:rPr lang="en-US" sz="2400" dirty="0">
                <a:latin typeface="Times New Roman" panose="02020603050405020304" pitchFamily="18" charset="0"/>
                <a:cs typeface="Times New Roman" panose="02020603050405020304" pitchFamily="18" charset="0"/>
              </a:rPr>
              <a:t>These are the users outside the system that interact with the system.</a:t>
            </a:r>
          </a:p>
          <a:p>
            <a:pPr lvl="1">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System</a:t>
            </a:r>
            <a:r>
              <a:rPr lang="en-US" sz="2400" dirty="0">
                <a:latin typeface="Times New Roman" panose="02020603050405020304" pitchFamily="18" charset="0"/>
                <a:cs typeface="Times New Roman" panose="02020603050405020304" pitchFamily="18" charset="0"/>
              </a:rPr>
              <a:t>. The system is described by functional requirements that define an intended behavior of the product.</a:t>
            </a:r>
          </a:p>
          <a:p>
            <a:pPr lvl="1">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Goals</a:t>
            </a:r>
            <a:r>
              <a:rPr lang="en-US" sz="2400" dirty="0">
                <a:latin typeface="Times New Roman" panose="02020603050405020304" pitchFamily="18" charset="0"/>
                <a:cs typeface="Times New Roman" panose="02020603050405020304" pitchFamily="18" charset="0"/>
              </a:rPr>
              <a:t>. The purposes of the interaction between the users and the system are outlined as goals.</a:t>
            </a: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There are two formats to represent use cases:</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Use case specification/description</a:t>
            </a:r>
          </a:p>
          <a:p>
            <a:pPr lvl="1">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Use case diagram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200" b="1" dirty="0"/>
              <a:t>Use-Cases Elements</a:t>
            </a:r>
            <a:endParaRPr lang="en-US" sz="32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15</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375117"/>
            <a:ext cx="4419600" cy="51780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200" b="1" dirty="0"/>
              <a:t>Use-Cases Elements</a:t>
            </a:r>
            <a:endParaRPr lang="en-US" sz="32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16</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3"/>
          <a:stretch>
            <a:fillRect/>
          </a:stretch>
        </p:blipFill>
        <p:spPr>
          <a:xfrm>
            <a:off x="1143000" y="1676400"/>
            <a:ext cx="6934200" cy="4267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17</a:t>
            </a:fld>
            <a:endParaRPr lang="en-US"/>
          </a:p>
        </p:txBody>
      </p:sp>
      <p:cxnSp>
        <p:nvCxnSpPr>
          <p:cNvPr id="7" name="Straight Connector 6"/>
          <p:cNvCxnSpPr/>
          <p:nvPr/>
        </p:nvCxnSpPr>
        <p:spPr>
          <a:xfrm>
            <a:off x="2895600" y="990600"/>
            <a:ext cx="50292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a:spLocks noGrp="1" noChangeArrowheads="1"/>
          </p:cNvSpPr>
          <p:nvPr>
            <p:ph type="title"/>
          </p:nvPr>
        </p:nvSpPr>
        <p:spPr>
          <a:xfrm>
            <a:off x="2514600" y="302419"/>
            <a:ext cx="5715000" cy="609600"/>
          </a:xfrm>
        </p:spPr>
        <p:txBody>
          <a:bodyPr/>
          <a:lstStyle/>
          <a:p>
            <a:pPr algn="ctr"/>
            <a:r>
              <a:rPr lang="en-US" sz="3200" b="1" dirty="0">
                <a:solidFill>
                  <a:srgbClr val="0070C0"/>
                </a:solidFill>
              </a:rPr>
              <a:t>Use Cases  Elements</a:t>
            </a:r>
          </a:p>
        </p:txBody>
      </p:sp>
      <p:pic>
        <p:nvPicPr>
          <p:cNvPr id="1026" name="Picture 2" descr="Image result for use case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900" y="1214438"/>
            <a:ext cx="6134099" cy="54911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200" b="1" dirty="0"/>
              <a:t>Use-Cases Generalization</a:t>
            </a:r>
            <a:endParaRPr lang="en-US" sz="32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18</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28600" y="1524000"/>
            <a:ext cx="7467600" cy="1815882"/>
          </a:xfrm>
          <a:prstGeom prst="rect">
            <a:avLst/>
          </a:prstGeom>
          <a:noFill/>
        </p:spPr>
        <p:txBody>
          <a:bodyPr wrap="square" rtlCol="0">
            <a:spAutoFit/>
          </a:bodyPr>
          <a:lstStyle/>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a:t>
            </a:r>
            <a:r>
              <a:rPr lang="en-US" sz="2800" dirty="0">
                <a:solidFill>
                  <a:srgbClr val="0070C0"/>
                </a:solidFill>
                <a:latin typeface="Times New Roman" panose="02020603050405020304" pitchFamily="18" charset="0"/>
                <a:cs typeface="Times New Roman" panose="02020603050405020304" pitchFamily="18" charset="0"/>
              </a:rPr>
              <a:t>child</a:t>
            </a:r>
            <a:r>
              <a:rPr lang="en-US" sz="2800" dirty="0">
                <a:latin typeface="Times New Roman" panose="02020603050405020304" pitchFamily="18" charset="0"/>
                <a:cs typeface="Times New Roman" panose="02020603050405020304" pitchFamily="18" charset="0"/>
              </a:rPr>
              <a:t> use case </a:t>
            </a:r>
            <a:r>
              <a:rPr lang="en-US" sz="2800" dirty="0">
                <a:solidFill>
                  <a:srgbClr val="0070C0"/>
                </a:solidFill>
                <a:latin typeface="Times New Roman" panose="02020603050405020304" pitchFamily="18" charset="0"/>
                <a:cs typeface="Times New Roman" panose="02020603050405020304" pitchFamily="18" charset="0"/>
              </a:rPr>
              <a:t>inherits</a:t>
            </a:r>
            <a:r>
              <a:rPr lang="en-US" sz="2800" dirty="0">
                <a:latin typeface="Times New Roman" panose="02020603050405020304" pitchFamily="18" charset="0"/>
                <a:cs typeface="Times New Roman" panose="02020603050405020304" pitchFamily="18" charset="0"/>
              </a:rPr>
              <a:t> the behavior meaning of the parent use case</a:t>
            </a:r>
          </a:p>
          <a:p>
            <a:pPr marL="457200" indent="-457200"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a:t>
            </a:r>
            <a:r>
              <a:rPr lang="en-US" sz="2800" dirty="0">
                <a:solidFill>
                  <a:srgbClr val="0070C0"/>
                </a:solidFill>
                <a:latin typeface="Times New Roman" panose="02020603050405020304" pitchFamily="18" charset="0"/>
                <a:cs typeface="Times New Roman" panose="02020603050405020304" pitchFamily="18" charset="0"/>
              </a:rPr>
              <a:t>Child</a:t>
            </a:r>
            <a:r>
              <a:rPr lang="en-US" sz="2800" dirty="0">
                <a:latin typeface="Times New Roman" panose="02020603050405020304" pitchFamily="18" charset="0"/>
                <a:cs typeface="Times New Roman" panose="02020603050405020304" pitchFamily="18" charset="0"/>
              </a:rPr>
              <a:t> may add to or </a:t>
            </a:r>
            <a:r>
              <a:rPr lang="en-US" sz="2800" dirty="0">
                <a:solidFill>
                  <a:srgbClr val="0070C0"/>
                </a:solidFill>
                <a:latin typeface="Times New Roman" panose="02020603050405020304" pitchFamily="18" charset="0"/>
                <a:cs typeface="Times New Roman" panose="02020603050405020304" pitchFamily="18" charset="0"/>
              </a:rPr>
              <a:t>override</a:t>
            </a:r>
            <a:r>
              <a:rPr lang="en-US" sz="2800" dirty="0">
                <a:latin typeface="Times New Roman" panose="02020603050405020304" pitchFamily="18" charset="0"/>
                <a:cs typeface="Times New Roman" panose="02020603050405020304" pitchFamily="18" charset="0"/>
              </a:rPr>
              <a:t> the behavior of its parent. </a:t>
            </a:r>
          </a:p>
        </p:txBody>
      </p:sp>
      <p:pic>
        <p:nvPicPr>
          <p:cNvPr id="4" name="Picture 3"/>
          <p:cNvPicPr>
            <a:picLocks noChangeAspect="1"/>
          </p:cNvPicPr>
          <p:nvPr/>
        </p:nvPicPr>
        <p:blipFill>
          <a:blip r:embed="rId3"/>
          <a:stretch>
            <a:fillRect/>
          </a:stretch>
        </p:blipFill>
        <p:spPr>
          <a:xfrm>
            <a:off x="320225" y="3831860"/>
            <a:ext cx="1180952" cy="1790476"/>
          </a:xfrm>
          <a:prstGeom prst="rect">
            <a:avLst/>
          </a:prstGeom>
        </p:spPr>
      </p:pic>
      <p:pic>
        <p:nvPicPr>
          <p:cNvPr id="6" name="Picture 5"/>
          <p:cNvPicPr>
            <a:picLocks noChangeAspect="1"/>
          </p:cNvPicPr>
          <p:nvPr/>
        </p:nvPicPr>
        <p:blipFill>
          <a:blip r:embed="rId4"/>
          <a:stretch>
            <a:fillRect/>
          </a:stretch>
        </p:blipFill>
        <p:spPr>
          <a:xfrm>
            <a:off x="1828800" y="3382293"/>
            <a:ext cx="2971429" cy="2266667"/>
          </a:xfrm>
          <a:prstGeom prst="rect">
            <a:avLst/>
          </a:prstGeom>
        </p:spPr>
      </p:pic>
      <p:pic>
        <p:nvPicPr>
          <p:cNvPr id="6146" name="Picture 2" descr="Image result for use case generaliz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1058" y="3615618"/>
            <a:ext cx="3009900" cy="1676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200" b="1" dirty="0"/>
              <a:t>Use-Cases Diagram</a:t>
            </a:r>
            <a:endParaRPr lang="en-US" sz="32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t>19</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use case examp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600200"/>
            <a:ext cx="57150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20</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a:spLocks noGrp="1" noChangeArrowheads="1"/>
          </p:cNvSpPr>
          <p:nvPr>
            <p:ph type="title"/>
          </p:nvPr>
        </p:nvSpPr>
        <p:spPr>
          <a:xfrm>
            <a:off x="2095500" y="231775"/>
            <a:ext cx="6362700" cy="1143000"/>
          </a:xfrm>
        </p:spPr>
        <p:txBody>
          <a:bodyPr/>
          <a:lstStyle/>
          <a:p>
            <a:r>
              <a:rPr lang="en-US" sz="4400" b="1" dirty="0"/>
              <a:t>   Home Heating System</a:t>
            </a:r>
          </a:p>
        </p:txBody>
      </p:sp>
      <p:pic>
        <p:nvPicPr>
          <p:cNvPr id="4" name="Picture 3"/>
          <p:cNvPicPr>
            <a:picLocks noChangeAspect="1"/>
          </p:cNvPicPr>
          <p:nvPr/>
        </p:nvPicPr>
        <p:blipFill>
          <a:blip r:embed="rId3"/>
          <a:stretch>
            <a:fillRect/>
          </a:stretch>
        </p:blipFill>
        <p:spPr>
          <a:xfrm>
            <a:off x="252413" y="1871662"/>
            <a:ext cx="7977188" cy="399573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21</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a:spLocks noGrp="1" noChangeArrowheads="1"/>
          </p:cNvSpPr>
          <p:nvPr>
            <p:ph type="title"/>
          </p:nvPr>
        </p:nvSpPr>
        <p:spPr>
          <a:xfrm>
            <a:off x="2095500" y="231775"/>
            <a:ext cx="6362700" cy="1143000"/>
          </a:xfrm>
        </p:spPr>
        <p:txBody>
          <a:bodyPr/>
          <a:lstStyle/>
          <a:p>
            <a:r>
              <a:rPr lang="en-US" sz="4400" b="1" dirty="0"/>
              <a:t>   Home Heating System</a:t>
            </a:r>
          </a:p>
        </p:txBody>
      </p:sp>
      <p:sp>
        <p:nvSpPr>
          <p:cNvPr id="8" name="Rectangle 3"/>
          <p:cNvSpPr>
            <a:spLocks noChangeArrowheads="1"/>
          </p:cNvSpPr>
          <p:nvPr/>
        </p:nvSpPr>
        <p:spPr bwMode="auto">
          <a:xfrm>
            <a:off x="609600" y="1374775"/>
            <a:ext cx="7620000" cy="365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45" tIns="46023" rIns="92045" bIns="46023"/>
          <a:lstStyle/>
          <a:p>
            <a:pPr algn="ctr"/>
            <a:r>
              <a:rPr lang="en-US" sz="2800" b="1" u="sng" dirty="0">
                <a:solidFill>
                  <a:srgbClr val="0070C0"/>
                </a:solidFill>
                <a:latin typeface="Times New Roman" panose="02020603050405020304" pitchFamily="18" charset="0"/>
              </a:rPr>
              <a:t>Use Case Description</a:t>
            </a:r>
          </a:p>
          <a:p>
            <a:endParaRPr lang="en-US" sz="2400" b="1" dirty="0">
              <a:latin typeface="Times New Roman" panose="02020603050405020304" pitchFamily="18" charset="0"/>
            </a:endParaRPr>
          </a:p>
          <a:p>
            <a:r>
              <a:rPr lang="en-US" sz="2400" b="1" dirty="0">
                <a:latin typeface="Times New Roman" panose="02020603050405020304" pitchFamily="18" charset="0"/>
              </a:rPr>
              <a:t>Use case:</a:t>
            </a:r>
            <a:r>
              <a:rPr lang="en-US" sz="2400" dirty="0">
                <a:latin typeface="Times New Roman" panose="02020603050405020304" pitchFamily="18" charset="0"/>
              </a:rPr>
              <a:t>	</a:t>
            </a:r>
            <a:r>
              <a:rPr lang="en-US" sz="2400" b="1" dirty="0">
                <a:latin typeface="Times New Roman" panose="02020603050405020304" pitchFamily="18" charset="0"/>
              </a:rPr>
              <a:t>Power Up</a:t>
            </a:r>
            <a:endParaRPr lang="en-US" sz="2400" dirty="0">
              <a:latin typeface="Times New Roman" panose="02020603050405020304" pitchFamily="18" charset="0"/>
            </a:endParaRPr>
          </a:p>
          <a:p>
            <a:r>
              <a:rPr lang="en-US" sz="2400" b="1" dirty="0">
                <a:latin typeface="Times New Roman" panose="02020603050405020304" pitchFamily="18" charset="0"/>
              </a:rPr>
              <a:t>Actors:</a:t>
            </a:r>
            <a:r>
              <a:rPr lang="en-US" sz="2400" dirty="0">
                <a:latin typeface="Times New Roman" panose="02020603050405020304" pitchFamily="18" charset="0"/>
              </a:rPr>
              <a:t>	</a:t>
            </a:r>
            <a:r>
              <a:rPr lang="en-US" sz="2400" b="1" dirty="0">
                <a:solidFill>
                  <a:srgbClr val="0070C0"/>
                </a:solidFill>
                <a:latin typeface="Times New Roman" panose="02020603050405020304" pitchFamily="18" charset="0"/>
              </a:rPr>
              <a:t>Home Owner (initiator)</a:t>
            </a:r>
          </a:p>
          <a:p>
            <a:r>
              <a:rPr lang="en-US" sz="2400" b="1" dirty="0">
                <a:latin typeface="Times New Roman" panose="02020603050405020304" pitchFamily="18" charset="0"/>
              </a:rPr>
              <a:t>Type:</a:t>
            </a:r>
            <a:r>
              <a:rPr lang="en-US" sz="2400" dirty="0">
                <a:latin typeface="Times New Roman" panose="02020603050405020304" pitchFamily="18" charset="0"/>
              </a:rPr>
              <a:t> 		Primary and essential</a:t>
            </a:r>
          </a:p>
          <a:p>
            <a:r>
              <a:rPr lang="en-US" sz="2400" b="1" dirty="0">
                <a:latin typeface="Times New Roman" panose="02020603050405020304" pitchFamily="18" charset="0"/>
              </a:rPr>
              <a:t>Description:</a:t>
            </a:r>
            <a:r>
              <a:rPr lang="en-US" sz="2400" dirty="0">
                <a:latin typeface="Times New Roman" panose="02020603050405020304" pitchFamily="18" charset="0"/>
              </a:rPr>
              <a:t>	</a:t>
            </a:r>
            <a:r>
              <a:rPr lang="en-US" dirty="0">
                <a:latin typeface="Times New Roman" panose="02020603050405020304" pitchFamily="18" charset="0"/>
              </a:rPr>
              <a:t>The Home Owner turns the power on. </a:t>
            </a:r>
          </a:p>
          <a:p>
            <a:r>
              <a:rPr lang="en-US" dirty="0">
                <a:latin typeface="Times New Roman" panose="02020603050405020304" pitchFamily="18" charset="0"/>
              </a:rPr>
              <a:t>		</a:t>
            </a:r>
            <a:r>
              <a:rPr lang="en-US" b="1" u="sng" dirty="0">
                <a:latin typeface="Times New Roman" panose="02020603050405020304" pitchFamily="18" charset="0"/>
              </a:rPr>
              <a:t>Perform Adjust Temp</a:t>
            </a:r>
            <a:r>
              <a:rPr lang="en-US" dirty="0">
                <a:latin typeface="Times New Roman" panose="02020603050405020304" pitchFamily="18" charset="0"/>
              </a:rPr>
              <a:t>. If the temperature in all rooms is</a:t>
            </a:r>
          </a:p>
          <a:p>
            <a:r>
              <a:rPr lang="en-US" dirty="0">
                <a:latin typeface="Times New Roman" panose="02020603050405020304" pitchFamily="18" charset="0"/>
              </a:rPr>
              <a:t>		above the desired temperature, no actions are taken. </a:t>
            </a:r>
          </a:p>
          <a:p>
            <a:endParaRPr lang="en-US" b="1" dirty="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22</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a:spLocks noGrp="1" noChangeArrowheads="1"/>
          </p:cNvSpPr>
          <p:nvPr>
            <p:ph type="title"/>
          </p:nvPr>
        </p:nvSpPr>
        <p:spPr>
          <a:xfrm>
            <a:off x="2095500" y="231775"/>
            <a:ext cx="6362700" cy="1143000"/>
          </a:xfrm>
        </p:spPr>
        <p:txBody>
          <a:bodyPr/>
          <a:lstStyle/>
          <a:p>
            <a:r>
              <a:rPr lang="en-US" sz="4400" b="1" dirty="0"/>
              <a:t>   Home Heating System</a:t>
            </a:r>
          </a:p>
        </p:txBody>
      </p:sp>
      <p:sp>
        <p:nvSpPr>
          <p:cNvPr id="11" name="Rectangle 3"/>
          <p:cNvSpPr>
            <a:spLocks noChangeArrowheads="1"/>
          </p:cNvSpPr>
          <p:nvPr/>
        </p:nvSpPr>
        <p:spPr bwMode="auto">
          <a:xfrm>
            <a:off x="609600" y="1981200"/>
            <a:ext cx="7620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45" tIns="46023" rIns="92045" bIns="46023"/>
          <a:lstStyle/>
          <a:p>
            <a:r>
              <a:rPr lang="en-US" sz="2400" b="1" dirty="0">
                <a:latin typeface="Times New Roman" panose="02020603050405020304" pitchFamily="18" charset="0"/>
              </a:rPr>
              <a:t>Use case:</a:t>
            </a:r>
            <a:r>
              <a:rPr lang="en-US" sz="2400" dirty="0">
                <a:latin typeface="Times New Roman" panose="02020603050405020304" pitchFamily="18" charset="0"/>
              </a:rPr>
              <a:t>	</a:t>
            </a:r>
            <a:r>
              <a:rPr lang="en-US" sz="2400" b="1" dirty="0">
                <a:latin typeface="Times New Roman" panose="02020603050405020304" pitchFamily="18" charset="0"/>
              </a:rPr>
              <a:t>Adjust Temp</a:t>
            </a:r>
            <a:endParaRPr lang="en-US" sz="2400" dirty="0">
              <a:latin typeface="Times New Roman" panose="02020603050405020304" pitchFamily="18" charset="0"/>
            </a:endParaRPr>
          </a:p>
          <a:p>
            <a:r>
              <a:rPr lang="en-US" sz="2400" b="1" dirty="0">
                <a:latin typeface="Times New Roman" panose="02020603050405020304" pitchFamily="18" charset="0"/>
              </a:rPr>
              <a:t>Actors:</a:t>
            </a:r>
            <a:r>
              <a:rPr lang="en-US" sz="2400" dirty="0">
                <a:latin typeface="Times New Roman" panose="02020603050405020304" pitchFamily="18" charset="0"/>
              </a:rPr>
              <a:t>	</a:t>
            </a:r>
            <a:r>
              <a:rPr lang="en-US" sz="2400" b="1" dirty="0">
                <a:solidFill>
                  <a:srgbClr val="0070C0"/>
                </a:solidFill>
                <a:latin typeface="Times New Roman" panose="02020603050405020304" pitchFamily="18" charset="0"/>
              </a:rPr>
              <a:t>System (initiator)</a:t>
            </a:r>
          </a:p>
          <a:p>
            <a:r>
              <a:rPr lang="en-US" sz="2400" b="1" dirty="0">
                <a:latin typeface="Times New Roman" panose="02020603050405020304" pitchFamily="18" charset="0"/>
              </a:rPr>
              <a:t>Type:</a:t>
            </a:r>
            <a:r>
              <a:rPr lang="en-US" sz="2400" dirty="0">
                <a:latin typeface="Times New Roman" panose="02020603050405020304" pitchFamily="18" charset="0"/>
              </a:rPr>
              <a:t> 		Secondary and essential</a:t>
            </a:r>
          </a:p>
          <a:p>
            <a:r>
              <a:rPr lang="en-US" sz="2400" b="1" dirty="0">
                <a:latin typeface="Times New Roman" panose="02020603050405020304" pitchFamily="18" charset="0"/>
              </a:rPr>
              <a:t>Description:</a:t>
            </a:r>
            <a:r>
              <a:rPr lang="en-US" sz="2400" dirty="0">
                <a:latin typeface="Times New Roman" panose="02020603050405020304" pitchFamily="18" charset="0"/>
              </a:rPr>
              <a:t>	</a:t>
            </a:r>
            <a:r>
              <a:rPr lang="en-US" dirty="0">
                <a:latin typeface="Times New Roman" panose="02020603050405020304" pitchFamily="18" charset="0"/>
              </a:rPr>
              <a:t>Check the temperature in each room. For each room:</a:t>
            </a:r>
          </a:p>
          <a:p>
            <a:r>
              <a:rPr lang="en-US" dirty="0">
                <a:latin typeface="Times New Roman" panose="02020603050405020304" pitchFamily="18" charset="0"/>
              </a:rPr>
              <a:t>			Below target: </a:t>
            </a:r>
            <a:r>
              <a:rPr lang="en-US" b="1" u="sng" dirty="0">
                <a:latin typeface="Times New Roman" panose="02020603050405020304" pitchFamily="18" charset="0"/>
              </a:rPr>
              <a:t>Perform Temp Low</a:t>
            </a:r>
            <a:endParaRPr lang="en-US" dirty="0">
              <a:latin typeface="Times New Roman" panose="02020603050405020304" pitchFamily="18" charset="0"/>
            </a:endParaRPr>
          </a:p>
          <a:p>
            <a:r>
              <a:rPr lang="en-US" dirty="0">
                <a:latin typeface="Times New Roman" panose="02020603050405020304" pitchFamily="18" charset="0"/>
              </a:rPr>
              <a:t>			Above target: </a:t>
            </a:r>
            <a:r>
              <a:rPr lang="en-US" b="1" u="sng" dirty="0">
                <a:latin typeface="Times New Roman" panose="02020603050405020304" pitchFamily="18" charset="0"/>
              </a:rPr>
              <a:t>Perform Temp High </a:t>
            </a:r>
            <a:endParaRPr lang="en-US" dirty="0">
              <a:latin typeface="Times New Roman" panose="02020603050405020304" pitchFamily="18" charset="0"/>
            </a:endParaRPr>
          </a:p>
          <a:p>
            <a:endParaRPr lang="en-US" b="1" dirty="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23</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a:spLocks noGrp="1" noChangeArrowheads="1"/>
          </p:cNvSpPr>
          <p:nvPr>
            <p:ph type="title"/>
          </p:nvPr>
        </p:nvSpPr>
        <p:spPr>
          <a:xfrm>
            <a:off x="2095500" y="231775"/>
            <a:ext cx="6362700" cy="1143000"/>
          </a:xfrm>
        </p:spPr>
        <p:txBody>
          <a:bodyPr/>
          <a:lstStyle/>
          <a:p>
            <a:r>
              <a:rPr lang="en-US" sz="4400" b="1" dirty="0"/>
              <a:t>   Home Heating System</a:t>
            </a:r>
          </a:p>
        </p:txBody>
      </p:sp>
      <p:sp>
        <p:nvSpPr>
          <p:cNvPr id="8" name="Rectangle 3"/>
          <p:cNvSpPr>
            <a:spLocks noChangeArrowheads="1"/>
          </p:cNvSpPr>
          <p:nvPr/>
        </p:nvSpPr>
        <p:spPr bwMode="auto">
          <a:xfrm>
            <a:off x="609600" y="1981200"/>
            <a:ext cx="7620000" cy="456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45" tIns="46023" rIns="92045" bIns="46023"/>
          <a:lstStyle/>
          <a:p>
            <a:r>
              <a:rPr lang="en-US" sz="2400" b="1" dirty="0">
                <a:latin typeface="Times New Roman" panose="02020603050405020304" pitchFamily="18" charset="0"/>
              </a:rPr>
              <a:t>Use case:</a:t>
            </a:r>
            <a:r>
              <a:rPr lang="en-US" sz="2400" dirty="0">
                <a:latin typeface="Times New Roman" panose="02020603050405020304" pitchFamily="18" charset="0"/>
              </a:rPr>
              <a:t>	</a:t>
            </a:r>
            <a:r>
              <a:rPr lang="en-US" sz="2400" b="1" dirty="0">
                <a:latin typeface="Times New Roman" panose="02020603050405020304" pitchFamily="18" charset="0"/>
              </a:rPr>
              <a:t>Temp Low</a:t>
            </a:r>
            <a:endParaRPr lang="en-US" sz="2400" dirty="0">
              <a:latin typeface="Times New Roman" panose="02020603050405020304" pitchFamily="18" charset="0"/>
            </a:endParaRPr>
          </a:p>
          <a:p>
            <a:r>
              <a:rPr lang="en-US" sz="2400" b="1" dirty="0">
                <a:latin typeface="Times New Roman" panose="02020603050405020304" pitchFamily="18" charset="0"/>
              </a:rPr>
              <a:t>Actors:</a:t>
            </a:r>
            <a:r>
              <a:rPr lang="en-US" sz="2400" dirty="0">
                <a:latin typeface="Times New Roman" panose="02020603050405020304" pitchFamily="18" charset="0"/>
              </a:rPr>
              <a:t>	</a:t>
            </a:r>
            <a:r>
              <a:rPr lang="en-US" sz="2400" b="1" dirty="0">
                <a:solidFill>
                  <a:srgbClr val="0070C0"/>
                </a:solidFill>
                <a:latin typeface="Times New Roman" panose="02020603050405020304" pitchFamily="18" charset="0"/>
              </a:rPr>
              <a:t>System (initiator)</a:t>
            </a:r>
          </a:p>
          <a:p>
            <a:r>
              <a:rPr lang="en-US" sz="2400" b="1" dirty="0">
                <a:latin typeface="Times New Roman" panose="02020603050405020304" pitchFamily="18" charset="0"/>
              </a:rPr>
              <a:t>Type:</a:t>
            </a:r>
            <a:r>
              <a:rPr lang="en-US" sz="2400" dirty="0">
                <a:latin typeface="Times New Roman" panose="02020603050405020304" pitchFamily="18" charset="0"/>
              </a:rPr>
              <a:t> 		Secondary and essential</a:t>
            </a:r>
          </a:p>
          <a:p>
            <a:r>
              <a:rPr lang="en-US" sz="2400" b="1" dirty="0">
                <a:latin typeface="Times New Roman" panose="02020603050405020304" pitchFamily="18" charset="0"/>
              </a:rPr>
              <a:t>Description:</a:t>
            </a:r>
            <a:r>
              <a:rPr lang="en-US" sz="2400" dirty="0">
                <a:latin typeface="Times New Roman" panose="02020603050405020304" pitchFamily="18" charset="0"/>
              </a:rPr>
              <a:t>	</a:t>
            </a:r>
            <a:r>
              <a:rPr lang="en-US" dirty="0">
                <a:latin typeface="Times New Roman" panose="02020603050405020304" pitchFamily="18" charset="0"/>
              </a:rPr>
              <a:t>Open room valve, start pump if not started.</a:t>
            </a:r>
          </a:p>
          <a:p>
            <a:r>
              <a:rPr lang="en-US" dirty="0">
                <a:latin typeface="Times New Roman" panose="02020603050405020304" pitchFamily="18" charset="0"/>
              </a:rPr>
              <a:t>			 If water temp falls below threshold,</a:t>
            </a:r>
          </a:p>
          <a:p>
            <a:r>
              <a:rPr lang="en-US" dirty="0">
                <a:latin typeface="Times New Roman" panose="02020603050405020304" pitchFamily="18" charset="0"/>
              </a:rPr>
              <a:t>			open fuel value and ignite burner.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24</a:t>
            </a:fld>
            <a:endParaRPr lang="en-US"/>
          </a:p>
        </p:txBody>
      </p:sp>
      <p:cxnSp>
        <p:nvCxnSpPr>
          <p:cNvPr id="7" name="Straight Connector 6"/>
          <p:cNvCxnSpPr/>
          <p:nvPr/>
        </p:nvCxnSpPr>
        <p:spPr>
          <a:xfrm>
            <a:off x="2362200" y="1168112"/>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a:spLocks noGrp="1" noChangeArrowheads="1"/>
          </p:cNvSpPr>
          <p:nvPr>
            <p:ph type="title"/>
          </p:nvPr>
        </p:nvSpPr>
        <p:spPr>
          <a:xfrm>
            <a:off x="2095500" y="231775"/>
            <a:ext cx="6362700" cy="1143000"/>
          </a:xfrm>
        </p:spPr>
        <p:txBody>
          <a:bodyPr/>
          <a:lstStyle/>
          <a:p>
            <a:r>
              <a:rPr lang="en-US" sz="4400" b="1" dirty="0"/>
              <a:t>   Use Case Scenario</a:t>
            </a:r>
          </a:p>
        </p:txBody>
      </p:sp>
      <p:sp>
        <p:nvSpPr>
          <p:cNvPr id="11" name="Rectangle 3"/>
          <p:cNvSpPr txBox="1">
            <a:spLocks noChangeArrowheads="1"/>
          </p:cNvSpPr>
          <p:nvPr/>
        </p:nvSpPr>
        <p:spPr>
          <a:xfrm>
            <a:off x="304800" y="2590800"/>
            <a:ext cx="7924800" cy="3962400"/>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a:lstStyle>
          <a:p>
            <a:pPr marL="114300" indent="0" algn="just">
              <a:spcAft>
                <a:spcPts val="1100"/>
              </a:spcAft>
              <a:buNone/>
            </a:pPr>
            <a:r>
              <a:rPr lang="en-US" sz="2000" dirty="0">
                <a:latin typeface="Times New Roman" panose="02020603050405020304" pitchFamily="18" charset="0"/>
                <a:cs typeface="Times New Roman" panose="02020603050405020304" pitchFamily="18" charset="0"/>
              </a:rPr>
              <a:t>Homework assignment and collection are an integral part of any educational system. Today, this task is performed manually. What we want the homework assignment distribution and collection system to do is to automate this process. </a:t>
            </a:r>
          </a:p>
          <a:p>
            <a:pPr marL="114300" indent="0" algn="just">
              <a:spcAft>
                <a:spcPts val="1100"/>
              </a:spcAft>
              <a:buNone/>
            </a:pPr>
            <a:r>
              <a:rPr lang="en-US" sz="2000" dirty="0">
                <a:latin typeface="Times New Roman" panose="02020603050405020304" pitchFamily="18" charset="0"/>
                <a:cs typeface="Times New Roman" panose="02020603050405020304" pitchFamily="18" charset="0"/>
              </a:rPr>
              <a:t>The system will be used by the Instructor/Teacher to distribute the homework assignments, review the students’ solutions, distribute suggested solution, and distribute student grades on each assignment. </a:t>
            </a:r>
          </a:p>
          <a:p>
            <a:pPr marL="114300" indent="0" algn="just">
              <a:buNone/>
            </a:pPr>
            <a:r>
              <a:rPr lang="en-US" sz="2000" dirty="0">
                <a:latin typeface="Times New Roman" panose="02020603050405020304" pitchFamily="18" charset="0"/>
                <a:cs typeface="Times New Roman" panose="02020603050405020304" pitchFamily="18" charset="0"/>
              </a:rPr>
              <a:t>This system will also help the students by automatically distributing the assignments to the students, provide a facility where the students can submit their solutions, remind the students when an assignment is almost due, remind the students when an assignment is overdue. </a:t>
            </a:r>
          </a:p>
        </p:txBody>
      </p:sp>
      <p:sp>
        <p:nvSpPr>
          <p:cNvPr id="12" name="Rectangle 2"/>
          <p:cNvSpPr txBox="1">
            <a:spLocks noChangeArrowheads="1"/>
          </p:cNvSpPr>
          <p:nvPr/>
        </p:nvSpPr>
        <p:spPr>
          <a:xfrm>
            <a:off x="1143000" y="1321396"/>
            <a:ext cx="7086600" cy="1215141"/>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pPr algn="ctr"/>
            <a:r>
              <a:rPr lang="en-US" sz="4400" b="1" dirty="0">
                <a:solidFill>
                  <a:srgbClr val="0070C0"/>
                </a:solidFill>
                <a:latin typeface="Times New Roman" panose="02020603050405020304" pitchFamily="18" charset="0"/>
                <a:cs typeface="Times New Roman" panose="02020603050405020304" pitchFamily="18" charset="0"/>
              </a:rPr>
              <a:t>   </a:t>
            </a:r>
            <a:r>
              <a:rPr lang="en-US" sz="2400" b="1" dirty="0">
                <a:solidFill>
                  <a:srgbClr val="0070C0"/>
                </a:solidFill>
                <a:latin typeface="Times New Roman" panose="02020603050405020304" pitchFamily="18" charset="0"/>
                <a:cs typeface="Times New Roman" panose="02020603050405020304" pitchFamily="18" charset="0"/>
              </a:rPr>
              <a:t>Home Assignment distribution and Collection System(HACS)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25</a:t>
            </a:fld>
            <a:endParaRPr lang="en-US"/>
          </a:p>
        </p:txBody>
      </p:sp>
      <p:cxnSp>
        <p:nvCxnSpPr>
          <p:cNvPr id="7" name="Straight Connector 6"/>
          <p:cNvCxnSpPr/>
          <p:nvPr/>
        </p:nvCxnSpPr>
        <p:spPr>
          <a:xfrm flipV="1">
            <a:off x="1998396" y="1193435"/>
            <a:ext cx="6409330" cy="62643"/>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2"/>
          <p:cNvSpPr txBox="1">
            <a:spLocks noChangeArrowheads="1"/>
          </p:cNvSpPr>
          <p:nvPr/>
        </p:nvSpPr>
        <p:spPr>
          <a:xfrm>
            <a:off x="1521388" y="-1"/>
            <a:ext cx="7010400" cy="1193435"/>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pPr algn="ctr"/>
            <a:r>
              <a:rPr lang="en-US" sz="4400" b="1" dirty="0">
                <a:solidFill>
                  <a:srgbClr val="0070C0"/>
                </a:solidFill>
                <a:latin typeface="Times New Roman" panose="02020603050405020304" pitchFamily="18" charset="0"/>
                <a:cs typeface="Times New Roman" panose="02020603050405020304" pitchFamily="18" charset="0"/>
              </a:rPr>
              <a:t>   </a:t>
            </a:r>
            <a:r>
              <a:rPr lang="en-US" sz="2400" b="1" dirty="0">
                <a:solidFill>
                  <a:srgbClr val="0070C0"/>
                </a:solidFill>
                <a:latin typeface="Times New Roman" panose="02020603050405020304" pitchFamily="18" charset="0"/>
                <a:cs typeface="Times New Roman" panose="02020603050405020304" pitchFamily="18" charset="0"/>
              </a:rPr>
              <a:t>Home Assignment distribution and Collection System</a:t>
            </a:r>
          </a:p>
          <a:p>
            <a:pPr algn="ctr"/>
            <a:r>
              <a:rPr lang="en-US" sz="2400" b="1" dirty="0">
                <a:solidFill>
                  <a:srgbClr val="0070C0"/>
                </a:solidFill>
                <a:latin typeface="Times New Roman" panose="02020603050405020304" pitchFamily="18" charset="0"/>
                <a:cs typeface="Times New Roman" panose="02020603050405020304" pitchFamily="18" charset="0"/>
              </a:rPr>
              <a:t>Use Case Diagram</a:t>
            </a:r>
          </a:p>
        </p:txBody>
      </p:sp>
      <p:pic>
        <p:nvPicPr>
          <p:cNvPr id="8" name="Picture 7"/>
          <p:cNvPicPr>
            <a:picLocks noChangeAspect="1"/>
          </p:cNvPicPr>
          <p:nvPr/>
        </p:nvPicPr>
        <p:blipFill>
          <a:blip r:embed="rId3"/>
          <a:stretch>
            <a:fillRect/>
          </a:stretch>
        </p:blipFill>
        <p:spPr>
          <a:xfrm>
            <a:off x="304799" y="1235075"/>
            <a:ext cx="8102927" cy="53181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26</a:t>
            </a:fld>
            <a:endParaRPr lang="en-US"/>
          </a:p>
        </p:txBody>
      </p:sp>
      <p:cxnSp>
        <p:nvCxnSpPr>
          <p:cNvPr id="7" name="Straight Connector 6"/>
          <p:cNvCxnSpPr/>
          <p:nvPr/>
        </p:nvCxnSpPr>
        <p:spPr>
          <a:xfrm>
            <a:off x="2895600" y="990600"/>
            <a:ext cx="50292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a:spLocks noGrp="1" noChangeArrowheads="1"/>
          </p:cNvSpPr>
          <p:nvPr>
            <p:ph type="title"/>
          </p:nvPr>
        </p:nvSpPr>
        <p:spPr>
          <a:xfrm>
            <a:off x="2514600" y="302419"/>
            <a:ext cx="5715000" cy="609600"/>
          </a:xfrm>
        </p:spPr>
        <p:txBody>
          <a:bodyPr/>
          <a:lstStyle/>
          <a:p>
            <a:pPr algn="ctr"/>
            <a:r>
              <a:rPr lang="en-US" sz="3200" b="1" dirty="0">
                <a:solidFill>
                  <a:srgbClr val="0070C0"/>
                </a:solidFill>
              </a:rPr>
              <a:t>HACS Use Cases  Description</a:t>
            </a:r>
          </a:p>
        </p:txBody>
      </p:sp>
      <p:sp>
        <p:nvSpPr>
          <p:cNvPr id="11" name="Rectangle 3"/>
          <p:cNvSpPr>
            <a:spLocks noChangeArrowheads="1"/>
          </p:cNvSpPr>
          <p:nvPr/>
        </p:nvSpPr>
        <p:spPr bwMode="auto">
          <a:xfrm>
            <a:off x="378388" y="1824038"/>
            <a:ext cx="8153400" cy="328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45" tIns="46023" rIns="92045" bIns="46023"/>
          <a:lstStyle/>
          <a:p>
            <a:r>
              <a:rPr lang="en-US" sz="2400" b="1" dirty="0">
                <a:latin typeface="Times New Roman" panose="02020603050405020304" pitchFamily="18" charset="0"/>
              </a:rPr>
              <a:t>Use case:</a:t>
            </a:r>
            <a:r>
              <a:rPr lang="en-US" sz="2400" dirty="0">
                <a:latin typeface="Times New Roman" panose="02020603050405020304" pitchFamily="18" charset="0"/>
              </a:rPr>
              <a:t>	</a:t>
            </a:r>
            <a:r>
              <a:rPr lang="en-US" sz="2400" b="1" dirty="0">
                <a:latin typeface="Times New Roman" panose="02020603050405020304" pitchFamily="18" charset="0"/>
              </a:rPr>
              <a:t>Distribute Assignments</a:t>
            </a:r>
            <a:endParaRPr lang="en-US" sz="2400" dirty="0">
              <a:latin typeface="Times New Roman" panose="02020603050405020304" pitchFamily="18" charset="0"/>
            </a:endParaRPr>
          </a:p>
          <a:p>
            <a:r>
              <a:rPr lang="en-US" sz="2400" b="1" dirty="0">
                <a:latin typeface="Times New Roman" panose="02020603050405020304" pitchFamily="18" charset="0"/>
              </a:rPr>
              <a:t>Actors:</a:t>
            </a:r>
            <a:r>
              <a:rPr lang="en-US" sz="2400" dirty="0">
                <a:latin typeface="Times New Roman" panose="02020603050405020304" pitchFamily="18" charset="0"/>
              </a:rPr>
              <a:t>	Instructor (initiator)</a:t>
            </a:r>
          </a:p>
          <a:p>
            <a:r>
              <a:rPr lang="en-US" sz="2400" b="1" dirty="0">
                <a:latin typeface="Times New Roman" panose="02020603050405020304" pitchFamily="18" charset="0"/>
              </a:rPr>
              <a:t>Type:</a:t>
            </a:r>
            <a:r>
              <a:rPr lang="en-US" sz="2400" dirty="0">
                <a:latin typeface="Times New Roman" panose="02020603050405020304" pitchFamily="18" charset="0"/>
              </a:rPr>
              <a:t> 		Primary and essential</a:t>
            </a:r>
          </a:p>
          <a:p>
            <a:r>
              <a:rPr lang="en-US" sz="2400" b="1" dirty="0">
                <a:latin typeface="Times New Roman" panose="02020603050405020304" pitchFamily="18" charset="0"/>
              </a:rPr>
              <a:t>Description:</a:t>
            </a:r>
            <a:r>
              <a:rPr lang="en-US" sz="2400" dirty="0">
                <a:latin typeface="Times New Roman" panose="02020603050405020304" pitchFamily="18" charset="0"/>
              </a:rPr>
              <a:t>	The Instructor completes an assignment and submits it to the system. The instructor will also submit the </a:t>
            </a:r>
          </a:p>
          <a:p>
            <a:r>
              <a:rPr lang="en-US" sz="2400" dirty="0">
                <a:latin typeface="Times New Roman" panose="02020603050405020304" pitchFamily="18" charset="0"/>
              </a:rPr>
              <a:t>due date and the class the assignment is assigned for. </a:t>
            </a:r>
          </a:p>
          <a:p>
            <a:endParaRPr lang="en-US" sz="2400" dirty="0">
              <a:latin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27</a:t>
            </a:fld>
            <a:endParaRPr lang="en-US"/>
          </a:p>
        </p:txBody>
      </p:sp>
      <p:pic>
        <p:nvPicPr>
          <p:cNvPr id="5122" name="Picture 2" descr="usecase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28600"/>
            <a:ext cx="6477000" cy="6467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28</a:t>
            </a:fld>
            <a:endParaRPr lang="en-US"/>
          </a:p>
        </p:txBody>
      </p:sp>
      <p:sp>
        <p:nvSpPr>
          <p:cNvPr id="2" name="Rectangle 1"/>
          <p:cNvSpPr/>
          <p:nvPr/>
        </p:nvSpPr>
        <p:spPr>
          <a:xfrm>
            <a:off x="457200" y="1295400"/>
            <a:ext cx="7620000" cy="5262979"/>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A user can request a quiz for the system. The system picks a set of questions from its database, and compose them together to make a quiz. It rates the user’s answers, and gives hints if the user requests it.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addition to users, we also have tutors who provide questions and hints. And also examinations who must certify questions to make sure they are not too trivial, and that they are sensual.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Make a use case diagram to model this system. Work out some of your use cases. Since we don’t have real stake holders here, you are free to fill in details you think is sensual for this example. </a:t>
            </a:r>
          </a:p>
        </p:txBody>
      </p:sp>
      <p:sp>
        <p:nvSpPr>
          <p:cNvPr id="4" name="Title 1"/>
          <p:cNvSpPr>
            <a:spLocks noGrp="1"/>
          </p:cNvSpPr>
          <p:nvPr>
            <p:ph type="title"/>
          </p:nvPr>
        </p:nvSpPr>
        <p:spPr>
          <a:xfrm>
            <a:off x="1981200" y="228600"/>
            <a:ext cx="5562600" cy="1143000"/>
          </a:xfrm>
        </p:spPr>
        <p:txBody>
          <a:bodyPr/>
          <a:lstStyle/>
          <a:p>
            <a:r>
              <a:rPr lang="en-US" sz="3200" b="1" u="sng" dirty="0"/>
              <a:t>Example: Use Case Scenario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29</a:t>
            </a:fld>
            <a:endParaRPr lang="en-US"/>
          </a:p>
        </p:txBody>
      </p:sp>
      <p:pic>
        <p:nvPicPr>
          <p:cNvPr id="3" name="Picture 2"/>
          <p:cNvPicPr>
            <a:picLocks noChangeAspect="1"/>
          </p:cNvPicPr>
          <p:nvPr/>
        </p:nvPicPr>
        <p:blipFill>
          <a:blip r:embed="rId2"/>
          <a:stretch>
            <a:fillRect/>
          </a:stretch>
        </p:blipFill>
        <p:spPr>
          <a:xfrm>
            <a:off x="133350" y="1752600"/>
            <a:ext cx="8248650" cy="3143250"/>
          </a:xfrm>
          <a:prstGeom prst="rect">
            <a:avLst/>
          </a:prstGeom>
        </p:spPr>
      </p:pic>
      <p:sp>
        <p:nvSpPr>
          <p:cNvPr id="4" name="Title 1"/>
          <p:cNvSpPr>
            <a:spLocks noGrp="1"/>
          </p:cNvSpPr>
          <p:nvPr>
            <p:ph type="title"/>
          </p:nvPr>
        </p:nvSpPr>
        <p:spPr>
          <a:xfrm>
            <a:off x="1981200" y="228600"/>
            <a:ext cx="5562600" cy="1143000"/>
          </a:xfrm>
        </p:spPr>
        <p:txBody>
          <a:bodyPr/>
          <a:lstStyle/>
          <a:p>
            <a:r>
              <a:rPr lang="en-US" sz="3200" b="1" u="sng" dirty="0"/>
              <a:t>Use Case Diagram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30</a:t>
            </a:fld>
            <a:endParaRPr lang="en-US"/>
          </a:p>
        </p:txBody>
      </p:sp>
      <p:pic>
        <p:nvPicPr>
          <p:cNvPr id="2" name="Picture 1"/>
          <p:cNvPicPr>
            <a:picLocks noChangeAspect="1"/>
          </p:cNvPicPr>
          <p:nvPr/>
        </p:nvPicPr>
        <p:blipFill>
          <a:blip r:embed="rId2"/>
          <a:stretch>
            <a:fillRect/>
          </a:stretch>
        </p:blipFill>
        <p:spPr>
          <a:xfrm>
            <a:off x="76200" y="1275080"/>
            <a:ext cx="8305800" cy="4572000"/>
          </a:xfrm>
          <a:prstGeom prst="rect">
            <a:avLst/>
          </a:prstGeom>
        </p:spPr>
      </p:pic>
      <p:sp>
        <p:nvSpPr>
          <p:cNvPr id="4" name="Title 1"/>
          <p:cNvSpPr>
            <a:spLocks noGrp="1"/>
          </p:cNvSpPr>
          <p:nvPr>
            <p:ph type="title"/>
          </p:nvPr>
        </p:nvSpPr>
        <p:spPr>
          <a:xfrm>
            <a:off x="1981200" y="228600"/>
            <a:ext cx="5562600" cy="1143000"/>
          </a:xfrm>
        </p:spPr>
        <p:txBody>
          <a:bodyPr/>
          <a:lstStyle/>
          <a:p>
            <a:r>
              <a:rPr lang="en-US" sz="3200" b="1" u="sng" dirty="0"/>
              <a:t>Use Case Description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t>31</a:t>
            </a:fld>
            <a:endParaRPr lang="en-US"/>
          </a:p>
        </p:txBody>
      </p:sp>
      <p:sp>
        <p:nvSpPr>
          <p:cNvPr id="7" name="Rectangle 6"/>
          <p:cNvSpPr/>
          <p:nvPr/>
        </p:nvSpPr>
        <p:spPr>
          <a:xfrm>
            <a:off x="228601" y="1295400"/>
            <a:ext cx="7924800" cy="3847207"/>
          </a:xfrm>
          <a:prstGeom prst="rect">
            <a:avLst/>
          </a:prstGeom>
        </p:spPr>
        <p:txBody>
          <a:bodyPr wrap="square">
            <a:spAutoFit/>
          </a:bodyPr>
          <a:lstStyle/>
          <a:p>
            <a:pPr marL="571500" indent="-571500">
              <a:buFont typeface="Wingdings" panose="05000000000000000000" pitchFamily="2" charset="2"/>
              <a:buChar char="q"/>
            </a:pPr>
            <a:endParaRPr lang="en-US" sz="3600" b="1"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q"/>
            </a:pPr>
            <a:r>
              <a:rPr lang="en-US" sz="4800" b="1" dirty="0">
                <a:latin typeface="Times New Roman" panose="02020603050405020304" pitchFamily="18" charset="0"/>
                <a:cs typeface="Times New Roman" panose="02020603050405020304" pitchFamily="18" charset="0"/>
              </a:rPr>
              <a:t>References: </a:t>
            </a:r>
          </a:p>
          <a:p>
            <a:pPr marL="1028700" lvl="1" indent="-571500">
              <a:buFont typeface="+mj-lt"/>
              <a:buAutoNum type="arabicPeriod"/>
            </a:pPr>
            <a:r>
              <a:rPr lang="en-US" sz="2000" b="1" dirty="0">
                <a:latin typeface="Times New Roman" panose="02020603050405020304" pitchFamily="18" charset="0"/>
                <a:cs typeface="Times New Roman" panose="02020603050405020304" pitchFamily="18" charset="0"/>
              </a:rPr>
              <a:t>Software Engineering A practitioner’s Approach  </a:t>
            </a:r>
            <a:r>
              <a:rPr lang="en-US" sz="2000" dirty="0">
                <a:latin typeface="Times New Roman" panose="02020603050405020304" pitchFamily="18" charset="0"/>
                <a:cs typeface="Times New Roman" panose="02020603050405020304" pitchFamily="18" charset="0"/>
              </a:rPr>
              <a:t>by Roger S. Pressman, 7th edition, McGraw Hill, 2010.</a:t>
            </a:r>
          </a:p>
          <a:p>
            <a:pPr marL="1028700" lvl="1" indent="-571500">
              <a:buFont typeface="+mj-lt"/>
              <a:buAutoNum type="arabicPeriod"/>
            </a:pPr>
            <a:r>
              <a:rPr lang="en-US" sz="2000" b="1" dirty="0">
                <a:latin typeface="Times New Roman" panose="02020603050405020304" pitchFamily="18" charset="0"/>
                <a:cs typeface="Times New Roman" panose="02020603050405020304" pitchFamily="18" charset="0"/>
              </a:rPr>
              <a:t>Software Engineering by Ian </a:t>
            </a:r>
            <a:r>
              <a:rPr lang="en-US" sz="2000" b="1" dirty="0" err="1">
                <a:latin typeface="Times New Roman" panose="02020603050405020304" pitchFamily="18" charset="0"/>
                <a:cs typeface="Times New Roman" panose="02020603050405020304" pitchFamily="18" charset="0"/>
              </a:rPr>
              <a:t>Sommerville</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9th edition,  Addison-Wesley, 2011</a:t>
            </a:r>
          </a:p>
          <a:p>
            <a:pPr marL="1028700" lvl="1" indent="-571500">
              <a:buFont typeface="+mj-lt"/>
              <a:buAutoNum type="arabicPeriod"/>
            </a:pPr>
            <a:r>
              <a:rPr lang="en-US" sz="2000" b="1" cap="all" dirty="0">
                <a:latin typeface="Times New Roman" panose="02020603050405020304" pitchFamily="18" charset="0"/>
                <a:cs typeface="Times New Roman" panose="02020603050405020304" pitchFamily="18" charset="0"/>
              </a:rPr>
              <a:t>FUNCTIONAL VS NON-FUNCTIONAL REQUIREMENTS: MAIN DIFFERENCES &amp; EXAMPLES</a:t>
            </a:r>
          </a:p>
          <a:p>
            <a:pPr lvl="2"/>
            <a:r>
              <a:rPr lang="en-US" sz="2000" dirty="0">
                <a:latin typeface="Times New Roman" panose="02020603050405020304" pitchFamily="18" charset="0"/>
                <a:cs typeface="Times New Roman" panose="02020603050405020304" pitchFamily="18" charset="0"/>
                <a:hlinkClick r:id="rId2"/>
              </a:rPr>
              <a:t>https://theappsolutions.com/blog/development/functional-vs-non-functional-requirements/</a:t>
            </a:r>
            <a:endParaRPr lang="en-US" altLang="en-US" sz="2000" dirty="0">
              <a:latin typeface="Times New Roman" panose="02020603050405020304" pitchFamily="18" charset="0"/>
              <a:cs typeface="Times New Roman" panose="02020603050405020304" pitchFamily="18" charset="0"/>
            </a:endParaRPr>
          </a:p>
        </p:txBody>
      </p:sp>
      <p:pic>
        <p:nvPicPr>
          <p:cNvPr id="8" name="Picture 2" descr="Image result for what is software process models in software engine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828800" cy="1456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17</TotalTime>
  <Words>1542</Words>
  <Application>Microsoft Office PowerPoint</Application>
  <PresentationFormat>On-screen Show (4:3)</PresentationFormat>
  <Paragraphs>201</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Cambria</vt:lpstr>
      <vt:lpstr>Times New Roman</vt:lpstr>
      <vt:lpstr>Wingdings</vt:lpstr>
      <vt:lpstr>Adjacency</vt:lpstr>
      <vt:lpstr> Week-4-Lesson-1 Understanding Requirements, Use Case and Use case Description</vt:lpstr>
      <vt:lpstr>Topics Covered</vt:lpstr>
      <vt:lpstr>Requirements Engineering</vt:lpstr>
      <vt:lpstr>Requirements Engineering</vt:lpstr>
      <vt:lpstr>Requirements Engineering</vt:lpstr>
      <vt:lpstr>Classification of Requirements</vt:lpstr>
      <vt:lpstr>Classification of requirements</vt:lpstr>
      <vt:lpstr>Functional Requirements</vt:lpstr>
      <vt:lpstr>Example of Functional Requirements</vt:lpstr>
      <vt:lpstr>Non-Functional Requirements</vt:lpstr>
      <vt:lpstr>Example of Non-Functional Requirements</vt:lpstr>
      <vt:lpstr>Elements of the analysis model</vt:lpstr>
      <vt:lpstr>PowerPoint Presentation</vt:lpstr>
      <vt:lpstr>Use-Cases</vt:lpstr>
      <vt:lpstr>Use-Cases Elements</vt:lpstr>
      <vt:lpstr>Use-Cases Elements</vt:lpstr>
      <vt:lpstr>Use Cases  Elements</vt:lpstr>
      <vt:lpstr>Use-Cases Generalization</vt:lpstr>
      <vt:lpstr>Use-Cases Diagram</vt:lpstr>
      <vt:lpstr>   Home Heating System</vt:lpstr>
      <vt:lpstr>   Home Heating System</vt:lpstr>
      <vt:lpstr>   Home Heating System</vt:lpstr>
      <vt:lpstr>   Home Heating System</vt:lpstr>
      <vt:lpstr>   Use Case Scenario</vt:lpstr>
      <vt:lpstr>PowerPoint Presentation</vt:lpstr>
      <vt:lpstr>HACS Use Cases  Description</vt:lpstr>
      <vt:lpstr>PowerPoint Presentation</vt:lpstr>
      <vt:lpstr>Example: Use Case Scenario </vt:lpstr>
      <vt:lpstr>Use Case Diagram</vt:lpstr>
      <vt:lpstr>Use Case Description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ismail - [2010]</dc:creator>
  <cp:lastModifiedBy>Md. Ehasan Mahmud</cp:lastModifiedBy>
  <cp:revision>398</cp:revision>
  <dcterms:created xsi:type="dcterms:W3CDTF">2015-09-29T04:01:00Z</dcterms:created>
  <dcterms:modified xsi:type="dcterms:W3CDTF">2026-05-01T16:23:58Z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34811C95BBC24B9FA00DDA3039023692_12</vt:lpwstr>
  </property>
  <property fmtid="{D5CDD505-2E9C-101B-9397-08002B2CF9AE}" pid="3" name="KSOProductBuildVer">
    <vt:lpwstr>1033-12.2.0.23196</vt:lpwstr>
  </property>
</Properties>
</file>