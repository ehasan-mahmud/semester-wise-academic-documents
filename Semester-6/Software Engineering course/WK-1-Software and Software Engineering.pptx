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0"/>
  </p:notesMasterIdLst>
  <p:handoutMasterIdLst>
    <p:handoutMasterId r:id="rId31"/>
  </p:handoutMasterIdLst>
  <p:sldIdLst>
    <p:sldId id="256" r:id="rId2"/>
    <p:sldId id="258" r:id="rId3"/>
    <p:sldId id="337" r:id="rId4"/>
    <p:sldId id="317" r:id="rId5"/>
    <p:sldId id="338" r:id="rId6"/>
    <p:sldId id="339" r:id="rId7"/>
    <p:sldId id="318" r:id="rId8"/>
    <p:sldId id="319" r:id="rId9"/>
    <p:sldId id="320" r:id="rId10"/>
    <p:sldId id="321" r:id="rId11"/>
    <p:sldId id="336" r:id="rId12"/>
    <p:sldId id="322" r:id="rId13"/>
    <p:sldId id="323" r:id="rId14"/>
    <p:sldId id="347" r:id="rId15"/>
    <p:sldId id="325" r:id="rId16"/>
    <p:sldId id="340" r:id="rId17"/>
    <p:sldId id="341" r:id="rId18"/>
    <p:sldId id="342" r:id="rId19"/>
    <p:sldId id="343" r:id="rId20"/>
    <p:sldId id="344" r:id="rId21"/>
    <p:sldId id="345" r:id="rId22"/>
    <p:sldId id="346" r:id="rId23"/>
    <p:sldId id="326" r:id="rId24"/>
    <p:sldId id="327" r:id="rId25"/>
    <p:sldId id="331" r:id="rId26"/>
    <p:sldId id="332" r:id="rId27"/>
    <p:sldId id="333" r:id="rId28"/>
    <p:sldId id="316"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38" autoAdjust="0"/>
    <p:restoredTop sz="94660"/>
  </p:normalViewPr>
  <p:slideViewPr>
    <p:cSldViewPr showGuides="1">
      <p:cViewPr varScale="1">
        <p:scale>
          <a:sx n="84" d="100"/>
          <a:sy n="84" d="100"/>
        </p:scale>
        <p:origin x="162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557C6AD-D7F3-4C45-AAB3-98A8CD2DC805}" type="datetimeFigureOut">
              <a:rPr lang="en-US" smtClean="0"/>
              <a:t>01-May-26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843715E-BEE7-40C6-8B64-D49BBD866DC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E57FD8-B2C0-40E3-8160-7AB247498F15}" type="datetimeFigureOut">
              <a:rPr lang="en-US" smtClean="0"/>
              <a:t>01-May-26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4677A0-9018-45F6-ADAB-B7DB527ED19F}" type="slidenum">
              <a:rPr lang="en-US" smtClean="0"/>
              <a:t>‹#›</a:t>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10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15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16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17</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18</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19</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20</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21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22</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23</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24</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25</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26</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p:txBody>
          <a:bodyPr/>
          <a:lstStyle/>
          <a:p>
            <a:fld id="{0E4677A0-9018-45F6-ADAB-B7DB527ED19F}" type="slidenum">
              <a:rPr lang="en-US" smtClean="0"/>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594FDF-009B-4881-82DB-F675317613FE}" type="datetime1">
              <a:rPr lang="en-US" smtClean="0"/>
              <a:t>01-May-26</a:t>
            </a:fld>
            <a:endParaRPr lang="en-US"/>
          </a:p>
        </p:txBody>
      </p:sp>
      <p:sp>
        <p:nvSpPr>
          <p:cNvPr id="5" name="Footer Placeholder 4"/>
          <p:cNvSpPr>
            <a:spLocks noGrp="1"/>
          </p:cNvSpPr>
          <p:nvPr>
            <p:ph type="ftr" sz="quarter" idx="11"/>
          </p:nvPr>
        </p:nvSpPr>
        <p:spPr/>
        <p:txBody>
          <a:bodyPr/>
          <a:lstStyle/>
          <a:p>
            <a:r>
              <a:rPr lang="en-US"/>
              <a:t>Abdus Sattar, sattar@britannia.ac</a:t>
            </a:r>
          </a:p>
        </p:txBody>
      </p:sp>
      <p:sp>
        <p:nvSpPr>
          <p:cNvPr id="6" name="Slide Number Placeholder 5"/>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280FE8-CA90-492D-B780-3E28240EFA8E}" type="datetime1">
              <a:rPr lang="en-US" smtClean="0"/>
              <a:t>01-May-26</a:t>
            </a:fld>
            <a:endParaRPr lang="en-US"/>
          </a:p>
        </p:txBody>
      </p:sp>
      <p:sp>
        <p:nvSpPr>
          <p:cNvPr id="5" name="Footer Placeholder 4"/>
          <p:cNvSpPr>
            <a:spLocks noGrp="1"/>
          </p:cNvSpPr>
          <p:nvPr>
            <p:ph type="ftr" sz="quarter" idx="11"/>
          </p:nvPr>
        </p:nvSpPr>
        <p:spPr/>
        <p:txBody>
          <a:bodyPr/>
          <a:lstStyle/>
          <a:p>
            <a:r>
              <a:rPr lang="en-US"/>
              <a:t>Abdus Sattar, sattar@britannia.ac</a:t>
            </a:r>
          </a:p>
        </p:txBody>
      </p:sp>
      <p:sp>
        <p:nvSpPr>
          <p:cNvPr id="6" name="Slide Number Placeholder 5"/>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7B157A-C3EF-4DB1-9C6A-041B7A9E2DB1}" type="datetime1">
              <a:rPr lang="en-US" smtClean="0"/>
              <a:t>01-May-26</a:t>
            </a:fld>
            <a:endParaRPr lang="en-US"/>
          </a:p>
        </p:txBody>
      </p:sp>
      <p:sp>
        <p:nvSpPr>
          <p:cNvPr id="5" name="Footer Placeholder 4"/>
          <p:cNvSpPr>
            <a:spLocks noGrp="1"/>
          </p:cNvSpPr>
          <p:nvPr>
            <p:ph type="ftr" sz="quarter" idx="11"/>
          </p:nvPr>
        </p:nvSpPr>
        <p:spPr/>
        <p:txBody>
          <a:bodyPr/>
          <a:lstStyle/>
          <a:p>
            <a:r>
              <a:rPr lang="en-US"/>
              <a:t>Abdus Sattar, sattar@britannia.ac</a:t>
            </a:r>
          </a:p>
        </p:txBody>
      </p:sp>
      <p:sp>
        <p:nvSpPr>
          <p:cNvPr id="6" name="Slide Number Placeholder 5"/>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31049E-90EC-4E3F-8AEB-8BF5CE327C87}" type="datetime1">
              <a:rPr lang="en-US" smtClean="0"/>
              <a:t>01-May-26</a:t>
            </a:fld>
            <a:endParaRPr lang="en-US"/>
          </a:p>
        </p:txBody>
      </p:sp>
      <p:sp>
        <p:nvSpPr>
          <p:cNvPr id="6" name="Footer Placeholder 5"/>
          <p:cNvSpPr>
            <a:spLocks noGrp="1"/>
          </p:cNvSpPr>
          <p:nvPr>
            <p:ph type="ftr" sz="quarter" idx="11"/>
          </p:nvPr>
        </p:nvSpPr>
        <p:spPr/>
        <p:txBody>
          <a:bodyPr/>
          <a:lstStyle/>
          <a:p>
            <a:r>
              <a:rPr lang="en-US"/>
              <a:t>Abdus Sattar, sattar@britannia.ac</a:t>
            </a:r>
          </a:p>
        </p:txBody>
      </p:sp>
      <p:sp>
        <p:nvSpPr>
          <p:cNvPr id="7" name="Slide Number Placeholder 6"/>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BD82AD-51FE-412E-AB14-34EFEC431308}" type="datetime1">
              <a:rPr lang="en-US" smtClean="0"/>
              <a:t>01-May-26</a:t>
            </a:fld>
            <a:endParaRPr lang="en-US"/>
          </a:p>
        </p:txBody>
      </p:sp>
      <p:sp>
        <p:nvSpPr>
          <p:cNvPr id="8" name="Footer Placeholder 7"/>
          <p:cNvSpPr>
            <a:spLocks noGrp="1"/>
          </p:cNvSpPr>
          <p:nvPr>
            <p:ph type="ftr" sz="quarter" idx="11"/>
          </p:nvPr>
        </p:nvSpPr>
        <p:spPr/>
        <p:txBody>
          <a:bodyPr/>
          <a:lstStyle/>
          <a:p>
            <a:r>
              <a:rPr lang="en-US"/>
              <a:t>Abdus Sattar, sattar@britannia.ac</a:t>
            </a:r>
          </a:p>
        </p:txBody>
      </p:sp>
      <p:sp>
        <p:nvSpPr>
          <p:cNvPr id="9" name="Slide Number Placeholder 8"/>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70C38F-F3C8-4C86-BA69-F26699FD64E2}" type="datetime1">
              <a:rPr lang="en-US" smtClean="0"/>
              <a:t>01-May-26</a:t>
            </a:fld>
            <a:endParaRPr lang="en-US"/>
          </a:p>
        </p:txBody>
      </p:sp>
      <p:sp>
        <p:nvSpPr>
          <p:cNvPr id="4" name="Footer Placeholder 3"/>
          <p:cNvSpPr>
            <a:spLocks noGrp="1"/>
          </p:cNvSpPr>
          <p:nvPr>
            <p:ph type="ftr" sz="quarter" idx="11"/>
          </p:nvPr>
        </p:nvSpPr>
        <p:spPr/>
        <p:txBody>
          <a:bodyPr/>
          <a:lstStyle/>
          <a:p>
            <a:r>
              <a:rPr lang="en-US"/>
              <a:t>Abdus Sattar, sattar@britannia.ac</a:t>
            </a:r>
          </a:p>
        </p:txBody>
      </p:sp>
      <p:sp>
        <p:nvSpPr>
          <p:cNvPr id="5" name="Slide Number Placeholder 4"/>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1EA2F8-AC8B-44BC-B895-A4D81833CC22}" type="datetime1">
              <a:rPr lang="en-US" smtClean="0"/>
              <a:t>01-May-26</a:t>
            </a:fld>
            <a:endParaRPr lang="en-US"/>
          </a:p>
        </p:txBody>
      </p:sp>
      <p:sp>
        <p:nvSpPr>
          <p:cNvPr id="3" name="Footer Placeholder 2"/>
          <p:cNvSpPr>
            <a:spLocks noGrp="1"/>
          </p:cNvSpPr>
          <p:nvPr>
            <p:ph type="ftr" sz="quarter" idx="11"/>
          </p:nvPr>
        </p:nvSpPr>
        <p:spPr/>
        <p:txBody>
          <a:bodyPr/>
          <a:lstStyle/>
          <a:p>
            <a:r>
              <a:rPr lang="en-US"/>
              <a:t>Abdus Sattar, sattar@britannia.ac</a:t>
            </a:r>
          </a:p>
        </p:txBody>
      </p:sp>
      <p:sp>
        <p:nvSpPr>
          <p:cNvPr id="4" name="Slide Number Placeholder 3"/>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13EC6D-C4AA-4C5E-8B2B-494E35EDA511}" type="datetime1">
              <a:rPr lang="en-US" smtClean="0"/>
              <a:t>01-May-26</a:t>
            </a:fld>
            <a:endParaRPr lang="en-US"/>
          </a:p>
        </p:txBody>
      </p:sp>
      <p:sp>
        <p:nvSpPr>
          <p:cNvPr id="6" name="Footer Placeholder 5"/>
          <p:cNvSpPr>
            <a:spLocks noGrp="1"/>
          </p:cNvSpPr>
          <p:nvPr>
            <p:ph type="ftr" sz="quarter" idx="11"/>
          </p:nvPr>
        </p:nvSpPr>
        <p:spPr/>
        <p:txBody>
          <a:bodyPr/>
          <a:lstStyle/>
          <a:p>
            <a:r>
              <a:rPr lang="en-US"/>
              <a:t>Abdus Sattar, sattar@britannia.ac</a:t>
            </a:r>
          </a:p>
        </p:txBody>
      </p:sp>
      <p:sp>
        <p:nvSpPr>
          <p:cNvPr id="7" name="Slide Number Placeholder 6"/>
          <p:cNvSpPr>
            <a:spLocks noGrp="1"/>
          </p:cNvSpPr>
          <p:nvPr>
            <p:ph type="sldNum" sz="quarter" idx="12"/>
          </p:nvPr>
        </p:nvSpPr>
        <p:spPr/>
        <p:txBody>
          <a:bodyPr/>
          <a:lstStyle/>
          <a:p>
            <a:fld id="{195567C4-C875-4EA2-906F-45EEB91D3DE0}"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AD85EF7D-8C11-4940-86F3-62340C232535}" type="datetime1">
              <a:rPr lang="en-US" smtClean="0"/>
              <a:t>01-May-26</a:t>
            </a:fld>
            <a:endParaRPr lang="en-US"/>
          </a:p>
        </p:txBody>
      </p:sp>
      <p:sp>
        <p:nvSpPr>
          <p:cNvPr id="9" name="Slide Number Placeholder 8"/>
          <p:cNvSpPr>
            <a:spLocks noGrp="1"/>
          </p:cNvSpPr>
          <p:nvPr>
            <p:ph type="sldNum" sz="quarter" idx="11"/>
          </p:nvPr>
        </p:nvSpPr>
        <p:spPr/>
        <p:txBody>
          <a:bodyPr/>
          <a:lstStyle/>
          <a:p>
            <a:fld id="{195567C4-C875-4EA2-906F-45EEB91D3DE0}" type="slidenum">
              <a:rPr lang="en-US" smtClean="0"/>
              <a:t>‹#›</a:t>
            </a:fld>
            <a:endParaRPr lang="en-US"/>
          </a:p>
        </p:txBody>
      </p:sp>
      <p:sp>
        <p:nvSpPr>
          <p:cNvPr id="10" name="Footer Placeholder 9"/>
          <p:cNvSpPr>
            <a:spLocks noGrp="1"/>
          </p:cNvSpPr>
          <p:nvPr>
            <p:ph type="ftr" sz="quarter" idx="12"/>
          </p:nvPr>
        </p:nvSpPr>
        <p:spPr/>
        <p:txBody>
          <a:bodyPr/>
          <a:lstStyle/>
          <a:p>
            <a:r>
              <a:rPr lang="en-US"/>
              <a:t>Abdus Sattar, sattar@britannia.ac</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992C73-491E-4EE5-8C12-6C09ADCB5C5F}" type="datetime1">
              <a:rPr lang="en-US" smtClean="0"/>
              <a:t>01-May-26</a:t>
            </a:fld>
            <a:endParaRPr lang="en-US"/>
          </a:p>
        </p:txBody>
      </p:sp>
      <p:sp>
        <p:nvSpPr>
          <p:cNvPr id="5" name="Footer Placeholder 4"/>
          <p:cNvSpPr>
            <a:spLocks noGrp="1"/>
          </p:cNvSpPr>
          <p:nvPr>
            <p:ph type="ftr" sz="quarter" idx="11"/>
          </p:nvPr>
        </p:nvSpPr>
        <p:spPr/>
        <p:txBody>
          <a:bodyPr/>
          <a:lstStyle/>
          <a:p>
            <a:r>
              <a:rPr lang="en-US"/>
              <a:t>Abdus Sattar, sattar@britannia.ac</a:t>
            </a:r>
          </a:p>
        </p:txBody>
      </p:sp>
      <p:sp>
        <p:nvSpPr>
          <p:cNvPr id="6" name="Slide Number Placeholder 5"/>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1273E1-A56D-4535-AFE5-A01BA6ABAB6B}" type="datetime1">
              <a:rPr lang="en-US" smtClean="0"/>
              <a:t>01-May-26</a:t>
            </a:fld>
            <a:endParaRPr lang="en-US"/>
          </a:p>
        </p:txBody>
      </p:sp>
      <p:sp>
        <p:nvSpPr>
          <p:cNvPr id="5" name="Footer Placeholder 4"/>
          <p:cNvSpPr>
            <a:spLocks noGrp="1"/>
          </p:cNvSpPr>
          <p:nvPr>
            <p:ph type="ftr" sz="quarter" idx="11"/>
          </p:nvPr>
        </p:nvSpPr>
        <p:spPr/>
        <p:txBody>
          <a:bodyPr/>
          <a:lstStyle/>
          <a:p>
            <a:r>
              <a:rPr lang="en-US"/>
              <a:t>Abdus Sattar, sattar@britannia.ac</a:t>
            </a:r>
          </a:p>
        </p:txBody>
      </p:sp>
      <p:sp>
        <p:nvSpPr>
          <p:cNvPr id="6" name="Slide Number Placeholder 5"/>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195567C4-C875-4EA2-906F-45EEB91D3DE0}"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r>
              <a:rPr lang="en-US"/>
              <a:t>Abdus Sattar, sattar@britannia.ac</a:t>
            </a:r>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D92A865-244F-478E-A21A-A559CC17548A}" type="datetime1">
              <a:rPr lang="en-US" smtClean="0"/>
              <a:t>01-May-26</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abdus.cse@diu.edu.bd"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99" y="2271354"/>
            <a:ext cx="7543800" cy="1186212"/>
          </a:xfrm>
        </p:spPr>
        <p:txBody>
          <a:bodyPr/>
          <a:lstStyle/>
          <a:p>
            <a:pPr algn="ctr"/>
            <a:r>
              <a:rPr lang="en-US" sz="4000" b="1" dirty="0">
                <a:solidFill>
                  <a:srgbClr val="002060"/>
                </a:solidFill>
                <a:latin typeface="Times New Roman" panose="02020603050405020304" pitchFamily="18" charset="0"/>
                <a:cs typeface="Times New Roman" panose="02020603050405020304" pitchFamily="18" charset="0"/>
              </a:rPr>
              <a:t>Week-1: Lesson-1</a:t>
            </a:r>
            <a:br>
              <a:rPr lang="en-US" sz="4000" b="1" dirty="0">
                <a:solidFill>
                  <a:srgbClr val="002060"/>
                </a:solidFill>
                <a:latin typeface="Times New Roman" panose="02020603050405020304" pitchFamily="18" charset="0"/>
                <a:cs typeface="Times New Roman" panose="02020603050405020304" pitchFamily="18" charset="0"/>
              </a:rPr>
            </a:br>
            <a:r>
              <a:rPr lang="en-US" sz="4000" b="1" dirty="0">
                <a:solidFill>
                  <a:srgbClr val="002060"/>
                </a:solidFill>
                <a:latin typeface="Times New Roman" panose="02020603050405020304" pitchFamily="18" charset="0"/>
                <a:cs typeface="Times New Roman" panose="02020603050405020304" pitchFamily="18" charset="0"/>
              </a:rPr>
              <a:t>Software and Software Engineering</a:t>
            </a:r>
          </a:p>
        </p:txBody>
      </p:sp>
      <p:cxnSp>
        <p:nvCxnSpPr>
          <p:cNvPr id="6" name="Straight Connector 5"/>
          <p:cNvCxnSpPr/>
          <p:nvPr/>
        </p:nvCxnSpPr>
        <p:spPr>
          <a:xfrm>
            <a:off x="647699" y="3468582"/>
            <a:ext cx="7467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1026" name="Picture 2" descr="https://kuliahso.files.wordpress.com/2012/03/software-layer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8736" y="146121"/>
            <a:ext cx="3969327" cy="18679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7620000" cy="4572000"/>
          </a:xfrm>
        </p:spPr>
        <p:txBody>
          <a:bodyPr>
            <a:normAutofit lnSpcReduction="10000"/>
          </a:bodyPr>
          <a:lstStyle/>
          <a:p>
            <a:pPr lvl="2" algn="just">
              <a:spcBef>
                <a:spcPct val="500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Appreciate Software Engineering</a:t>
            </a:r>
          </a:p>
          <a:p>
            <a:pPr lvl="2" algn="just">
              <a:spcBef>
                <a:spcPct val="500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Nature of Software Engineering</a:t>
            </a:r>
          </a:p>
          <a:p>
            <a:pPr lvl="2" algn="just">
              <a:spcBef>
                <a:spcPct val="500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Software Applications</a:t>
            </a:r>
          </a:p>
          <a:p>
            <a:pPr lvl="2" algn="just">
              <a:spcBef>
                <a:spcPct val="500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Legacy of Software Engineering</a:t>
            </a:r>
          </a:p>
          <a:p>
            <a:pPr lvl="2" algn="just">
              <a:spcBef>
                <a:spcPct val="500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Software Quality</a:t>
            </a:r>
          </a:p>
          <a:p>
            <a:pPr lvl="2" algn="just">
              <a:spcBef>
                <a:spcPct val="500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Software Quality and Stakeholders</a:t>
            </a:r>
          </a:p>
          <a:p>
            <a:pPr lvl="2" algn="just">
              <a:spcBef>
                <a:spcPct val="500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 Layered Technology</a:t>
            </a:r>
          </a:p>
          <a:p>
            <a:pPr lvl="2" algn="just">
              <a:spcBef>
                <a:spcPct val="500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Software Process</a:t>
            </a:r>
          </a:p>
          <a:p>
            <a:pPr lvl="2" algn="just">
              <a:spcBef>
                <a:spcPct val="500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Software Myths</a:t>
            </a:r>
          </a:p>
          <a:p>
            <a:pPr algn="just">
              <a:spcBef>
                <a:spcPct val="50000"/>
              </a:spcBef>
              <a:buFont typeface="Wingdings" panose="05000000000000000000" pitchFamily="2" charset="2"/>
              <a:buChar char="q"/>
            </a:pPr>
            <a:endParaRPr lang="en-US" sz="2800" i="1" dirty="0">
              <a:latin typeface="Times New Roman" panose="02020603050405020304" pitchFamily="18" charset="0"/>
              <a:cs typeface="Times New Roman" panose="02020603050405020304" pitchFamily="18" charset="0"/>
            </a:endParaRPr>
          </a:p>
          <a:p>
            <a:pPr algn="just">
              <a:spcBef>
                <a:spcPct val="50000"/>
              </a:spcBef>
              <a:buFont typeface="Wingdings" panose="05000000000000000000" pitchFamily="2" charset="2"/>
              <a:buChar char="q"/>
            </a:pPr>
            <a:endParaRPr lang="en-US" sz="2800" i="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2</a:t>
            </a:fld>
            <a:endParaRPr lang="en-US"/>
          </a:p>
        </p:txBody>
      </p:sp>
      <p:cxnSp>
        <p:nvCxnSpPr>
          <p:cNvPr id="7" name="Straight Connector 6"/>
          <p:cNvCxnSpPr/>
          <p:nvPr/>
        </p:nvCxnSpPr>
        <p:spPr>
          <a:xfrm>
            <a:off x="1828800" y="1371600"/>
            <a:ext cx="6570198"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52400"/>
            <a:ext cx="1457325" cy="6858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438400" y="435115"/>
            <a:ext cx="5410200" cy="707886"/>
          </a:xfrm>
          <a:prstGeom prst="rect">
            <a:avLst/>
          </a:prstGeom>
        </p:spPr>
        <p:txBody>
          <a:bodyPr wrap="square">
            <a:spAutoFit/>
          </a:bodyPr>
          <a:lstStyle/>
          <a:p>
            <a:pPr algn="just">
              <a:spcBef>
                <a:spcPct val="50000"/>
              </a:spcBef>
            </a:pPr>
            <a:r>
              <a:rPr lang="en-US" sz="4000" b="1" dirty="0">
                <a:solidFill>
                  <a:srgbClr val="0070C0"/>
                </a:solidFill>
                <a:latin typeface="Times New Roman" panose="02020603050405020304" pitchFamily="18" charset="0"/>
                <a:cs typeface="Times New Roman" panose="02020603050405020304" pitchFamily="18" charset="0"/>
              </a:rPr>
              <a:t>Discussion Topics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4000" b="1" dirty="0"/>
              <a:t>What is Software?</a:t>
            </a:r>
            <a:endParaRPr lang="en-US" sz="4000" b="1" dirty="0">
              <a:solidFill>
                <a:srgbClr val="002060"/>
              </a:solidFill>
            </a:endParaRPr>
          </a:p>
        </p:txBody>
      </p:sp>
      <p:sp>
        <p:nvSpPr>
          <p:cNvPr id="3" name="Content Placeholder 2"/>
          <p:cNvSpPr>
            <a:spLocks noGrp="1"/>
          </p:cNvSpPr>
          <p:nvPr>
            <p:ph idx="1"/>
          </p:nvPr>
        </p:nvSpPr>
        <p:spPr>
          <a:xfrm>
            <a:off x="457200" y="1600200"/>
            <a:ext cx="7620000" cy="3733800"/>
          </a:xfrm>
        </p:spPr>
        <p:txBody>
          <a:bodyPr>
            <a:normAutofit/>
          </a:bodyPr>
          <a:lstStyle/>
          <a:p>
            <a:pPr algn="just">
              <a:spcBef>
                <a:spcPct val="50000"/>
              </a:spcBef>
              <a:buFont typeface="Wingdings" panose="05000000000000000000" pitchFamily="2" charset="2"/>
              <a:buChar char="q"/>
            </a:pPr>
            <a:r>
              <a:rPr lang="en-US" sz="2800" i="1" dirty="0">
                <a:latin typeface="Times New Roman" panose="02020603050405020304" pitchFamily="18" charset="0"/>
                <a:cs typeface="Times New Roman" panose="02020603050405020304" pitchFamily="18" charset="0"/>
              </a:rPr>
              <a:t>Software is: </a:t>
            </a:r>
          </a:p>
          <a:p>
            <a:pPr lvl="2" algn="just">
              <a:spcBef>
                <a:spcPct val="50000"/>
              </a:spcBef>
              <a:buFont typeface="Wingdings" panose="05000000000000000000" pitchFamily="2" charset="2"/>
              <a:buChar char="§"/>
            </a:pPr>
            <a:r>
              <a:rPr lang="en-US" sz="2400" i="1" dirty="0">
                <a:solidFill>
                  <a:schemeClr val="folHlink"/>
                </a:solidFill>
                <a:latin typeface="Times New Roman" panose="02020603050405020304" pitchFamily="18" charset="0"/>
                <a:cs typeface="Times New Roman" panose="02020603050405020304" pitchFamily="18" charset="0"/>
              </a:rPr>
              <a:t>Instructions</a:t>
            </a:r>
            <a:r>
              <a:rPr lang="en-US" sz="2400" i="1" dirty="0">
                <a:latin typeface="Times New Roman" panose="02020603050405020304" pitchFamily="18" charset="0"/>
                <a:cs typeface="Times New Roman" panose="02020603050405020304" pitchFamily="18" charset="0"/>
              </a:rPr>
              <a:t> (computer programs) that when executed provide desired features, function, and performance;  </a:t>
            </a:r>
          </a:p>
          <a:p>
            <a:pPr lvl="2" algn="just">
              <a:spcBef>
                <a:spcPct val="50000"/>
              </a:spcBef>
              <a:buFont typeface="Wingdings" panose="05000000000000000000" pitchFamily="2" charset="2"/>
              <a:buChar char="§"/>
            </a:pPr>
            <a:r>
              <a:rPr lang="en-US" sz="2400" i="1" dirty="0">
                <a:solidFill>
                  <a:schemeClr val="folHlink"/>
                </a:solidFill>
                <a:latin typeface="Times New Roman" panose="02020603050405020304" pitchFamily="18" charset="0"/>
                <a:cs typeface="Times New Roman" panose="02020603050405020304" pitchFamily="18" charset="0"/>
              </a:rPr>
              <a:t>Data structures</a:t>
            </a:r>
            <a:r>
              <a:rPr lang="en-US" sz="2400" i="1" dirty="0">
                <a:latin typeface="Times New Roman" panose="02020603050405020304" pitchFamily="18" charset="0"/>
                <a:cs typeface="Times New Roman" panose="02020603050405020304" pitchFamily="18" charset="0"/>
              </a:rPr>
              <a:t> that enable the programs to adequately manipulate information and </a:t>
            </a:r>
          </a:p>
          <a:p>
            <a:pPr lvl="2" algn="just">
              <a:spcBef>
                <a:spcPct val="50000"/>
              </a:spcBef>
              <a:buFont typeface="Wingdings" panose="05000000000000000000" pitchFamily="2" charset="2"/>
              <a:buChar char="§"/>
            </a:pPr>
            <a:r>
              <a:rPr lang="en-US" sz="2400" i="1" dirty="0">
                <a:solidFill>
                  <a:schemeClr val="folHlink"/>
                </a:solidFill>
                <a:latin typeface="Times New Roman" panose="02020603050405020304" pitchFamily="18" charset="0"/>
                <a:cs typeface="Times New Roman" panose="02020603050405020304" pitchFamily="18" charset="0"/>
              </a:rPr>
              <a:t>Documentation</a:t>
            </a:r>
            <a:r>
              <a:rPr lang="en-US" sz="2400" i="1" dirty="0">
                <a:latin typeface="Times New Roman" panose="02020603050405020304" pitchFamily="18" charset="0"/>
                <a:cs typeface="Times New Roman" panose="02020603050405020304" pitchFamily="18" charset="0"/>
              </a:rPr>
              <a:t> that describes the operation and use of the programs.</a:t>
            </a:r>
            <a:r>
              <a:rPr lang="en-US" sz="2400" dirty="0">
                <a:latin typeface="Times New Roman" panose="02020603050405020304" pitchFamily="18" charset="0"/>
                <a:cs typeface="Times New Roman" panose="02020603050405020304" pitchFamily="18" charset="0"/>
              </a:rPr>
              <a:t> </a:t>
            </a:r>
          </a:p>
        </p:txBody>
      </p:sp>
      <p:sp>
        <p:nvSpPr>
          <p:cNvPr id="5" name="Slide Number Placeholder 4"/>
          <p:cNvSpPr>
            <a:spLocks noGrp="1"/>
          </p:cNvSpPr>
          <p:nvPr>
            <p:ph type="sldNum" sz="quarter" idx="12"/>
          </p:nvPr>
        </p:nvSpPr>
        <p:spPr/>
        <p:txBody>
          <a:bodyPr/>
          <a:lstStyle/>
          <a:p>
            <a:fld id="{195567C4-C875-4EA2-906F-45EEB91D3DE0}" type="slidenum">
              <a:rPr lang="en-US" smtClean="0"/>
              <a:t>3</a:t>
            </a:fld>
            <a:endParaRPr lang="en-US"/>
          </a:p>
        </p:txBody>
      </p:sp>
      <p:cxnSp>
        <p:nvCxnSpPr>
          <p:cNvPr id="7" name="Straight Connector 6"/>
          <p:cNvCxnSpPr/>
          <p:nvPr/>
        </p:nvCxnSpPr>
        <p:spPr>
          <a:xfrm>
            <a:off x="1828800" y="1371600"/>
            <a:ext cx="6570198"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52400"/>
            <a:ext cx="1457325" cy="685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318" y="224928"/>
            <a:ext cx="7368470" cy="1143000"/>
          </a:xfrm>
        </p:spPr>
        <p:txBody>
          <a:bodyPr/>
          <a:lstStyle/>
          <a:p>
            <a:pPr algn="ctr"/>
            <a:r>
              <a:rPr lang="en-US" sz="4000" b="1" dirty="0">
                <a:highlight>
                  <a:srgbClr val="FFFF00"/>
                </a:highlight>
              </a:rPr>
              <a:t> </a:t>
            </a:r>
            <a:r>
              <a:rPr lang="en-US" sz="3600" b="1" dirty="0">
                <a:highlight>
                  <a:srgbClr val="FFFF00"/>
                </a:highlight>
              </a:rPr>
              <a:t>Characteristics/Nature  of  Software</a:t>
            </a:r>
            <a:endParaRPr lang="en-US" sz="3600" b="1" dirty="0">
              <a:solidFill>
                <a:srgbClr val="002060"/>
              </a:solidFill>
              <a:highlight>
                <a:srgbClr val="FFFF00"/>
              </a:highlight>
            </a:endParaRPr>
          </a:p>
        </p:txBody>
      </p:sp>
      <p:sp>
        <p:nvSpPr>
          <p:cNvPr id="3" name="Content Placeholder 2"/>
          <p:cNvSpPr>
            <a:spLocks noGrp="1"/>
          </p:cNvSpPr>
          <p:nvPr>
            <p:ph idx="1"/>
          </p:nvPr>
        </p:nvSpPr>
        <p:spPr>
          <a:xfrm>
            <a:off x="533400" y="1828800"/>
            <a:ext cx="7620000" cy="4800600"/>
          </a:xfrm>
        </p:spPr>
        <p:txBody>
          <a:bodyPr>
            <a:noAutofit/>
          </a:bodyPr>
          <a:lstStyle/>
          <a:p>
            <a:pPr algn="just">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Software is developed or engineered, it is not manufactured in the classical sense.</a:t>
            </a:r>
          </a:p>
          <a:p>
            <a:pPr indent="-342900" fontAlgn="auto">
              <a:spcAft>
                <a:spcPts val="0"/>
              </a:spcAft>
              <a:buFont typeface="Wingdings" panose="05000000000000000000" pitchFamily="2" charset="2"/>
              <a:buChar char="q"/>
              <a:defRPr/>
            </a:pPr>
            <a:r>
              <a:rPr lang="en-US" sz="2400" b="1" dirty="0">
                <a:latin typeface="Times New Roman" panose="02020603050405020304" pitchFamily="18" charset="0"/>
                <a:cs typeface="Times New Roman" panose="02020603050405020304" pitchFamily="18" charset="0"/>
              </a:rPr>
              <a:t>Software is intangible(unable to touch) </a:t>
            </a:r>
          </a:p>
          <a:p>
            <a:pPr lvl="1" fontAlgn="auto">
              <a:spcAft>
                <a:spcPts val="0"/>
              </a:spcAft>
              <a:defRPr/>
            </a:pPr>
            <a:r>
              <a:rPr lang="en-US" sz="2400" dirty="0">
                <a:latin typeface="Times New Roman" panose="02020603050405020304" pitchFamily="18" charset="0"/>
                <a:cs typeface="Times New Roman" panose="02020603050405020304" pitchFamily="18" charset="0"/>
              </a:rPr>
              <a:t>Hard to understand development effort</a:t>
            </a:r>
          </a:p>
          <a:p>
            <a:pPr indent="-342900" fontAlgn="auto">
              <a:spcAft>
                <a:spcPts val="0"/>
              </a:spcAft>
              <a:buFont typeface="Wingdings" panose="05000000000000000000" pitchFamily="2" charset="2"/>
              <a:buChar char="q"/>
              <a:defRPr/>
            </a:pPr>
            <a:r>
              <a:rPr lang="en-US" sz="2400" b="1" dirty="0">
                <a:latin typeface="Times New Roman" panose="02020603050405020304" pitchFamily="18" charset="0"/>
                <a:cs typeface="Times New Roman" panose="02020603050405020304" pitchFamily="18" charset="0"/>
              </a:rPr>
              <a:t>Software is easy to reproduce</a:t>
            </a:r>
          </a:p>
          <a:p>
            <a:pPr lvl="1" fontAlgn="auto">
              <a:spcAft>
                <a:spcPts val="0"/>
              </a:spcAft>
              <a:defRPr/>
            </a:pPr>
            <a:r>
              <a:rPr lang="en-US" sz="2400" dirty="0">
                <a:latin typeface="Times New Roman" panose="02020603050405020304" pitchFamily="18" charset="0"/>
                <a:cs typeface="Times New Roman" panose="02020603050405020304" pitchFamily="18" charset="0"/>
              </a:rPr>
              <a:t>Cost is in its </a:t>
            </a:r>
            <a:r>
              <a:rPr lang="en-US" sz="2400" i="1" dirty="0">
                <a:latin typeface="Times New Roman" panose="02020603050405020304" pitchFamily="18" charset="0"/>
                <a:cs typeface="Times New Roman" panose="02020603050405020304" pitchFamily="18" charset="0"/>
              </a:rPr>
              <a:t>development</a:t>
            </a:r>
            <a:endParaRPr lang="en-US" sz="2400" dirty="0">
              <a:latin typeface="Times New Roman" panose="02020603050405020304" pitchFamily="18" charset="0"/>
              <a:cs typeface="Times New Roman" panose="02020603050405020304" pitchFamily="18" charset="0"/>
            </a:endParaRPr>
          </a:p>
          <a:p>
            <a:pPr indent="-342900" fontAlgn="auto">
              <a:spcAft>
                <a:spcPts val="0"/>
              </a:spcAft>
              <a:buFont typeface="Wingdings" panose="05000000000000000000" pitchFamily="2" charset="2"/>
              <a:buChar char="q"/>
              <a:defRPr/>
            </a:pPr>
            <a:r>
              <a:rPr lang="en-US" sz="2400" b="1" dirty="0">
                <a:latin typeface="Times New Roman" panose="02020603050405020304" pitchFamily="18" charset="0"/>
                <a:cs typeface="Times New Roman" panose="02020603050405020304" pitchFamily="18" charset="0"/>
              </a:rPr>
              <a:t>The industry is labor-intensive</a:t>
            </a:r>
          </a:p>
          <a:p>
            <a:pPr lvl="1" fontAlgn="auto">
              <a:spcAft>
                <a:spcPts val="0"/>
              </a:spcAft>
              <a:defRPr/>
            </a:pPr>
            <a:r>
              <a:rPr lang="en-US" sz="2400" dirty="0">
                <a:latin typeface="Times New Roman" panose="02020603050405020304" pitchFamily="18" charset="0"/>
                <a:cs typeface="Times New Roman" panose="02020603050405020304" pitchFamily="18" charset="0"/>
              </a:rPr>
              <a:t>Hard to automate</a:t>
            </a:r>
          </a:p>
          <a:p>
            <a:pPr algn="just">
              <a:buFont typeface="Wingdings" panose="05000000000000000000" pitchFamily="2" charset="2"/>
              <a:buChar char="q"/>
            </a:pPr>
            <a:endParaRPr lang="en-US" sz="2400" i="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4</a:t>
            </a:fld>
            <a:endParaRPr lang="en-US"/>
          </a:p>
        </p:txBody>
      </p:sp>
      <p:cxnSp>
        <p:nvCxnSpPr>
          <p:cNvPr id="7" name="Straight Connector 6"/>
          <p:cNvCxnSpPr/>
          <p:nvPr/>
        </p:nvCxnSpPr>
        <p:spPr>
          <a:xfrm flipV="1">
            <a:off x="1447800" y="1371600"/>
            <a:ext cx="6951198" cy="3517"/>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52400"/>
            <a:ext cx="1143000" cy="537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318" y="224928"/>
            <a:ext cx="7368470" cy="1143000"/>
          </a:xfrm>
        </p:spPr>
        <p:txBody>
          <a:bodyPr/>
          <a:lstStyle/>
          <a:p>
            <a:pPr algn="ctr"/>
            <a:r>
              <a:rPr lang="en-US" sz="4000" b="1" dirty="0">
                <a:highlight>
                  <a:srgbClr val="FFFF00"/>
                </a:highlight>
              </a:rPr>
              <a:t> </a:t>
            </a:r>
            <a:r>
              <a:rPr lang="en-US" sz="3600" b="1" dirty="0">
                <a:highlight>
                  <a:srgbClr val="FFFF00"/>
                </a:highlight>
              </a:rPr>
              <a:t>Characteristics/Nature  of  Software</a:t>
            </a:r>
            <a:endParaRPr lang="en-US" sz="3600" b="1" dirty="0">
              <a:solidFill>
                <a:srgbClr val="002060"/>
              </a:solidFill>
              <a:highlight>
                <a:srgbClr val="FFFF00"/>
              </a:highlight>
            </a:endParaRPr>
          </a:p>
        </p:txBody>
      </p:sp>
      <p:sp>
        <p:nvSpPr>
          <p:cNvPr id="3" name="Content Placeholder 2"/>
          <p:cNvSpPr>
            <a:spLocks noGrp="1"/>
          </p:cNvSpPr>
          <p:nvPr>
            <p:ph idx="1"/>
          </p:nvPr>
        </p:nvSpPr>
        <p:spPr>
          <a:xfrm>
            <a:off x="533400" y="1828800"/>
            <a:ext cx="7620000" cy="4038600"/>
          </a:xfrm>
        </p:spPr>
        <p:txBody>
          <a:bodyPr>
            <a:noAutofit/>
          </a:bodyPr>
          <a:lstStyle/>
          <a:p>
            <a:pPr indent="-342900" fontAlgn="auto">
              <a:spcAft>
                <a:spcPts val="0"/>
              </a:spcAft>
              <a:buFont typeface="Wingdings" panose="05000000000000000000" pitchFamily="2" charset="2"/>
              <a:buChar char="q"/>
              <a:defRPr/>
            </a:pPr>
            <a:r>
              <a:rPr lang="en-US" sz="2400" b="1" dirty="0">
                <a:latin typeface="Times New Roman" panose="02020603050405020304" pitchFamily="18" charset="0"/>
                <a:cs typeface="Times New Roman" panose="02020603050405020304" pitchFamily="18" charset="0"/>
              </a:rPr>
              <a:t>Untrained people can hack something together</a:t>
            </a:r>
          </a:p>
          <a:p>
            <a:pPr lvl="1" fontAlgn="auto">
              <a:spcAft>
                <a:spcPts val="0"/>
              </a:spcAft>
              <a:defRPr/>
            </a:pPr>
            <a:r>
              <a:rPr lang="en-US" sz="2400" dirty="0">
                <a:latin typeface="Times New Roman" panose="02020603050405020304" pitchFamily="18" charset="0"/>
                <a:cs typeface="Times New Roman" panose="02020603050405020304" pitchFamily="18" charset="0"/>
              </a:rPr>
              <a:t>Quality problems are hard to notice</a:t>
            </a:r>
          </a:p>
          <a:p>
            <a:pPr indent="-342900" fontAlgn="auto">
              <a:spcAft>
                <a:spcPts val="0"/>
              </a:spcAft>
              <a:buFont typeface="Wingdings" panose="05000000000000000000" pitchFamily="2" charset="2"/>
              <a:buChar char="q"/>
              <a:defRPr/>
            </a:pPr>
            <a:r>
              <a:rPr lang="en-US" sz="2400" b="1" dirty="0">
                <a:latin typeface="Times New Roman" panose="02020603050405020304" pitchFamily="18" charset="0"/>
                <a:cs typeface="Times New Roman" panose="02020603050405020304" pitchFamily="18" charset="0"/>
              </a:rPr>
              <a:t>Software is easy to modify</a:t>
            </a:r>
          </a:p>
          <a:p>
            <a:pPr lvl="1" fontAlgn="auto">
              <a:spcAft>
                <a:spcPts val="0"/>
              </a:spcAft>
              <a:defRPr/>
            </a:pPr>
            <a:r>
              <a:rPr lang="en-US" sz="2400" dirty="0">
                <a:latin typeface="Times New Roman" panose="02020603050405020304" pitchFamily="18" charset="0"/>
                <a:cs typeface="Times New Roman" panose="02020603050405020304" pitchFamily="18" charset="0"/>
              </a:rPr>
              <a:t>People make changes without fully understanding it</a:t>
            </a:r>
          </a:p>
          <a:p>
            <a:pPr indent="-342900" fontAlgn="auto">
              <a:spcAft>
                <a:spcPts val="0"/>
              </a:spcAft>
              <a:buFont typeface="Wingdings" panose="05000000000000000000" pitchFamily="2" charset="2"/>
              <a:buChar char="q"/>
              <a:defRPr/>
            </a:pPr>
            <a:r>
              <a:rPr lang="en-US" sz="2400" b="1" dirty="0">
                <a:latin typeface="Times New Roman" panose="02020603050405020304" pitchFamily="18" charset="0"/>
                <a:cs typeface="Times New Roman" panose="02020603050405020304" pitchFamily="18" charset="0"/>
              </a:rPr>
              <a:t>Software does not </a:t>
            </a:r>
            <a:r>
              <a:rPr lang="ja-JP" altLang="en-US" sz="2400" b="1" dirty="0">
                <a:latin typeface="Times New Roman" panose="02020603050405020304" pitchFamily="18" charset="0"/>
                <a:cs typeface="Times New Roman" panose="02020603050405020304" pitchFamily="18" charset="0"/>
              </a:rPr>
              <a:t>‘</a:t>
            </a:r>
            <a:r>
              <a:rPr lang="en-US" altLang="ja-JP" sz="2400" b="1" dirty="0">
                <a:latin typeface="Times New Roman" panose="02020603050405020304" pitchFamily="18" charset="0"/>
                <a:cs typeface="Times New Roman" panose="02020603050405020304" pitchFamily="18" charset="0"/>
              </a:rPr>
              <a:t>wear out</a:t>
            </a:r>
            <a:r>
              <a:rPr lang="ja-JP" altLang="en-US" sz="2400" b="1" dirty="0">
                <a:latin typeface="Times New Roman" panose="02020603050405020304" pitchFamily="18" charset="0"/>
                <a:cs typeface="Times New Roman" panose="02020603050405020304" pitchFamily="18" charset="0"/>
              </a:rPr>
              <a:t>’</a:t>
            </a:r>
            <a:endParaRPr lang="en-US" altLang="ja-JP" sz="2400" b="1" dirty="0">
              <a:latin typeface="Times New Roman" panose="02020603050405020304" pitchFamily="18" charset="0"/>
              <a:cs typeface="Times New Roman" panose="02020603050405020304" pitchFamily="18" charset="0"/>
            </a:endParaRPr>
          </a:p>
          <a:p>
            <a:pPr lvl="1" fontAlgn="auto">
              <a:spcAft>
                <a:spcPts val="0"/>
              </a:spcAft>
              <a:defRPr/>
            </a:pPr>
            <a:r>
              <a:rPr lang="en-US" sz="2400" dirty="0">
                <a:latin typeface="Times New Roman" panose="02020603050405020304" pitchFamily="18" charset="0"/>
              </a:rPr>
              <a:t>R</a:t>
            </a:r>
            <a:r>
              <a:rPr lang="en-US" sz="2400" dirty="0" err="1">
                <a:latin typeface="Times New Roman" panose="02020603050405020304" pitchFamily="18" charset="0"/>
                <a:cs typeface="Times New Roman" panose="02020603050405020304" pitchFamily="18" charset="0"/>
              </a:rPr>
              <a:t>elationship</a:t>
            </a:r>
            <a:r>
              <a:rPr lang="en-US" sz="2400" dirty="0">
                <a:latin typeface="Times New Roman" panose="02020603050405020304" pitchFamily="18" charset="0"/>
                <a:cs typeface="Times New Roman" panose="02020603050405020304" pitchFamily="18" charset="0"/>
              </a:rPr>
              <a:t> between failure rate and time. </a:t>
            </a:r>
            <a:endParaRPr lang="en-US" sz="2400" dirty="0">
              <a:latin typeface="Times New Roman" panose="02020603050405020304" pitchFamily="18" charset="0"/>
            </a:endParaRPr>
          </a:p>
          <a:p>
            <a:pPr lvl="1" fontAlgn="auto">
              <a:spcAft>
                <a:spcPts val="0"/>
              </a:spcAft>
              <a:defRPr/>
            </a:pPr>
            <a:r>
              <a:rPr lang="en-US" sz="2400" dirty="0">
                <a:latin typeface="Times New Roman" panose="02020603050405020304" pitchFamily="18" charset="0"/>
                <a:cs typeface="Times New Roman" panose="02020603050405020304" pitchFamily="18" charset="0"/>
              </a:rPr>
              <a:t>the failure rate as a</a:t>
            </a:r>
            <a:r>
              <a:rPr lang="en-US" sz="2400" dirty="0">
                <a:latin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function of time for hardware</a:t>
            </a:r>
            <a:endParaRPr lang="en-US" sz="2400" i="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5</a:t>
            </a:fld>
            <a:endParaRPr lang="en-US"/>
          </a:p>
        </p:txBody>
      </p:sp>
      <p:cxnSp>
        <p:nvCxnSpPr>
          <p:cNvPr id="7" name="Straight Connector 6"/>
          <p:cNvCxnSpPr/>
          <p:nvPr/>
        </p:nvCxnSpPr>
        <p:spPr>
          <a:xfrm flipV="1">
            <a:off x="1447800" y="1371600"/>
            <a:ext cx="6951198" cy="3517"/>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52400"/>
            <a:ext cx="1143000" cy="537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318" y="224928"/>
            <a:ext cx="7368470" cy="1143000"/>
          </a:xfrm>
        </p:spPr>
        <p:txBody>
          <a:bodyPr/>
          <a:lstStyle/>
          <a:p>
            <a:pPr algn="ctr"/>
            <a:r>
              <a:rPr lang="en-US" sz="4000" b="1" dirty="0"/>
              <a:t> </a:t>
            </a:r>
            <a:r>
              <a:rPr lang="en-US" sz="3600" b="1" dirty="0"/>
              <a:t>Characteristics/Nature  of  Software</a:t>
            </a:r>
            <a:endParaRPr lang="en-US" sz="3600" b="1" dirty="0">
              <a:solidFill>
                <a:srgbClr val="002060"/>
              </a:solidFill>
            </a:endParaRPr>
          </a:p>
        </p:txBody>
      </p:sp>
      <p:sp>
        <p:nvSpPr>
          <p:cNvPr id="3" name="Content Placeholder 2"/>
          <p:cNvSpPr>
            <a:spLocks noGrp="1"/>
          </p:cNvSpPr>
          <p:nvPr>
            <p:ph idx="1"/>
          </p:nvPr>
        </p:nvSpPr>
        <p:spPr>
          <a:xfrm>
            <a:off x="533400" y="1828800"/>
            <a:ext cx="7620000" cy="4038600"/>
          </a:xfrm>
        </p:spPr>
        <p:txBody>
          <a:bodyPr>
            <a:noAutofit/>
          </a:bodyPr>
          <a:lstStyle/>
          <a:p>
            <a:pPr indent="-34290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Conclusions</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Much software has </a:t>
            </a:r>
            <a:r>
              <a:rPr lang="en-US" sz="2400" dirty="0">
                <a:solidFill>
                  <a:srgbClr val="FF0000"/>
                </a:solidFill>
                <a:latin typeface="Times New Roman" panose="02020603050405020304" pitchFamily="18" charset="0"/>
                <a:cs typeface="Times New Roman" panose="02020603050405020304" pitchFamily="18" charset="0"/>
              </a:rPr>
              <a:t>poor design and is getting worse</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We have to learn to </a:t>
            </a:r>
            <a:r>
              <a:rPr lang="ja-JP" altLang="en-US" sz="2400" dirty="0">
                <a:latin typeface="Times New Roman" panose="02020603050405020304" pitchFamily="18" charset="0"/>
                <a:cs typeface="Times New Roman" panose="02020603050405020304" pitchFamily="18" charset="0"/>
              </a:rPr>
              <a:t>‘</a:t>
            </a:r>
            <a:r>
              <a:rPr lang="en-US" altLang="ja-JP" sz="2400" dirty="0">
                <a:latin typeface="Times New Roman" panose="02020603050405020304" pitchFamily="18" charset="0"/>
                <a:cs typeface="Times New Roman" panose="02020603050405020304" pitchFamily="18" charset="0"/>
              </a:rPr>
              <a:t>engineer</a:t>
            </a:r>
            <a:r>
              <a:rPr lang="ja-JP" altLang="en-US" sz="2400" dirty="0">
                <a:latin typeface="Times New Roman" panose="02020603050405020304" pitchFamily="18" charset="0"/>
                <a:cs typeface="Times New Roman" panose="02020603050405020304" pitchFamily="18" charset="0"/>
              </a:rPr>
              <a:t>’</a:t>
            </a:r>
            <a:r>
              <a:rPr lang="en-US" altLang="ja-JP" sz="2400" dirty="0">
                <a:latin typeface="Times New Roman" panose="02020603050405020304" pitchFamily="18" charset="0"/>
                <a:cs typeface="Times New Roman" panose="02020603050405020304" pitchFamily="18" charset="0"/>
              </a:rPr>
              <a:t> software</a:t>
            </a: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6</a:t>
            </a:fld>
            <a:endParaRPr lang="en-US"/>
          </a:p>
        </p:txBody>
      </p:sp>
      <p:cxnSp>
        <p:nvCxnSpPr>
          <p:cNvPr id="7" name="Straight Connector 6"/>
          <p:cNvCxnSpPr/>
          <p:nvPr/>
        </p:nvCxnSpPr>
        <p:spPr>
          <a:xfrm flipV="1">
            <a:off x="1447800" y="1371600"/>
            <a:ext cx="6951198" cy="3517"/>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52400"/>
            <a:ext cx="1143000" cy="5378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9032" y="228600"/>
            <a:ext cx="6362700" cy="1143000"/>
          </a:xfrm>
        </p:spPr>
        <p:txBody>
          <a:bodyPr/>
          <a:lstStyle/>
          <a:p>
            <a:pPr algn="ctr"/>
            <a:r>
              <a:rPr lang="en-US" sz="4000" b="1" dirty="0"/>
              <a:t>Software Applications</a:t>
            </a:r>
            <a:endParaRPr lang="en-US" sz="4000" b="1" dirty="0">
              <a:solidFill>
                <a:srgbClr val="002060"/>
              </a:solidFill>
            </a:endParaRPr>
          </a:p>
        </p:txBody>
      </p:sp>
      <p:sp>
        <p:nvSpPr>
          <p:cNvPr id="3" name="Content Placeholder 2"/>
          <p:cNvSpPr>
            <a:spLocks noGrp="1"/>
          </p:cNvSpPr>
          <p:nvPr>
            <p:ph idx="1"/>
          </p:nvPr>
        </p:nvSpPr>
        <p:spPr>
          <a:xfrm>
            <a:off x="152400" y="1371600"/>
            <a:ext cx="8246598" cy="5410200"/>
          </a:xfrm>
        </p:spPr>
        <p:txBody>
          <a:bodyPr>
            <a:noAutofit/>
          </a:bodyPr>
          <a:lstStyle/>
          <a:p>
            <a:pPr>
              <a:buFont typeface="Wingdings" panose="05000000000000000000" pitchFamily="2" charset="2"/>
              <a:buChar char="q"/>
            </a:pPr>
            <a:r>
              <a:rPr lang="en-US" sz="2000" b="1" dirty="0">
                <a:solidFill>
                  <a:srgbClr val="0070C0"/>
                </a:solidFill>
                <a:highlight>
                  <a:srgbClr val="FFFF00"/>
                </a:highlight>
                <a:latin typeface="Times New Roman" panose="02020603050405020304" pitchFamily="18" charset="0"/>
                <a:cs typeface="Times New Roman" panose="02020603050405020304" pitchFamily="18" charset="0"/>
              </a:rPr>
              <a:t>System Software : </a:t>
            </a: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Operating system, drivers, networking software, telecommunications processors, Compilers. </a:t>
            </a:r>
            <a:endParaRPr lang="en-US" b="1"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q"/>
            </a:pPr>
            <a:r>
              <a:rPr lang="en-US" sz="2000" b="1" dirty="0">
                <a:solidFill>
                  <a:srgbClr val="0070C0"/>
                </a:solidFill>
                <a:highlight>
                  <a:srgbClr val="FFFF00"/>
                </a:highlight>
                <a:latin typeface="Times New Roman" panose="02020603050405020304" pitchFamily="18" charset="0"/>
                <a:cs typeface="Times New Roman" panose="02020603050405020304" pitchFamily="18" charset="0"/>
              </a:rPr>
              <a:t>Application Software:  </a:t>
            </a:r>
          </a:p>
          <a:p>
            <a:pPr lvl="1" algn="just">
              <a:lnSpc>
                <a:spcPct val="9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Microsoft Office, Excel and Outlook, Google Chrome, Mozilla Firefox and Skype. Games and mobile applications such as "Clash of Clans," </a:t>
            </a:r>
            <a:r>
              <a:rPr lang="en-US" dirty="0" err="1">
                <a:latin typeface="Times New Roman" panose="02020603050405020304" pitchFamily="18" charset="0"/>
                <a:cs typeface="Times New Roman" panose="02020603050405020304" pitchFamily="18" charset="0"/>
              </a:rPr>
              <a:t>SoundCloud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Spotify</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Uber</a:t>
            </a:r>
            <a:r>
              <a:rPr lang="en-US" dirty="0">
                <a:latin typeface="Times New Roman" panose="02020603050405020304" pitchFamily="18" charset="0"/>
                <a:cs typeface="Times New Roman" panose="02020603050405020304" pitchFamily="18" charset="0"/>
              </a:rPr>
              <a:t>, are also considered application software. Other specific examples include Steam, "</a:t>
            </a:r>
            <a:r>
              <a:rPr lang="en-US" dirty="0" err="1">
                <a:latin typeface="Times New Roman" panose="02020603050405020304" pitchFamily="18" charset="0"/>
                <a:cs typeface="Times New Roman" panose="02020603050405020304" pitchFamily="18" charset="0"/>
              </a:rPr>
              <a:t>Minecraft</a:t>
            </a:r>
            <a:r>
              <a:rPr lang="en-US" dirty="0">
                <a:latin typeface="Times New Roman" panose="02020603050405020304" pitchFamily="18" charset="0"/>
                <a:cs typeface="Times New Roman" panose="02020603050405020304" pitchFamily="18" charset="0"/>
              </a:rPr>
              <a:t>," Adobe Reader and Photoshop.</a:t>
            </a:r>
            <a:endParaRPr lang="en-US" b="1"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q"/>
            </a:pPr>
            <a:r>
              <a:rPr lang="en-US" sz="2000" b="1" dirty="0">
                <a:solidFill>
                  <a:srgbClr val="0070C0"/>
                </a:solidFill>
                <a:highlight>
                  <a:srgbClr val="FFFF00"/>
                </a:highlight>
                <a:latin typeface="Times New Roman" panose="02020603050405020304" pitchFamily="18" charset="0"/>
                <a:cs typeface="Times New Roman" panose="02020603050405020304" pitchFamily="18" charset="0"/>
              </a:rPr>
              <a:t>Engineering/scientific software: </a:t>
            </a:r>
          </a:p>
          <a:p>
            <a:pPr lvl="1" algn="just">
              <a:lnSpc>
                <a:spcPct val="9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Computer-aided Design and Computer-aided Manufacturing Software, Civil Engineering and Architectural Software , Electrical Engineering software, Geographic Information Systems Software, Simulation software, Interactive Software. </a:t>
            </a:r>
          </a:p>
          <a:p>
            <a:pPr algn="just">
              <a:lnSpc>
                <a:spcPct val="90000"/>
              </a:lnSpc>
              <a:buFont typeface="Wingdings" panose="05000000000000000000" pitchFamily="2" charset="2"/>
              <a:buChar char="q"/>
            </a:pPr>
            <a:r>
              <a:rPr lang="en-US" sz="2000" b="1" dirty="0">
                <a:solidFill>
                  <a:srgbClr val="0070C0"/>
                </a:solidFill>
                <a:highlight>
                  <a:srgbClr val="FFFF00"/>
                </a:highlight>
                <a:latin typeface="Times New Roman" panose="02020603050405020304" pitchFamily="18" charset="0"/>
                <a:cs typeface="Times New Roman" panose="02020603050405020304" pitchFamily="18" charset="0"/>
              </a:rPr>
              <a:t>Embedded Software : </a:t>
            </a: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key pad control for a microwave oven, fuel control, dashboard displays, and braking systems, control and monitoring system. </a:t>
            </a:r>
          </a:p>
        </p:txBody>
      </p:sp>
      <p:sp>
        <p:nvSpPr>
          <p:cNvPr id="5" name="Slide Number Placeholder 4"/>
          <p:cNvSpPr>
            <a:spLocks noGrp="1"/>
          </p:cNvSpPr>
          <p:nvPr>
            <p:ph type="sldNum" sz="quarter" idx="12"/>
          </p:nvPr>
        </p:nvSpPr>
        <p:spPr/>
        <p:txBody>
          <a:bodyPr/>
          <a:lstStyle/>
          <a:p>
            <a:fld id="{195567C4-C875-4EA2-906F-45EEB91D3DE0}" type="slidenum">
              <a:rPr lang="en-US" smtClean="0"/>
              <a:t>7</a:t>
            </a:fld>
            <a:endParaRPr lang="en-US"/>
          </a:p>
        </p:txBody>
      </p:sp>
      <p:cxnSp>
        <p:nvCxnSpPr>
          <p:cNvPr id="7" name="Straight Connector 6"/>
          <p:cNvCxnSpPr/>
          <p:nvPr/>
        </p:nvCxnSpPr>
        <p:spPr>
          <a:xfrm>
            <a:off x="1981200" y="1143000"/>
            <a:ext cx="5181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295400" cy="60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Software Applications (Cont..)</a:t>
            </a:r>
            <a:endParaRPr lang="en-US" sz="3600" b="1" dirty="0">
              <a:solidFill>
                <a:srgbClr val="002060"/>
              </a:solidFill>
            </a:endParaRPr>
          </a:p>
        </p:txBody>
      </p:sp>
      <p:sp>
        <p:nvSpPr>
          <p:cNvPr id="3" name="Content Placeholder 2"/>
          <p:cNvSpPr>
            <a:spLocks noGrp="1"/>
          </p:cNvSpPr>
          <p:nvPr>
            <p:ph idx="1"/>
          </p:nvPr>
        </p:nvSpPr>
        <p:spPr>
          <a:xfrm>
            <a:off x="533400" y="1752600"/>
            <a:ext cx="7865598" cy="4724400"/>
          </a:xfrm>
        </p:spPr>
        <p:txBody>
          <a:bodyPr>
            <a:normAutofit/>
          </a:bodyPr>
          <a:lstStyle/>
          <a:p>
            <a:pPr algn="just">
              <a:lnSpc>
                <a:spcPct val="90000"/>
              </a:lnSpc>
              <a:buFont typeface="Wingdings" panose="05000000000000000000" pitchFamily="2" charset="2"/>
              <a:buChar char="q"/>
            </a:pPr>
            <a:r>
              <a:rPr lang="en-US" sz="2000" b="1" dirty="0">
                <a:solidFill>
                  <a:srgbClr val="0070C0"/>
                </a:solidFill>
                <a:latin typeface="Times New Roman" panose="02020603050405020304" pitchFamily="18" charset="0"/>
                <a:cs typeface="Times New Roman" panose="02020603050405020304" pitchFamily="18" charset="0"/>
              </a:rPr>
              <a:t>Product-line software/Data Processing System:  </a:t>
            </a: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Inventory control products, word processing, spreadsheets, computer graphics, multimedia, entertainment, database management, and personal and business financial applications</a:t>
            </a:r>
            <a:endParaRPr lang="en-US" b="1"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q"/>
            </a:pPr>
            <a:r>
              <a:rPr lang="en-US" sz="2000" b="1" dirty="0" err="1">
                <a:solidFill>
                  <a:srgbClr val="0070C0"/>
                </a:solidFill>
                <a:latin typeface="Times New Roman" panose="02020603050405020304" pitchFamily="18" charset="0"/>
                <a:cs typeface="Times New Roman" panose="02020603050405020304" pitchFamily="18" charset="0"/>
              </a:rPr>
              <a:t>WebApps</a:t>
            </a:r>
            <a:r>
              <a:rPr lang="en-US" sz="2000" b="1" dirty="0">
                <a:solidFill>
                  <a:srgbClr val="0070C0"/>
                </a:solidFill>
                <a:latin typeface="Times New Roman" panose="02020603050405020304" pitchFamily="18" charset="0"/>
                <a:cs typeface="Times New Roman" panose="02020603050405020304" pitchFamily="18" charset="0"/>
              </a:rPr>
              <a:t> (Web applications)</a:t>
            </a:r>
          </a:p>
          <a:p>
            <a:pPr lvl="1" algn="just">
              <a:lnSpc>
                <a:spcPct val="9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Integrated with corporate databases and business applications: Booking application, Chatting application, Upload, E-Business, E-Commerce application.  </a:t>
            </a:r>
            <a:endParaRPr lang="en-US" b="1"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q"/>
            </a:pPr>
            <a:r>
              <a:rPr lang="en-US" sz="2000" b="1" dirty="0">
                <a:solidFill>
                  <a:srgbClr val="0070C0"/>
                </a:solidFill>
                <a:latin typeface="Times New Roman" panose="02020603050405020304" pitchFamily="18" charset="0"/>
                <a:cs typeface="Times New Roman" panose="02020603050405020304" pitchFamily="18" charset="0"/>
              </a:rPr>
              <a:t>AI software</a:t>
            </a: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Include robotics, expert systems, pattern recognition (image and voice), artificial neural networks, theorem, proving, and game playing.</a:t>
            </a:r>
            <a:endParaRPr lang="en-US" sz="2000" b="1"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q"/>
            </a:pPr>
            <a:r>
              <a:rPr lang="en-US" sz="2000" b="1" dirty="0">
                <a:solidFill>
                  <a:srgbClr val="0070C0"/>
                </a:solidFill>
                <a:latin typeface="Times New Roman" panose="02020603050405020304" pitchFamily="18" charset="0"/>
                <a:cs typeface="Times New Roman" panose="02020603050405020304" pitchFamily="18" charset="0"/>
              </a:rPr>
              <a:t>Gaming Software </a:t>
            </a:r>
          </a:p>
          <a:p>
            <a:pPr algn="just">
              <a:lnSpc>
                <a:spcPct val="90000"/>
              </a:lnSpc>
              <a:buFont typeface="Wingdings" panose="05000000000000000000" pitchFamily="2" charset="2"/>
              <a:buChar char="q"/>
            </a:pPr>
            <a:r>
              <a:rPr lang="en-US" sz="2000" b="1" dirty="0">
                <a:solidFill>
                  <a:srgbClr val="0070C0"/>
                </a:solidFill>
                <a:latin typeface="Times New Roman" panose="02020603050405020304" pitchFamily="18" charset="0"/>
                <a:cs typeface="Times New Roman" panose="02020603050405020304" pitchFamily="18" charset="0"/>
              </a:rPr>
              <a:t>Mobile Device Software</a:t>
            </a:r>
          </a:p>
          <a:p>
            <a:pPr lvl="1"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8</a:t>
            </a:fld>
            <a:endParaRPr lang="en-US"/>
          </a:p>
        </p:txBody>
      </p:sp>
      <p:cxnSp>
        <p:nvCxnSpPr>
          <p:cNvPr id="7" name="Straight Connector 6"/>
          <p:cNvCxnSpPr/>
          <p:nvPr/>
        </p:nvCxnSpPr>
        <p:spPr>
          <a:xfrm>
            <a:off x="1828800" y="1371600"/>
            <a:ext cx="6570198"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295400" cy="60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4000" b="1" dirty="0"/>
              <a:t>Software—New Categories</a:t>
            </a:r>
            <a:endParaRPr lang="en-US" sz="4000" b="1" dirty="0">
              <a:solidFill>
                <a:srgbClr val="002060"/>
              </a:solidFill>
            </a:endParaRPr>
          </a:p>
        </p:txBody>
      </p:sp>
      <p:sp>
        <p:nvSpPr>
          <p:cNvPr id="3" name="Content Placeholder 2"/>
          <p:cNvSpPr>
            <a:spLocks noGrp="1"/>
          </p:cNvSpPr>
          <p:nvPr>
            <p:ph idx="1"/>
          </p:nvPr>
        </p:nvSpPr>
        <p:spPr>
          <a:xfrm>
            <a:off x="152400" y="1676400"/>
            <a:ext cx="8246598" cy="4800600"/>
          </a:xfrm>
        </p:spPr>
        <p:txBody>
          <a:bodyPr>
            <a:noAutofit/>
          </a:bodyPr>
          <a:lstStyle/>
          <a:p>
            <a:pPr indent="-342900" algn="just">
              <a:buFont typeface="Wingdings" panose="05000000000000000000" pitchFamily="2" charset="2"/>
              <a:buChar char="q"/>
            </a:pPr>
            <a:r>
              <a:rPr lang="en-US" sz="2400" dirty="0">
                <a:solidFill>
                  <a:schemeClr val="folHlink"/>
                </a:solidFill>
                <a:latin typeface="Times New Roman" panose="02020603050405020304" pitchFamily="18" charset="0"/>
                <a:cs typeface="Times New Roman" panose="02020603050405020304" pitchFamily="18" charset="0"/>
              </a:rPr>
              <a:t>Open world computing—</a:t>
            </a:r>
            <a:r>
              <a:rPr lang="en-US" sz="2400" dirty="0">
                <a:latin typeface="Times New Roman" panose="02020603050405020304" pitchFamily="18" charset="0"/>
                <a:cs typeface="Times New Roman" panose="02020603050405020304" pitchFamily="18" charset="0"/>
              </a:rPr>
              <a:t>pervasive/widespread, distributed computing</a:t>
            </a:r>
          </a:p>
          <a:p>
            <a:pPr indent="-342900" algn="just">
              <a:buFont typeface="Wingdings" panose="05000000000000000000" pitchFamily="2" charset="2"/>
              <a:buChar char="q"/>
            </a:pPr>
            <a:endParaRPr lang="en-US" sz="2400" dirty="0">
              <a:solidFill>
                <a:schemeClr val="folHlink"/>
              </a:solidFill>
              <a:latin typeface="Times New Roman" panose="02020603050405020304" pitchFamily="18" charset="0"/>
              <a:cs typeface="Times New Roman" panose="02020603050405020304" pitchFamily="18" charset="0"/>
            </a:endParaRPr>
          </a:p>
          <a:p>
            <a:pPr indent="-342900" algn="just">
              <a:buFont typeface="Wingdings" panose="05000000000000000000" pitchFamily="2" charset="2"/>
              <a:buChar char="q"/>
            </a:pPr>
            <a:r>
              <a:rPr lang="en-US" sz="2400" dirty="0">
                <a:solidFill>
                  <a:schemeClr val="folHlink"/>
                </a:solidFill>
                <a:latin typeface="Times New Roman" panose="02020603050405020304" pitchFamily="18" charset="0"/>
                <a:cs typeface="Times New Roman" panose="02020603050405020304" pitchFamily="18" charset="0"/>
              </a:rPr>
              <a:t>Ubiquitous computing</a:t>
            </a:r>
            <a:r>
              <a:rPr lang="en-US" sz="2400" dirty="0">
                <a:latin typeface="Times New Roman" panose="02020603050405020304" pitchFamily="18" charset="0"/>
                <a:cs typeface="Times New Roman" panose="02020603050405020304" pitchFamily="18" charset="0"/>
              </a:rPr>
              <a:t>—wireless networks(e.g. ccc, Smart lock, home automation, self driving)</a:t>
            </a:r>
          </a:p>
          <a:p>
            <a:pPr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indent="-342900" algn="just">
              <a:buFont typeface="Wingdings" panose="05000000000000000000" pitchFamily="2" charset="2"/>
              <a:buChar char="q"/>
            </a:pPr>
            <a:r>
              <a:rPr lang="en-US" sz="2400" dirty="0">
                <a:solidFill>
                  <a:schemeClr val="folHlink"/>
                </a:solidFill>
                <a:latin typeface="Times New Roman" panose="02020603050405020304" pitchFamily="18" charset="0"/>
                <a:cs typeface="Times New Roman" panose="02020603050405020304" pitchFamily="18" charset="0"/>
              </a:rPr>
              <a:t>Net sourcing</a:t>
            </a:r>
            <a:r>
              <a:rPr lang="en-US" sz="2400" dirty="0">
                <a:latin typeface="Times New Roman" panose="02020603050405020304" pitchFamily="18" charset="0"/>
                <a:cs typeface="Times New Roman" panose="02020603050405020304" pitchFamily="18" charset="0"/>
              </a:rPr>
              <a:t>—the Web as a computing engine. </a:t>
            </a:r>
          </a:p>
          <a:p>
            <a:pPr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indent="-342900" algn="just">
              <a:buFont typeface="Wingdings" panose="05000000000000000000" pitchFamily="2" charset="2"/>
              <a:buChar char="q"/>
            </a:pPr>
            <a:r>
              <a:rPr lang="en-US" sz="2400" dirty="0">
                <a:solidFill>
                  <a:schemeClr val="folHlink"/>
                </a:solidFill>
                <a:latin typeface="Times New Roman" panose="02020603050405020304" pitchFamily="18" charset="0"/>
                <a:cs typeface="Times New Roman" panose="02020603050405020304" pitchFamily="18" charset="0"/>
              </a:rPr>
              <a:t>Open source</a:t>
            </a:r>
            <a:r>
              <a:rPr lang="en-US" sz="2400" dirty="0">
                <a:latin typeface="Times New Roman" panose="02020603050405020304" pitchFamily="18" charset="0"/>
                <a:cs typeface="Times New Roman" panose="02020603050405020304" pitchFamily="18" charset="0"/>
              </a:rPr>
              <a:t>—”free” source code open to the computing community (a blessing, but also a potential curse!)</a:t>
            </a:r>
          </a:p>
        </p:txBody>
      </p:sp>
      <p:sp>
        <p:nvSpPr>
          <p:cNvPr id="5" name="Slide Number Placeholder 4"/>
          <p:cNvSpPr>
            <a:spLocks noGrp="1"/>
          </p:cNvSpPr>
          <p:nvPr>
            <p:ph type="sldNum" sz="quarter" idx="12"/>
          </p:nvPr>
        </p:nvSpPr>
        <p:spPr/>
        <p:txBody>
          <a:bodyPr/>
          <a:lstStyle/>
          <a:p>
            <a:fld id="{195567C4-C875-4EA2-906F-45EEB91D3DE0}" type="slidenum">
              <a:rPr lang="en-US" smtClean="0"/>
              <a:t>9</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943100" cy="914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4000" b="1" dirty="0"/>
              <a:t>Legacy Software</a:t>
            </a:r>
            <a:endParaRPr lang="en-US" sz="4000" b="1" dirty="0">
              <a:solidFill>
                <a:srgbClr val="002060"/>
              </a:solidFill>
            </a:endParaRPr>
          </a:p>
        </p:txBody>
      </p:sp>
      <p:sp>
        <p:nvSpPr>
          <p:cNvPr id="3" name="Content Placeholder 2"/>
          <p:cNvSpPr>
            <a:spLocks noGrp="1"/>
          </p:cNvSpPr>
          <p:nvPr>
            <p:ph idx="1"/>
          </p:nvPr>
        </p:nvSpPr>
        <p:spPr>
          <a:xfrm>
            <a:off x="166255" y="2057400"/>
            <a:ext cx="8246598" cy="2819400"/>
          </a:xfrm>
        </p:spPr>
        <p:txBody>
          <a:bodyPr>
            <a:noAutofit/>
          </a:bodyPr>
          <a:lstStyle/>
          <a:p>
            <a:pPr algn="just">
              <a:lnSpc>
                <a:spcPct val="90000"/>
              </a:lnSpc>
              <a:spcBef>
                <a:spcPct val="50000"/>
              </a:spcBef>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Legacy implies that the software is out of date or in need of replacement, however it may be in good working order so the business or individual owner does not want to upgrade or update the software.</a:t>
            </a:r>
            <a:endParaRPr lang="en-US" sz="2800" b="1" i="1" dirty="0">
              <a:solidFill>
                <a:schemeClr val="folHlink"/>
              </a:solidFill>
              <a:latin typeface="Times New Roman" panose="02020603050405020304" pitchFamily="18" charset="0"/>
              <a:cs typeface="Times New Roman" panose="02020603050405020304" pitchFamily="18" charset="0"/>
            </a:endParaRPr>
          </a:p>
          <a:p>
            <a:pPr algn="just">
              <a:lnSpc>
                <a:spcPct val="90000"/>
              </a:lnSpc>
              <a:spcBef>
                <a:spcPct val="50000"/>
              </a:spcBef>
            </a:pPr>
            <a:endParaRPr lang="en-US" sz="2400" b="1" i="1" dirty="0">
              <a:solidFill>
                <a:schemeClr val="folHlink"/>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10</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295400" cy="60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4000" b="1" dirty="0"/>
              <a:t>Legacy Software</a:t>
            </a:r>
            <a:endParaRPr lang="en-US" sz="4000" b="1" dirty="0">
              <a:solidFill>
                <a:srgbClr val="002060"/>
              </a:solidFill>
            </a:endParaRPr>
          </a:p>
        </p:txBody>
      </p:sp>
      <p:sp>
        <p:nvSpPr>
          <p:cNvPr id="3" name="Content Placeholder 2"/>
          <p:cNvSpPr>
            <a:spLocks noGrp="1"/>
          </p:cNvSpPr>
          <p:nvPr>
            <p:ph idx="1"/>
          </p:nvPr>
        </p:nvSpPr>
        <p:spPr>
          <a:xfrm>
            <a:off x="166255" y="1371600"/>
            <a:ext cx="8246598" cy="4572000"/>
          </a:xfrm>
        </p:spPr>
        <p:txBody>
          <a:bodyPr>
            <a:noAutofit/>
          </a:bodyPr>
          <a:lstStyle/>
          <a:p>
            <a:pPr algn="just">
              <a:lnSpc>
                <a:spcPct val="90000"/>
              </a:lnSpc>
              <a:spcBef>
                <a:spcPct val="50000"/>
              </a:spcBef>
              <a:buFont typeface="Wingdings" panose="05000000000000000000" pitchFamily="2" charset="2"/>
              <a:buChar char="q"/>
            </a:pPr>
            <a:r>
              <a:rPr lang="en-US" sz="3600" b="1" i="1" dirty="0">
                <a:solidFill>
                  <a:schemeClr val="folHlink"/>
                </a:solidFill>
                <a:latin typeface="Times New Roman" panose="02020603050405020304" pitchFamily="18" charset="0"/>
                <a:cs typeface="Times New Roman" panose="02020603050405020304" pitchFamily="18" charset="0"/>
              </a:rPr>
              <a:t>Why must it change?</a:t>
            </a:r>
          </a:p>
          <a:p>
            <a:pPr lvl="1" algn="just">
              <a:lnSpc>
                <a:spcPct val="90000"/>
              </a:lnSpc>
              <a:spcBef>
                <a:spcPts val="200"/>
              </a:spcBef>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software must be </a:t>
            </a:r>
            <a:r>
              <a:rPr lang="en-US" sz="2800" dirty="0">
                <a:solidFill>
                  <a:schemeClr val="folHlink"/>
                </a:solidFill>
                <a:latin typeface="Times New Roman" panose="02020603050405020304" pitchFamily="18" charset="0"/>
                <a:cs typeface="Times New Roman" panose="02020603050405020304" pitchFamily="18" charset="0"/>
              </a:rPr>
              <a:t>adapted</a:t>
            </a:r>
            <a:r>
              <a:rPr lang="en-US" sz="2800" dirty="0">
                <a:latin typeface="Times New Roman" panose="02020603050405020304" pitchFamily="18" charset="0"/>
                <a:cs typeface="Times New Roman" panose="02020603050405020304" pitchFamily="18" charset="0"/>
              </a:rPr>
              <a:t> to meet the needs of new computing environments or technology.</a:t>
            </a:r>
          </a:p>
          <a:p>
            <a:pPr lvl="1" algn="just">
              <a:lnSpc>
                <a:spcPct val="90000"/>
              </a:lnSpc>
              <a:spcBef>
                <a:spcPts val="200"/>
              </a:spcBef>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software must be </a:t>
            </a:r>
            <a:r>
              <a:rPr lang="en-US" sz="2800" dirty="0">
                <a:solidFill>
                  <a:schemeClr val="folHlink"/>
                </a:solidFill>
                <a:latin typeface="Times New Roman" panose="02020603050405020304" pitchFamily="18" charset="0"/>
                <a:cs typeface="Times New Roman" panose="02020603050405020304" pitchFamily="18" charset="0"/>
              </a:rPr>
              <a:t>enhanced</a:t>
            </a:r>
            <a:r>
              <a:rPr lang="en-US" sz="2800" dirty="0">
                <a:latin typeface="Times New Roman" panose="02020603050405020304" pitchFamily="18" charset="0"/>
                <a:cs typeface="Times New Roman" panose="02020603050405020304" pitchFamily="18" charset="0"/>
              </a:rPr>
              <a:t> to implement new business requirements.</a:t>
            </a:r>
          </a:p>
          <a:p>
            <a:pPr lvl="1" algn="just">
              <a:lnSpc>
                <a:spcPct val="9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software must be </a:t>
            </a:r>
            <a:r>
              <a:rPr lang="en-US" sz="2800" dirty="0">
                <a:solidFill>
                  <a:schemeClr val="folHlink"/>
                </a:solidFill>
                <a:latin typeface="Times New Roman" panose="02020603050405020304" pitchFamily="18" charset="0"/>
                <a:cs typeface="Times New Roman" panose="02020603050405020304" pitchFamily="18" charset="0"/>
              </a:rPr>
              <a:t>extended to make it interoperable </a:t>
            </a:r>
            <a:r>
              <a:rPr lang="en-US" sz="2800" dirty="0">
                <a:latin typeface="Times New Roman" panose="02020603050405020304" pitchFamily="18" charset="0"/>
                <a:cs typeface="Times New Roman" panose="02020603050405020304" pitchFamily="18" charset="0"/>
              </a:rPr>
              <a:t>with other more modern systems or databases.</a:t>
            </a:r>
          </a:p>
          <a:p>
            <a:pPr lvl="1" algn="just">
              <a:lnSpc>
                <a:spcPct val="9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software must be </a:t>
            </a:r>
            <a:r>
              <a:rPr lang="en-US" sz="2800" dirty="0">
                <a:solidFill>
                  <a:schemeClr val="folHlink"/>
                </a:solidFill>
                <a:latin typeface="Times New Roman" panose="02020603050405020304" pitchFamily="18" charset="0"/>
                <a:cs typeface="Times New Roman" panose="02020603050405020304" pitchFamily="18" charset="0"/>
              </a:rPr>
              <a:t>re-architected </a:t>
            </a:r>
            <a:r>
              <a:rPr lang="en-US" sz="2800" dirty="0">
                <a:latin typeface="Times New Roman" panose="02020603050405020304" pitchFamily="18" charset="0"/>
                <a:cs typeface="Times New Roman" panose="02020603050405020304" pitchFamily="18" charset="0"/>
              </a:rPr>
              <a:t>to make it viable within a network environment</a:t>
            </a:r>
            <a:r>
              <a:rPr lang="en-US" sz="2800" b="1" dirty="0">
                <a:latin typeface="Times New Roman" panose="02020603050405020304" pitchFamily="18" charset="0"/>
                <a:cs typeface="Times New Roman" panose="02020603050405020304" pitchFamily="18" charset="0"/>
              </a:rPr>
              <a:t>.</a:t>
            </a:r>
          </a:p>
          <a:p>
            <a:pPr algn="just">
              <a:lnSpc>
                <a:spcPct val="90000"/>
              </a:lnSpc>
              <a:spcBef>
                <a:spcPct val="50000"/>
              </a:spcBef>
            </a:pPr>
            <a:endParaRPr lang="en-US" sz="2400" b="1" i="1" dirty="0">
              <a:solidFill>
                <a:schemeClr val="folHlink"/>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11</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943100" cy="914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Characteristics of </a:t>
            </a:r>
            <a:r>
              <a:rPr lang="en-US" sz="3600" b="1" dirty="0" err="1"/>
              <a:t>WebApps</a:t>
            </a:r>
            <a:r>
              <a:rPr lang="en-US" sz="3600" b="1" dirty="0"/>
              <a:t> </a:t>
            </a:r>
            <a:endParaRPr lang="en-US" sz="3600" b="1" dirty="0">
              <a:solidFill>
                <a:srgbClr val="002060"/>
              </a:solidFill>
            </a:endParaRPr>
          </a:p>
        </p:txBody>
      </p:sp>
      <p:sp>
        <p:nvSpPr>
          <p:cNvPr id="3" name="Content Placeholder 2"/>
          <p:cNvSpPr>
            <a:spLocks noGrp="1"/>
          </p:cNvSpPr>
          <p:nvPr>
            <p:ph idx="1"/>
          </p:nvPr>
        </p:nvSpPr>
        <p:spPr>
          <a:xfrm>
            <a:off x="152400" y="1524000"/>
            <a:ext cx="8246598" cy="4495800"/>
          </a:xfrm>
        </p:spPr>
        <p:txBody>
          <a:bodyPr>
            <a:noAutofit/>
          </a:bodyPr>
          <a:lstStyle/>
          <a:p>
            <a:pPr algn="just">
              <a:lnSpc>
                <a:spcPct val="90000"/>
              </a:lnSpc>
              <a:buFont typeface="Wingdings" panose="05000000000000000000" pitchFamily="2" charset="2"/>
              <a:buChar char="§"/>
            </a:pPr>
            <a:r>
              <a:rPr lang="en-US" sz="2400" b="1" dirty="0">
                <a:solidFill>
                  <a:schemeClr val="folHlink"/>
                </a:solidFill>
                <a:latin typeface="Times New Roman" panose="02020603050405020304" pitchFamily="18" charset="0"/>
                <a:cs typeface="Times New Roman" panose="02020603050405020304" pitchFamily="18" charset="0"/>
              </a:rPr>
              <a:t>Network intensiveness.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 </a:t>
            </a:r>
            <a:r>
              <a:rPr lang="en-US" sz="2400" dirty="0" err="1">
                <a:latin typeface="Times New Roman" panose="02020603050405020304" pitchFamily="18" charset="0"/>
                <a:cs typeface="Times New Roman" panose="02020603050405020304" pitchFamily="18" charset="0"/>
              </a:rPr>
              <a:t>WebApp</a:t>
            </a:r>
            <a:r>
              <a:rPr lang="en-US" sz="2400" dirty="0">
                <a:latin typeface="Times New Roman" panose="02020603050405020304" pitchFamily="18" charset="0"/>
                <a:cs typeface="Times New Roman" panose="02020603050405020304" pitchFamily="18" charset="0"/>
              </a:rPr>
              <a:t> resides on a network and must serve the needs of a diverse community of clients.</a:t>
            </a:r>
          </a:p>
          <a:p>
            <a:pPr algn="just">
              <a:lnSpc>
                <a:spcPct val="90000"/>
              </a:lnSpc>
              <a:buFont typeface="Wingdings" panose="05000000000000000000" pitchFamily="2" charset="2"/>
              <a:buChar char="§"/>
            </a:pPr>
            <a:r>
              <a:rPr lang="en-US" sz="2400" b="1" dirty="0">
                <a:solidFill>
                  <a:schemeClr val="folHlink"/>
                </a:solidFill>
                <a:latin typeface="Times New Roman" panose="02020603050405020304" pitchFamily="18" charset="0"/>
                <a:cs typeface="Times New Roman" panose="02020603050405020304" pitchFamily="18" charset="0"/>
              </a:rPr>
              <a:t>Concurrency.</a:t>
            </a:r>
            <a:r>
              <a:rPr lang="en-US" sz="2400" dirty="0">
                <a:latin typeface="Times New Roman" panose="02020603050405020304" pitchFamily="18" charset="0"/>
                <a:cs typeface="Times New Roman" panose="02020603050405020304" pitchFamily="18" charset="0"/>
              </a:rPr>
              <a:t>  A large number of users may access the </a:t>
            </a:r>
            <a:r>
              <a:rPr lang="en-US" sz="2400" dirty="0" err="1">
                <a:latin typeface="Times New Roman" panose="02020603050405020304" pitchFamily="18" charset="0"/>
                <a:cs typeface="Times New Roman" panose="02020603050405020304" pitchFamily="18" charset="0"/>
              </a:rPr>
              <a:t>WebApp</a:t>
            </a:r>
            <a:r>
              <a:rPr lang="en-US" sz="2400" dirty="0">
                <a:latin typeface="Times New Roman" panose="02020603050405020304" pitchFamily="18" charset="0"/>
                <a:cs typeface="Times New Roman" panose="02020603050405020304" pitchFamily="18" charset="0"/>
              </a:rPr>
              <a:t> at one time.</a:t>
            </a:r>
          </a:p>
          <a:p>
            <a:pPr algn="just">
              <a:lnSpc>
                <a:spcPct val="90000"/>
              </a:lnSpc>
              <a:buFont typeface="Wingdings" panose="05000000000000000000" pitchFamily="2" charset="2"/>
              <a:buChar char="§"/>
            </a:pPr>
            <a:r>
              <a:rPr lang="en-US" sz="2400" b="1" dirty="0">
                <a:solidFill>
                  <a:schemeClr val="folHlink"/>
                </a:solidFill>
                <a:latin typeface="Times New Roman" panose="02020603050405020304" pitchFamily="18" charset="0"/>
                <a:cs typeface="Times New Roman" panose="02020603050405020304" pitchFamily="18" charset="0"/>
              </a:rPr>
              <a:t>Unpredictable load.</a:t>
            </a:r>
            <a:r>
              <a:rPr lang="en-US" sz="2400" dirty="0">
                <a:solidFill>
                  <a:schemeClr val="folHlink"/>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number of users of the </a:t>
            </a:r>
            <a:r>
              <a:rPr lang="en-US" sz="2400" dirty="0" err="1">
                <a:latin typeface="Times New Roman" panose="02020603050405020304" pitchFamily="18" charset="0"/>
                <a:cs typeface="Times New Roman" panose="02020603050405020304" pitchFamily="18" charset="0"/>
              </a:rPr>
              <a:t>WebApp</a:t>
            </a:r>
            <a:r>
              <a:rPr lang="en-US" sz="2400" dirty="0">
                <a:latin typeface="Times New Roman" panose="02020603050405020304" pitchFamily="18" charset="0"/>
                <a:cs typeface="Times New Roman" panose="02020603050405020304" pitchFamily="18" charset="0"/>
              </a:rPr>
              <a:t> may vary by orders of magnitude from day to day.</a:t>
            </a:r>
          </a:p>
          <a:p>
            <a:pPr algn="just">
              <a:lnSpc>
                <a:spcPct val="90000"/>
              </a:lnSpc>
              <a:spcBef>
                <a:spcPts val="300"/>
              </a:spcBef>
              <a:buFont typeface="Wingdings" panose="05000000000000000000" pitchFamily="2" charset="2"/>
              <a:buChar char="§"/>
            </a:pPr>
            <a:r>
              <a:rPr lang="en-US" sz="2400" b="1" dirty="0">
                <a:solidFill>
                  <a:schemeClr val="folHlink"/>
                </a:solidFill>
                <a:latin typeface="Times New Roman" panose="02020603050405020304" pitchFamily="18" charset="0"/>
                <a:cs typeface="Times New Roman" panose="02020603050405020304" pitchFamily="18" charset="0"/>
              </a:rPr>
              <a:t>Performance.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If a </a:t>
            </a:r>
            <a:r>
              <a:rPr lang="en-US" sz="2400" dirty="0" err="1">
                <a:latin typeface="Times New Roman" panose="02020603050405020304" pitchFamily="18" charset="0"/>
                <a:cs typeface="Times New Roman" panose="02020603050405020304" pitchFamily="18" charset="0"/>
              </a:rPr>
              <a:t>WebApp</a:t>
            </a:r>
            <a:r>
              <a:rPr lang="en-US" sz="2400" dirty="0">
                <a:latin typeface="Times New Roman" panose="02020603050405020304" pitchFamily="18" charset="0"/>
                <a:cs typeface="Times New Roman" panose="02020603050405020304" pitchFamily="18" charset="0"/>
              </a:rPr>
              <a:t> user must wait too long (for access, for server-side processing, for client-side formatting and display), he or she may decide to go elsewhere. </a:t>
            </a:r>
          </a:p>
          <a:p>
            <a:pPr algn="just">
              <a:lnSpc>
                <a:spcPct val="90000"/>
              </a:lnSpc>
              <a:spcBef>
                <a:spcPts val="300"/>
              </a:spcBef>
              <a:buFont typeface="Wingdings" panose="05000000000000000000" pitchFamily="2" charset="2"/>
              <a:buChar char="§"/>
            </a:pPr>
            <a:r>
              <a:rPr lang="en-US" sz="2400" b="1" dirty="0">
                <a:solidFill>
                  <a:schemeClr val="folHlink"/>
                </a:solidFill>
                <a:latin typeface="Times New Roman" panose="02020603050405020304" pitchFamily="18" charset="0"/>
                <a:cs typeface="Times New Roman" panose="02020603050405020304" pitchFamily="18" charset="0"/>
              </a:rPr>
              <a:t>Availability.</a:t>
            </a:r>
            <a:r>
              <a:rPr lang="en-US" sz="2400" dirty="0">
                <a:latin typeface="Times New Roman" panose="02020603050405020304" pitchFamily="18" charset="0"/>
                <a:cs typeface="Times New Roman" panose="02020603050405020304" pitchFamily="18" charset="0"/>
              </a:rPr>
              <a:t>  Although expectation of 100 percent availability is unreasonable, users of popular </a:t>
            </a:r>
            <a:r>
              <a:rPr lang="en-US" sz="2400" dirty="0" err="1">
                <a:latin typeface="Times New Roman" panose="02020603050405020304" pitchFamily="18" charset="0"/>
                <a:cs typeface="Times New Roman" panose="02020603050405020304" pitchFamily="18" charset="0"/>
              </a:rPr>
              <a:t>WebApps</a:t>
            </a:r>
            <a:r>
              <a:rPr lang="en-US" sz="2400" dirty="0">
                <a:latin typeface="Times New Roman" panose="02020603050405020304" pitchFamily="18" charset="0"/>
                <a:cs typeface="Times New Roman" panose="02020603050405020304" pitchFamily="18" charset="0"/>
              </a:rPr>
              <a:t> often demand access on a “24/7/365” basis.</a:t>
            </a:r>
          </a:p>
          <a:p>
            <a:pPr algn="just">
              <a:lnSpc>
                <a:spcPct val="90000"/>
              </a:lnSpc>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12</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295400" cy="60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2800" b="1" dirty="0"/>
              <a:t>Characteristics of </a:t>
            </a:r>
            <a:r>
              <a:rPr lang="en-US" sz="2800" b="1" dirty="0" err="1"/>
              <a:t>WebApps</a:t>
            </a:r>
            <a:r>
              <a:rPr lang="en-US" sz="2800" b="1" dirty="0"/>
              <a:t>(</a:t>
            </a:r>
            <a:r>
              <a:rPr lang="en-US" sz="2800" b="1" dirty="0" err="1"/>
              <a:t>Cont</a:t>
            </a:r>
            <a:r>
              <a:rPr lang="en-US" sz="2800" b="1" dirty="0"/>
              <a:t>…) </a:t>
            </a:r>
            <a:endParaRPr lang="en-US" sz="2800" b="1" dirty="0">
              <a:solidFill>
                <a:srgbClr val="002060"/>
              </a:solidFill>
            </a:endParaRPr>
          </a:p>
        </p:txBody>
      </p:sp>
      <p:sp>
        <p:nvSpPr>
          <p:cNvPr id="3" name="Content Placeholder 2"/>
          <p:cNvSpPr>
            <a:spLocks noGrp="1"/>
          </p:cNvSpPr>
          <p:nvPr>
            <p:ph idx="1"/>
          </p:nvPr>
        </p:nvSpPr>
        <p:spPr>
          <a:xfrm>
            <a:off x="152400" y="1524000"/>
            <a:ext cx="8246598" cy="4495800"/>
          </a:xfrm>
        </p:spPr>
        <p:txBody>
          <a:bodyPr>
            <a:noAutofit/>
          </a:bodyPr>
          <a:lstStyle/>
          <a:p>
            <a:pPr>
              <a:lnSpc>
                <a:spcPct val="90000"/>
              </a:lnSpc>
              <a:buFont typeface="Wingdings" panose="05000000000000000000" pitchFamily="2" charset="2"/>
              <a:buChar char="q"/>
            </a:pPr>
            <a:r>
              <a:rPr lang="en-US" sz="2000" b="1" dirty="0">
                <a:solidFill>
                  <a:schemeClr val="folHlink"/>
                </a:solidFill>
                <a:latin typeface="Times New Roman" panose="02020603050405020304" pitchFamily="18" charset="0"/>
                <a:cs typeface="Times New Roman" panose="02020603050405020304" pitchFamily="18" charset="0"/>
              </a:rPr>
              <a:t>Data driven. </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primary function of many </a:t>
            </a:r>
            <a:r>
              <a:rPr lang="en-US" sz="2000" dirty="0" err="1">
                <a:latin typeface="Times New Roman" panose="02020603050405020304" pitchFamily="18" charset="0"/>
                <a:cs typeface="Times New Roman" panose="02020603050405020304" pitchFamily="18" charset="0"/>
              </a:rPr>
              <a:t>WebApps</a:t>
            </a:r>
            <a:r>
              <a:rPr lang="en-US" sz="2000" dirty="0">
                <a:latin typeface="Times New Roman" panose="02020603050405020304" pitchFamily="18" charset="0"/>
                <a:cs typeface="Times New Roman" panose="02020603050405020304" pitchFamily="18" charset="0"/>
              </a:rPr>
              <a:t> is to use hypermedia to present text, graphics, audio, and video content to the end-user. </a:t>
            </a:r>
          </a:p>
          <a:p>
            <a:pPr>
              <a:lnSpc>
                <a:spcPct val="90000"/>
              </a:lnSpc>
              <a:buFont typeface="Wingdings" panose="05000000000000000000" pitchFamily="2" charset="2"/>
              <a:buChar char="q"/>
            </a:pPr>
            <a:r>
              <a:rPr lang="en-US" sz="2000" b="1" dirty="0">
                <a:solidFill>
                  <a:schemeClr val="folHlink"/>
                </a:solidFill>
                <a:latin typeface="Times New Roman" panose="02020603050405020304" pitchFamily="18" charset="0"/>
                <a:cs typeface="Times New Roman" panose="02020603050405020304" pitchFamily="18" charset="0"/>
              </a:rPr>
              <a:t>Content sensitive. </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quality and aesthetic nature of content remains an important determinant of the quality of a </a:t>
            </a:r>
            <a:r>
              <a:rPr lang="en-US" sz="2000" dirty="0" err="1">
                <a:latin typeface="Times New Roman" panose="02020603050405020304" pitchFamily="18" charset="0"/>
                <a:cs typeface="Times New Roman" panose="02020603050405020304" pitchFamily="18" charset="0"/>
              </a:rPr>
              <a:t>WebApp</a:t>
            </a:r>
            <a:r>
              <a:rPr lang="en-US" sz="2000" dirty="0">
                <a:latin typeface="Times New Roman" panose="02020603050405020304" pitchFamily="18" charset="0"/>
                <a:cs typeface="Times New Roman" panose="02020603050405020304" pitchFamily="18" charset="0"/>
              </a:rPr>
              <a:t>.</a:t>
            </a:r>
          </a:p>
          <a:p>
            <a:pPr>
              <a:lnSpc>
                <a:spcPct val="90000"/>
              </a:lnSpc>
              <a:buFont typeface="Wingdings" panose="05000000000000000000" pitchFamily="2" charset="2"/>
              <a:buChar char="q"/>
            </a:pPr>
            <a:r>
              <a:rPr lang="en-US" sz="2000" b="1" dirty="0">
                <a:solidFill>
                  <a:schemeClr val="folHlink"/>
                </a:solidFill>
                <a:latin typeface="Times New Roman" panose="02020603050405020304" pitchFamily="18" charset="0"/>
                <a:cs typeface="Times New Roman" panose="02020603050405020304" pitchFamily="18" charset="0"/>
              </a:rPr>
              <a:t>Continuous evolution.</a:t>
            </a:r>
            <a:r>
              <a:rPr lang="en-US" sz="2000" dirty="0">
                <a:latin typeface="Times New Roman" panose="02020603050405020304" pitchFamily="18" charset="0"/>
                <a:cs typeface="Times New Roman" panose="02020603050405020304" pitchFamily="18" charset="0"/>
              </a:rPr>
              <a:t> Unlike conventional application software that evolves over a series of planned, chronologically-spaced releases, Web applications evolve continuously. </a:t>
            </a:r>
          </a:p>
          <a:p>
            <a:pPr>
              <a:lnSpc>
                <a:spcPct val="90000"/>
              </a:lnSpc>
              <a:buFont typeface="Wingdings" panose="05000000000000000000" pitchFamily="2" charset="2"/>
              <a:buChar char="q"/>
            </a:pPr>
            <a:r>
              <a:rPr lang="en-US" sz="2000" b="1" dirty="0">
                <a:solidFill>
                  <a:schemeClr val="folHlink"/>
                </a:solidFill>
                <a:latin typeface="Times New Roman" panose="02020603050405020304" pitchFamily="18" charset="0"/>
                <a:cs typeface="Times New Roman" panose="02020603050405020304" pitchFamily="18" charset="0"/>
              </a:rPr>
              <a:t>Immediacy.</a:t>
            </a:r>
            <a:r>
              <a:rPr lang="en-US" sz="2000" dirty="0">
                <a:solidFill>
                  <a:schemeClr val="folHlink"/>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Although </a:t>
            </a:r>
            <a:r>
              <a:rPr lang="en-US" sz="2000" i="1" dirty="0">
                <a:latin typeface="Times New Roman" panose="02020603050405020304" pitchFamily="18" charset="0"/>
                <a:cs typeface="Times New Roman" panose="02020603050405020304" pitchFamily="18" charset="0"/>
              </a:rPr>
              <a:t>immediacy</a:t>
            </a:r>
            <a:r>
              <a:rPr lang="en-US" sz="2000" dirty="0">
                <a:latin typeface="Times New Roman" panose="02020603050405020304" pitchFamily="18" charset="0"/>
                <a:cs typeface="Times New Roman" panose="02020603050405020304" pitchFamily="18" charset="0"/>
              </a:rPr>
              <a:t>—the compelling need to get software to market quickly—is a characteristic of many application domains, </a:t>
            </a:r>
            <a:r>
              <a:rPr lang="en-US" sz="2000" dirty="0" err="1">
                <a:latin typeface="Times New Roman" panose="02020603050405020304" pitchFamily="18" charset="0"/>
                <a:cs typeface="Times New Roman" panose="02020603050405020304" pitchFamily="18" charset="0"/>
              </a:rPr>
              <a:t>WebApps</a:t>
            </a:r>
            <a:r>
              <a:rPr lang="en-US" sz="2000" dirty="0">
                <a:latin typeface="Times New Roman" panose="02020603050405020304" pitchFamily="18" charset="0"/>
                <a:cs typeface="Times New Roman" panose="02020603050405020304" pitchFamily="18" charset="0"/>
              </a:rPr>
              <a:t> often exhibit a time to market that can be a matter of a few days or weeks.</a:t>
            </a:r>
          </a:p>
          <a:p>
            <a:pPr>
              <a:lnSpc>
                <a:spcPct val="90000"/>
              </a:lnSpc>
              <a:buFont typeface="Wingdings" panose="05000000000000000000" pitchFamily="2" charset="2"/>
              <a:buChar char="q"/>
            </a:pPr>
            <a:r>
              <a:rPr lang="en-US" sz="2000" b="1" dirty="0">
                <a:solidFill>
                  <a:schemeClr val="folHlink"/>
                </a:solidFill>
                <a:latin typeface="Times New Roman" panose="02020603050405020304" pitchFamily="18" charset="0"/>
                <a:cs typeface="Times New Roman" panose="02020603050405020304" pitchFamily="18" charset="0"/>
              </a:rPr>
              <a:t>Security.</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Because </a:t>
            </a:r>
            <a:r>
              <a:rPr lang="en-US" sz="2000" dirty="0" err="1">
                <a:latin typeface="Times New Roman" panose="02020603050405020304" pitchFamily="18" charset="0"/>
                <a:cs typeface="Times New Roman" panose="02020603050405020304" pitchFamily="18" charset="0"/>
              </a:rPr>
              <a:t>WebApps</a:t>
            </a:r>
            <a:r>
              <a:rPr lang="en-US" sz="2000" dirty="0">
                <a:latin typeface="Times New Roman" panose="02020603050405020304" pitchFamily="18" charset="0"/>
                <a:cs typeface="Times New Roman" panose="02020603050405020304" pitchFamily="18" charset="0"/>
              </a:rPr>
              <a:t> are available via network access, it is difficult, if not impossible, to limit the population of end-users who may access the application.</a:t>
            </a:r>
          </a:p>
          <a:p>
            <a:pPr>
              <a:lnSpc>
                <a:spcPct val="90000"/>
              </a:lnSpc>
              <a:buFont typeface="Wingdings" panose="05000000000000000000" pitchFamily="2" charset="2"/>
              <a:buChar char="q"/>
            </a:pPr>
            <a:r>
              <a:rPr lang="en-US" sz="2000" b="1" dirty="0">
                <a:solidFill>
                  <a:schemeClr val="folHlink"/>
                </a:solidFill>
                <a:latin typeface="Times New Roman" panose="02020603050405020304" pitchFamily="18" charset="0"/>
                <a:cs typeface="Times New Roman" panose="02020603050405020304" pitchFamily="18" charset="0"/>
              </a:rPr>
              <a:t>Aesthetics.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 undeniable part of the appeal of a </a:t>
            </a:r>
            <a:r>
              <a:rPr lang="en-US" sz="2000" dirty="0" err="1">
                <a:latin typeface="Times New Roman" panose="02020603050405020304" pitchFamily="18" charset="0"/>
                <a:cs typeface="Times New Roman" panose="02020603050405020304" pitchFamily="18" charset="0"/>
              </a:rPr>
              <a:t>WebApp</a:t>
            </a:r>
            <a:r>
              <a:rPr lang="en-US" sz="2000" dirty="0">
                <a:latin typeface="Times New Roman" panose="02020603050405020304" pitchFamily="18" charset="0"/>
                <a:cs typeface="Times New Roman" panose="02020603050405020304" pitchFamily="18" charset="0"/>
              </a:rPr>
              <a:t> is its look and feel. </a:t>
            </a:r>
          </a:p>
        </p:txBody>
      </p:sp>
      <p:sp>
        <p:nvSpPr>
          <p:cNvPr id="5" name="Slide Number Placeholder 4"/>
          <p:cNvSpPr>
            <a:spLocks noGrp="1"/>
          </p:cNvSpPr>
          <p:nvPr>
            <p:ph type="sldNum" sz="quarter" idx="12"/>
          </p:nvPr>
        </p:nvSpPr>
        <p:spPr/>
        <p:txBody>
          <a:bodyPr/>
          <a:lstStyle/>
          <a:p>
            <a:fld id="{195567C4-C875-4EA2-906F-45EEB91D3DE0}" type="slidenum">
              <a:rPr lang="en-US" smtClean="0"/>
              <a:t>13</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943100" cy="914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99" y="2271354"/>
            <a:ext cx="7543800" cy="1186212"/>
          </a:xfrm>
        </p:spPr>
        <p:txBody>
          <a:bodyPr/>
          <a:lstStyle/>
          <a:p>
            <a:pPr algn="ctr"/>
            <a:r>
              <a:rPr lang="en-US" sz="4000" b="1" dirty="0">
                <a:solidFill>
                  <a:srgbClr val="002060"/>
                </a:solidFill>
                <a:latin typeface="Times New Roman" panose="02020603050405020304" pitchFamily="18" charset="0"/>
                <a:cs typeface="Times New Roman" panose="02020603050405020304" pitchFamily="18" charset="0"/>
              </a:rPr>
              <a:t>Week-1: Lesson-2</a:t>
            </a:r>
            <a:br>
              <a:rPr lang="en-US" sz="4000" b="1" dirty="0">
                <a:solidFill>
                  <a:srgbClr val="002060"/>
                </a:solidFill>
                <a:latin typeface="Times New Roman" panose="02020603050405020304" pitchFamily="18" charset="0"/>
                <a:cs typeface="Times New Roman" panose="02020603050405020304" pitchFamily="18" charset="0"/>
              </a:rPr>
            </a:br>
            <a:r>
              <a:rPr lang="en-US" sz="4000" b="1" dirty="0">
                <a:solidFill>
                  <a:srgbClr val="002060"/>
                </a:solidFill>
                <a:latin typeface="Times New Roman" panose="02020603050405020304" pitchFamily="18" charset="0"/>
                <a:cs typeface="Times New Roman" panose="02020603050405020304" pitchFamily="18" charset="0"/>
              </a:rPr>
              <a:t>Software and Software Engineering</a:t>
            </a:r>
          </a:p>
        </p:txBody>
      </p:sp>
      <p:sp>
        <p:nvSpPr>
          <p:cNvPr id="4" name="Title 1"/>
          <p:cNvSpPr txBox="1"/>
          <p:nvPr/>
        </p:nvSpPr>
        <p:spPr>
          <a:xfrm>
            <a:off x="647699" y="3635921"/>
            <a:ext cx="7162800" cy="1974166"/>
          </a:xfrm>
          <a:prstGeom prst="rect">
            <a:avLst/>
          </a:prstGeom>
        </p:spPr>
        <p:txBody>
          <a:bodyPr vert="horz" lIns="91440" tIns="45720" rIns="91440" bIns="45720" rtlCol="0" anchor="b">
            <a:noAutofit/>
          </a:bodyPr>
          <a:lstStyle>
            <a:lvl1pPr algn="l" defTabSz="914400" rtl="0" eaLnBrk="1" latinLnBrk="0" hangingPunct="1">
              <a:spcBef>
                <a:spcPct val="0"/>
              </a:spcBef>
              <a:buNone/>
              <a:defRPr sz="6600" kern="1200" cap="none" spc="-100" baseline="0">
                <a:ln>
                  <a:noFill/>
                </a:ln>
                <a:solidFill>
                  <a:schemeClr val="tx2"/>
                </a:solidFill>
                <a:effectLst/>
                <a:latin typeface="+mj-lt"/>
                <a:ea typeface="+mj-ea"/>
                <a:cs typeface="+mj-cs"/>
              </a:defRPr>
            </a:lvl1pPr>
          </a:lstStyle>
          <a:p>
            <a:pPr algn="ctr"/>
            <a:r>
              <a:rPr lang="en-US" sz="4000" b="1" dirty="0" err="1">
                <a:solidFill>
                  <a:srgbClr val="002060"/>
                </a:solidFill>
                <a:latin typeface="Times New Roman" panose="02020603050405020304" pitchFamily="18" charset="0"/>
                <a:cs typeface="Times New Roman" panose="02020603050405020304" pitchFamily="18" charset="0"/>
              </a:rPr>
              <a:t>Abdus</a:t>
            </a:r>
            <a:r>
              <a:rPr lang="en-US" sz="4000" b="1" dirty="0">
                <a:solidFill>
                  <a:srgbClr val="002060"/>
                </a:solidFill>
                <a:latin typeface="Times New Roman" panose="02020603050405020304" pitchFamily="18" charset="0"/>
                <a:cs typeface="Times New Roman" panose="02020603050405020304" pitchFamily="18" charset="0"/>
              </a:rPr>
              <a:t> </a:t>
            </a:r>
            <a:r>
              <a:rPr lang="en-US" sz="4000" b="1" dirty="0" err="1">
                <a:solidFill>
                  <a:srgbClr val="002060"/>
                </a:solidFill>
                <a:latin typeface="Times New Roman" panose="02020603050405020304" pitchFamily="18" charset="0"/>
                <a:cs typeface="Times New Roman" panose="02020603050405020304" pitchFamily="18" charset="0"/>
              </a:rPr>
              <a:t>Sattar</a:t>
            </a:r>
            <a:endParaRPr lang="en-US" sz="4000" b="1" dirty="0">
              <a:solidFill>
                <a:srgbClr val="002060"/>
              </a:solidFill>
              <a:latin typeface="Times New Roman" panose="02020603050405020304" pitchFamily="18" charset="0"/>
              <a:cs typeface="Times New Roman" panose="02020603050405020304" pitchFamily="18" charset="0"/>
            </a:endParaRPr>
          </a:p>
          <a:p>
            <a:pPr algn="ctr"/>
            <a:r>
              <a:rPr lang="en-US" sz="2400" dirty="0">
                <a:solidFill>
                  <a:srgbClr val="002060"/>
                </a:solidFill>
                <a:latin typeface="Times New Roman" panose="02020603050405020304" pitchFamily="18" charset="0"/>
                <a:cs typeface="Times New Roman" panose="02020603050405020304" pitchFamily="18" charset="0"/>
              </a:rPr>
              <a:t>Assistant Professor</a:t>
            </a:r>
          </a:p>
          <a:p>
            <a:pPr algn="ctr"/>
            <a:r>
              <a:rPr lang="en-US" sz="2400" dirty="0">
                <a:solidFill>
                  <a:srgbClr val="002060"/>
                </a:solidFill>
                <a:latin typeface="Times New Roman" panose="02020603050405020304" pitchFamily="18" charset="0"/>
                <a:cs typeface="Times New Roman" panose="02020603050405020304" pitchFamily="18" charset="0"/>
              </a:rPr>
              <a:t>Department of Computer Science and Engineering</a:t>
            </a:r>
          </a:p>
          <a:p>
            <a:pPr algn="ctr"/>
            <a:r>
              <a:rPr lang="en-US" sz="2400" dirty="0">
                <a:solidFill>
                  <a:srgbClr val="002060"/>
                </a:solidFill>
                <a:latin typeface="Times New Roman" panose="02020603050405020304" pitchFamily="18" charset="0"/>
                <a:cs typeface="Times New Roman" panose="02020603050405020304" pitchFamily="18" charset="0"/>
              </a:rPr>
              <a:t>Daffodil International University </a:t>
            </a:r>
          </a:p>
          <a:p>
            <a:pPr algn="ctr"/>
            <a:r>
              <a:rPr lang="en-US" sz="2400" dirty="0">
                <a:solidFill>
                  <a:srgbClr val="002060"/>
                </a:solidFill>
                <a:latin typeface="Times New Roman" panose="02020603050405020304" pitchFamily="18" charset="0"/>
                <a:cs typeface="Times New Roman" panose="02020603050405020304" pitchFamily="18" charset="0"/>
              </a:rPr>
              <a:t>Email: </a:t>
            </a:r>
            <a:r>
              <a:rPr lang="en-US" sz="2400" dirty="0">
                <a:solidFill>
                  <a:srgbClr val="002060"/>
                </a:solidFill>
                <a:latin typeface="Times New Roman" panose="02020603050405020304" pitchFamily="18" charset="0"/>
                <a:cs typeface="Times New Roman" panose="02020603050405020304" pitchFamily="18" charset="0"/>
                <a:hlinkClick r:id="rId2"/>
              </a:rPr>
              <a:t>abdus.cse@diu.edu.bd</a:t>
            </a:r>
            <a:r>
              <a:rPr lang="en-US" sz="2400" dirty="0">
                <a:solidFill>
                  <a:srgbClr val="002060"/>
                </a:solidFill>
                <a:latin typeface="Times New Roman" panose="02020603050405020304" pitchFamily="18" charset="0"/>
                <a:cs typeface="Times New Roman" panose="02020603050405020304" pitchFamily="18" charset="0"/>
              </a:rPr>
              <a:t> </a:t>
            </a:r>
            <a:endParaRPr lang="en-US" sz="2400" u="sng" dirty="0">
              <a:solidFill>
                <a:srgbClr val="002060"/>
              </a:solidFill>
              <a:latin typeface="Times New Roman" panose="02020603050405020304" pitchFamily="18" charset="0"/>
              <a:cs typeface="Times New Roman" panose="02020603050405020304" pitchFamily="18" charset="0"/>
            </a:endParaRPr>
          </a:p>
        </p:txBody>
      </p:sp>
      <p:cxnSp>
        <p:nvCxnSpPr>
          <p:cNvPr id="6" name="Straight Connector 5"/>
          <p:cNvCxnSpPr/>
          <p:nvPr/>
        </p:nvCxnSpPr>
        <p:spPr>
          <a:xfrm>
            <a:off x="647699" y="3468582"/>
            <a:ext cx="7467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1026" name="Picture 2" descr="https://kuliahso.files.wordpress.com/2012/03/software-layer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8736" y="146121"/>
            <a:ext cx="3969327" cy="186791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 result for daffodil international universi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5867400"/>
            <a:ext cx="3276600" cy="8187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Software Engineering</a:t>
            </a:r>
            <a:endParaRPr lang="en-US" sz="3600" b="1" dirty="0">
              <a:solidFill>
                <a:srgbClr val="002060"/>
              </a:solidFill>
            </a:endParaRPr>
          </a:p>
        </p:txBody>
      </p:sp>
      <p:sp>
        <p:nvSpPr>
          <p:cNvPr id="3" name="Content Placeholder 2"/>
          <p:cNvSpPr>
            <a:spLocks noGrp="1"/>
          </p:cNvSpPr>
          <p:nvPr>
            <p:ph idx="1"/>
          </p:nvPr>
        </p:nvSpPr>
        <p:spPr>
          <a:xfrm>
            <a:off x="152400" y="1524000"/>
            <a:ext cx="7848600" cy="3733800"/>
          </a:xfrm>
        </p:spPr>
        <p:txBody>
          <a:bodyPr>
            <a:noAutofit/>
          </a:bodyPr>
          <a:lstStyle/>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The IEEE definition:</a:t>
            </a:r>
          </a:p>
          <a:p>
            <a:pPr lvl="1">
              <a:spcBef>
                <a:spcPts val="300"/>
              </a:spcBef>
              <a:buFont typeface="Wingdings" panose="05000000000000000000" pitchFamily="2" charset="2"/>
              <a:buChar char="§"/>
            </a:pPr>
            <a:r>
              <a:rPr lang="en-US" sz="2400" i="1" dirty="0">
                <a:latin typeface="Times New Roman" panose="02020603050405020304" pitchFamily="18" charset="0"/>
                <a:cs typeface="Times New Roman" panose="02020603050405020304" pitchFamily="18" charset="0"/>
              </a:rPr>
              <a:t>Software Engineering: </a:t>
            </a:r>
          </a:p>
          <a:p>
            <a:pPr lvl="2">
              <a:spcBef>
                <a:spcPts val="300"/>
              </a:spcBef>
              <a:buFont typeface="Wingdings" panose="05000000000000000000" pitchFamily="2" charset="2"/>
              <a:buChar char="§"/>
            </a:pPr>
            <a:r>
              <a:rPr lang="en-US" sz="2200" i="1" dirty="0">
                <a:latin typeface="Times New Roman" panose="02020603050405020304" pitchFamily="18" charset="0"/>
                <a:cs typeface="Times New Roman" panose="02020603050405020304" pitchFamily="18" charset="0"/>
              </a:rPr>
              <a:t>The application of a </a:t>
            </a:r>
            <a:r>
              <a:rPr lang="en-US" sz="2200" i="1" dirty="0">
                <a:solidFill>
                  <a:schemeClr val="folHlink"/>
                </a:solidFill>
                <a:latin typeface="Times New Roman" panose="02020603050405020304" pitchFamily="18" charset="0"/>
                <a:cs typeface="Times New Roman" panose="02020603050405020304" pitchFamily="18" charset="0"/>
              </a:rPr>
              <a:t>systematic, disciplined, quantifiable approach</a:t>
            </a:r>
            <a:r>
              <a:rPr lang="en-US" sz="2200" i="1" dirty="0">
                <a:latin typeface="Times New Roman" panose="02020603050405020304" pitchFamily="18" charset="0"/>
                <a:cs typeface="Times New Roman" panose="02020603050405020304" pitchFamily="18" charset="0"/>
              </a:rPr>
              <a:t> to the </a:t>
            </a:r>
            <a:r>
              <a:rPr lang="en-US" sz="2200" i="1" dirty="0">
                <a:solidFill>
                  <a:schemeClr val="folHlink"/>
                </a:solidFill>
                <a:latin typeface="Times New Roman" panose="02020603050405020304" pitchFamily="18" charset="0"/>
                <a:cs typeface="Times New Roman" panose="02020603050405020304" pitchFamily="18" charset="0"/>
              </a:rPr>
              <a:t>development, operation, and maintenance</a:t>
            </a:r>
            <a:r>
              <a:rPr lang="en-US" sz="2200" i="1" dirty="0">
                <a:latin typeface="Times New Roman" panose="02020603050405020304" pitchFamily="18" charset="0"/>
                <a:cs typeface="Times New Roman" panose="02020603050405020304" pitchFamily="18" charset="0"/>
              </a:rPr>
              <a:t> of software; that is, the application of engineering to software. </a:t>
            </a:r>
          </a:p>
        </p:txBody>
      </p:sp>
      <p:sp>
        <p:nvSpPr>
          <p:cNvPr id="5" name="Slide Number Placeholder 4"/>
          <p:cNvSpPr>
            <a:spLocks noGrp="1"/>
          </p:cNvSpPr>
          <p:nvPr>
            <p:ph type="sldNum" sz="quarter" idx="12"/>
          </p:nvPr>
        </p:nvSpPr>
        <p:spPr/>
        <p:txBody>
          <a:bodyPr/>
          <a:lstStyle/>
          <a:p>
            <a:fld id="{195567C4-C875-4EA2-906F-45EEB91D3DE0}" type="slidenum">
              <a:rPr lang="en-US" smtClean="0"/>
              <a:t>15</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447800" cy="68131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55445" y="6045200"/>
            <a:ext cx="6795837" cy="369332"/>
          </a:xfrm>
          <a:prstGeom prst="rect">
            <a:avLst/>
          </a:prstGeom>
        </p:spPr>
        <p:txBody>
          <a:bodyPr wrap="square">
            <a:spAutoFit/>
          </a:bodyPr>
          <a:lstStyle/>
          <a:p>
            <a:r>
              <a:rPr lang="en-US" b="1" dirty="0">
                <a:solidFill>
                  <a:srgbClr val="4D5156"/>
                </a:solidFill>
                <a:latin typeface="Arial" panose="020B0604020202020204" pitchFamily="34" charset="0"/>
              </a:rPr>
              <a:t>IEEE-The Institute of Electrical and Electronics Engineers</a:t>
            </a:r>
            <a:endParaRPr 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Software Engineering (Cont..)</a:t>
            </a:r>
            <a:endParaRPr lang="en-US" sz="3600" b="1" dirty="0">
              <a:solidFill>
                <a:srgbClr val="002060"/>
              </a:solidFill>
            </a:endParaRPr>
          </a:p>
        </p:txBody>
      </p:sp>
      <p:sp>
        <p:nvSpPr>
          <p:cNvPr id="3" name="Content Placeholder 2"/>
          <p:cNvSpPr>
            <a:spLocks noGrp="1"/>
          </p:cNvSpPr>
          <p:nvPr>
            <p:ph idx="1"/>
          </p:nvPr>
        </p:nvSpPr>
        <p:spPr>
          <a:xfrm>
            <a:off x="152400" y="1524000"/>
            <a:ext cx="7848600" cy="3733800"/>
          </a:xfrm>
        </p:spPr>
        <p:txBody>
          <a:bodyPr>
            <a:noAutofit/>
          </a:bodyPr>
          <a:lstStyle/>
          <a:p>
            <a:pPr marL="457200" indent="-457200" algn="just">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The process of </a:t>
            </a:r>
            <a:r>
              <a:rPr lang="en-US" sz="3200" dirty="0">
                <a:solidFill>
                  <a:srgbClr val="FF0000"/>
                </a:solidFill>
                <a:latin typeface="Times New Roman" panose="02020603050405020304" pitchFamily="18" charset="0"/>
                <a:cs typeface="Times New Roman" panose="02020603050405020304" pitchFamily="18" charset="0"/>
              </a:rPr>
              <a:t>solving customers</a:t>
            </a:r>
            <a:r>
              <a:rPr lang="ja-JP" altLang="en-US" sz="3200" dirty="0">
                <a:solidFill>
                  <a:srgbClr val="FF0000"/>
                </a:solidFill>
                <a:latin typeface="Times New Roman" panose="02020603050405020304" pitchFamily="18" charset="0"/>
                <a:cs typeface="Times New Roman" panose="02020603050405020304" pitchFamily="18" charset="0"/>
              </a:rPr>
              <a:t>’</a:t>
            </a:r>
            <a:r>
              <a:rPr lang="en-US" altLang="ja-JP" sz="3200" dirty="0">
                <a:solidFill>
                  <a:srgbClr val="FF0000"/>
                </a:solidFill>
                <a:latin typeface="Times New Roman" panose="02020603050405020304" pitchFamily="18" charset="0"/>
                <a:cs typeface="Times New Roman" panose="02020603050405020304" pitchFamily="18" charset="0"/>
              </a:rPr>
              <a:t> problems</a:t>
            </a:r>
            <a:r>
              <a:rPr lang="en-US" altLang="ja-JP" sz="3200" dirty="0">
                <a:latin typeface="Times New Roman" panose="02020603050405020304" pitchFamily="18" charset="0"/>
                <a:cs typeface="Times New Roman" panose="02020603050405020304" pitchFamily="18" charset="0"/>
              </a:rPr>
              <a:t> by the systematic development and evolution of large, high-quality software systems within cost, time and other constraints</a:t>
            </a:r>
          </a:p>
        </p:txBody>
      </p:sp>
      <p:sp>
        <p:nvSpPr>
          <p:cNvPr id="5" name="Slide Number Placeholder 4"/>
          <p:cNvSpPr>
            <a:spLocks noGrp="1"/>
          </p:cNvSpPr>
          <p:nvPr>
            <p:ph type="sldNum" sz="quarter" idx="12"/>
          </p:nvPr>
        </p:nvSpPr>
        <p:spPr/>
        <p:txBody>
          <a:bodyPr/>
          <a:lstStyle/>
          <a:p>
            <a:fld id="{195567C4-C875-4EA2-906F-45EEB91D3DE0}" type="slidenum">
              <a:rPr lang="en-US" smtClean="0"/>
              <a:t>16</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447800" cy="6813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Software Engineering (Cont..)</a:t>
            </a:r>
            <a:endParaRPr lang="en-US" sz="3600" b="1" dirty="0">
              <a:solidFill>
                <a:srgbClr val="002060"/>
              </a:solidFill>
            </a:endParaRPr>
          </a:p>
        </p:txBody>
      </p:sp>
      <p:sp>
        <p:nvSpPr>
          <p:cNvPr id="3" name="Content Placeholder 2"/>
          <p:cNvSpPr>
            <a:spLocks noGrp="1"/>
          </p:cNvSpPr>
          <p:nvPr>
            <p:ph idx="1"/>
          </p:nvPr>
        </p:nvSpPr>
        <p:spPr>
          <a:xfrm>
            <a:off x="152400" y="1524000"/>
            <a:ext cx="8077200" cy="3733800"/>
          </a:xfrm>
        </p:spPr>
        <p:txBody>
          <a:bodyPr>
            <a:no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Solving customers</a:t>
            </a:r>
            <a:r>
              <a:rPr lang="ja-JP" altLang="en-US" sz="2800" b="1" dirty="0">
                <a:latin typeface="Times New Roman" panose="02020603050405020304" pitchFamily="18" charset="0"/>
                <a:cs typeface="Times New Roman" panose="02020603050405020304" pitchFamily="18" charset="0"/>
              </a:rPr>
              <a:t>’</a:t>
            </a:r>
            <a:r>
              <a:rPr lang="en-US" altLang="ja-JP" sz="2800" b="1" dirty="0">
                <a:latin typeface="Times New Roman" panose="02020603050405020304" pitchFamily="18" charset="0"/>
                <a:cs typeface="Times New Roman" panose="02020603050405020304" pitchFamily="18" charset="0"/>
              </a:rPr>
              <a:t> problems</a:t>
            </a:r>
          </a:p>
          <a:p>
            <a:pPr lvl="1"/>
            <a:r>
              <a:rPr lang="en-US" sz="2800" dirty="0">
                <a:solidFill>
                  <a:srgbClr val="FF0000"/>
                </a:solidFill>
                <a:latin typeface="Times New Roman" panose="02020603050405020304" pitchFamily="18" charset="0"/>
                <a:cs typeface="Times New Roman" panose="02020603050405020304" pitchFamily="18" charset="0"/>
              </a:rPr>
              <a:t>The goal</a:t>
            </a:r>
          </a:p>
          <a:p>
            <a:pPr lvl="1"/>
            <a:r>
              <a:rPr lang="en-US" sz="2800" dirty="0">
                <a:latin typeface="Times New Roman" panose="02020603050405020304" pitchFamily="18" charset="0"/>
                <a:cs typeface="Times New Roman" panose="02020603050405020304" pitchFamily="18" charset="0"/>
              </a:rPr>
              <a:t>Sometimes the solution is to </a:t>
            </a:r>
            <a:r>
              <a:rPr lang="en-US" sz="2800" i="1" dirty="0">
                <a:solidFill>
                  <a:srgbClr val="FF0000"/>
                </a:solidFill>
                <a:latin typeface="Times New Roman" panose="02020603050405020304" pitchFamily="18" charset="0"/>
                <a:cs typeface="Times New Roman" panose="02020603050405020304" pitchFamily="18" charset="0"/>
              </a:rPr>
              <a:t>buy</a:t>
            </a:r>
            <a:r>
              <a:rPr lang="en-US" sz="2800" i="1" dirty="0">
                <a:latin typeface="Times New Roman" panose="02020603050405020304" pitchFamily="18" charset="0"/>
                <a:cs typeface="Times New Roman" panose="02020603050405020304" pitchFamily="18" charset="0"/>
              </a:rPr>
              <a:t>, not build</a:t>
            </a:r>
            <a:endParaRPr lang="en-US" sz="2800" dirty="0">
              <a:latin typeface="Times New Roman" panose="02020603050405020304" pitchFamily="18" charset="0"/>
              <a:cs typeface="Times New Roman" panose="02020603050405020304" pitchFamily="18" charset="0"/>
            </a:endParaRPr>
          </a:p>
          <a:p>
            <a:pPr lvl="1"/>
            <a:r>
              <a:rPr lang="en-US" sz="2800" dirty="0">
                <a:latin typeface="Times New Roman" panose="02020603050405020304" pitchFamily="18" charset="0"/>
                <a:cs typeface="Times New Roman" panose="02020603050405020304" pitchFamily="18" charset="0"/>
              </a:rPr>
              <a:t>Adding unnecessary features often makes software worse</a:t>
            </a:r>
          </a:p>
          <a:p>
            <a:pPr lvl="1"/>
            <a:r>
              <a:rPr lang="en-US" sz="2800" dirty="0">
                <a:latin typeface="Times New Roman" panose="02020603050405020304" pitchFamily="18" charset="0"/>
                <a:cs typeface="Times New Roman" panose="02020603050405020304" pitchFamily="18" charset="0"/>
              </a:rPr>
              <a:t>Software engineers must </a:t>
            </a:r>
            <a:r>
              <a:rPr lang="en-US" sz="2800" i="1" dirty="0">
                <a:latin typeface="Times New Roman" panose="02020603050405020304" pitchFamily="18" charset="0"/>
                <a:cs typeface="Times New Roman" panose="02020603050405020304" pitchFamily="18" charset="0"/>
              </a:rPr>
              <a:t>communicate effectively</a:t>
            </a:r>
            <a:r>
              <a:rPr lang="en-US" sz="2800" dirty="0">
                <a:latin typeface="Times New Roman" panose="02020603050405020304" pitchFamily="18" charset="0"/>
                <a:cs typeface="Times New Roman" panose="02020603050405020304" pitchFamily="18" charset="0"/>
              </a:rPr>
              <a:t> to identify and understand the problem</a:t>
            </a:r>
          </a:p>
        </p:txBody>
      </p:sp>
      <p:sp>
        <p:nvSpPr>
          <p:cNvPr id="5" name="Slide Number Placeholder 4"/>
          <p:cNvSpPr>
            <a:spLocks noGrp="1"/>
          </p:cNvSpPr>
          <p:nvPr>
            <p:ph type="sldNum" sz="quarter" idx="12"/>
          </p:nvPr>
        </p:nvSpPr>
        <p:spPr/>
        <p:txBody>
          <a:bodyPr/>
          <a:lstStyle/>
          <a:p>
            <a:fld id="{195567C4-C875-4EA2-906F-45EEB91D3DE0}" type="slidenum">
              <a:rPr lang="en-US" smtClean="0"/>
              <a:t>17</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447800" cy="6813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Software Engineering (Cont..)</a:t>
            </a:r>
            <a:endParaRPr lang="en-US" sz="3600" b="1" dirty="0">
              <a:solidFill>
                <a:srgbClr val="002060"/>
              </a:solidFill>
            </a:endParaRPr>
          </a:p>
        </p:txBody>
      </p:sp>
      <p:sp>
        <p:nvSpPr>
          <p:cNvPr id="3" name="Content Placeholder 2"/>
          <p:cNvSpPr>
            <a:spLocks noGrp="1"/>
          </p:cNvSpPr>
          <p:nvPr>
            <p:ph idx="1"/>
          </p:nvPr>
        </p:nvSpPr>
        <p:spPr>
          <a:xfrm>
            <a:off x="152400" y="1524000"/>
            <a:ext cx="7848600" cy="4267200"/>
          </a:xfrm>
        </p:spPr>
        <p:txBody>
          <a:bodyPr>
            <a:noAutofit/>
          </a:bodyPr>
          <a:lstStyle/>
          <a:p>
            <a:pPr marL="457200" indent="-457200">
              <a:buFont typeface="Wingdings" panose="05000000000000000000" pitchFamily="2" charset="2"/>
              <a:buChar char="q"/>
            </a:pPr>
            <a:r>
              <a:rPr lang="en-US" sz="2800" dirty="0">
                <a:solidFill>
                  <a:srgbClr val="FF0000"/>
                </a:solidFill>
                <a:latin typeface="Times New Roman" panose="02020603050405020304" pitchFamily="18" charset="0"/>
                <a:cs typeface="Times New Roman" panose="02020603050405020304" pitchFamily="18" charset="0"/>
              </a:rPr>
              <a:t>Systematic development </a:t>
            </a:r>
            <a:r>
              <a:rPr lang="en-US" sz="2800" dirty="0">
                <a:latin typeface="Times New Roman" panose="02020603050405020304" pitchFamily="18" charset="0"/>
                <a:cs typeface="Times New Roman" panose="02020603050405020304" pitchFamily="18" charset="0"/>
              </a:rPr>
              <a:t>and evolution</a:t>
            </a:r>
          </a:p>
          <a:p>
            <a:pPr lvl="1"/>
            <a:r>
              <a:rPr lang="en-US" sz="2800" dirty="0">
                <a:latin typeface="Times New Roman" panose="02020603050405020304" pitchFamily="18" charset="0"/>
                <a:cs typeface="Times New Roman" panose="02020603050405020304" pitchFamily="18" charset="0"/>
              </a:rPr>
              <a:t>An engineering process involves applying </a:t>
            </a:r>
            <a:r>
              <a:rPr lang="en-US" sz="2800" i="1" dirty="0">
                <a:latin typeface="Times New Roman" panose="02020603050405020304" pitchFamily="18" charset="0"/>
                <a:cs typeface="Times New Roman" panose="02020603050405020304" pitchFamily="18" charset="0"/>
              </a:rPr>
              <a:t>well understood techniques</a:t>
            </a:r>
            <a:r>
              <a:rPr lang="en-US" sz="2800" dirty="0">
                <a:latin typeface="Times New Roman" panose="02020603050405020304" pitchFamily="18" charset="0"/>
                <a:cs typeface="Times New Roman" panose="02020603050405020304" pitchFamily="18" charset="0"/>
              </a:rPr>
              <a:t> in a organized and </a:t>
            </a:r>
            <a:r>
              <a:rPr lang="en-US" sz="2800" i="1" dirty="0">
                <a:latin typeface="Times New Roman" panose="02020603050405020304" pitchFamily="18" charset="0"/>
                <a:cs typeface="Times New Roman" panose="02020603050405020304" pitchFamily="18" charset="0"/>
              </a:rPr>
              <a:t>disciplined</a:t>
            </a:r>
            <a:r>
              <a:rPr lang="en-US" sz="2800" dirty="0">
                <a:latin typeface="Times New Roman" panose="02020603050405020304" pitchFamily="18" charset="0"/>
                <a:cs typeface="Times New Roman" panose="02020603050405020304" pitchFamily="18" charset="0"/>
              </a:rPr>
              <a:t> way</a:t>
            </a:r>
          </a:p>
          <a:p>
            <a:pPr lvl="1"/>
            <a:r>
              <a:rPr lang="en-US" sz="2800" dirty="0">
                <a:latin typeface="Times New Roman" panose="02020603050405020304" pitchFamily="18" charset="0"/>
                <a:cs typeface="Times New Roman" panose="02020603050405020304" pitchFamily="18" charset="0"/>
              </a:rPr>
              <a:t>Many well-accepted practices have been formally standardized</a:t>
            </a:r>
          </a:p>
          <a:p>
            <a:pPr lvl="2"/>
            <a:r>
              <a:rPr lang="en-US" sz="2800" dirty="0">
                <a:latin typeface="Times New Roman" panose="02020603050405020304" pitchFamily="18" charset="0"/>
                <a:cs typeface="Times New Roman" panose="02020603050405020304" pitchFamily="18" charset="0"/>
              </a:rPr>
              <a:t>e.g. by the IEEE or ISO </a:t>
            </a:r>
          </a:p>
          <a:p>
            <a:pPr lvl="1"/>
            <a:r>
              <a:rPr lang="en-US" sz="2800" dirty="0">
                <a:latin typeface="Times New Roman" panose="02020603050405020304" pitchFamily="18" charset="0"/>
                <a:cs typeface="Times New Roman" panose="02020603050405020304" pitchFamily="18" charset="0"/>
              </a:rPr>
              <a:t>Most development work is </a:t>
            </a:r>
            <a:r>
              <a:rPr lang="en-US" sz="2800" i="1" dirty="0">
                <a:latin typeface="Times New Roman" panose="02020603050405020304" pitchFamily="18" charset="0"/>
                <a:cs typeface="Times New Roman" panose="02020603050405020304" pitchFamily="18" charset="0"/>
              </a:rPr>
              <a:t>evolution</a:t>
            </a:r>
            <a:r>
              <a:rPr lang="en-US" sz="2800" dirty="0">
                <a:latin typeface="Times New Roman" panose="02020603050405020304" pitchFamily="18" charset="0"/>
                <a:cs typeface="Times New Roman" panose="02020603050405020304" pitchFamily="18" charset="0"/>
              </a:rPr>
              <a:t> </a:t>
            </a:r>
          </a:p>
          <a:p>
            <a:pPr marL="0" indent="0"/>
            <a:endParaRPr lang="en-US" sz="2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18</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447800" cy="6813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Software Engineering (Cont..)</a:t>
            </a:r>
            <a:endParaRPr lang="en-US" sz="3600" b="1" dirty="0">
              <a:solidFill>
                <a:srgbClr val="002060"/>
              </a:solidFill>
            </a:endParaRPr>
          </a:p>
        </p:txBody>
      </p:sp>
      <p:sp>
        <p:nvSpPr>
          <p:cNvPr id="3" name="Content Placeholder 2"/>
          <p:cNvSpPr>
            <a:spLocks noGrp="1"/>
          </p:cNvSpPr>
          <p:nvPr>
            <p:ph idx="1"/>
          </p:nvPr>
        </p:nvSpPr>
        <p:spPr>
          <a:xfrm>
            <a:off x="152400" y="1524000"/>
            <a:ext cx="8305800" cy="4267200"/>
          </a:xfrm>
        </p:spPr>
        <p:txBody>
          <a:bodyPr>
            <a:no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Large, high quality software systems</a:t>
            </a:r>
          </a:p>
          <a:p>
            <a:pPr lvl="1"/>
            <a:r>
              <a:rPr lang="en-US" sz="2800" dirty="0">
                <a:latin typeface="Times New Roman" panose="02020603050405020304" pitchFamily="18" charset="0"/>
                <a:cs typeface="Times New Roman" panose="02020603050405020304" pitchFamily="18" charset="0"/>
              </a:rPr>
              <a:t>Software engineering techniques are needed because large systems </a:t>
            </a:r>
            <a:r>
              <a:rPr lang="en-US" sz="2800" i="1" dirty="0">
                <a:solidFill>
                  <a:srgbClr val="0070C0"/>
                </a:solidFill>
                <a:latin typeface="Times New Roman" panose="02020603050405020304" pitchFamily="18" charset="0"/>
                <a:cs typeface="Times New Roman" panose="02020603050405020304" pitchFamily="18" charset="0"/>
              </a:rPr>
              <a:t>cannot be completely understood</a:t>
            </a:r>
            <a:r>
              <a:rPr lang="en-US" sz="2800" dirty="0">
                <a:solidFill>
                  <a:srgbClr val="0070C0"/>
                </a:solidFill>
                <a:latin typeface="Times New Roman" panose="02020603050405020304" pitchFamily="18" charset="0"/>
                <a:cs typeface="Times New Roman" panose="02020603050405020304" pitchFamily="18" charset="0"/>
              </a:rPr>
              <a:t> by one person</a:t>
            </a:r>
          </a:p>
          <a:p>
            <a:pPr lvl="1"/>
            <a:r>
              <a:rPr lang="en-US" sz="2800" dirty="0">
                <a:solidFill>
                  <a:srgbClr val="0070C0"/>
                </a:solidFill>
                <a:latin typeface="Times New Roman" panose="02020603050405020304" pitchFamily="18" charset="0"/>
                <a:cs typeface="Times New Roman" panose="02020603050405020304" pitchFamily="18" charset="0"/>
              </a:rPr>
              <a:t>Teamwork and co-ordination are required</a:t>
            </a:r>
          </a:p>
          <a:p>
            <a:pPr lvl="1"/>
            <a:r>
              <a:rPr lang="en-US" sz="2800" dirty="0">
                <a:latin typeface="Times New Roman" panose="02020603050405020304" pitchFamily="18" charset="0"/>
                <a:cs typeface="Times New Roman" panose="02020603050405020304" pitchFamily="18" charset="0"/>
              </a:rPr>
              <a:t>Key challenge: </a:t>
            </a:r>
            <a:r>
              <a:rPr lang="en-US" sz="2800" dirty="0">
                <a:solidFill>
                  <a:srgbClr val="0070C0"/>
                </a:solidFill>
                <a:latin typeface="Times New Roman" panose="02020603050405020304" pitchFamily="18" charset="0"/>
                <a:cs typeface="Times New Roman" panose="02020603050405020304" pitchFamily="18" charset="0"/>
              </a:rPr>
              <a:t>Dividing up the work and ensuring </a:t>
            </a:r>
            <a:r>
              <a:rPr lang="en-US" sz="2800" dirty="0">
                <a:latin typeface="Times New Roman" panose="02020603050405020304" pitchFamily="18" charset="0"/>
                <a:cs typeface="Times New Roman" panose="02020603050405020304" pitchFamily="18" charset="0"/>
              </a:rPr>
              <a:t>that the parts of the system work properly together</a:t>
            </a:r>
          </a:p>
          <a:p>
            <a:pPr lvl="1"/>
            <a:r>
              <a:rPr lang="en-US" sz="2800" dirty="0">
                <a:latin typeface="Times New Roman" panose="02020603050405020304" pitchFamily="18" charset="0"/>
                <a:cs typeface="Times New Roman" panose="02020603050405020304" pitchFamily="18" charset="0"/>
              </a:rPr>
              <a:t>The end-product must be of </a:t>
            </a:r>
            <a:r>
              <a:rPr lang="en-US" sz="2800" dirty="0">
                <a:solidFill>
                  <a:srgbClr val="0070C0"/>
                </a:solidFill>
                <a:latin typeface="Times New Roman" panose="02020603050405020304" pitchFamily="18" charset="0"/>
                <a:cs typeface="Times New Roman" panose="02020603050405020304" pitchFamily="18" charset="0"/>
              </a:rPr>
              <a:t>sufficient quality </a:t>
            </a:r>
          </a:p>
        </p:txBody>
      </p:sp>
      <p:sp>
        <p:nvSpPr>
          <p:cNvPr id="5" name="Slide Number Placeholder 4"/>
          <p:cNvSpPr>
            <a:spLocks noGrp="1"/>
          </p:cNvSpPr>
          <p:nvPr>
            <p:ph type="sldNum" sz="quarter" idx="12"/>
          </p:nvPr>
        </p:nvSpPr>
        <p:spPr/>
        <p:txBody>
          <a:bodyPr/>
          <a:lstStyle/>
          <a:p>
            <a:fld id="{195567C4-C875-4EA2-906F-45EEB91D3DE0}" type="slidenum">
              <a:rPr lang="en-US" smtClean="0"/>
              <a:t>19</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447800" cy="6813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Software Engineering (Cont..)</a:t>
            </a:r>
            <a:endParaRPr lang="en-US" sz="3600" b="1" dirty="0">
              <a:solidFill>
                <a:srgbClr val="002060"/>
              </a:solidFill>
            </a:endParaRPr>
          </a:p>
        </p:txBody>
      </p:sp>
      <p:sp>
        <p:nvSpPr>
          <p:cNvPr id="3" name="Content Placeholder 2"/>
          <p:cNvSpPr>
            <a:spLocks noGrp="1"/>
          </p:cNvSpPr>
          <p:nvPr>
            <p:ph idx="1"/>
          </p:nvPr>
        </p:nvSpPr>
        <p:spPr>
          <a:xfrm>
            <a:off x="152400" y="1524000"/>
            <a:ext cx="7848600" cy="4267200"/>
          </a:xfrm>
        </p:spPr>
        <p:txBody>
          <a:bodyPr>
            <a:no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Cost, time and other constraints</a:t>
            </a:r>
          </a:p>
          <a:p>
            <a:pPr lvl="1"/>
            <a:r>
              <a:rPr lang="en-US" sz="2800" dirty="0">
                <a:latin typeface="Times New Roman" panose="02020603050405020304" pitchFamily="18" charset="0"/>
                <a:cs typeface="Times New Roman" panose="02020603050405020304" pitchFamily="18" charset="0"/>
              </a:rPr>
              <a:t>Finite resources</a:t>
            </a:r>
          </a:p>
          <a:p>
            <a:pPr lvl="1"/>
            <a:r>
              <a:rPr lang="en-US" sz="2800" dirty="0">
                <a:solidFill>
                  <a:srgbClr val="0070C0"/>
                </a:solidFill>
                <a:latin typeface="Times New Roman" panose="02020603050405020304" pitchFamily="18" charset="0"/>
                <a:cs typeface="Times New Roman" panose="02020603050405020304" pitchFamily="18" charset="0"/>
              </a:rPr>
              <a:t>The benefit must outweigh the cost</a:t>
            </a:r>
          </a:p>
          <a:p>
            <a:pPr lvl="1"/>
            <a:r>
              <a:rPr lang="en-US" sz="2800" dirty="0">
                <a:latin typeface="Times New Roman" panose="02020603050405020304" pitchFamily="18" charset="0"/>
                <a:cs typeface="Times New Roman" panose="02020603050405020304" pitchFamily="18" charset="0"/>
              </a:rPr>
              <a:t>Others are competing to do the job </a:t>
            </a:r>
            <a:r>
              <a:rPr lang="en-US" sz="2800" dirty="0">
                <a:solidFill>
                  <a:srgbClr val="0070C0"/>
                </a:solidFill>
                <a:latin typeface="Times New Roman" panose="02020603050405020304" pitchFamily="18" charset="0"/>
                <a:cs typeface="Times New Roman" panose="02020603050405020304" pitchFamily="18" charset="0"/>
              </a:rPr>
              <a:t>cheaper and faster</a:t>
            </a:r>
          </a:p>
          <a:p>
            <a:pPr lvl="1"/>
            <a:r>
              <a:rPr lang="en-US" sz="2800" dirty="0">
                <a:latin typeface="Times New Roman" panose="02020603050405020304" pitchFamily="18" charset="0"/>
                <a:cs typeface="Times New Roman" panose="02020603050405020304" pitchFamily="18" charset="0"/>
              </a:rPr>
              <a:t>Inaccurate estimates of </a:t>
            </a:r>
            <a:r>
              <a:rPr lang="en-US" sz="2800" dirty="0">
                <a:solidFill>
                  <a:srgbClr val="0070C0"/>
                </a:solidFill>
                <a:latin typeface="Times New Roman" panose="02020603050405020304" pitchFamily="18" charset="0"/>
                <a:cs typeface="Times New Roman" panose="02020603050405020304" pitchFamily="18" charset="0"/>
              </a:rPr>
              <a:t>cost and time have caused many project failures</a:t>
            </a:r>
          </a:p>
        </p:txBody>
      </p:sp>
      <p:sp>
        <p:nvSpPr>
          <p:cNvPr id="5" name="Slide Number Placeholder 4"/>
          <p:cNvSpPr>
            <a:spLocks noGrp="1"/>
          </p:cNvSpPr>
          <p:nvPr>
            <p:ph type="sldNum" sz="quarter" idx="12"/>
          </p:nvPr>
        </p:nvSpPr>
        <p:spPr/>
        <p:txBody>
          <a:bodyPr/>
          <a:lstStyle/>
          <a:p>
            <a:fld id="{195567C4-C875-4EA2-906F-45EEB91D3DE0}" type="slidenum">
              <a:rPr lang="en-US" smtClean="0"/>
              <a:t>20</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447800" cy="6813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dirty="0"/>
              <a:t> </a:t>
            </a:r>
            <a:r>
              <a:rPr lang="en-US" sz="3600" b="1" dirty="0">
                <a:solidFill>
                  <a:schemeClr val="tx2">
                    <a:lumMod val="60000"/>
                    <a:lumOff val="40000"/>
                  </a:schemeClr>
                </a:solidFill>
              </a:rPr>
              <a:t>Software Quality</a:t>
            </a:r>
            <a:endParaRPr lang="en-US" sz="3600" b="1" dirty="0">
              <a:solidFill>
                <a:srgbClr val="002060"/>
              </a:solidFill>
            </a:endParaRPr>
          </a:p>
        </p:txBody>
      </p:sp>
      <p:sp>
        <p:nvSpPr>
          <p:cNvPr id="3" name="Content Placeholder 2"/>
          <p:cNvSpPr>
            <a:spLocks noGrp="1"/>
          </p:cNvSpPr>
          <p:nvPr>
            <p:ph idx="1"/>
          </p:nvPr>
        </p:nvSpPr>
        <p:spPr>
          <a:xfrm>
            <a:off x="152400" y="1524000"/>
            <a:ext cx="7848600" cy="5257800"/>
          </a:xfrm>
        </p:spPr>
        <p:txBody>
          <a:bodyPr>
            <a:noAutofit/>
          </a:bodyPr>
          <a:lstStyle/>
          <a:p>
            <a:pPr marL="0" indent="0" fontAlgn="auto">
              <a:spcAft>
                <a:spcPts val="0"/>
              </a:spcAft>
              <a:defRPr/>
            </a:pPr>
            <a:r>
              <a:rPr lang="en-US" sz="2400" b="1" dirty="0">
                <a:latin typeface="Times New Roman" panose="02020603050405020304" pitchFamily="18" charset="0"/>
                <a:cs typeface="Times New Roman" panose="02020603050405020304" pitchFamily="18" charset="0"/>
              </a:rPr>
              <a:t>Usability</a:t>
            </a:r>
          </a:p>
          <a:p>
            <a:pPr lvl="1" fontAlgn="auto">
              <a:spcAft>
                <a:spcPts val="0"/>
              </a:spcAft>
              <a:defRPr/>
            </a:pPr>
            <a:r>
              <a:rPr lang="en-US" sz="2400" dirty="0">
                <a:latin typeface="Times New Roman" panose="02020603050405020304" pitchFamily="18" charset="0"/>
                <a:cs typeface="Times New Roman" panose="02020603050405020304" pitchFamily="18" charset="0"/>
              </a:rPr>
              <a:t>Users can learn it and fast and get their job done easily</a:t>
            </a:r>
          </a:p>
          <a:p>
            <a:pPr marL="0" indent="0" fontAlgn="auto">
              <a:spcAft>
                <a:spcPts val="0"/>
              </a:spcAft>
              <a:defRPr/>
            </a:pPr>
            <a:r>
              <a:rPr lang="en-US" sz="2400" b="1" dirty="0">
                <a:latin typeface="Times New Roman" panose="02020603050405020304" pitchFamily="18" charset="0"/>
                <a:cs typeface="Times New Roman" panose="02020603050405020304" pitchFamily="18" charset="0"/>
              </a:rPr>
              <a:t>Efficiency</a:t>
            </a:r>
          </a:p>
          <a:p>
            <a:pPr lvl="1" fontAlgn="auto">
              <a:spcAft>
                <a:spcPts val="0"/>
              </a:spcAft>
              <a:defRPr/>
            </a:pPr>
            <a:r>
              <a:rPr lang="en-US" sz="2400" dirty="0">
                <a:latin typeface="Times New Roman" panose="02020603050405020304" pitchFamily="18" charset="0"/>
                <a:cs typeface="Times New Roman" panose="02020603050405020304" pitchFamily="18" charset="0"/>
              </a:rPr>
              <a:t>It doesn't</a:t>
            </a:r>
            <a:r>
              <a:rPr lang="ja-JP" altLang="en-US" sz="2400" dirty="0">
                <a:latin typeface="Times New Roman" panose="02020603050405020304" pitchFamily="18" charset="0"/>
                <a:cs typeface="Times New Roman" panose="02020603050405020304" pitchFamily="18" charset="0"/>
              </a:rPr>
              <a:t>’</a:t>
            </a:r>
            <a:r>
              <a:rPr lang="en-US" altLang="ja-JP" sz="2400" dirty="0">
                <a:latin typeface="Times New Roman" panose="02020603050405020304" pitchFamily="18" charset="0"/>
                <a:cs typeface="Times New Roman" panose="02020603050405020304" pitchFamily="18" charset="0"/>
              </a:rPr>
              <a:t>t waste resources such as CPU time and memory</a:t>
            </a:r>
          </a:p>
          <a:p>
            <a:pPr marL="0" indent="0" fontAlgn="auto">
              <a:spcAft>
                <a:spcPts val="0"/>
              </a:spcAft>
              <a:defRPr/>
            </a:pPr>
            <a:r>
              <a:rPr lang="en-US" sz="2400" b="1" dirty="0">
                <a:latin typeface="Times New Roman" panose="02020603050405020304" pitchFamily="18" charset="0"/>
                <a:cs typeface="Times New Roman" panose="02020603050405020304" pitchFamily="18" charset="0"/>
              </a:rPr>
              <a:t>Reliability</a:t>
            </a:r>
          </a:p>
          <a:p>
            <a:pPr lvl="1" fontAlgn="auto">
              <a:spcAft>
                <a:spcPts val="0"/>
              </a:spcAft>
              <a:defRPr/>
            </a:pPr>
            <a:r>
              <a:rPr lang="en-US" sz="2400" dirty="0">
                <a:latin typeface="Times New Roman" panose="02020603050405020304" pitchFamily="18" charset="0"/>
                <a:cs typeface="Times New Roman" panose="02020603050405020304" pitchFamily="18" charset="0"/>
              </a:rPr>
              <a:t>It does what it is required to do without failing</a:t>
            </a:r>
          </a:p>
          <a:p>
            <a:pPr marL="0" indent="0" fontAlgn="auto">
              <a:spcAft>
                <a:spcPts val="0"/>
              </a:spcAft>
              <a:defRPr/>
            </a:pPr>
            <a:r>
              <a:rPr lang="en-US" sz="2400" b="1" dirty="0">
                <a:latin typeface="Times New Roman" panose="02020603050405020304" pitchFamily="18" charset="0"/>
                <a:cs typeface="Times New Roman" panose="02020603050405020304" pitchFamily="18" charset="0"/>
              </a:rPr>
              <a:t>Maintainability</a:t>
            </a:r>
          </a:p>
          <a:p>
            <a:pPr lvl="1" fontAlgn="auto">
              <a:spcAft>
                <a:spcPts val="0"/>
              </a:spcAft>
              <a:defRPr/>
            </a:pPr>
            <a:r>
              <a:rPr lang="en-US" sz="2400" dirty="0">
                <a:latin typeface="Times New Roman" panose="02020603050405020304" pitchFamily="18" charset="0"/>
                <a:cs typeface="Times New Roman" panose="02020603050405020304" pitchFamily="18" charset="0"/>
              </a:rPr>
              <a:t>It can be easily changed</a:t>
            </a:r>
          </a:p>
          <a:p>
            <a:pPr marL="0" indent="0" fontAlgn="auto">
              <a:spcAft>
                <a:spcPts val="0"/>
              </a:spcAft>
              <a:defRPr/>
            </a:pPr>
            <a:r>
              <a:rPr lang="en-US" sz="2400" b="1" dirty="0">
                <a:latin typeface="Times New Roman" panose="02020603050405020304" pitchFamily="18" charset="0"/>
                <a:cs typeface="Times New Roman" panose="02020603050405020304" pitchFamily="18" charset="0"/>
              </a:rPr>
              <a:t>Reusability</a:t>
            </a:r>
          </a:p>
          <a:p>
            <a:pPr lvl="1" fontAlgn="auto">
              <a:spcAft>
                <a:spcPts val="0"/>
              </a:spcAft>
              <a:defRPr/>
            </a:pPr>
            <a:r>
              <a:rPr lang="en-US" sz="2400" dirty="0">
                <a:latin typeface="Times New Roman" panose="02020603050405020304" pitchFamily="18" charset="0"/>
                <a:cs typeface="Times New Roman" panose="02020603050405020304" pitchFamily="18" charset="0"/>
              </a:rPr>
              <a:t>Its parts can be used in other projects, so reprogramming is not needed</a:t>
            </a:r>
          </a:p>
        </p:txBody>
      </p:sp>
      <p:sp>
        <p:nvSpPr>
          <p:cNvPr id="5" name="Slide Number Placeholder 4"/>
          <p:cNvSpPr>
            <a:spLocks noGrp="1"/>
          </p:cNvSpPr>
          <p:nvPr>
            <p:ph type="sldNum" sz="quarter" idx="12"/>
          </p:nvPr>
        </p:nvSpPr>
        <p:spPr/>
        <p:txBody>
          <a:bodyPr/>
          <a:lstStyle/>
          <a:p>
            <a:fld id="{195567C4-C875-4EA2-906F-45EEB91D3DE0}" type="slidenum">
              <a:rPr lang="en-US" smtClean="0"/>
              <a:t>21</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447800" cy="6813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200" b="1" dirty="0">
                <a:solidFill>
                  <a:schemeClr val="tx2">
                    <a:lumMod val="60000"/>
                    <a:lumOff val="40000"/>
                  </a:schemeClr>
                </a:solidFill>
              </a:rPr>
              <a:t>Software Quality and Stakeholders</a:t>
            </a:r>
            <a:endParaRPr lang="en-US" sz="32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22</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447800" cy="6813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4"/>
          <a:stretch>
            <a:fillRect/>
          </a:stretch>
        </p:blipFill>
        <p:spPr>
          <a:xfrm>
            <a:off x="990600" y="1817129"/>
            <a:ext cx="7086600" cy="45529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A Layered Technology</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23</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133475" cy="533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533400" y="2133600"/>
            <a:ext cx="76962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905000" y="5879068"/>
            <a:ext cx="4572000" cy="369332"/>
          </a:xfrm>
          <a:prstGeom prst="rect">
            <a:avLst/>
          </a:prstGeom>
        </p:spPr>
        <p:txBody>
          <a:bodyPr>
            <a:spAutoFit/>
          </a:bodyPr>
          <a:lstStyle/>
          <a:p>
            <a:pPr algn="ctr"/>
            <a:r>
              <a:rPr lang="en-US" b="1" dirty="0">
                <a:latin typeface="Times New Roman" panose="02020603050405020304" pitchFamily="18" charset="0"/>
                <a:cs typeface="Times New Roman" panose="02020603050405020304" pitchFamily="18" charset="0"/>
              </a:rPr>
              <a:t>Fig: Software engineering layers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Software Process</a:t>
            </a:r>
            <a:endParaRPr lang="en-US" sz="3600" b="1" dirty="0">
              <a:solidFill>
                <a:srgbClr val="002060"/>
              </a:solidFill>
            </a:endParaRPr>
          </a:p>
        </p:txBody>
      </p:sp>
      <p:sp>
        <p:nvSpPr>
          <p:cNvPr id="3" name="Content Placeholder 2"/>
          <p:cNvSpPr>
            <a:spLocks noGrp="1"/>
          </p:cNvSpPr>
          <p:nvPr>
            <p:ph idx="1"/>
          </p:nvPr>
        </p:nvSpPr>
        <p:spPr>
          <a:xfrm>
            <a:off x="152400" y="1447800"/>
            <a:ext cx="8229600" cy="4953000"/>
          </a:xfrm>
        </p:spPr>
        <p:txBody>
          <a:bodyPr>
            <a:noAutofit/>
          </a:bodyPr>
          <a:lstStyle/>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a:t>
            </a:r>
            <a:r>
              <a:rPr lang="en-US" sz="2400" b="1" i="1" dirty="0">
                <a:solidFill>
                  <a:srgbClr val="00B0F0"/>
                </a:solidFill>
                <a:latin typeface="Times New Roman" panose="02020603050405020304" pitchFamily="18" charset="0"/>
                <a:cs typeface="Times New Roman" panose="02020603050405020304" pitchFamily="18" charset="0"/>
              </a:rPr>
              <a:t>process</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a collection of activities, actions, and tasks that are performed when some work product is to be created. </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a:t>
            </a:r>
            <a:r>
              <a:rPr lang="en-US" sz="2400" b="1" i="1" dirty="0">
                <a:solidFill>
                  <a:srgbClr val="00B0F0"/>
                </a:solidFill>
                <a:latin typeface="Times New Roman" panose="02020603050405020304" pitchFamily="18" charset="0"/>
                <a:cs typeface="Times New Roman" panose="02020603050405020304" pitchFamily="18" charset="0"/>
              </a:rPr>
              <a:t>activity</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strives to achieve a broad objective (e.g., communication with stakeholders) and is applied regardless of the application domain, size of the project, complexity of the effort, or degree of rigor with which software engineering is to be applied. </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a:t>
            </a:r>
            <a:r>
              <a:rPr lang="en-US" sz="2400" b="1" i="1" dirty="0">
                <a:solidFill>
                  <a:srgbClr val="00B0F0"/>
                </a:solidFill>
                <a:latin typeface="Times New Roman" panose="02020603050405020304" pitchFamily="18" charset="0"/>
                <a:cs typeface="Times New Roman" panose="02020603050405020304" pitchFamily="18" charset="0"/>
              </a:rPr>
              <a:t>action</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(e.g., architectural design) encompasses a set of tasks that produce a major work product (e.g., an architectural design model). </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a:t>
            </a:r>
            <a:r>
              <a:rPr lang="en-US" sz="2400" b="1" i="1" dirty="0">
                <a:solidFill>
                  <a:srgbClr val="00B0F0"/>
                </a:solidFill>
                <a:latin typeface="Times New Roman" panose="02020603050405020304" pitchFamily="18" charset="0"/>
                <a:cs typeface="Times New Roman" panose="02020603050405020304" pitchFamily="18" charset="0"/>
              </a:rPr>
              <a:t>task</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focuses on a small, but well-defined objective (e.g., conducting a unit test) that produces a tangible outcome.</a:t>
            </a:r>
            <a:endParaRPr lang="en-US" sz="2400" i="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24</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295400" cy="60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The Essence of Practice</a:t>
            </a:r>
            <a:endParaRPr lang="en-US" sz="3600" b="1" dirty="0">
              <a:solidFill>
                <a:srgbClr val="002060"/>
              </a:solidFill>
            </a:endParaRPr>
          </a:p>
        </p:txBody>
      </p:sp>
      <p:sp>
        <p:nvSpPr>
          <p:cNvPr id="3" name="Content Placeholder 2"/>
          <p:cNvSpPr>
            <a:spLocks noGrp="1"/>
          </p:cNvSpPr>
          <p:nvPr>
            <p:ph idx="1"/>
          </p:nvPr>
        </p:nvSpPr>
        <p:spPr>
          <a:xfrm>
            <a:off x="609600" y="1828800"/>
            <a:ext cx="7239000" cy="3810000"/>
          </a:xfrm>
        </p:spPr>
        <p:txBody>
          <a:bodyPr>
            <a:noAutofit/>
          </a:bodyPr>
          <a:lstStyle/>
          <a:p>
            <a:pPr algn="just">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George </a:t>
            </a:r>
            <a:r>
              <a:rPr lang="en-US" sz="2400" b="1" dirty="0" err="1">
                <a:latin typeface="Times New Roman" panose="02020603050405020304" pitchFamily="18" charset="0"/>
                <a:cs typeface="Times New Roman" panose="02020603050405020304" pitchFamily="18" charset="0"/>
              </a:rPr>
              <a:t>Polya</a:t>
            </a:r>
            <a:r>
              <a:rPr lang="en-US" sz="2400" b="1" dirty="0">
                <a:latin typeface="Times New Roman" panose="02020603050405020304" pitchFamily="18" charset="0"/>
                <a:cs typeface="Times New Roman" panose="02020603050405020304" pitchFamily="18" charset="0"/>
              </a:rPr>
              <a:t> outlined The essence of software engineering practice:</a:t>
            </a:r>
          </a:p>
          <a:p>
            <a:pPr lvl="2" algn="just">
              <a:spcBef>
                <a:spcPts val="600"/>
              </a:spcBef>
              <a:buFont typeface="Wingdings" panose="05000000000000000000" pitchFamily="2" charset="2"/>
              <a:buChar char="§"/>
            </a:pPr>
            <a:r>
              <a:rPr lang="en-US" sz="2400" i="1" dirty="0">
                <a:solidFill>
                  <a:srgbClr val="00B0F0"/>
                </a:solidFill>
                <a:latin typeface="Times New Roman" panose="02020603050405020304" pitchFamily="18" charset="0"/>
                <a:cs typeface="Times New Roman" panose="02020603050405020304" pitchFamily="18" charset="0"/>
              </a:rPr>
              <a:t>Understand the problem</a:t>
            </a:r>
            <a:r>
              <a:rPr lang="en-US" sz="2400"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(communication and analysis).</a:t>
            </a:r>
          </a:p>
          <a:p>
            <a:pPr lvl="2" algn="just">
              <a:buFont typeface="Wingdings" panose="05000000000000000000" pitchFamily="2" charset="2"/>
              <a:buChar char="§"/>
            </a:pPr>
            <a:r>
              <a:rPr lang="en-US" sz="2400" i="1" dirty="0">
                <a:solidFill>
                  <a:srgbClr val="00B0F0"/>
                </a:solidFill>
                <a:latin typeface="Times New Roman" panose="02020603050405020304" pitchFamily="18" charset="0"/>
                <a:cs typeface="Times New Roman" panose="02020603050405020304" pitchFamily="18" charset="0"/>
              </a:rPr>
              <a:t>Plan a solution</a:t>
            </a:r>
            <a:r>
              <a:rPr lang="en-US" sz="2400"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(modeling and software design).</a:t>
            </a:r>
          </a:p>
          <a:p>
            <a:pPr lvl="2" algn="just">
              <a:buFont typeface="Wingdings" panose="05000000000000000000" pitchFamily="2" charset="2"/>
              <a:buChar char="§"/>
            </a:pPr>
            <a:r>
              <a:rPr lang="en-US" sz="2400" i="1" dirty="0">
                <a:solidFill>
                  <a:srgbClr val="00B0F0"/>
                </a:solidFill>
                <a:latin typeface="Times New Roman" panose="02020603050405020304" pitchFamily="18" charset="0"/>
                <a:cs typeface="Times New Roman" panose="02020603050405020304" pitchFamily="18" charset="0"/>
              </a:rPr>
              <a:t>Carry out the plan</a:t>
            </a:r>
            <a:r>
              <a:rPr lang="en-US" sz="2400"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(code generation).</a:t>
            </a:r>
          </a:p>
          <a:p>
            <a:pPr lvl="2" algn="just">
              <a:buFont typeface="Wingdings" panose="05000000000000000000" pitchFamily="2" charset="2"/>
              <a:buChar char="§"/>
            </a:pPr>
            <a:r>
              <a:rPr lang="en-US" sz="2400" i="1" dirty="0">
                <a:solidFill>
                  <a:srgbClr val="00B0F0"/>
                </a:solidFill>
                <a:latin typeface="Times New Roman" panose="02020603050405020304" pitchFamily="18" charset="0"/>
                <a:cs typeface="Times New Roman" panose="02020603050405020304" pitchFamily="18" charset="0"/>
              </a:rPr>
              <a:t>Examine the result for accuracy</a:t>
            </a:r>
            <a:r>
              <a:rPr lang="en-US" sz="2400"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(testing and quality assurance).</a:t>
            </a:r>
          </a:p>
          <a:p>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25</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295400" cy="60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Software Myths</a:t>
            </a:r>
            <a:endParaRPr lang="en-US" sz="3600" b="1" dirty="0">
              <a:solidFill>
                <a:srgbClr val="002060"/>
              </a:solidFill>
            </a:endParaRPr>
          </a:p>
        </p:txBody>
      </p:sp>
      <p:sp>
        <p:nvSpPr>
          <p:cNvPr id="3" name="Content Placeholder 2"/>
          <p:cNvSpPr>
            <a:spLocks noGrp="1"/>
          </p:cNvSpPr>
          <p:nvPr>
            <p:ph idx="1"/>
          </p:nvPr>
        </p:nvSpPr>
        <p:spPr>
          <a:xfrm>
            <a:off x="457200" y="1447800"/>
            <a:ext cx="7848600" cy="5105400"/>
          </a:xfrm>
        </p:spPr>
        <p:txBody>
          <a:bodyPr>
            <a:noAutofit/>
          </a:bodyPr>
          <a:lstStyle/>
          <a:p>
            <a:pPr algn="just">
              <a:spcBef>
                <a:spcPts val="6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Pressman describes a number of common beliefs or myths that software managers, customers, and developers believe falsely. </a:t>
            </a:r>
          </a:p>
          <a:p>
            <a:pPr algn="just">
              <a:spcBef>
                <a:spcPts val="600"/>
              </a:spcBef>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He describes these myths as ``misleading attitudes that have caused serious problems.'' We look at these myths to see why they are false, and why they lead to trouble.</a:t>
            </a: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Affect managers, customers (and other non-technical stakeholders) and practitioners</a:t>
            </a: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Are believable because they often have elements of truth, </a:t>
            </a:r>
          </a:p>
          <a:p>
            <a:pPr lvl="1" algn="just">
              <a:buFont typeface="Wingdings" panose="05000000000000000000" pitchFamily="2" charset="2"/>
              <a:buChar char="§"/>
            </a:pPr>
            <a:r>
              <a:rPr lang="en-US" i="1" dirty="0">
                <a:solidFill>
                  <a:schemeClr val="folHlink"/>
                </a:solidFill>
                <a:latin typeface="Times New Roman" panose="02020603050405020304" pitchFamily="18" charset="0"/>
                <a:cs typeface="Times New Roman" panose="02020603050405020304" pitchFamily="18" charset="0"/>
              </a:rPr>
              <a:t>but …</a:t>
            </a: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Invariably lead to bad decisions, </a:t>
            </a:r>
          </a:p>
          <a:p>
            <a:pPr lvl="1" algn="just">
              <a:buFont typeface="Wingdings" panose="05000000000000000000" pitchFamily="2" charset="2"/>
              <a:buChar char="§"/>
            </a:pPr>
            <a:r>
              <a:rPr lang="en-US" i="1" dirty="0">
                <a:solidFill>
                  <a:schemeClr val="folHlink"/>
                </a:solidFill>
                <a:latin typeface="Times New Roman" panose="02020603050405020304" pitchFamily="18" charset="0"/>
                <a:cs typeface="Times New Roman" panose="02020603050405020304" pitchFamily="18" charset="0"/>
              </a:rPr>
              <a:t>therefore …</a:t>
            </a: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Insist on reality as you navigate your way through software engineering</a:t>
            </a:r>
          </a:p>
          <a:p>
            <a:pPr lvl="1" algn="just">
              <a:spcBef>
                <a:spcPts val="600"/>
              </a:spcBef>
              <a:buFont typeface="Wingdings" panose="05000000000000000000" pitchFamily="2" charset="2"/>
              <a:buChar char="§"/>
            </a:pPr>
            <a:endParaRPr lang="en-US" b="1" i="1" dirty="0">
              <a:solidFill>
                <a:srgbClr val="00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26</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457325" cy="685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Hooker’s General Principles</a:t>
            </a:r>
            <a:endParaRPr lang="en-US" sz="3600" b="1" dirty="0">
              <a:solidFill>
                <a:srgbClr val="002060"/>
              </a:solidFill>
            </a:endParaRPr>
          </a:p>
        </p:txBody>
      </p:sp>
      <p:sp>
        <p:nvSpPr>
          <p:cNvPr id="3" name="Content Placeholder 2"/>
          <p:cNvSpPr>
            <a:spLocks noGrp="1"/>
          </p:cNvSpPr>
          <p:nvPr>
            <p:ph idx="1"/>
          </p:nvPr>
        </p:nvSpPr>
        <p:spPr>
          <a:xfrm>
            <a:off x="457200" y="1828800"/>
            <a:ext cx="7848600" cy="4495800"/>
          </a:xfrm>
        </p:spPr>
        <p:txBody>
          <a:bodyPr>
            <a:noAutofit/>
          </a:bodyPr>
          <a:lstStyle/>
          <a:p>
            <a:pPr>
              <a:spcBef>
                <a:spcPts val="600"/>
              </a:spcBef>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1: </a:t>
            </a:r>
            <a:r>
              <a:rPr lang="en-US" sz="3200" i="1" dirty="0">
                <a:latin typeface="Times New Roman" panose="02020603050405020304" pitchFamily="18" charset="0"/>
                <a:cs typeface="Times New Roman" panose="02020603050405020304" pitchFamily="18" charset="0"/>
              </a:rPr>
              <a:t>The Reason It All Exists</a:t>
            </a:r>
          </a:p>
          <a:p>
            <a:pPr>
              <a:spcBef>
                <a:spcPts val="600"/>
              </a:spcBef>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2: </a:t>
            </a:r>
            <a:r>
              <a:rPr lang="en-US" sz="3200" i="1" dirty="0">
                <a:solidFill>
                  <a:srgbClr val="000000"/>
                </a:solidFill>
                <a:latin typeface="Times New Roman" panose="02020603050405020304" pitchFamily="18" charset="0"/>
                <a:cs typeface="Times New Roman" panose="02020603050405020304" pitchFamily="18" charset="0"/>
              </a:rPr>
              <a:t>KISS (Keep It Simple, Stupid!)</a:t>
            </a:r>
          </a:p>
          <a:p>
            <a:pPr>
              <a:spcBef>
                <a:spcPts val="600"/>
              </a:spcBef>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3: </a:t>
            </a:r>
            <a:r>
              <a:rPr lang="en-US" sz="3200" i="1" dirty="0">
                <a:solidFill>
                  <a:srgbClr val="000000"/>
                </a:solidFill>
                <a:latin typeface="Times New Roman" panose="02020603050405020304" pitchFamily="18" charset="0"/>
                <a:cs typeface="Times New Roman" panose="02020603050405020304" pitchFamily="18" charset="0"/>
              </a:rPr>
              <a:t>Maintain the Vision</a:t>
            </a:r>
            <a:endParaRPr lang="en-US" sz="3200" dirty="0">
              <a:solidFill>
                <a:srgbClr val="000000"/>
              </a:solidFill>
              <a:latin typeface="Times New Roman" panose="02020603050405020304" pitchFamily="18" charset="0"/>
              <a:cs typeface="Times New Roman" panose="02020603050405020304" pitchFamily="18" charset="0"/>
            </a:endParaRPr>
          </a:p>
          <a:p>
            <a:pPr>
              <a:spcBef>
                <a:spcPts val="600"/>
              </a:spcBef>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4: </a:t>
            </a:r>
            <a:r>
              <a:rPr lang="en-US" sz="3200" i="1" dirty="0">
                <a:solidFill>
                  <a:srgbClr val="000000"/>
                </a:solidFill>
                <a:latin typeface="Times New Roman" panose="02020603050405020304" pitchFamily="18" charset="0"/>
                <a:cs typeface="Times New Roman" panose="02020603050405020304" pitchFamily="18" charset="0"/>
              </a:rPr>
              <a:t>What You Produce, Others Will Consume</a:t>
            </a:r>
            <a:r>
              <a:rPr lang="en-US" sz="3200" dirty="0">
                <a:solidFill>
                  <a:srgbClr val="000000"/>
                </a:solidFill>
                <a:latin typeface="Times New Roman" panose="02020603050405020304" pitchFamily="18" charset="0"/>
                <a:cs typeface="Times New Roman" panose="02020603050405020304" pitchFamily="18" charset="0"/>
              </a:rPr>
              <a:t> </a:t>
            </a:r>
          </a:p>
          <a:p>
            <a:pPr>
              <a:spcBef>
                <a:spcPts val="600"/>
              </a:spcBef>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5: </a:t>
            </a:r>
            <a:r>
              <a:rPr lang="en-US" sz="3200" i="1" dirty="0">
                <a:solidFill>
                  <a:srgbClr val="000000"/>
                </a:solidFill>
                <a:latin typeface="Times New Roman" panose="02020603050405020304" pitchFamily="18" charset="0"/>
                <a:cs typeface="Times New Roman" panose="02020603050405020304" pitchFamily="18" charset="0"/>
              </a:rPr>
              <a:t>Be Open to the Future </a:t>
            </a:r>
            <a:r>
              <a:rPr lang="en-US" sz="3200" dirty="0">
                <a:solidFill>
                  <a:srgbClr val="000000"/>
                </a:solidFill>
                <a:latin typeface="Times New Roman" panose="02020603050405020304" pitchFamily="18" charset="0"/>
                <a:cs typeface="Times New Roman" panose="02020603050405020304" pitchFamily="18" charset="0"/>
              </a:rPr>
              <a:t> </a:t>
            </a:r>
          </a:p>
          <a:p>
            <a:pPr>
              <a:spcBef>
                <a:spcPts val="600"/>
              </a:spcBef>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6: </a:t>
            </a:r>
            <a:r>
              <a:rPr lang="en-US" sz="3200" i="1" dirty="0">
                <a:solidFill>
                  <a:srgbClr val="000000"/>
                </a:solidFill>
                <a:latin typeface="Times New Roman" panose="02020603050405020304" pitchFamily="18" charset="0"/>
                <a:cs typeface="Times New Roman" panose="02020603050405020304" pitchFamily="18" charset="0"/>
              </a:rPr>
              <a:t>Plan Ahead for Reuse</a:t>
            </a:r>
          </a:p>
          <a:p>
            <a:pPr>
              <a:spcBef>
                <a:spcPts val="600"/>
              </a:spcBef>
              <a:buFont typeface="Wingdings" panose="05000000000000000000" pitchFamily="2" charset="2"/>
              <a:buChar char="§"/>
            </a:pPr>
            <a:r>
              <a:rPr lang="en-US" sz="3200" dirty="0">
                <a:solidFill>
                  <a:srgbClr val="000000"/>
                </a:solidFill>
                <a:latin typeface="Times New Roman" panose="02020603050405020304" pitchFamily="18" charset="0"/>
                <a:cs typeface="Times New Roman" panose="02020603050405020304" pitchFamily="18" charset="0"/>
              </a:rPr>
              <a:t>7</a:t>
            </a:r>
            <a:r>
              <a:rPr lang="en-US" sz="3200" i="1" dirty="0">
                <a:solidFill>
                  <a:srgbClr val="000000"/>
                </a:solidFill>
                <a:latin typeface="Times New Roman" panose="02020603050405020304" pitchFamily="18" charset="0"/>
                <a:cs typeface="Times New Roman" panose="02020603050405020304" pitchFamily="18" charset="0"/>
              </a:rPr>
              <a:t>: Think!</a:t>
            </a:r>
            <a:endParaRPr lang="en-US" sz="3200" b="1" i="1" dirty="0">
              <a:solidFill>
                <a:srgbClr val="00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27</a:t>
            </a:fld>
            <a:endParaRPr lang="en-US"/>
          </a:p>
        </p:txBody>
      </p:sp>
      <p:cxnSp>
        <p:nvCxnSpPr>
          <p:cNvPr id="7" name="Straight Connector 6"/>
          <p:cNvCxnSpPr/>
          <p:nvPr/>
        </p:nvCxnSpPr>
        <p:spPr>
          <a:xfrm>
            <a:off x="2286000" y="1219200"/>
            <a:ext cx="5943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8" name="Picture 2" descr="https://kuliahso.files.wordpress.com/2012/03/software-layer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52400"/>
            <a:ext cx="1457325" cy="685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28</a:t>
            </a:fld>
            <a:endParaRPr lang="en-US"/>
          </a:p>
        </p:txBody>
      </p:sp>
      <p:sp>
        <p:nvSpPr>
          <p:cNvPr id="3" name="Rectangle 2"/>
          <p:cNvSpPr/>
          <p:nvPr/>
        </p:nvSpPr>
        <p:spPr>
          <a:xfrm>
            <a:off x="228601" y="1295400"/>
            <a:ext cx="7924800" cy="3416320"/>
          </a:xfrm>
          <a:prstGeom prst="rect">
            <a:avLst/>
          </a:prstGeom>
        </p:spPr>
        <p:txBody>
          <a:bodyPr wrap="square">
            <a:spAutoFit/>
          </a:bodyPr>
          <a:lstStyle/>
          <a:p>
            <a:pPr marL="571500" indent="-571500">
              <a:buFont typeface="Wingdings" panose="05000000000000000000" pitchFamily="2" charset="2"/>
              <a:buChar char="q"/>
            </a:pPr>
            <a:endParaRPr lang="en-US" sz="3600" b="1"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q"/>
            </a:pPr>
            <a:r>
              <a:rPr lang="en-US" sz="4800" b="1" dirty="0">
                <a:latin typeface="Times New Roman" panose="02020603050405020304" pitchFamily="18" charset="0"/>
                <a:cs typeface="Times New Roman" panose="02020603050405020304" pitchFamily="18" charset="0"/>
              </a:rPr>
              <a:t>References: </a:t>
            </a:r>
          </a:p>
          <a:p>
            <a:pPr marL="411480" lvl="1"/>
            <a:r>
              <a:rPr lang="en-US" sz="2800" b="1" dirty="0">
                <a:latin typeface="Times New Roman" panose="02020603050405020304" pitchFamily="18" charset="0"/>
                <a:cs typeface="Times New Roman" panose="02020603050405020304" pitchFamily="18" charset="0"/>
              </a:rPr>
              <a:t>1. Software Engineering by Ian </a:t>
            </a:r>
            <a:r>
              <a:rPr lang="en-US" sz="2800" b="1" dirty="0" err="1">
                <a:latin typeface="Times New Roman" panose="02020603050405020304" pitchFamily="18" charset="0"/>
                <a:cs typeface="Times New Roman" panose="02020603050405020304" pitchFamily="18" charset="0"/>
              </a:rPr>
              <a:t>Sommerville</a:t>
            </a:r>
            <a:r>
              <a:rPr lang="en-US" sz="2800" b="1" dirty="0">
                <a:latin typeface="Times New Roman" panose="02020603050405020304" pitchFamily="18" charset="0"/>
                <a:cs typeface="Times New Roman" panose="02020603050405020304" pitchFamily="18" charset="0"/>
              </a:rPr>
              <a:t>, </a:t>
            </a:r>
          </a:p>
          <a:p>
            <a:pPr marL="411480" lvl="1" indent="0">
              <a:buNone/>
            </a:pPr>
            <a:r>
              <a:rPr lang="en-US" sz="2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9th edition,  Addison-Wesley, 2011</a:t>
            </a:r>
          </a:p>
          <a:p>
            <a:pPr marL="411480" lvl="1"/>
            <a:r>
              <a:rPr lang="en-US" sz="2800" b="1" dirty="0">
                <a:latin typeface="Times New Roman" panose="02020603050405020304" pitchFamily="18" charset="0"/>
                <a:cs typeface="Times New Roman" panose="02020603050405020304" pitchFamily="18" charset="0"/>
              </a:rPr>
              <a:t>2. Software Engineering A practitioner’s Approach </a:t>
            </a:r>
            <a:r>
              <a:rPr lang="en-US" sz="2000" dirty="0">
                <a:latin typeface="Times New Roman" panose="02020603050405020304" pitchFamily="18" charset="0"/>
                <a:cs typeface="Times New Roman" panose="02020603050405020304" pitchFamily="18" charset="0"/>
              </a:rPr>
              <a:t>by Roger S. Pressman, 7th edition, McGraw Hill, 2010.</a:t>
            </a:r>
          </a:p>
          <a:p>
            <a:pPr marL="411480" lvl="1" indent="0">
              <a:buNone/>
            </a:pPr>
            <a:endParaRPr lang="en-US" altLang="en-US" sz="2000" dirty="0">
              <a:latin typeface="Times New Roman" panose="02020603050405020304" pitchFamily="18" charset="0"/>
              <a:cs typeface="Times New Roman" panose="02020603050405020304" pitchFamily="18" charset="0"/>
            </a:endParaRPr>
          </a:p>
        </p:txBody>
      </p:sp>
      <p:pic>
        <p:nvPicPr>
          <p:cNvPr id="6" name="Picture 2" descr="https://kuliahso.files.wordpress.com/2012/03/software-layer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 y="0"/>
            <a:ext cx="1943100" cy="914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108</TotalTime>
  <Words>1669</Words>
  <Application>Microsoft Office PowerPoint</Application>
  <PresentationFormat>On-screen Show (4:3)</PresentationFormat>
  <Paragraphs>213</Paragraphs>
  <Slides>28</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Cambria</vt:lpstr>
      <vt:lpstr>Times New Roman</vt:lpstr>
      <vt:lpstr>Wingdings</vt:lpstr>
      <vt:lpstr>Adjacency</vt:lpstr>
      <vt:lpstr>Week-1: Lesson-1 Software and Software Engineering</vt:lpstr>
      <vt:lpstr>PowerPoint Presentation</vt:lpstr>
      <vt:lpstr>What is Software?</vt:lpstr>
      <vt:lpstr> Characteristics/Nature  of  Software</vt:lpstr>
      <vt:lpstr> Characteristics/Nature  of  Software</vt:lpstr>
      <vt:lpstr> Characteristics/Nature  of  Software</vt:lpstr>
      <vt:lpstr>Software Applications</vt:lpstr>
      <vt:lpstr>Software Applications (Cont..)</vt:lpstr>
      <vt:lpstr>Software—New Categories</vt:lpstr>
      <vt:lpstr>Legacy Software</vt:lpstr>
      <vt:lpstr>Legacy Software</vt:lpstr>
      <vt:lpstr>Characteristics of WebApps </vt:lpstr>
      <vt:lpstr>Characteristics of WebApps(Cont…) </vt:lpstr>
      <vt:lpstr>Week-1: Lesson-2 Software and Software Engineering</vt:lpstr>
      <vt:lpstr>Software Engineering</vt:lpstr>
      <vt:lpstr>Software Engineering (Cont..)</vt:lpstr>
      <vt:lpstr>Software Engineering (Cont..)</vt:lpstr>
      <vt:lpstr>Software Engineering (Cont..)</vt:lpstr>
      <vt:lpstr>Software Engineering (Cont..)</vt:lpstr>
      <vt:lpstr>Software Engineering (Cont..)</vt:lpstr>
      <vt:lpstr> Software Quality</vt:lpstr>
      <vt:lpstr>Software Quality and Stakeholders</vt:lpstr>
      <vt:lpstr>A Layered Technology</vt:lpstr>
      <vt:lpstr>Software Process</vt:lpstr>
      <vt:lpstr>The Essence of Practice</vt:lpstr>
      <vt:lpstr>Software Myths</vt:lpstr>
      <vt:lpstr>Hooker’s General Principles</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ismail - [2010]</dc:creator>
  <cp:lastModifiedBy>Md. Ehasan Mahmud</cp:lastModifiedBy>
  <cp:revision>217</cp:revision>
  <dcterms:created xsi:type="dcterms:W3CDTF">2015-09-29T04:01:00Z</dcterms:created>
  <dcterms:modified xsi:type="dcterms:W3CDTF">2026-05-01T11:28:34Z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E6C26F52BB9B47C2B31600989DB9F929_12</vt:lpwstr>
  </property>
  <property fmtid="{D5CDD505-2E9C-101B-9397-08002B2CF9AE}" pid="3" name="KSOProductBuildVer">
    <vt:lpwstr>1033-12.2.0.23196</vt:lpwstr>
  </property>
</Properties>
</file>