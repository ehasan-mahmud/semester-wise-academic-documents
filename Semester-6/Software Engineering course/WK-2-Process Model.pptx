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6"/>
  </p:notesMasterIdLst>
  <p:handoutMasterIdLst>
    <p:handoutMasterId r:id="rId47"/>
  </p:handoutMasterIdLst>
  <p:sldIdLst>
    <p:sldId id="256" r:id="rId3"/>
    <p:sldId id="258" r:id="rId4"/>
    <p:sldId id="355" r:id="rId5"/>
    <p:sldId id="317" r:id="rId6"/>
    <p:sldId id="319" r:id="rId7"/>
    <p:sldId id="323" r:id="rId8"/>
    <p:sldId id="318" r:id="rId9"/>
    <p:sldId id="320" r:id="rId10"/>
    <p:sldId id="321" r:id="rId11"/>
    <p:sldId id="322" r:id="rId12"/>
    <p:sldId id="324" r:id="rId13"/>
    <p:sldId id="325" r:id="rId14"/>
    <p:sldId id="326" r:id="rId15"/>
    <p:sldId id="328" r:id="rId16"/>
    <p:sldId id="327" r:id="rId17"/>
    <p:sldId id="329" r:id="rId18"/>
    <p:sldId id="356" r:id="rId19"/>
    <p:sldId id="330" r:id="rId20"/>
    <p:sldId id="331" r:id="rId21"/>
    <p:sldId id="335" r:id="rId22"/>
    <p:sldId id="337" r:id="rId23"/>
    <p:sldId id="336" r:id="rId24"/>
    <p:sldId id="340" r:id="rId25"/>
    <p:sldId id="332" r:id="rId26"/>
    <p:sldId id="338" r:id="rId27"/>
    <p:sldId id="339" r:id="rId28"/>
    <p:sldId id="333" r:id="rId29"/>
    <p:sldId id="341" r:id="rId30"/>
    <p:sldId id="334" r:id="rId31"/>
    <p:sldId id="342" r:id="rId32"/>
    <p:sldId id="343" r:id="rId33"/>
    <p:sldId id="346" r:id="rId34"/>
    <p:sldId id="348" r:id="rId35"/>
    <p:sldId id="349" r:id="rId36"/>
    <p:sldId id="347" r:id="rId37"/>
    <p:sldId id="344" r:id="rId38"/>
    <p:sldId id="345" r:id="rId39"/>
    <p:sldId id="350" r:id="rId40"/>
    <p:sldId id="351" r:id="rId41"/>
    <p:sldId id="352" r:id="rId42"/>
    <p:sldId id="353" r:id="rId43"/>
    <p:sldId id="354" r:id="rId44"/>
    <p:sldId id="316"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62" d="100"/>
          <a:sy n="62" d="100"/>
        </p:scale>
        <p:origin x="1400" y="4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0" Type="http://schemas.openxmlformats.org/officeDocument/2006/relationships/tableStyles" Target="tableStyles.xml"/><Relationship Id="rId5" Type="http://schemas.openxmlformats.org/officeDocument/2006/relationships/slide" Target="slides/slide3.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notesMaster" Target="notesMasters/notes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557C6AD-D7F3-4C45-AAB3-98A8CD2DC805}" type="datetimeFigureOut">
              <a:rPr lang="en-US" smtClean="0"/>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843715E-BEE7-40C6-8B64-D49BBD866DCA}" type="slidenum">
              <a:rPr lang="en-US" smtClean="0"/>
            </a:fld>
            <a:endParaRPr 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E57FD8-B2C0-40E3-8160-7AB247498F15}"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4677A0-9018-45F6-ADAB-B7DB527ED19F}" type="slidenum">
              <a:rPr lang="en-US" smtClean="0"/>
            </a:fld>
            <a:endParaRPr lang="en-US"/>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594FDF-009B-4881-82DB-F675317613FE}" type="datetime1">
              <a:rPr lang="en-US" smtClean="0"/>
            </a:fld>
            <a:endParaRPr lang="en-US"/>
          </a:p>
        </p:txBody>
      </p:sp>
      <p:sp>
        <p:nvSpPr>
          <p:cNvPr id="5" name="Footer Placeholder 4"/>
          <p:cNvSpPr>
            <a:spLocks noGrp="1"/>
          </p:cNvSpPr>
          <p:nvPr>
            <p:ph type="ftr" sz="quarter" idx="11"/>
          </p:nvPr>
        </p:nvSpPr>
        <p:spPr/>
        <p:txBody>
          <a:bodyPr/>
          <a:lstStyle/>
          <a:p>
            <a:r>
              <a:rPr lang="en-US"/>
              <a:t>Abdus Sattar, sattar@britannia.ac</a:t>
            </a:r>
            <a:endParaRPr lang="en-US"/>
          </a:p>
        </p:txBody>
      </p:sp>
      <p:sp>
        <p:nvSpPr>
          <p:cNvPr id="6" name="Slide Number Placeholder 5"/>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83280FE8-CA90-492D-B780-3E28240EFA8E}" type="datetime1">
              <a:rPr lang="en-US" smtClean="0"/>
            </a:fld>
            <a:endParaRPr lang="en-US"/>
          </a:p>
        </p:txBody>
      </p:sp>
      <p:sp>
        <p:nvSpPr>
          <p:cNvPr id="5" name="Footer Placeholder 4"/>
          <p:cNvSpPr>
            <a:spLocks noGrp="1"/>
          </p:cNvSpPr>
          <p:nvPr>
            <p:ph type="ftr" sz="quarter" idx="11"/>
          </p:nvPr>
        </p:nvSpPr>
        <p:spPr/>
        <p:txBody>
          <a:bodyPr/>
          <a:lstStyle/>
          <a:p>
            <a:r>
              <a:rPr lang="en-US"/>
              <a:t>Abdus Sattar, sattar@britannia.ac</a:t>
            </a:r>
            <a:endParaRPr lang="en-US"/>
          </a:p>
        </p:txBody>
      </p:sp>
      <p:sp>
        <p:nvSpPr>
          <p:cNvPr id="6" name="Slide Number Placeholder 5"/>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C7B157A-C3EF-4DB1-9C6A-041B7A9E2DB1}" type="datetime1">
              <a:rPr lang="en-US" smtClean="0"/>
            </a:fld>
            <a:endParaRPr lang="en-US"/>
          </a:p>
        </p:txBody>
      </p:sp>
      <p:sp>
        <p:nvSpPr>
          <p:cNvPr id="5" name="Footer Placeholder 4"/>
          <p:cNvSpPr>
            <a:spLocks noGrp="1"/>
          </p:cNvSpPr>
          <p:nvPr>
            <p:ph type="ftr" sz="quarter" idx="11"/>
          </p:nvPr>
        </p:nvSpPr>
        <p:spPr/>
        <p:txBody>
          <a:bodyPr/>
          <a:lstStyle/>
          <a:p>
            <a:r>
              <a:rPr lang="en-US"/>
              <a:t>Abdus Sattar, sattar@britannia.ac</a:t>
            </a:r>
            <a:endParaRPr lang="en-US"/>
          </a:p>
        </p:txBody>
      </p:sp>
      <p:sp>
        <p:nvSpPr>
          <p:cNvPr id="6" name="Slide Number Placeholder 5"/>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A31049E-90EC-4E3F-8AEB-8BF5CE327C87}" type="datetime1">
              <a:rPr lang="en-US" smtClean="0"/>
            </a:fld>
            <a:endParaRPr lang="en-US"/>
          </a:p>
        </p:txBody>
      </p:sp>
      <p:sp>
        <p:nvSpPr>
          <p:cNvPr id="6" name="Footer Placeholder 5"/>
          <p:cNvSpPr>
            <a:spLocks noGrp="1"/>
          </p:cNvSpPr>
          <p:nvPr>
            <p:ph type="ftr" sz="quarter" idx="11"/>
          </p:nvPr>
        </p:nvSpPr>
        <p:spPr/>
        <p:txBody>
          <a:bodyPr/>
          <a:lstStyle/>
          <a:p>
            <a:r>
              <a:rPr lang="en-US"/>
              <a:t>Abdus Sattar, sattar@britannia.ac</a:t>
            </a:r>
            <a:endParaRPr lang="en-US"/>
          </a:p>
        </p:txBody>
      </p:sp>
      <p:sp>
        <p:nvSpPr>
          <p:cNvPr id="7" name="Slide Number Placeholder 6"/>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96BD82AD-51FE-412E-AB14-34EFEC431308}" type="datetime1">
              <a:rPr lang="en-US" smtClean="0"/>
            </a:fld>
            <a:endParaRPr lang="en-US"/>
          </a:p>
        </p:txBody>
      </p:sp>
      <p:sp>
        <p:nvSpPr>
          <p:cNvPr id="8" name="Footer Placeholder 7"/>
          <p:cNvSpPr>
            <a:spLocks noGrp="1"/>
          </p:cNvSpPr>
          <p:nvPr>
            <p:ph type="ftr" sz="quarter" idx="11"/>
          </p:nvPr>
        </p:nvSpPr>
        <p:spPr/>
        <p:txBody>
          <a:bodyPr/>
          <a:lstStyle/>
          <a:p>
            <a:r>
              <a:rPr lang="en-US"/>
              <a:t>Abdus Sattar, sattar@britannia.ac</a:t>
            </a:r>
            <a:endParaRPr lang="en-US"/>
          </a:p>
        </p:txBody>
      </p:sp>
      <p:sp>
        <p:nvSpPr>
          <p:cNvPr id="9" name="Slide Number Placeholder 8"/>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970C38F-F3C8-4C86-BA69-F26699FD64E2}" type="datetime1">
              <a:rPr lang="en-US" smtClean="0"/>
            </a:fld>
            <a:endParaRPr lang="en-US"/>
          </a:p>
        </p:txBody>
      </p:sp>
      <p:sp>
        <p:nvSpPr>
          <p:cNvPr id="4" name="Footer Placeholder 3"/>
          <p:cNvSpPr>
            <a:spLocks noGrp="1"/>
          </p:cNvSpPr>
          <p:nvPr>
            <p:ph type="ftr" sz="quarter" idx="11"/>
          </p:nvPr>
        </p:nvSpPr>
        <p:spPr/>
        <p:txBody>
          <a:bodyPr/>
          <a:lstStyle/>
          <a:p>
            <a:r>
              <a:rPr lang="en-US"/>
              <a:t>Abdus Sattar, sattar@britannia.ac</a:t>
            </a:r>
            <a:endParaRPr lang="en-US"/>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1EA2F8-AC8B-44BC-B895-A4D81833CC22}" type="datetime1">
              <a:rPr lang="en-US" smtClean="0"/>
            </a:fld>
            <a:endParaRPr lang="en-US"/>
          </a:p>
        </p:txBody>
      </p:sp>
      <p:sp>
        <p:nvSpPr>
          <p:cNvPr id="3" name="Footer Placeholder 2"/>
          <p:cNvSpPr>
            <a:spLocks noGrp="1"/>
          </p:cNvSpPr>
          <p:nvPr>
            <p:ph type="ftr" sz="quarter" idx="11"/>
          </p:nvPr>
        </p:nvSpPr>
        <p:spPr/>
        <p:txBody>
          <a:bodyPr/>
          <a:lstStyle/>
          <a:p>
            <a:r>
              <a:rPr lang="en-US"/>
              <a:t>Abdus Sattar, sattar@britannia.ac</a:t>
            </a:r>
            <a:endParaRPr lang="en-US"/>
          </a:p>
        </p:txBody>
      </p:sp>
      <p:sp>
        <p:nvSpPr>
          <p:cNvPr id="4" name="Slide Number Placeholder 3"/>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113EC6D-C4AA-4C5E-8B2B-494E35EDA511}" type="datetime1">
              <a:rPr lang="en-US" smtClean="0"/>
            </a:fld>
            <a:endParaRPr lang="en-US"/>
          </a:p>
        </p:txBody>
      </p:sp>
      <p:sp>
        <p:nvSpPr>
          <p:cNvPr id="6" name="Footer Placeholder 5"/>
          <p:cNvSpPr>
            <a:spLocks noGrp="1"/>
          </p:cNvSpPr>
          <p:nvPr>
            <p:ph type="ftr" sz="quarter" idx="11"/>
          </p:nvPr>
        </p:nvSpPr>
        <p:spPr/>
        <p:txBody>
          <a:bodyPr/>
          <a:lstStyle/>
          <a:p>
            <a:r>
              <a:rPr lang="en-US"/>
              <a:t>Abdus Sattar, sattar@britannia.ac</a:t>
            </a:r>
            <a:endParaRPr lang="en-US"/>
          </a:p>
        </p:txBody>
      </p:sp>
      <p:sp>
        <p:nvSpPr>
          <p:cNvPr id="7" name="Slide Number Placeholder 6"/>
          <p:cNvSpPr>
            <a:spLocks noGrp="1"/>
          </p:cNvSpPr>
          <p:nvPr>
            <p:ph type="sldNum" sz="quarter" idx="12"/>
          </p:nvPr>
        </p:nvSpPr>
        <p:spPr/>
        <p:txBody>
          <a:bodyPr/>
          <a:lstStyle/>
          <a:p>
            <a:fld id="{195567C4-C875-4EA2-906F-45EEB91D3DE0}" type="slidenum">
              <a:rPr lang="en-US" smtClean="0"/>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p:txBody>
          <a:bodyPr/>
          <a:lstStyle/>
          <a:p>
            <a:fld id="{AD85EF7D-8C11-4940-86F3-62340C232535}" type="datetime1">
              <a:rPr lang="en-US" smtClean="0"/>
            </a:fld>
            <a:endParaRPr lang="en-US"/>
          </a:p>
        </p:txBody>
      </p:sp>
      <p:sp>
        <p:nvSpPr>
          <p:cNvPr id="9" name="Slide Number Placeholder 8"/>
          <p:cNvSpPr>
            <a:spLocks noGrp="1"/>
          </p:cNvSpPr>
          <p:nvPr>
            <p:ph type="sldNum" sz="quarter" idx="11"/>
          </p:nvPr>
        </p:nvSpPr>
        <p:spPr/>
        <p:txBody>
          <a:bodyPr/>
          <a:lstStyle/>
          <a:p>
            <a:fld id="{195567C4-C875-4EA2-906F-45EEB91D3DE0}" type="slidenum">
              <a:rPr lang="en-US" smtClean="0"/>
            </a:fld>
            <a:endParaRPr lang="en-US"/>
          </a:p>
        </p:txBody>
      </p:sp>
      <p:sp>
        <p:nvSpPr>
          <p:cNvPr id="10" name="Footer Placeholder 9"/>
          <p:cNvSpPr>
            <a:spLocks noGrp="1"/>
          </p:cNvSpPr>
          <p:nvPr>
            <p:ph type="ftr" sz="quarter" idx="12"/>
          </p:nvPr>
        </p:nvSpPr>
        <p:spPr/>
        <p:txBody>
          <a:bodyPr/>
          <a:lstStyle/>
          <a:p>
            <a:r>
              <a:rPr lang="en-US"/>
              <a:t>Abdus Sattar, sattar@britannia.ac</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992C73-491E-4EE5-8C12-6C09ADCB5C5F}" type="datetime1">
              <a:rPr lang="en-US" smtClean="0"/>
            </a:fld>
            <a:endParaRPr lang="en-US"/>
          </a:p>
        </p:txBody>
      </p:sp>
      <p:sp>
        <p:nvSpPr>
          <p:cNvPr id="5" name="Footer Placeholder 4"/>
          <p:cNvSpPr>
            <a:spLocks noGrp="1"/>
          </p:cNvSpPr>
          <p:nvPr>
            <p:ph type="ftr" sz="quarter" idx="11"/>
          </p:nvPr>
        </p:nvSpPr>
        <p:spPr/>
        <p:txBody>
          <a:bodyPr/>
          <a:lstStyle/>
          <a:p>
            <a:r>
              <a:rPr lang="en-US"/>
              <a:t>Abdus Sattar, sattar@britannia.ac</a:t>
            </a:r>
            <a:endParaRPr lang="en-US"/>
          </a:p>
        </p:txBody>
      </p:sp>
      <p:sp>
        <p:nvSpPr>
          <p:cNvPr id="6" name="Slide Number Placeholder 5"/>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E1273E1-A56D-4535-AFE5-A01BA6ABAB6B}" type="datetime1">
              <a:rPr lang="en-US" smtClean="0"/>
            </a:fld>
            <a:endParaRPr lang="en-US"/>
          </a:p>
        </p:txBody>
      </p:sp>
      <p:sp>
        <p:nvSpPr>
          <p:cNvPr id="5" name="Footer Placeholder 4"/>
          <p:cNvSpPr>
            <a:spLocks noGrp="1"/>
          </p:cNvSpPr>
          <p:nvPr>
            <p:ph type="ftr" sz="quarter" idx="11"/>
          </p:nvPr>
        </p:nvSpPr>
        <p:spPr/>
        <p:txBody>
          <a:bodyPr/>
          <a:lstStyle/>
          <a:p>
            <a:r>
              <a:rPr lang="en-US"/>
              <a:t>Abdus Sattar, sattar@britannia.ac</a:t>
            </a:r>
            <a:endParaRPr lang="en-US"/>
          </a:p>
        </p:txBody>
      </p:sp>
      <p:sp>
        <p:nvSpPr>
          <p:cNvPr id="6" name="Slide Number Placeholder 5"/>
          <p:cNvSpPr>
            <a:spLocks noGrp="1"/>
          </p:cNvSpPr>
          <p:nvPr>
            <p:ph type="sldNum" sz="quarter" idx="12"/>
          </p:nvPr>
        </p:nvSpPr>
        <p:spPr/>
        <p:txBody>
          <a:bodyPr/>
          <a:lstStyle/>
          <a:p>
            <a:fld id="{195567C4-C875-4EA2-906F-45EEB91D3DE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195567C4-C875-4EA2-906F-45EEB91D3DE0}" type="slidenum">
              <a:rPr lang="en-US" smtClean="0"/>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r>
              <a:rPr lang="en-US"/>
              <a:t>Abdus Sattar, sattar@britannia.ac</a:t>
            </a:r>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1D92A865-244F-478E-A21A-A559CC17548A}" type="datetime1">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anose="020B0604020202020204"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anose="020B0604020202020204"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anose="020B0604020202020204"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anose="020B0604020202020204"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anose="020B0604020202020204"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anose="020B0604020202020204"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anose="020B0604020202020204"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anose="020B0604020202020204"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hyperlink" Target="mailto:abdus.cse@diu.edu.bd" TargetMode="Externa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0.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2.jpe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emf"/><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emf"/><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emf"/><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emf"/><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hyperlink" Target="https://melsatar.blog/2012/03/15/software-development-life-cycle-models-and-methodologi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359710"/>
            <a:ext cx="6096000" cy="1218174"/>
          </a:xfrm>
        </p:spPr>
        <p:txBody>
          <a:bodyPr/>
          <a:lstStyle/>
          <a:p>
            <a:pPr algn="ctr"/>
            <a:r>
              <a:rPr lang="en-US" sz="4400" b="1" dirty="0">
                <a:solidFill>
                  <a:srgbClr val="002060"/>
                </a:solidFill>
                <a:latin typeface="Times New Roman" panose="02020603050405020304" pitchFamily="18" charset="0"/>
                <a:cs typeface="Times New Roman" panose="02020603050405020304" pitchFamily="18" charset="0"/>
              </a:rPr>
              <a:t>Week-2: Lesson-1</a:t>
            </a:r>
            <a:br>
              <a:rPr lang="en-US" sz="4400" b="1" dirty="0">
                <a:solidFill>
                  <a:srgbClr val="002060"/>
                </a:solidFill>
                <a:latin typeface="Times New Roman" panose="02020603050405020304" pitchFamily="18" charset="0"/>
                <a:cs typeface="Times New Roman" panose="02020603050405020304" pitchFamily="18" charset="0"/>
              </a:rPr>
            </a:br>
            <a:r>
              <a:rPr lang="en-US" sz="4400" b="1" dirty="0">
                <a:solidFill>
                  <a:srgbClr val="002060"/>
                </a:solidFill>
                <a:latin typeface="Times New Roman" panose="02020603050405020304" pitchFamily="18" charset="0"/>
                <a:cs typeface="Times New Roman" panose="02020603050405020304" pitchFamily="18" charset="0"/>
              </a:rPr>
              <a:t>Process Models </a:t>
            </a:r>
            <a:endParaRPr lang="en-US" sz="4400" b="1" dirty="0">
              <a:solidFill>
                <a:srgbClr val="002060"/>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a:off x="1524000" y="3657600"/>
            <a:ext cx="57912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67050" y="213026"/>
            <a:ext cx="2400300" cy="19116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Topics Covered</a:t>
            </a:r>
            <a:endParaRPr lang="en-US" sz="3600" b="1" dirty="0">
              <a:solidFill>
                <a:srgbClr val="002060"/>
              </a:solidFill>
            </a:endParaRPr>
          </a:p>
        </p:txBody>
      </p:sp>
      <p:sp>
        <p:nvSpPr>
          <p:cNvPr id="3" name="Content Placeholder 2"/>
          <p:cNvSpPr>
            <a:spLocks noGrp="1"/>
          </p:cNvSpPr>
          <p:nvPr>
            <p:ph idx="1"/>
          </p:nvPr>
        </p:nvSpPr>
        <p:spPr>
          <a:xfrm>
            <a:off x="457200" y="1701800"/>
            <a:ext cx="7620000" cy="4343400"/>
          </a:xfrm>
        </p:spPr>
        <p:txBody>
          <a:bodyPr>
            <a:noAutofit/>
          </a:bodyPr>
          <a:lstStyle/>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Software Process</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Process Model </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A generic Process Model</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Software Framework Activities</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Software Process Model</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Selection of Process Model</a:t>
            </a:r>
            <a:endParaRPr lang="en-US" sz="2800" b="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endParaRPr lang="en-US" sz="2800" b="1" i="1" dirty="0">
              <a:latin typeface="Times New Roman" panose="02020603050405020304" pitchFamily="18" charset="0"/>
              <a:cs typeface="Times New Roman" panose="02020603050405020304" pitchFamily="18" charset="0"/>
            </a:endParaRPr>
          </a:p>
          <a:p>
            <a:pPr algn="just">
              <a:spcBef>
                <a:spcPct val="50000"/>
              </a:spcBef>
              <a:buFont typeface="Wingdings" panose="05000000000000000000" pitchFamily="2" charset="2"/>
              <a:buChar char="q"/>
            </a:pPr>
            <a:endParaRPr lang="en-US" sz="2800" b="1" i="1" dirty="0">
              <a:latin typeface="Times New Roman" panose="02020603050405020304" pitchFamily="18" charset="0"/>
              <a:cs typeface="Times New Roman" panose="02020603050405020304" pitchFamily="18" charset="0"/>
            </a:endParaRPr>
          </a:p>
          <a:p>
            <a:pPr marL="114300" indent="0">
              <a:buNone/>
            </a:pP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14438"/>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5500" y="232117"/>
            <a:ext cx="6362700" cy="1143000"/>
          </a:xfrm>
        </p:spPr>
        <p:txBody>
          <a:bodyPr/>
          <a:lstStyle/>
          <a:p>
            <a:pPr algn="ctr"/>
            <a:r>
              <a:rPr lang="en-US" sz="3600" b="1" dirty="0"/>
              <a:t>Definition of Software Process </a:t>
            </a:r>
            <a:endParaRPr lang="en-US" sz="3600" b="1" dirty="0">
              <a:solidFill>
                <a:srgbClr val="002060"/>
              </a:solidFill>
            </a:endParaRPr>
          </a:p>
        </p:txBody>
      </p:sp>
      <p:sp>
        <p:nvSpPr>
          <p:cNvPr id="3" name="Content Placeholder 2"/>
          <p:cNvSpPr>
            <a:spLocks noGrp="1"/>
          </p:cNvSpPr>
          <p:nvPr>
            <p:ph idx="1"/>
          </p:nvPr>
        </p:nvSpPr>
        <p:spPr>
          <a:xfrm>
            <a:off x="457200" y="1447800"/>
            <a:ext cx="7620000" cy="4876800"/>
          </a:xfrm>
        </p:spPr>
        <p:txBody>
          <a:bodyPr>
            <a:normAutofit fontScale="85000" lnSpcReduction="20000"/>
          </a:bodyPr>
          <a:lstStyle/>
          <a:p>
            <a:pPr algn="just">
              <a:spcBef>
                <a:spcPct val="50000"/>
              </a:spcBef>
              <a:buFont typeface="Wingdings" panose="05000000000000000000" pitchFamily="2" charset="2"/>
              <a:buChar char="q"/>
            </a:pPr>
            <a:r>
              <a:rPr lang="en-US" sz="2800" b="1" i="1" dirty="0">
                <a:latin typeface="Times New Roman" panose="02020603050405020304" pitchFamily="18" charset="0"/>
                <a:cs typeface="Times New Roman" panose="02020603050405020304" pitchFamily="18" charset="0"/>
              </a:rPr>
              <a:t> Software Process: </a:t>
            </a:r>
            <a:endParaRPr lang="en-US" sz="2800" b="1" i="1" dirty="0">
              <a:latin typeface="Times New Roman" panose="02020603050405020304" pitchFamily="18" charset="0"/>
              <a:cs typeface="Times New Roman" panose="02020603050405020304" pitchFamily="18" charset="0"/>
            </a:endParaRPr>
          </a:p>
          <a:p>
            <a:pPr lvl="2" algn="just">
              <a:buFont typeface="Courier New" panose="02070309020205020404" pitchFamily="49" charset="0"/>
              <a:buChar char="o"/>
            </a:pPr>
            <a:r>
              <a:rPr lang="en-US" sz="2600" dirty="0">
                <a:latin typeface="Times New Roman" panose="02020603050405020304" pitchFamily="18" charset="0"/>
                <a:ea typeface="MS PGothic" panose="020B0600070205080204" pitchFamily="34" charset="-128"/>
                <a:cs typeface="Times New Roman" panose="02020603050405020304" pitchFamily="18" charset="0"/>
              </a:rPr>
              <a:t>A </a:t>
            </a:r>
            <a:r>
              <a:rPr lang="en-US" sz="2600" b="1" dirty="0">
                <a:solidFill>
                  <a:srgbClr val="0070C0"/>
                </a:solidFill>
                <a:latin typeface="Times New Roman" panose="02020603050405020304" pitchFamily="18" charset="0"/>
                <a:ea typeface="MS PGothic" panose="020B0600070205080204" pitchFamily="34" charset="-128"/>
                <a:cs typeface="Times New Roman" panose="02020603050405020304" pitchFamily="18" charset="0"/>
              </a:rPr>
              <a:t>framework</a:t>
            </a:r>
            <a:r>
              <a:rPr lang="en-US" sz="2600" dirty="0">
                <a:latin typeface="Times New Roman" panose="02020603050405020304" pitchFamily="18" charset="0"/>
                <a:ea typeface="MS PGothic" panose="020B0600070205080204" pitchFamily="34" charset="-128"/>
                <a:cs typeface="Times New Roman" panose="02020603050405020304" pitchFamily="18" charset="0"/>
              </a:rPr>
              <a:t> for the activities, actions, and tasks that are required to build high-quality software. </a:t>
            </a: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a:p>
            <a:pPr lvl="2" algn="just">
              <a:buFont typeface="Courier New" panose="02070309020205020404" pitchFamily="49" charset="0"/>
              <a:buChar char="o"/>
            </a:pPr>
            <a:r>
              <a:rPr lang="en-US" sz="2600" dirty="0">
                <a:latin typeface="Times New Roman" panose="02020603050405020304" pitchFamily="18" charset="0"/>
                <a:ea typeface="MS PGothic" panose="020B0600070205080204" pitchFamily="34" charset="-128"/>
                <a:cs typeface="Times New Roman" panose="02020603050405020304" pitchFamily="18" charset="0"/>
              </a:rPr>
              <a:t>SP defines the approach that is taken as software is engineered. </a:t>
            </a: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a:p>
            <a:pPr lvl="2" algn="just">
              <a:buFont typeface="Courier New" panose="02070309020205020404" pitchFamily="49" charset="0"/>
              <a:buChar char="o"/>
            </a:pPr>
            <a:r>
              <a:rPr lang="en-US" sz="2600" dirty="0">
                <a:latin typeface="Times New Roman" panose="02020603050405020304" pitchFamily="18" charset="0"/>
                <a:ea typeface="MS PGothic" panose="020B0600070205080204" pitchFamily="34" charset="-128"/>
                <a:cs typeface="Times New Roman" panose="02020603050405020304" pitchFamily="18" charset="0"/>
              </a:rPr>
              <a:t>Is not equal to software engineering, which also encompasses </a:t>
            </a:r>
            <a:r>
              <a:rPr lang="en-US" sz="2600" b="1" dirty="0">
                <a:latin typeface="Times New Roman" panose="02020603050405020304" pitchFamily="18" charset="0"/>
                <a:ea typeface="MS PGothic" panose="020B0600070205080204" pitchFamily="34" charset="-128"/>
                <a:cs typeface="Times New Roman" panose="02020603050405020304" pitchFamily="18" charset="0"/>
              </a:rPr>
              <a:t>technologies</a:t>
            </a:r>
            <a:r>
              <a:rPr lang="en-US" sz="2600" dirty="0">
                <a:latin typeface="Times New Roman" panose="02020603050405020304" pitchFamily="18" charset="0"/>
                <a:ea typeface="MS PGothic" panose="020B0600070205080204" pitchFamily="34" charset="-128"/>
                <a:cs typeface="Times New Roman" panose="02020603050405020304" pitchFamily="18" charset="0"/>
              </a:rPr>
              <a:t> that populate the process– technical methods and automated tools. </a:t>
            </a: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a:p>
            <a:pPr algn="just">
              <a:spcBef>
                <a:spcPct val="50000"/>
              </a:spcBef>
              <a:buFont typeface="Wingdings" panose="05000000000000000000" pitchFamily="2" charset="2"/>
              <a:buChar char="q"/>
            </a:pPr>
            <a:r>
              <a:rPr lang="en-US" sz="2800" i="1" dirty="0">
                <a:latin typeface="Times New Roman" panose="02020603050405020304" pitchFamily="18" charset="0"/>
                <a:cs typeface="Times New Roman" panose="02020603050405020304" pitchFamily="18" charset="0"/>
              </a:rPr>
              <a:t> </a:t>
            </a:r>
            <a:r>
              <a:rPr lang="en-US" sz="2800" b="1" i="1" dirty="0">
                <a:latin typeface="Times New Roman" panose="02020603050405020304" pitchFamily="18" charset="0"/>
                <a:cs typeface="Times New Roman" panose="02020603050405020304" pitchFamily="18" charset="0"/>
              </a:rPr>
              <a:t>Process Model : </a:t>
            </a:r>
            <a:endParaRPr lang="en-US" sz="2800" b="1" i="1" dirty="0">
              <a:latin typeface="Times New Roman" panose="02020603050405020304" pitchFamily="18" charset="0"/>
              <a:cs typeface="Times New Roman" panose="02020603050405020304" pitchFamily="18" charset="0"/>
            </a:endParaRPr>
          </a:p>
          <a:p>
            <a:pPr lvl="2" algn="just">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A Process Model describes the </a:t>
            </a:r>
            <a:r>
              <a:rPr lang="en-US" sz="2600" b="1" dirty="0">
                <a:solidFill>
                  <a:srgbClr val="0070C0"/>
                </a:solidFill>
                <a:latin typeface="Times New Roman" panose="02020603050405020304" pitchFamily="18" charset="0"/>
                <a:cs typeface="Times New Roman" panose="02020603050405020304" pitchFamily="18" charset="0"/>
              </a:rPr>
              <a:t>sequence of phases </a:t>
            </a:r>
            <a:r>
              <a:rPr lang="en-US" sz="2600" dirty="0">
                <a:latin typeface="Times New Roman" panose="02020603050405020304" pitchFamily="18" charset="0"/>
                <a:cs typeface="Times New Roman" panose="02020603050405020304" pitchFamily="18" charset="0"/>
              </a:rPr>
              <a:t>for the entire lifetime of a product. Therefore it is sometimes also called Product Life Cycle. </a:t>
            </a:r>
            <a:endParaRPr lang="en-US" sz="2600" dirty="0">
              <a:latin typeface="Times New Roman" panose="02020603050405020304" pitchFamily="18" charset="0"/>
              <a:cs typeface="Times New Roman" panose="02020603050405020304" pitchFamily="18" charset="0"/>
            </a:endParaRPr>
          </a:p>
          <a:p>
            <a:pPr lvl="2" algn="just">
              <a:buFont typeface="Courier New" panose="02070309020205020404" pitchFamily="49" charset="0"/>
              <a:buChar char="o"/>
            </a:pPr>
            <a:r>
              <a:rPr lang="en-US" sz="2600" dirty="0">
                <a:latin typeface="Times New Roman" panose="02020603050405020304" pitchFamily="18" charset="0"/>
                <a:cs typeface="Times New Roman" panose="02020603050405020304" pitchFamily="18" charset="0"/>
              </a:rPr>
              <a:t>This covers everything from the initial commercial idea until the final de-installation or disassembling of the product after its use. </a:t>
            </a:r>
            <a:endParaRPr lang="en-US" sz="2600" b="1" dirty="0">
              <a:latin typeface="Times New Roman" panose="02020603050405020304" pitchFamily="18" charset="0"/>
              <a:cs typeface="Times New Roman" panose="02020603050405020304" pitchFamily="18" charset="0"/>
            </a:endParaRPr>
          </a:p>
          <a:p>
            <a:pPr marL="114300" indent="0">
              <a:buNone/>
            </a:pP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14438"/>
            <a:ext cx="58674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What / who / why is Process Models?</a:t>
            </a:r>
            <a:endParaRPr lang="en-US" sz="3600" b="1" dirty="0">
              <a:solidFill>
                <a:srgbClr val="002060"/>
              </a:solidFill>
            </a:endParaRPr>
          </a:p>
        </p:txBody>
      </p:sp>
      <p:sp>
        <p:nvSpPr>
          <p:cNvPr id="3" name="Content Placeholder 2"/>
          <p:cNvSpPr>
            <a:spLocks noGrp="1"/>
          </p:cNvSpPr>
          <p:nvPr>
            <p:ph idx="1"/>
          </p:nvPr>
        </p:nvSpPr>
        <p:spPr>
          <a:xfrm>
            <a:off x="152400" y="1371600"/>
            <a:ext cx="8229600" cy="5334000"/>
          </a:xfrm>
        </p:spPr>
        <p:txBody>
          <a:bodyPr>
            <a:noAutofit/>
          </a:bodyPr>
          <a:lstStyle/>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What</a:t>
            </a:r>
            <a:r>
              <a:rPr lang="en-US"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latin typeface="Times New Roman" panose="02020603050405020304" pitchFamily="18" charset="0"/>
                <a:ea typeface="MS PGothic" panose="020B0600070205080204" pitchFamily="34" charset="-128"/>
                <a:cs typeface="Times New Roman" panose="02020603050405020304" pitchFamily="18" charset="0"/>
              </a:rPr>
              <a:t>Go through a series of predictable steps--- a </a:t>
            </a: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road map </a:t>
            </a:r>
            <a:r>
              <a:rPr lang="en-US" dirty="0">
                <a:latin typeface="Times New Roman" panose="02020603050405020304" pitchFamily="18" charset="0"/>
                <a:ea typeface="MS PGothic" panose="020B0600070205080204" pitchFamily="34" charset="-128"/>
                <a:cs typeface="Times New Roman" panose="02020603050405020304" pitchFamily="18" charset="0"/>
              </a:rPr>
              <a:t>that helps you create a timely, high-quality results.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Who</a:t>
            </a:r>
            <a:r>
              <a:rPr lang="en-US"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latin typeface="Times New Roman" panose="02020603050405020304" pitchFamily="18" charset="0"/>
                <a:ea typeface="MS PGothic" panose="020B0600070205080204" pitchFamily="34" charset="-128"/>
                <a:cs typeface="Times New Roman" panose="02020603050405020304" pitchFamily="18" charset="0"/>
              </a:rPr>
              <a:t>Software engineers and their managers, clients also. People adapt the process to their needs and follow it.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Why</a:t>
            </a:r>
            <a:r>
              <a:rPr lang="en-US"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latin typeface="Times New Roman" panose="02020603050405020304" pitchFamily="18" charset="0"/>
                <a:ea typeface="MS PGothic" panose="020B0600070205080204" pitchFamily="34" charset="-128"/>
                <a:cs typeface="Times New Roman" panose="02020603050405020304" pitchFamily="18" charset="0"/>
              </a:rPr>
              <a:t>Provides stability, control, and organization to an activity that can if left uncontrolled, become quite chaotic. However, modern software engineering approaches must be agile and demand </a:t>
            </a: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ONLY</a:t>
            </a:r>
            <a:r>
              <a:rPr lang="en-US" dirty="0">
                <a:latin typeface="Times New Roman" panose="02020603050405020304" pitchFamily="18" charset="0"/>
                <a:ea typeface="MS PGothic" panose="020B0600070205080204" pitchFamily="34" charset="-128"/>
                <a:cs typeface="Times New Roman" panose="02020603050405020304" pitchFamily="18" charset="0"/>
              </a:rPr>
              <a:t> those activities, controls and work products that are appropriate.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What Work products</a:t>
            </a:r>
            <a:r>
              <a:rPr lang="en-US"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latin typeface="Times New Roman" panose="02020603050405020304" pitchFamily="18" charset="0"/>
                <a:ea typeface="MS PGothic" panose="020B0600070205080204" pitchFamily="34" charset="-128"/>
                <a:cs typeface="Times New Roman" panose="02020603050405020304" pitchFamily="18" charset="0"/>
              </a:rPr>
              <a:t>Programs, documents, and data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What are the steps: </a:t>
            </a:r>
            <a:r>
              <a:rPr lang="en-US" dirty="0">
                <a:latin typeface="Times New Roman" panose="02020603050405020304" pitchFamily="18" charset="0"/>
                <a:ea typeface="MS PGothic" panose="020B0600070205080204" pitchFamily="34" charset="-128"/>
                <a:cs typeface="Times New Roman" panose="02020603050405020304" pitchFamily="18" charset="0"/>
              </a:rPr>
              <a:t>The process you adopt depends on the software that you are building. One process might be good for aircraft avionic system, while an entirely different process would be used for website creation.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algn="just">
              <a:lnSpc>
                <a:spcPct val="80000"/>
              </a:lnSpc>
              <a:buFont typeface="Wingdings" panose="05000000000000000000" pitchFamily="2" charset="2"/>
              <a:buChar char="q"/>
            </a:pPr>
            <a:r>
              <a:rPr lang="en-US" b="1"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How to ensure right</a:t>
            </a:r>
            <a:r>
              <a:rPr lang="en-US" i="1" dirty="0">
                <a:solidFill>
                  <a:srgbClr val="00B050"/>
                </a:solidFill>
                <a:latin typeface="Times New Roman" panose="02020603050405020304" pitchFamily="18" charset="0"/>
                <a:ea typeface="MS PGothic" panose="020B0600070205080204" pitchFamily="34" charset="-128"/>
                <a:cs typeface="Times New Roman" panose="02020603050405020304" pitchFamily="18" charset="0"/>
              </a:rPr>
              <a:t>: </a:t>
            </a:r>
            <a:r>
              <a:rPr lang="en-US" dirty="0">
                <a:latin typeface="Times New Roman" panose="02020603050405020304" pitchFamily="18" charset="0"/>
                <a:ea typeface="MS PGothic" panose="020B0600070205080204" pitchFamily="34" charset="-128"/>
                <a:cs typeface="Times New Roman" panose="02020603050405020304" pitchFamily="18" charset="0"/>
              </a:rPr>
              <a:t>A number of software process assessment mechanisms that enable us to determine the maturity of the software process. However, the quality, timeliness and long-term viability of the software are the best indicators of the efficacy of the process you use.</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954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A Generic Process Model</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0668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4800600"/>
          </a:xfrm>
        </p:spPr>
        <p:txBody>
          <a:bodyPr>
            <a:noAutofit/>
          </a:bodyPr>
          <a:lstStyle/>
          <a:p>
            <a:pPr>
              <a:buFont typeface="Wingdings" panose="05000000000000000000" pitchFamily="2" charset="2"/>
              <a:buChar char="q"/>
            </a:pPr>
            <a:r>
              <a:rPr lang="en-US" dirty="0">
                <a:latin typeface="Palatino" charset="0"/>
                <a:ea typeface="MS PGothic" panose="020B0600070205080204" pitchFamily="34" charset="-128"/>
              </a:rPr>
              <a:t>As we discussed before, a generic process framework for software engineering defines </a:t>
            </a:r>
            <a:r>
              <a:rPr lang="en-US" dirty="0">
                <a:solidFill>
                  <a:srgbClr val="0070C0"/>
                </a:solidFill>
                <a:latin typeface="Palatino" charset="0"/>
                <a:ea typeface="MS PGothic" panose="020B0600070205080204" pitchFamily="34" charset="-128"/>
              </a:rPr>
              <a:t>five framework activities-communication, planning, modeling, construction, and deployment. </a:t>
            </a:r>
            <a:endParaRPr lang="en-US" dirty="0">
              <a:solidFill>
                <a:srgbClr val="0070C0"/>
              </a:solidFill>
              <a:latin typeface="Palatino" charset="0"/>
              <a:ea typeface="MS PGothic" panose="020B0600070205080204" pitchFamily="34" charset="-128"/>
            </a:endParaRPr>
          </a:p>
          <a:p>
            <a:pPr>
              <a:buFont typeface="Wingdings" panose="05000000000000000000" pitchFamily="2" charset="2"/>
              <a:buChar char="q"/>
            </a:pPr>
            <a:r>
              <a:rPr lang="en-US" dirty="0">
                <a:latin typeface="Palatino" charset="0"/>
                <a:ea typeface="MS PGothic" panose="020B0600070205080204" pitchFamily="34" charset="-128"/>
              </a:rPr>
              <a:t>In addition, </a:t>
            </a:r>
            <a:r>
              <a:rPr lang="en-US" dirty="0">
                <a:solidFill>
                  <a:srgbClr val="0070C0"/>
                </a:solidFill>
                <a:latin typeface="Palatino" charset="0"/>
                <a:ea typeface="MS PGothic" panose="020B0600070205080204" pitchFamily="34" charset="-128"/>
              </a:rPr>
              <a:t>a set of umbrella activities- </a:t>
            </a:r>
            <a:r>
              <a:rPr lang="en-US" dirty="0">
                <a:latin typeface="Palatino" charset="0"/>
                <a:ea typeface="MS PGothic" panose="020B0600070205080204" pitchFamily="34" charset="-128"/>
              </a:rPr>
              <a:t>project tracking and control, risk management, quality assurance, configuration management, technical reviews, and others are applied throughout the process. </a:t>
            </a:r>
            <a:endParaRPr lang="en-US" dirty="0">
              <a:latin typeface="Palatino" charset="0"/>
              <a:ea typeface="MS PGothic" panose="020B0600070205080204"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A Generic Process Model</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0668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4800600"/>
          </a:xfrm>
        </p:spPr>
        <p:txBody>
          <a:bodyPr>
            <a:noAutofit/>
          </a:bodyPr>
          <a:lstStyle/>
          <a:p>
            <a:r>
              <a:rPr lang="en-US" b="1" i="1" u="sng" dirty="0">
                <a:solidFill>
                  <a:srgbClr val="7030A0"/>
                </a:solidFill>
                <a:latin typeface="Times New Roman" panose="02020603050405020304" pitchFamily="18" charset="0"/>
                <a:cs typeface="Times New Roman" panose="02020603050405020304" pitchFamily="18" charset="0"/>
              </a:rPr>
              <a:t>Communication :</a:t>
            </a:r>
            <a:r>
              <a:rPr lang="en-US"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activity involves heavy communication with customers and other stakeholders in order to gather requirements and other related activities.</a:t>
            </a:r>
            <a:endParaRPr lang="en-US" dirty="0">
              <a:latin typeface="Times New Roman" panose="02020603050405020304" pitchFamily="18" charset="0"/>
              <a:cs typeface="Times New Roman" panose="02020603050405020304" pitchFamily="18" charset="0"/>
            </a:endParaRPr>
          </a:p>
          <a:p>
            <a:r>
              <a:rPr lang="en-US" b="1" i="1" u="sng" dirty="0">
                <a:solidFill>
                  <a:srgbClr val="7030A0"/>
                </a:solidFill>
                <a:latin typeface="Times New Roman" panose="02020603050405020304" pitchFamily="18" charset="0"/>
                <a:cs typeface="Times New Roman" panose="02020603050405020304" pitchFamily="18" charset="0"/>
              </a:rPr>
              <a:t>Planning :</a:t>
            </a:r>
            <a:r>
              <a:rPr lang="en-US"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Here a plan to be followed will be created which will describe the technical tasks to be conducted, risks, required resources, work schedule etc.</a:t>
            </a:r>
            <a:endParaRPr lang="en-US" dirty="0">
              <a:latin typeface="Times New Roman" panose="02020603050405020304" pitchFamily="18" charset="0"/>
              <a:cs typeface="Times New Roman" panose="02020603050405020304" pitchFamily="18" charset="0"/>
            </a:endParaRPr>
          </a:p>
          <a:p>
            <a:r>
              <a:rPr lang="en-US" b="1" i="1" u="sng" dirty="0">
                <a:solidFill>
                  <a:srgbClr val="7030A0"/>
                </a:solidFill>
                <a:latin typeface="Times New Roman" panose="02020603050405020304" pitchFamily="18" charset="0"/>
                <a:cs typeface="Times New Roman" panose="02020603050405020304" pitchFamily="18" charset="0"/>
              </a:rPr>
              <a:t>Modeling :</a:t>
            </a:r>
            <a:r>
              <a:rPr lang="en-US" i="1"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model will be created to better understand the requirements and design to achieve these requirements.</a:t>
            </a:r>
            <a:endParaRPr lang="en-US" dirty="0">
              <a:latin typeface="Times New Roman" panose="02020603050405020304" pitchFamily="18" charset="0"/>
              <a:cs typeface="Times New Roman" panose="02020603050405020304" pitchFamily="18" charset="0"/>
            </a:endParaRPr>
          </a:p>
          <a:p>
            <a:r>
              <a:rPr lang="en-US" b="1" i="1" u="sng" dirty="0">
                <a:solidFill>
                  <a:srgbClr val="7030A0"/>
                </a:solidFill>
                <a:latin typeface="Times New Roman" panose="02020603050405020304" pitchFamily="18" charset="0"/>
                <a:cs typeface="Times New Roman" panose="02020603050405020304" pitchFamily="18" charset="0"/>
              </a:rPr>
              <a:t>Construction :</a:t>
            </a:r>
            <a:r>
              <a:rPr lang="en-US" i="1"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Here the code will be generated and tested.</a:t>
            </a:r>
            <a:endParaRPr lang="en-US" dirty="0">
              <a:latin typeface="Times New Roman" panose="02020603050405020304" pitchFamily="18" charset="0"/>
              <a:cs typeface="Times New Roman" panose="02020603050405020304" pitchFamily="18" charset="0"/>
            </a:endParaRPr>
          </a:p>
          <a:p>
            <a:r>
              <a:rPr lang="en-US" b="1" i="1" u="sng" dirty="0">
                <a:solidFill>
                  <a:srgbClr val="7030A0"/>
                </a:solidFill>
                <a:latin typeface="Times New Roman" panose="02020603050405020304" pitchFamily="18" charset="0"/>
                <a:cs typeface="Times New Roman" panose="02020603050405020304" pitchFamily="18" charset="0"/>
              </a:rPr>
              <a:t>Deployment :</a:t>
            </a:r>
            <a:r>
              <a:rPr lang="en-US" i="1" dirty="0">
                <a:solidFill>
                  <a:srgbClr val="7030A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Here, a complete or partially complete version of the software is represented to the customers to evaluate and they give feedbacks based on the evaluation.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99" y="2438400"/>
            <a:ext cx="2438401" cy="2209800"/>
          </a:xfrm>
        </p:spPr>
        <p:txBody>
          <a:bodyPr/>
          <a:lstStyle/>
          <a:p>
            <a:pPr algn="ctr"/>
            <a:r>
              <a:rPr lang="en-US" sz="3600" b="1" dirty="0">
                <a:solidFill>
                  <a:schemeClr val="tx1">
                    <a:lumMod val="85000"/>
                    <a:lumOff val="15000"/>
                  </a:schemeClr>
                </a:solidFill>
              </a:rPr>
              <a:t>A Generic </a:t>
            </a:r>
            <a:br>
              <a:rPr lang="en-US" sz="3600" b="1" dirty="0">
                <a:solidFill>
                  <a:schemeClr val="tx1">
                    <a:lumMod val="85000"/>
                    <a:lumOff val="15000"/>
                  </a:schemeClr>
                </a:solidFill>
              </a:rPr>
            </a:br>
            <a:r>
              <a:rPr lang="en-US" sz="3600" b="1" dirty="0">
                <a:solidFill>
                  <a:schemeClr val="tx1">
                    <a:lumMod val="85000"/>
                    <a:lumOff val="15000"/>
                  </a:schemeClr>
                </a:solidFill>
              </a:rPr>
              <a:t>Process Model</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381000"/>
            <a:ext cx="5943600" cy="624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590800"/>
            <a:ext cx="2057400" cy="1409699"/>
          </a:xfrm>
        </p:spPr>
        <p:txBody>
          <a:bodyPr/>
          <a:lstStyle/>
          <a:p>
            <a:pPr algn="ctr"/>
            <a:r>
              <a:rPr lang="en-US" sz="3600" b="1" dirty="0">
                <a:solidFill>
                  <a:srgbClr val="7030A0"/>
                </a:solidFill>
              </a:rPr>
              <a:t>Process Flow</a:t>
            </a:r>
            <a:endParaRPr lang="en-US" sz="3600" b="1" dirty="0">
              <a:solidFill>
                <a:srgbClr val="7030A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92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752601"/>
            <a:ext cx="632460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itle 1"/>
          <p:cNvSpPr txBox="1"/>
          <p:nvPr/>
        </p:nvSpPr>
        <p:spPr>
          <a:xfrm>
            <a:off x="2305050" y="258474"/>
            <a:ext cx="6362700" cy="1143000"/>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n-US" sz="3600" b="1" dirty="0">
                <a:solidFill>
                  <a:schemeClr val="tx1">
                    <a:lumMod val="85000"/>
                    <a:lumOff val="15000"/>
                  </a:schemeClr>
                </a:solidFill>
              </a:rPr>
              <a:t>Framework Activities</a:t>
            </a:r>
            <a:endParaRPr lang="en-US" sz="3600" b="1" dirty="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Process Flow </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0668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2802"/>
            <a:ext cx="6781800" cy="5260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itle 1"/>
          <p:cNvSpPr txBox="1"/>
          <p:nvPr/>
        </p:nvSpPr>
        <p:spPr>
          <a:xfrm>
            <a:off x="152400" y="2590800"/>
            <a:ext cx="2057400" cy="1409699"/>
          </a:xfrm>
          <a:prstGeom prst="rect">
            <a:avLst/>
          </a:prstGeom>
        </p:spPr>
        <p:txBody>
          <a:bodyPr vert="horz" lIns="91440" tIns="45720" rIns="91440" bIns="45720" rtlCol="0" anchor="ctr">
            <a:noAutofit/>
          </a:bodyPr>
          <a:lst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a:lstStyle>
          <a:p>
            <a:pPr algn="ctr"/>
            <a:r>
              <a:rPr lang="en-US" sz="3600" b="1" dirty="0">
                <a:solidFill>
                  <a:srgbClr val="7030A0"/>
                </a:solidFill>
              </a:rPr>
              <a:t>Process Flow</a:t>
            </a:r>
            <a:endParaRPr lang="en-US" sz="3600" b="1" dirty="0">
              <a:solidFill>
                <a:srgbClr val="7030A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Process Flow</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0668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4800600"/>
          </a:xfrm>
        </p:spPr>
        <p:txBody>
          <a:bodyPr>
            <a:noAutofit/>
          </a:bodyPr>
          <a:lstStyle/>
          <a:p>
            <a:pPr>
              <a:buFont typeface="Wingdings" panose="05000000000000000000" pitchFamily="2" charset="2"/>
              <a:buChar char="q"/>
            </a:pPr>
            <a:r>
              <a:rPr lang="en-US" dirty="0">
                <a:solidFill>
                  <a:srgbClr val="0070C0"/>
                </a:solidFill>
                <a:latin typeface="Palatino" charset="0"/>
                <a:ea typeface="MS PGothic" panose="020B0600070205080204" pitchFamily="34" charset="-128"/>
              </a:rPr>
              <a:t>Linear process </a:t>
            </a:r>
            <a:r>
              <a:rPr lang="en-US" dirty="0">
                <a:latin typeface="Palatino" charset="0"/>
                <a:ea typeface="MS PGothic" panose="020B0600070205080204" pitchFamily="34" charset="-128"/>
              </a:rPr>
              <a:t>flow executes each of the five activities in sequence. </a:t>
            </a:r>
            <a:endParaRPr lang="en-US" dirty="0">
              <a:latin typeface="Palatino" charset="0"/>
              <a:ea typeface="MS PGothic" panose="020B0600070205080204" pitchFamily="34" charset="-128"/>
            </a:endParaRPr>
          </a:p>
          <a:p>
            <a:pPr>
              <a:buFont typeface="Wingdings" panose="05000000000000000000" pitchFamily="2" charset="2"/>
              <a:buChar char="q"/>
            </a:pPr>
            <a:r>
              <a:rPr lang="en-US" dirty="0">
                <a:latin typeface="Palatino" charset="0"/>
                <a:ea typeface="MS PGothic" panose="020B0600070205080204" pitchFamily="34" charset="-128"/>
              </a:rPr>
              <a:t>An </a:t>
            </a:r>
            <a:r>
              <a:rPr lang="en-US" dirty="0">
                <a:solidFill>
                  <a:srgbClr val="0070C0"/>
                </a:solidFill>
                <a:latin typeface="Palatino" charset="0"/>
                <a:ea typeface="MS PGothic" panose="020B0600070205080204" pitchFamily="34" charset="-128"/>
              </a:rPr>
              <a:t>iterative process </a:t>
            </a:r>
            <a:r>
              <a:rPr lang="en-US" dirty="0">
                <a:latin typeface="Palatino" charset="0"/>
                <a:ea typeface="MS PGothic" panose="020B0600070205080204" pitchFamily="34" charset="-128"/>
              </a:rPr>
              <a:t>flow repeats one or more of the activities before proceeding to the next.</a:t>
            </a:r>
            <a:endParaRPr lang="en-US" dirty="0">
              <a:latin typeface="Palatino" charset="0"/>
              <a:ea typeface="MS PGothic" panose="020B0600070205080204" pitchFamily="34" charset="-128"/>
            </a:endParaRPr>
          </a:p>
          <a:p>
            <a:pPr>
              <a:buFont typeface="Wingdings" panose="05000000000000000000" pitchFamily="2" charset="2"/>
              <a:buChar char="q"/>
            </a:pPr>
            <a:r>
              <a:rPr lang="en-US" dirty="0">
                <a:latin typeface="Palatino" charset="0"/>
                <a:ea typeface="MS PGothic" panose="020B0600070205080204" pitchFamily="34" charset="-128"/>
              </a:rPr>
              <a:t>An </a:t>
            </a:r>
            <a:r>
              <a:rPr lang="en-US" dirty="0">
                <a:solidFill>
                  <a:srgbClr val="0070C0"/>
                </a:solidFill>
                <a:latin typeface="Palatino" charset="0"/>
                <a:ea typeface="MS PGothic" panose="020B0600070205080204" pitchFamily="34" charset="-128"/>
              </a:rPr>
              <a:t>evolutionary process </a:t>
            </a:r>
            <a:r>
              <a:rPr lang="en-US" dirty="0">
                <a:latin typeface="Palatino" charset="0"/>
                <a:ea typeface="MS PGothic" panose="020B0600070205080204" pitchFamily="34" charset="-128"/>
              </a:rPr>
              <a:t>flow executes the activities in a circular manner. Each circuit leads to a more complete version of the software. </a:t>
            </a:r>
            <a:endParaRPr lang="en-US" dirty="0">
              <a:latin typeface="Palatino" charset="0"/>
              <a:ea typeface="MS PGothic" panose="020B0600070205080204" pitchFamily="34" charset="-128"/>
            </a:endParaRPr>
          </a:p>
          <a:p>
            <a:pPr>
              <a:buFont typeface="Wingdings" panose="05000000000000000000" pitchFamily="2" charset="2"/>
              <a:buChar char="q"/>
            </a:pPr>
            <a:r>
              <a:rPr lang="en-US" dirty="0">
                <a:latin typeface="Palatino" charset="0"/>
                <a:ea typeface="MS PGothic" panose="020B0600070205080204" pitchFamily="34" charset="-128"/>
              </a:rPr>
              <a:t>A </a:t>
            </a:r>
            <a:r>
              <a:rPr lang="en-US" dirty="0">
                <a:solidFill>
                  <a:srgbClr val="0070C0"/>
                </a:solidFill>
                <a:latin typeface="Palatino" charset="0"/>
                <a:ea typeface="MS PGothic" panose="020B0600070205080204" pitchFamily="34" charset="-128"/>
              </a:rPr>
              <a:t>parallel process </a:t>
            </a:r>
            <a:r>
              <a:rPr lang="en-US" dirty="0">
                <a:latin typeface="Palatino" charset="0"/>
                <a:ea typeface="MS PGothic" panose="020B0600070205080204" pitchFamily="34" charset="-128"/>
              </a:rPr>
              <a:t>flow executes one or more activities in parallel with other activities ( modeling for one aspect of the software in parallel with construction of another aspect of the software. </a:t>
            </a:r>
            <a:endParaRPr lang="en-US" dirty="0">
              <a:latin typeface="Palatino" charset="0"/>
              <a:ea typeface="MS PGothic" panose="020B0600070205080204" pitchFamily="3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106074"/>
            <a:ext cx="7219950" cy="1143000"/>
          </a:xfrm>
        </p:spPr>
        <p:txBody>
          <a:bodyPr/>
          <a:lstStyle/>
          <a:p>
            <a:pPr algn="ctr"/>
            <a:r>
              <a:rPr lang="en-US" sz="3200" b="1" dirty="0">
                <a:ea typeface="MS PGothic" panose="020B0600070205080204" pitchFamily="34" charset="-128"/>
              </a:rPr>
              <a:t>Identifying a Task Set </a:t>
            </a:r>
            <a:br>
              <a:rPr lang="en-US" sz="3200" b="1" dirty="0">
                <a:ea typeface="MS PGothic" panose="020B0600070205080204" pitchFamily="34" charset="-128"/>
              </a:rPr>
            </a:br>
            <a:r>
              <a:rPr lang="en-US" sz="3200" b="1" dirty="0">
                <a:ea typeface="MS PGothic" panose="020B0600070205080204" pitchFamily="34" charset="-128"/>
              </a:rPr>
              <a:t>for Small Project</a:t>
            </a:r>
            <a:endParaRPr lang="en-US" sz="32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1541746" y="1206417"/>
            <a:ext cx="6727257" cy="8021"/>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25780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For example, a small software project requested by one person with simple requirements, the communication activity might encompass little more than a phone all with the stakeholder. Therefore, the only necessary action is phone conversation, the work tasks of this action are:</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628650" indent="-514350" algn="just">
              <a:buFont typeface="+mj-lt"/>
              <a:buAutoNum type="arabicPeriod"/>
            </a:pPr>
            <a:r>
              <a:rPr lang="en-US" sz="2800" b="1" i="1" dirty="0">
                <a:latin typeface="Times New Roman" panose="02020603050405020304" pitchFamily="18" charset="0"/>
                <a:cs typeface="Times New Roman" panose="02020603050405020304" pitchFamily="18" charset="0"/>
              </a:rPr>
              <a:t>Make contact with stakeholder via telephone.</a:t>
            </a:r>
            <a:endParaRPr lang="en-US" sz="2800"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r>
              <a:rPr lang="en-US" sz="2800" b="1" i="1" dirty="0">
                <a:latin typeface="Times New Roman" panose="02020603050405020304" pitchFamily="18" charset="0"/>
                <a:cs typeface="Times New Roman" panose="02020603050405020304" pitchFamily="18" charset="0"/>
              </a:rPr>
              <a:t>Discuss requirements and take notes.</a:t>
            </a:r>
            <a:endParaRPr lang="en-US" sz="2800"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r>
              <a:rPr lang="en-US" sz="2800" b="1" i="1" dirty="0">
                <a:latin typeface="Times New Roman" panose="02020603050405020304" pitchFamily="18" charset="0"/>
                <a:cs typeface="Times New Roman" panose="02020603050405020304" pitchFamily="18" charset="0"/>
              </a:rPr>
              <a:t>Organize notes into a brief written statement of requirements.</a:t>
            </a:r>
            <a:endParaRPr lang="en-US" sz="2800" b="1" i="1" dirty="0">
              <a:latin typeface="Times New Roman" panose="02020603050405020304" pitchFamily="18" charset="0"/>
              <a:cs typeface="Times New Roman" panose="02020603050405020304" pitchFamily="18" charset="0"/>
            </a:endParaRPr>
          </a:p>
          <a:p>
            <a:pPr marL="628650" indent="-514350" algn="just">
              <a:buFont typeface="+mj-lt"/>
              <a:buAutoNum type="arabicPeriod"/>
            </a:pPr>
            <a:r>
              <a:rPr lang="en-US" sz="2800" b="1" i="1" dirty="0">
                <a:latin typeface="Times New Roman" panose="02020603050405020304" pitchFamily="18" charset="0"/>
                <a:cs typeface="Times New Roman" panose="02020603050405020304" pitchFamily="18" charset="0"/>
              </a:rPr>
              <a:t>E-mail to stakeholder for review and approval.</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Example of a Task Set for </a:t>
            </a:r>
            <a:br>
              <a:rPr lang="en-US" sz="3600" b="1" dirty="0">
                <a:ea typeface="MS PGothic" panose="020B0600070205080204" pitchFamily="34" charset="-128"/>
              </a:rPr>
            </a:br>
            <a:r>
              <a:rPr lang="en-US" sz="3600" b="1" dirty="0">
                <a:ea typeface="MS PGothic" panose="020B0600070205080204" pitchFamily="34" charset="-128"/>
              </a:rPr>
              <a:t>Mid Level </a:t>
            </a:r>
            <a:r>
              <a:rPr lang="en-US" sz="3600" b="1" dirty="0">
                <a:ea typeface="MS PGothic" panose="020B0600070205080204" pitchFamily="34" charset="-128"/>
              </a:rPr>
              <a:t>Project</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257800"/>
          </a:xfrm>
        </p:spPr>
        <p:txBody>
          <a:bodyPr>
            <a:noAutofit/>
          </a:bodyPr>
          <a:lstStyle/>
          <a:p>
            <a:pPr algn="just">
              <a:buFont typeface="Wingdings" panose="05000000000000000000" pitchFamily="2" charset="2"/>
              <a:buChar char="q"/>
            </a:pPr>
            <a:r>
              <a:rPr lang="en-US" sz="2800" dirty="0">
                <a:latin typeface="Times New Roman" panose="02020603050405020304" pitchFamily="18" charset="0"/>
                <a:ea typeface="MS PGothic" panose="020B0600070205080204" pitchFamily="34" charset="-128"/>
                <a:cs typeface="Times New Roman" panose="02020603050405020304" pitchFamily="18" charset="0"/>
              </a:rPr>
              <a:t>The task sets for Requirements gathering action for a </a:t>
            </a:r>
            <a:r>
              <a:rPr lang="en-US" sz="2800" b="1" dirty="0">
                <a:latin typeface="Times New Roman" panose="02020603050405020304" pitchFamily="18" charset="0"/>
                <a:ea typeface="MS PGothic" panose="020B0600070205080204" pitchFamily="34" charset="-128"/>
                <a:cs typeface="Times New Roman" panose="02020603050405020304" pitchFamily="18" charset="0"/>
              </a:rPr>
              <a:t>simple</a:t>
            </a:r>
            <a:r>
              <a:rPr lang="en-US" sz="2800" dirty="0">
                <a:latin typeface="Times New Roman" panose="02020603050405020304" pitchFamily="18" charset="0"/>
                <a:ea typeface="MS PGothic" panose="020B0600070205080204" pitchFamily="34" charset="-128"/>
                <a:cs typeface="Times New Roman" panose="02020603050405020304" pitchFamily="18" charset="0"/>
              </a:rPr>
              <a:t> project may include:</a:t>
            </a:r>
            <a:endParaRPr lang="en-US" sz="2800"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Make a list of stakeholders for the project.</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Invite all stakeholders to an informal meeting.</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Ask each stakeholder to make a list of features and functions required.</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Discuss requirements and build a final list.</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Prioritize requirements.</a:t>
            </a:r>
            <a:endParaRPr lang="en-US" sz="28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lgn="just">
              <a:buFont typeface="Impact" panose="020B0806030902050204" pitchFamily="34" charset="0"/>
              <a:buAutoNum type="arabicPeriod"/>
            </a:pPr>
            <a:r>
              <a:rPr lang="en-US" sz="2800" b="1" i="1" dirty="0">
                <a:latin typeface="Times New Roman" panose="02020603050405020304" pitchFamily="18" charset="0"/>
                <a:ea typeface="MS PGothic" panose="020B0600070205080204" pitchFamily="34" charset="-128"/>
                <a:cs typeface="Times New Roman" panose="02020603050405020304" pitchFamily="18" charset="0"/>
              </a:rPr>
              <a:t>Note areas of uncertainty</a:t>
            </a:r>
            <a:r>
              <a:rPr lang="en-US" sz="2800" dirty="0">
                <a:latin typeface="Times New Roman" panose="02020603050405020304" pitchFamily="18" charset="0"/>
                <a:ea typeface="MS PGothic" panose="020B0600070205080204" pitchFamily="34" charset="-128"/>
                <a:cs typeface="Times New Roman" panose="02020603050405020304" pitchFamily="18" charset="0"/>
              </a:rPr>
              <a:t>. </a:t>
            </a:r>
            <a:endParaRPr lang="en-US" sz="28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Example of a Task Set for </a:t>
            </a:r>
            <a:br>
              <a:rPr lang="en-US" sz="3600" b="1" dirty="0">
                <a:ea typeface="MS PGothic" panose="020B0600070205080204" pitchFamily="34" charset="-128"/>
              </a:rPr>
            </a:br>
            <a:r>
              <a:rPr lang="en-US" sz="3600" b="1" dirty="0">
                <a:ea typeface="MS PGothic" panose="020B0600070205080204" pitchFamily="34" charset="-128"/>
              </a:rPr>
              <a:t>a Big Project</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95400"/>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486400"/>
          </a:xfrm>
        </p:spPr>
        <p:txBody>
          <a:bodyPr>
            <a:noAutofit/>
          </a:bodyPr>
          <a:lstStyle/>
          <a:p>
            <a:pPr>
              <a:buFont typeface="Wingdings" panose="05000000000000000000" pitchFamily="2" charset="2"/>
              <a:buChar char="n"/>
            </a:pPr>
            <a:r>
              <a:rPr lang="en-US" sz="2000" b="1" dirty="0">
                <a:latin typeface="Times New Roman" panose="02020603050405020304" pitchFamily="18" charset="0"/>
                <a:ea typeface="MS PGothic" panose="020B0600070205080204" pitchFamily="34" charset="-128"/>
                <a:cs typeface="Times New Roman" panose="02020603050405020304" pitchFamily="18" charset="0"/>
              </a:rPr>
              <a:t>The task sets for Requirements gathering action for a big project may include: </a:t>
            </a:r>
            <a:endParaRPr lang="en-US" sz="2000" b="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mj-lt"/>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Make a list of stakeholders for the project.</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Interview each stakeholders separately to determine overall wants and needs. </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Build a preliminary list of functions and features based on stakeholder input.</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Schedule a series of facilitated application specification meetings.</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Conduct meetings.</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Produce informal user scenarios as part of each meeting. </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Refine user scenarios based on stakeholder feedback.</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Build a revised list of stakeholder requirements.</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Use quality function deployment techniques to prioritize requirements.</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Package requirements so that they can be delivered incrementally.</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Note constraints and restrictions that will be placed on the system.</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a:p>
            <a:pPr marL="777875" lvl="1" indent="-457200">
              <a:buFont typeface="Impact" panose="020B0806030902050204" pitchFamily="34" charset="0"/>
              <a:buAutoNum type="arabicPeriod"/>
            </a:pPr>
            <a:r>
              <a:rPr lang="en-US" sz="1900" b="1" i="1" dirty="0">
                <a:latin typeface="Times New Roman" panose="02020603050405020304" pitchFamily="18" charset="0"/>
                <a:ea typeface="MS PGothic" panose="020B0600070205080204" pitchFamily="34" charset="-128"/>
                <a:cs typeface="Times New Roman" panose="02020603050405020304" pitchFamily="18" charset="0"/>
              </a:rPr>
              <a:t>Discuss methods for validating the system. </a:t>
            </a:r>
            <a:endParaRPr lang="en-US" sz="1900" b="1" i="1"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Process Patterns</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4114800"/>
          </a:xfrm>
        </p:spPr>
        <p:txBody>
          <a:bodyPr>
            <a:noAutofit/>
          </a:bodyPr>
          <a:lstStyle/>
          <a:p>
            <a:pPr>
              <a:lnSpc>
                <a:spcPct val="90000"/>
              </a:lnSpc>
              <a:buFont typeface="Wingdings" panose="05000000000000000000" pitchFamily="2" charset="2"/>
              <a:buChar char="q"/>
            </a:pPr>
            <a:r>
              <a:rPr lang="en-US" sz="2800" dirty="0">
                <a:latin typeface="Times New Roman" panose="02020603050405020304" pitchFamily="18" charset="0"/>
                <a:ea typeface="MS PGothic" panose="020B0600070205080204" pitchFamily="34" charset="-128"/>
                <a:cs typeface="Times New Roman" panose="02020603050405020304" pitchFamily="18" charset="0"/>
              </a:rPr>
              <a:t>A </a:t>
            </a:r>
            <a:r>
              <a:rPr lang="en-US" sz="2800" i="1" dirty="0">
                <a:solidFill>
                  <a:schemeClr val="folHlink"/>
                </a:solidFill>
                <a:latin typeface="Times New Roman" panose="02020603050405020304" pitchFamily="18" charset="0"/>
                <a:ea typeface="MS PGothic" panose="020B0600070205080204" pitchFamily="34" charset="-128"/>
                <a:cs typeface="Times New Roman" panose="02020603050405020304" pitchFamily="18" charset="0"/>
              </a:rPr>
              <a:t>process pattern</a:t>
            </a:r>
            <a:r>
              <a:rPr lang="en-US" sz="2800" dirty="0">
                <a:solidFill>
                  <a:schemeClr val="folHlink"/>
                </a:solidFill>
                <a:latin typeface="Times New Roman" panose="02020603050405020304" pitchFamily="18" charset="0"/>
                <a:ea typeface="MS PGothic" panose="020B0600070205080204" pitchFamily="34" charset="-128"/>
                <a:cs typeface="Times New Roman" panose="02020603050405020304" pitchFamily="18" charset="0"/>
              </a:rPr>
              <a:t>: </a:t>
            </a:r>
            <a:endParaRPr lang="en-US" sz="2800" dirty="0">
              <a:solidFill>
                <a:schemeClr val="folHlink"/>
              </a:solidFill>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pattern</a:t>
            </a:r>
            <a:r>
              <a:rPr lang="en-US" sz="2200" dirty="0">
                <a:latin typeface="Times New Roman" panose="02020603050405020304" pitchFamily="18" charset="0"/>
                <a:cs typeface="Times New Roman" panose="02020603050405020304" pitchFamily="18" charset="0"/>
              </a:rPr>
              <a:t> is a generalized set of predefined steps, that solve a specific problem or achieve a goal, in an organized fashion. </a:t>
            </a:r>
            <a:endParaRPr lang="en-US" sz="22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You can think of patterns like cake recipes. If you follow them to the letter, you will get the exact same result you expect, a mouth-watering cake. </a:t>
            </a:r>
            <a:endParaRPr lang="en-US" sz="22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Process patterns are similar, but they deal with a more specific topic.</a:t>
            </a:r>
            <a:endParaRPr lang="en-US" sz="22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A </a:t>
            </a:r>
            <a:r>
              <a:rPr lang="en-US" sz="2200" b="1" dirty="0">
                <a:latin typeface="Times New Roman" panose="02020603050405020304" pitchFamily="18" charset="0"/>
                <a:cs typeface="Times New Roman" panose="02020603050405020304" pitchFamily="18" charset="0"/>
              </a:rPr>
              <a:t>process pattern</a:t>
            </a:r>
            <a:r>
              <a:rPr lang="en-US" sz="2200" dirty="0">
                <a:latin typeface="Times New Roman" panose="02020603050405020304" pitchFamily="18" charset="0"/>
                <a:cs typeface="Times New Roman" panose="02020603050405020304" pitchFamily="18" charset="0"/>
              </a:rPr>
              <a:t> is a group of proven steps, that complete a specific task or tasks, and provide a consistently favorable result for a common problem. </a:t>
            </a:r>
            <a:endParaRPr lang="en-US" sz="22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q"/>
            </a:pPr>
            <a:r>
              <a:rPr lang="en-US" sz="2200" dirty="0">
                <a:latin typeface="Times New Roman" panose="02020603050405020304" pitchFamily="18" charset="0"/>
                <a:cs typeface="Times New Roman" panose="02020603050405020304" pitchFamily="18" charset="0"/>
              </a:rPr>
              <a:t>In other words, they are a template for achieving your specific goal consistently</a:t>
            </a:r>
            <a:r>
              <a:rPr lang="en-US" sz="2200" dirty="0"/>
              <a:t>.</a:t>
            </a:r>
            <a:endParaRPr lang="en-US" sz="2200" dirty="0">
              <a:solidFill>
                <a:schemeClr val="folHlink"/>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Process Patterns</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410200"/>
          </a:xfrm>
        </p:spPr>
        <p:txBody>
          <a:bodyPr>
            <a:noAutofit/>
          </a:bodyPr>
          <a:lstStyle/>
          <a:p>
            <a:pPr>
              <a:lnSpc>
                <a:spcPct val="90000"/>
              </a:lnSpc>
              <a:buFont typeface="Wingdings" panose="05000000000000000000" pitchFamily="2" charset="2"/>
              <a:buChar char="q"/>
            </a:pPr>
            <a:r>
              <a:rPr lang="en-US" sz="2000" dirty="0">
                <a:latin typeface="Times New Roman" panose="02020603050405020304" pitchFamily="18" charset="0"/>
                <a:ea typeface="MS PGothic" panose="020B0600070205080204" pitchFamily="34" charset="-128"/>
                <a:cs typeface="Times New Roman" panose="02020603050405020304" pitchFamily="18" charset="0"/>
              </a:rPr>
              <a:t> </a:t>
            </a:r>
            <a:r>
              <a:rPr lang="en-US" sz="2400" dirty="0">
                <a:latin typeface="Times New Roman" panose="02020603050405020304" pitchFamily="18" charset="0"/>
                <a:ea typeface="MS PGothic" panose="020B0600070205080204" pitchFamily="34" charset="-128"/>
                <a:cs typeface="Times New Roman" panose="02020603050405020304" pitchFamily="18" charset="0"/>
              </a:rPr>
              <a:t>Template for describing a process pattern: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Pattern Name: </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The pattern name is given a meaningful name that describe its function within software process.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Example: Customer-Communication</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Intent: </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The objective of this pattern is describe briefly.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Example: Intent of the communication customer to connection establish with customer.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Type:</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The pattern type is specified.</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Three types:</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3">
              <a:lnSpc>
                <a:spcPct val="90000"/>
              </a:lnSpc>
              <a:buFont typeface="Wingdings" panose="05000000000000000000" pitchFamily="2" charset="2"/>
              <a:buChar char="§"/>
            </a:pPr>
            <a:r>
              <a:rPr lang="en-US" sz="2000" b="1" dirty="0">
                <a:latin typeface="Times New Roman" panose="02020603050405020304" pitchFamily="18" charset="0"/>
                <a:ea typeface="MS PGothic" panose="020B0600070205080204" pitchFamily="34" charset="-128"/>
                <a:cs typeface="Times New Roman" panose="02020603050405020304" pitchFamily="18" charset="0"/>
              </a:rPr>
              <a:t>Task Pattern </a:t>
            </a:r>
            <a:r>
              <a:rPr lang="en-US" sz="2000" dirty="0">
                <a:latin typeface="Times New Roman" panose="02020603050405020304" pitchFamily="18" charset="0"/>
                <a:ea typeface="MS PGothic" panose="020B0600070205080204" pitchFamily="34" charset="-128"/>
                <a:cs typeface="Times New Roman" panose="02020603050405020304" pitchFamily="18" charset="0"/>
              </a:rPr>
              <a:t>- action or work task</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3">
              <a:lnSpc>
                <a:spcPct val="90000"/>
              </a:lnSpc>
              <a:buFont typeface="Wingdings" panose="05000000000000000000" pitchFamily="2" charset="2"/>
              <a:buChar char="§"/>
            </a:pPr>
            <a:r>
              <a:rPr lang="en-US" sz="2000" b="1" dirty="0">
                <a:latin typeface="Times New Roman" panose="02020603050405020304" pitchFamily="18" charset="0"/>
                <a:ea typeface="MS PGothic" panose="020B0600070205080204" pitchFamily="34" charset="-128"/>
                <a:cs typeface="Times New Roman" panose="02020603050405020304" pitchFamily="18" charset="0"/>
              </a:rPr>
              <a:t>Stage Pattern </a:t>
            </a:r>
            <a:r>
              <a:rPr lang="en-US" sz="2000" dirty="0">
                <a:latin typeface="Times New Roman" panose="02020603050405020304" pitchFamily="18" charset="0"/>
                <a:ea typeface="MS PGothic" panose="020B0600070205080204" pitchFamily="34" charset="-128"/>
                <a:cs typeface="Times New Roman" panose="02020603050405020304" pitchFamily="18" charset="0"/>
              </a:rPr>
              <a:t>– frame activity.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3">
              <a:lnSpc>
                <a:spcPct val="90000"/>
              </a:lnSpc>
              <a:buFont typeface="Wingdings" panose="05000000000000000000" pitchFamily="2" charset="2"/>
              <a:buChar char="§"/>
            </a:pPr>
            <a:r>
              <a:rPr lang="en-US" sz="2000" b="1" dirty="0">
                <a:latin typeface="Times New Roman" panose="02020603050405020304" pitchFamily="18" charset="0"/>
                <a:ea typeface="MS PGothic" panose="020B0600070205080204" pitchFamily="34" charset="-128"/>
                <a:cs typeface="Times New Roman" panose="02020603050405020304" pitchFamily="18" charset="0"/>
              </a:rPr>
              <a:t>Phase Pattern </a:t>
            </a:r>
            <a:r>
              <a:rPr lang="en-US" sz="2000" dirty="0">
                <a:latin typeface="Times New Roman" panose="02020603050405020304" pitchFamily="18" charset="0"/>
                <a:ea typeface="MS PGothic" panose="020B0600070205080204" pitchFamily="34" charset="-128"/>
                <a:cs typeface="Times New Roman" panose="02020603050405020304" pitchFamily="18" charset="0"/>
              </a:rPr>
              <a:t>– sequence of frame.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endParaRPr lang="en-US" sz="28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Process Patterns (Cont…)</a:t>
            </a:r>
            <a:endParaRPr lang="en-US" sz="3600" b="1" dirty="0">
              <a:solidFill>
                <a:srgbClr val="00206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828800"/>
            <a:ext cx="8229600" cy="4343400"/>
          </a:xfrm>
        </p:spPr>
        <p:txBody>
          <a:bodyPr>
            <a:noAutofit/>
          </a:bodyPr>
          <a:lstStyle/>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Initial Context: </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Describe which pattern are applies</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Prior to the initialization of the pattern.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Resulting Context: </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The condition that will result once the pattern has been successfully implementers are describe.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r>
              <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rPr>
              <a:t>Related Pattern:</a:t>
            </a:r>
            <a:endParaRPr lang="en-US" sz="2400" b="1" i="1" dirty="0">
              <a:solidFill>
                <a:srgbClr val="92D050"/>
              </a:solidFill>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A list of process pattern that are directly related to this one are provided as a hierarchy on in some other diagrammatic form.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endParaRPr lang="en-US" sz="28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2359710"/>
            <a:ext cx="6096000" cy="1218174"/>
          </a:xfrm>
        </p:spPr>
        <p:txBody>
          <a:bodyPr/>
          <a:lstStyle/>
          <a:p>
            <a:pPr algn="ctr"/>
            <a:r>
              <a:rPr lang="en-US" sz="4400" b="1" dirty="0">
                <a:solidFill>
                  <a:srgbClr val="002060"/>
                </a:solidFill>
                <a:latin typeface="Times New Roman" panose="02020603050405020304" pitchFamily="18" charset="0"/>
                <a:cs typeface="Times New Roman" panose="02020603050405020304" pitchFamily="18" charset="0"/>
              </a:rPr>
              <a:t>Week-2: Lesson-2</a:t>
            </a:r>
            <a:br>
              <a:rPr lang="en-US" sz="4400" b="1" dirty="0">
                <a:solidFill>
                  <a:srgbClr val="002060"/>
                </a:solidFill>
                <a:latin typeface="Times New Roman" panose="02020603050405020304" pitchFamily="18" charset="0"/>
                <a:cs typeface="Times New Roman" panose="02020603050405020304" pitchFamily="18" charset="0"/>
              </a:rPr>
            </a:br>
            <a:r>
              <a:rPr lang="en-US" sz="4400" b="1" dirty="0">
                <a:solidFill>
                  <a:srgbClr val="002060"/>
                </a:solidFill>
                <a:latin typeface="Times New Roman" panose="02020603050405020304" pitchFamily="18" charset="0"/>
                <a:cs typeface="Times New Roman" panose="02020603050405020304" pitchFamily="18" charset="0"/>
              </a:rPr>
              <a:t>Process Models </a:t>
            </a:r>
            <a:endParaRPr lang="en-US" sz="4400" b="1" dirty="0">
              <a:solidFill>
                <a:srgbClr val="002060"/>
              </a:solidFill>
              <a:latin typeface="Times New Roman" panose="02020603050405020304" pitchFamily="18" charset="0"/>
              <a:cs typeface="Times New Roman" panose="02020603050405020304" pitchFamily="18" charset="0"/>
            </a:endParaRPr>
          </a:p>
        </p:txBody>
      </p:sp>
      <p:sp>
        <p:nvSpPr>
          <p:cNvPr id="4" name="Title 1"/>
          <p:cNvSpPr txBox="1"/>
          <p:nvPr/>
        </p:nvSpPr>
        <p:spPr>
          <a:xfrm>
            <a:off x="609600" y="3886200"/>
            <a:ext cx="7162800" cy="1974166"/>
          </a:xfrm>
          <a:prstGeom prst="rect">
            <a:avLst/>
          </a:prstGeom>
        </p:spPr>
        <p:txBody>
          <a:bodyPr vert="horz" lIns="91440" tIns="45720" rIns="91440" bIns="45720" rtlCol="0" anchor="b">
            <a:noAutofit/>
          </a:bodyPr>
          <a:lstStyle>
            <a:lvl1pPr algn="l" defTabSz="914400" rtl="0" eaLnBrk="1" latinLnBrk="0" hangingPunct="1">
              <a:spcBef>
                <a:spcPct val="0"/>
              </a:spcBef>
              <a:buNone/>
              <a:defRPr sz="6600" kern="1200" cap="none" spc="-100" baseline="0">
                <a:ln>
                  <a:noFill/>
                </a:ln>
                <a:solidFill>
                  <a:schemeClr val="tx2"/>
                </a:solidFill>
                <a:effectLst/>
                <a:latin typeface="+mj-lt"/>
                <a:ea typeface="+mj-ea"/>
                <a:cs typeface="+mj-cs"/>
              </a:defRPr>
            </a:lvl1pPr>
          </a:lstStyle>
          <a:p>
            <a:pPr algn="ctr"/>
            <a:r>
              <a:rPr lang="en-US" sz="3200" b="1" dirty="0" err="1">
                <a:solidFill>
                  <a:srgbClr val="002060"/>
                </a:solidFill>
                <a:latin typeface="Times New Roman" panose="02020603050405020304" pitchFamily="18" charset="0"/>
                <a:cs typeface="Times New Roman" panose="02020603050405020304" pitchFamily="18" charset="0"/>
              </a:rPr>
              <a:t>Abdus</a:t>
            </a:r>
            <a:r>
              <a:rPr lang="en-US" sz="3200" b="1" dirty="0">
                <a:solidFill>
                  <a:srgbClr val="002060"/>
                </a:solidFill>
                <a:latin typeface="Times New Roman" panose="02020603050405020304" pitchFamily="18" charset="0"/>
                <a:cs typeface="Times New Roman" panose="02020603050405020304" pitchFamily="18" charset="0"/>
              </a:rPr>
              <a:t> </a:t>
            </a:r>
            <a:r>
              <a:rPr lang="en-US" sz="3200" b="1" dirty="0" err="1">
                <a:solidFill>
                  <a:srgbClr val="002060"/>
                </a:solidFill>
                <a:latin typeface="Times New Roman" panose="02020603050405020304" pitchFamily="18" charset="0"/>
                <a:cs typeface="Times New Roman" panose="02020603050405020304" pitchFamily="18" charset="0"/>
              </a:rPr>
              <a:t>Sattar</a:t>
            </a:r>
            <a:endParaRPr lang="en-US" sz="3200" b="1" dirty="0">
              <a:solidFill>
                <a:srgbClr val="002060"/>
              </a:solidFill>
              <a:latin typeface="Times New Roman" panose="02020603050405020304" pitchFamily="18" charset="0"/>
              <a:cs typeface="Times New Roman" panose="02020603050405020304" pitchFamily="18" charset="0"/>
            </a:endParaRPr>
          </a:p>
          <a:p>
            <a:pPr algn="ctr"/>
            <a:r>
              <a:rPr lang="en-US" sz="2400" dirty="0">
                <a:solidFill>
                  <a:srgbClr val="002060"/>
                </a:solidFill>
                <a:latin typeface="Times New Roman" panose="02020603050405020304" pitchFamily="18" charset="0"/>
                <a:cs typeface="Times New Roman" panose="02020603050405020304" pitchFamily="18" charset="0"/>
              </a:rPr>
              <a:t>Assistant Professor</a:t>
            </a:r>
            <a:endParaRPr lang="en-US" sz="2400" dirty="0">
              <a:solidFill>
                <a:srgbClr val="002060"/>
              </a:solidFill>
              <a:latin typeface="Times New Roman" panose="02020603050405020304" pitchFamily="18" charset="0"/>
              <a:cs typeface="Times New Roman" panose="02020603050405020304" pitchFamily="18" charset="0"/>
            </a:endParaRPr>
          </a:p>
          <a:p>
            <a:pPr algn="ctr"/>
            <a:r>
              <a:rPr lang="en-US" sz="2400" dirty="0">
                <a:solidFill>
                  <a:srgbClr val="002060"/>
                </a:solidFill>
                <a:latin typeface="Times New Roman" panose="02020603050405020304" pitchFamily="18" charset="0"/>
                <a:cs typeface="Times New Roman" panose="02020603050405020304" pitchFamily="18" charset="0"/>
              </a:rPr>
              <a:t>Department of Computer Science and Engineering</a:t>
            </a:r>
            <a:endParaRPr lang="en-US" sz="2400" dirty="0">
              <a:solidFill>
                <a:srgbClr val="002060"/>
              </a:solidFill>
              <a:latin typeface="Times New Roman" panose="02020603050405020304" pitchFamily="18" charset="0"/>
              <a:cs typeface="Times New Roman" panose="02020603050405020304" pitchFamily="18" charset="0"/>
            </a:endParaRPr>
          </a:p>
          <a:p>
            <a:pPr algn="ctr"/>
            <a:r>
              <a:rPr lang="en-US" sz="2400" dirty="0">
                <a:solidFill>
                  <a:srgbClr val="002060"/>
                </a:solidFill>
                <a:latin typeface="Times New Roman" panose="02020603050405020304" pitchFamily="18" charset="0"/>
                <a:cs typeface="Times New Roman" panose="02020603050405020304" pitchFamily="18" charset="0"/>
              </a:rPr>
              <a:t>Daffodil International University </a:t>
            </a:r>
            <a:endParaRPr lang="en-US" sz="2400" dirty="0">
              <a:solidFill>
                <a:srgbClr val="002060"/>
              </a:solidFill>
              <a:latin typeface="Times New Roman" panose="02020603050405020304" pitchFamily="18" charset="0"/>
              <a:cs typeface="Times New Roman" panose="02020603050405020304" pitchFamily="18" charset="0"/>
            </a:endParaRPr>
          </a:p>
          <a:p>
            <a:pPr algn="ctr"/>
            <a:r>
              <a:rPr lang="en-US" sz="2400" dirty="0">
                <a:solidFill>
                  <a:srgbClr val="002060"/>
                </a:solidFill>
                <a:latin typeface="Times New Roman" panose="02020603050405020304" pitchFamily="18" charset="0"/>
                <a:cs typeface="Times New Roman" panose="02020603050405020304" pitchFamily="18" charset="0"/>
              </a:rPr>
              <a:t>Email: </a:t>
            </a:r>
            <a:r>
              <a:rPr lang="en-US" sz="2400" dirty="0">
                <a:solidFill>
                  <a:srgbClr val="002060"/>
                </a:solidFill>
                <a:latin typeface="Times New Roman" panose="02020603050405020304" pitchFamily="18" charset="0"/>
                <a:cs typeface="Times New Roman" panose="02020603050405020304" pitchFamily="18" charset="0"/>
                <a:hlinkClick r:id="rId1"/>
              </a:rPr>
              <a:t>abdus.cse@diu.edu.bd</a:t>
            </a:r>
            <a:r>
              <a:rPr lang="en-US" sz="2400" dirty="0">
                <a:solidFill>
                  <a:srgbClr val="002060"/>
                </a:solidFill>
                <a:latin typeface="Times New Roman" panose="02020603050405020304" pitchFamily="18" charset="0"/>
                <a:cs typeface="Times New Roman" panose="02020603050405020304" pitchFamily="18" charset="0"/>
              </a:rPr>
              <a:t> </a:t>
            </a:r>
            <a:endParaRPr lang="en-US" sz="2400" u="sng" dirty="0">
              <a:solidFill>
                <a:srgbClr val="002060"/>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a:off x="1524000" y="3657600"/>
            <a:ext cx="57912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7050" y="213026"/>
            <a:ext cx="2400300" cy="19116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result for daffodil international universit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6019800"/>
            <a:ext cx="3276600" cy="8187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Software Process Model</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5257800"/>
          </a:xfrm>
        </p:spPr>
        <p:txBody>
          <a:bodyPr>
            <a:noAutofit/>
          </a:bodyPr>
          <a:lstStyle/>
          <a:p>
            <a:pPr lvl="1" algn="just">
              <a:lnSpc>
                <a:spcPct val="9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A Process Model describes the </a:t>
            </a:r>
            <a:r>
              <a:rPr lang="en-US" sz="3200" dirty="0">
                <a:solidFill>
                  <a:srgbClr val="0070C0"/>
                </a:solidFill>
                <a:latin typeface="Times New Roman" panose="02020603050405020304" pitchFamily="18" charset="0"/>
                <a:cs typeface="Times New Roman" panose="02020603050405020304" pitchFamily="18" charset="0"/>
              </a:rPr>
              <a:t>sequence of phases</a:t>
            </a:r>
            <a:r>
              <a:rPr lang="en-US" sz="3200" dirty="0">
                <a:latin typeface="Times New Roman" panose="02020603050405020304" pitchFamily="18" charset="0"/>
                <a:cs typeface="Times New Roman" panose="02020603050405020304" pitchFamily="18" charset="0"/>
              </a:rPr>
              <a:t> for the entire lifetime of a product. </a:t>
            </a:r>
            <a:endParaRPr lang="en-US" sz="3200" dirty="0">
              <a:latin typeface="Times New Roman" panose="02020603050405020304" pitchFamily="18" charset="0"/>
              <a:cs typeface="Times New Roman" panose="02020603050405020304" pitchFamily="18" charset="0"/>
            </a:endParaRPr>
          </a:p>
          <a:p>
            <a:pPr lvl="1" algn="just">
              <a:lnSpc>
                <a:spcPct val="9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It is sometimes also called Product Life Cycle. </a:t>
            </a:r>
            <a:endParaRPr lang="en-US" sz="3200" dirty="0">
              <a:latin typeface="Times New Roman" panose="02020603050405020304" pitchFamily="18" charset="0"/>
              <a:cs typeface="Times New Roman" panose="02020603050405020304" pitchFamily="18" charset="0"/>
            </a:endParaRPr>
          </a:p>
          <a:p>
            <a:pPr lvl="1" algn="just">
              <a:lnSpc>
                <a:spcPct val="9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This covers everything from the initial commercial idea until the final de-installation or disassembling of the product after its use </a:t>
            </a:r>
            <a:endParaRPr lang="en-US" sz="3200" dirty="0">
              <a:latin typeface="Times New Roman" panose="02020603050405020304" pitchFamily="18" charset="0"/>
              <a:cs typeface="Times New Roman" panose="02020603050405020304" pitchFamily="18" charset="0"/>
            </a:endParaRPr>
          </a:p>
          <a:p>
            <a:pPr lvl="1" algn="just">
              <a:lnSpc>
                <a:spcPct val="90000"/>
              </a:lnSpc>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All software process models can accommodate the generic framework activities. </a:t>
            </a:r>
            <a:endParaRPr lang="en-US" sz="3200" dirty="0">
              <a:latin typeface="Times New Roman" panose="02020603050405020304" pitchFamily="18" charset="0"/>
              <a:ea typeface="MS PGothic" panose="020B0600070205080204" pitchFamily="34" charset="-128"/>
              <a:cs typeface="Times New Roman" panose="02020603050405020304" pitchFamily="18" charset="0"/>
            </a:endParaRPr>
          </a:p>
          <a:p>
            <a:pPr lvl="1">
              <a:lnSpc>
                <a:spcPct val="90000"/>
              </a:lnSpc>
              <a:buFont typeface="Wingdings" panose="05000000000000000000" pitchFamily="2" charset="2"/>
              <a:buChar char="§"/>
            </a:pPr>
            <a:endParaRPr lang="en-US" sz="2800" dirty="0">
              <a:latin typeface="Times New Roman" panose="02020603050405020304" pitchFamily="18" charset="0"/>
              <a:ea typeface="MS PGothic" panose="020B0600070205080204" pitchFamily="34" charset="-128"/>
              <a:cs typeface="Times New Roman" panose="02020603050405020304" pitchFamily="18" charset="0"/>
            </a:endParaRPr>
          </a:p>
          <a:p>
            <a:pPr lvl="2">
              <a:lnSpc>
                <a:spcPct val="90000"/>
              </a:lnSpc>
              <a:buFont typeface="Wingdings" panose="05000000000000000000" pitchFamily="2" charset="2"/>
              <a:buChar char="§"/>
            </a:pPr>
            <a:endParaRPr lang="en-US" sz="26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Waterfall Model </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RainyAugust\Desktop\maxresdefault.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8153400" cy="5410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Waterfall Model (Cont..)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4953000"/>
          </a:xfrm>
        </p:spPr>
        <p:txBody>
          <a:bodyPr>
            <a:noAutofit/>
          </a:bodyPr>
          <a:lstStyle/>
          <a:p>
            <a:pPr algn="just"/>
            <a:r>
              <a:rPr lang="en-US" sz="2400" dirty="0">
                <a:latin typeface="Times New Roman" panose="02020603050405020304" pitchFamily="18" charset="0"/>
                <a:cs typeface="Times New Roman" panose="02020603050405020304" pitchFamily="18" charset="0"/>
              </a:rPr>
              <a:t>The </a:t>
            </a:r>
            <a:r>
              <a:rPr lang="en-US" sz="2400" i="1" dirty="0">
                <a:solidFill>
                  <a:srgbClr val="0070C0"/>
                </a:solidFill>
                <a:latin typeface="Times New Roman" panose="02020603050405020304" pitchFamily="18" charset="0"/>
                <a:cs typeface="Times New Roman" panose="02020603050405020304" pitchFamily="18" charset="0"/>
              </a:rPr>
              <a:t>first published model </a:t>
            </a:r>
            <a:r>
              <a:rPr lang="en-US" sz="2400" dirty="0">
                <a:latin typeface="Times New Roman" panose="02020603050405020304" pitchFamily="18" charset="0"/>
                <a:cs typeface="Times New Roman" panose="02020603050405020304" pitchFamily="18" charset="0"/>
              </a:rPr>
              <a:t>of the software development process was derived from more general system engineering processes (Royce, 1970).</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This model is known as the ‘</a:t>
            </a:r>
            <a:r>
              <a:rPr lang="en-US" sz="2400" i="1" dirty="0">
                <a:solidFill>
                  <a:srgbClr val="0070C0"/>
                </a:solidFill>
                <a:latin typeface="Times New Roman" panose="02020603050405020304" pitchFamily="18" charset="0"/>
                <a:cs typeface="Times New Roman" panose="02020603050405020304" pitchFamily="18" charset="0"/>
              </a:rPr>
              <a:t>waterfall model</a:t>
            </a:r>
            <a:r>
              <a:rPr lang="en-US" sz="2400" dirty="0">
                <a:latin typeface="Times New Roman" panose="02020603050405020304" pitchFamily="18" charset="0"/>
                <a:cs typeface="Times New Roman" panose="02020603050405020304" pitchFamily="18" charset="0"/>
              </a:rPr>
              <a:t>’ or software life cycle</a:t>
            </a:r>
            <a:endParaRPr lang="en-US" sz="2400" dirty="0">
              <a:latin typeface="Times New Roman" panose="02020603050405020304" pitchFamily="18" charset="0"/>
              <a:cs typeface="Times New Roman" panose="02020603050405020304" pitchFamily="18" charset="0"/>
            </a:endParaRPr>
          </a:p>
          <a:p>
            <a:pPr algn="just"/>
            <a:r>
              <a:rPr lang="en-US" sz="2400" i="1" dirty="0">
                <a:latin typeface="Times New Roman" panose="02020603050405020304" pitchFamily="18" charset="0"/>
                <a:cs typeface="Times New Roman" panose="02020603050405020304" pitchFamily="18" charset="0"/>
              </a:rPr>
              <a:t>The waterfall model </a:t>
            </a:r>
            <a:r>
              <a:rPr lang="en-US" sz="2400" dirty="0">
                <a:latin typeface="Times New Roman" panose="02020603050405020304" pitchFamily="18" charset="0"/>
                <a:cs typeface="Times New Roman" panose="02020603050405020304" pitchFamily="18" charset="0"/>
              </a:rPr>
              <a:t>This takes the fundamental process activities of specification, development, validation, and evolution and represents them as separate process phases such as requirements specification, software design, implementation, testing, and so on.</a:t>
            </a:r>
            <a:endParaRPr lang="en-US" sz="2400" dirty="0">
              <a:latin typeface="Times New Roman" panose="02020603050405020304" pitchFamily="18" charset="0"/>
              <a:cs typeface="Times New Roman" panose="02020603050405020304" pitchFamily="18" charset="0"/>
            </a:endParaRPr>
          </a:p>
          <a:p>
            <a:pPr lvl="1" algn="just">
              <a:lnSpc>
                <a:spcPct val="90000"/>
              </a:lnSpc>
              <a:buFont typeface="Wingdings" panose="05000000000000000000" pitchFamily="2" charset="2"/>
              <a:buChar char="§"/>
            </a:pP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lvl="2" algn="just">
              <a:lnSpc>
                <a:spcPct val="90000"/>
              </a:lnSpc>
              <a:buFont typeface="Wingdings" panose="05000000000000000000" pitchFamily="2" charset="2"/>
              <a:buChar char="§"/>
            </a:pP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Waterfall Model (Cont..)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181600"/>
          </a:xfrm>
        </p:spPr>
        <p:txBody>
          <a:bodyPr>
            <a:noAutofit/>
          </a:bodyPr>
          <a:lstStyle/>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The sequential phases in Waterfall model are:</a:t>
            </a:r>
            <a:endParaRPr lang="en-US" sz="20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Requirement Gathering and analysis:</a:t>
            </a:r>
            <a:r>
              <a:rPr lang="en-US" sz="1700" dirty="0">
                <a:latin typeface="Times New Roman" panose="02020603050405020304" pitchFamily="18" charset="0"/>
                <a:cs typeface="Times New Roman" panose="02020603050405020304" pitchFamily="18" charset="0"/>
              </a:rPr>
              <a:t> All possible requirements of the system to be developed are captured in this phase and documented in a requirement specification doc.</a:t>
            </a:r>
            <a:endParaRPr lang="en-US" sz="17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System Design:</a:t>
            </a:r>
            <a:r>
              <a:rPr lang="en-US" sz="1700" i="1" dirty="0">
                <a:solidFill>
                  <a:srgbClr val="0070C0"/>
                </a:solidFill>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The requirement specifications from first phase are studied in this phase and system design is prepared. System Design helps in specifying hardware and system requirements and also helps in defining overall system architecture.</a:t>
            </a:r>
            <a:endParaRPr lang="en-US" sz="17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Implementation:</a:t>
            </a:r>
            <a:r>
              <a:rPr lang="en-US" sz="1700" dirty="0">
                <a:latin typeface="Times New Roman" panose="02020603050405020304" pitchFamily="18" charset="0"/>
                <a:cs typeface="Times New Roman" panose="02020603050405020304" pitchFamily="18" charset="0"/>
              </a:rPr>
              <a:t> With inputs from system design, the system is first developed in small programs called units, which are integrated in the next phase. Each unit is developed and tested for its functionality which is referred to as Unit Testing.</a:t>
            </a:r>
            <a:endParaRPr lang="en-US" sz="17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Integration and Testing:</a:t>
            </a:r>
            <a:r>
              <a:rPr lang="en-US" sz="1700" i="1" dirty="0">
                <a:solidFill>
                  <a:srgbClr val="0070C0"/>
                </a:solidFill>
                <a:latin typeface="Times New Roman" panose="02020603050405020304" pitchFamily="18" charset="0"/>
                <a:cs typeface="Times New Roman" panose="02020603050405020304" pitchFamily="18" charset="0"/>
              </a:rPr>
              <a:t> </a:t>
            </a:r>
            <a:r>
              <a:rPr lang="en-US" sz="1700" dirty="0">
                <a:latin typeface="Times New Roman" panose="02020603050405020304" pitchFamily="18" charset="0"/>
                <a:cs typeface="Times New Roman" panose="02020603050405020304" pitchFamily="18" charset="0"/>
              </a:rPr>
              <a:t>All the units developed in the implementation phase are integrated into a system after testing of each unit. Post integration the entire system is tested for any faults and failures.</a:t>
            </a:r>
            <a:endParaRPr lang="en-US" sz="17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Deployment of system:</a:t>
            </a:r>
            <a:r>
              <a:rPr lang="en-US" sz="1700" dirty="0">
                <a:latin typeface="Times New Roman" panose="02020603050405020304" pitchFamily="18" charset="0"/>
                <a:cs typeface="Times New Roman" panose="02020603050405020304" pitchFamily="18" charset="0"/>
              </a:rPr>
              <a:t> Once the functional and non functional testing is done, the product is deployed in the customer environment or released into the market.</a:t>
            </a:r>
            <a:endParaRPr lang="en-US" sz="17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700" b="1" i="1" dirty="0">
                <a:solidFill>
                  <a:srgbClr val="0070C0"/>
                </a:solidFill>
                <a:latin typeface="Times New Roman" panose="02020603050405020304" pitchFamily="18" charset="0"/>
                <a:cs typeface="Times New Roman" panose="02020603050405020304" pitchFamily="18" charset="0"/>
              </a:rPr>
              <a:t>Maintenance: </a:t>
            </a:r>
            <a:r>
              <a:rPr lang="en-US" sz="1700" dirty="0">
                <a:latin typeface="Times New Roman" panose="02020603050405020304" pitchFamily="18" charset="0"/>
                <a:cs typeface="Times New Roman" panose="02020603050405020304" pitchFamily="18" charset="0"/>
              </a:rPr>
              <a:t>There are some issues which come up in the client environment. To fix those issues patches are released. Also to enhance the product some better versions are released. Maintenance is done to deliver these changes in the customer environment.</a:t>
            </a: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Waterfall Model (Cont..)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4953000"/>
          </a:xfrm>
        </p:spPr>
        <p:txBody>
          <a:bodyPr>
            <a:noAutofit/>
          </a:bodyPr>
          <a:lstStyle/>
          <a:p>
            <a:pPr>
              <a:lnSpc>
                <a:spcPct val="90000"/>
              </a:lnSpc>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Problems: </a:t>
            </a:r>
            <a:endParaRPr lang="en-US" sz="2400" b="1"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Real projects rarely follow the sequential flow that the model proposes. Although the linear model can accommodate iteration, it does so indirectly. As a result, changes can cause confusion as the project team proceeds.</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often difficult for the customer to state all requirements explicitly. The waterfall model requires this and has difficulty accommodating the natural uncertainty that exists at the beginning of many projects.</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The customer must have patience. A working version of the program(s) will not be available until late in the project time span. A major blunder, if undetected until the working program is reviewed, can be disastrous.</a:t>
            </a:r>
            <a:endParaRPr lang="en-US" sz="2400" b="1" dirty="0">
              <a:latin typeface="Times New Roman" panose="02020603050405020304" pitchFamily="18" charset="0"/>
              <a:cs typeface="Times New Roman" panose="02020603050405020304" pitchFamily="18" charset="0"/>
            </a:endParaRPr>
          </a:p>
          <a:p>
            <a:pPr marL="114300" indent="0">
              <a:lnSpc>
                <a:spcPct val="90000"/>
              </a:lnSpc>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Waterfall Model (Cont..)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4953000"/>
          </a:xfrm>
        </p:spPr>
        <p:txBody>
          <a:bodyPr>
            <a:noAutofit/>
          </a:bodyPr>
          <a:lstStyle/>
          <a:p>
            <a:pPr>
              <a:lnSpc>
                <a:spcPct val="9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Problems: </a:t>
            </a:r>
            <a:endParaRPr lang="en-US" sz="2000" b="1"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Rarely linear, iteration needed.</a:t>
            </a:r>
            <a:endParaRPr lang="en-US" sz="18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Hard to state all requirements explicitly. Blocking state. </a:t>
            </a:r>
            <a:endParaRPr lang="en-US" sz="18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Code will not be released until very late.</a:t>
            </a:r>
            <a:endParaRPr lang="en-US" sz="1800" dirty="0">
              <a:latin typeface="Times New Roman" panose="02020603050405020304" pitchFamily="18" charset="0"/>
              <a:cs typeface="Times New Roman" panose="02020603050405020304" pitchFamily="18" charset="0"/>
            </a:endParaRPr>
          </a:p>
          <a:p>
            <a:pPr lvl="1">
              <a:lnSpc>
                <a:spcPct val="9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Waterfall Model Application</a:t>
            </a:r>
            <a:endParaRPr lang="en-US" sz="2000" b="1"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Every software developed is different and requires a suitable SDLC approach to be followed based on the internal and external factors. Some situations where the use of Waterfall model is most appropriate are:</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Requirements are very well documented, clear and fixed.</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Product definition is stable.</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Technology is understood and is not dynamic.</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There are no ambiguous requirements.</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Ample resources with required expertise are available to support the product.</a:t>
            </a:r>
            <a:endParaRPr lang="en-US" sz="18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The project is short.</a:t>
            </a:r>
            <a:endParaRPr lang="en-US" sz="1800" dirty="0">
              <a:latin typeface="Times New Roman" panose="02020603050405020304" pitchFamily="18" charset="0"/>
              <a:cs typeface="Times New Roman" panose="02020603050405020304" pitchFamily="18" charset="0"/>
            </a:endParaRPr>
          </a:p>
          <a:p>
            <a:pPr marL="114300" indent="0">
              <a:lnSpc>
                <a:spcPct val="90000"/>
              </a:lnSpc>
              <a:buNone/>
            </a:pPr>
            <a:endParaRPr lang="en-US" sz="20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The V-Model</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447800"/>
            <a:ext cx="6705600" cy="52469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The V-Model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524000"/>
            <a:ext cx="8229600" cy="4267200"/>
          </a:xfrm>
        </p:spPr>
        <p:txBody>
          <a:bodyPr>
            <a:noAutofit/>
          </a:bodyPr>
          <a:lstStyle/>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The V - model is SDLC model where execution of processes happens in a sequential manner in V-shape. </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It is also known as </a:t>
            </a:r>
            <a:r>
              <a:rPr lang="en-US" sz="2400" b="1" i="1" dirty="0">
                <a:latin typeface="Times New Roman" panose="02020603050405020304" pitchFamily="18" charset="0"/>
                <a:cs typeface="Times New Roman" panose="02020603050405020304" pitchFamily="18" charset="0"/>
              </a:rPr>
              <a:t>Verification and Validation model</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 V - Model is an extension of the waterfall model and is based on association of a testing phase for each corresponding development stage. This means that for every single phase in the development cycle there is a directly associated testing phase. </a:t>
            </a:r>
            <a:endParaRPr lang="en-US" sz="24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This is a highly disciplined model and next phase starts only after completion of the previous phase.</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The V-Model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524000"/>
            <a:ext cx="8229600" cy="4267200"/>
          </a:xfrm>
        </p:spPr>
        <p:txBody>
          <a:bodyPr>
            <a:noAutofit/>
          </a:bodyPr>
          <a:lstStyle/>
          <a:p>
            <a:pPr algn="just">
              <a:lnSpc>
                <a:spcPct val="9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variation of waterfall model depicts the relationship of quality assurance actions to the actions associated with communication, modeling and early code construction activates. </a:t>
            </a:r>
            <a:endParaRPr lang="en-US" sz="24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endParaRPr lang="en-US" sz="2400" dirty="0">
              <a:latin typeface="Times New Roman" panose="02020603050405020304" pitchFamily="18" charset="0"/>
              <a:cs typeface="Times New Roman" panose="02020603050405020304" pitchFamily="18" charset="0"/>
            </a:endParaRPr>
          </a:p>
          <a:p>
            <a:pPr algn="just">
              <a:lnSpc>
                <a:spcPct val="90000"/>
              </a:lnSpc>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Team first moves down the left side of the V to refine the problem requirements. Once code is generated, the team moves up the right side of the V, performing a series of tests that validate each of the models created as the team moved down the left side.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The Incremental Model</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667000" y="1214438"/>
            <a:ext cx="53340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7772400" cy="518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The Incremental 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371600"/>
            <a:ext cx="8229600" cy="5029200"/>
          </a:xfrm>
        </p:spPr>
        <p:txBody>
          <a:bodyPr>
            <a:noAutofit/>
          </a:bodyPr>
          <a:lstStyle/>
          <a:p>
            <a:pPr marL="457200" indent="-457200" algn="just">
              <a:buFont typeface="Wingdings" panose="05000000000000000000" pitchFamily="2" charset="2"/>
              <a:buChar char="q"/>
            </a:pPr>
            <a:r>
              <a:rPr lang="en-US" dirty="0">
                <a:latin typeface="Times New Roman" panose="02020603050405020304" pitchFamily="18" charset="0"/>
                <a:ea typeface="MS PGothic" panose="020B0600070205080204" pitchFamily="34" charset="-128"/>
                <a:cs typeface="Times New Roman" panose="02020603050405020304" pitchFamily="18" charset="0"/>
              </a:rPr>
              <a:t>The incremental model combines element of waterfall model applied in an iterative fashion.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dirty="0">
                <a:latin typeface="Times New Roman" panose="02020603050405020304" pitchFamily="18" charset="0"/>
                <a:ea typeface="MS PGothic" panose="020B0600070205080204" pitchFamily="34" charset="-128"/>
                <a:cs typeface="Times New Roman" panose="02020603050405020304" pitchFamily="18" charset="0"/>
              </a:rPr>
              <a:t>The incremental model applies linear sequence like as calendar time progresses. Each linear sequence.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b="1" dirty="0">
                <a:latin typeface="Times New Roman" panose="02020603050405020304" pitchFamily="18" charset="0"/>
                <a:ea typeface="MS PGothic" panose="020B0600070205080204" pitchFamily="34" charset="-128"/>
                <a:cs typeface="Times New Roman" panose="02020603050405020304" pitchFamily="18" charset="0"/>
              </a:rPr>
              <a:t>For Example:- </a:t>
            </a:r>
            <a:endParaRPr lang="en-US" b="1"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Word processing software development using the incremental paradigm.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Basic file management, editing, document production function in the first increment.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More sophisticated editing, and document production capabilities in the second increment.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Spelling and grammar checking in the third increment.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r>
              <a:rPr lang="en-US" sz="2000" dirty="0">
                <a:latin typeface="Times New Roman" panose="02020603050405020304" pitchFamily="18" charset="0"/>
                <a:ea typeface="MS PGothic" panose="020B0600070205080204" pitchFamily="34" charset="-128"/>
                <a:cs typeface="Times New Roman" panose="02020603050405020304" pitchFamily="18" charset="0"/>
              </a:rPr>
              <a:t>Advance page layout capability in the fourth. </a:t>
            </a: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a:p>
            <a:pPr marL="1120140" lvl="2" indent="-457200" algn="just">
              <a:buFont typeface="Wingdings" panose="05000000000000000000" pitchFamily="2" charset="2"/>
              <a:buChar char="§"/>
            </a:pP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106074"/>
            <a:ext cx="6762750" cy="1143000"/>
          </a:xfrm>
        </p:spPr>
        <p:txBody>
          <a:bodyPr/>
          <a:lstStyle/>
          <a:p>
            <a:pPr algn="ctr"/>
            <a:r>
              <a:rPr lang="en-US" sz="3600" b="1" dirty="0">
                <a:ea typeface="MS PGothic" panose="020B0600070205080204" pitchFamily="34" charset="-128"/>
              </a:rPr>
              <a:t>The Spiral Model</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1981200" y="1214438"/>
            <a:ext cx="63246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566862"/>
            <a:ext cx="7543800" cy="498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The Spiral 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600200"/>
            <a:ext cx="8229600" cy="4419600"/>
          </a:xfrm>
        </p:spPr>
        <p:txBody>
          <a:bodyPr>
            <a:noAutofit/>
          </a:bodyPr>
          <a:lstStyle/>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The spiral model is a evolutionary software process model that couples the iterative nature of prototyping with the controlled and systematic aspect of the waterfall model.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It provides the potential for rapid development of increasingly more complete version of the software.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A spiral model is divided into a set of framework activities defined by  software engineering team. Each framework activities represent one segment of the spiral path.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Activities are implied by a circuit around the spiral clockwise direction, beginning at the center.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662940" lvl="2" indent="0" algn="just">
              <a:buNone/>
            </a:pPr>
            <a:endParaRPr lang="en-US" sz="20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The Spiral 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600200"/>
            <a:ext cx="8229600" cy="4419600"/>
          </a:xfrm>
        </p:spPr>
        <p:txBody>
          <a:bodyPr>
            <a:noAutofit/>
          </a:bodyPr>
          <a:lstStyle/>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Concept development project</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754380" lvl="1" indent="-457200" algn="just">
              <a:buFont typeface="Wingdings" panose="05000000000000000000" pitchFamily="2" charset="2"/>
              <a:buChar char="q"/>
            </a:pPr>
            <a:r>
              <a:rPr lang="en-US" dirty="0">
                <a:latin typeface="Times New Roman" panose="02020603050405020304" pitchFamily="18" charset="0"/>
                <a:ea typeface="MS PGothic" panose="020B0600070205080204" pitchFamily="34" charset="-128"/>
                <a:cs typeface="Times New Roman" panose="02020603050405020304" pitchFamily="18" charset="0"/>
              </a:rPr>
              <a:t>Which starts at the core of the spiral and continues for multiple iteration. </a:t>
            </a:r>
            <a:endParaRPr lang="en-US"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New product development</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754380" lvl="1" indent="-457200" algn="just">
              <a:buFont typeface="Wingdings" panose="05000000000000000000" pitchFamily="2" charset="2"/>
              <a:buChar char="q"/>
            </a:pPr>
            <a:r>
              <a:rPr lang="en-US" sz="1600" dirty="0">
                <a:latin typeface="Times New Roman" panose="02020603050405020304" pitchFamily="18" charset="0"/>
                <a:ea typeface="MS PGothic" panose="020B0600070205080204" pitchFamily="34" charset="-128"/>
                <a:cs typeface="Times New Roman" panose="02020603050405020304" pitchFamily="18" charset="0"/>
              </a:rPr>
              <a:t>The new product will develop through a number of iteration around the spiral.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ea typeface="MS PGothic" panose="020B0600070205080204" pitchFamily="34" charset="-128"/>
                <a:cs typeface="Times New Roman" panose="02020603050405020304" pitchFamily="18" charset="0"/>
              </a:rPr>
              <a:t>The spiral model is a realistic approach to development of large scale system and software. Because software development the process progresses. </a:t>
            </a:r>
            <a:endParaRPr lang="en-US" sz="2400" dirty="0">
              <a:latin typeface="Times New Roman" panose="02020603050405020304" pitchFamily="18" charset="0"/>
              <a:ea typeface="MS PGothic" panose="020B0600070205080204" pitchFamily="34" charset="-128"/>
              <a:cs typeface="Times New Roman" panose="02020603050405020304" pitchFamily="18" charset="0"/>
            </a:endParaRPr>
          </a:p>
          <a:p>
            <a:pPr marL="297180" lvl="1" indent="0" algn="just">
              <a:buNone/>
            </a:pPr>
            <a:endParaRPr lang="en-US" sz="18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Concurrent Models</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31617" y="1163205"/>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6748"/>
          <a:stretch>
            <a:fillRect/>
          </a:stretch>
        </p:blipFill>
        <p:spPr bwMode="auto">
          <a:xfrm>
            <a:off x="76201" y="1371600"/>
            <a:ext cx="5181599" cy="47961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5455817" y="2136987"/>
            <a:ext cx="2895600" cy="3416320"/>
          </a:xfrm>
          <a:prstGeom prst="rect">
            <a:avLst/>
          </a:prstGeom>
        </p:spPr>
        <p:txBody>
          <a:bodyPr wrap="square">
            <a:spAutoFit/>
          </a:bodyPr>
          <a:lstStyle/>
          <a:p>
            <a:pPr marL="342900" indent="-342900">
              <a:buFont typeface="Wingdings" panose="05000000000000000000" pitchFamily="2" charset="2"/>
              <a:buChar char="§"/>
            </a:pPr>
            <a:r>
              <a:rPr lang="en-US" b="1" dirty="0">
                <a:solidFill>
                  <a:srgbClr val="0070C0"/>
                </a:solidFill>
                <a:latin typeface="Times New Roman" panose="02020603050405020304" pitchFamily="18" charset="0"/>
                <a:cs typeface="Times New Roman" panose="02020603050405020304" pitchFamily="18" charset="0"/>
              </a:rPr>
              <a:t>All software engineering activities exist concurrently but reside in         different states.</a:t>
            </a:r>
            <a:endParaRPr lang="en-US" b="1" dirty="0">
              <a:solidFill>
                <a:srgbClr val="0070C0"/>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For example, early in a project the communication activity (not shown in the figure) has completed its first iteration and exists in the awaiting changes state.</a:t>
            </a:r>
            <a:endParaRPr lang="en-US"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Concurrent </a:t>
            </a:r>
            <a:r>
              <a:rPr lang="en-US" sz="3600" b="1" dirty="0">
                <a:ea typeface="MS PGothic" panose="020B0600070205080204" pitchFamily="34" charset="-128"/>
              </a:rPr>
              <a:t>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5257800"/>
          </a:xfrm>
        </p:spPr>
        <p:txBody>
          <a:bodyPr>
            <a:noAutofit/>
          </a:bodyPr>
          <a:lstStyle/>
          <a:p>
            <a:pPr algn="just">
              <a:buFont typeface="Wingdings" panose="05000000000000000000" pitchFamily="2" charset="2"/>
              <a:buChar char="q"/>
            </a:pPr>
            <a:r>
              <a:rPr lang="en-US" sz="2400" b="1" dirty="0">
                <a:latin typeface="Times New Roman" panose="02020603050405020304" pitchFamily="18" charset="0"/>
                <a:cs typeface="Times New Roman" panose="02020603050405020304" pitchFamily="18" charset="0"/>
              </a:rPr>
              <a:t>The concurrent development model -</a:t>
            </a:r>
            <a:r>
              <a:rPr lang="en-US" sz="2400" dirty="0">
                <a:latin typeface="Times New Roman" panose="02020603050405020304" pitchFamily="18" charset="0"/>
                <a:cs typeface="Times New Roman" panose="02020603050405020304" pitchFamily="18" charset="0"/>
              </a:rPr>
              <a:t> called concurrent engineering</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It provides an accurate state of the current state of a project.</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Focus on concurrent engineering activities in a software engineering process such as prototyping, analysis modeling, requirements specification and design.</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Represented schematically as a series of major technical activities, tasks and their associated states.</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Defined as a series of events that trigger transitions from state to state for each of the software engineering activities.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t>Concurrent </a:t>
            </a:r>
            <a:r>
              <a:rPr lang="en-US" sz="3600" b="1" dirty="0">
                <a:ea typeface="MS PGothic" panose="020B0600070205080204" pitchFamily="34" charset="-128"/>
              </a:rPr>
              <a:t>Model</a:t>
            </a:r>
            <a:r>
              <a:rPr lang="en-US" sz="3600" b="1" dirty="0"/>
              <a:t>(Cont..)</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447800"/>
            <a:ext cx="8229600" cy="3962400"/>
          </a:xfrm>
        </p:spPr>
        <p:txBody>
          <a:bodyPr>
            <a:noAutofit/>
          </a:bodyPr>
          <a:lstStyle/>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Often used as the paradigm for the development of client/server applications. A client/server system is composed of a set of functional components. </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When applied to client/server, the concurrent process model defines activities in two dimensions :</a:t>
            </a:r>
            <a:endParaRPr lang="en-US" sz="2400" dirty="0">
              <a:latin typeface="Times New Roman" panose="02020603050405020304" pitchFamily="18" charset="0"/>
              <a:cs typeface="Times New Roman" panose="02020603050405020304" pitchFamily="18" charset="0"/>
            </a:endParaRPr>
          </a:p>
          <a:p>
            <a:pPr lvl="2"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 System dimension -System level issues are addressed using three activities: design, assembly, and use.</a:t>
            </a:r>
            <a:endParaRPr lang="en-US" sz="2400" dirty="0">
              <a:latin typeface="Times New Roman" panose="02020603050405020304" pitchFamily="18" charset="0"/>
              <a:cs typeface="Times New Roman" panose="02020603050405020304" pitchFamily="18" charset="0"/>
            </a:endParaRPr>
          </a:p>
          <a:p>
            <a:pPr lvl="2"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(ii) The component dimension is addressed with two activities: design and realization.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ea typeface="MS PGothic" panose="020B0600070205080204" pitchFamily="34" charset="-128"/>
              </a:rPr>
              <a:t>Unified Process Model</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p:cNvSpPr>
            <a:spLocks noGrp="1"/>
          </p:cNvSpPr>
          <p:nvPr>
            <p:ph idx="1"/>
          </p:nvPr>
        </p:nvSpPr>
        <p:spPr>
          <a:xfrm>
            <a:off x="152400" y="1600200"/>
            <a:ext cx="8229600" cy="4419600"/>
          </a:xfrm>
        </p:spPr>
        <p:txBody>
          <a:bodyPr>
            <a:noAutofit/>
          </a:bodyPr>
          <a:lstStyle/>
          <a:p>
            <a:pPr marL="457200" indent="-4572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Unified process (UP) is an </a:t>
            </a:r>
            <a:r>
              <a:rPr lang="en-US" sz="2400" b="1" dirty="0">
                <a:latin typeface="Times New Roman" panose="02020603050405020304" pitchFamily="18" charset="0"/>
                <a:cs typeface="Times New Roman" panose="02020603050405020304" pitchFamily="18" charset="0"/>
              </a:rPr>
              <a:t>architecture-centric</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use-case driven</a:t>
            </a: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iterative and incremental </a:t>
            </a:r>
            <a:r>
              <a:rPr lang="en-US" sz="2400" dirty="0">
                <a:latin typeface="Times New Roman" panose="02020603050405020304" pitchFamily="18" charset="0"/>
                <a:cs typeface="Times New Roman" panose="02020603050405020304" pitchFamily="18" charset="0"/>
              </a:rPr>
              <a:t>development process that leverages unified modeling language and is compliant with the system process engineering meta-model. </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Unified process can be applied to different software systems with different levels of technical and managerial complexity across various domains and organizational cultures. </a:t>
            </a:r>
            <a:endParaRPr lang="en-US" sz="2400" dirty="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UP is also referred to as the unified software development process.</a:t>
            </a:r>
            <a:endParaRPr lang="en-US" sz="1800" dirty="0">
              <a:latin typeface="Times New Roman" panose="02020603050405020304" pitchFamily="18" charset="0"/>
              <a:ea typeface="MS PGothic" panose="020B0600070205080204" pitchFamily="34" charset="-128"/>
              <a:cs typeface="Times New Roman" panose="02020603050405020304"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The Unified Process (UP)</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8572" r="6666"/>
          <a:stretch>
            <a:fillRect/>
          </a:stretch>
        </p:blipFill>
        <p:spPr bwMode="auto">
          <a:xfrm>
            <a:off x="914400" y="1371600"/>
            <a:ext cx="70866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chemeClr val="tx1">
                    <a:lumMod val="85000"/>
                    <a:lumOff val="15000"/>
                  </a:schemeClr>
                </a:solidFill>
              </a:rPr>
              <a:t>The Unified Process (UP)</a:t>
            </a:r>
            <a:endParaRPr lang="en-US" sz="3600" b="1" dirty="0"/>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3"/>
          <p:cNvPicPr>
            <a:picLocks noChangeAspect="1" noChangeArrowheads="1"/>
          </p:cNvPicPr>
          <p:nvPr/>
        </p:nvPicPr>
        <p:blipFill>
          <a:blip r:embed="rId2"/>
          <a:srcRect/>
          <a:stretch>
            <a:fillRect/>
          </a:stretch>
        </p:blipFill>
        <p:spPr bwMode="auto">
          <a:xfrm>
            <a:off x="457200" y="1447800"/>
            <a:ext cx="79248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rgbClr val="0070C0"/>
                </a:solidFill>
              </a:rPr>
              <a:t>Selection of a Life Cycle Model</a:t>
            </a:r>
            <a:endParaRPr lang="en-US" sz="3600" b="1" dirty="0">
              <a:solidFill>
                <a:srgbClr val="0070C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33400" y="1905000"/>
            <a:ext cx="7848600" cy="2862322"/>
          </a:xfrm>
          <a:prstGeom prst="rect">
            <a:avLst/>
          </a:prstGeom>
        </p:spPr>
        <p:txBody>
          <a:bodyPr wrap="square">
            <a:spAutoFit/>
          </a:bodyPr>
          <a:lstStyle/>
          <a:p>
            <a:pPr marL="571500" indent="-571500">
              <a:buFont typeface="Wingdings" panose="05000000000000000000" pitchFamily="2" charset="2"/>
              <a:buChar char="q"/>
            </a:pPr>
            <a:r>
              <a:rPr lang="en-US" sz="3600" u="sng" dirty="0">
                <a:solidFill>
                  <a:srgbClr val="663300"/>
                </a:solidFill>
                <a:latin typeface="Times-Roman"/>
              </a:rPr>
              <a:t>Selection of a model is based on:</a:t>
            </a:r>
            <a:endParaRPr lang="en-US" sz="3600" u="sng" dirty="0">
              <a:solidFill>
                <a:srgbClr val="663300"/>
              </a:solidFill>
              <a:latin typeface="Times-Roman"/>
            </a:endParaRPr>
          </a:p>
          <a:p>
            <a:pPr marL="1028700" lvl="1" indent="-571500">
              <a:buFont typeface="Wingdings" panose="05000000000000000000" pitchFamily="2" charset="2"/>
              <a:buChar char="§"/>
            </a:pPr>
            <a:r>
              <a:rPr lang="en-US" sz="3600" dirty="0">
                <a:solidFill>
                  <a:srgbClr val="006666"/>
                </a:solidFill>
                <a:latin typeface="Times-Roman"/>
              </a:rPr>
              <a:t>Requirements</a:t>
            </a:r>
            <a:endParaRPr lang="en-US" sz="3600" dirty="0">
              <a:solidFill>
                <a:srgbClr val="006666"/>
              </a:solidFill>
              <a:latin typeface="Times-Roman"/>
            </a:endParaRPr>
          </a:p>
          <a:p>
            <a:pPr marL="1028700" lvl="1" indent="-571500">
              <a:buFont typeface="Wingdings" panose="05000000000000000000" pitchFamily="2" charset="2"/>
              <a:buChar char="§"/>
            </a:pPr>
            <a:r>
              <a:rPr lang="en-US" sz="3600" dirty="0">
                <a:solidFill>
                  <a:srgbClr val="660066"/>
                </a:solidFill>
                <a:latin typeface="Times-Roman"/>
              </a:rPr>
              <a:t>Development team</a:t>
            </a:r>
            <a:endParaRPr lang="en-US" sz="3600" dirty="0">
              <a:solidFill>
                <a:srgbClr val="660066"/>
              </a:solidFill>
              <a:latin typeface="Times-Roman"/>
            </a:endParaRPr>
          </a:p>
          <a:p>
            <a:pPr marL="1028700" lvl="1" indent="-571500">
              <a:buFont typeface="Wingdings" panose="05000000000000000000" pitchFamily="2" charset="2"/>
              <a:buChar char="§"/>
            </a:pPr>
            <a:r>
              <a:rPr lang="en-US" sz="3600" dirty="0">
                <a:solidFill>
                  <a:srgbClr val="3333FF"/>
                </a:solidFill>
                <a:latin typeface="Times-Roman"/>
              </a:rPr>
              <a:t>Users</a:t>
            </a:r>
            <a:endParaRPr lang="en-US" sz="3600" dirty="0">
              <a:solidFill>
                <a:srgbClr val="3333FF"/>
              </a:solidFill>
              <a:latin typeface="Times-Roman"/>
            </a:endParaRPr>
          </a:p>
          <a:p>
            <a:pPr marL="1028700" lvl="1" indent="-571500">
              <a:buFont typeface="Wingdings" panose="05000000000000000000" pitchFamily="2" charset="2"/>
              <a:buChar char="§"/>
            </a:pPr>
            <a:r>
              <a:rPr lang="en-US" sz="3600" dirty="0">
                <a:solidFill>
                  <a:srgbClr val="660033"/>
                </a:solidFill>
                <a:latin typeface="Times-Roman"/>
              </a:rPr>
              <a:t>Project type and associated risk</a:t>
            </a:r>
            <a:endParaRPr lang="en-US" sz="3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rgbClr val="0070C0"/>
                </a:solidFill>
              </a:rPr>
              <a:t>Selection of a Life Cycle Model</a:t>
            </a:r>
            <a:endParaRPr lang="en-US" sz="3600" b="1" dirty="0">
              <a:solidFill>
                <a:srgbClr val="0070C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09676"/>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33400" y="1905000"/>
            <a:ext cx="7848600" cy="2862322"/>
          </a:xfrm>
          <a:prstGeom prst="rect">
            <a:avLst/>
          </a:prstGeom>
        </p:spPr>
        <p:txBody>
          <a:bodyPr wrap="square">
            <a:spAutoFit/>
          </a:bodyPr>
          <a:lstStyle/>
          <a:p>
            <a:pPr marL="571500" indent="-571500">
              <a:buFont typeface="Wingdings" panose="05000000000000000000" pitchFamily="2" charset="2"/>
              <a:buChar char="q"/>
            </a:pPr>
            <a:r>
              <a:rPr lang="en-US" sz="3600" u="sng" dirty="0">
                <a:solidFill>
                  <a:srgbClr val="663300"/>
                </a:solidFill>
                <a:latin typeface="Times-Roman"/>
              </a:rPr>
              <a:t>Selection of a model is based on:</a:t>
            </a:r>
            <a:endParaRPr lang="en-US" sz="3600" u="sng" dirty="0">
              <a:solidFill>
                <a:srgbClr val="663300"/>
              </a:solidFill>
              <a:latin typeface="Times-Roman"/>
            </a:endParaRPr>
          </a:p>
          <a:p>
            <a:pPr marL="1028700" lvl="1" indent="-571500">
              <a:buFont typeface="Wingdings" panose="05000000000000000000" pitchFamily="2" charset="2"/>
              <a:buChar char="§"/>
            </a:pPr>
            <a:r>
              <a:rPr lang="en-US" sz="3600" dirty="0">
                <a:solidFill>
                  <a:srgbClr val="006666"/>
                </a:solidFill>
                <a:latin typeface="Times-Roman"/>
              </a:rPr>
              <a:t>Requirements</a:t>
            </a:r>
            <a:endParaRPr lang="en-US" sz="3600" dirty="0">
              <a:solidFill>
                <a:srgbClr val="006666"/>
              </a:solidFill>
              <a:latin typeface="Times-Roman"/>
            </a:endParaRPr>
          </a:p>
          <a:p>
            <a:pPr marL="1028700" lvl="1" indent="-571500">
              <a:buFont typeface="Wingdings" panose="05000000000000000000" pitchFamily="2" charset="2"/>
              <a:buChar char="§"/>
            </a:pPr>
            <a:r>
              <a:rPr lang="en-US" sz="3600" dirty="0">
                <a:solidFill>
                  <a:srgbClr val="660066"/>
                </a:solidFill>
                <a:latin typeface="Times-Roman"/>
              </a:rPr>
              <a:t>Development team</a:t>
            </a:r>
            <a:endParaRPr lang="en-US" sz="3600" dirty="0">
              <a:solidFill>
                <a:srgbClr val="660066"/>
              </a:solidFill>
              <a:latin typeface="Times-Roman"/>
            </a:endParaRPr>
          </a:p>
          <a:p>
            <a:pPr marL="1028700" lvl="1" indent="-571500">
              <a:buFont typeface="Wingdings" panose="05000000000000000000" pitchFamily="2" charset="2"/>
              <a:buChar char="§"/>
            </a:pPr>
            <a:r>
              <a:rPr lang="en-US" sz="3600" dirty="0">
                <a:solidFill>
                  <a:srgbClr val="3333FF"/>
                </a:solidFill>
                <a:latin typeface="Times-Roman"/>
              </a:rPr>
              <a:t>Users</a:t>
            </a:r>
            <a:endParaRPr lang="en-US" sz="3600" dirty="0">
              <a:solidFill>
                <a:srgbClr val="3333FF"/>
              </a:solidFill>
              <a:latin typeface="Times-Roman"/>
            </a:endParaRPr>
          </a:p>
          <a:p>
            <a:pPr marL="1028700" lvl="1" indent="-571500">
              <a:buFont typeface="Wingdings" panose="05000000000000000000" pitchFamily="2" charset="2"/>
              <a:buChar char="§"/>
            </a:pPr>
            <a:r>
              <a:rPr lang="en-US" sz="3600" dirty="0">
                <a:solidFill>
                  <a:srgbClr val="660033"/>
                </a:solidFill>
                <a:latin typeface="Times-Roman"/>
              </a:rPr>
              <a:t>Project type and associated risk</a:t>
            </a:r>
            <a:endParaRPr lang="en-US" sz="36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rgbClr val="0070C0"/>
                </a:solidFill>
              </a:rPr>
              <a:t>Based On Characteristics Of Requirements</a:t>
            </a:r>
            <a:endParaRPr lang="en-US" sz="3600" b="1" dirty="0">
              <a:solidFill>
                <a:srgbClr val="0070C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95400"/>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2"/>
          <a:stretch>
            <a:fillRect/>
          </a:stretch>
        </p:blipFill>
        <p:spPr>
          <a:xfrm>
            <a:off x="111191" y="1524000"/>
            <a:ext cx="8270810" cy="5082138"/>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rgbClr val="0070C0"/>
                </a:solidFill>
              </a:rPr>
              <a:t>Based On Status Of Development Team</a:t>
            </a:r>
            <a:endParaRPr lang="en-US" sz="3600" b="1" dirty="0">
              <a:solidFill>
                <a:srgbClr val="0070C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95400"/>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10147" y="1600200"/>
            <a:ext cx="8347983" cy="4786081"/>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06074"/>
            <a:ext cx="6362700" cy="1143000"/>
          </a:xfrm>
        </p:spPr>
        <p:txBody>
          <a:bodyPr/>
          <a:lstStyle/>
          <a:p>
            <a:pPr algn="ctr"/>
            <a:r>
              <a:rPr lang="en-US" sz="3600" b="1" dirty="0">
                <a:solidFill>
                  <a:srgbClr val="0070C0"/>
                </a:solidFill>
              </a:rPr>
              <a:t>Based On User’s Participation</a:t>
            </a:r>
            <a:endParaRPr lang="en-US" sz="3600" b="1" dirty="0">
              <a:solidFill>
                <a:srgbClr val="0070C0"/>
              </a:solidFill>
            </a:endParaRPr>
          </a:p>
        </p:txBody>
      </p:sp>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cxnSp>
        <p:nvCxnSpPr>
          <p:cNvPr id="7" name="Straight Connector 6"/>
          <p:cNvCxnSpPr/>
          <p:nvPr/>
        </p:nvCxnSpPr>
        <p:spPr>
          <a:xfrm>
            <a:off x="2362200" y="1295400"/>
            <a:ext cx="6019800" cy="0"/>
          </a:xfrm>
          <a:prstGeom prst="line">
            <a:avLst/>
          </a:prstGeom>
          <a:ln w="76200">
            <a:solidFill>
              <a:srgbClr val="002060"/>
            </a:solidFill>
          </a:ln>
        </p:spPr>
        <p:style>
          <a:lnRef idx="3">
            <a:schemeClr val="accent3"/>
          </a:lnRef>
          <a:fillRef idx="0">
            <a:schemeClr val="accent3"/>
          </a:fillRef>
          <a:effectRef idx="2">
            <a:schemeClr val="accent3"/>
          </a:effectRef>
          <a:fontRef idx="minor">
            <a:schemeClr val="tx1"/>
          </a:fontRef>
        </p:style>
      </p:cxnSp>
      <p:pic>
        <p:nvPicPr>
          <p:cNvPr id="9" name="Picture 2" descr="Image result for what is software process models in software engineer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1485901" cy="121443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p:cNvPicPr>
            <a:picLocks noChangeAspect="1"/>
          </p:cNvPicPr>
          <p:nvPr/>
        </p:nvPicPr>
        <p:blipFill>
          <a:blip r:embed="rId2"/>
          <a:stretch>
            <a:fillRect/>
          </a:stretch>
        </p:blipFill>
        <p:spPr>
          <a:xfrm>
            <a:off x="13771" y="1752600"/>
            <a:ext cx="8292029" cy="4741561"/>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95567C4-C875-4EA2-906F-45EEB91D3DE0}" type="slidenum">
              <a:rPr lang="en-US" smtClean="0"/>
            </a:fld>
            <a:endParaRPr lang="en-US"/>
          </a:p>
        </p:txBody>
      </p:sp>
      <p:sp>
        <p:nvSpPr>
          <p:cNvPr id="7" name="Rectangle 6"/>
          <p:cNvSpPr/>
          <p:nvPr/>
        </p:nvSpPr>
        <p:spPr>
          <a:xfrm>
            <a:off x="228601" y="1295400"/>
            <a:ext cx="7924800" cy="4524315"/>
          </a:xfrm>
          <a:prstGeom prst="rect">
            <a:avLst/>
          </a:prstGeom>
        </p:spPr>
        <p:txBody>
          <a:bodyPr wrap="square">
            <a:spAutoFit/>
          </a:bodyPr>
          <a:lstStyle/>
          <a:p>
            <a:pPr marL="571500" indent="-571500">
              <a:buFont typeface="Wingdings" panose="05000000000000000000" pitchFamily="2" charset="2"/>
              <a:buChar char="q"/>
            </a:pPr>
            <a:endParaRPr lang="en-US" sz="3600" b="1" dirty="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q"/>
            </a:pPr>
            <a:r>
              <a:rPr lang="en-US" sz="4800" b="1" dirty="0">
                <a:latin typeface="Times New Roman" panose="02020603050405020304" pitchFamily="18" charset="0"/>
                <a:cs typeface="Times New Roman" panose="02020603050405020304" pitchFamily="18" charset="0"/>
              </a:rPr>
              <a:t>References: </a:t>
            </a:r>
            <a:endParaRPr lang="en-US" sz="4800" b="1" dirty="0">
              <a:latin typeface="Times New Roman" panose="02020603050405020304" pitchFamily="18" charset="0"/>
              <a:cs typeface="Times New Roman" panose="02020603050405020304" pitchFamily="18" charset="0"/>
            </a:endParaRPr>
          </a:p>
          <a:p>
            <a:pPr marL="971550" lvl="1" indent="-514350">
              <a:buFont typeface="+mj-lt"/>
              <a:buAutoNum type="arabicPeriod"/>
            </a:pPr>
            <a:r>
              <a:rPr lang="en-US" sz="2800" b="1" dirty="0">
                <a:latin typeface="Times New Roman" panose="02020603050405020304" pitchFamily="18" charset="0"/>
                <a:cs typeface="Times New Roman" panose="02020603050405020304" pitchFamily="18" charset="0"/>
              </a:rPr>
              <a:t>Software Engineering A practitioner’s Approach </a:t>
            </a:r>
            <a:endParaRPr lang="en-US" sz="2800" b="1" dirty="0">
              <a:latin typeface="Times New Roman" panose="02020603050405020304" pitchFamily="18" charset="0"/>
              <a:cs typeface="Times New Roman" panose="02020603050405020304" pitchFamily="18" charset="0"/>
            </a:endParaRPr>
          </a:p>
          <a:p>
            <a:pPr marL="411480" lvl="1" indent="0">
              <a:buNone/>
            </a:pPr>
            <a:r>
              <a:rPr lang="en-US" sz="2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by Roger S. Pressman, 7th edition, McGraw Hill, 2010.</a:t>
            </a:r>
            <a:endParaRPr lang="en-US" sz="2000" dirty="0">
              <a:latin typeface="Times New Roman" panose="02020603050405020304" pitchFamily="18" charset="0"/>
              <a:cs typeface="Times New Roman" panose="02020603050405020304" pitchFamily="18" charset="0"/>
            </a:endParaRPr>
          </a:p>
          <a:p>
            <a:pPr marL="411480" lvl="1"/>
            <a:r>
              <a:rPr lang="en-US" sz="2800" b="1" dirty="0">
                <a:latin typeface="Times New Roman" panose="02020603050405020304" pitchFamily="18" charset="0"/>
                <a:cs typeface="Times New Roman" panose="02020603050405020304" pitchFamily="18" charset="0"/>
              </a:rPr>
              <a:t>2.    Software Engineering by Ian </a:t>
            </a:r>
            <a:r>
              <a:rPr lang="en-US" sz="2800" b="1" dirty="0" err="1">
                <a:latin typeface="Times New Roman" panose="02020603050405020304" pitchFamily="18" charset="0"/>
                <a:cs typeface="Times New Roman" panose="02020603050405020304" pitchFamily="18" charset="0"/>
              </a:rPr>
              <a:t>Sommerville</a:t>
            </a:r>
            <a:r>
              <a:rPr lang="en-US" sz="2800" b="1" dirty="0">
                <a:latin typeface="Times New Roman" panose="02020603050405020304" pitchFamily="18" charset="0"/>
                <a:cs typeface="Times New Roman" panose="02020603050405020304" pitchFamily="18" charset="0"/>
              </a:rPr>
              <a:t>, </a:t>
            </a:r>
            <a:endParaRPr lang="en-US" sz="2800" b="1" dirty="0">
              <a:latin typeface="Times New Roman" panose="02020603050405020304" pitchFamily="18" charset="0"/>
              <a:cs typeface="Times New Roman" panose="02020603050405020304" pitchFamily="18" charset="0"/>
            </a:endParaRPr>
          </a:p>
          <a:p>
            <a:pPr marL="411480" lvl="1" indent="0">
              <a:buNone/>
            </a:pPr>
            <a:r>
              <a:rPr lang="en-US" sz="28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9th edition,  Addison-Wesley, 2011</a:t>
            </a:r>
            <a:endParaRPr lang="en-US" sz="2000" dirty="0">
              <a:latin typeface="Times New Roman" panose="02020603050405020304" pitchFamily="18" charset="0"/>
              <a:cs typeface="Times New Roman" panose="02020603050405020304" pitchFamily="18" charset="0"/>
            </a:endParaRPr>
          </a:p>
          <a:p>
            <a:pPr fontAlgn="base"/>
            <a:r>
              <a:rPr lang="en-US" sz="2800" b="1" dirty="0">
                <a:latin typeface="Times New Roman" panose="02020603050405020304" pitchFamily="18" charset="0"/>
                <a:cs typeface="Times New Roman" panose="02020603050405020304" pitchFamily="18" charset="0"/>
              </a:rPr>
              <a:t>     3.   </a:t>
            </a:r>
            <a:r>
              <a:rPr lang="en-US" sz="2800" b="1" dirty="0">
                <a:latin typeface="Times New Roman" panose="02020603050405020304" pitchFamily="18" charset="0"/>
                <a:cs typeface="Times New Roman" panose="02020603050405020304" pitchFamily="18" charset="0"/>
              </a:rPr>
              <a:t>Software Engineering Practices</a:t>
            </a:r>
            <a:endParaRPr lang="en-US" sz="2800" b="1" dirty="0">
              <a:latin typeface="Times New Roman" panose="02020603050405020304" pitchFamily="18" charset="0"/>
              <a:cs typeface="Times New Roman" panose="02020603050405020304" pitchFamily="18" charset="0"/>
            </a:endParaRPr>
          </a:p>
          <a:p>
            <a:pPr fontAlgn="base"/>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Mohamed Sami</a:t>
            </a:r>
            <a:r>
              <a:rPr lang="en-US"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hlinkClick r:id="rId1"/>
              </a:rPr>
              <a:t>https://melsatar.blog/2012/03/15/software-development-</a:t>
            </a:r>
            <a:r>
              <a:rPr lang="en-US" dirty="0">
                <a:latin typeface="Times New Roman" panose="02020603050405020304" pitchFamily="18" charset="0"/>
                <a:cs typeface="Times New Roman" panose="02020603050405020304" pitchFamily="18" charset="0"/>
                <a:hlinkClick r:id="rId1"/>
              </a:rPr>
              <a:t>           </a:t>
            </a:r>
            <a:r>
              <a:rPr lang="en-US" dirty="0">
                <a:latin typeface="Times New Roman" panose="02020603050405020304" pitchFamily="18" charset="0"/>
                <a:cs typeface="Times New Roman" panose="02020603050405020304" pitchFamily="18" charset="0"/>
                <a:hlinkClick r:id="rId1"/>
              </a:rPr>
              <a:t>life-cycle-models-and-methodologies/</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8" name="Picture 2" descr="Image result for what is software process models in software engineer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828800" cy="14565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15594</Words>
  <Application>WPS Presentation</Application>
  <PresentationFormat>On-screen Show (4:3)</PresentationFormat>
  <Paragraphs>391</Paragraphs>
  <Slides>43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43</vt:i4>
      </vt:variant>
    </vt:vector>
  </HeadingPairs>
  <TitlesOfParts>
    <vt:vector size="58" baseType="lpstr">
      <vt:lpstr>Arial</vt:lpstr>
      <vt:lpstr>SimSun</vt:lpstr>
      <vt:lpstr>Wingdings</vt:lpstr>
      <vt:lpstr>Times New Roman</vt:lpstr>
      <vt:lpstr>Courier New</vt:lpstr>
      <vt:lpstr>MS PGothic</vt:lpstr>
      <vt:lpstr>Palatino</vt:lpstr>
      <vt:lpstr>Palatino Linotype</vt:lpstr>
      <vt:lpstr>Calibri</vt:lpstr>
      <vt:lpstr>Microsoft YaHei</vt:lpstr>
      <vt:lpstr>Arial Unicode MS</vt:lpstr>
      <vt:lpstr>Cambria</vt:lpstr>
      <vt:lpstr>Impact</vt:lpstr>
      <vt:lpstr>Times-Roman</vt:lpstr>
      <vt:lpstr>Adjacency</vt:lpstr>
      <vt:lpstr>Week-2: Lesson-1 Process Models </vt:lpstr>
      <vt:lpstr>Topics Covered</vt:lpstr>
      <vt:lpstr>Definition of Software Process </vt:lpstr>
      <vt:lpstr>What / who / why is Process Models?</vt:lpstr>
      <vt:lpstr>A Generic Process Model</vt:lpstr>
      <vt:lpstr>A Generic Process Model</vt:lpstr>
      <vt:lpstr>A Generic  Process Model</vt:lpstr>
      <vt:lpstr>Process Flow</vt:lpstr>
      <vt:lpstr>Process Flow </vt:lpstr>
      <vt:lpstr>Process Flow</vt:lpstr>
      <vt:lpstr>Identifying a Task Set  for Small Project</vt:lpstr>
      <vt:lpstr>Example of a Task Set for  Mid Level Project</vt:lpstr>
      <vt:lpstr>Example of a Task Set for  a Big Project</vt:lpstr>
      <vt:lpstr>Process Patterns</vt:lpstr>
      <vt:lpstr>Process Patterns</vt:lpstr>
      <vt:lpstr>Process Patterns (Cont…)</vt:lpstr>
      <vt:lpstr>Week-2: Lesson-2 Process Models </vt:lpstr>
      <vt:lpstr>Software Process Model</vt:lpstr>
      <vt:lpstr>Waterfall Model </vt:lpstr>
      <vt:lpstr>Waterfall Model (Cont..)</vt:lpstr>
      <vt:lpstr>Waterfall Model (Cont..)</vt:lpstr>
      <vt:lpstr>Waterfall Model (Cont..)</vt:lpstr>
      <vt:lpstr>Waterfall Model (Cont..)</vt:lpstr>
      <vt:lpstr>The V-Model</vt:lpstr>
      <vt:lpstr>The V-Model(Cont..)</vt:lpstr>
      <vt:lpstr>The V-Model(Cont..)</vt:lpstr>
      <vt:lpstr>The Incremental Model</vt:lpstr>
      <vt:lpstr>The Incremental Model(Cont..)</vt:lpstr>
      <vt:lpstr>The Spiral Model</vt:lpstr>
      <vt:lpstr>The Spiral Model(Cont..)</vt:lpstr>
      <vt:lpstr>The Spiral Model(Cont..)</vt:lpstr>
      <vt:lpstr>Concurrent Models</vt:lpstr>
      <vt:lpstr>Concurrent Model(Cont..)</vt:lpstr>
      <vt:lpstr>Concurrent Model(Cont..)</vt:lpstr>
      <vt:lpstr>Unified Process Model</vt:lpstr>
      <vt:lpstr>The Unified Process (UP)</vt:lpstr>
      <vt:lpstr>The Unified Process (UP)</vt:lpstr>
      <vt:lpstr>Selection of a Life Cycle Model</vt:lpstr>
      <vt:lpstr>Selection of a Life Cycle Model</vt:lpstr>
      <vt:lpstr>Based On Characteristics Of Requirements</vt:lpstr>
      <vt:lpstr>Based On Status Of Development Team</vt:lpstr>
      <vt:lpstr>Based On User’s Participation</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ismail - [2010]</dc:creator>
  <cp:lastModifiedBy>Sadia Jannat Mitu</cp:lastModifiedBy>
  <cp:revision>246</cp:revision>
  <dcterms:created xsi:type="dcterms:W3CDTF">2015-09-29T04:01:00Z</dcterms:created>
  <dcterms:modified xsi:type="dcterms:W3CDTF">2026-04-18T07:32:18Z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17D90CF385844A30837718BB28CF8685_12</vt:lpwstr>
  </property>
  <property fmtid="{D5CDD505-2E9C-101B-9397-08002B2CF9AE}" pid="3" name="KSOProductBuildVer">
    <vt:lpwstr>1033-12.2.0.23196</vt:lpwstr>
  </property>
</Properties>
</file>